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17"/>
  </p:notesMasterIdLst>
  <p:sldIdLst>
    <p:sldId id="2147483647" r:id="rId6"/>
    <p:sldId id="2147481231" r:id="rId7"/>
    <p:sldId id="2147482792" r:id="rId8"/>
    <p:sldId id="327" r:id="rId9"/>
    <p:sldId id="2147481353" r:id="rId10"/>
    <p:sldId id="2147481344" r:id="rId11"/>
    <p:sldId id="2147481341" r:id="rId12"/>
    <p:sldId id="2147481358" r:id="rId13"/>
    <p:sldId id="2147481360" r:id="rId14"/>
    <p:sldId id="2147481343" r:id="rId15"/>
    <p:sldId id="3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558D6E-0ADA-4FB8-B1DE-9E04AB1D9203}" v="1" dt="2025-11-26T01:19:58.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59"/>
  </p:normalViewPr>
  <p:slideViewPr>
    <p:cSldViewPr snapToGrid="0">
      <p:cViewPr varScale="1">
        <p:scale>
          <a:sx n="75" d="100"/>
          <a:sy n="75" d="100"/>
        </p:scale>
        <p:origin x="373"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A7772-F4E7-4489-B335-DA51ED0A554F}" type="datetimeFigureOut">
              <a:rPr lang="en-AU" smtClean="0"/>
              <a:t>26/11/2025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C9106-BB21-4A9A-985E-F1AD13FB3A10}" type="slidenum">
              <a:rPr lang="en-AU" smtClean="0"/>
              <a:t>‹#›</a:t>
            </a:fld>
            <a:endParaRPr lang="en-AU"/>
          </a:p>
        </p:txBody>
      </p:sp>
    </p:spTree>
    <p:extLst>
      <p:ext uri="{BB962C8B-B14F-4D97-AF65-F5344CB8AC3E}">
        <p14:creationId xmlns:p14="http://schemas.microsoft.com/office/powerpoint/2010/main" val="2150166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517AE-5031-E84F-3B48-8AA79DD8D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D62F7-E572-37A8-476D-D61B80C49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F46B9-3535-5E44-A068-69EB12A9A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1AE1E2-E519-2F3E-A436-1D75706AA0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150141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41C88-46D0-2A25-92C2-05F0BB342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B6C1A-3541-9AEA-DE17-E5D9843EF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E425F-A739-2572-D3C6-426EDD6EBB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B3B8E6-BDFF-5800-A459-F0285DBDDB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773414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739959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5AAE0-A5CF-2A9C-5822-92A6B00DE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FF48B-620F-DEED-2421-56C9287B3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6F169-9211-9EC7-2D5E-ABFBA7B41C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D7DB8E-BCF2-B4BA-459F-49D777F1D4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057979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3E6F-C151-50CA-9198-B840770FD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786C3-2ECB-040B-9CD3-F1492E35B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FD288-C2FE-8909-A271-7D6E0A9CCD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AFB7B-7163-0565-00DC-1657561E98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712671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7399593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dirty="0"/>
              <a:t>Replace with brand-approved image </a:t>
            </a:r>
            <a:br>
              <a:rPr lang="en-US" dirty="0"/>
            </a:br>
            <a:r>
              <a:rPr lang="en-US" dirty="0"/>
              <a:t>of your choice from </a:t>
            </a:r>
            <a:r>
              <a:rPr lang="en-US" dirty="0" err="1"/>
              <a:t>SalesCentral</a:t>
            </a:r>
            <a:endParaRPr lang="en-US" dirty="0"/>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dirty="0"/>
              <a:t>Click to edit title</a:t>
            </a:r>
          </a:p>
        </p:txBody>
      </p:sp>
    </p:spTree>
    <p:extLst>
      <p:ext uri="{BB962C8B-B14F-4D97-AF65-F5344CB8AC3E}">
        <p14:creationId xmlns:p14="http://schemas.microsoft.com/office/powerpoint/2010/main" val="119620782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dirty="0"/>
              <a:t>Replace with brand-approved image </a:t>
            </a:r>
            <a:br>
              <a:rPr lang="en-US" dirty="0"/>
            </a:br>
            <a:r>
              <a:rPr lang="en-US" dirty="0"/>
              <a:t>of your choice from </a:t>
            </a:r>
            <a:r>
              <a:rPr lang="en-US" dirty="0" err="1"/>
              <a:t>SalesCentral</a:t>
            </a:r>
            <a:endParaRPr lang="en-US" dirty="0"/>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dirty="0"/>
              <a:t>Click to edit title</a:t>
            </a:r>
          </a:p>
        </p:txBody>
      </p:sp>
    </p:spTree>
    <p:extLst>
      <p:ext uri="{BB962C8B-B14F-4D97-AF65-F5344CB8AC3E}">
        <p14:creationId xmlns:p14="http://schemas.microsoft.com/office/powerpoint/2010/main" val="44139160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04777651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dirty="0"/>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546717740"/>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dirty="0"/>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dirty="0"/>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dirty="0"/>
              <a:t>Replace image </a:t>
            </a:r>
            <a:br>
              <a:rPr lang="en-US" dirty="0"/>
            </a:br>
            <a:r>
              <a:rPr lang="en-US" dirty="0"/>
              <a:t>of your choice</a:t>
            </a:r>
          </a:p>
        </p:txBody>
      </p:sp>
    </p:spTree>
    <p:extLst>
      <p:ext uri="{BB962C8B-B14F-4D97-AF65-F5344CB8AC3E}">
        <p14:creationId xmlns:p14="http://schemas.microsoft.com/office/powerpoint/2010/main" val="146760800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dirty="0"/>
              <a:t>Replace image </a:t>
            </a:r>
            <a:br>
              <a:rPr lang="en-US" dirty="0"/>
            </a:br>
            <a:r>
              <a:rPr lang="en-US" dirty="0"/>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dirty="0"/>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dirty="0"/>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08626560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dirty="0"/>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dirty="0"/>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dirty="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dirty="0"/>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dirty="0"/>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5416351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dirty="0"/>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dirty="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dirty="0"/>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dirty="0"/>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347004199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dirty="0"/>
              <a:t>Replace with brand-approved image </a:t>
            </a:r>
            <a:br>
              <a:rPr lang="en-US" dirty="0"/>
            </a:br>
            <a:r>
              <a:rPr lang="en-US" dirty="0"/>
              <a:t>of your choice from </a:t>
            </a:r>
            <a:r>
              <a:rPr lang="en-US" dirty="0" err="1"/>
              <a:t>SalesCentral</a:t>
            </a:r>
            <a:endParaRPr lang="en-US" dirty="0"/>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18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962609884"/>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dirty="0"/>
              <a:t>Replace with brand-approved image </a:t>
            </a:r>
            <a:br>
              <a:rPr lang="en-US" dirty="0"/>
            </a:br>
            <a:r>
              <a:rPr lang="en-US" dirty="0"/>
              <a:t>of your choice from </a:t>
            </a:r>
            <a:r>
              <a:rPr lang="en-US" dirty="0" err="1"/>
              <a:t>SalesCentral</a:t>
            </a:r>
            <a:endParaRPr lang="en-US" dirty="0"/>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dirty="0"/>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7733386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dirty="0"/>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rgbClr val="CBD0E5"/>
                </a:solidFill>
                <a:latin typeface="+mn-lt"/>
                <a:ea typeface="+mn-ea"/>
                <a:cs typeface="Heebo" pitchFamily="2" charset="-79"/>
              </a:rPr>
              <a:t>© Hexaware Technologies. Confidential briefing. </a:t>
            </a:r>
            <a:endParaRPr lang="en-US" sz="700" kern="0" spc="50" baseline="0" dirty="0">
              <a:solidFill>
                <a:srgbClr val="CBD0E5"/>
              </a:solidFill>
              <a:latin typeface="+mn-lt"/>
              <a:ea typeface="+mn-ea"/>
              <a:cs typeface="Heebo" pitchFamily="2" charset="-79"/>
            </a:endParaRPr>
          </a:p>
        </p:txBody>
      </p:sp>
    </p:spTree>
    <p:extLst>
      <p:ext uri="{BB962C8B-B14F-4D97-AF65-F5344CB8AC3E}">
        <p14:creationId xmlns:p14="http://schemas.microsoft.com/office/powerpoint/2010/main" val="335017848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dirty="0"/>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Confidential briefing. </a:t>
            </a:r>
            <a:endParaRPr lang="en-US" sz="700" kern="0" spc="50" baseline="0" dirty="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249973030"/>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dirty="0"/>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2206078541"/>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2_Custom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93B77DD-25FA-4E00-A89E-457DC2A93CE4}"/>
              </a:ext>
            </a:extLst>
          </p:cNvPr>
          <p:cNvSpPr>
            <a:spLocks noGrp="1"/>
          </p:cNvSpPr>
          <p:nvPr>
            <p:ph type="title"/>
          </p:nvPr>
        </p:nvSpPr>
        <p:spPr>
          <a:xfrm>
            <a:off x="382394" y="438521"/>
            <a:ext cx="9762634" cy="461665"/>
          </a:xfrm>
          <a:prstGeom prst="rect">
            <a:avLst/>
          </a:prstGeom>
        </p:spPr>
        <p:txBody>
          <a:bodyPr wrap="square" lIns="0" anchor="t" anchorCtr="0">
            <a:spAutoFit/>
          </a:bodyPr>
          <a:lstStyle>
            <a:lvl1pPr>
              <a:lnSpc>
                <a:spcPct val="100000"/>
              </a:lnSpc>
              <a:defRPr sz="2400" b="0" kern="0" baseline="0">
                <a:solidFill>
                  <a:schemeClr val="accent2"/>
                </a:solidFill>
                <a:latin typeface="Manrope SemiBold" pitchFamily="2" charset="0"/>
                <a:cs typeface="Arial" panose="020B0604020202020204" pitchFamily="34" charset="0"/>
              </a:defRPr>
            </a:lvl1pPr>
          </a:lstStyle>
          <a:p>
            <a:r>
              <a:rPr lang="en-US" dirty="0"/>
              <a:t>Click to edit Master title style</a:t>
            </a:r>
          </a:p>
        </p:txBody>
      </p:sp>
      <p:sp>
        <p:nvSpPr>
          <p:cNvPr id="2" name="Footer Placeholder 2">
            <a:extLst>
              <a:ext uri="{FF2B5EF4-FFF2-40B4-BE49-F238E27FC236}">
                <a16:creationId xmlns:a16="http://schemas.microsoft.com/office/drawing/2014/main" id="{7A69C7A7-28CB-8130-EDDF-2885BC0070F6}"/>
              </a:ext>
            </a:extLst>
          </p:cNvPr>
          <p:cNvSpPr>
            <a:spLocks noGrp="1"/>
          </p:cNvSpPr>
          <p:nvPr>
            <p:ph type="ftr" sz="quarter" idx="11"/>
          </p:nvPr>
        </p:nvSpPr>
        <p:spPr>
          <a:xfrm>
            <a:off x="1448647" y="6478271"/>
            <a:ext cx="7376037" cy="215138"/>
          </a:xfrm>
        </p:spPr>
        <p:txBody>
          <a:bodyPr/>
          <a:lstStyle>
            <a:lvl1pPr algn="l">
              <a:defRPr sz="800">
                <a:solidFill>
                  <a:schemeClr val="bg1">
                    <a:lumMod val="65000"/>
                  </a:schemeClr>
                </a:solidFill>
                <a:latin typeface="Lato" panose="020F0502020204030203" pitchFamily="34" charset="0"/>
              </a:defRPr>
            </a:lvl1pPr>
          </a:lstStyle>
          <a:p>
            <a:r>
              <a:rPr lang="en-US" dirty="0"/>
              <a:t>www.hexaware.com  | © Hexaware Technologies. All rights reserved.</a:t>
            </a:r>
            <a:endParaRPr lang="id-ID" dirty="0"/>
          </a:p>
        </p:txBody>
      </p:sp>
      <p:sp>
        <p:nvSpPr>
          <p:cNvPr id="3" name="Slide Number Placeholder 3">
            <a:extLst>
              <a:ext uri="{FF2B5EF4-FFF2-40B4-BE49-F238E27FC236}">
                <a16:creationId xmlns:a16="http://schemas.microsoft.com/office/drawing/2014/main" id="{C708F2B3-94AD-9FF5-C289-2AA28080FD82}"/>
              </a:ext>
            </a:extLst>
          </p:cNvPr>
          <p:cNvSpPr>
            <a:spLocks noGrp="1"/>
          </p:cNvSpPr>
          <p:nvPr>
            <p:ph type="sldNum" sz="quarter" idx="12"/>
          </p:nvPr>
        </p:nvSpPr>
        <p:spPr>
          <a:xfrm>
            <a:off x="11594592" y="6585840"/>
            <a:ext cx="423672" cy="215138"/>
          </a:xfrm>
        </p:spPr>
        <p:txBody>
          <a:bodyPr/>
          <a:lstStyle>
            <a:lvl1pPr>
              <a:defRPr sz="800">
                <a:solidFill>
                  <a:schemeClr val="bg1">
                    <a:lumMod val="65000"/>
                  </a:schemeClr>
                </a:solidFill>
                <a:latin typeface="Lato" panose="020F0502020204030203" pitchFamily="34" charset="0"/>
              </a:defRPr>
            </a:lvl1pPr>
          </a:lstStyle>
          <a:p>
            <a:fld id="{831E6135-A15F-4609-9D02-7AD1A44B47DC}" type="slidenum">
              <a:rPr lang="id-ID" smtClean="0"/>
              <a:pPr/>
              <a:t>‹#›</a:t>
            </a:fld>
            <a:endParaRPr lang="id-ID"/>
          </a:p>
        </p:txBody>
      </p:sp>
      <p:pic>
        <p:nvPicPr>
          <p:cNvPr id="5" name="Graphic 4">
            <a:extLst>
              <a:ext uri="{FF2B5EF4-FFF2-40B4-BE49-F238E27FC236}">
                <a16:creationId xmlns:a16="http://schemas.microsoft.com/office/drawing/2014/main" id="{A911FB36-CF81-EF04-1E1E-52E17AB0799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2394" y="6524619"/>
            <a:ext cx="914232" cy="122442"/>
          </a:xfrm>
          <a:prstGeom prst="rect">
            <a:avLst/>
          </a:prstGeom>
        </p:spPr>
      </p:pic>
    </p:spTree>
    <p:extLst>
      <p:ext uri="{BB962C8B-B14F-4D97-AF65-F5344CB8AC3E}">
        <p14:creationId xmlns:p14="http://schemas.microsoft.com/office/powerpoint/2010/main" val="37931086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hank You">
    <p:bg>
      <p:bgPr>
        <a:solidFill>
          <a:srgbClr val="07125E"/>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B532952-A82C-F768-E275-5E33D548F164}"/>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tretch>
            <a:fillRect/>
          </a:stretch>
        </p:blipFill>
        <p:spPr>
          <a:xfrm>
            <a:off x="666929" y="4144437"/>
            <a:ext cx="2559665" cy="343581"/>
          </a:xfrm>
          <a:prstGeom prst="rect">
            <a:avLst/>
          </a:prstGeom>
        </p:spPr>
      </p:pic>
      <p:sp>
        <p:nvSpPr>
          <p:cNvPr id="10" name="TextBox 9">
            <a:extLst>
              <a:ext uri="{FF2B5EF4-FFF2-40B4-BE49-F238E27FC236}">
                <a16:creationId xmlns:a16="http://schemas.microsoft.com/office/drawing/2014/main" id="{C5638328-B8A9-5693-9A4D-193A5FF5429B}"/>
              </a:ext>
            </a:extLst>
          </p:cNvPr>
          <p:cNvSpPr txBox="1"/>
          <p:nvPr userDrawn="1"/>
        </p:nvSpPr>
        <p:spPr>
          <a:xfrm>
            <a:off x="623888" y="2743200"/>
            <a:ext cx="5205412" cy="677108"/>
          </a:xfrm>
          <a:prstGeom prst="rect">
            <a:avLst/>
          </a:prstGeom>
          <a:noFill/>
        </p:spPr>
        <p:txBody>
          <a:bodyPr wrap="square" lIns="0" tIns="0" rIns="0" bIns="0" rtlCol="0">
            <a:spAutoFit/>
          </a:bodyPr>
          <a:lstStyle/>
          <a:p>
            <a:pPr algn="l"/>
            <a:r>
              <a:rPr lang="en-US" sz="4400" b="1" dirty="0">
                <a:solidFill>
                  <a:schemeClr val="bg1"/>
                </a:solidFill>
                <a:latin typeface="+mn-lt"/>
                <a:cs typeface="Calibri" panose="020F0502020204030204" pitchFamily="34" charset="0"/>
              </a:rPr>
              <a:t>Thankyou</a:t>
            </a:r>
          </a:p>
        </p:txBody>
      </p:sp>
      <p:sp>
        <p:nvSpPr>
          <p:cNvPr id="2" name="TextBox 1">
            <a:extLst>
              <a:ext uri="{FF2B5EF4-FFF2-40B4-BE49-F238E27FC236}">
                <a16:creationId xmlns:a16="http://schemas.microsoft.com/office/drawing/2014/main" id="{ACC121DB-A503-17BA-6531-8F6016E48642}"/>
              </a:ext>
            </a:extLst>
          </p:cNvPr>
          <p:cNvSpPr txBox="1"/>
          <p:nvPr userDrawn="1"/>
        </p:nvSpPr>
        <p:spPr>
          <a:xfrm>
            <a:off x="623888" y="4674018"/>
            <a:ext cx="10745153" cy="1076257"/>
          </a:xfrm>
          <a:prstGeom prst="rect">
            <a:avLst/>
          </a:prstGeom>
          <a:noFill/>
        </p:spPr>
        <p:txBody>
          <a:bodyPr wrap="square" lIns="0" tIns="45720" rIns="91440" bIns="45720">
            <a:spAutoFit/>
          </a:bodyPr>
          <a:lstStyle/>
          <a:p>
            <a:pPr>
              <a:lnSpc>
                <a:spcPct val="114000"/>
              </a:lnSpc>
              <a:spcBef>
                <a:spcPts val="300"/>
              </a:spcBef>
              <a:spcAft>
                <a:spcPts val="300"/>
              </a:spcAft>
            </a:pPr>
            <a:r>
              <a:rPr lang="en-US" sz="1200" kern="0" baseline="0" dirty="0">
                <a:solidFill>
                  <a:schemeClr val="bg1"/>
                </a:solidFill>
                <a:latin typeface="Manrope" pitchFamily="2" charset="0"/>
              </a:rPr>
              <a:t>Privileged &amp; Confidential </a:t>
            </a:r>
          </a:p>
          <a:p>
            <a:pPr>
              <a:lnSpc>
                <a:spcPct val="114000"/>
              </a:lnSpc>
              <a:spcBef>
                <a:spcPts val="300"/>
              </a:spcBef>
              <a:spcAft>
                <a:spcPts val="300"/>
              </a:spcAft>
            </a:pPr>
            <a:r>
              <a:rPr lang="en-US" sz="1200" kern="0" baseline="0" dirty="0">
                <a:solidFill>
                  <a:schemeClr val="bg1"/>
                </a:solidFill>
                <a:latin typeface="Manrope" pitchFamily="2" charset="0"/>
              </a:rPr>
              <a:t>@ Copyright 2024 by Hexaware Technologies Limited</a:t>
            </a:r>
          </a:p>
          <a:p>
            <a:pPr>
              <a:lnSpc>
                <a:spcPct val="114000"/>
              </a:lnSpc>
              <a:spcBef>
                <a:spcPts val="300"/>
              </a:spcBef>
              <a:spcAft>
                <a:spcPts val="300"/>
              </a:spcAft>
            </a:pPr>
            <a:r>
              <a:rPr lang="en-US" sz="1200" kern="0" baseline="0" dirty="0">
                <a:solidFill>
                  <a:schemeClr val="bg1"/>
                </a:solidFill>
                <a:latin typeface="Manrope" pitchFamily="2" charset="0"/>
              </a:rPr>
              <a:t>All rights reserved. All text included in this document is the exclusive property of Hexaware Technologies Ltd, and may not be copied, reproduced, or used in any way without the express permission in writing of Hexaware Technologies Ltd.</a:t>
            </a:r>
          </a:p>
        </p:txBody>
      </p:sp>
    </p:spTree>
    <p:extLst>
      <p:ext uri="{BB962C8B-B14F-4D97-AF65-F5344CB8AC3E}">
        <p14:creationId xmlns:p14="http://schemas.microsoft.com/office/powerpoint/2010/main" val="3488684225"/>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14737421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2958994640"/>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73552095"/>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15180912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364262516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5245589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81286733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a:t>
            </a:r>
            <a:endParaRPr lang="en-US" sz="700" kern="0" spc="50" baseline="0" dirty="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1517845865"/>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22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060183278"/>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17322583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132097069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n-lt"/>
                <a:ea typeface="+mn-ea"/>
                <a:cs typeface="Heebo" pitchFamily="2" charset="-79"/>
              </a:rPr>
              <a:t>© Hexaware Technologies. </a:t>
            </a:r>
            <a:endParaRPr lang="en-US" sz="700" kern="0" spc="50" baseline="0" dirty="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785299065"/>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3188083137"/>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613803" y="6553801"/>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anrope" pitchFamily="2" charset="0"/>
              </a:rPr>
              <a:pPr lvl="0" algn="r"/>
              <a:t>‹#›</a:t>
            </a:fld>
            <a:endParaRPr lang="en-US" sz="900" dirty="0">
              <a:solidFill>
                <a:schemeClr val="tx1"/>
              </a:solidFill>
              <a:latin typeface="Manrope" pitchFamily="2" charset="0"/>
            </a:endParaRP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569189"/>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accent5">
                    <a:lumMod val="75000"/>
                  </a:schemeClr>
                </a:solidFill>
                <a:latin typeface="Manrope" pitchFamily="2" charset="0"/>
                <a:ea typeface="+mn-ea"/>
                <a:cs typeface="Heebo" pitchFamily="2" charset="-79"/>
              </a:rPr>
              <a:t>© Hexaware Technologies. Confidential briefing. </a:t>
            </a:r>
            <a:endParaRPr lang="en-US" sz="700" kern="0" spc="50" baseline="0" dirty="0">
              <a:solidFill>
                <a:schemeClr val="accent5">
                  <a:lumMod val="75000"/>
                </a:schemeClr>
              </a:solidFill>
              <a:latin typeface="Manrope" pitchFamily="2" charset="0"/>
              <a:ea typeface="+mn-ea"/>
              <a:cs typeface="Heebo" pitchFamily="2" charset="-79"/>
            </a:endParaRPr>
          </a:p>
        </p:txBody>
      </p:sp>
      <p:sp>
        <p:nvSpPr>
          <p:cNvPr id="5" name="Title 4">
            <a:extLst>
              <a:ext uri="{FF2B5EF4-FFF2-40B4-BE49-F238E27FC236}">
                <a16:creationId xmlns:a16="http://schemas.microsoft.com/office/drawing/2014/main" id="{3496E3D6-D200-5E28-F1D2-2CD2A75753C8}"/>
              </a:ext>
            </a:extLst>
          </p:cNvPr>
          <p:cNvSpPr>
            <a:spLocks noGrp="1"/>
          </p:cNvSpPr>
          <p:nvPr>
            <p:ph type="title"/>
          </p:nvPr>
        </p:nvSpPr>
        <p:spPr>
          <a:xfrm>
            <a:off x="622300" y="441295"/>
            <a:ext cx="9038091" cy="400110"/>
          </a:xfrm>
          <a:prstGeom prst="rect">
            <a:avLst/>
          </a:prstGeom>
        </p:spPr>
        <p:txBody>
          <a:bodyPr lIns="0" tIns="45720" rIns="91440" bIns="45720" anchor="ctr">
            <a:noAutofit/>
          </a:bodyPr>
          <a:lstStyle>
            <a:lvl1pPr>
              <a:lnSpc>
                <a:spcPct val="100000"/>
              </a:lnSpc>
              <a:defRPr sz="2000" b="1">
                <a:latin typeface="Manrope" pitchFamily="2" charset="0"/>
              </a:defRPr>
            </a:lvl1pPr>
          </a:lstStyle>
          <a:p>
            <a:r>
              <a:rPr lang="en-US"/>
              <a:t>Click to edit Master title style</a:t>
            </a:r>
          </a:p>
        </p:txBody>
      </p:sp>
      <p:grpSp>
        <p:nvGrpSpPr>
          <p:cNvPr id="3" name="Group 2">
            <a:extLst>
              <a:ext uri="{FF2B5EF4-FFF2-40B4-BE49-F238E27FC236}">
                <a16:creationId xmlns:a16="http://schemas.microsoft.com/office/drawing/2014/main" id="{F9CB01CD-F04D-8CDC-231E-E7304F6E0745}"/>
              </a:ext>
            </a:extLst>
          </p:cNvPr>
          <p:cNvGrpSpPr/>
          <p:nvPr userDrawn="1"/>
        </p:nvGrpSpPr>
        <p:grpSpPr>
          <a:xfrm>
            <a:off x="9656567" y="282483"/>
            <a:ext cx="2046773" cy="276999"/>
            <a:chOff x="9656567" y="282483"/>
            <a:chExt cx="2046773" cy="276999"/>
          </a:xfrm>
        </p:grpSpPr>
        <p:pic>
          <p:nvPicPr>
            <p:cNvPr id="6" name="Graphic 5">
              <a:extLst>
                <a:ext uri="{FF2B5EF4-FFF2-40B4-BE49-F238E27FC236}">
                  <a16:creationId xmlns:a16="http://schemas.microsoft.com/office/drawing/2014/main" id="{38AA6EDE-6370-E4A5-29AE-6388464208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56567" y="345759"/>
              <a:ext cx="914400" cy="122739"/>
            </a:xfrm>
            <a:prstGeom prst="rect">
              <a:avLst/>
            </a:prstGeom>
          </p:spPr>
        </p:pic>
        <p:pic>
          <p:nvPicPr>
            <p:cNvPr id="7" name="Picture 6" descr="A blue letter e&#10;&#10;AI-generated content may be incorrect.">
              <a:extLst>
                <a:ext uri="{FF2B5EF4-FFF2-40B4-BE49-F238E27FC236}">
                  <a16:creationId xmlns:a16="http://schemas.microsoft.com/office/drawing/2014/main" id="{2B7E9829-6F79-F091-95B1-25285653AE1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88940" y="336791"/>
              <a:ext cx="914400" cy="140676"/>
            </a:xfrm>
            <a:prstGeom prst="rect">
              <a:avLst/>
            </a:prstGeom>
          </p:spPr>
        </p:pic>
        <p:sp>
          <p:nvSpPr>
            <p:cNvPr id="9" name="TextBox 8">
              <a:extLst>
                <a:ext uri="{FF2B5EF4-FFF2-40B4-BE49-F238E27FC236}">
                  <a16:creationId xmlns:a16="http://schemas.microsoft.com/office/drawing/2014/main" id="{A3C28BD0-39A9-E276-B040-8B409CE34157}"/>
                </a:ext>
              </a:extLst>
            </p:cNvPr>
            <p:cNvSpPr txBox="1"/>
            <p:nvPr userDrawn="1"/>
          </p:nvSpPr>
          <p:spPr>
            <a:xfrm>
              <a:off x="10570967" y="282483"/>
              <a:ext cx="235527" cy="276999"/>
            </a:xfrm>
            <a:prstGeom prst="rect">
              <a:avLst/>
            </a:prstGeom>
            <a:noFill/>
            <a:ln w="9525">
              <a:noFill/>
            </a:ln>
          </p:spPr>
          <p:txBody>
            <a:bodyPr wrap="square" lIns="0" tIns="0" rIns="0" bIns="0" rtlCol="0">
              <a:spAutoFit/>
            </a:bodyPr>
            <a:lstStyle/>
            <a:p>
              <a:pPr algn="ctr"/>
              <a:r>
                <a:rPr lang="en-US" sz="1800" dirty="0">
                  <a:solidFill>
                    <a:schemeClr val="bg2">
                      <a:lumMod val="65000"/>
                    </a:schemeClr>
                  </a:solidFill>
                </a:rPr>
                <a:t>/</a:t>
              </a:r>
            </a:p>
          </p:txBody>
        </p:sp>
      </p:grpSp>
    </p:spTree>
    <p:extLst>
      <p:ext uri="{BB962C8B-B14F-4D97-AF65-F5344CB8AC3E}">
        <p14:creationId xmlns:p14="http://schemas.microsoft.com/office/powerpoint/2010/main" val="311591440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57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327728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hexaware.com/platforms/rapidx/" TargetMode="External"/><Relationship Id="rId7" Type="http://schemas.openxmlformats.org/officeDocument/2006/relationships/hyperlink" Target="https://hexaware.com/platforms/tensai/" TargetMode="External"/><Relationship Id="rId2" Type="http://schemas.openxmlformats.org/officeDocument/2006/relationships/image" Target="../media/image12.jpe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hyperlink" Target="https://hexaware.com/platforms/amaze/" TargetMode="External"/><Relationship Id="rId10" Type="http://schemas.openxmlformats.org/officeDocument/2006/relationships/image" Target="../media/image7.svg"/><Relationship Id="rId4" Type="http://schemas.openxmlformats.org/officeDocument/2006/relationships/image" Target="../media/image13.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32.png"/><Relationship Id="rId26" Type="http://schemas.openxmlformats.org/officeDocument/2006/relationships/image" Target="../media/image40.png"/><Relationship Id="rId3" Type="http://schemas.openxmlformats.org/officeDocument/2006/relationships/image" Target="../media/image17.png"/><Relationship Id="rId21" Type="http://schemas.openxmlformats.org/officeDocument/2006/relationships/image" Target="../media/image35.png"/><Relationship Id="rId34" Type="http://schemas.openxmlformats.org/officeDocument/2006/relationships/image" Target="../media/image48.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image" Target="../media/image39.png"/><Relationship Id="rId33" Type="http://schemas.openxmlformats.org/officeDocument/2006/relationships/image" Target="../media/image47.png"/><Relationship Id="rId2" Type="http://schemas.openxmlformats.org/officeDocument/2006/relationships/image" Target="../media/image16.png"/><Relationship Id="rId16" Type="http://schemas.openxmlformats.org/officeDocument/2006/relationships/image" Target="../media/image30.png"/><Relationship Id="rId20" Type="http://schemas.openxmlformats.org/officeDocument/2006/relationships/image" Target="../media/image34.png"/><Relationship Id="rId29" Type="http://schemas.openxmlformats.org/officeDocument/2006/relationships/image" Target="../media/image43.jpeg"/><Relationship Id="rId1" Type="http://schemas.openxmlformats.org/officeDocument/2006/relationships/slideLayout" Target="../slideLayouts/slideLayout19.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image" Target="../media/image38.png"/><Relationship Id="rId32" Type="http://schemas.openxmlformats.org/officeDocument/2006/relationships/image" Target="../media/image46.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37.png"/><Relationship Id="rId28" Type="http://schemas.openxmlformats.org/officeDocument/2006/relationships/image" Target="../media/image42.jpeg"/><Relationship Id="rId36" Type="http://schemas.openxmlformats.org/officeDocument/2006/relationships/image" Target="../media/image50.png"/><Relationship Id="rId10" Type="http://schemas.openxmlformats.org/officeDocument/2006/relationships/image" Target="../media/image24.png"/><Relationship Id="rId19" Type="http://schemas.openxmlformats.org/officeDocument/2006/relationships/image" Target="../media/image33.png"/><Relationship Id="rId31" Type="http://schemas.openxmlformats.org/officeDocument/2006/relationships/image" Target="../media/image45.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 Id="rId27" Type="http://schemas.openxmlformats.org/officeDocument/2006/relationships/image" Target="../media/image41.png"/><Relationship Id="rId30" Type="http://schemas.openxmlformats.org/officeDocument/2006/relationships/image" Target="../media/image44.png"/><Relationship Id="rId35" Type="http://schemas.openxmlformats.org/officeDocument/2006/relationships/image" Target="../media/image49.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57.jpeg"/><Relationship Id="rId13" Type="http://schemas.openxmlformats.org/officeDocument/2006/relationships/image" Target="../media/image62.png"/><Relationship Id="rId18" Type="http://schemas.openxmlformats.org/officeDocument/2006/relationships/image" Target="../media/image66.jpeg"/><Relationship Id="rId26" Type="http://schemas.openxmlformats.org/officeDocument/2006/relationships/image" Target="../media/image74.jpeg"/><Relationship Id="rId3" Type="http://schemas.openxmlformats.org/officeDocument/2006/relationships/image" Target="../media/image52.jpeg"/><Relationship Id="rId21" Type="http://schemas.openxmlformats.org/officeDocument/2006/relationships/image" Target="../media/image69.png"/><Relationship Id="rId7" Type="http://schemas.openxmlformats.org/officeDocument/2006/relationships/image" Target="../media/image56.jpeg"/><Relationship Id="rId12" Type="http://schemas.openxmlformats.org/officeDocument/2006/relationships/image" Target="../media/image61.png"/><Relationship Id="rId17" Type="http://schemas.openxmlformats.org/officeDocument/2006/relationships/image" Target="../media/image65.jpeg"/><Relationship Id="rId25" Type="http://schemas.openxmlformats.org/officeDocument/2006/relationships/image" Target="../media/image73.png"/><Relationship Id="rId2" Type="http://schemas.openxmlformats.org/officeDocument/2006/relationships/image" Target="../media/image51.jpeg"/><Relationship Id="rId16" Type="http://schemas.openxmlformats.org/officeDocument/2006/relationships/image" Target="../media/image64.jpeg"/><Relationship Id="rId20" Type="http://schemas.openxmlformats.org/officeDocument/2006/relationships/image" Target="../media/image68.jpeg"/><Relationship Id="rId29" Type="http://schemas.openxmlformats.org/officeDocument/2006/relationships/image" Target="../media/image77.jpeg"/><Relationship Id="rId1" Type="http://schemas.openxmlformats.org/officeDocument/2006/relationships/slideLayout" Target="../slideLayouts/slideLayout18.xml"/><Relationship Id="rId6" Type="http://schemas.openxmlformats.org/officeDocument/2006/relationships/image" Target="../media/image55.jpeg"/><Relationship Id="rId11" Type="http://schemas.openxmlformats.org/officeDocument/2006/relationships/image" Target="../media/image60.png"/><Relationship Id="rId24" Type="http://schemas.openxmlformats.org/officeDocument/2006/relationships/image" Target="../media/image72.png"/><Relationship Id="rId5" Type="http://schemas.openxmlformats.org/officeDocument/2006/relationships/image" Target="../media/image54.jpeg"/><Relationship Id="rId15" Type="http://schemas.openxmlformats.org/officeDocument/2006/relationships/image" Target="../media/image63.jpeg"/><Relationship Id="rId23" Type="http://schemas.openxmlformats.org/officeDocument/2006/relationships/image" Target="../media/image71.png"/><Relationship Id="rId28" Type="http://schemas.openxmlformats.org/officeDocument/2006/relationships/image" Target="../media/image76.jpeg"/><Relationship Id="rId10" Type="http://schemas.openxmlformats.org/officeDocument/2006/relationships/image" Target="../media/image59.jpeg"/><Relationship Id="rId19" Type="http://schemas.openxmlformats.org/officeDocument/2006/relationships/image" Target="../media/image67.jpeg"/><Relationship Id="rId4" Type="http://schemas.openxmlformats.org/officeDocument/2006/relationships/image" Target="../media/image53.jpeg"/><Relationship Id="rId9" Type="http://schemas.openxmlformats.org/officeDocument/2006/relationships/image" Target="../media/image58.jpeg"/><Relationship Id="rId14" Type="http://schemas.microsoft.com/office/2007/relationships/hdphoto" Target="../media/hdphoto1.wdp"/><Relationship Id="rId22" Type="http://schemas.openxmlformats.org/officeDocument/2006/relationships/image" Target="../media/image70.jpeg"/><Relationship Id="rId27" Type="http://schemas.openxmlformats.org/officeDocument/2006/relationships/image" Target="../media/image75.png"/></Relationships>
</file>

<file path=ppt/slides/_rels/slide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xml"/><Relationship Id="rId1" Type="http://schemas.openxmlformats.org/officeDocument/2006/relationships/slideLayout" Target="../slideLayouts/slideLayout22.xml"/><Relationship Id="rId5" Type="http://schemas.openxmlformats.org/officeDocument/2006/relationships/image" Target="../media/image80.png"/><Relationship Id="rId4" Type="http://schemas.openxmlformats.org/officeDocument/2006/relationships/image" Target="../media/image79.png"/></Relationships>
</file>

<file path=ppt/slides/_rels/slide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hyperlink" Target="mailto:marketing@hexaware.com" TargetMode="Externa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Placeholder 40">
            <a:extLst>
              <a:ext uri="{FF2B5EF4-FFF2-40B4-BE49-F238E27FC236}">
                <a16:creationId xmlns:a16="http://schemas.microsoft.com/office/drawing/2014/main" id="{96525837-FB68-E209-D92A-D997E65D84F5}"/>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0" y="0"/>
            <a:ext cx="12192000" cy="6858000"/>
          </a:xfrm>
        </p:spPr>
      </p:pic>
      <p:sp>
        <p:nvSpPr>
          <p:cNvPr id="11" name="Title 10">
            <a:extLst>
              <a:ext uri="{FF2B5EF4-FFF2-40B4-BE49-F238E27FC236}">
                <a16:creationId xmlns:a16="http://schemas.microsoft.com/office/drawing/2014/main" id="{BAFA2D44-2AFA-6A6B-C9C6-825D4BED3158}"/>
              </a:ext>
            </a:extLst>
          </p:cNvPr>
          <p:cNvSpPr>
            <a:spLocks noGrp="1"/>
          </p:cNvSpPr>
          <p:nvPr>
            <p:ph type="title"/>
          </p:nvPr>
        </p:nvSpPr>
        <p:spPr>
          <a:xfrm>
            <a:off x="822960" y="2805752"/>
            <a:ext cx="4356100" cy="1246495"/>
          </a:xfrm>
        </p:spPr>
        <p:txBody>
          <a:bodyPr/>
          <a:lstStyle/>
          <a:p>
            <a:r>
              <a:rPr lang="en-US" dirty="0"/>
              <a:t>Australia &amp; New Zealand</a:t>
            </a:r>
          </a:p>
        </p:txBody>
      </p:sp>
      <p:sp>
        <p:nvSpPr>
          <p:cNvPr id="10" name="TextBox 9">
            <a:extLst>
              <a:ext uri="{FF2B5EF4-FFF2-40B4-BE49-F238E27FC236}">
                <a16:creationId xmlns:a16="http://schemas.microsoft.com/office/drawing/2014/main" id="{91764FAD-87C6-E6F0-1943-A9CAF6079174}"/>
              </a:ext>
            </a:extLst>
          </p:cNvPr>
          <p:cNvSpPr txBox="1"/>
          <p:nvPr/>
        </p:nvSpPr>
        <p:spPr>
          <a:xfrm>
            <a:off x="7362825" y="5656072"/>
            <a:ext cx="4105274" cy="677108"/>
          </a:xfrm>
          <a:prstGeom prst="rect">
            <a:avLst/>
          </a:prstGeom>
          <a:noFill/>
        </p:spPr>
        <p:txBody>
          <a:bodyPr wrap="square" lIns="0" tIns="0" rIns="0" bIns="0">
            <a:spAutoFit/>
          </a:bodyPr>
          <a:lstStyle/>
          <a:p>
            <a:r>
              <a:rPr lang="en-US" sz="2200" dirty="0">
                <a:solidFill>
                  <a:schemeClr val="bg2"/>
                </a:solidFill>
                <a:latin typeface="Manrope SemiBold" pitchFamily="2" charset="0"/>
              </a:rPr>
              <a:t>Artificial Intelligence Led. </a:t>
            </a:r>
            <a:br>
              <a:rPr lang="en-US" sz="2200" dirty="0">
                <a:solidFill>
                  <a:schemeClr val="bg2"/>
                </a:solidFill>
                <a:latin typeface="Manrope SemiBold" pitchFamily="2" charset="0"/>
              </a:rPr>
            </a:br>
            <a:r>
              <a:rPr lang="en-US" sz="2200" dirty="0">
                <a:solidFill>
                  <a:schemeClr val="accent2"/>
                </a:solidFill>
                <a:latin typeface="Manrope SemiBold" pitchFamily="2" charset="0"/>
              </a:rPr>
              <a:t>Human Intelligence Perfected.</a:t>
            </a:r>
          </a:p>
        </p:txBody>
      </p:sp>
      <p:pic>
        <p:nvPicPr>
          <p:cNvPr id="4" name="Graphic 3">
            <a:extLst>
              <a:ext uri="{FF2B5EF4-FFF2-40B4-BE49-F238E27FC236}">
                <a16:creationId xmlns:a16="http://schemas.microsoft.com/office/drawing/2014/main" id="{E459D5B1-CE4A-216D-4D4F-E75781D56863}"/>
              </a:ext>
            </a:extLst>
          </p:cNvPr>
          <p:cNvPicPr>
            <a:picLocks noChangeAspect="1"/>
          </p:cNvPicPr>
          <p:nvPr/>
        </p:nvPicPr>
        <p:blipFill>
          <a:blip r:embed="rId3">
            <a:lum bright="100000"/>
            <a:extLst>
              <a:ext uri="{96DAC541-7B7A-43D3-8B79-37D633B846F1}">
                <asvg:svgBlip xmlns:asvg="http://schemas.microsoft.com/office/drawing/2016/SVG/main" r:embed="rId4"/>
              </a:ext>
            </a:extLst>
          </a:blip>
          <a:stretch>
            <a:fillRect/>
          </a:stretch>
        </p:blipFill>
        <p:spPr>
          <a:xfrm>
            <a:off x="822960" y="731098"/>
            <a:ext cx="1991212" cy="267278"/>
          </a:xfrm>
          <a:prstGeom prst="rect">
            <a:avLst/>
          </a:prstGeom>
        </p:spPr>
      </p:pic>
    </p:spTree>
    <p:extLst>
      <p:ext uri="{BB962C8B-B14F-4D97-AF65-F5344CB8AC3E}">
        <p14:creationId xmlns:p14="http://schemas.microsoft.com/office/powerpoint/2010/main" val="4274741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D5828-6B46-8064-9747-FFFC5EA40AC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B57FB5A-91AD-C5BD-2AF3-269190740465}"/>
              </a:ext>
            </a:extLst>
          </p:cNvPr>
          <p:cNvSpPr>
            <a:spLocks/>
          </p:cNvSpPr>
          <p:nvPr/>
        </p:nvSpPr>
        <p:spPr>
          <a:xfrm>
            <a:off x="0" y="16540"/>
            <a:ext cx="3269529" cy="6821143"/>
          </a:xfrm>
          <a:prstGeom prst="rect">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rPr>
              <a:t> </a:t>
            </a:r>
          </a:p>
        </p:txBody>
      </p:sp>
      <p:pic>
        <p:nvPicPr>
          <p:cNvPr id="12" name="Picture 11" descr="Blue smoke on a black background&#10;&#10;Description automatically generated">
            <a:extLst>
              <a:ext uri="{FF2B5EF4-FFF2-40B4-BE49-F238E27FC236}">
                <a16:creationId xmlns:a16="http://schemas.microsoft.com/office/drawing/2014/main" id="{06874F33-4BAE-85B8-ACDD-A6596F5FCC8D}"/>
              </a:ext>
            </a:extLst>
          </p:cNvPr>
          <p:cNvPicPr>
            <a:picLocks noChangeAspect="1"/>
          </p:cNvPicPr>
          <p:nvPr/>
        </p:nvPicPr>
        <p:blipFill rotWithShape="1">
          <a:blip r:embed="rId2">
            <a:alphaModFix amt="25000"/>
            <a:extLst>
              <a:ext uri="{28A0092B-C50C-407E-A947-70E740481C1C}">
                <a14:useLocalDpi xmlns:a14="http://schemas.microsoft.com/office/drawing/2010/main"/>
              </a:ext>
            </a:extLst>
          </a:blip>
          <a:srcRect/>
          <a:stretch/>
        </p:blipFill>
        <p:spPr>
          <a:xfrm flipV="1">
            <a:off x="-17414" y="20317"/>
            <a:ext cx="3269529" cy="6837682"/>
          </a:xfrm>
          <a:prstGeom prst="rect">
            <a:avLst/>
          </a:prstGeom>
        </p:spPr>
      </p:pic>
      <p:sp>
        <p:nvSpPr>
          <p:cNvPr id="15" name="Rectangle 14">
            <a:extLst>
              <a:ext uri="{FF2B5EF4-FFF2-40B4-BE49-F238E27FC236}">
                <a16:creationId xmlns:a16="http://schemas.microsoft.com/office/drawing/2014/main" id="{54CE1481-E365-969C-054A-9F604182AD6E}"/>
              </a:ext>
            </a:extLst>
          </p:cNvPr>
          <p:cNvSpPr/>
          <p:nvPr/>
        </p:nvSpPr>
        <p:spPr>
          <a:xfrm>
            <a:off x="0" y="0"/>
            <a:ext cx="3281997"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ndParaRPr>
          </a:p>
        </p:txBody>
      </p:sp>
      <p:sp>
        <p:nvSpPr>
          <p:cNvPr id="2" name="Text Placeholder 1">
            <a:extLst>
              <a:ext uri="{FF2B5EF4-FFF2-40B4-BE49-F238E27FC236}">
                <a16:creationId xmlns:a16="http://schemas.microsoft.com/office/drawing/2014/main" id="{F0F19C0A-2D8B-B08C-10B3-A9A107F1717B}"/>
              </a:ext>
            </a:extLst>
          </p:cNvPr>
          <p:cNvSpPr>
            <a:spLocks noGrp="1"/>
          </p:cNvSpPr>
          <p:nvPr>
            <p:ph type="body" sz="quarter" idx="15"/>
          </p:nvPr>
        </p:nvSpPr>
        <p:spPr>
          <a:xfrm flipH="1">
            <a:off x="118872" y="369773"/>
            <a:ext cx="3075779" cy="451850"/>
          </a:xfrm>
        </p:spPr>
        <p:txBody>
          <a:bodyPr/>
          <a:lstStyle/>
          <a:p>
            <a:pPr algn="ctr"/>
            <a:br>
              <a:rPr lang="en-US" b="1" dirty="0">
                <a:solidFill>
                  <a:schemeClr val="bg1"/>
                </a:solidFill>
                <a:ea typeface="Calibri" panose="020F0502020204030204" pitchFamily="34" charset="0"/>
                <a:cs typeface="Calibri" panose="020F0502020204030204" pitchFamily="34" charset="0"/>
              </a:rPr>
            </a:br>
            <a:r>
              <a:rPr lang="en-US" dirty="0">
                <a:solidFill>
                  <a:schemeClr val="bg1"/>
                </a:solidFill>
                <a:ea typeface="Calibri" panose="020F0502020204030204" pitchFamily="34" charset="0"/>
                <a:cs typeface="Calibri" panose="020F0502020204030204" pitchFamily="34" charset="0"/>
              </a:rPr>
              <a:t>Australia and New Zealand</a:t>
            </a:r>
          </a:p>
        </p:txBody>
      </p:sp>
      <p:sp>
        <p:nvSpPr>
          <p:cNvPr id="13" name="Rectangle: Top Corners Rounded 12">
            <a:extLst>
              <a:ext uri="{FF2B5EF4-FFF2-40B4-BE49-F238E27FC236}">
                <a16:creationId xmlns:a16="http://schemas.microsoft.com/office/drawing/2014/main" id="{FEC9FBA7-5024-8E64-B004-E76D981A8222}"/>
              </a:ext>
            </a:extLst>
          </p:cNvPr>
          <p:cNvSpPr/>
          <p:nvPr/>
        </p:nvSpPr>
        <p:spPr>
          <a:xfrm>
            <a:off x="3457084" y="2797001"/>
            <a:ext cx="8445608" cy="358388"/>
          </a:xfrm>
          <a:prstGeom prst="round2SameRect">
            <a:avLst>
              <a:gd name="adj1" fmla="val 50000"/>
              <a:gd name="adj2" fmla="val 0"/>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rPr>
              <a:t>Ou</a:t>
            </a:r>
            <a:r>
              <a:rPr lang="en-US" sz="1400" b="1" kern="0" dirty="0">
                <a:solidFill>
                  <a:prstClr val="white"/>
                </a:solidFill>
                <a:ea typeface="Calibri" panose="020F0502020204030204" pitchFamily="34" charset="0"/>
                <a:cs typeface="Calibri" panose="020F0502020204030204" pitchFamily="34" charset="0"/>
              </a:rPr>
              <a:t>r Service Offerings</a:t>
            </a:r>
            <a:endPar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endParaRPr>
          </a:p>
        </p:txBody>
      </p:sp>
      <p:sp>
        <p:nvSpPr>
          <p:cNvPr id="14" name="Rectangle: Top Corners Rounded 13">
            <a:extLst>
              <a:ext uri="{FF2B5EF4-FFF2-40B4-BE49-F238E27FC236}">
                <a16:creationId xmlns:a16="http://schemas.microsoft.com/office/drawing/2014/main" id="{056695FB-6906-AA1C-D7DD-F83BD3BBA523}"/>
              </a:ext>
            </a:extLst>
          </p:cNvPr>
          <p:cNvSpPr/>
          <p:nvPr/>
        </p:nvSpPr>
        <p:spPr>
          <a:xfrm>
            <a:off x="3430959" y="5896353"/>
            <a:ext cx="8445608" cy="358388"/>
          </a:xfrm>
          <a:prstGeom prst="round2SameRect">
            <a:avLst>
              <a:gd name="adj1" fmla="val 50000"/>
              <a:gd name="adj2" fmla="val 0"/>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rPr>
              <a:t>We service </a:t>
            </a:r>
            <a:r>
              <a:rPr lang="en-US" sz="1400" b="1" kern="0" dirty="0">
                <a:solidFill>
                  <a:prstClr val="white"/>
                </a:solidFill>
                <a:ea typeface="Calibri" panose="020F0502020204030204" pitchFamily="34" charset="0"/>
                <a:cs typeface="Calibri" panose="020F0502020204030204" pitchFamily="34" charset="0"/>
              </a:rPr>
              <a:t>ANZ</a:t>
            </a:r>
            <a:r>
              <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rPr>
              <a:t> enterprises from near shore &amp;  Global Capability Centers</a:t>
            </a:r>
          </a:p>
        </p:txBody>
      </p:sp>
      <p:sp>
        <p:nvSpPr>
          <p:cNvPr id="19" name="Rectangle: Top Corners Rounded 18">
            <a:extLst>
              <a:ext uri="{FF2B5EF4-FFF2-40B4-BE49-F238E27FC236}">
                <a16:creationId xmlns:a16="http://schemas.microsoft.com/office/drawing/2014/main" id="{E8F093F5-C001-14BA-8159-A5DDC9D5AEC5}"/>
              </a:ext>
            </a:extLst>
          </p:cNvPr>
          <p:cNvSpPr/>
          <p:nvPr/>
        </p:nvSpPr>
        <p:spPr>
          <a:xfrm>
            <a:off x="3457084" y="4315431"/>
            <a:ext cx="8445608" cy="358388"/>
          </a:xfrm>
          <a:prstGeom prst="round2SameRect">
            <a:avLst>
              <a:gd name="adj1" fmla="val 50000"/>
              <a:gd name="adj2" fmla="val 0"/>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rPr>
              <a:t>Our Intellectual Properties and Experience driving growth in </a:t>
            </a:r>
            <a:r>
              <a:rPr lang="en-US" sz="1400" b="1" kern="0" dirty="0">
                <a:solidFill>
                  <a:prstClr val="white"/>
                </a:solidFill>
                <a:ea typeface="Calibri" panose="020F0502020204030204" pitchFamily="34" charset="0"/>
                <a:cs typeface="Calibri" panose="020F0502020204030204" pitchFamily="34" charset="0"/>
              </a:rPr>
              <a:t>ANZ</a:t>
            </a:r>
            <a:endParaRPr kumimoji="0" lang="en-US" sz="1400" b="1" i="0" u="none" strike="noStrike" kern="0" cap="none" spc="0" normalizeH="0" baseline="0" noProof="0" dirty="0">
              <a:ln>
                <a:noFill/>
              </a:ln>
              <a:solidFill>
                <a:prstClr val="white"/>
              </a:solidFill>
              <a:effectLst/>
              <a:uLnTx/>
              <a:uFillTx/>
              <a:ea typeface="Calibri" panose="020F0502020204030204" pitchFamily="34" charset="0"/>
              <a:cs typeface="Calibri" panose="020F0502020204030204" pitchFamily="34" charset="0"/>
            </a:endParaRPr>
          </a:p>
        </p:txBody>
      </p:sp>
      <p:pic>
        <p:nvPicPr>
          <p:cNvPr id="22" name="Picture 21" descr="A blue and black sign&#10;&#10;Description automatically generated">
            <a:hlinkClick r:id="rId3"/>
            <a:extLst>
              <a:ext uri="{FF2B5EF4-FFF2-40B4-BE49-F238E27FC236}">
                <a16:creationId xmlns:a16="http://schemas.microsoft.com/office/drawing/2014/main" id="{29003153-D6AB-1AA9-0B8A-AE8FEC3F24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26008" y="4978633"/>
            <a:ext cx="1050404" cy="457200"/>
          </a:xfrm>
          <a:prstGeom prst="rect">
            <a:avLst/>
          </a:prstGeom>
        </p:spPr>
      </p:pic>
      <p:pic>
        <p:nvPicPr>
          <p:cNvPr id="24" name="Picture 23" descr="A blue text on a black background&#10;&#10;Description automatically generated">
            <a:hlinkClick r:id="rId5"/>
            <a:extLst>
              <a:ext uri="{FF2B5EF4-FFF2-40B4-BE49-F238E27FC236}">
                <a16:creationId xmlns:a16="http://schemas.microsoft.com/office/drawing/2014/main" id="{56AB1569-D692-1BA3-58B8-3D81CAD297C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50355" y="4996869"/>
            <a:ext cx="1050404" cy="457200"/>
          </a:xfrm>
          <a:prstGeom prst="rect">
            <a:avLst/>
          </a:prstGeom>
        </p:spPr>
      </p:pic>
      <p:pic>
        <p:nvPicPr>
          <p:cNvPr id="26" name="Picture 25" descr="A blue and black sign&#10;&#10;Description automatically generated">
            <a:hlinkClick r:id="rId7"/>
            <a:extLst>
              <a:ext uri="{FF2B5EF4-FFF2-40B4-BE49-F238E27FC236}">
                <a16:creationId xmlns:a16="http://schemas.microsoft.com/office/drawing/2014/main" id="{8239666F-AD14-B65C-594E-31785450B7CC}"/>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613326" y="4996869"/>
            <a:ext cx="1050404" cy="457200"/>
          </a:xfrm>
          <a:prstGeom prst="rect">
            <a:avLst/>
          </a:prstGeom>
        </p:spPr>
      </p:pic>
      <p:sp>
        <p:nvSpPr>
          <p:cNvPr id="40" name="TextBox 39">
            <a:extLst>
              <a:ext uri="{FF2B5EF4-FFF2-40B4-BE49-F238E27FC236}">
                <a16:creationId xmlns:a16="http://schemas.microsoft.com/office/drawing/2014/main" id="{309262F1-7651-70A5-0842-290BDF33CE57}"/>
              </a:ext>
            </a:extLst>
          </p:cNvPr>
          <p:cNvSpPr txBox="1"/>
          <p:nvPr/>
        </p:nvSpPr>
        <p:spPr>
          <a:xfrm>
            <a:off x="4656660" y="4835863"/>
            <a:ext cx="194643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Speed and Steady your product, platform, processes and data journey to Cloud</a:t>
            </a:r>
          </a:p>
        </p:txBody>
      </p:sp>
      <p:sp>
        <p:nvSpPr>
          <p:cNvPr id="41" name="TextBox 40">
            <a:extLst>
              <a:ext uri="{FF2B5EF4-FFF2-40B4-BE49-F238E27FC236}">
                <a16:creationId xmlns:a16="http://schemas.microsoft.com/office/drawing/2014/main" id="{27F5754B-9E67-B693-5FDB-9CB19D9978A7}"/>
              </a:ext>
            </a:extLst>
          </p:cNvPr>
          <p:cNvSpPr txBox="1"/>
          <p:nvPr/>
        </p:nvSpPr>
        <p:spPr>
          <a:xfrm>
            <a:off x="7673959" y="4849204"/>
            <a:ext cx="166067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Automate your essential processes to increase quality &amp; efficiency</a:t>
            </a:r>
          </a:p>
        </p:txBody>
      </p:sp>
      <p:sp>
        <p:nvSpPr>
          <p:cNvPr id="42" name="TextBox 41">
            <a:extLst>
              <a:ext uri="{FF2B5EF4-FFF2-40B4-BE49-F238E27FC236}">
                <a16:creationId xmlns:a16="http://schemas.microsoft.com/office/drawing/2014/main" id="{730B22F3-559E-E508-9585-CF20B177DFAB}"/>
              </a:ext>
            </a:extLst>
          </p:cNvPr>
          <p:cNvSpPr txBox="1"/>
          <p:nvPr/>
        </p:nvSpPr>
        <p:spPr>
          <a:xfrm>
            <a:off x="10476412" y="4821009"/>
            <a:ext cx="166067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Create direct, tailored path for your teams to develop against any need</a:t>
            </a:r>
          </a:p>
        </p:txBody>
      </p:sp>
      <p:grpSp>
        <p:nvGrpSpPr>
          <p:cNvPr id="29" name="Group 28">
            <a:extLst>
              <a:ext uri="{FF2B5EF4-FFF2-40B4-BE49-F238E27FC236}">
                <a16:creationId xmlns:a16="http://schemas.microsoft.com/office/drawing/2014/main" id="{9A963E0E-E25D-E5B0-0AA7-E18A0F6CAB38}"/>
              </a:ext>
            </a:extLst>
          </p:cNvPr>
          <p:cNvGrpSpPr/>
          <p:nvPr/>
        </p:nvGrpSpPr>
        <p:grpSpPr>
          <a:xfrm>
            <a:off x="428220" y="1897103"/>
            <a:ext cx="2326296" cy="988936"/>
            <a:chOff x="450003" y="2452975"/>
            <a:chExt cx="2326296" cy="988936"/>
          </a:xfrm>
        </p:grpSpPr>
        <p:sp>
          <p:nvSpPr>
            <p:cNvPr id="46" name="Rectangle 45">
              <a:extLst>
                <a:ext uri="{FF2B5EF4-FFF2-40B4-BE49-F238E27FC236}">
                  <a16:creationId xmlns:a16="http://schemas.microsoft.com/office/drawing/2014/main" id="{99759E4E-A7A0-880A-466B-138614F087F9}"/>
                </a:ext>
              </a:extLst>
            </p:cNvPr>
            <p:cNvSpPr/>
            <p:nvPr/>
          </p:nvSpPr>
          <p:spPr>
            <a:xfrm>
              <a:off x="901300" y="2452975"/>
              <a:ext cx="1292341" cy="584775"/>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kern="0" spc="-30" dirty="0">
                  <a:solidFill>
                    <a:srgbClr val="FFFFFF"/>
                  </a:solidFill>
                  <a:ea typeface="Calibri" panose="020F0502020204030204" pitchFamily="34" charset="0"/>
                  <a:cs typeface="Calibri" panose="020F0502020204030204" pitchFamily="34" charset="0"/>
                </a:rPr>
                <a:t> 2</a:t>
              </a:r>
              <a:r>
                <a:rPr kumimoji="0" lang="en-US" sz="3200" b="1" i="0" u="none" strike="noStrike" kern="0" cap="none" spc="-30" normalizeH="0" baseline="0" noProof="0" dirty="0">
                  <a:ln>
                    <a:noFill/>
                  </a:ln>
                  <a:solidFill>
                    <a:srgbClr val="FFFFFF"/>
                  </a:solidFill>
                  <a:effectLst/>
                  <a:uLnTx/>
                  <a:uFillTx/>
                  <a:ea typeface="Calibri" panose="020F0502020204030204" pitchFamily="34" charset="0"/>
                  <a:cs typeface="Calibri" panose="020F0502020204030204" pitchFamily="34" charset="0"/>
                </a:rPr>
                <a:t>50+</a:t>
              </a:r>
            </a:p>
          </p:txBody>
        </p:sp>
        <p:sp>
          <p:nvSpPr>
            <p:cNvPr id="47" name="TextBox 46">
              <a:extLst>
                <a:ext uri="{FF2B5EF4-FFF2-40B4-BE49-F238E27FC236}">
                  <a16:creationId xmlns:a16="http://schemas.microsoft.com/office/drawing/2014/main" id="{CB422FE3-7192-D435-75B0-292E23DC8DB1}"/>
                </a:ext>
              </a:extLst>
            </p:cNvPr>
            <p:cNvSpPr txBox="1"/>
            <p:nvPr/>
          </p:nvSpPr>
          <p:spPr>
            <a:xfrm>
              <a:off x="450003" y="2918691"/>
              <a:ext cx="232629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spc="-30" dirty="0">
                  <a:solidFill>
                    <a:prstClr val="white"/>
                  </a:solidFill>
                  <a:ea typeface="Calibri" panose="020F0502020204030204" pitchFamily="34" charset="0"/>
                  <a:cs typeface="Calibri" panose="020F0502020204030204" pitchFamily="34" charset="0"/>
                </a:rPr>
                <a:t>Consultants working for the region</a:t>
              </a:r>
              <a:endParaRPr kumimoji="0" lang="en-US" sz="1400" b="0" i="0" u="none" strike="noStrike" kern="0" cap="none" spc="-30" normalizeH="0" baseline="0" noProof="0" dirty="0">
                <a:ln>
                  <a:noFill/>
                </a:ln>
                <a:solidFill>
                  <a:prstClr val="white"/>
                </a:solidFill>
                <a:effectLst/>
                <a:uLnTx/>
                <a:uFillTx/>
                <a:ea typeface="Calibri" panose="020F0502020204030204" pitchFamily="34" charset="0"/>
                <a:cs typeface="Calibri" panose="020F0502020204030204" pitchFamily="34" charset="0"/>
              </a:endParaRPr>
            </a:p>
          </p:txBody>
        </p:sp>
      </p:grpSp>
      <p:grpSp>
        <p:nvGrpSpPr>
          <p:cNvPr id="28" name="Group 27">
            <a:extLst>
              <a:ext uri="{FF2B5EF4-FFF2-40B4-BE49-F238E27FC236}">
                <a16:creationId xmlns:a16="http://schemas.microsoft.com/office/drawing/2014/main" id="{725B13B0-F305-FACA-E974-AF50344F82F6}"/>
              </a:ext>
            </a:extLst>
          </p:cNvPr>
          <p:cNvGrpSpPr/>
          <p:nvPr/>
        </p:nvGrpSpPr>
        <p:grpSpPr>
          <a:xfrm>
            <a:off x="623132" y="3106288"/>
            <a:ext cx="1847169" cy="775596"/>
            <a:chOff x="645423" y="3286274"/>
            <a:chExt cx="1847169" cy="775596"/>
          </a:xfrm>
        </p:grpSpPr>
        <p:sp>
          <p:nvSpPr>
            <p:cNvPr id="16" name="Rectangle 15">
              <a:extLst>
                <a:ext uri="{FF2B5EF4-FFF2-40B4-BE49-F238E27FC236}">
                  <a16:creationId xmlns:a16="http://schemas.microsoft.com/office/drawing/2014/main" id="{F371AA6E-6529-B8F3-9A9A-973ECFF7BFFB}"/>
                </a:ext>
              </a:extLst>
            </p:cNvPr>
            <p:cNvSpPr/>
            <p:nvPr/>
          </p:nvSpPr>
          <p:spPr>
            <a:xfrm>
              <a:off x="1231898" y="3286274"/>
              <a:ext cx="813976" cy="584775"/>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30" normalizeH="0" baseline="0" noProof="0" dirty="0">
                  <a:ln>
                    <a:noFill/>
                  </a:ln>
                  <a:solidFill>
                    <a:srgbClr val="FFFFFF"/>
                  </a:solidFill>
                  <a:effectLst/>
                  <a:uLnTx/>
                  <a:uFillTx/>
                  <a:ea typeface="Calibri" panose="020F0502020204030204" pitchFamily="34" charset="0"/>
                  <a:cs typeface="Calibri" panose="020F0502020204030204" pitchFamily="34" charset="0"/>
                </a:rPr>
                <a:t>15+</a:t>
              </a:r>
              <a:endParaRPr kumimoji="0" lang="en-US" sz="1600" b="1" i="0" u="none" strike="noStrike" kern="0" cap="none" spc="-3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A223022-A57C-7FBE-6F26-F7D88F3C254A}"/>
                </a:ext>
              </a:extLst>
            </p:cNvPr>
            <p:cNvSpPr txBox="1"/>
            <p:nvPr/>
          </p:nvSpPr>
          <p:spPr>
            <a:xfrm>
              <a:off x="645423" y="3754093"/>
              <a:ext cx="18471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30" normalizeH="0" baseline="0" noProof="0" dirty="0">
                  <a:ln>
                    <a:noFill/>
                  </a:ln>
                  <a:solidFill>
                    <a:prstClr val="white"/>
                  </a:solidFill>
                  <a:effectLst/>
                  <a:uLnTx/>
                  <a:uFillTx/>
                  <a:ea typeface="Calibri" panose="020F0502020204030204" pitchFamily="34" charset="0"/>
                  <a:cs typeface="Calibri" panose="020F0502020204030204" pitchFamily="34" charset="0"/>
                </a:rPr>
                <a:t>years in the region</a:t>
              </a:r>
            </a:p>
          </p:txBody>
        </p:sp>
      </p:grpSp>
      <p:grpSp>
        <p:nvGrpSpPr>
          <p:cNvPr id="25" name="Group 24">
            <a:extLst>
              <a:ext uri="{FF2B5EF4-FFF2-40B4-BE49-F238E27FC236}">
                <a16:creationId xmlns:a16="http://schemas.microsoft.com/office/drawing/2014/main" id="{A2FA4493-CA81-1E99-FAAA-E8960E74D4DB}"/>
              </a:ext>
            </a:extLst>
          </p:cNvPr>
          <p:cNvGrpSpPr/>
          <p:nvPr/>
        </p:nvGrpSpPr>
        <p:grpSpPr>
          <a:xfrm>
            <a:off x="646717" y="4145442"/>
            <a:ext cx="1847169" cy="754770"/>
            <a:chOff x="711179" y="4047632"/>
            <a:chExt cx="1847169" cy="754770"/>
          </a:xfrm>
        </p:grpSpPr>
        <p:sp>
          <p:nvSpPr>
            <p:cNvPr id="18" name="Rectangle 17">
              <a:extLst>
                <a:ext uri="{FF2B5EF4-FFF2-40B4-BE49-F238E27FC236}">
                  <a16:creationId xmlns:a16="http://schemas.microsoft.com/office/drawing/2014/main" id="{BCADE466-728C-8D7D-FB19-2FA86D551E68}"/>
                </a:ext>
              </a:extLst>
            </p:cNvPr>
            <p:cNvSpPr/>
            <p:nvPr/>
          </p:nvSpPr>
          <p:spPr>
            <a:xfrm>
              <a:off x="1210362" y="4047632"/>
              <a:ext cx="813976" cy="584775"/>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kern="0" spc="-30" dirty="0">
                  <a:solidFill>
                    <a:srgbClr val="FFFFFF"/>
                  </a:solidFill>
                  <a:ea typeface="Calibri" panose="020F0502020204030204" pitchFamily="34" charset="0"/>
                  <a:cs typeface="Calibri" panose="020F0502020204030204" pitchFamily="34" charset="0"/>
                </a:rPr>
                <a:t>30</a:t>
              </a:r>
              <a:r>
                <a:rPr kumimoji="0" lang="en-US" sz="3200" b="1" i="0" u="none" strike="noStrike" kern="0" cap="none" spc="-30" normalizeH="0" baseline="0" noProof="0" dirty="0">
                  <a:ln>
                    <a:noFill/>
                  </a:ln>
                  <a:solidFill>
                    <a:srgbClr val="FFFFFF"/>
                  </a:solidFill>
                  <a:effectLst/>
                  <a:uLnTx/>
                  <a:uFillTx/>
                  <a:ea typeface="Calibri" panose="020F0502020204030204" pitchFamily="34" charset="0"/>
                  <a:cs typeface="Calibri" panose="020F0502020204030204" pitchFamily="34" charset="0"/>
                </a:rPr>
                <a:t>+</a:t>
              </a:r>
              <a:endParaRPr kumimoji="0" lang="en-US" sz="1600" b="1" i="0" u="none" strike="noStrike" kern="0" cap="none" spc="-3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9F7CCCD6-8587-A105-E0CA-987533605FD9}"/>
                </a:ext>
              </a:extLst>
            </p:cNvPr>
            <p:cNvSpPr txBox="1"/>
            <p:nvPr/>
          </p:nvSpPr>
          <p:spPr>
            <a:xfrm>
              <a:off x="711179" y="4494625"/>
              <a:ext cx="18471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30" normalizeH="0" baseline="0" noProof="0" dirty="0">
                  <a:ln>
                    <a:noFill/>
                  </a:ln>
                  <a:solidFill>
                    <a:prstClr val="white"/>
                  </a:solidFill>
                  <a:effectLst/>
                  <a:uLnTx/>
                  <a:uFillTx/>
                  <a:ea typeface="Calibri" panose="020F0502020204030204" pitchFamily="34" charset="0"/>
                  <a:cs typeface="Calibri" panose="020F0502020204030204" pitchFamily="34" charset="0"/>
                </a:rPr>
                <a:t>Active Clients</a:t>
              </a:r>
            </a:p>
          </p:txBody>
        </p:sp>
      </p:grpSp>
      <p:grpSp>
        <p:nvGrpSpPr>
          <p:cNvPr id="1026" name="Group 1025">
            <a:extLst>
              <a:ext uri="{FF2B5EF4-FFF2-40B4-BE49-F238E27FC236}">
                <a16:creationId xmlns:a16="http://schemas.microsoft.com/office/drawing/2014/main" id="{32FEAEEA-94A2-BF06-CC3D-F7CF11830BCB}"/>
              </a:ext>
            </a:extLst>
          </p:cNvPr>
          <p:cNvGrpSpPr/>
          <p:nvPr/>
        </p:nvGrpSpPr>
        <p:grpSpPr>
          <a:xfrm>
            <a:off x="4076190" y="459322"/>
            <a:ext cx="3211578" cy="1741106"/>
            <a:chOff x="3728718" y="520420"/>
            <a:chExt cx="2644643" cy="1433751"/>
          </a:xfrm>
        </p:grpSpPr>
        <p:sp>
          <p:nvSpPr>
            <p:cNvPr id="31" name="Freeform 295">
              <a:extLst>
                <a:ext uri="{FF2B5EF4-FFF2-40B4-BE49-F238E27FC236}">
                  <a16:creationId xmlns:a16="http://schemas.microsoft.com/office/drawing/2014/main" id="{C5937F24-0C2D-BBDE-2505-689FBF05C62D}"/>
                </a:ext>
              </a:extLst>
            </p:cNvPr>
            <p:cNvSpPr/>
            <p:nvPr/>
          </p:nvSpPr>
          <p:spPr>
            <a:xfrm>
              <a:off x="3904017" y="520420"/>
              <a:ext cx="1393483" cy="1188758"/>
            </a:xfrm>
            <a:custGeom>
              <a:avLst/>
              <a:gdLst/>
              <a:ahLst/>
              <a:cxnLst>
                <a:cxn ang="0">
                  <a:pos x="wd2" y="hd2"/>
                </a:cxn>
                <a:cxn ang="5400000">
                  <a:pos x="wd2" y="hd2"/>
                </a:cxn>
                <a:cxn ang="10800000">
                  <a:pos x="wd2" y="hd2"/>
                </a:cxn>
                <a:cxn ang="16200000">
                  <a:pos x="wd2" y="hd2"/>
                </a:cxn>
              </a:cxnLst>
              <a:rect l="0" t="0" r="r" b="b"/>
              <a:pathLst>
                <a:path w="21600" h="21600" extrusionOk="0">
                  <a:moveTo>
                    <a:pt x="895" y="12927"/>
                  </a:moveTo>
                  <a:lnTo>
                    <a:pt x="852" y="13068"/>
                  </a:lnTo>
                  <a:lnTo>
                    <a:pt x="808" y="13115"/>
                  </a:lnTo>
                  <a:lnTo>
                    <a:pt x="808" y="13209"/>
                  </a:lnTo>
                  <a:lnTo>
                    <a:pt x="961" y="13562"/>
                  </a:lnTo>
                  <a:lnTo>
                    <a:pt x="961" y="13961"/>
                  </a:lnTo>
                  <a:lnTo>
                    <a:pt x="1005" y="14549"/>
                  </a:lnTo>
                  <a:lnTo>
                    <a:pt x="1179" y="14643"/>
                  </a:lnTo>
                  <a:lnTo>
                    <a:pt x="1267" y="14925"/>
                  </a:lnTo>
                  <a:lnTo>
                    <a:pt x="1267" y="15183"/>
                  </a:lnTo>
                  <a:lnTo>
                    <a:pt x="1310" y="15466"/>
                  </a:lnTo>
                  <a:lnTo>
                    <a:pt x="1354" y="15466"/>
                  </a:lnTo>
                  <a:lnTo>
                    <a:pt x="1398" y="15912"/>
                  </a:lnTo>
                  <a:lnTo>
                    <a:pt x="1310" y="16359"/>
                  </a:lnTo>
                  <a:lnTo>
                    <a:pt x="1310" y="16946"/>
                  </a:lnTo>
                  <a:lnTo>
                    <a:pt x="895" y="16946"/>
                  </a:lnTo>
                  <a:lnTo>
                    <a:pt x="961" y="17228"/>
                  </a:lnTo>
                  <a:lnTo>
                    <a:pt x="1005" y="17299"/>
                  </a:lnTo>
                  <a:lnTo>
                    <a:pt x="1136" y="17393"/>
                  </a:lnTo>
                  <a:lnTo>
                    <a:pt x="1310" y="17440"/>
                  </a:lnTo>
                  <a:lnTo>
                    <a:pt x="1420" y="17487"/>
                  </a:lnTo>
                  <a:lnTo>
                    <a:pt x="1463" y="17581"/>
                  </a:lnTo>
                  <a:lnTo>
                    <a:pt x="1463" y="17722"/>
                  </a:lnTo>
                  <a:lnTo>
                    <a:pt x="1507" y="17769"/>
                  </a:lnTo>
                  <a:lnTo>
                    <a:pt x="1725" y="17839"/>
                  </a:lnTo>
                  <a:lnTo>
                    <a:pt x="1900" y="17816"/>
                  </a:lnTo>
                  <a:lnTo>
                    <a:pt x="2009" y="17769"/>
                  </a:lnTo>
                  <a:lnTo>
                    <a:pt x="2315" y="17933"/>
                  </a:lnTo>
                  <a:lnTo>
                    <a:pt x="2599" y="17886"/>
                  </a:lnTo>
                  <a:lnTo>
                    <a:pt x="2817" y="17628"/>
                  </a:lnTo>
                  <a:lnTo>
                    <a:pt x="2948" y="17299"/>
                  </a:lnTo>
                  <a:lnTo>
                    <a:pt x="3058" y="17440"/>
                  </a:lnTo>
                  <a:lnTo>
                    <a:pt x="3145" y="17581"/>
                  </a:lnTo>
                  <a:lnTo>
                    <a:pt x="3320" y="17581"/>
                  </a:lnTo>
                  <a:lnTo>
                    <a:pt x="3363" y="17487"/>
                  </a:lnTo>
                  <a:lnTo>
                    <a:pt x="3320" y="17252"/>
                  </a:lnTo>
                  <a:lnTo>
                    <a:pt x="3320" y="17134"/>
                  </a:lnTo>
                  <a:lnTo>
                    <a:pt x="3363" y="17181"/>
                  </a:lnTo>
                  <a:lnTo>
                    <a:pt x="3494" y="17228"/>
                  </a:lnTo>
                  <a:lnTo>
                    <a:pt x="3647" y="17252"/>
                  </a:lnTo>
                  <a:lnTo>
                    <a:pt x="3909" y="17181"/>
                  </a:lnTo>
                  <a:lnTo>
                    <a:pt x="4324" y="17040"/>
                  </a:lnTo>
                  <a:lnTo>
                    <a:pt x="4608" y="16946"/>
                  </a:lnTo>
                  <a:lnTo>
                    <a:pt x="4783" y="17134"/>
                  </a:lnTo>
                  <a:lnTo>
                    <a:pt x="4870" y="17134"/>
                  </a:lnTo>
                  <a:lnTo>
                    <a:pt x="5111" y="16946"/>
                  </a:lnTo>
                  <a:lnTo>
                    <a:pt x="5242" y="16993"/>
                  </a:lnTo>
                  <a:lnTo>
                    <a:pt x="5373" y="17087"/>
                  </a:lnTo>
                  <a:lnTo>
                    <a:pt x="5547" y="17087"/>
                  </a:lnTo>
                  <a:lnTo>
                    <a:pt x="5657" y="16899"/>
                  </a:lnTo>
                  <a:lnTo>
                    <a:pt x="5744" y="16641"/>
                  </a:lnTo>
                  <a:lnTo>
                    <a:pt x="5831" y="16453"/>
                  </a:lnTo>
                  <a:lnTo>
                    <a:pt x="6006" y="16359"/>
                  </a:lnTo>
                  <a:lnTo>
                    <a:pt x="6246" y="16453"/>
                  </a:lnTo>
                  <a:lnTo>
                    <a:pt x="6246" y="16265"/>
                  </a:lnTo>
                  <a:lnTo>
                    <a:pt x="6334" y="16171"/>
                  </a:lnTo>
                  <a:lnTo>
                    <a:pt x="6618" y="16171"/>
                  </a:lnTo>
                  <a:lnTo>
                    <a:pt x="6618" y="16100"/>
                  </a:lnTo>
                  <a:lnTo>
                    <a:pt x="6661" y="15959"/>
                  </a:lnTo>
                  <a:lnTo>
                    <a:pt x="6661" y="15912"/>
                  </a:lnTo>
                  <a:lnTo>
                    <a:pt x="6749" y="15912"/>
                  </a:lnTo>
                  <a:lnTo>
                    <a:pt x="6749" y="15818"/>
                  </a:lnTo>
                  <a:lnTo>
                    <a:pt x="6923" y="15818"/>
                  </a:lnTo>
                  <a:lnTo>
                    <a:pt x="7251" y="15912"/>
                  </a:lnTo>
                  <a:lnTo>
                    <a:pt x="8059" y="15677"/>
                  </a:lnTo>
                  <a:lnTo>
                    <a:pt x="8976" y="15371"/>
                  </a:lnTo>
                  <a:lnTo>
                    <a:pt x="9806" y="15277"/>
                  </a:lnTo>
                  <a:lnTo>
                    <a:pt x="9937" y="15371"/>
                  </a:lnTo>
                  <a:lnTo>
                    <a:pt x="10025" y="15583"/>
                  </a:lnTo>
                  <a:lnTo>
                    <a:pt x="10156" y="15724"/>
                  </a:lnTo>
                  <a:lnTo>
                    <a:pt x="10352" y="15724"/>
                  </a:lnTo>
                  <a:lnTo>
                    <a:pt x="10658" y="15677"/>
                  </a:lnTo>
                  <a:lnTo>
                    <a:pt x="10942" y="15724"/>
                  </a:lnTo>
                  <a:lnTo>
                    <a:pt x="10942" y="15818"/>
                  </a:lnTo>
                  <a:lnTo>
                    <a:pt x="11029" y="15865"/>
                  </a:lnTo>
                  <a:lnTo>
                    <a:pt x="11029" y="16006"/>
                  </a:lnTo>
                  <a:lnTo>
                    <a:pt x="10942" y="16100"/>
                  </a:lnTo>
                  <a:lnTo>
                    <a:pt x="11160" y="16100"/>
                  </a:lnTo>
                  <a:lnTo>
                    <a:pt x="11291" y="16124"/>
                  </a:lnTo>
                  <a:lnTo>
                    <a:pt x="11204" y="16265"/>
                  </a:lnTo>
                  <a:lnTo>
                    <a:pt x="11204" y="16312"/>
                  </a:lnTo>
                  <a:lnTo>
                    <a:pt x="11248" y="16359"/>
                  </a:lnTo>
                  <a:lnTo>
                    <a:pt x="11117" y="16312"/>
                  </a:lnTo>
                  <a:lnTo>
                    <a:pt x="11160" y="16406"/>
                  </a:lnTo>
                  <a:lnTo>
                    <a:pt x="11204" y="16453"/>
                  </a:lnTo>
                  <a:lnTo>
                    <a:pt x="11204" y="16500"/>
                  </a:lnTo>
                  <a:lnTo>
                    <a:pt x="11401" y="16547"/>
                  </a:lnTo>
                  <a:lnTo>
                    <a:pt x="11532" y="16594"/>
                  </a:lnTo>
                  <a:lnTo>
                    <a:pt x="11619" y="16641"/>
                  </a:lnTo>
                  <a:lnTo>
                    <a:pt x="11706" y="17181"/>
                  </a:lnTo>
                  <a:lnTo>
                    <a:pt x="11816" y="17487"/>
                  </a:lnTo>
                  <a:lnTo>
                    <a:pt x="11859" y="17534"/>
                  </a:lnTo>
                  <a:lnTo>
                    <a:pt x="11947" y="17581"/>
                  </a:lnTo>
                  <a:lnTo>
                    <a:pt x="12034" y="17581"/>
                  </a:lnTo>
                  <a:lnTo>
                    <a:pt x="12209" y="17393"/>
                  </a:lnTo>
                  <a:lnTo>
                    <a:pt x="12405" y="17087"/>
                  </a:lnTo>
                  <a:lnTo>
                    <a:pt x="12580" y="16852"/>
                  </a:lnTo>
                  <a:lnTo>
                    <a:pt x="12624" y="16852"/>
                  </a:lnTo>
                  <a:lnTo>
                    <a:pt x="12755" y="16899"/>
                  </a:lnTo>
                  <a:lnTo>
                    <a:pt x="12798" y="16852"/>
                  </a:lnTo>
                  <a:lnTo>
                    <a:pt x="12864" y="16711"/>
                  </a:lnTo>
                  <a:lnTo>
                    <a:pt x="12995" y="16547"/>
                  </a:lnTo>
                  <a:lnTo>
                    <a:pt x="13039" y="16453"/>
                  </a:lnTo>
                  <a:lnTo>
                    <a:pt x="13170" y="16641"/>
                  </a:lnTo>
                  <a:lnTo>
                    <a:pt x="13039" y="17134"/>
                  </a:lnTo>
                  <a:lnTo>
                    <a:pt x="12864" y="17440"/>
                  </a:lnTo>
                  <a:lnTo>
                    <a:pt x="12908" y="17581"/>
                  </a:lnTo>
                  <a:lnTo>
                    <a:pt x="12951" y="17769"/>
                  </a:lnTo>
                  <a:lnTo>
                    <a:pt x="12995" y="17886"/>
                  </a:lnTo>
                  <a:lnTo>
                    <a:pt x="12864" y="17886"/>
                  </a:lnTo>
                  <a:lnTo>
                    <a:pt x="12755" y="17933"/>
                  </a:lnTo>
                  <a:lnTo>
                    <a:pt x="12624" y="17933"/>
                  </a:lnTo>
                  <a:lnTo>
                    <a:pt x="12624" y="18168"/>
                  </a:lnTo>
                  <a:lnTo>
                    <a:pt x="12755" y="18121"/>
                  </a:lnTo>
                  <a:lnTo>
                    <a:pt x="12798" y="18074"/>
                  </a:lnTo>
                  <a:lnTo>
                    <a:pt x="13039" y="17886"/>
                  </a:lnTo>
                  <a:lnTo>
                    <a:pt x="13126" y="17769"/>
                  </a:lnTo>
                  <a:lnTo>
                    <a:pt x="13170" y="17440"/>
                  </a:lnTo>
                  <a:lnTo>
                    <a:pt x="13388" y="17440"/>
                  </a:lnTo>
                  <a:lnTo>
                    <a:pt x="13388" y="17487"/>
                  </a:lnTo>
                  <a:lnTo>
                    <a:pt x="13301" y="17581"/>
                  </a:lnTo>
                  <a:lnTo>
                    <a:pt x="13344" y="17581"/>
                  </a:lnTo>
                  <a:lnTo>
                    <a:pt x="13454" y="17769"/>
                  </a:lnTo>
                  <a:lnTo>
                    <a:pt x="13541" y="18074"/>
                  </a:lnTo>
                  <a:lnTo>
                    <a:pt x="13585" y="18356"/>
                  </a:lnTo>
                  <a:lnTo>
                    <a:pt x="13454" y="18568"/>
                  </a:lnTo>
                  <a:lnTo>
                    <a:pt x="13672" y="18568"/>
                  </a:lnTo>
                  <a:lnTo>
                    <a:pt x="13803" y="18474"/>
                  </a:lnTo>
                  <a:lnTo>
                    <a:pt x="14000" y="18403"/>
                  </a:lnTo>
                  <a:lnTo>
                    <a:pt x="14131" y="18991"/>
                  </a:lnTo>
                  <a:lnTo>
                    <a:pt x="14218" y="19532"/>
                  </a:lnTo>
                  <a:lnTo>
                    <a:pt x="14218" y="20025"/>
                  </a:lnTo>
                  <a:lnTo>
                    <a:pt x="14349" y="20119"/>
                  </a:lnTo>
                  <a:lnTo>
                    <a:pt x="14589" y="20190"/>
                  </a:lnTo>
                  <a:lnTo>
                    <a:pt x="14677" y="20472"/>
                  </a:lnTo>
                  <a:lnTo>
                    <a:pt x="14895" y="20707"/>
                  </a:lnTo>
                  <a:lnTo>
                    <a:pt x="15092" y="20777"/>
                  </a:lnTo>
                  <a:lnTo>
                    <a:pt x="15266" y="20824"/>
                  </a:lnTo>
                  <a:lnTo>
                    <a:pt x="15266" y="20777"/>
                  </a:lnTo>
                  <a:lnTo>
                    <a:pt x="15354" y="20707"/>
                  </a:lnTo>
                  <a:lnTo>
                    <a:pt x="15441" y="20660"/>
                  </a:lnTo>
                  <a:lnTo>
                    <a:pt x="15550" y="20777"/>
                  </a:lnTo>
                  <a:lnTo>
                    <a:pt x="15725" y="21153"/>
                  </a:lnTo>
                  <a:lnTo>
                    <a:pt x="16271" y="21294"/>
                  </a:lnTo>
                  <a:lnTo>
                    <a:pt x="16489" y="21012"/>
                  </a:lnTo>
                  <a:lnTo>
                    <a:pt x="16642" y="20730"/>
                  </a:lnTo>
                  <a:lnTo>
                    <a:pt x="16817" y="20730"/>
                  </a:lnTo>
                  <a:lnTo>
                    <a:pt x="16773" y="20707"/>
                  </a:lnTo>
                  <a:lnTo>
                    <a:pt x="16773" y="20566"/>
                  </a:lnTo>
                  <a:lnTo>
                    <a:pt x="16861" y="20472"/>
                  </a:lnTo>
                  <a:lnTo>
                    <a:pt x="16992" y="20378"/>
                  </a:lnTo>
                  <a:lnTo>
                    <a:pt x="17057" y="20284"/>
                  </a:lnTo>
                  <a:lnTo>
                    <a:pt x="17057" y="20425"/>
                  </a:lnTo>
                  <a:lnTo>
                    <a:pt x="17101" y="20519"/>
                  </a:lnTo>
                  <a:lnTo>
                    <a:pt x="17145" y="20566"/>
                  </a:lnTo>
                  <a:lnTo>
                    <a:pt x="16904" y="20824"/>
                  </a:lnTo>
                  <a:lnTo>
                    <a:pt x="17188" y="20730"/>
                  </a:lnTo>
                  <a:lnTo>
                    <a:pt x="17407" y="20730"/>
                  </a:lnTo>
                  <a:lnTo>
                    <a:pt x="17145" y="21012"/>
                  </a:lnTo>
                  <a:lnTo>
                    <a:pt x="17363" y="21153"/>
                  </a:lnTo>
                  <a:lnTo>
                    <a:pt x="17494" y="21200"/>
                  </a:lnTo>
                  <a:lnTo>
                    <a:pt x="17647" y="21294"/>
                  </a:lnTo>
                  <a:lnTo>
                    <a:pt x="17691" y="21365"/>
                  </a:lnTo>
                  <a:lnTo>
                    <a:pt x="17734" y="21506"/>
                  </a:lnTo>
                  <a:lnTo>
                    <a:pt x="17778" y="21600"/>
                  </a:lnTo>
                  <a:lnTo>
                    <a:pt x="17778" y="21459"/>
                  </a:lnTo>
                  <a:lnTo>
                    <a:pt x="17822" y="21365"/>
                  </a:lnTo>
                  <a:lnTo>
                    <a:pt x="17822" y="21294"/>
                  </a:lnTo>
                  <a:lnTo>
                    <a:pt x="18106" y="21294"/>
                  </a:lnTo>
                  <a:lnTo>
                    <a:pt x="18324" y="21059"/>
                  </a:lnTo>
                  <a:lnTo>
                    <a:pt x="18542" y="20378"/>
                  </a:lnTo>
                  <a:lnTo>
                    <a:pt x="18914" y="20378"/>
                  </a:lnTo>
                  <a:lnTo>
                    <a:pt x="19241" y="20425"/>
                  </a:lnTo>
                  <a:lnTo>
                    <a:pt x="19547" y="20378"/>
                  </a:lnTo>
                  <a:lnTo>
                    <a:pt x="19547" y="20331"/>
                  </a:lnTo>
                  <a:lnTo>
                    <a:pt x="19591" y="20284"/>
                  </a:lnTo>
                  <a:lnTo>
                    <a:pt x="19700" y="20190"/>
                  </a:lnTo>
                  <a:lnTo>
                    <a:pt x="19700" y="20072"/>
                  </a:lnTo>
                  <a:lnTo>
                    <a:pt x="19744" y="19931"/>
                  </a:lnTo>
                  <a:lnTo>
                    <a:pt x="19744" y="19837"/>
                  </a:lnTo>
                  <a:lnTo>
                    <a:pt x="19700" y="19743"/>
                  </a:lnTo>
                  <a:lnTo>
                    <a:pt x="19591" y="19696"/>
                  </a:lnTo>
                  <a:lnTo>
                    <a:pt x="19547" y="19485"/>
                  </a:lnTo>
                  <a:lnTo>
                    <a:pt x="19591" y="19438"/>
                  </a:lnTo>
                  <a:lnTo>
                    <a:pt x="19700" y="19344"/>
                  </a:lnTo>
                  <a:lnTo>
                    <a:pt x="19744" y="19297"/>
                  </a:lnTo>
                  <a:lnTo>
                    <a:pt x="19831" y="19062"/>
                  </a:lnTo>
                  <a:lnTo>
                    <a:pt x="19831" y="18803"/>
                  </a:lnTo>
                  <a:lnTo>
                    <a:pt x="19875" y="18521"/>
                  </a:lnTo>
                  <a:lnTo>
                    <a:pt x="19962" y="18215"/>
                  </a:lnTo>
                  <a:lnTo>
                    <a:pt x="20159" y="17886"/>
                  </a:lnTo>
                  <a:lnTo>
                    <a:pt x="20290" y="17581"/>
                  </a:lnTo>
                  <a:lnTo>
                    <a:pt x="20290" y="17299"/>
                  </a:lnTo>
                  <a:lnTo>
                    <a:pt x="20246" y="16993"/>
                  </a:lnTo>
                  <a:lnTo>
                    <a:pt x="20290" y="16805"/>
                  </a:lnTo>
                  <a:lnTo>
                    <a:pt x="20333" y="16758"/>
                  </a:lnTo>
                  <a:lnTo>
                    <a:pt x="20464" y="16805"/>
                  </a:lnTo>
                  <a:lnTo>
                    <a:pt x="20508" y="16805"/>
                  </a:lnTo>
                  <a:lnTo>
                    <a:pt x="20552" y="16711"/>
                  </a:lnTo>
                  <a:lnTo>
                    <a:pt x="20508" y="16594"/>
                  </a:lnTo>
                  <a:lnTo>
                    <a:pt x="20508" y="16500"/>
                  </a:lnTo>
                  <a:lnTo>
                    <a:pt x="20661" y="16359"/>
                  </a:lnTo>
                  <a:lnTo>
                    <a:pt x="20923" y="16265"/>
                  </a:lnTo>
                  <a:lnTo>
                    <a:pt x="21098" y="16171"/>
                  </a:lnTo>
                  <a:lnTo>
                    <a:pt x="21098" y="15724"/>
                  </a:lnTo>
                  <a:lnTo>
                    <a:pt x="21251" y="15724"/>
                  </a:lnTo>
                  <a:lnTo>
                    <a:pt x="21294" y="15583"/>
                  </a:lnTo>
                  <a:lnTo>
                    <a:pt x="21338" y="15513"/>
                  </a:lnTo>
                  <a:lnTo>
                    <a:pt x="21338" y="15466"/>
                  </a:lnTo>
                  <a:lnTo>
                    <a:pt x="21382" y="15183"/>
                  </a:lnTo>
                  <a:lnTo>
                    <a:pt x="21382" y="14948"/>
                  </a:lnTo>
                  <a:lnTo>
                    <a:pt x="21338" y="14925"/>
                  </a:lnTo>
                  <a:lnTo>
                    <a:pt x="21338" y="14690"/>
                  </a:lnTo>
                  <a:lnTo>
                    <a:pt x="21382" y="14408"/>
                  </a:lnTo>
                  <a:lnTo>
                    <a:pt x="21338" y="14055"/>
                  </a:lnTo>
                  <a:lnTo>
                    <a:pt x="21338" y="13750"/>
                  </a:lnTo>
                  <a:lnTo>
                    <a:pt x="21513" y="13750"/>
                  </a:lnTo>
                  <a:lnTo>
                    <a:pt x="21556" y="13562"/>
                  </a:lnTo>
                  <a:lnTo>
                    <a:pt x="21600" y="13421"/>
                  </a:lnTo>
                  <a:lnTo>
                    <a:pt x="21600" y="13162"/>
                  </a:lnTo>
                  <a:lnTo>
                    <a:pt x="21556" y="12927"/>
                  </a:lnTo>
                  <a:lnTo>
                    <a:pt x="21513" y="12833"/>
                  </a:lnTo>
                  <a:lnTo>
                    <a:pt x="21338" y="12387"/>
                  </a:lnTo>
                  <a:lnTo>
                    <a:pt x="21251" y="12198"/>
                  </a:lnTo>
                  <a:lnTo>
                    <a:pt x="21294" y="11752"/>
                  </a:lnTo>
                  <a:lnTo>
                    <a:pt x="21338" y="11164"/>
                  </a:lnTo>
                  <a:lnTo>
                    <a:pt x="21251" y="10671"/>
                  </a:lnTo>
                  <a:lnTo>
                    <a:pt x="20748" y="10318"/>
                  </a:lnTo>
                  <a:lnTo>
                    <a:pt x="20748" y="10224"/>
                  </a:lnTo>
                  <a:lnTo>
                    <a:pt x="20792" y="10036"/>
                  </a:lnTo>
                  <a:lnTo>
                    <a:pt x="20748" y="9942"/>
                  </a:lnTo>
                  <a:lnTo>
                    <a:pt x="20639" y="9801"/>
                  </a:lnTo>
                  <a:lnTo>
                    <a:pt x="20421" y="9684"/>
                  </a:lnTo>
                  <a:lnTo>
                    <a:pt x="20290" y="9590"/>
                  </a:lnTo>
                  <a:lnTo>
                    <a:pt x="20202" y="9308"/>
                  </a:lnTo>
                  <a:lnTo>
                    <a:pt x="20202" y="9002"/>
                  </a:lnTo>
                  <a:lnTo>
                    <a:pt x="20159" y="8673"/>
                  </a:lnTo>
                  <a:lnTo>
                    <a:pt x="19744" y="8414"/>
                  </a:lnTo>
                  <a:lnTo>
                    <a:pt x="19547" y="8320"/>
                  </a:lnTo>
                  <a:lnTo>
                    <a:pt x="19547" y="7874"/>
                  </a:lnTo>
                  <a:lnTo>
                    <a:pt x="19503" y="7498"/>
                  </a:lnTo>
                  <a:lnTo>
                    <a:pt x="19285" y="7239"/>
                  </a:lnTo>
                  <a:lnTo>
                    <a:pt x="19110" y="7239"/>
                  </a:lnTo>
                  <a:lnTo>
                    <a:pt x="19154" y="7098"/>
                  </a:lnTo>
                  <a:lnTo>
                    <a:pt x="19285" y="6957"/>
                  </a:lnTo>
                  <a:lnTo>
                    <a:pt x="19241" y="6863"/>
                  </a:lnTo>
                  <a:lnTo>
                    <a:pt x="19198" y="6840"/>
                  </a:lnTo>
                  <a:lnTo>
                    <a:pt x="19154" y="6699"/>
                  </a:lnTo>
                  <a:lnTo>
                    <a:pt x="18739" y="6417"/>
                  </a:lnTo>
                  <a:lnTo>
                    <a:pt x="18193" y="6158"/>
                  </a:lnTo>
                  <a:lnTo>
                    <a:pt x="17822" y="5876"/>
                  </a:lnTo>
                  <a:lnTo>
                    <a:pt x="17778" y="5476"/>
                  </a:lnTo>
                  <a:lnTo>
                    <a:pt x="17778" y="4607"/>
                  </a:lnTo>
                  <a:lnTo>
                    <a:pt x="17647" y="4301"/>
                  </a:lnTo>
                  <a:lnTo>
                    <a:pt x="17450" y="4019"/>
                  </a:lnTo>
                  <a:lnTo>
                    <a:pt x="17363" y="3808"/>
                  </a:lnTo>
                  <a:lnTo>
                    <a:pt x="17319" y="3432"/>
                  </a:lnTo>
                  <a:lnTo>
                    <a:pt x="17363" y="3079"/>
                  </a:lnTo>
                  <a:lnTo>
                    <a:pt x="17363" y="2726"/>
                  </a:lnTo>
                  <a:lnTo>
                    <a:pt x="17057" y="2726"/>
                  </a:lnTo>
                  <a:lnTo>
                    <a:pt x="17057" y="2679"/>
                  </a:lnTo>
                  <a:lnTo>
                    <a:pt x="16992" y="2538"/>
                  </a:lnTo>
                  <a:lnTo>
                    <a:pt x="16904" y="2538"/>
                  </a:lnTo>
                  <a:lnTo>
                    <a:pt x="16904" y="2256"/>
                  </a:lnTo>
                  <a:lnTo>
                    <a:pt x="16642" y="2350"/>
                  </a:lnTo>
                  <a:lnTo>
                    <a:pt x="16642" y="2538"/>
                  </a:lnTo>
                  <a:lnTo>
                    <a:pt x="16511" y="2538"/>
                  </a:lnTo>
                  <a:lnTo>
                    <a:pt x="16489" y="2444"/>
                  </a:lnTo>
                  <a:lnTo>
                    <a:pt x="16402" y="2444"/>
                  </a:lnTo>
                  <a:lnTo>
                    <a:pt x="16315" y="1457"/>
                  </a:lnTo>
                  <a:lnTo>
                    <a:pt x="16096" y="729"/>
                  </a:lnTo>
                  <a:lnTo>
                    <a:pt x="15725" y="0"/>
                  </a:lnTo>
                  <a:lnTo>
                    <a:pt x="15507" y="0"/>
                  </a:lnTo>
                  <a:lnTo>
                    <a:pt x="15441" y="682"/>
                  </a:lnTo>
                  <a:lnTo>
                    <a:pt x="15397" y="1175"/>
                  </a:lnTo>
                  <a:lnTo>
                    <a:pt x="15441" y="1716"/>
                  </a:lnTo>
                  <a:lnTo>
                    <a:pt x="15266" y="1810"/>
                  </a:lnTo>
                  <a:lnTo>
                    <a:pt x="15266" y="2491"/>
                  </a:lnTo>
                  <a:lnTo>
                    <a:pt x="15310" y="3079"/>
                  </a:lnTo>
                  <a:lnTo>
                    <a:pt x="15266" y="3714"/>
                  </a:lnTo>
                  <a:lnTo>
                    <a:pt x="15223" y="3761"/>
                  </a:lnTo>
                  <a:lnTo>
                    <a:pt x="15135" y="3761"/>
                  </a:lnTo>
                  <a:lnTo>
                    <a:pt x="15092" y="3808"/>
                  </a:lnTo>
                  <a:lnTo>
                    <a:pt x="15048" y="3949"/>
                  </a:lnTo>
                  <a:lnTo>
                    <a:pt x="15092" y="4160"/>
                  </a:lnTo>
                  <a:lnTo>
                    <a:pt x="15092" y="4301"/>
                  </a:lnTo>
                  <a:lnTo>
                    <a:pt x="14939" y="4489"/>
                  </a:lnTo>
                  <a:lnTo>
                    <a:pt x="14939" y="4889"/>
                  </a:lnTo>
                  <a:lnTo>
                    <a:pt x="14851" y="4936"/>
                  </a:lnTo>
                  <a:lnTo>
                    <a:pt x="14808" y="4889"/>
                  </a:lnTo>
                  <a:lnTo>
                    <a:pt x="14764" y="4983"/>
                  </a:lnTo>
                  <a:lnTo>
                    <a:pt x="14349" y="4983"/>
                  </a:lnTo>
                  <a:lnTo>
                    <a:pt x="14218" y="4842"/>
                  </a:lnTo>
                  <a:lnTo>
                    <a:pt x="14131" y="4607"/>
                  </a:lnTo>
                  <a:lnTo>
                    <a:pt x="14087" y="4395"/>
                  </a:lnTo>
                  <a:lnTo>
                    <a:pt x="13803" y="4395"/>
                  </a:lnTo>
                  <a:lnTo>
                    <a:pt x="13628" y="4207"/>
                  </a:lnTo>
                  <a:lnTo>
                    <a:pt x="13410" y="3855"/>
                  </a:lnTo>
                  <a:lnTo>
                    <a:pt x="13213" y="3620"/>
                  </a:lnTo>
                  <a:lnTo>
                    <a:pt x="12995" y="3526"/>
                  </a:lnTo>
                  <a:lnTo>
                    <a:pt x="12798" y="3526"/>
                  </a:lnTo>
                  <a:lnTo>
                    <a:pt x="12580" y="3432"/>
                  </a:lnTo>
                  <a:lnTo>
                    <a:pt x="12580" y="3267"/>
                  </a:lnTo>
                  <a:lnTo>
                    <a:pt x="12362" y="3173"/>
                  </a:lnTo>
                  <a:lnTo>
                    <a:pt x="12034" y="2985"/>
                  </a:lnTo>
                  <a:lnTo>
                    <a:pt x="12078" y="2773"/>
                  </a:lnTo>
                  <a:lnTo>
                    <a:pt x="12034" y="2350"/>
                  </a:lnTo>
                  <a:lnTo>
                    <a:pt x="12209" y="2256"/>
                  </a:lnTo>
                  <a:lnTo>
                    <a:pt x="12252" y="2045"/>
                  </a:lnTo>
                  <a:lnTo>
                    <a:pt x="12252" y="1810"/>
                  </a:lnTo>
                  <a:lnTo>
                    <a:pt x="12121" y="1716"/>
                  </a:lnTo>
                  <a:lnTo>
                    <a:pt x="12580" y="1716"/>
                  </a:lnTo>
                  <a:lnTo>
                    <a:pt x="12536" y="1645"/>
                  </a:lnTo>
                  <a:lnTo>
                    <a:pt x="12536" y="1551"/>
                  </a:lnTo>
                  <a:lnTo>
                    <a:pt x="12580" y="1457"/>
                  </a:lnTo>
                  <a:lnTo>
                    <a:pt x="12536" y="1457"/>
                  </a:lnTo>
                  <a:lnTo>
                    <a:pt x="12449" y="1410"/>
                  </a:lnTo>
                  <a:lnTo>
                    <a:pt x="12449" y="1269"/>
                  </a:lnTo>
                  <a:lnTo>
                    <a:pt x="12536" y="1222"/>
                  </a:lnTo>
                  <a:lnTo>
                    <a:pt x="12667" y="1175"/>
                  </a:lnTo>
                  <a:lnTo>
                    <a:pt x="12755" y="1105"/>
                  </a:lnTo>
                  <a:lnTo>
                    <a:pt x="12711" y="964"/>
                  </a:lnTo>
                  <a:lnTo>
                    <a:pt x="12624" y="729"/>
                  </a:lnTo>
                  <a:lnTo>
                    <a:pt x="12667" y="729"/>
                  </a:lnTo>
                  <a:lnTo>
                    <a:pt x="12405" y="823"/>
                  </a:lnTo>
                  <a:lnTo>
                    <a:pt x="12209" y="917"/>
                  </a:lnTo>
                  <a:lnTo>
                    <a:pt x="12121" y="729"/>
                  </a:lnTo>
                  <a:lnTo>
                    <a:pt x="11859" y="776"/>
                  </a:lnTo>
                  <a:lnTo>
                    <a:pt x="11575" y="729"/>
                  </a:lnTo>
                  <a:lnTo>
                    <a:pt x="11204" y="635"/>
                  </a:lnTo>
                  <a:lnTo>
                    <a:pt x="11248" y="635"/>
                  </a:lnTo>
                  <a:lnTo>
                    <a:pt x="11117" y="635"/>
                  </a:lnTo>
                  <a:lnTo>
                    <a:pt x="10986" y="541"/>
                  </a:lnTo>
                  <a:lnTo>
                    <a:pt x="10942" y="517"/>
                  </a:lnTo>
                  <a:lnTo>
                    <a:pt x="10855" y="376"/>
                  </a:lnTo>
                  <a:lnTo>
                    <a:pt x="10811" y="423"/>
                  </a:lnTo>
                  <a:lnTo>
                    <a:pt x="10702" y="517"/>
                  </a:lnTo>
                  <a:lnTo>
                    <a:pt x="10702" y="541"/>
                  </a:lnTo>
                  <a:lnTo>
                    <a:pt x="10658" y="541"/>
                  </a:lnTo>
                  <a:lnTo>
                    <a:pt x="10527" y="517"/>
                  </a:lnTo>
                  <a:lnTo>
                    <a:pt x="10571" y="470"/>
                  </a:lnTo>
                  <a:lnTo>
                    <a:pt x="10309" y="282"/>
                  </a:lnTo>
                  <a:lnTo>
                    <a:pt x="10243" y="188"/>
                  </a:lnTo>
                  <a:lnTo>
                    <a:pt x="10025" y="235"/>
                  </a:lnTo>
                  <a:lnTo>
                    <a:pt x="10352" y="541"/>
                  </a:lnTo>
                  <a:lnTo>
                    <a:pt x="10658" y="729"/>
                  </a:lnTo>
                  <a:lnTo>
                    <a:pt x="10614" y="823"/>
                  </a:lnTo>
                  <a:lnTo>
                    <a:pt x="10614" y="964"/>
                  </a:lnTo>
                  <a:lnTo>
                    <a:pt x="10483" y="917"/>
                  </a:lnTo>
                  <a:lnTo>
                    <a:pt x="10483" y="1105"/>
                  </a:lnTo>
                  <a:lnTo>
                    <a:pt x="10243" y="1058"/>
                  </a:lnTo>
                  <a:lnTo>
                    <a:pt x="9894" y="917"/>
                  </a:lnTo>
                  <a:lnTo>
                    <a:pt x="9610" y="823"/>
                  </a:lnTo>
                  <a:lnTo>
                    <a:pt x="9610" y="917"/>
                  </a:lnTo>
                  <a:lnTo>
                    <a:pt x="9566" y="1058"/>
                  </a:lnTo>
                  <a:lnTo>
                    <a:pt x="9566" y="1105"/>
                  </a:lnTo>
                  <a:lnTo>
                    <a:pt x="9435" y="1058"/>
                  </a:lnTo>
                  <a:lnTo>
                    <a:pt x="9304" y="917"/>
                  </a:lnTo>
                  <a:lnTo>
                    <a:pt x="9217" y="1222"/>
                  </a:lnTo>
                  <a:lnTo>
                    <a:pt x="9195" y="1551"/>
                  </a:lnTo>
                  <a:lnTo>
                    <a:pt x="9304" y="1716"/>
                  </a:lnTo>
                  <a:lnTo>
                    <a:pt x="9195" y="1763"/>
                  </a:lnTo>
                  <a:lnTo>
                    <a:pt x="9064" y="1716"/>
                  </a:lnTo>
                  <a:lnTo>
                    <a:pt x="8976" y="1716"/>
                  </a:lnTo>
                  <a:lnTo>
                    <a:pt x="8933" y="1810"/>
                  </a:lnTo>
                  <a:lnTo>
                    <a:pt x="8933" y="2045"/>
                  </a:lnTo>
                  <a:lnTo>
                    <a:pt x="8976" y="2186"/>
                  </a:lnTo>
                  <a:lnTo>
                    <a:pt x="8714" y="2256"/>
                  </a:lnTo>
                  <a:lnTo>
                    <a:pt x="8649" y="2350"/>
                  </a:lnTo>
                  <a:lnTo>
                    <a:pt x="8802" y="2632"/>
                  </a:lnTo>
                  <a:lnTo>
                    <a:pt x="8845" y="2820"/>
                  </a:lnTo>
                  <a:lnTo>
                    <a:pt x="8561" y="2891"/>
                  </a:lnTo>
                  <a:lnTo>
                    <a:pt x="8430" y="2844"/>
                  </a:lnTo>
                  <a:lnTo>
                    <a:pt x="8387" y="2820"/>
                  </a:lnTo>
                  <a:lnTo>
                    <a:pt x="8343" y="2726"/>
                  </a:lnTo>
                  <a:lnTo>
                    <a:pt x="8103" y="2726"/>
                  </a:lnTo>
                  <a:lnTo>
                    <a:pt x="8103" y="3079"/>
                  </a:lnTo>
                  <a:lnTo>
                    <a:pt x="7841" y="3173"/>
                  </a:lnTo>
                  <a:lnTo>
                    <a:pt x="7972" y="2820"/>
                  </a:lnTo>
                  <a:lnTo>
                    <a:pt x="7928" y="2538"/>
                  </a:lnTo>
                  <a:lnTo>
                    <a:pt x="7666" y="2256"/>
                  </a:lnTo>
                  <a:lnTo>
                    <a:pt x="7666" y="2186"/>
                  </a:lnTo>
                  <a:lnTo>
                    <a:pt x="7644" y="2092"/>
                  </a:lnTo>
                  <a:lnTo>
                    <a:pt x="7644" y="1998"/>
                  </a:lnTo>
                  <a:lnTo>
                    <a:pt x="7164" y="2092"/>
                  </a:lnTo>
                  <a:lnTo>
                    <a:pt x="7011" y="2186"/>
                  </a:lnTo>
                  <a:lnTo>
                    <a:pt x="6923" y="2538"/>
                  </a:lnTo>
                  <a:lnTo>
                    <a:pt x="6923" y="2491"/>
                  </a:lnTo>
                  <a:lnTo>
                    <a:pt x="6880" y="2444"/>
                  </a:lnTo>
                  <a:lnTo>
                    <a:pt x="6836" y="2350"/>
                  </a:lnTo>
                  <a:lnTo>
                    <a:pt x="6661" y="2350"/>
                  </a:lnTo>
                  <a:lnTo>
                    <a:pt x="6705" y="2397"/>
                  </a:lnTo>
                  <a:lnTo>
                    <a:pt x="6749" y="2491"/>
                  </a:lnTo>
                  <a:lnTo>
                    <a:pt x="6749" y="2538"/>
                  </a:lnTo>
                  <a:lnTo>
                    <a:pt x="6618" y="2538"/>
                  </a:lnTo>
                  <a:lnTo>
                    <a:pt x="6618" y="2632"/>
                  </a:lnTo>
                  <a:lnTo>
                    <a:pt x="6661" y="2820"/>
                  </a:lnTo>
                  <a:lnTo>
                    <a:pt x="6661" y="2891"/>
                  </a:lnTo>
                  <a:lnTo>
                    <a:pt x="6465" y="2891"/>
                  </a:lnTo>
                  <a:lnTo>
                    <a:pt x="6465" y="2938"/>
                  </a:lnTo>
                  <a:lnTo>
                    <a:pt x="6552" y="3079"/>
                  </a:lnTo>
                  <a:lnTo>
                    <a:pt x="6508" y="3173"/>
                  </a:lnTo>
                  <a:lnTo>
                    <a:pt x="6465" y="3126"/>
                  </a:lnTo>
                  <a:lnTo>
                    <a:pt x="6334" y="3032"/>
                  </a:lnTo>
                  <a:lnTo>
                    <a:pt x="6246" y="2985"/>
                  </a:lnTo>
                  <a:lnTo>
                    <a:pt x="6203" y="3079"/>
                  </a:lnTo>
                  <a:lnTo>
                    <a:pt x="6159" y="3126"/>
                  </a:lnTo>
                  <a:lnTo>
                    <a:pt x="6093" y="3173"/>
                  </a:lnTo>
                  <a:lnTo>
                    <a:pt x="6093" y="3714"/>
                  </a:lnTo>
                  <a:lnTo>
                    <a:pt x="5962" y="3573"/>
                  </a:lnTo>
                  <a:lnTo>
                    <a:pt x="5744" y="3479"/>
                  </a:lnTo>
                  <a:lnTo>
                    <a:pt x="5657" y="3526"/>
                  </a:lnTo>
                  <a:lnTo>
                    <a:pt x="5613" y="3620"/>
                  </a:lnTo>
                  <a:lnTo>
                    <a:pt x="5613" y="4207"/>
                  </a:lnTo>
                  <a:lnTo>
                    <a:pt x="5700" y="4254"/>
                  </a:lnTo>
                  <a:lnTo>
                    <a:pt x="5657" y="4442"/>
                  </a:lnTo>
                  <a:lnTo>
                    <a:pt x="5613" y="4607"/>
                  </a:lnTo>
                  <a:lnTo>
                    <a:pt x="5547" y="4560"/>
                  </a:lnTo>
                  <a:lnTo>
                    <a:pt x="5416" y="4395"/>
                  </a:lnTo>
                  <a:lnTo>
                    <a:pt x="5373" y="4301"/>
                  </a:lnTo>
                  <a:lnTo>
                    <a:pt x="5242" y="3902"/>
                  </a:lnTo>
                  <a:lnTo>
                    <a:pt x="5242" y="3949"/>
                  </a:lnTo>
                  <a:lnTo>
                    <a:pt x="4958" y="4207"/>
                  </a:lnTo>
                  <a:lnTo>
                    <a:pt x="4870" y="4654"/>
                  </a:lnTo>
                  <a:lnTo>
                    <a:pt x="4827" y="5077"/>
                  </a:lnTo>
                  <a:lnTo>
                    <a:pt x="4958" y="5241"/>
                  </a:lnTo>
                  <a:lnTo>
                    <a:pt x="4739" y="5382"/>
                  </a:lnTo>
                  <a:lnTo>
                    <a:pt x="4565" y="5523"/>
                  </a:lnTo>
                  <a:lnTo>
                    <a:pt x="4455" y="5711"/>
                  </a:lnTo>
                  <a:lnTo>
                    <a:pt x="4412" y="5782"/>
                  </a:lnTo>
                  <a:lnTo>
                    <a:pt x="4412" y="6064"/>
                  </a:lnTo>
                  <a:lnTo>
                    <a:pt x="4106" y="6205"/>
                  </a:lnTo>
                  <a:lnTo>
                    <a:pt x="3822" y="6252"/>
                  </a:lnTo>
                  <a:lnTo>
                    <a:pt x="3494" y="6323"/>
                  </a:lnTo>
                  <a:lnTo>
                    <a:pt x="3363" y="6511"/>
                  </a:lnTo>
                  <a:lnTo>
                    <a:pt x="3232" y="6511"/>
                  </a:lnTo>
                  <a:lnTo>
                    <a:pt x="3189" y="6417"/>
                  </a:lnTo>
                  <a:lnTo>
                    <a:pt x="3101" y="6417"/>
                  </a:lnTo>
                  <a:lnTo>
                    <a:pt x="3014" y="6558"/>
                  </a:lnTo>
                  <a:lnTo>
                    <a:pt x="2992" y="6746"/>
                  </a:lnTo>
                  <a:lnTo>
                    <a:pt x="2905" y="6863"/>
                  </a:lnTo>
                  <a:lnTo>
                    <a:pt x="2512" y="6863"/>
                  </a:lnTo>
                  <a:lnTo>
                    <a:pt x="2468" y="7051"/>
                  </a:lnTo>
                  <a:lnTo>
                    <a:pt x="2271" y="7051"/>
                  </a:lnTo>
                  <a:lnTo>
                    <a:pt x="2053" y="7004"/>
                  </a:lnTo>
                  <a:lnTo>
                    <a:pt x="1944" y="6957"/>
                  </a:lnTo>
                  <a:lnTo>
                    <a:pt x="1900" y="7051"/>
                  </a:lnTo>
                  <a:lnTo>
                    <a:pt x="1900" y="7239"/>
                  </a:lnTo>
                  <a:lnTo>
                    <a:pt x="1507" y="7239"/>
                  </a:lnTo>
                  <a:lnTo>
                    <a:pt x="1507" y="7333"/>
                  </a:lnTo>
                  <a:lnTo>
                    <a:pt x="1005" y="7780"/>
                  </a:lnTo>
                  <a:lnTo>
                    <a:pt x="808" y="8038"/>
                  </a:lnTo>
                  <a:lnTo>
                    <a:pt x="721" y="8085"/>
                  </a:lnTo>
                  <a:lnTo>
                    <a:pt x="546" y="8226"/>
                  </a:lnTo>
                  <a:lnTo>
                    <a:pt x="415" y="8273"/>
                  </a:lnTo>
                  <a:lnTo>
                    <a:pt x="393" y="8320"/>
                  </a:lnTo>
                  <a:lnTo>
                    <a:pt x="459" y="8038"/>
                  </a:lnTo>
                  <a:lnTo>
                    <a:pt x="393" y="8085"/>
                  </a:lnTo>
                  <a:lnTo>
                    <a:pt x="349" y="8132"/>
                  </a:lnTo>
                  <a:lnTo>
                    <a:pt x="306" y="8132"/>
                  </a:lnTo>
                  <a:lnTo>
                    <a:pt x="306" y="8179"/>
                  </a:lnTo>
                  <a:lnTo>
                    <a:pt x="262" y="8320"/>
                  </a:lnTo>
                  <a:lnTo>
                    <a:pt x="218" y="8414"/>
                  </a:lnTo>
                  <a:lnTo>
                    <a:pt x="262" y="8626"/>
                  </a:lnTo>
                  <a:lnTo>
                    <a:pt x="306" y="8955"/>
                  </a:lnTo>
                  <a:lnTo>
                    <a:pt x="306" y="9308"/>
                  </a:lnTo>
                  <a:lnTo>
                    <a:pt x="218" y="9402"/>
                  </a:lnTo>
                  <a:lnTo>
                    <a:pt x="44" y="9496"/>
                  </a:lnTo>
                  <a:lnTo>
                    <a:pt x="0" y="9590"/>
                  </a:lnTo>
                  <a:lnTo>
                    <a:pt x="0" y="9848"/>
                  </a:lnTo>
                  <a:lnTo>
                    <a:pt x="131" y="9848"/>
                  </a:lnTo>
                  <a:lnTo>
                    <a:pt x="131" y="9942"/>
                  </a:lnTo>
                  <a:lnTo>
                    <a:pt x="306" y="10130"/>
                  </a:lnTo>
                  <a:lnTo>
                    <a:pt x="459" y="10765"/>
                  </a:lnTo>
                  <a:lnTo>
                    <a:pt x="415" y="10859"/>
                  </a:lnTo>
                  <a:lnTo>
                    <a:pt x="459" y="11070"/>
                  </a:lnTo>
                  <a:lnTo>
                    <a:pt x="459" y="11211"/>
                  </a:lnTo>
                  <a:lnTo>
                    <a:pt x="306" y="11117"/>
                  </a:lnTo>
                  <a:lnTo>
                    <a:pt x="218" y="11117"/>
                  </a:lnTo>
                  <a:lnTo>
                    <a:pt x="218" y="10859"/>
                  </a:lnTo>
                  <a:lnTo>
                    <a:pt x="131" y="10859"/>
                  </a:lnTo>
                  <a:lnTo>
                    <a:pt x="87" y="10976"/>
                  </a:lnTo>
                  <a:lnTo>
                    <a:pt x="131" y="11117"/>
                  </a:lnTo>
                  <a:lnTo>
                    <a:pt x="502" y="11517"/>
                  </a:lnTo>
                  <a:lnTo>
                    <a:pt x="262" y="11493"/>
                  </a:lnTo>
                  <a:lnTo>
                    <a:pt x="44" y="11399"/>
                  </a:lnTo>
                  <a:lnTo>
                    <a:pt x="44" y="11564"/>
                  </a:lnTo>
                  <a:lnTo>
                    <a:pt x="218" y="11705"/>
                  </a:lnTo>
                  <a:lnTo>
                    <a:pt x="393" y="11893"/>
                  </a:lnTo>
                  <a:lnTo>
                    <a:pt x="546" y="12104"/>
                  </a:lnTo>
                  <a:lnTo>
                    <a:pt x="546" y="12292"/>
                  </a:lnTo>
                  <a:lnTo>
                    <a:pt x="502" y="12481"/>
                  </a:lnTo>
                  <a:lnTo>
                    <a:pt x="546" y="12645"/>
                  </a:lnTo>
                  <a:lnTo>
                    <a:pt x="633" y="12739"/>
                  </a:lnTo>
                  <a:lnTo>
                    <a:pt x="895" y="12927"/>
                  </a:lnTo>
                  <a:close/>
                </a:path>
              </a:pathLst>
            </a:custGeom>
            <a:solidFill>
              <a:srgbClr val="CDD3F4"/>
            </a:solidFill>
            <a:ln w="12700" cap="flat">
              <a:solidFill>
                <a:srgbClr val="FFFFFF"/>
              </a:solidFill>
              <a:prstDash val="solid"/>
              <a:round/>
            </a:ln>
            <a:effectLst/>
          </p:spPr>
          <p:txBody>
            <a:bodyPr wrap="square" lIns="91439" tIns="91439" rIns="91439" bIns="91439" numCol="1" anchor="t">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3600" b="1">
                  <a:solidFill>
                    <a:srgbClr val="4D4D4D"/>
                  </a:solidFill>
                  <a:latin typeface="Helvetica"/>
                  <a:ea typeface="Helvetica"/>
                  <a:cs typeface="Helvetica"/>
                  <a:sym typeface="Helvetica"/>
                </a:defRPr>
              </a:pPr>
              <a:endParaRPr kumimoji="0" sz="3600" b="1" i="0" u="none" strike="noStrike" kern="1200" cap="none" spc="0" normalizeH="0" baseline="0" noProof="0" dirty="0">
                <a:ln>
                  <a:noFill/>
                </a:ln>
                <a:solidFill>
                  <a:srgbClr val="4D4D4D"/>
                </a:solidFill>
                <a:effectLst/>
                <a:uLnTx/>
                <a:uFillTx/>
                <a:cs typeface="Helvetica"/>
                <a:sym typeface="Helvetica"/>
              </a:endParaRPr>
            </a:p>
          </p:txBody>
        </p:sp>
        <p:grpSp>
          <p:nvGrpSpPr>
            <p:cNvPr id="34" name="Group 33">
              <a:extLst>
                <a:ext uri="{FF2B5EF4-FFF2-40B4-BE49-F238E27FC236}">
                  <a16:creationId xmlns:a16="http://schemas.microsoft.com/office/drawing/2014/main" id="{3552C873-8BA8-C02D-45B8-0B195A392A33}"/>
                </a:ext>
              </a:extLst>
            </p:cNvPr>
            <p:cNvGrpSpPr/>
            <p:nvPr/>
          </p:nvGrpSpPr>
          <p:grpSpPr>
            <a:xfrm>
              <a:off x="5508812" y="1608285"/>
              <a:ext cx="242131" cy="313187"/>
              <a:chOff x="10817852" y="4057152"/>
              <a:chExt cx="242131" cy="313187"/>
            </a:xfrm>
          </p:grpSpPr>
          <p:sp>
            <p:nvSpPr>
              <p:cNvPr id="32" name="Freeform 121">
                <a:extLst>
                  <a:ext uri="{FF2B5EF4-FFF2-40B4-BE49-F238E27FC236}">
                    <a16:creationId xmlns:a16="http://schemas.microsoft.com/office/drawing/2014/main" id="{074995E9-9148-D207-3D1E-3FD640AAA783}"/>
                  </a:ext>
                </a:extLst>
              </p:cNvPr>
              <p:cNvSpPr/>
              <p:nvPr/>
            </p:nvSpPr>
            <p:spPr>
              <a:xfrm>
                <a:off x="10940233" y="4057152"/>
                <a:ext cx="119750" cy="177650"/>
              </a:xfrm>
              <a:custGeom>
                <a:avLst/>
                <a:gdLst/>
                <a:ahLst/>
                <a:cxnLst>
                  <a:cxn ang="0">
                    <a:pos x="wd2" y="hd2"/>
                  </a:cxn>
                  <a:cxn ang="5400000">
                    <a:pos x="wd2" y="hd2"/>
                  </a:cxn>
                  <a:cxn ang="10800000">
                    <a:pos x="wd2" y="hd2"/>
                  </a:cxn>
                  <a:cxn ang="16200000">
                    <a:pos x="wd2" y="hd2"/>
                  </a:cxn>
                </a:cxnLst>
                <a:rect l="0" t="0" r="r" b="b"/>
                <a:pathLst>
                  <a:path w="21600" h="21600" extrusionOk="0">
                    <a:moveTo>
                      <a:pt x="576" y="0"/>
                    </a:moveTo>
                    <a:lnTo>
                      <a:pt x="576" y="177"/>
                    </a:lnTo>
                    <a:lnTo>
                      <a:pt x="0" y="354"/>
                    </a:lnTo>
                    <a:lnTo>
                      <a:pt x="0" y="708"/>
                    </a:lnTo>
                    <a:lnTo>
                      <a:pt x="1584" y="1593"/>
                    </a:lnTo>
                    <a:lnTo>
                      <a:pt x="2448" y="2744"/>
                    </a:lnTo>
                    <a:lnTo>
                      <a:pt x="3312" y="4161"/>
                    </a:lnTo>
                    <a:lnTo>
                      <a:pt x="4176" y="4426"/>
                    </a:lnTo>
                    <a:lnTo>
                      <a:pt x="5184" y="5134"/>
                    </a:lnTo>
                    <a:lnTo>
                      <a:pt x="5472" y="5666"/>
                    </a:lnTo>
                    <a:lnTo>
                      <a:pt x="5472" y="6020"/>
                    </a:lnTo>
                    <a:lnTo>
                      <a:pt x="6624" y="6020"/>
                    </a:lnTo>
                    <a:lnTo>
                      <a:pt x="6912" y="6639"/>
                    </a:lnTo>
                    <a:lnTo>
                      <a:pt x="6336" y="7170"/>
                    </a:lnTo>
                    <a:lnTo>
                      <a:pt x="6336" y="7702"/>
                    </a:lnTo>
                    <a:lnTo>
                      <a:pt x="6624" y="8056"/>
                    </a:lnTo>
                    <a:lnTo>
                      <a:pt x="7488" y="8410"/>
                    </a:lnTo>
                    <a:lnTo>
                      <a:pt x="7776" y="8410"/>
                    </a:lnTo>
                    <a:lnTo>
                      <a:pt x="7776" y="8852"/>
                    </a:lnTo>
                    <a:lnTo>
                      <a:pt x="7488" y="9207"/>
                    </a:lnTo>
                    <a:lnTo>
                      <a:pt x="7200" y="9384"/>
                    </a:lnTo>
                    <a:lnTo>
                      <a:pt x="8064" y="10711"/>
                    </a:lnTo>
                    <a:lnTo>
                      <a:pt x="7776" y="12836"/>
                    </a:lnTo>
                    <a:lnTo>
                      <a:pt x="6624" y="14164"/>
                    </a:lnTo>
                    <a:lnTo>
                      <a:pt x="3888" y="15138"/>
                    </a:lnTo>
                    <a:lnTo>
                      <a:pt x="6336" y="16023"/>
                    </a:lnTo>
                    <a:lnTo>
                      <a:pt x="8784" y="17351"/>
                    </a:lnTo>
                    <a:lnTo>
                      <a:pt x="9360" y="19298"/>
                    </a:lnTo>
                    <a:lnTo>
                      <a:pt x="8208" y="19918"/>
                    </a:lnTo>
                    <a:lnTo>
                      <a:pt x="8496" y="20449"/>
                    </a:lnTo>
                    <a:lnTo>
                      <a:pt x="8208" y="20980"/>
                    </a:lnTo>
                    <a:lnTo>
                      <a:pt x="8208" y="21334"/>
                    </a:lnTo>
                    <a:lnTo>
                      <a:pt x="12096" y="21600"/>
                    </a:lnTo>
                    <a:lnTo>
                      <a:pt x="13248" y="20803"/>
                    </a:lnTo>
                    <a:lnTo>
                      <a:pt x="14400" y="18590"/>
                    </a:lnTo>
                    <a:lnTo>
                      <a:pt x="15120" y="18236"/>
                    </a:lnTo>
                    <a:lnTo>
                      <a:pt x="15984" y="17705"/>
                    </a:lnTo>
                    <a:lnTo>
                      <a:pt x="16848" y="16908"/>
                    </a:lnTo>
                    <a:lnTo>
                      <a:pt x="16560" y="16377"/>
                    </a:lnTo>
                    <a:lnTo>
                      <a:pt x="16272" y="16200"/>
                    </a:lnTo>
                    <a:lnTo>
                      <a:pt x="15984" y="15846"/>
                    </a:lnTo>
                    <a:lnTo>
                      <a:pt x="16560" y="15492"/>
                    </a:lnTo>
                    <a:lnTo>
                      <a:pt x="19008" y="15049"/>
                    </a:lnTo>
                    <a:lnTo>
                      <a:pt x="20160" y="15492"/>
                    </a:lnTo>
                    <a:lnTo>
                      <a:pt x="19872" y="15049"/>
                    </a:lnTo>
                    <a:lnTo>
                      <a:pt x="19584" y="14695"/>
                    </a:lnTo>
                    <a:lnTo>
                      <a:pt x="19296" y="14164"/>
                    </a:lnTo>
                    <a:lnTo>
                      <a:pt x="20160" y="13633"/>
                    </a:lnTo>
                    <a:lnTo>
                      <a:pt x="21024" y="12836"/>
                    </a:lnTo>
                    <a:lnTo>
                      <a:pt x="21600" y="12305"/>
                    </a:lnTo>
                    <a:lnTo>
                      <a:pt x="21600" y="10711"/>
                    </a:lnTo>
                    <a:lnTo>
                      <a:pt x="20736" y="10711"/>
                    </a:lnTo>
                    <a:lnTo>
                      <a:pt x="20736" y="10623"/>
                    </a:lnTo>
                    <a:lnTo>
                      <a:pt x="20160" y="10446"/>
                    </a:lnTo>
                    <a:lnTo>
                      <a:pt x="18288" y="11597"/>
                    </a:lnTo>
                    <a:lnTo>
                      <a:pt x="16272" y="11597"/>
                    </a:lnTo>
                    <a:lnTo>
                      <a:pt x="14688" y="11066"/>
                    </a:lnTo>
                    <a:lnTo>
                      <a:pt x="12960" y="10446"/>
                    </a:lnTo>
                    <a:lnTo>
                      <a:pt x="12960" y="8056"/>
                    </a:lnTo>
                    <a:lnTo>
                      <a:pt x="11808" y="7879"/>
                    </a:lnTo>
                    <a:lnTo>
                      <a:pt x="12096" y="7525"/>
                    </a:lnTo>
                    <a:lnTo>
                      <a:pt x="11520" y="6993"/>
                    </a:lnTo>
                    <a:lnTo>
                      <a:pt x="11376" y="7879"/>
                    </a:lnTo>
                    <a:lnTo>
                      <a:pt x="10512" y="8233"/>
                    </a:lnTo>
                    <a:lnTo>
                      <a:pt x="10224" y="8410"/>
                    </a:lnTo>
                    <a:lnTo>
                      <a:pt x="8496" y="7525"/>
                    </a:lnTo>
                    <a:lnTo>
                      <a:pt x="8208" y="5489"/>
                    </a:lnTo>
                    <a:lnTo>
                      <a:pt x="7776" y="3452"/>
                    </a:lnTo>
                    <a:lnTo>
                      <a:pt x="7488" y="3275"/>
                    </a:lnTo>
                    <a:lnTo>
                      <a:pt x="6624" y="3452"/>
                    </a:lnTo>
                    <a:lnTo>
                      <a:pt x="6336" y="3452"/>
                    </a:lnTo>
                    <a:lnTo>
                      <a:pt x="6336" y="3098"/>
                    </a:lnTo>
                    <a:lnTo>
                      <a:pt x="6624" y="2921"/>
                    </a:lnTo>
                    <a:lnTo>
                      <a:pt x="6624" y="2567"/>
                    </a:lnTo>
                    <a:lnTo>
                      <a:pt x="5760" y="2213"/>
                    </a:lnTo>
                    <a:lnTo>
                      <a:pt x="4896" y="1770"/>
                    </a:lnTo>
                    <a:lnTo>
                      <a:pt x="3888" y="1416"/>
                    </a:lnTo>
                    <a:lnTo>
                      <a:pt x="3888" y="1593"/>
                    </a:lnTo>
                    <a:lnTo>
                      <a:pt x="3312" y="1948"/>
                    </a:lnTo>
                    <a:lnTo>
                      <a:pt x="2736" y="1948"/>
                    </a:lnTo>
                    <a:lnTo>
                      <a:pt x="2448" y="1593"/>
                    </a:lnTo>
                    <a:lnTo>
                      <a:pt x="1152" y="708"/>
                    </a:lnTo>
                    <a:lnTo>
                      <a:pt x="1296" y="354"/>
                    </a:lnTo>
                    <a:lnTo>
                      <a:pt x="1584" y="177"/>
                    </a:lnTo>
                    <a:lnTo>
                      <a:pt x="1584" y="0"/>
                    </a:lnTo>
                    <a:lnTo>
                      <a:pt x="576" y="0"/>
                    </a:lnTo>
                    <a:close/>
                  </a:path>
                </a:pathLst>
              </a:custGeom>
              <a:solidFill>
                <a:srgbClr val="CDD3F4"/>
              </a:solidFill>
              <a:ln w="12700" cap="flat">
                <a:solidFill>
                  <a:srgbClr val="FFFFFF"/>
                </a:solidFill>
                <a:prstDash val="solid"/>
                <a:round/>
              </a:ln>
              <a:effectLst/>
            </p:spPr>
            <p:txBody>
              <a:bodyPr wrap="square" lIns="91439" tIns="91439" rIns="91439" bIns="91439" numCol="1" anchor="t">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3600" b="1">
                    <a:solidFill>
                      <a:srgbClr val="4D4D4D"/>
                    </a:solidFill>
                    <a:latin typeface="Helvetica"/>
                    <a:ea typeface="Helvetica"/>
                    <a:cs typeface="Helvetica"/>
                    <a:sym typeface="Helvetica"/>
                  </a:defRPr>
                </a:pPr>
                <a:endParaRPr kumimoji="0" sz="3600" b="1" i="0" u="none" strike="noStrike" kern="1200" cap="none" spc="0" normalizeH="0" baseline="0" noProof="0" dirty="0">
                  <a:ln>
                    <a:noFill/>
                  </a:ln>
                  <a:solidFill>
                    <a:srgbClr val="4D4D4D"/>
                  </a:solidFill>
                  <a:effectLst/>
                  <a:uLnTx/>
                  <a:uFillTx/>
                  <a:cs typeface="Helvetica"/>
                  <a:sym typeface="Helvetica"/>
                </a:endParaRPr>
              </a:p>
            </p:txBody>
          </p:sp>
          <p:sp>
            <p:nvSpPr>
              <p:cNvPr id="33" name="Freeform 122">
                <a:extLst>
                  <a:ext uri="{FF2B5EF4-FFF2-40B4-BE49-F238E27FC236}">
                    <a16:creationId xmlns:a16="http://schemas.microsoft.com/office/drawing/2014/main" id="{10687BAD-2C0B-CF94-9B85-A7C2172ECDA7}"/>
                  </a:ext>
                </a:extLst>
              </p:cNvPr>
              <p:cNvSpPr/>
              <p:nvPr/>
            </p:nvSpPr>
            <p:spPr>
              <a:xfrm>
                <a:off x="10817852" y="4208481"/>
                <a:ext cx="157911" cy="161858"/>
              </a:xfrm>
              <a:custGeom>
                <a:avLst/>
                <a:gdLst/>
                <a:ahLst/>
                <a:cxnLst>
                  <a:cxn ang="0">
                    <a:pos x="wd2" y="hd2"/>
                  </a:cxn>
                  <a:cxn ang="5400000">
                    <a:pos x="wd2" y="hd2"/>
                  </a:cxn>
                  <a:cxn ang="10800000">
                    <a:pos x="wd2" y="hd2"/>
                  </a:cxn>
                  <a:cxn ang="16200000">
                    <a:pos x="wd2" y="hd2"/>
                  </a:cxn>
                </a:cxnLst>
                <a:rect l="0" t="0" r="r" b="b"/>
                <a:pathLst>
                  <a:path w="21600" h="21600" extrusionOk="0">
                    <a:moveTo>
                      <a:pt x="16310" y="0"/>
                    </a:moveTo>
                    <a:lnTo>
                      <a:pt x="16090" y="395"/>
                    </a:lnTo>
                    <a:lnTo>
                      <a:pt x="15429" y="888"/>
                    </a:lnTo>
                    <a:lnTo>
                      <a:pt x="14988" y="1085"/>
                    </a:lnTo>
                    <a:lnTo>
                      <a:pt x="14988" y="2071"/>
                    </a:lnTo>
                    <a:lnTo>
                      <a:pt x="15208" y="3058"/>
                    </a:lnTo>
                    <a:lnTo>
                      <a:pt x="14988" y="3748"/>
                    </a:lnTo>
                    <a:lnTo>
                      <a:pt x="14878" y="4142"/>
                    </a:lnTo>
                    <a:lnTo>
                      <a:pt x="14216" y="4340"/>
                    </a:lnTo>
                    <a:lnTo>
                      <a:pt x="13776" y="4537"/>
                    </a:lnTo>
                    <a:lnTo>
                      <a:pt x="13776" y="4932"/>
                    </a:lnTo>
                    <a:lnTo>
                      <a:pt x="13996" y="5326"/>
                    </a:lnTo>
                    <a:lnTo>
                      <a:pt x="13776" y="5721"/>
                    </a:lnTo>
                    <a:lnTo>
                      <a:pt x="13335" y="6016"/>
                    </a:lnTo>
                    <a:lnTo>
                      <a:pt x="12894" y="6016"/>
                    </a:lnTo>
                    <a:lnTo>
                      <a:pt x="12122" y="8285"/>
                    </a:lnTo>
                    <a:lnTo>
                      <a:pt x="10800" y="10060"/>
                    </a:lnTo>
                    <a:lnTo>
                      <a:pt x="9147" y="11342"/>
                    </a:lnTo>
                    <a:lnTo>
                      <a:pt x="8045" y="11737"/>
                    </a:lnTo>
                    <a:lnTo>
                      <a:pt x="6612" y="12132"/>
                    </a:lnTo>
                    <a:lnTo>
                      <a:pt x="5510" y="12526"/>
                    </a:lnTo>
                    <a:lnTo>
                      <a:pt x="5069" y="12921"/>
                    </a:lnTo>
                    <a:lnTo>
                      <a:pt x="5069" y="13611"/>
                    </a:lnTo>
                    <a:lnTo>
                      <a:pt x="4298" y="13611"/>
                    </a:lnTo>
                    <a:lnTo>
                      <a:pt x="4298" y="14400"/>
                    </a:lnTo>
                    <a:lnTo>
                      <a:pt x="2755" y="14400"/>
                    </a:lnTo>
                    <a:lnTo>
                      <a:pt x="2314" y="14992"/>
                    </a:lnTo>
                    <a:lnTo>
                      <a:pt x="1873" y="15682"/>
                    </a:lnTo>
                    <a:lnTo>
                      <a:pt x="1543" y="16274"/>
                    </a:lnTo>
                    <a:lnTo>
                      <a:pt x="661" y="16274"/>
                    </a:lnTo>
                    <a:lnTo>
                      <a:pt x="661" y="17260"/>
                    </a:lnTo>
                    <a:lnTo>
                      <a:pt x="441" y="17852"/>
                    </a:lnTo>
                    <a:lnTo>
                      <a:pt x="441" y="18542"/>
                    </a:lnTo>
                    <a:lnTo>
                      <a:pt x="0" y="18740"/>
                    </a:lnTo>
                    <a:lnTo>
                      <a:pt x="0" y="19529"/>
                    </a:lnTo>
                    <a:lnTo>
                      <a:pt x="441" y="20121"/>
                    </a:lnTo>
                    <a:lnTo>
                      <a:pt x="1322" y="20416"/>
                    </a:lnTo>
                    <a:lnTo>
                      <a:pt x="2314" y="20121"/>
                    </a:lnTo>
                    <a:lnTo>
                      <a:pt x="3416" y="20121"/>
                    </a:lnTo>
                    <a:lnTo>
                      <a:pt x="3637" y="21205"/>
                    </a:lnTo>
                    <a:lnTo>
                      <a:pt x="4518" y="21403"/>
                    </a:lnTo>
                    <a:lnTo>
                      <a:pt x="6392" y="21600"/>
                    </a:lnTo>
                    <a:lnTo>
                      <a:pt x="8045" y="21600"/>
                    </a:lnTo>
                    <a:lnTo>
                      <a:pt x="9588" y="20219"/>
                    </a:lnTo>
                    <a:lnTo>
                      <a:pt x="11461" y="17655"/>
                    </a:lnTo>
                    <a:lnTo>
                      <a:pt x="12453" y="15485"/>
                    </a:lnTo>
                    <a:lnTo>
                      <a:pt x="12453" y="13611"/>
                    </a:lnTo>
                    <a:lnTo>
                      <a:pt x="13776" y="13019"/>
                    </a:lnTo>
                    <a:lnTo>
                      <a:pt x="15649" y="12526"/>
                    </a:lnTo>
                    <a:lnTo>
                      <a:pt x="17192" y="12132"/>
                    </a:lnTo>
                    <a:lnTo>
                      <a:pt x="17192" y="11342"/>
                    </a:lnTo>
                    <a:lnTo>
                      <a:pt x="16751" y="10258"/>
                    </a:lnTo>
                    <a:lnTo>
                      <a:pt x="17963" y="9074"/>
                    </a:lnTo>
                    <a:lnTo>
                      <a:pt x="20167" y="6805"/>
                    </a:lnTo>
                    <a:lnTo>
                      <a:pt x="21600" y="5326"/>
                    </a:lnTo>
                    <a:lnTo>
                      <a:pt x="21600" y="4537"/>
                    </a:lnTo>
                    <a:lnTo>
                      <a:pt x="21380" y="3255"/>
                    </a:lnTo>
                    <a:lnTo>
                      <a:pt x="21600" y="1874"/>
                    </a:lnTo>
                    <a:lnTo>
                      <a:pt x="20939" y="1874"/>
                    </a:lnTo>
                    <a:lnTo>
                      <a:pt x="20939" y="2663"/>
                    </a:lnTo>
                    <a:lnTo>
                      <a:pt x="20278" y="2466"/>
                    </a:lnTo>
                    <a:lnTo>
                      <a:pt x="20167" y="2071"/>
                    </a:lnTo>
                    <a:lnTo>
                      <a:pt x="19727" y="1479"/>
                    </a:lnTo>
                    <a:lnTo>
                      <a:pt x="19286" y="2268"/>
                    </a:lnTo>
                    <a:lnTo>
                      <a:pt x="19286" y="2663"/>
                    </a:lnTo>
                    <a:lnTo>
                      <a:pt x="17963" y="2663"/>
                    </a:lnTo>
                    <a:lnTo>
                      <a:pt x="17743" y="1677"/>
                    </a:lnTo>
                    <a:lnTo>
                      <a:pt x="17743" y="789"/>
                    </a:lnTo>
                    <a:lnTo>
                      <a:pt x="17633" y="0"/>
                    </a:lnTo>
                    <a:lnTo>
                      <a:pt x="16310" y="0"/>
                    </a:lnTo>
                    <a:close/>
                  </a:path>
                </a:pathLst>
              </a:custGeom>
              <a:solidFill>
                <a:srgbClr val="CDD3F4"/>
              </a:solidFill>
              <a:ln w="12700" cap="flat">
                <a:solidFill>
                  <a:srgbClr val="FFFFFF"/>
                </a:solidFill>
                <a:prstDash val="solid"/>
                <a:round/>
              </a:ln>
              <a:effectLst/>
            </p:spPr>
            <p:txBody>
              <a:bodyPr wrap="square" lIns="91439" tIns="91439" rIns="91439" bIns="91439" numCol="1" anchor="t">
                <a:noAutofit/>
              </a:bodyPr>
              <a:lstStyle/>
              <a:p>
                <a:pPr defTabSz="1828800"/>
                <a:endParaRPr sz="3600" b="1" dirty="0">
                  <a:solidFill>
                    <a:srgbClr val="4D4D4D"/>
                  </a:solidFill>
                  <a:cs typeface="Helvetica"/>
                  <a:sym typeface="Helvetica"/>
                </a:endParaRPr>
              </a:p>
            </p:txBody>
          </p:sp>
        </p:grpSp>
        <p:grpSp>
          <p:nvGrpSpPr>
            <p:cNvPr id="35" name="Group 34">
              <a:extLst>
                <a:ext uri="{FF2B5EF4-FFF2-40B4-BE49-F238E27FC236}">
                  <a16:creationId xmlns:a16="http://schemas.microsoft.com/office/drawing/2014/main" id="{784F0DB0-A46B-408D-E6AA-21CAC2701348}"/>
                </a:ext>
              </a:extLst>
            </p:cNvPr>
            <p:cNvGrpSpPr/>
            <p:nvPr/>
          </p:nvGrpSpPr>
          <p:grpSpPr>
            <a:xfrm>
              <a:off x="5174083" y="1412999"/>
              <a:ext cx="818769" cy="88707"/>
              <a:chOff x="10471215" y="3982458"/>
              <a:chExt cx="818769" cy="88707"/>
            </a:xfrm>
          </p:grpSpPr>
          <p:sp>
            <p:nvSpPr>
              <p:cNvPr id="36" name="Oval 573">
                <a:extLst>
                  <a:ext uri="{FF2B5EF4-FFF2-40B4-BE49-F238E27FC236}">
                    <a16:creationId xmlns:a16="http://schemas.microsoft.com/office/drawing/2014/main" id="{03AB07F7-A52A-4B27-A204-13AB6D78CA99}"/>
                  </a:ext>
                </a:extLst>
              </p:cNvPr>
              <p:cNvSpPr/>
              <p:nvPr/>
            </p:nvSpPr>
            <p:spPr>
              <a:xfrm>
                <a:off x="10471215" y="3982458"/>
                <a:ext cx="72755" cy="72754"/>
              </a:xfrm>
              <a:prstGeom prst="star5">
                <a:avLst>
                  <a:gd name="adj" fmla="val 19098"/>
                  <a:gd name="hf" fmla="val 105146"/>
                  <a:gd name="vf" fmla="val 110557"/>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37" name="TextBox 36">
                <a:extLst>
                  <a:ext uri="{FF2B5EF4-FFF2-40B4-BE49-F238E27FC236}">
                    <a16:creationId xmlns:a16="http://schemas.microsoft.com/office/drawing/2014/main" id="{C77FFFAE-0D42-7EC9-292F-0AB87D644C48}"/>
                  </a:ext>
                </a:extLst>
              </p:cNvPr>
              <p:cNvSpPr txBox="1"/>
              <p:nvPr/>
            </p:nvSpPr>
            <p:spPr>
              <a:xfrm>
                <a:off x="10566010" y="3982459"/>
                <a:ext cx="723974" cy="8870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2051C"/>
                    </a:solidFill>
                    <a:effectLst/>
                    <a:uLnTx/>
                    <a:uFillTx/>
                    <a:ea typeface="+mn-ea"/>
                    <a:cs typeface="+mn-cs"/>
                  </a:rPr>
                  <a:t>Sydney</a:t>
                </a:r>
              </a:p>
            </p:txBody>
          </p:sp>
        </p:grpSp>
        <p:grpSp>
          <p:nvGrpSpPr>
            <p:cNvPr id="38" name="Group 37">
              <a:extLst>
                <a:ext uri="{FF2B5EF4-FFF2-40B4-BE49-F238E27FC236}">
                  <a16:creationId xmlns:a16="http://schemas.microsoft.com/office/drawing/2014/main" id="{5D0206FE-5081-2F98-986E-8874B26A572C}"/>
                </a:ext>
              </a:extLst>
            </p:cNvPr>
            <p:cNvGrpSpPr/>
            <p:nvPr/>
          </p:nvGrpSpPr>
          <p:grpSpPr>
            <a:xfrm>
              <a:off x="4979878" y="1629199"/>
              <a:ext cx="686845" cy="88706"/>
              <a:chOff x="10360373" y="4106535"/>
              <a:chExt cx="686845" cy="88706"/>
            </a:xfrm>
          </p:grpSpPr>
          <p:sp>
            <p:nvSpPr>
              <p:cNvPr id="39" name="Oval 573">
                <a:extLst>
                  <a:ext uri="{FF2B5EF4-FFF2-40B4-BE49-F238E27FC236}">
                    <a16:creationId xmlns:a16="http://schemas.microsoft.com/office/drawing/2014/main" id="{D02EF770-4E47-C752-7E6A-7A425CAB6F0D}"/>
                  </a:ext>
                </a:extLst>
              </p:cNvPr>
              <p:cNvSpPr/>
              <p:nvPr/>
            </p:nvSpPr>
            <p:spPr>
              <a:xfrm>
                <a:off x="10360373" y="4122667"/>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43" name="Rectangle 568">
                <a:extLst>
                  <a:ext uri="{FF2B5EF4-FFF2-40B4-BE49-F238E27FC236}">
                    <a16:creationId xmlns:a16="http://schemas.microsoft.com/office/drawing/2014/main" id="{F4D296D8-7FAA-7323-FB35-E834A101203D}"/>
                  </a:ext>
                </a:extLst>
              </p:cNvPr>
              <p:cNvSpPr txBox="1"/>
              <p:nvPr/>
            </p:nvSpPr>
            <p:spPr>
              <a:xfrm>
                <a:off x="10440589" y="4106535"/>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Melbourne</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nvGrpSpPr>
            <p:cNvPr id="44" name="Group 43">
              <a:extLst>
                <a:ext uri="{FF2B5EF4-FFF2-40B4-BE49-F238E27FC236}">
                  <a16:creationId xmlns:a16="http://schemas.microsoft.com/office/drawing/2014/main" id="{C2A86F1B-BDFE-83DA-75A4-049F4424AA2B}"/>
                </a:ext>
              </a:extLst>
            </p:cNvPr>
            <p:cNvGrpSpPr/>
            <p:nvPr/>
          </p:nvGrpSpPr>
          <p:grpSpPr>
            <a:xfrm>
              <a:off x="5686516" y="1661400"/>
              <a:ext cx="686845" cy="88706"/>
              <a:chOff x="10984562" y="4112086"/>
              <a:chExt cx="686845" cy="88706"/>
            </a:xfrm>
          </p:grpSpPr>
          <p:sp>
            <p:nvSpPr>
              <p:cNvPr id="45" name="Oval 573">
                <a:extLst>
                  <a:ext uri="{FF2B5EF4-FFF2-40B4-BE49-F238E27FC236}">
                    <a16:creationId xmlns:a16="http://schemas.microsoft.com/office/drawing/2014/main" id="{C2C4E731-E6D0-7146-9EB9-BC7D9A58AC11}"/>
                  </a:ext>
                </a:extLst>
              </p:cNvPr>
              <p:cNvSpPr/>
              <p:nvPr/>
            </p:nvSpPr>
            <p:spPr>
              <a:xfrm>
                <a:off x="10984562" y="4128218"/>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48" name="Rectangle 568">
                <a:extLst>
                  <a:ext uri="{FF2B5EF4-FFF2-40B4-BE49-F238E27FC236}">
                    <a16:creationId xmlns:a16="http://schemas.microsoft.com/office/drawing/2014/main" id="{46FD61F4-03D5-9F20-09D3-F9F9E82DB52A}"/>
                  </a:ext>
                </a:extLst>
              </p:cNvPr>
              <p:cNvSpPr txBox="1"/>
              <p:nvPr/>
            </p:nvSpPr>
            <p:spPr>
              <a:xfrm>
                <a:off x="11064778" y="4112086"/>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Auckland</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nvGrpSpPr>
            <p:cNvPr id="49" name="Group 48">
              <a:extLst>
                <a:ext uri="{FF2B5EF4-FFF2-40B4-BE49-F238E27FC236}">
                  <a16:creationId xmlns:a16="http://schemas.microsoft.com/office/drawing/2014/main" id="{9B0214D7-9ABE-6B81-FEC5-0D8111957C2A}"/>
                </a:ext>
              </a:extLst>
            </p:cNvPr>
            <p:cNvGrpSpPr/>
            <p:nvPr/>
          </p:nvGrpSpPr>
          <p:grpSpPr>
            <a:xfrm>
              <a:off x="3935542" y="1837539"/>
              <a:ext cx="1425856" cy="116632"/>
              <a:chOff x="8090792" y="3994428"/>
              <a:chExt cx="1425856" cy="116632"/>
            </a:xfrm>
          </p:grpSpPr>
          <p:sp>
            <p:nvSpPr>
              <p:cNvPr id="50" name="Oval 573">
                <a:extLst>
                  <a:ext uri="{FF2B5EF4-FFF2-40B4-BE49-F238E27FC236}">
                    <a16:creationId xmlns:a16="http://schemas.microsoft.com/office/drawing/2014/main" id="{81354B43-7C14-8243-3735-318CF4331128}"/>
                  </a:ext>
                </a:extLst>
              </p:cNvPr>
              <p:cNvSpPr/>
              <p:nvPr/>
            </p:nvSpPr>
            <p:spPr>
              <a:xfrm>
                <a:off x="8090792" y="3994428"/>
                <a:ext cx="108846" cy="108845"/>
              </a:xfrm>
              <a:prstGeom prst="star5">
                <a:avLst>
                  <a:gd name="adj" fmla="val 19098"/>
                  <a:gd name="hf" fmla="val 105146"/>
                  <a:gd name="vf" fmla="val 110557"/>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51" name="Rectangle 574">
                <a:extLst>
                  <a:ext uri="{FF2B5EF4-FFF2-40B4-BE49-F238E27FC236}">
                    <a16:creationId xmlns:a16="http://schemas.microsoft.com/office/drawing/2014/main" id="{D3DC696D-F4D5-B881-AFDB-B6D6DF9DD41A}"/>
                  </a:ext>
                </a:extLst>
              </p:cNvPr>
              <p:cNvSpPr txBox="1"/>
              <p:nvPr/>
            </p:nvSpPr>
            <p:spPr>
              <a:xfrm>
                <a:off x="8245110" y="4019813"/>
                <a:ext cx="414225"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sz="700" b="0" i="0" u="none" strike="noStrike" kern="1200" cap="none" spc="0" normalizeH="0" baseline="0" noProof="0" dirty="0">
                    <a:ln>
                      <a:noFill/>
                    </a:ln>
                    <a:solidFill>
                      <a:srgbClr val="02051C"/>
                    </a:solidFill>
                    <a:effectLst/>
                    <a:uLnTx/>
                    <a:uFillTx/>
                    <a:latin typeface="+mn-lt"/>
                    <a:sym typeface="Heebo Regular Regular"/>
                  </a:rPr>
                  <a:t>Headquarters</a:t>
                </a:r>
              </a:p>
            </p:txBody>
          </p:sp>
          <p:sp>
            <p:nvSpPr>
              <p:cNvPr id="52" name="Oval 573">
                <a:extLst>
                  <a:ext uri="{FF2B5EF4-FFF2-40B4-BE49-F238E27FC236}">
                    <a16:creationId xmlns:a16="http://schemas.microsoft.com/office/drawing/2014/main" id="{396CBC59-C3F6-65EF-3F90-B5DF4007F47E}"/>
                  </a:ext>
                </a:extLst>
              </p:cNvPr>
              <p:cNvSpPr/>
              <p:nvPr/>
            </p:nvSpPr>
            <p:spPr>
              <a:xfrm>
                <a:off x="8899395" y="4027538"/>
                <a:ext cx="73261" cy="73260"/>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53" name="Rectangle 574">
                <a:extLst>
                  <a:ext uri="{FF2B5EF4-FFF2-40B4-BE49-F238E27FC236}">
                    <a16:creationId xmlns:a16="http://schemas.microsoft.com/office/drawing/2014/main" id="{20F492DE-1001-F00E-2382-2DE968AC2BF3}"/>
                  </a:ext>
                </a:extLst>
              </p:cNvPr>
              <p:cNvSpPr txBox="1"/>
              <p:nvPr/>
            </p:nvSpPr>
            <p:spPr>
              <a:xfrm>
                <a:off x="9020581" y="4022354"/>
                <a:ext cx="496067"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sz="700" b="0" i="0" u="none" strike="noStrike" kern="1200" cap="none" spc="0" normalizeH="0" baseline="0" noProof="0" dirty="0">
                    <a:ln>
                      <a:noFill/>
                    </a:ln>
                    <a:solidFill>
                      <a:srgbClr val="02051C"/>
                    </a:solidFill>
                    <a:effectLst/>
                    <a:uLnTx/>
                    <a:uFillTx/>
                    <a:latin typeface="+mn-lt"/>
                    <a:sym typeface="Heebo Regular Regular"/>
                  </a:rPr>
                  <a:t>Delivery Centers</a:t>
                </a:r>
              </a:p>
            </p:txBody>
          </p:sp>
        </p:grpSp>
        <p:grpSp>
          <p:nvGrpSpPr>
            <p:cNvPr id="54" name="Group 53">
              <a:extLst>
                <a:ext uri="{FF2B5EF4-FFF2-40B4-BE49-F238E27FC236}">
                  <a16:creationId xmlns:a16="http://schemas.microsoft.com/office/drawing/2014/main" id="{11F4372C-E888-CE55-9A31-72B9528F8DA7}"/>
                </a:ext>
              </a:extLst>
            </p:cNvPr>
            <p:cNvGrpSpPr/>
            <p:nvPr/>
          </p:nvGrpSpPr>
          <p:grpSpPr>
            <a:xfrm>
              <a:off x="5676900" y="1750086"/>
              <a:ext cx="686845" cy="88706"/>
              <a:chOff x="10984562" y="4112086"/>
              <a:chExt cx="686845" cy="88706"/>
            </a:xfrm>
          </p:grpSpPr>
          <p:sp>
            <p:nvSpPr>
              <p:cNvPr id="55" name="Oval 573">
                <a:extLst>
                  <a:ext uri="{FF2B5EF4-FFF2-40B4-BE49-F238E27FC236}">
                    <a16:creationId xmlns:a16="http://schemas.microsoft.com/office/drawing/2014/main" id="{12F1D658-6C0B-8964-174A-181123C16C72}"/>
                  </a:ext>
                </a:extLst>
              </p:cNvPr>
              <p:cNvSpPr/>
              <p:nvPr/>
            </p:nvSpPr>
            <p:spPr>
              <a:xfrm>
                <a:off x="10984562" y="4128218"/>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56" name="Rectangle 568">
                <a:extLst>
                  <a:ext uri="{FF2B5EF4-FFF2-40B4-BE49-F238E27FC236}">
                    <a16:creationId xmlns:a16="http://schemas.microsoft.com/office/drawing/2014/main" id="{AEE33F0B-7F08-D5AF-EBAC-F2C676AE8294}"/>
                  </a:ext>
                </a:extLst>
              </p:cNvPr>
              <p:cNvSpPr txBox="1"/>
              <p:nvPr/>
            </p:nvSpPr>
            <p:spPr>
              <a:xfrm>
                <a:off x="11064778" y="4112086"/>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Wellington</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nvGrpSpPr>
            <p:cNvPr id="57" name="Group 56">
              <a:extLst>
                <a:ext uri="{FF2B5EF4-FFF2-40B4-BE49-F238E27FC236}">
                  <a16:creationId xmlns:a16="http://schemas.microsoft.com/office/drawing/2014/main" id="{8A8D9C2A-D4D8-6B7B-7D57-23430A05DA15}"/>
                </a:ext>
              </a:extLst>
            </p:cNvPr>
            <p:cNvGrpSpPr/>
            <p:nvPr/>
          </p:nvGrpSpPr>
          <p:grpSpPr>
            <a:xfrm>
              <a:off x="5245880" y="1213520"/>
              <a:ext cx="686845" cy="88706"/>
              <a:chOff x="10360373" y="4106535"/>
              <a:chExt cx="686845" cy="88706"/>
            </a:xfrm>
          </p:grpSpPr>
          <p:sp>
            <p:nvSpPr>
              <p:cNvPr id="58" name="Oval 573">
                <a:extLst>
                  <a:ext uri="{FF2B5EF4-FFF2-40B4-BE49-F238E27FC236}">
                    <a16:creationId xmlns:a16="http://schemas.microsoft.com/office/drawing/2014/main" id="{22C1869B-BC13-CE14-D2FC-7C815A287946}"/>
                  </a:ext>
                </a:extLst>
              </p:cNvPr>
              <p:cNvSpPr/>
              <p:nvPr/>
            </p:nvSpPr>
            <p:spPr>
              <a:xfrm>
                <a:off x="10360373" y="4122667"/>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59" name="Rectangle 568">
                <a:extLst>
                  <a:ext uri="{FF2B5EF4-FFF2-40B4-BE49-F238E27FC236}">
                    <a16:creationId xmlns:a16="http://schemas.microsoft.com/office/drawing/2014/main" id="{8BE82B19-8A75-E9C5-0001-74DC4C0C8332}"/>
                  </a:ext>
                </a:extLst>
              </p:cNvPr>
              <p:cNvSpPr txBox="1"/>
              <p:nvPr/>
            </p:nvSpPr>
            <p:spPr>
              <a:xfrm>
                <a:off x="10440589" y="4106535"/>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Brisbane</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nvGrpSpPr>
            <p:cNvPr id="60" name="Group 59">
              <a:extLst>
                <a:ext uri="{FF2B5EF4-FFF2-40B4-BE49-F238E27FC236}">
                  <a16:creationId xmlns:a16="http://schemas.microsoft.com/office/drawing/2014/main" id="{4F64FA9D-0C61-0DFF-279A-B7B8667E44A4}"/>
                </a:ext>
              </a:extLst>
            </p:cNvPr>
            <p:cNvGrpSpPr/>
            <p:nvPr/>
          </p:nvGrpSpPr>
          <p:grpSpPr>
            <a:xfrm>
              <a:off x="3728718" y="1375840"/>
              <a:ext cx="606629" cy="88706"/>
              <a:chOff x="10119276" y="4106535"/>
              <a:chExt cx="606629" cy="88706"/>
            </a:xfrm>
          </p:grpSpPr>
          <p:sp>
            <p:nvSpPr>
              <p:cNvPr id="61" name="Oval 573">
                <a:extLst>
                  <a:ext uri="{FF2B5EF4-FFF2-40B4-BE49-F238E27FC236}">
                    <a16:creationId xmlns:a16="http://schemas.microsoft.com/office/drawing/2014/main" id="{56D5ABE6-4DF6-D031-688A-A151BC09DA64}"/>
                  </a:ext>
                </a:extLst>
              </p:cNvPr>
              <p:cNvSpPr/>
              <p:nvPr/>
            </p:nvSpPr>
            <p:spPr>
              <a:xfrm>
                <a:off x="10360373" y="4122667"/>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62" name="Rectangle 568">
                <a:extLst>
                  <a:ext uri="{FF2B5EF4-FFF2-40B4-BE49-F238E27FC236}">
                    <a16:creationId xmlns:a16="http://schemas.microsoft.com/office/drawing/2014/main" id="{298F8406-ECF4-59B9-C130-3D802B22B56D}"/>
                  </a:ext>
                </a:extLst>
              </p:cNvPr>
              <p:cNvSpPr txBox="1"/>
              <p:nvPr/>
            </p:nvSpPr>
            <p:spPr>
              <a:xfrm>
                <a:off x="10119276" y="4106535"/>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Perth</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nvGrpSpPr>
            <p:cNvPr id="63" name="Group 62">
              <a:extLst>
                <a:ext uri="{FF2B5EF4-FFF2-40B4-BE49-F238E27FC236}">
                  <a16:creationId xmlns:a16="http://schemas.microsoft.com/office/drawing/2014/main" id="{F30DBD1F-D9BB-9A9C-D21B-EB0548D9FFAF}"/>
                </a:ext>
              </a:extLst>
            </p:cNvPr>
            <p:cNvGrpSpPr/>
            <p:nvPr/>
          </p:nvGrpSpPr>
          <p:grpSpPr>
            <a:xfrm>
              <a:off x="4397449" y="1416661"/>
              <a:ext cx="606629" cy="88706"/>
              <a:chOff x="10027836" y="4106535"/>
              <a:chExt cx="606629" cy="88706"/>
            </a:xfrm>
          </p:grpSpPr>
          <p:sp>
            <p:nvSpPr>
              <p:cNvPr id="1024" name="Oval 573">
                <a:extLst>
                  <a:ext uri="{FF2B5EF4-FFF2-40B4-BE49-F238E27FC236}">
                    <a16:creationId xmlns:a16="http://schemas.microsoft.com/office/drawing/2014/main" id="{AC1E717D-697E-C902-D45D-404A109C6A2A}"/>
                  </a:ext>
                </a:extLst>
              </p:cNvPr>
              <p:cNvSpPr/>
              <p:nvPr/>
            </p:nvSpPr>
            <p:spPr>
              <a:xfrm>
                <a:off x="10360373" y="4122667"/>
                <a:ext cx="44762" cy="44762"/>
              </a:xfrm>
              <a:prstGeom prst="ellipse">
                <a:avLst/>
              </a:prstGeom>
              <a:solidFill>
                <a:srgbClr val="E64626"/>
              </a:solidFill>
              <a:ln w="12700" cap="flat">
                <a:noFill/>
                <a:miter lim="400000"/>
              </a:ln>
              <a:effectLst/>
            </p:spPr>
            <p:txBody>
              <a:bodyPr wrap="square" lIns="91439" tIns="91439" rIns="91439" bIns="91439" numCol="1" anchor="ctr">
                <a:noAutofit/>
              </a:bodyPr>
              <a:lstStyle/>
              <a:p>
                <a:pPr marL="0" marR="0" lvl="0" indent="0" algn="l" defTabSz="1828800" rtl="0" eaLnBrk="1" fontAlgn="auto" latinLnBrk="0" hangingPunct="1">
                  <a:lnSpc>
                    <a:spcPct val="100000"/>
                  </a:lnSpc>
                  <a:spcBef>
                    <a:spcPts val="0"/>
                  </a:spcBef>
                  <a:spcAft>
                    <a:spcPts val="0"/>
                  </a:spcAft>
                  <a:buClrTx/>
                  <a:buSzTx/>
                  <a:buFontTx/>
                  <a:buNone/>
                  <a:tabLst/>
                  <a:defRPr sz="1600" b="1">
                    <a:solidFill>
                      <a:srgbClr val="4D4D4D"/>
                    </a:solidFill>
                    <a:latin typeface="Helvetica"/>
                    <a:ea typeface="Helvetica"/>
                    <a:cs typeface="Helvetica"/>
                    <a:sym typeface="Helvetica"/>
                  </a:defRPr>
                </a:pPr>
                <a:endParaRPr kumimoji="0" sz="1600" b="1" i="0" u="none" strike="noStrike" kern="1200" cap="none" spc="0" normalizeH="0" baseline="0" noProof="0" dirty="0">
                  <a:ln>
                    <a:noFill/>
                  </a:ln>
                  <a:solidFill>
                    <a:srgbClr val="4D4D4D"/>
                  </a:solidFill>
                  <a:effectLst/>
                  <a:uLnTx/>
                  <a:uFillTx/>
                  <a:cs typeface="Helvetica"/>
                  <a:sym typeface="Helvetica"/>
                </a:endParaRPr>
              </a:p>
            </p:txBody>
          </p:sp>
          <p:sp>
            <p:nvSpPr>
              <p:cNvPr id="1025" name="Rectangle 568">
                <a:extLst>
                  <a:ext uri="{FF2B5EF4-FFF2-40B4-BE49-F238E27FC236}">
                    <a16:creationId xmlns:a16="http://schemas.microsoft.com/office/drawing/2014/main" id="{96BD4157-E1E9-CC65-A1CF-97487044519D}"/>
                  </a:ext>
                </a:extLst>
              </p:cNvPr>
              <p:cNvSpPr txBox="1"/>
              <p:nvPr/>
            </p:nvSpPr>
            <p:spPr>
              <a:xfrm>
                <a:off x="10027836" y="4106535"/>
                <a:ext cx="606629" cy="887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indent="1587" defTabSz="1698625">
                  <a:spcBef>
                    <a:spcPts val="100"/>
                  </a:spcBef>
                  <a:defRPr sz="1600">
                    <a:latin typeface="Heebo Regular Regular"/>
                    <a:ea typeface="Heebo Regular Regular"/>
                    <a:cs typeface="Heebo Regular Regular"/>
                    <a:sym typeface="Heebo Regular Regular"/>
                  </a:defRPr>
                </a:lvl1pPr>
              </a:lstStyle>
              <a:p>
                <a:pPr marL="0" marR="0" lvl="0" indent="1587" algn="l" defTabSz="1698625" rtl="0" eaLnBrk="1" fontAlgn="auto" latinLnBrk="0" hangingPunct="1">
                  <a:lnSpc>
                    <a:spcPct val="100000"/>
                  </a:lnSpc>
                  <a:spcBef>
                    <a:spcPts val="100"/>
                  </a:spcBef>
                  <a:spcAft>
                    <a:spcPts val="0"/>
                  </a:spcAft>
                  <a:buClrTx/>
                  <a:buSzTx/>
                  <a:buFontTx/>
                  <a:buNone/>
                  <a:tabLst/>
                  <a:defRPr/>
                </a:pPr>
                <a:r>
                  <a:rPr kumimoji="0" lang="en-AU" sz="700" b="0" i="0" u="none" strike="noStrike" kern="1200" cap="none" spc="0" normalizeH="0" baseline="0" noProof="0" dirty="0">
                    <a:ln>
                      <a:noFill/>
                    </a:ln>
                    <a:solidFill>
                      <a:srgbClr val="02051C"/>
                    </a:solidFill>
                    <a:effectLst/>
                    <a:uLnTx/>
                    <a:uFillTx/>
                    <a:latin typeface="+mn-lt"/>
                    <a:sym typeface="Heebo Regular Regular"/>
                  </a:rPr>
                  <a:t>Adelaide</a:t>
                </a:r>
                <a:endParaRPr kumimoji="0" sz="700" b="0" i="0" u="none" strike="noStrike" kern="1200" cap="none" spc="0" normalizeH="0" baseline="0" noProof="0" dirty="0">
                  <a:ln>
                    <a:noFill/>
                  </a:ln>
                  <a:solidFill>
                    <a:srgbClr val="02051C"/>
                  </a:solidFill>
                  <a:effectLst/>
                  <a:uLnTx/>
                  <a:uFillTx/>
                  <a:latin typeface="+mn-lt"/>
                  <a:sym typeface="Heebo Regular Regular"/>
                </a:endParaRPr>
              </a:p>
            </p:txBody>
          </p:sp>
        </p:grpSp>
      </p:grpSp>
      <p:sp>
        <p:nvSpPr>
          <p:cNvPr id="1028" name="TextBox 1027">
            <a:extLst>
              <a:ext uri="{FF2B5EF4-FFF2-40B4-BE49-F238E27FC236}">
                <a16:creationId xmlns:a16="http://schemas.microsoft.com/office/drawing/2014/main" id="{F066768F-9169-EB18-4AE1-BA6053E34007}"/>
              </a:ext>
            </a:extLst>
          </p:cNvPr>
          <p:cNvSpPr txBox="1">
            <a:spLocks/>
          </p:cNvSpPr>
          <p:nvPr/>
        </p:nvSpPr>
        <p:spPr>
          <a:xfrm>
            <a:off x="7254471" y="757600"/>
            <a:ext cx="4803856" cy="1292662"/>
          </a:xfrm>
          <a:prstGeom prst="rect">
            <a:avLst/>
          </a:prstGeom>
          <a:noFill/>
        </p:spPr>
        <p:txBody>
          <a:bodyPr wrap="square">
            <a:spAutoFit/>
          </a:bodyPr>
          <a:lstStyle/>
          <a:p>
            <a:pPr marL="173736" marR="0" lvl="0" indent="-173736"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50" dirty="0">
                <a:solidFill>
                  <a:srgbClr val="000A14"/>
                </a:solidFill>
                <a:cs typeface="Calibri" panose="020F0502020204030204" pitchFamily="34" charset="0"/>
              </a:rPr>
              <a:t>AI first organization using AI in services we deliver, our business operations, decision making and embedded in our solutions</a:t>
            </a:r>
          </a:p>
          <a:p>
            <a:pPr marL="173736" marR="0" lvl="0" indent="-173736"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50" dirty="0">
                <a:solidFill>
                  <a:srgbClr val="000A14"/>
                </a:solidFill>
                <a:cs typeface="Calibri" panose="020F0502020204030204" pitchFamily="34" charset="0"/>
              </a:rPr>
              <a:t>Working with clients across Banking, Insurance, Financial Services  Retail, Higher Education and Professional Services</a:t>
            </a:r>
          </a:p>
          <a:p>
            <a:pPr marL="173736" marR="0" lvl="0" indent="-173736"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50" dirty="0">
                <a:solidFill>
                  <a:srgbClr val="000A14"/>
                </a:solidFill>
                <a:cs typeface="Calibri" panose="020F0502020204030204" pitchFamily="34" charset="0"/>
              </a:rPr>
              <a:t>Focus on Customer Engagement, Data, AI &amp; Automation</a:t>
            </a:r>
          </a:p>
          <a:p>
            <a:pPr marL="173736" marR="0" lvl="0" indent="-173736"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50" dirty="0">
                <a:solidFill>
                  <a:srgbClr val="000A14"/>
                </a:solidFill>
                <a:cs typeface="Calibri" panose="020F0502020204030204" pitchFamily="34" charset="0"/>
              </a:rPr>
              <a:t>Presence in all major cities across Australia &amp; New Zealand</a:t>
            </a:r>
          </a:p>
        </p:txBody>
      </p:sp>
      <p:cxnSp>
        <p:nvCxnSpPr>
          <p:cNvPr id="1030" name="Straight Connector 1029">
            <a:extLst>
              <a:ext uri="{FF2B5EF4-FFF2-40B4-BE49-F238E27FC236}">
                <a16:creationId xmlns:a16="http://schemas.microsoft.com/office/drawing/2014/main" id="{AF2EF82E-90C4-ED88-73DE-A38DAB2862D5}"/>
              </a:ext>
            </a:extLst>
          </p:cNvPr>
          <p:cNvCxnSpPr/>
          <p:nvPr/>
        </p:nvCxnSpPr>
        <p:spPr>
          <a:xfrm>
            <a:off x="7104888" y="442733"/>
            <a:ext cx="0" cy="2087679"/>
          </a:xfrm>
          <a:prstGeom prst="line">
            <a:avLst/>
          </a:prstGeom>
        </p:spPr>
        <p:style>
          <a:lnRef idx="1">
            <a:schemeClr val="accent1"/>
          </a:lnRef>
          <a:fillRef idx="0">
            <a:schemeClr val="accent1"/>
          </a:fillRef>
          <a:effectRef idx="0">
            <a:schemeClr val="accent1"/>
          </a:effectRef>
          <a:fontRef idx="minor">
            <a:schemeClr val="tx1"/>
          </a:fontRef>
        </p:style>
      </p:cxnSp>
      <p:grpSp>
        <p:nvGrpSpPr>
          <p:cNvPr id="1031" name="Group 1030">
            <a:extLst>
              <a:ext uri="{FF2B5EF4-FFF2-40B4-BE49-F238E27FC236}">
                <a16:creationId xmlns:a16="http://schemas.microsoft.com/office/drawing/2014/main" id="{2EEDED5B-849E-85CE-71E8-1996C23287C5}"/>
              </a:ext>
            </a:extLst>
          </p:cNvPr>
          <p:cNvGrpSpPr/>
          <p:nvPr/>
        </p:nvGrpSpPr>
        <p:grpSpPr>
          <a:xfrm>
            <a:off x="3550355" y="3280854"/>
            <a:ext cx="8208829" cy="952881"/>
            <a:chOff x="5149696" y="3015796"/>
            <a:chExt cx="6604190" cy="1300924"/>
          </a:xfrm>
        </p:grpSpPr>
        <p:sp>
          <p:nvSpPr>
            <p:cNvPr id="1032" name="Build">
              <a:extLst>
                <a:ext uri="{FF2B5EF4-FFF2-40B4-BE49-F238E27FC236}">
                  <a16:creationId xmlns:a16="http://schemas.microsoft.com/office/drawing/2014/main" id="{A794BD61-D276-9C65-D5B7-45E177E6C1D6}"/>
                </a:ext>
              </a:extLst>
            </p:cNvPr>
            <p:cNvSpPr txBox="1"/>
            <p:nvPr/>
          </p:nvSpPr>
          <p:spPr>
            <a:xfrm>
              <a:off x="5662608" y="3024490"/>
              <a:ext cx="570349" cy="3403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defTabSz="2438338">
                <a:lnSpc>
                  <a:spcPct val="90000"/>
                </a:lnSpc>
                <a:spcBef>
                  <a:spcPts val="0"/>
                </a:spcBef>
                <a:defRPr sz="3600" spc="72">
                  <a:solidFill>
                    <a:srgbClr val="3C2CDA"/>
                  </a:solidFill>
                  <a:latin typeface="Manrope ExtraLight Light"/>
                  <a:ea typeface="Manrope ExtraLight Light"/>
                  <a:cs typeface="Manrope ExtraLight Light"/>
                  <a:sym typeface="Manrope ExtraLight Light"/>
                </a:defRPr>
              </a:lvl1pPr>
            </a:lstStyle>
            <a:p>
              <a:r>
                <a:rPr sz="1800" dirty="0">
                  <a:solidFill>
                    <a:schemeClr val="tx1"/>
                  </a:solidFill>
                  <a:latin typeface="+mn-lt"/>
                  <a:ea typeface="Calibri" panose="020F0502020204030204" pitchFamily="34" charset="0"/>
                  <a:cs typeface="Calibri" panose="020F0502020204030204" pitchFamily="34" charset="0"/>
                </a:rPr>
                <a:t>Build</a:t>
              </a:r>
            </a:p>
          </p:txBody>
        </p:sp>
        <p:sp>
          <p:nvSpPr>
            <p:cNvPr id="1033" name="Design, build, and market digital products, platforms, and applications that create the experiences your customers want">
              <a:extLst>
                <a:ext uri="{FF2B5EF4-FFF2-40B4-BE49-F238E27FC236}">
                  <a16:creationId xmlns:a16="http://schemas.microsoft.com/office/drawing/2014/main" id="{4F61E130-F3B6-39D4-726E-AB62F5E4444C}"/>
                </a:ext>
              </a:extLst>
            </p:cNvPr>
            <p:cNvSpPr txBox="1"/>
            <p:nvPr/>
          </p:nvSpPr>
          <p:spPr>
            <a:xfrm>
              <a:off x="5149696" y="3351326"/>
              <a:ext cx="1596174" cy="9653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1800">
                  <a:solidFill>
                    <a:srgbClr val="061117"/>
                  </a:solidFill>
                  <a:latin typeface="Heebo Regular Light"/>
                  <a:ea typeface="Heebo Regular Light"/>
                  <a:cs typeface="Heebo Regular Light"/>
                  <a:sym typeface="Heebo Regular Light"/>
                </a:defRPr>
              </a:lvl1pPr>
            </a:lstStyle>
            <a:p>
              <a:pPr algn="l">
                <a:lnSpc>
                  <a:spcPts val="1400"/>
                </a:lnSpc>
              </a:pPr>
              <a:r>
                <a:rPr sz="1000" dirty="0">
                  <a:solidFill>
                    <a:schemeClr val="tx1"/>
                  </a:solidFill>
                  <a:latin typeface="+mn-lt"/>
                  <a:ea typeface="Calibri" panose="020F0502020204030204" pitchFamily="34" charset="0"/>
                  <a:cs typeface="Calibri" panose="020F0502020204030204" pitchFamily="34" charset="0"/>
                </a:rPr>
                <a:t>Design, build, and market digital products, platforms, and applications that create the experiences your customers want</a:t>
              </a:r>
            </a:p>
          </p:txBody>
        </p:sp>
        <p:sp>
          <p:nvSpPr>
            <p:cNvPr id="1034" name="Transform">
              <a:extLst>
                <a:ext uri="{FF2B5EF4-FFF2-40B4-BE49-F238E27FC236}">
                  <a16:creationId xmlns:a16="http://schemas.microsoft.com/office/drawing/2014/main" id="{44A53346-1FFA-FEC5-F428-EF70BBB3F149}"/>
                </a:ext>
              </a:extLst>
            </p:cNvPr>
            <p:cNvSpPr txBox="1"/>
            <p:nvPr/>
          </p:nvSpPr>
          <p:spPr>
            <a:xfrm>
              <a:off x="8830064" y="3016978"/>
              <a:ext cx="1189172" cy="3403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defTabSz="2438338">
                <a:lnSpc>
                  <a:spcPct val="90000"/>
                </a:lnSpc>
                <a:spcBef>
                  <a:spcPts val="0"/>
                </a:spcBef>
                <a:defRPr sz="3600" spc="72">
                  <a:solidFill>
                    <a:srgbClr val="3C2CDA"/>
                  </a:solidFill>
                  <a:latin typeface="Manrope ExtraLight Light"/>
                  <a:ea typeface="Manrope ExtraLight Light"/>
                  <a:cs typeface="Manrope ExtraLight Light"/>
                  <a:sym typeface="Manrope ExtraLight Light"/>
                </a:defRPr>
              </a:lvl1pPr>
            </a:lstStyle>
            <a:p>
              <a:r>
                <a:rPr sz="1800" dirty="0">
                  <a:solidFill>
                    <a:schemeClr val="tx1"/>
                  </a:solidFill>
                  <a:latin typeface="+mn-lt"/>
                  <a:ea typeface="Calibri" panose="020F0502020204030204" pitchFamily="34" charset="0"/>
                  <a:cs typeface="Calibri" panose="020F0502020204030204" pitchFamily="34" charset="0"/>
                </a:rPr>
                <a:t>Transform</a:t>
              </a:r>
            </a:p>
          </p:txBody>
        </p:sp>
        <p:sp>
          <p:nvSpPr>
            <p:cNvPr id="1035" name="Achieve digital transformation and modernization at speed and scale with actionable insights">
              <a:extLst>
                <a:ext uri="{FF2B5EF4-FFF2-40B4-BE49-F238E27FC236}">
                  <a16:creationId xmlns:a16="http://schemas.microsoft.com/office/drawing/2014/main" id="{F710DBC7-0E1B-1490-0E47-2B3CCF840578}"/>
                </a:ext>
              </a:extLst>
            </p:cNvPr>
            <p:cNvSpPr txBox="1"/>
            <p:nvPr/>
          </p:nvSpPr>
          <p:spPr>
            <a:xfrm>
              <a:off x="8696389" y="3351326"/>
              <a:ext cx="1456524" cy="7202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1800">
                  <a:solidFill>
                    <a:srgbClr val="061117"/>
                  </a:solidFill>
                  <a:latin typeface="Heebo Regular Light"/>
                  <a:ea typeface="Heebo Regular Light"/>
                  <a:cs typeface="Heebo Regular Light"/>
                  <a:sym typeface="Heebo Regular Light"/>
                </a:defRPr>
              </a:lvl1pPr>
            </a:lstStyle>
            <a:p>
              <a:pPr algn="l">
                <a:lnSpc>
                  <a:spcPts val="1400"/>
                </a:lnSpc>
              </a:pPr>
              <a:r>
                <a:rPr sz="1000" dirty="0">
                  <a:solidFill>
                    <a:schemeClr val="tx1"/>
                  </a:solidFill>
                  <a:latin typeface="+mn-lt"/>
                  <a:ea typeface="Calibri" panose="020F0502020204030204" pitchFamily="34" charset="0"/>
                  <a:cs typeface="Calibri" panose="020F0502020204030204" pitchFamily="34" charset="0"/>
                </a:rPr>
                <a:t>Achieve digital transformation and modernization at speed and scale with actionable insights</a:t>
              </a:r>
            </a:p>
          </p:txBody>
        </p:sp>
        <p:sp>
          <p:nvSpPr>
            <p:cNvPr id="1036" name="Run">
              <a:extLst>
                <a:ext uri="{FF2B5EF4-FFF2-40B4-BE49-F238E27FC236}">
                  <a16:creationId xmlns:a16="http://schemas.microsoft.com/office/drawing/2014/main" id="{FAB8D85F-E6A4-ACC7-617C-769A0FDE24E4}"/>
                </a:ext>
              </a:extLst>
            </p:cNvPr>
            <p:cNvSpPr txBox="1"/>
            <p:nvPr/>
          </p:nvSpPr>
          <p:spPr>
            <a:xfrm>
              <a:off x="10847790" y="3043567"/>
              <a:ext cx="502952" cy="3403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defTabSz="2438338">
                <a:lnSpc>
                  <a:spcPct val="90000"/>
                </a:lnSpc>
                <a:spcBef>
                  <a:spcPts val="0"/>
                </a:spcBef>
                <a:defRPr sz="3600" spc="72">
                  <a:solidFill>
                    <a:srgbClr val="3C2CDA"/>
                  </a:solidFill>
                  <a:latin typeface="Manrope ExtraLight Light"/>
                  <a:ea typeface="Manrope ExtraLight Light"/>
                  <a:cs typeface="Manrope ExtraLight Light"/>
                  <a:sym typeface="Manrope ExtraLight Light"/>
                </a:defRPr>
              </a:lvl1pPr>
            </a:lstStyle>
            <a:p>
              <a:r>
                <a:rPr sz="1800" dirty="0">
                  <a:solidFill>
                    <a:schemeClr val="tx1"/>
                  </a:solidFill>
                  <a:latin typeface="+mn-lt"/>
                  <a:ea typeface="Calibri" panose="020F0502020204030204" pitchFamily="34" charset="0"/>
                  <a:cs typeface="Calibri" panose="020F0502020204030204" pitchFamily="34" charset="0"/>
                </a:rPr>
                <a:t>Run</a:t>
              </a:r>
            </a:p>
          </p:txBody>
        </p:sp>
        <p:sp>
          <p:nvSpPr>
            <p:cNvPr id="1037" name="Boost efficiency and lower costs across your IT landscape">
              <a:extLst>
                <a:ext uri="{FF2B5EF4-FFF2-40B4-BE49-F238E27FC236}">
                  <a16:creationId xmlns:a16="http://schemas.microsoft.com/office/drawing/2014/main" id="{54538812-96C5-1F42-F47C-B1E5A7D64906}"/>
                </a:ext>
              </a:extLst>
            </p:cNvPr>
            <p:cNvSpPr txBox="1"/>
            <p:nvPr/>
          </p:nvSpPr>
          <p:spPr>
            <a:xfrm>
              <a:off x="10444646" y="3351326"/>
              <a:ext cx="1309240" cy="4751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800">
                  <a:solidFill>
                    <a:srgbClr val="061117"/>
                  </a:solidFill>
                  <a:latin typeface="Heebo Regular Light"/>
                  <a:ea typeface="Heebo Regular Light"/>
                  <a:cs typeface="Heebo Regular Light"/>
                  <a:sym typeface="Heebo Regular Light"/>
                </a:defRPr>
              </a:lvl1pPr>
            </a:lstStyle>
            <a:p>
              <a:pPr algn="l">
                <a:lnSpc>
                  <a:spcPts val="1400"/>
                </a:lnSpc>
              </a:pPr>
              <a:r>
                <a:rPr sz="1000" dirty="0">
                  <a:solidFill>
                    <a:schemeClr val="tx1"/>
                  </a:solidFill>
                  <a:latin typeface="+mn-lt"/>
                  <a:ea typeface="Calibri" panose="020F0502020204030204" pitchFamily="34" charset="0"/>
                  <a:cs typeface="Calibri" panose="020F0502020204030204" pitchFamily="34" charset="0"/>
                </a:rPr>
                <a:t>Boost efficiency and lower costs across your IT landscape</a:t>
              </a:r>
            </a:p>
          </p:txBody>
        </p:sp>
        <p:sp>
          <p:nvSpPr>
            <p:cNvPr id="1038" name="Optimize">
              <a:extLst>
                <a:ext uri="{FF2B5EF4-FFF2-40B4-BE49-F238E27FC236}">
                  <a16:creationId xmlns:a16="http://schemas.microsoft.com/office/drawing/2014/main" id="{63B1933A-569A-93DD-D078-D75D25D12F0C}"/>
                </a:ext>
              </a:extLst>
            </p:cNvPr>
            <p:cNvSpPr txBox="1"/>
            <p:nvPr/>
          </p:nvSpPr>
          <p:spPr>
            <a:xfrm>
              <a:off x="7081578" y="3015796"/>
              <a:ext cx="1030860" cy="3403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defTabSz="2438338">
                <a:lnSpc>
                  <a:spcPct val="90000"/>
                </a:lnSpc>
                <a:spcBef>
                  <a:spcPts val="0"/>
                </a:spcBef>
                <a:defRPr sz="3600" spc="72">
                  <a:solidFill>
                    <a:srgbClr val="3C2CDA"/>
                  </a:solidFill>
                  <a:latin typeface="Manrope ExtraLight Light"/>
                  <a:ea typeface="Manrope ExtraLight Light"/>
                  <a:cs typeface="Manrope ExtraLight Light"/>
                  <a:sym typeface="Manrope ExtraLight Light"/>
                </a:defRPr>
              </a:lvl1pPr>
            </a:lstStyle>
            <a:p>
              <a:r>
                <a:rPr sz="1800" dirty="0">
                  <a:solidFill>
                    <a:schemeClr val="tx1"/>
                  </a:solidFill>
                  <a:latin typeface="+mn-lt"/>
                  <a:ea typeface="Calibri" panose="020F0502020204030204" pitchFamily="34" charset="0"/>
                  <a:cs typeface="Calibri" panose="020F0502020204030204" pitchFamily="34" charset="0"/>
                </a:rPr>
                <a:t>Optimize</a:t>
              </a:r>
            </a:p>
          </p:txBody>
        </p:sp>
        <p:sp>
          <p:nvSpPr>
            <p:cNvPr id="1039" name="Enhance business outcomes through process optimization">
              <a:extLst>
                <a:ext uri="{FF2B5EF4-FFF2-40B4-BE49-F238E27FC236}">
                  <a16:creationId xmlns:a16="http://schemas.microsoft.com/office/drawing/2014/main" id="{E7FA6183-8F4A-AE59-C295-80D376146D1D}"/>
                </a:ext>
              </a:extLst>
            </p:cNvPr>
            <p:cNvSpPr txBox="1"/>
            <p:nvPr/>
          </p:nvSpPr>
          <p:spPr>
            <a:xfrm>
              <a:off x="7060597" y="3351326"/>
              <a:ext cx="1273691" cy="4751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1800">
                  <a:solidFill>
                    <a:srgbClr val="061117"/>
                  </a:solidFill>
                  <a:latin typeface="Heebo Regular Light"/>
                  <a:ea typeface="Heebo Regular Light"/>
                  <a:cs typeface="Heebo Regular Light"/>
                  <a:sym typeface="Heebo Regular Light"/>
                </a:defRPr>
              </a:lvl1pPr>
            </a:lstStyle>
            <a:p>
              <a:pPr algn="l">
                <a:lnSpc>
                  <a:spcPts val="1400"/>
                </a:lnSpc>
              </a:pPr>
              <a:r>
                <a:rPr sz="1000" dirty="0">
                  <a:solidFill>
                    <a:schemeClr val="tx1"/>
                  </a:solidFill>
                  <a:latin typeface="+mn-lt"/>
                  <a:ea typeface="Calibri" panose="020F0502020204030204" pitchFamily="34" charset="0"/>
                  <a:cs typeface="Calibri" panose="020F0502020204030204" pitchFamily="34" charset="0"/>
                </a:rPr>
                <a:t>Enhance business outcomes through process optimization</a:t>
              </a:r>
            </a:p>
          </p:txBody>
        </p:sp>
      </p:grpSp>
      <p:cxnSp>
        <p:nvCxnSpPr>
          <p:cNvPr id="1042" name="Straight Connector 1041">
            <a:extLst>
              <a:ext uri="{FF2B5EF4-FFF2-40B4-BE49-F238E27FC236}">
                <a16:creationId xmlns:a16="http://schemas.microsoft.com/office/drawing/2014/main" id="{F38BE0B3-A51E-B875-45CA-C670AE1B07AA}"/>
              </a:ext>
            </a:extLst>
          </p:cNvPr>
          <p:cNvCxnSpPr>
            <a:cxnSpLocks/>
          </p:cNvCxnSpPr>
          <p:nvPr/>
        </p:nvCxnSpPr>
        <p:spPr>
          <a:xfrm>
            <a:off x="5649921" y="3496983"/>
            <a:ext cx="0" cy="589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5BADA0D2-48B5-77A4-CF78-7DAF026B3893}"/>
              </a:ext>
            </a:extLst>
          </p:cNvPr>
          <p:cNvCxnSpPr>
            <a:cxnSpLocks/>
          </p:cNvCxnSpPr>
          <p:nvPr/>
        </p:nvCxnSpPr>
        <p:spPr>
          <a:xfrm>
            <a:off x="7673959" y="3496983"/>
            <a:ext cx="0" cy="589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06E8327D-089D-15C1-3D58-3C0A43CB1753}"/>
              </a:ext>
            </a:extLst>
          </p:cNvPr>
          <p:cNvCxnSpPr>
            <a:cxnSpLocks/>
          </p:cNvCxnSpPr>
          <p:nvPr/>
        </p:nvCxnSpPr>
        <p:spPr>
          <a:xfrm>
            <a:off x="9993487" y="3496983"/>
            <a:ext cx="0" cy="589327"/>
          </a:xfrm>
          <a:prstGeom prst="line">
            <a:avLst/>
          </a:prstGeom>
        </p:spPr>
        <p:style>
          <a:lnRef idx="1">
            <a:schemeClr val="accent1"/>
          </a:lnRef>
          <a:fillRef idx="0">
            <a:schemeClr val="accent1"/>
          </a:fillRef>
          <a:effectRef idx="0">
            <a:schemeClr val="accent1"/>
          </a:effectRef>
          <a:fontRef idx="minor">
            <a:schemeClr val="tx1"/>
          </a:fontRef>
        </p:style>
      </p:cxnSp>
      <p:pic>
        <p:nvPicPr>
          <p:cNvPr id="1047" name="Graphic 1046">
            <a:extLst>
              <a:ext uri="{FF2B5EF4-FFF2-40B4-BE49-F238E27FC236}">
                <a16:creationId xmlns:a16="http://schemas.microsoft.com/office/drawing/2014/main" id="{13423B07-F5B7-714B-A4F7-C114FDB417BC}"/>
              </a:ext>
            </a:extLst>
          </p:cNvPr>
          <p:cNvPicPr>
            <a:picLocks noChangeAspect="1"/>
          </p:cNvPicPr>
          <p:nvPr/>
        </p:nvPicPr>
        <p:blipFill>
          <a:blip r:embed="rId9">
            <a:lum bright="100000"/>
            <a:extLst>
              <a:ext uri="{96DAC541-7B7A-43D3-8B79-37D633B846F1}">
                <asvg:svgBlip xmlns:asvg="http://schemas.microsoft.com/office/drawing/2016/SVG/main" r:embed="rId10"/>
              </a:ext>
            </a:extLst>
          </a:blip>
          <a:stretch>
            <a:fillRect/>
          </a:stretch>
        </p:blipFill>
        <p:spPr>
          <a:xfrm>
            <a:off x="780027" y="321047"/>
            <a:ext cx="1679709" cy="225465"/>
          </a:xfrm>
          <a:prstGeom prst="rect">
            <a:avLst/>
          </a:prstGeom>
        </p:spPr>
      </p:pic>
    </p:spTree>
    <p:extLst>
      <p:ext uri="{BB962C8B-B14F-4D97-AF65-F5344CB8AC3E}">
        <p14:creationId xmlns:p14="http://schemas.microsoft.com/office/powerpoint/2010/main" val="1990404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6" descr="QUT Logo PNG Transparent &amp; SVG Vector - Freebie Supply">
            <a:extLst>
              <a:ext uri="{FF2B5EF4-FFF2-40B4-BE49-F238E27FC236}">
                <a16:creationId xmlns:a16="http://schemas.microsoft.com/office/drawing/2014/main" id="{7B5DFA2C-1753-6BA4-1724-BD23C063085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3903" t="34201" r="3903" b="34067"/>
          <a:stretch/>
        </p:blipFill>
        <p:spPr bwMode="auto">
          <a:xfrm>
            <a:off x="9153821" y="1335033"/>
            <a:ext cx="1035053" cy="32612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a:extLst>
              <a:ext uri="{FF2B5EF4-FFF2-40B4-BE49-F238E27FC236}">
                <a16:creationId xmlns:a16="http://schemas.microsoft.com/office/drawing/2014/main" id="{0073F244-7A42-2D7C-1AF0-2343776115D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55191" y="1340512"/>
            <a:ext cx="1009192" cy="31517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0" descr="University of Adelaide Logo Download Vector">
            <a:extLst>
              <a:ext uri="{FF2B5EF4-FFF2-40B4-BE49-F238E27FC236}">
                <a16:creationId xmlns:a16="http://schemas.microsoft.com/office/drawing/2014/main" id="{A153F6F5-A9D6-4F9C-EEEF-E4658D96DBDA}"/>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6261" t="17263" r="3474" b="16700"/>
          <a:stretch/>
        </p:blipFill>
        <p:spPr bwMode="auto">
          <a:xfrm>
            <a:off x="3818849" y="1250017"/>
            <a:ext cx="740837" cy="49616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2" descr="Griffith University">
            <a:extLst>
              <a:ext uri="{FF2B5EF4-FFF2-40B4-BE49-F238E27FC236}">
                <a16:creationId xmlns:a16="http://schemas.microsoft.com/office/drawing/2014/main" id="{8657CE0A-99E5-0D9F-A24F-D8936CFE7A6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534394" y="1320696"/>
            <a:ext cx="1014943" cy="35480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Till Payments | Making every payment possible">
            <a:extLst>
              <a:ext uri="{FF2B5EF4-FFF2-40B4-BE49-F238E27FC236}">
                <a16:creationId xmlns:a16="http://schemas.microsoft.com/office/drawing/2014/main" id="{470D4B8C-5093-9D9D-B324-058EDD32164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366623" y="4835513"/>
            <a:ext cx="854005" cy="34463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Global IT Factory - Home | Facebook">
            <a:extLst>
              <a:ext uri="{FF2B5EF4-FFF2-40B4-BE49-F238E27FC236}">
                <a16:creationId xmlns:a16="http://schemas.microsoft.com/office/drawing/2014/main" id="{46B0241B-5197-E7DB-348C-1F47AEDC037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818849" y="4759464"/>
            <a:ext cx="525474" cy="481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4" descr="Transport for NSW - Wikipedia">
            <a:extLst>
              <a:ext uri="{FF2B5EF4-FFF2-40B4-BE49-F238E27FC236}">
                <a16:creationId xmlns:a16="http://schemas.microsoft.com/office/drawing/2014/main" id="{C35D5D31-BD9B-F9BE-F2BD-7C55366082A0}"/>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122601" y="4811434"/>
            <a:ext cx="1014943" cy="35225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36" descr="Home | eftpos Australia">
            <a:extLst>
              <a:ext uri="{FF2B5EF4-FFF2-40B4-BE49-F238E27FC236}">
                <a16:creationId xmlns:a16="http://schemas.microsoft.com/office/drawing/2014/main" id="{3054F4B3-EC5E-0600-A351-9C8A4BCC9B33}"/>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6640" t="12595" r="-399" b="13509"/>
          <a:stretch/>
        </p:blipFill>
        <p:spPr bwMode="auto">
          <a:xfrm>
            <a:off x="3713171" y="2036122"/>
            <a:ext cx="952193" cy="30670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2" descr="Flexible Loan Solutions Designed to Fit You | Pepper Money">
            <a:extLst>
              <a:ext uri="{FF2B5EF4-FFF2-40B4-BE49-F238E27FC236}">
                <a16:creationId xmlns:a16="http://schemas.microsoft.com/office/drawing/2014/main" id="{511ADB41-FE4B-0EFB-4A04-C0326271B6F5}"/>
              </a:ext>
            </a:extLst>
          </p:cNvPr>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l="1" t="28149" r="2027" b="23383"/>
          <a:stretch/>
        </p:blipFill>
        <p:spPr bwMode="auto">
          <a:xfrm>
            <a:off x="5122601" y="1991479"/>
            <a:ext cx="874372" cy="39598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8">
            <a:extLst>
              <a:ext uri="{FF2B5EF4-FFF2-40B4-BE49-F238E27FC236}">
                <a16:creationId xmlns:a16="http://schemas.microsoft.com/office/drawing/2014/main" id="{81BA9C9C-516A-E8E5-1283-F440F9CC876D}"/>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6427442" y="2076922"/>
            <a:ext cx="1005730" cy="22510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resto Users - Ahana">
            <a:extLst>
              <a:ext uri="{FF2B5EF4-FFF2-40B4-BE49-F238E27FC236}">
                <a16:creationId xmlns:a16="http://schemas.microsoft.com/office/drawing/2014/main" id="{13D1D0EC-19C1-96E5-724A-F57002297141}"/>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9205421" y="1999623"/>
            <a:ext cx="931852" cy="37970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0" descr="Isoton">
            <a:extLst>
              <a:ext uri="{FF2B5EF4-FFF2-40B4-BE49-F238E27FC236}">
                <a16:creationId xmlns:a16="http://schemas.microsoft.com/office/drawing/2014/main" id="{008419D4-063D-FD72-BB59-63820D0F7EA6}"/>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l="9548" t="21082" r="10232" b="24594"/>
          <a:stretch/>
        </p:blipFill>
        <p:spPr bwMode="auto">
          <a:xfrm>
            <a:off x="10544806" y="2064643"/>
            <a:ext cx="994118" cy="24966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6">
            <a:extLst>
              <a:ext uri="{FF2B5EF4-FFF2-40B4-BE49-F238E27FC236}">
                <a16:creationId xmlns:a16="http://schemas.microsoft.com/office/drawing/2014/main" id="{8C07A9A3-EF7E-3AC1-8105-9225CBD971AA}"/>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t="17021" b="19000"/>
          <a:stretch/>
        </p:blipFill>
        <p:spPr bwMode="auto">
          <a:xfrm>
            <a:off x="6459706" y="4864293"/>
            <a:ext cx="1021383" cy="331898"/>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2" descr="CPA Australia – Logos Download">
            <a:extLst>
              <a:ext uri="{FF2B5EF4-FFF2-40B4-BE49-F238E27FC236}">
                <a16:creationId xmlns:a16="http://schemas.microsoft.com/office/drawing/2014/main" id="{1F48374D-DB50-B67B-8415-1A9E1A0EFEEF}"/>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762265" y="2710694"/>
            <a:ext cx="854004" cy="34031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descr="Woolworths Logo PNG Transparent &amp; SVG Vector - Freebie Supply">
            <a:extLst>
              <a:ext uri="{FF2B5EF4-FFF2-40B4-BE49-F238E27FC236}">
                <a16:creationId xmlns:a16="http://schemas.microsoft.com/office/drawing/2014/main" id="{C2F64E75-3551-176E-6326-F7B41388BFB1}"/>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l="11258" t="36650" r="11258" b="35997"/>
          <a:stretch/>
        </p:blipFill>
        <p:spPr bwMode="auto">
          <a:xfrm>
            <a:off x="7807292" y="2761382"/>
            <a:ext cx="987070" cy="23893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4">
            <a:extLst>
              <a:ext uri="{FF2B5EF4-FFF2-40B4-BE49-F238E27FC236}">
                <a16:creationId xmlns:a16="http://schemas.microsoft.com/office/drawing/2014/main" id="{70058AEB-F948-A321-64B5-A324C02D7765}"/>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6731152" y="2678847"/>
            <a:ext cx="398311" cy="404005"/>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0" descr="ORDRE">
            <a:extLst>
              <a:ext uri="{FF2B5EF4-FFF2-40B4-BE49-F238E27FC236}">
                <a16:creationId xmlns:a16="http://schemas.microsoft.com/office/drawing/2014/main" id="{F2BC26EB-9BF0-DCD8-2207-09FCA3FD0298}"/>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5089016" y="2811587"/>
            <a:ext cx="941543" cy="138524"/>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a:extLst>
              <a:ext uri="{FF2B5EF4-FFF2-40B4-BE49-F238E27FC236}">
                <a16:creationId xmlns:a16="http://schemas.microsoft.com/office/drawing/2014/main" id="{BAA917C9-D349-19B6-CA2C-508848B1EB6A}"/>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9187446" y="2766853"/>
            <a:ext cx="967802" cy="227992"/>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4" descr="eric insurance | ProductReview.com.au">
            <a:extLst>
              <a:ext uri="{FF2B5EF4-FFF2-40B4-BE49-F238E27FC236}">
                <a16:creationId xmlns:a16="http://schemas.microsoft.com/office/drawing/2014/main" id="{6D8E92C6-588B-F3AA-F1A8-E1CCCCF45F29}"/>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3783093" y="3376715"/>
            <a:ext cx="812349" cy="39102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6" descr="Guild Insurance | Guild Group">
            <a:extLst>
              <a:ext uri="{FF2B5EF4-FFF2-40B4-BE49-F238E27FC236}">
                <a16:creationId xmlns:a16="http://schemas.microsoft.com/office/drawing/2014/main" id="{8F857062-058E-4D36-6B4A-68A8754915DD}"/>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5098971" y="3428687"/>
            <a:ext cx="921632" cy="287077"/>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30">
            <a:extLst>
              <a:ext uri="{FF2B5EF4-FFF2-40B4-BE49-F238E27FC236}">
                <a16:creationId xmlns:a16="http://schemas.microsoft.com/office/drawing/2014/main" id="{7DE2EC94-FF43-D3FC-D1EC-1DD1A8D35B04}"/>
              </a:ext>
            </a:extLst>
          </p:cNvPr>
          <p:cNvPicPr>
            <a:picLocks noChangeAspect="1" noChangeArrowheads="1"/>
          </p:cNvPicPr>
          <p:nvPr/>
        </p:nvPicPr>
        <p:blipFill rotWithShape="1">
          <a:blip r:embed="rId22" cstate="screen">
            <a:extLst>
              <a:ext uri="{28A0092B-C50C-407E-A947-70E740481C1C}">
                <a14:useLocalDpi xmlns:a14="http://schemas.microsoft.com/office/drawing/2010/main"/>
              </a:ext>
            </a:extLst>
          </a:blip>
          <a:srcRect l="-1" t="20580" r="-485" b="20735"/>
          <a:stretch/>
        </p:blipFill>
        <p:spPr bwMode="auto">
          <a:xfrm>
            <a:off x="7890975" y="4864293"/>
            <a:ext cx="967802" cy="28707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Bupa closely tracks global employee engagement with Glint during COVID-19  crisis">
            <a:extLst>
              <a:ext uri="{FF2B5EF4-FFF2-40B4-BE49-F238E27FC236}">
                <a16:creationId xmlns:a16="http://schemas.microsoft.com/office/drawing/2014/main" id="{79380B40-8B46-C80A-580E-D22906189833}"/>
              </a:ext>
            </a:extLst>
          </p:cNvPr>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10711558" y="2627430"/>
            <a:ext cx="660614" cy="441127"/>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8" descr="Immunify.Life - Data For Life">
            <a:extLst>
              <a:ext uri="{FF2B5EF4-FFF2-40B4-BE49-F238E27FC236}">
                <a16:creationId xmlns:a16="http://schemas.microsoft.com/office/drawing/2014/main" id="{8911DB7C-5164-6A0F-EF5C-93C5248A1418}"/>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7814624" y="3372931"/>
            <a:ext cx="972407" cy="39858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32" descr="SAI Global - MeetFrank Blog">
            <a:extLst>
              <a:ext uri="{FF2B5EF4-FFF2-40B4-BE49-F238E27FC236}">
                <a16:creationId xmlns:a16="http://schemas.microsoft.com/office/drawing/2014/main" id="{8D7160F9-20F2-005B-8B1E-1408E69D46E6}"/>
              </a:ext>
            </a:extLst>
          </p:cNvPr>
          <p:cNvPicPr>
            <a:picLocks noChangeAspect="1" noChangeArrowheads="1"/>
          </p:cNvPicPr>
          <p:nvPr/>
        </p:nvPicPr>
        <p:blipFill rotWithShape="1">
          <a:blip r:embed="rId25" cstate="screen">
            <a:extLst>
              <a:ext uri="{28A0092B-C50C-407E-A947-70E740481C1C}">
                <a14:useLocalDpi xmlns:a14="http://schemas.microsoft.com/office/drawing/2010/main"/>
              </a:ext>
            </a:extLst>
          </a:blip>
          <a:srcRect l="1419" t="33992" r="-29" b="36080"/>
          <a:stretch/>
        </p:blipFill>
        <p:spPr bwMode="auto">
          <a:xfrm>
            <a:off x="9162771" y="3484159"/>
            <a:ext cx="1017152" cy="176132"/>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MMSG Employee Code of Conduct - SUMMARY">
            <a:extLst>
              <a:ext uri="{FF2B5EF4-FFF2-40B4-BE49-F238E27FC236}">
                <a16:creationId xmlns:a16="http://schemas.microsoft.com/office/drawing/2014/main" id="{8BDD80C8-8F73-2D1A-69E1-F3FA5D28FD9C}"/>
              </a:ext>
            </a:extLst>
          </p:cNvPr>
          <p:cNvPicPr>
            <a:picLocks noChangeAspect="1" noChangeArrowheads="1"/>
          </p:cNvPicPr>
          <p:nvPr/>
        </p:nvPicPr>
        <p:blipFill>
          <a:blip r:embed="rId26" cstate="screen">
            <a:extLst>
              <a:ext uri="{28A0092B-C50C-407E-A947-70E740481C1C}">
                <a14:useLocalDpi xmlns:a14="http://schemas.microsoft.com/office/drawing/2010/main"/>
              </a:ext>
            </a:extLst>
          </a:blip>
          <a:srcRect/>
          <a:stretch>
            <a:fillRect/>
          </a:stretch>
        </p:blipFill>
        <p:spPr bwMode="auto">
          <a:xfrm>
            <a:off x="6343140" y="3525640"/>
            <a:ext cx="1174334" cy="93170"/>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58" descr="Download Subsea 7 Logo in SVG Vector or PNG File Format - Logo.wine">
            <a:extLst>
              <a:ext uri="{FF2B5EF4-FFF2-40B4-BE49-F238E27FC236}">
                <a16:creationId xmlns:a16="http://schemas.microsoft.com/office/drawing/2014/main" id="{90D4448A-9232-1028-87E1-F205D353AB6F}"/>
              </a:ext>
            </a:extLst>
          </p:cNvPr>
          <p:cNvPicPr>
            <a:picLocks noChangeAspect="1" noChangeArrowheads="1"/>
          </p:cNvPicPr>
          <p:nvPr/>
        </p:nvPicPr>
        <p:blipFill rotWithShape="1">
          <a:blip r:embed="rId27" cstate="screen">
            <a:extLst>
              <a:ext uri="{28A0092B-C50C-407E-A947-70E740481C1C}">
                <a14:useLocalDpi xmlns:a14="http://schemas.microsoft.com/office/drawing/2010/main"/>
              </a:ext>
            </a:extLst>
          </a:blip>
          <a:srcRect l="7898" t="35719" r="8425" b="35547"/>
          <a:stretch/>
        </p:blipFill>
        <p:spPr bwMode="auto">
          <a:xfrm>
            <a:off x="5084290" y="4134955"/>
            <a:ext cx="950994" cy="257288"/>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0" descr="Inchcape Shipping Services – Connect to a Smoother, Smarter Ocean | In">
            <a:extLst>
              <a:ext uri="{FF2B5EF4-FFF2-40B4-BE49-F238E27FC236}">
                <a16:creationId xmlns:a16="http://schemas.microsoft.com/office/drawing/2014/main" id="{1300F12A-54A7-EAEA-E59C-BFF522EE0F3B}"/>
              </a:ext>
            </a:extLst>
          </p:cNvPr>
          <p:cNvPicPr>
            <a:picLocks noChangeAspect="1" noChangeArrowheads="1"/>
          </p:cNvPicPr>
          <p:nvPr/>
        </p:nvPicPr>
        <p:blipFill>
          <a:blip r:embed="rId28" cstate="screen">
            <a:extLst>
              <a:ext uri="{28A0092B-C50C-407E-A947-70E740481C1C}">
                <a14:useLocalDpi xmlns:a14="http://schemas.microsoft.com/office/drawing/2010/main"/>
              </a:ext>
            </a:extLst>
          </a:blip>
          <a:srcRect/>
          <a:stretch>
            <a:fillRect/>
          </a:stretch>
        </p:blipFill>
        <p:spPr bwMode="auto">
          <a:xfrm>
            <a:off x="10833725" y="3381685"/>
            <a:ext cx="416280" cy="38108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2">
            <a:extLst>
              <a:ext uri="{FF2B5EF4-FFF2-40B4-BE49-F238E27FC236}">
                <a16:creationId xmlns:a16="http://schemas.microsoft.com/office/drawing/2014/main" id="{72EEA58A-865D-BC10-EC29-3900C0D55440}"/>
              </a:ext>
            </a:extLst>
          </p:cNvPr>
          <p:cNvPicPr>
            <a:picLocks noChangeAspect="1" noChangeArrowheads="1"/>
          </p:cNvPicPr>
          <p:nvPr/>
        </p:nvPicPr>
        <p:blipFill>
          <a:blip r:embed="rId29" cstate="screen">
            <a:extLst>
              <a:ext uri="{28A0092B-C50C-407E-A947-70E740481C1C}">
                <a14:useLocalDpi xmlns:a14="http://schemas.microsoft.com/office/drawing/2010/main"/>
              </a:ext>
            </a:extLst>
          </a:blip>
          <a:srcRect/>
          <a:stretch>
            <a:fillRect/>
          </a:stretch>
        </p:blipFill>
        <p:spPr bwMode="auto">
          <a:xfrm>
            <a:off x="3792995" y="4145447"/>
            <a:ext cx="792545" cy="236305"/>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64" descr="Virgin Active | MyLocker">
            <a:extLst>
              <a:ext uri="{FF2B5EF4-FFF2-40B4-BE49-F238E27FC236}">
                <a16:creationId xmlns:a16="http://schemas.microsoft.com/office/drawing/2014/main" id="{C425EE0F-6E57-A49E-8718-C2DDA474464F}"/>
              </a:ext>
            </a:extLst>
          </p:cNvPr>
          <p:cNvPicPr>
            <a:picLocks noChangeAspect="1" noChangeArrowheads="1"/>
          </p:cNvPicPr>
          <p:nvPr/>
        </p:nvPicPr>
        <p:blipFill>
          <a:blip r:embed="rId30" cstate="screen">
            <a:extLst>
              <a:ext uri="{28A0092B-C50C-407E-A947-70E740481C1C}">
                <a14:useLocalDpi xmlns:a14="http://schemas.microsoft.com/office/drawing/2010/main"/>
              </a:ext>
            </a:extLst>
          </a:blip>
          <a:srcRect/>
          <a:stretch>
            <a:fillRect/>
          </a:stretch>
        </p:blipFill>
        <p:spPr bwMode="auto">
          <a:xfrm>
            <a:off x="7890975" y="2000388"/>
            <a:ext cx="886585" cy="38707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3">
            <a:extLst>
              <a:ext uri="{FF2B5EF4-FFF2-40B4-BE49-F238E27FC236}">
                <a16:creationId xmlns:a16="http://schemas.microsoft.com/office/drawing/2014/main" id="{BF5EABB6-227E-5786-4A50-39382E84D56A}"/>
              </a:ext>
            </a:extLst>
          </p:cNvPr>
          <p:cNvPicPr>
            <a:picLocks noChangeAspect="1"/>
          </p:cNvPicPr>
          <p:nvPr/>
        </p:nvPicPr>
        <p:blipFill>
          <a:blip r:embed="rId31" cstate="screen">
            <a:extLst>
              <a:ext uri="{28A0092B-C50C-407E-A947-70E740481C1C}">
                <a14:useLocalDpi xmlns:a14="http://schemas.microsoft.com/office/drawing/2010/main"/>
              </a:ext>
            </a:extLst>
          </a:blip>
          <a:stretch>
            <a:fillRect/>
          </a:stretch>
        </p:blipFill>
        <p:spPr>
          <a:xfrm>
            <a:off x="7975981" y="4056428"/>
            <a:ext cx="649693" cy="414343"/>
          </a:xfrm>
          <a:prstGeom prst="rect">
            <a:avLst/>
          </a:prstGeom>
        </p:spPr>
      </p:pic>
      <p:pic>
        <p:nvPicPr>
          <p:cNvPr id="73" name="Picture 72" descr="A purple and pink logo&#10;&#10;Description automatically generated with low confidence">
            <a:extLst>
              <a:ext uri="{FF2B5EF4-FFF2-40B4-BE49-F238E27FC236}">
                <a16:creationId xmlns:a16="http://schemas.microsoft.com/office/drawing/2014/main" id="{E65EF8BB-0D0C-75F6-600C-52AFF8AE3F90}"/>
              </a:ext>
            </a:extLst>
          </p:cNvPr>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6379526" y="4111035"/>
            <a:ext cx="1101563" cy="305128"/>
          </a:xfrm>
          <a:prstGeom prst="rect">
            <a:avLst/>
          </a:prstGeom>
        </p:spPr>
      </p:pic>
      <p:pic>
        <p:nvPicPr>
          <p:cNvPr id="74" name="Picture 73" descr="A picture containing font, graphics, logo, symbol&#10;&#10;Description automatically generated">
            <a:extLst>
              <a:ext uri="{FF2B5EF4-FFF2-40B4-BE49-F238E27FC236}">
                <a16:creationId xmlns:a16="http://schemas.microsoft.com/office/drawing/2014/main" id="{CF0712BE-DFC6-DDCA-02D6-071501AED3FA}"/>
              </a:ext>
            </a:extLst>
          </p:cNvPr>
          <p:cNvPicPr>
            <a:picLocks noChangeAspect="1"/>
          </p:cNvPicPr>
          <p:nvPr/>
        </p:nvPicPr>
        <p:blipFill>
          <a:blip r:embed="rId33" cstate="screen">
            <a:extLst>
              <a:ext uri="{28A0092B-C50C-407E-A947-70E740481C1C}">
                <a14:useLocalDpi xmlns:a14="http://schemas.microsoft.com/office/drawing/2010/main"/>
              </a:ext>
            </a:extLst>
          </a:blip>
          <a:stretch>
            <a:fillRect/>
          </a:stretch>
        </p:blipFill>
        <p:spPr>
          <a:xfrm>
            <a:off x="9122067" y="4134638"/>
            <a:ext cx="1098561" cy="257923"/>
          </a:xfrm>
          <a:prstGeom prst="rect">
            <a:avLst/>
          </a:prstGeom>
        </p:spPr>
      </p:pic>
      <p:pic>
        <p:nvPicPr>
          <p:cNvPr id="75" name="Picture 74" descr="A blue text on a white background&#10;&#10;Description automatically generated with medium confidence">
            <a:extLst>
              <a:ext uri="{FF2B5EF4-FFF2-40B4-BE49-F238E27FC236}">
                <a16:creationId xmlns:a16="http://schemas.microsoft.com/office/drawing/2014/main" id="{171530D1-CE4C-84BE-6C96-53ED4A41858E}"/>
              </a:ext>
            </a:extLst>
          </p:cNvPr>
          <p:cNvPicPr>
            <a:picLocks noChangeAspect="1"/>
          </p:cNvPicPr>
          <p:nvPr/>
        </p:nvPicPr>
        <p:blipFill>
          <a:blip r:embed="rId34" cstate="screen">
            <a:extLst>
              <a:ext uri="{28A0092B-C50C-407E-A947-70E740481C1C}">
                <a14:useLocalDpi xmlns:a14="http://schemas.microsoft.com/office/drawing/2010/main"/>
              </a:ext>
            </a:extLst>
          </a:blip>
          <a:stretch>
            <a:fillRect/>
          </a:stretch>
        </p:blipFill>
        <p:spPr>
          <a:xfrm>
            <a:off x="10562477" y="4119783"/>
            <a:ext cx="958777" cy="287633"/>
          </a:xfrm>
          <a:prstGeom prst="rect">
            <a:avLst/>
          </a:prstGeom>
        </p:spPr>
      </p:pic>
      <p:pic>
        <p:nvPicPr>
          <p:cNvPr id="76" name="Picture 75">
            <a:extLst>
              <a:ext uri="{FF2B5EF4-FFF2-40B4-BE49-F238E27FC236}">
                <a16:creationId xmlns:a16="http://schemas.microsoft.com/office/drawing/2014/main" id="{AB999B63-6924-ACAD-298D-22ED72A7F78F}"/>
              </a:ext>
            </a:extLst>
          </p:cNvPr>
          <p:cNvPicPr>
            <a:picLocks noChangeAspect="1"/>
          </p:cNvPicPr>
          <p:nvPr/>
        </p:nvPicPr>
        <p:blipFill>
          <a:blip r:embed="rId35" cstate="screen">
            <a:extLst>
              <a:ext uri="{28A0092B-C50C-407E-A947-70E740481C1C}">
                <a14:useLocalDpi xmlns:a14="http://schemas.microsoft.com/office/drawing/2010/main"/>
              </a:ext>
            </a:extLst>
          </a:blip>
          <a:stretch>
            <a:fillRect/>
          </a:stretch>
        </p:blipFill>
        <p:spPr>
          <a:xfrm>
            <a:off x="8041722" y="1257577"/>
            <a:ext cx="500863" cy="514245"/>
          </a:xfrm>
          <a:prstGeom prst="rect">
            <a:avLst/>
          </a:prstGeom>
        </p:spPr>
      </p:pic>
      <p:sp>
        <p:nvSpPr>
          <p:cNvPr id="77" name="TextBox 76">
            <a:extLst>
              <a:ext uri="{FF2B5EF4-FFF2-40B4-BE49-F238E27FC236}">
                <a16:creationId xmlns:a16="http://schemas.microsoft.com/office/drawing/2014/main" id="{5A4BD9CF-88FC-DD73-9C1C-9CC9065BFD29}"/>
              </a:ext>
            </a:extLst>
          </p:cNvPr>
          <p:cNvSpPr txBox="1"/>
          <p:nvPr/>
        </p:nvSpPr>
        <p:spPr>
          <a:xfrm>
            <a:off x="357949" y="1611286"/>
            <a:ext cx="2734453" cy="2823402"/>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2051C"/>
                </a:solidFill>
                <a:effectLst/>
                <a:uLnTx/>
                <a:uFillTx/>
                <a:latin typeface="Manrope"/>
                <a:ea typeface="+mn-lt"/>
                <a:cs typeface="+mn-lt"/>
              </a:rPr>
              <a:t>We provide tailored solutions to </a:t>
            </a:r>
            <a:r>
              <a:rPr kumimoji="0" lang="en-US" sz="2400" b="0" i="0" u="none" strike="noStrike" kern="1200" cap="none" spc="0" normalizeH="0" baseline="0" noProof="0" dirty="0">
                <a:ln>
                  <a:noFill/>
                </a:ln>
                <a:solidFill>
                  <a:srgbClr val="3C2DDA"/>
                </a:solidFill>
                <a:effectLst/>
                <a:uLnTx/>
                <a:uFillTx/>
                <a:latin typeface="Manrope"/>
                <a:ea typeface="+mn-lt"/>
                <a:cs typeface="+mn-lt"/>
              </a:rPr>
              <a:t>30+ clients in Australia &amp; New Zealand, </a:t>
            </a:r>
            <a:r>
              <a:rPr kumimoji="0" lang="en-US" sz="2400" b="0" i="0" u="none" strike="noStrike" kern="1200" cap="none" spc="0" normalizeH="0" baseline="0" noProof="0" dirty="0">
                <a:ln>
                  <a:noFill/>
                </a:ln>
                <a:solidFill>
                  <a:srgbClr val="02051C"/>
                </a:solidFill>
                <a:effectLst/>
                <a:uLnTx/>
                <a:uFillTx/>
                <a:latin typeface="Manrope"/>
                <a:ea typeface="+mn-lt"/>
                <a:cs typeface="+mn-lt"/>
              </a:rPr>
              <a:t>counting some of the best firms in</a:t>
            </a:r>
            <a:r>
              <a:rPr kumimoji="0" lang="en-US" sz="2400" b="0" i="0" u="none" strike="noStrike" kern="1200" cap="none" spc="0" normalizeH="0" baseline="0" noProof="0" dirty="0">
                <a:ln>
                  <a:noFill/>
                </a:ln>
                <a:solidFill>
                  <a:srgbClr val="3C2DDA"/>
                </a:solidFill>
                <a:effectLst/>
                <a:uLnTx/>
                <a:uFillTx/>
                <a:latin typeface="Manrope"/>
                <a:ea typeface="+mn-lt"/>
                <a:cs typeface="+mn-lt"/>
              </a:rPr>
              <a:t> </a:t>
            </a:r>
            <a:r>
              <a:rPr kumimoji="0" lang="en-US" sz="2400" b="0" i="0" u="none" strike="noStrike" kern="1200" cap="none" spc="0" normalizeH="0" baseline="0" noProof="0" dirty="0">
                <a:ln>
                  <a:noFill/>
                </a:ln>
                <a:solidFill>
                  <a:srgbClr val="02051C"/>
                </a:solidFill>
                <a:effectLst/>
                <a:uLnTx/>
                <a:uFillTx/>
                <a:latin typeface="Manrope"/>
                <a:ea typeface="+mn-lt"/>
                <a:cs typeface="+mn-lt"/>
              </a:rPr>
              <a:t>the</a:t>
            </a:r>
            <a:r>
              <a:rPr kumimoji="0" lang="en-US" sz="2400" b="0" i="0" u="none" strike="noStrike" kern="1200" cap="none" spc="0" normalizeH="0" baseline="0" noProof="0" dirty="0">
                <a:ln>
                  <a:noFill/>
                </a:ln>
                <a:solidFill>
                  <a:srgbClr val="3C2DDA"/>
                </a:solidFill>
                <a:effectLst/>
                <a:uLnTx/>
                <a:uFillTx/>
                <a:latin typeface="Manrope"/>
                <a:ea typeface="+mn-lt"/>
                <a:cs typeface="+mn-lt"/>
              </a:rPr>
              <a:t> ASX Top 200</a:t>
            </a:r>
            <a:endParaRPr kumimoji="0" lang="en-US" sz="1800" b="0" i="0" u="none" strike="noStrike" kern="1200" cap="none" spc="0" normalizeH="0" baseline="0" noProof="0" dirty="0">
              <a:ln>
                <a:noFill/>
              </a:ln>
              <a:solidFill>
                <a:srgbClr val="3C2DDA"/>
              </a:solidFill>
              <a:effectLst/>
              <a:uLnTx/>
              <a:uFillTx/>
              <a:latin typeface="Manrope"/>
            </a:endParaRPr>
          </a:p>
        </p:txBody>
      </p:sp>
      <p:pic>
        <p:nvPicPr>
          <p:cNvPr id="1026" name="Picture 2" descr="The University of Queensland - Course Seeker">
            <a:extLst>
              <a:ext uri="{FF2B5EF4-FFF2-40B4-BE49-F238E27FC236}">
                <a16:creationId xmlns:a16="http://schemas.microsoft.com/office/drawing/2014/main" id="{502FA29C-1BE6-7E79-DDD5-F8EA748D05ED}"/>
              </a:ext>
            </a:extLst>
          </p:cNvPr>
          <p:cNvPicPr>
            <a:picLocks noChangeAspect="1" noChangeArrowheads="1"/>
          </p:cNvPicPr>
          <p:nvPr/>
        </p:nvPicPr>
        <p:blipFill>
          <a:blip r:embed="rId36" cstate="screen">
            <a:extLst>
              <a:ext uri="{28A0092B-C50C-407E-A947-70E740481C1C}">
                <a14:useLocalDpi xmlns:a14="http://schemas.microsoft.com/office/drawing/2010/main"/>
              </a:ext>
            </a:extLst>
          </a:blip>
          <a:srcRect/>
          <a:stretch>
            <a:fillRect/>
          </a:stretch>
        </p:blipFill>
        <p:spPr bwMode="auto">
          <a:xfrm>
            <a:off x="6539857" y="1393153"/>
            <a:ext cx="1064217" cy="278941"/>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1">
            <a:extLst>
              <a:ext uri="{FF2B5EF4-FFF2-40B4-BE49-F238E27FC236}">
                <a16:creationId xmlns:a16="http://schemas.microsoft.com/office/drawing/2014/main" id="{2E8025C3-C4B9-6C6B-025B-59B46115DB3D}"/>
              </a:ext>
            </a:extLst>
          </p:cNvPr>
          <p:cNvSpPr>
            <a:spLocks noGrp="1"/>
          </p:cNvSpPr>
          <p:nvPr>
            <p:ph type="body" sz="quarter" idx="15"/>
          </p:nvPr>
        </p:nvSpPr>
        <p:spPr>
          <a:xfrm flipH="1">
            <a:off x="580091" y="456038"/>
            <a:ext cx="8172450" cy="285651"/>
          </a:xfrm>
        </p:spPr>
        <p:txBody>
          <a:bodyPr wrap="square" lIns="0" tIns="36000" rIns="0" bIns="0" anchor="t" anchorCtr="0">
            <a:spAutoFit/>
          </a:bodyPr>
          <a:lstStyle/>
          <a:p>
            <a:r>
              <a:rPr lang="en-US" sz="1800" b="1" dirty="0"/>
              <a:t>Creating Smiles for Our Customers</a:t>
            </a:r>
          </a:p>
        </p:txBody>
      </p:sp>
    </p:spTree>
    <p:extLst>
      <p:ext uri="{BB962C8B-B14F-4D97-AF65-F5344CB8AC3E}">
        <p14:creationId xmlns:p14="http://schemas.microsoft.com/office/powerpoint/2010/main" val="1254290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trategic Partners…">
            <a:extLst>
              <a:ext uri="{FF2B5EF4-FFF2-40B4-BE49-F238E27FC236}">
                <a16:creationId xmlns:a16="http://schemas.microsoft.com/office/drawing/2014/main" id="{BF4B667E-ED8A-A979-08D8-EA80A5B91FC4}"/>
              </a:ext>
            </a:extLst>
          </p:cNvPr>
          <p:cNvSpPr txBox="1"/>
          <p:nvPr/>
        </p:nvSpPr>
        <p:spPr>
          <a:xfrm>
            <a:off x="602988" y="1460853"/>
            <a:ext cx="2617981" cy="74892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solidFill>
                  <a:srgbClr val="3C2DDA"/>
                </a:solidFill>
                <a:latin typeface="Manrope ExtraLight Light"/>
                <a:ea typeface="Manrope ExtraLight Light"/>
                <a:cs typeface="Manrope ExtraLight Light"/>
                <a:sym typeface="Manrope ExtraLight Light"/>
              </a:defRPr>
            </a:pPr>
            <a:r>
              <a:rPr kumimoji="0" sz="1800" b="0" i="0" u="none" strike="noStrike" kern="1200" cap="none" spc="0" normalizeH="0" baseline="0" noProof="0">
                <a:ln>
                  <a:noFill/>
                </a:ln>
                <a:solidFill>
                  <a:srgbClr val="3C2DDA"/>
                </a:solidFill>
                <a:effectLst/>
                <a:uLnTx/>
                <a:uFillTx/>
                <a:latin typeface="Manrope ExtraLight Light"/>
                <a:sym typeface="Manrope ExtraLight Light"/>
              </a:rPr>
              <a:t>Strategic Partners</a:t>
            </a:r>
          </a:p>
          <a:p>
            <a:pPr marL="0" marR="0" lvl="0" indent="0" algn="l" defTabSz="914400" rtl="0" eaLnBrk="1" fontAlgn="auto" latinLnBrk="0" hangingPunct="1">
              <a:lnSpc>
                <a:spcPct val="100000"/>
              </a:lnSpc>
              <a:spcBef>
                <a:spcPts val="0"/>
              </a:spcBef>
              <a:spcAft>
                <a:spcPts val="800"/>
              </a:spcAft>
              <a:buClrTx/>
              <a:buSzTx/>
              <a:buFontTx/>
              <a:buNone/>
              <a:tabLst/>
              <a:defRPr sz="2000">
                <a:latin typeface="Heebo Regular Regular"/>
                <a:ea typeface="Heebo Regular Regular"/>
                <a:cs typeface="Heebo Regular Regular"/>
                <a:sym typeface="Heebo Regular Regular"/>
              </a:defRPr>
            </a:pPr>
            <a:r>
              <a:rPr kumimoji="0" lang="en-US" sz="1200" b="0" i="0" u="none" strike="noStrike" kern="1200" cap="none" spc="0" normalizeH="0" baseline="0" noProof="0">
                <a:ln>
                  <a:noFill/>
                </a:ln>
                <a:solidFill>
                  <a:srgbClr val="02051C"/>
                </a:solidFill>
                <a:effectLst/>
                <a:uLnTx/>
                <a:uFillTx/>
                <a:latin typeface="Manrope Light"/>
                <a:cs typeface="Heebo Light" pitchFamily="2" charset="-79"/>
                <a:sym typeface="Heebo Regular Regular"/>
              </a:rPr>
              <a:t>Significant investment, focused on sales and marketing</a:t>
            </a:r>
            <a:endParaRPr kumimoji="0" sz="1200" b="0" i="0" u="none" strike="noStrike" kern="1200" cap="none" spc="0" normalizeH="0" baseline="0" noProof="0">
              <a:ln>
                <a:noFill/>
              </a:ln>
              <a:solidFill>
                <a:srgbClr val="02051C"/>
              </a:solidFill>
              <a:effectLst/>
              <a:uLnTx/>
              <a:uFillTx/>
              <a:latin typeface="Manrope Light"/>
              <a:cs typeface="Heebo Light" pitchFamily="2" charset="-79"/>
              <a:sym typeface="Heebo Regular Regular"/>
            </a:endParaRPr>
          </a:p>
        </p:txBody>
      </p:sp>
      <p:sp>
        <p:nvSpPr>
          <p:cNvPr id="14" name="Vertical-Focused Partners…">
            <a:extLst>
              <a:ext uri="{FF2B5EF4-FFF2-40B4-BE49-F238E27FC236}">
                <a16:creationId xmlns:a16="http://schemas.microsoft.com/office/drawing/2014/main" id="{B6545031-5D53-CB98-9BC0-01AFE51497BB}"/>
              </a:ext>
            </a:extLst>
          </p:cNvPr>
          <p:cNvSpPr txBox="1"/>
          <p:nvPr/>
        </p:nvSpPr>
        <p:spPr>
          <a:xfrm>
            <a:off x="4125348" y="1460853"/>
            <a:ext cx="2776384" cy="74892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solidFill>
                  <a:srgbClr val="3C2DDA"/>
                </a:solidFill>
                <a:latin typeface="Manrope ExtraLight Light"/>
                <a:ea typeface="Manrope ExtraLight Light"/>
                <a:cs typeface="Manrope ExtraLight Light"/>
                <a:sym typeface="Manrope ExtraLight Light"/>
              </a:defRPr>
            </a:pPr>
            <a:r>
              <a:rPr kumimoji="0" lang="en-US" sz="1800" b="0" i="0" u="none" strike="noStrike" kern="1200" cap="none" spc="0" normalizeH="0" baseline="0" noProof="0">
                <a:ln>
                  <a:noFill/>
                </a:ln>
                <a:solidFill>
                  <a:srgbClr val="3C2DDA"/>
                </a:solidFill>
                <a:effectLst/>
                <a:uLnTx/>
                <a:uFillTx/>
                <a:latin typeface="Manrope ExtraLight Light"/>
                <a:sym typeface="Manrope ExtraLight Light"/>
              </a:rPr>
              <a:t>Vertical-focused</a:t>
            </a:r>
            <a:r>
              <a:rPr kumimoji="0" sz="1800" b="0" i="0" u="none" strike="noStrike" kern="1200" cap="none" spc="0" normalizeH="0" baseline="0" noProof="0">
                <a:ln>
                  <a:noFill/>
                </a:ln>
                <a:solidFill>
                  <a:srgbClr val="3C2DDA"/>
                </a:solidFill>
                <a:effectLst/>
                <a:uLnTx/>
                <a:uFillTx/>
                <a:latin typeface="Manrope ExtraLight Light"/>
                <a:sym typeface="Manrope ExtraLight Light"/>
              </a:rPr>
              <a:t> Partners</a:t>
            </a:r>
          </a:p>
          <a:p>
            <a:pPr marL="0" marR="0" lvl="0" indent="0" algn="l" defTabSz="914400" rtl="0" eaLnBrk="1" fontAlgn="auto" latinLnBrk="0" hangingPunct="1">
              <a:lnSpc>
                <a:spcPct val="100000"/>
              </a:lnSpc>
              <a:spcBef>
                <a:spcPts val="0"/>
              </a:spcBef>
              <a:spcAft>
                <a:spcPts val="800"/>
              </a:spcAft>
              <a:buClrTx/>
              <a:buSzTx/>
              <a:buFontTx/>
              <a:buNone/>
              <a:tabLst/>
              <a:defRPr sz="2000">
                <a:latin typeface="Heebo Regular Regular"/>
                <a:ea typeface="Heebo Regular Regular"/>
                <a:cs typeface="Heebo Regular Regular"/>
                <a:sym typeface="Heebo Regular Regular"/>
              </a:defRPr>
            </a:pPr>
            <a:r>
              <a:rPr kumimoji="0" sz="1200" b="0" i="0" u="none" strike="noStrike" kern="1200" cap="none" spc="0" normalizeH="0" baseline="0" noProof="0">
                <a:ln>
                  <a:noFill/>
                </a:ln>
                <a:solidFill>
                  <a:srgbClr val="02051C"/>
                </a:solidFill>
                <a:effectLst/>
                <a:uLnTx/>
                <a:uFillTx/>
                <a:latin typeface="Manrope Light"/>
                <a:cs typeface="Heebo Light"/>
                <a:sym typeface="Heebo Regular Regular"/>
              </a:rPr>
              <a:t>Deep domain expertise with</a:t>
            </a:r>
            <a:r>
              <a:rPr kumimoji="0" lang="en-US" sz="1200" b="0" i="0" u="none" strike="noStrike" kern="1200" cap="none" spc="0" normalizeH="0" baseline="0" noProof="0">
                <a:ln>
                  <a:noFill/>
                </a:ln>
                <a:solidFill>
                  <a:srgbClr val="02051C"/>
                </a:solidFill>
                <a:effectLst/>
                <a:uLnTx/>
                <a:uFillTx/>
                <a:latin typeface="Manrope Light"/>
                <a:cs typeface="Heebo Light"/>
                <a:sym typeface="Heebo Regular Regular"/>
              </a:rPr>
              <a:t> </a:t>
            </a:r>
            <a:r>
              <a:rPr kumimoji="0" sz="1200" b="0" i="0" u="none" strike="noStrike" kern="1200" cap="none" spc="0" normalizeH="0" baseline="0" noProof="0">
                <a:ln>
                  <a:noFill/>
                </a:ln>
                <a:solidFill>
                  <a:srgbClr val="02051C"/>
                </a:solidFill>
                <a:effectLst/>
                <a:uLnTx/>
                <a:uFillTx/>
                <a:latin typeface="Manrope Light"/>
                <a:cs typeface="Heebo Light"/>
                <a:sym typeface="Heebo Regular Regular"/>
              </a:rPr>
              <a:t>sector-specific technologies</a:t>
            </a:r>
            <a:r>
              <a:rPr kumimoji="0" lang="en-US" sz="1200" b="0" i="0" u="none" strike="noStrike" kern="1200" cap="none" spc="0" normalizeH="0" baseline="0" noProof="0">
                <a:ln>
                  <a:noFill/>
                </a:ln>
                <a:solidFill>
                  <a:srgbClr val="02051C"/>
                </a:solidFill>
                <a:effectLst/>
                <a:uLnTx/>
                <a:uFillTx/>
                <a:latin typeface="Manrope Light"/>
                <a:cs typeface="Heebo Light"/>
                <a:sym typeface="Heebo Regular Regular"/>
              </a:rPr>
              <a:t> </a:t>
            </a:r>
            <a:endParaRPr kumimoji="0" sz="1200" b="0" i="0" u="none" strike="noStrike" kern="1200" cap="none" spc="0" normalizeH="0" baseline="0" noProof="0">
              <a:ln>
                <a:noFill/>
              </a:ln>
              <a:solidFill>
                <a:srgbClr val="02051C"/>
              </a:solidFill>
              <a:effectLst/>
              <a:uLnTx/>
              <a:uFillTx/>
              <a:latin typeface="Manrope Light"/>
              <a:cs typeface="Heebo Light" pitchFamily="2" charset="-79"/>
              <a:sym typeface="Heebo Regular Regular"/>
            </a:endParaRPr>
          </a:p>
        </p:txBody>
      </p:sp>
      <p:sp>
        <p:nvSpPr>
          <p:cNvPr id="23" name="Next Level Partners…">
            <a:extLst>
              <a:ext uri="{FF2B5EF4-FFF2-40B4-BE49-F238E27FC236}">
                <a16:creationId xmlns:a16="http://schemas.microsoft.com/office/drawing/2014/main" id="{8332A563-726D-82A6-0946-D6C8BD34FBFC}"/>
              </a:ext>
            </a:extLst>
          </p:cNvPr>
          <p:cNvSpPr txBox="1"/>
          <p:nvPr/>
        </p:nvSpPr>
        <p:spPr>
          <a:xfrm>
            <a:off x="7639673" y="1460853"/>
            <a:ext cx="3966405" cy="56425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solidFill>
                  <a:srgbClr val="3C2DDA"/>
                </a:solidFill>
                <a:latin typeface="Manrope ExtraLight Light"/>
                <a:ea typeface="Manrope ExtraLight Light"/>
                <a:cs typeface="Manrope ExtraLight Light"/>
                <a:sym typeface="Manrope ExtraLight Light"/>
              </a:defRPr>
            </a:pPr>
            <a:r>
              <a:rPr kumimoji="0" sz="1800" b="0" i="0" u="none" strike="noStrike" kern="1200" cap="none" spc="0" normalizeH="0" baseline="0" noProof="0">
                <a:ln>
                  <a:noFill/>
                </a:ln>
                <a:solidFill>
                  <a:srgbClr val="3C2DDA"/>
                </a:solidFill>
                <a:effectLst/>
                <a:uLnTx/>
                <a:uFillTx/>
                <a:latin typeface="Manrope ExtraLight Light"/>
                <a:sym typeface="Manrope ExtraLight Light"/>
              </a:rPr>
              <a:t>Next</a:t>
            </a:r>
            <a:r>
              <a:rPr kumimoji="0" lang="en-US" sz="1800" b="0" i="0" u="none" strike="noStrike" kern="1200" cap="none" spc="0" normalizeH="0" baseline="0" noProof="0">
                <a:ln>
                  <a:noFill/>
                </a:ln>
                <a:solidFill>
                  <a:srgbClr val="3C2DDA"/>
                </a:solidFill>
                <a:effectLst/>
                <a:uLnTx/>
                <a:uFillTx/>
                <a:latin typeface="Manrope ExtraLight Light"/>
                <a:sym typeface="Manrope ExtraLight Light"/>
              </a:rPr>
              <a:t>-level</a:t>
            </a:r>
            <a:r>
              <a:rPr kumimoji="0" sz="1800" b="0" i="0" u="none" strike="noStrike" kern="1200" cap="none" spc="0" normalizeH="0" baseline="0" noProof="0">
                <a:ln>
                  <a:noFill/>
                </a:ln>
                <a:solidFill>
                  <a:srgbClr val="3C2DDA"/>
                </a:solidFill>
                <a:effectLst/>
                <a:uLnTx/>
                <a:uFillTx/>
                <a:latin typeface="Manrope ExtraLight Light"/>
                <a:sym typeface="Manrope ExtraLight Light"/>
              </a:rPr>
              <a:t> Partners</a:t>
            </a:r>
          </a:p>
          <a:p>
            <a:pPr marL="0" marR="0" lvl="0" indent="0" algn="l" defTabSz="914400" rtl="0" eaLnBrk="1" fontAlgn="auto" latinLnBrk="0" hangingPunct="1">
              <a:lnSpc>
                <a:spcPct val="100000"/>
              </a:lnSpc>
              <a:spcBef>
                <a:spcPts val="0"/>
              </a:spcBef>
              <a:spcAft>
                <a:spcPts val="800"/>
              </a:spcAft>
              <a:buClrTx/>
              <a:buSzTx/>
              <a:buFontTx/>
              <a:buNone/>
              <a:tabLst/>
              <a:defRPr sz="2000">
                <a:latin typeface="Heebo Regular Regular"/>
                <a:ea typeface="Heebo Regular Regular"/>
                <a:cs typeface="Heebo Regular Regular"/>
                <a:sym typeface="Heebo Regular Regular"/>
              </a:defRPr>
            </a:pPr>
            <a:r>
              <a:rPr kumimoji="0" sz="1200" b="0" i="0" u="none" strike="noStrike" kern="1200" cap="none" spc="0" normalizeH="0" baseline="0" noProof="0">
                <a:ln>
                  <a:noFill/>
                </a:ln>
                <a:solidFill>
                  <a:srgbClr val="02051C"/>
                </a:solidFill>
                <a:effectLst/>
                <a:uLnTx/>
                <a:uFillTx/>
                <a:latin typeface="Manrope Light"/>
                <a:cs typeface="Heebo Light"/>
                <a:sym typeface="Heebo Regular Regular"/>
              </a:rPr>
              <a:t>Strong suite of industry-leading</a:t>
            </a:r>
            <a:r>
              <a:rPr kumimoji="0" lang="en-US" sz="1200" b="0" i="0" u="none" strike="noStrike" kern="1200" cap="none" spc="0" normalizeH="0" baseline="0" noProof="0">
                <a:ln>
                  <a:noFill/>
                </a:ln>
                <a:solidFill>
                  <a:srgbClr val="02051C"/>
                </a:solidFill>
                <a:effectLst/>
                <a:uLnTx/>
                <a:uFillTx/>
                <a:latin typeface="Manrope Light"/>
                <a:cs typeface="Heebo Light"/>
                <a:sym typeface="Heebo Regular Regular"/>
              </a:rPr>
              <a:t> </a:t>
            </a:r>
            <a:r>
              <a:rPr kumimoji="0" sz="1200" b="0" i="0" u="none" strike="noStrike" kern="1200" cap="none" spc="0" normalizeH="0" baseline="0" noProof="0">
                <a:ln>
                  <a:noFill/>
                </a:ln>
                <a:solidFill>
                  <a:srgbClr val="02051C"/>
                </a:solidFill>
                <a:effectLst/>
                <a:uLnTx/>
                <a:uFillTx/>
                <a:latin typeface="Manrope Light"/>
                <a:cs typeface="Heebo Light"/>
                <a:sym typeface="Heebo Regular Regular"/>
              </a:rPr>
              <a:t>enterprise solutions</a:t>
            </a:r>
          </a:p>
        </p:txBody>
      </p:sp>
      <p:pic>
        <p:nvPicPr>
          <p:cNvPr id="59" name="Picture 58" descr="A close up of a logo&#10;&#10;Description automatically generated">
            <a:extLst>
              <a:ext uri="{FF2B5EF4-FFF2-40B4-BE49-F238E27FC236}">
                <a16:creationId xmlns:a16="http://schemas.microsoft.com/office/drawing/2014/main" id="{7032AFAA-F19A-59AF-87C1-892F36317E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7158" y="2523664"/>
            <a:ext cx="1219199" cy="914400"/>
          </a:xfrm>
          <a:prstGeom prst="rect">
            <a:avLst/>
          </a:prstGeom>
        </p:spPr>
      </p:pic>
      <p:pic>
        <p:nvPicPr>
          <p:cNvPr id="60" name="Picture 59" descr="A colorful background with text&#10;&#10;Description automatically generated">
            <a:extLst>
              <a:ext uri="{FF2B5EF4-FFF2-40B4-BE49-F238E27FC236}">
                <a16:creationId xmlns:a16="http://schemas.microsoft.com/office/drawing/2014/main" id="{B5111BF1-F832-0113-E193-9CADEA4A75C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0140" y="2523664"/>
            <a:ext cx="1213369" cy="910027"/>
          </a:xfrm>
          <a:prstGeom prst="rect">
            <a:avLst/>
          </a:prstGeom>
        </p:spPr>
      </p:pic>
      <p:pic>
        <p:nvPicPr>
          <p:cNvPr id="61" name="Picture 60" descr="A close up of a logo&#10;&#10;Description automatically generated">
            <a:extLst>
              <a:ext uri="{FF2B5EF4-FFF2-40B4-BE49-F238E27FC236}">
                <a16:creationId xmlns:a16="http://schemas.microsoft.com/office/drawing/2014/main" id="{C6C63D5B-9321-670E-C1EA-F0E55CDCFC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0091" y="3551981"/>
            <a:ext cx="1223565" cy="917674"/>
          </a:xfrm>
          <a:prstGeom prst="rect">
            <a:avLst/>
          </a:prstGeom>
        </p:spPr>
      </p:pic>
      <p:pic>
        <p:nvPicPr>
          <p:cNvPr id="62" name="Picture 61" descr="A blue and white logo&#10;&#10;Description automatically generated">
            <a:extLst>
              <a:ext uri="{FF2B5EF4-FFF2-40B4-BE49-F238E27FC236}">
                <a16:creationId xmlns:a16="http://schemas.microsoft.com/office/drawing/2014/main" id="{743B6FE2-7DF5-5E9C-1A76-3003C38FA2F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30140" y="3551981"/>
            <a:ext cx="1213369" cy="910027"/>
          </a:xfrm>
          <a:prstGeom prst="rect">
            <a:avLst/>
          </a:prstGeom>
        </p:spPr>
      </p:pic>
      <p:pic>
        <p:nvPicPr>
          <p:cNvPr id="63" name="Picture 62" descr="A blue background with white text&#10;&#10;Description automatically generated">
            <a:extLst>
              <a:ext uri="{FF2B5EF4-FFF2-40B4-BE49-F238E27FC236}">
                <a16:creationId xmlns:a16="http://schemas.microsoft.com/office/drawing/2014/main" id="{1CA6BF9A-6398-D2B7-8437-843E5C9C3DF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0091" y="4586368"/>
            <a:ext cx="1219201" cy="914401"/>
          </a:xfrm>
          <a:prstGeom prst="rect">
            <a:avLst/>
          </a:prstGeom>
        </p:spPr>
      </p:pic>
      <p:pic>
        <p:nvPicPr>
          <p:cNvPr id="64" name="Picture 63" descr="A green wavy background&#10;&#10;Description automatically generated">
            <a:extLst>
              <a:ext uri="{FF2B5EF4-FFF2-40B4-BE49-F238E27FC236}">
                <a16:creationId xmlns:a16="http://schemas.microsoft.com/office/drawing/2014/main" id="{2901683E-6FEC-4AF3-5932-AD47E3FA7C58}"/>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5478479" y="3551981"/>
            <a:ext cx="1213369" cy="914399"/>
          </a:xfrm>
          <a:prstGeom prst="rect">
            <a:avLst/>
          </a:prstGeom>
        </p:spPr>
      </p:pic>
      <p:pic>
        <p:nvPicPr>
          <p:cNvPr id="65" name="Picture 64" descr="A blue and purple background with a white logo&#10;&#10;Description automatically generated">
            <a:extLst>
              <a:ext uri="{FF2B5EF4-FFF2-40B4-BE49-F238E27FC236}">
                <a16:creationId xmlns:a16="http://schemas.microsoft.com/office/drawing/2014/main" id="{BA83A5FB-EA3A-8474-4E9C-0B06BDC8398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478479" y="2523664"/>
            <a:ext cx="1219200" cy="914400"/>
          </a:xfrm>
          <a:prstGeom prst="rect">
            <a:avLst/>
          </a:prstGeom>
        </p:spPr>
      </p:pic>
      <p:pic>
        <p:nvPicPr>
          <p:cNvPr id="66" name="Picture 65" descr="A blue and orange background with white text&#10;&#10;Description automatically generated">
            <a:extLst>
              <a:ext uri="{FF2B5EF4-FFF2-40B4-BE49-F238E27FC236}">
                <a16:creationId xmlns:a16="http://schemas.microsoft.com/office/drawing/2014/main" id="{50D953EF-59D6-E6F2-8CCA-40BAC05C1ED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129518" y="3551981"/>
            <a:ext cx="1222477" cy="916859"/>
          </a:xfrm>
          <a:prstGeom prst="rect">
            <a:avLst/>
          </a:prstGeom>
        </p:spPr>
      </p:pic>
      <p:pic>
        <p:nvPicPr>
          <p:cNvPr id="67" name="Picture 66" descr="A black and white swirly tunnel&#10;&#10;Description automatically generated">
            <a:extLst>
              <a:ext uri="{FF2B5EF4-FFF2-40B4-BE49-F238E27FC236}">
                <a16:creationId xmlns:a16="http://schemas.microsoft.com/office/drawing/2014/main" id="{0C247F9D-F8B5-5D1C-F073-7D9E5D8EEDF6}"/>
              </a:ext>
            </a:extLst>
          </p:cNvPr>
          <p:cNvPicPr>
            <a:picLocks/>
          </p:cNvPicPr>
          <p:nvPr/>
        </p:nvPicPr>
        <p:blipFill>
          <a:blip r:embed="rId10" cstate="screen">
            <a:extLst>
              <a:ext uri="{28A0092B-C50C-407E-A947-70E740481C1C}">
                <a14:useLocalDpi xmlns:a14="http://schemas.microsoft.com/office/drawing/2010/main"/>
              </a:ext>
            </a:extLst>
          </a:blip>
          <a:stretch>
            <a:fillRect/>
          </a:stretch>
        </p:blipFill>
        <p:spPr>
          <a:xfrm>
            <a:off x="4133088" y="4586368"/>
            <a:ext cx="1216152" cy="918972"/>
          </a:xfrm>
          <a:prstGeom prst="rect">
            <a:avLst/>
          </a:prstGeom>
        </p:spPr>
      </p:pic>
      <p:pic>
        <p:nvPicPr>
          <p:cNvPr id="71" name="Picture 4" descr="Leading Vietnamese bank MSB selects Mambu to underpin digital  transformation | Financial IT">
            <a:extLst>
              <a:ext uri="{FF2B5EF4-FFF2-40B4-BE49-F238E27FC236}">
                <a16:creationId xmlns:a16="http://schemas.microsoft.com/office/drawing/2014/main" id="{4C90050C-0E0C-F951-9BAD-EAEC8913916B}"/>
              </a:ext>
            </a:extLst>
          </p:cNvPr>
          <p:cNvPicPr>
            <a:picLocks noChangeAspect="1" noChangeArrowheads="1"/>
          </p:cNvPicPr>
          <p:nvPr/>
        </p:nvPicPr>
        <p:blipFill rotWithShape="1">
          <a:blip r:embed="rId11" cstate="screen">
            <a:clrChange>
              <a:clrFrom>
                <a:srgbClr val="FFFFFF"/>
              </a:clrFrom>
              <a:clrTo>
                <a:srgbClr val="FFFFFF">
                  <a:alpha val="0"/>
                </a:srgbClr>
              </a:clrTo>
            </a:clrChange>
            <a:lum bright="70000" contrast="-70000"/>
            <a:extLst>
              <a:ext uri="{28A0092B-C50C-407E-A947-70E740481C1C}">
                <a14:useLocalDpi xmlns:a14="http://schemas.microsoft.com/office/drawing/2010/main"/>
              </a:ext>
            </a:extLst>
          </a:blip>
          <a:srcRect l="15969" t="25645" r="11236" b="28508"/>
          <a:stretch/>
        </p:blipFill>
        <p:spPr bwMode="auto">
          <a:xfrm>
            <a:off x="5613277" y="3850374"/>
            <a:ext cx="954825" cy="300684"/>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A blue and black background&#10;&#10;Description automatically generated">
            <a:extLst>
              <a:ext uri="{FF2B5EF4-FFF2-40B4-BE49-F238E27FC236}">
                <a16:creationId xmlns:a16="http://schemas.microsoft.com/office/drawing/2014/main" id="{00FA3124-F044-85FD-D87C-C1936BB25760}"/>
              </a:ext>
            </a:extLst>
          </p:cNvPr>
          <p:cNvPicPr>
            <a:picLocks/>
          </p:cNvPicPr>
          <p:nvPr/>
        </p:nvPicPr>
        <p:blipFill rotWithShape="1">
          <a:blip r:embed="rId12" cstate="screen">
            <a:extLst>
              <a:ext uri="{28A0092B-C50C-407E-A947-70E740481C1C}">
                <a14:useLocalDpi xmlns:a14="http://schemas.microsoft.com/office/drawing/2010/main"/>
              </a:ext>
            </a:extLst>
          </a:blip>
          <a:srcRect/>
          <a:stretch/>
        </p:blipFill>
        <p:spPr>
          <a:xfrm>
            <a:off x="7639675" y="2523664"/>
            <a:ext cx="1216152" cy="914400"/>
          </a:xfrm>
          <a:prstGeom prst="rect">
            <a:avLst/>
          </a:prstGeom>
        </p:spPr>
      </p:pic>
      <p:pic>
        <p:nvPicPr>
          <p:cNvPr id="73" name="Picture 4" descr="Image result for adobe logo">
            <a:extLst>
              <a:ext uri="{FF2B5EF4-FFF2-40B4-BE49-F238E27FC236}">
                <a16:creationId xmlns:a16="http://schemas.microsoft.com/office/drawing/2014/main" id="{9DB2593A-8C1D-6867-E5C6-6FF680D79D99}"/>
              </a:ext>
            </a:extLst>
          </p:cNvPr>
          <p:cNvPicPr>
            <a:picLocks noChangeAspect="1" noChangeArrowheads="1"/>
          </p:cNvPicPr>
          <p:nvPr/>
        </p:nvPicPr>
        <p:blipFill>
          <a:blip r:embed="rId13" cstate="screen">
            <a:clrChange>
              <a:clrFrom>
                <a:srgbClr val="FFFFFF"/>
              </a:clrFrom>
              <a:clrTo>
                <a:srgbClr val="FFFFFF">
                  <a:alpha val="0"/>
                </a:srgbClr>
              </a:clrTo>
            </a:clrChange>
            <a:duotone>
              <a:schemeClr val="bg2">
                <a:shade val="45000"/>
                <a:satMod val="135000"/>
              </a:schemeClr>
              <a:prstClr val="white"/>
            </a:duotone>
            <a:extLst>
              <a:ext uri="{BEBA8EAE-BF5A-486C-A8C5-ECC9F3942E4B}">
                <a14:imgProps xmlns:a14="http://schemas.microsoft.com/office/drawing/2010/main">
                  <a14:imgLayer r:embed="rId14">
                    <a14:imgEffect>
                      <a14:brightnessContrast bright="83000"/>
                    </a14:imgEffect>
                  </a14:imgLayer>
                </a14:imgProps>
              </a:ext>
              <a:ext uri="{28A0092B-C50C-407E-A947-70E740481C1C}">
                <a14:useLocalDpi xmlns:a14="http://schemas.microsoft.com/office/drawing/2010/main"/>
              </a:ext>
            </a:extLst>
          </a:blip>
          <a:srcRect/>
          <a:stretch>
            <a:fillRect/>
          </a:stretch>
        </p:blipFill>
        <p:spPr bwMode="auto">
          <a:xfrm>
            <a:off x="7864366" y="2894355"/>
            <a:ext cx="836852" cy="251057"/>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descr="A colorful background with a logo&#10;&#10;Description automatically generated">
            <a:extLst>
              <a:ext uri="{FF2B5EF4-FFF2-40B4-BE49-F238E27FC236}">
                <a16:creationId xmlns:a16="http://schemas.microsoft.com/office/drawing/2014/main" id="{E64FBE48-5DE3-78AF-4F8E-80338C76E977}"/>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639674" y="3551981"/>
            <a:ext cx="1219200" cy="914400"/>
          </a:xfrm>
          <a:prstGeom prst="rect">
            <a:avLst/>
          </a:prstGeom>
        </p:spPr>
      </p:pic>
      <p:pic>
        <p:nvPicPr>
          <p:cNvPr id="75" name="Picture 74" descr="A colorful background with a white cloud&#10;&#10;Description automatically generated">
            <a:extLst>
              <a:ext uri="{FF2B5EF4-FFF2-40B4-BE49-F238E27FC236}">
                <a16:creationId xmlns:a16="http://schemas.microsoft.com/office/drawing/2014/main" id="{D2335C02-5813-1F0D-9C74-74F3AFC5D30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930140" y="4586368"/>
            <a:ext cx="1219200" cy="914400"/>
          </a:xfrm>
          <a:prstGeom prst="rect">
            <a:avLst/>
          </a:prstGeom>
        </p:spPr>
      </p:pic>
      <p:pic>
        <p:nvPicPr>
          <p:cNvPr id="76" name="Picture 75" descr="A logo on a blue background&#10;&#10;Description automatically generated">
            <a:extLst>
              <a:ext uri="{FF2B5EF4-FFF2-40B4-BE49-F238E27FC236}">
                <a16:creationId xmlns:a16="http://schemas.microsoft.com/office/drawing/2014/main" id="{548DC3F0-9FFB-09B9-8AC8-957B98A7AF4C}"/>
              </a:ext>
            </a:extLst>
          </p:cNvPr>
          <p:cNvPicPr>
            <a:picLocks/>
          </p:cNvPicPr>
          <p:nvPr/>
        </p:nvPicPr>
        <p:blipFill>
          <a:blip r:embed="rId17" cstate="screen">
            <a:extLst>
              <a:ext uri="{28A0092B-C50C-407E-A947-70E740481C1C}">
                <a14:useLocalDpi xmlns:a14="http://schemas.microsoft.com/office/drawing/2010/main"/>
              </a:ext>
            </a:extLst>
          </a:blip>
          <a:stretch>
            <a:fillRect/>
          </a:stretch>
        </p:blipFill>
        <p:spPr>
          <a:xfrm>
            <a:off x="8999708" y="4586368"/>
            <a:ext cx="1213370" cy="910028"/>
          </a:xfrm>
          <a:prstGeom prst="rect">
            <a:avLst/>
          </a:prstGeom>
        </p:spPr>
      </p:pic>
      <p:pic>
        <p:nvPicPr>
          <p:cNvPr id="77" name="Picture 76" descr="A colorful background with white text&#10;&#10;Description automatically generated">
            <a:extLst>
              <a:ext uri="{FF2B5EF4-FFF2-40B4-BE49-F238E27FC236}">
                <a16:creationId xmlns:a16="http://schemas.microsoft.com/office/drawing/2014/main" id="{054978D2-CA21-D4F3-2005-851B0A75141D}"/>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996949" y="3551981"/>
            <a:ext cx="1219200" cy="914400"/>
          </a:xfrm>
          <a:prstGeom prst="rect">
            <a:avLst/>
          </a:prstGeom>
        </p:spPr>
      </p:pic>
      <p:pic>
        <p:nvPicPr>
          <p:cNvPr id="78" name="Picture 77" descr="A blue and orange wavy background&#10;&#10;Description automatically generated">
            <a:extLst>
              <a:ext uri="{FF2B5EF4-FFF2-40B4-BE49-F238E27FC236}">
                <a16:creationId xmlns:a16="http://schemas.microsoft.com/office/drawing/2014/main" id="{157ADDF0-E1FB-A8D4-48A1-6188590CA528}"/>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7639673" y="4586368"/>
            <a:ext cx="1219201" cy="914401"/>
          </a:xfrm>
          <a:prstGeom prst="rect">
            <a:avLst/>
          </a:prstGeom>
        </p:spPr>
      </p:pic>
      <p:pic>
        <p:nvPicPr>
          <p:cNvPr id="79" name="Picture 78" descr="A blue and white logo&#10;&#10;Description automatically generated">
            <a:extLst>
              <a:ext uri="{FF2B5EF4-FFF2-40B4-BE49-F238E27FC236}">
                <a16:creationId xmlns:a16="http://schemas.microsoft.com/office/drawing/2014/main" id="{D91383FF-994E-D2EE-D143-AFEE31555852}"/>
              </a:ext>
            </a:extLst>
          </p:cNvPr>
          <p:cNvPicPr>
            <a:picLocks/>
          </p:cNvPicPr>
          <p:nvPr/>
        </p:nvPicPr>
        <p:blipFill>
          <a:blip r:embed="rId20" cstate="screen">
            <a:extLst>
              <a:ext uri="{28A0092B-C50C-407E-A947-70E740481C1C}">
                <a14:useLocalDpi xmlns:a14="http://schemas.microsoft.com/office/drawing/2010/main"/>
              </a:ext>
            </a:extLst>
          </a:blip>
          <a:stretch>
            <a:fillRect/>
          </a:stretch>
        </p:blipFill>
        <p:spPr>
          <a:xfrm>
            <a:off x="10338030" y="4586368"/>
            <a:ext cx="1219201" cy="914401"/>
          </a:xfrm>
          <a:prstGeom prst="rect">
            <a:avLst/>
          </a:prstGeom>
        </p:spPr>
      </p:pic>
      <p:pic>
        <p:nvPicPr>
          <p:cNvPr id="80" name="Picture 79" descr="A purple and black geometrical object&#10;&#10;Description automatically generated">
            <a:extLst>
              <a:ext uri="{FF2B5EF4-FFF2-40B4-BE49-F238E27FC236}">
                <a16:creationId xmlns:a16="http://schemas.microsoft.com/office/drawing/2014/main" id="{711B88AB-029E-0A92-36E4-785D43846415}"/>
              </a:ext>
            </a:extLst>
          </p:cNvPr>
          <p:cNvPicPr>
            <a:picLocks/>
          </p:cNvPicPr>
          <p:nvPr/>
        </p:nvPicPr>
        <p:blipFill rotWithShape="1">
          <a:blip r:embed="rId21" cstate="screen">
            <a:extLst>
              <a:ext uri="{28A0092B-C50C-407E-A947-70E740481C1C}">
                <a14:useLocalDpi xmlns:a14="http://schemas.microsoft.com/office/drawing/2010/main"/>
              </a:ext>
            </a:extLst>
          </a:blip>
          <a:srcRect/>
          <a:stretch/>
        </p:blipFill>
        <p:spPr>
          <a:xfrm>
            <a:off x="8996949" y="2523664"/>
            <a:ext cx="1219200" cy="914400"/>
          </a:xfrm>
          <a:prstGeom prst="rect">
            <a:avLst/>
          </a:prstGeom>
        </p:spPr>
      </p:pic>
      <p:pic>
        <p:nvPicPr>
          <p:cNvPr id="81" name="Picture 80" descr="A group of blue jellyfish&#10;&#10;Description automatically generated">
            <a:extLst>
              <a:ext uri="{FF2B5EF4-FFF2-40B4-BE49-F238E27FC236}">
                <a16:creationId xmlns:a16="http://schemas.microsoft.com/office/drawing/2014/main" id="{0904740E-B0E5-BAAF-485F-5B3BCEC587BD}"/>
              </a:ext>
            </a:extLst>
          </p:cNvPr>
          <p:cNvPicPr>
            <a:picLocks noChangeAspect="1"/>
          </p:cNvPicPr>
          <p:nvPr/>
        </p:nvPicPr>
        <p:blipFill rotWithShape="1">
          <a:blip r:embed="rId22" cstate="screen">
            <a:extLst>
              <a:ext uri="{28A0092B-C50C-407E-A947-70E740481C1C}">
                <a14:useLocalDpi xmlns:a14="http://schemas.microsoft.com/office/drawing/2010/main"/>
              </a:ext>
            </a:extLst>
          </a:blip>
          <a:srcRect r="-535"/>
          <a:stretch/>
        </p:blipFill>
        <p:spPr>
          <a:xfrm>
            <a:off x="5478479" y="4586368"/>
            <a:ext cx="1226310" cy="909130"/>
          </a:xfrm>
          <a:prstGeom prst="rect">
            <a:avLst/>
          </a:prstGeom>
        </p:spPr>
      </p:pic>
      <p:pic>
        <p:nvPicPr>
          <p:cNvPr id="82" name="Picture 81">
            <a:extLst>
              <a:ext uri="{FF2B5EF4-FFF2-40B4-BE49-F238E27FC236}">
                <a16:creationId xmlns:a16="http://schemas.microsoft.com/office/drawing/2014/main" id="{1A635A86-EB55-3967-8EB6-0EE28270F69D}"/>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5768068" y="4993717"/>
            <a:ext cx="655863" cy="170631"/>
          </a:xfrm>
          <a:prstGeom prst="rect">
            <a:avLst/>
          </a:prstGeom>
        </p:spPr>
      </p:pic>
      <p:pic>
        <p:nvPicPr>
          <p:cNvPr id="83" name="Picture 82">
            <a:extLst>
              <a:ext uri="{FF2B5EF4-FFF2-40B4-BE49-F238E27FC236}">
                <a16:creationId xmlns:a16="http://schemas.microsoft.com/office/drawing/2014/main" id="{828AB279-4B87-D9AB-9347-EAC76BA5BFD0}"/>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9310975" y="2896853"/>
            <a:ext cx="559921" cy="216636"/>
          </a:xfrm>
          <a:prstGeom prst="rect">
            <a:avLst/>
          </a:prstGeom>
        </p:spPr>
      </p:pic>
      <p:pic>
        <p:nvPicPr>
          <p:cNvPr id="84" name="Picture 83">
            <a:extLst>
              <a:ext uri="{FF2B5EF4-FFF2-40B4-BE49-F238E27FC236}">
                <a16:creationId xmlns:a16="http://schemas.microsoft.com/office/drawing/2014/main" id="{2EF92428-730A-260D-582C-9EB63CD7EC7E}"/>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0538984" y="2925840"/>
            <a:ext cx="819142" cy="166100"/>
          </a:xfrm>
          <a:prstGeom prst="rect">
            <a:avLst/>
          </a:prstGeom>
        </p:spPr>
      </p:pic>
      <p:pic>
        <p:nvPicPr>
          <p:cNvPr id="85" name="Picture 84" descr="A circular pattern of white and blue lights&#10;&#10;Description automatically generated">
            <a:extLst>
              <a:ext uri="{FF2B5EF4-FFF2-40B4-BE49-F238E27FC236}">
                <a16:creationId xmlns:a16="http://schemas.microsoft.com/office/drawing/2014/main" id="{72207B3E-F760-EF79-F932-C1F88C3394E5}"/>
              </a:ext>
            </a:extLst>
          </p:cNvPr>
          <p:cNvPicPr>
            <a:picLocks noChangeAspect="1"/>
          </p:cNvPicPr>
          <p:nvPr/>
        </p:nvPicPr>
        <p:blipFill rotWithShape="1">
          <a:blip r:embed="rId26" cstate="screen">
            <a:extLst>
              <a:ext uri="{28A0092B-C50C-407E-A947-70E740481C1C}">
                <a14:useLocalDpi xmlns:a14="http://schemas.microsoft.com/office/drawing/2010/main"/>
              </a:ext>
            </a:extLst>
          </a:blip>
          <a:srcRect/>
          <a:stretch/>
        </p:blipFill>
        <p:spPr>
          <a:xfrm>
            <a:off x="10336802" y="3551981"/>
            <a:ext cx="1213370" cy="905338"/>
          </a:xfrm>
          <a:prstGeom prst="rect">
            <a:avLst/>
          </a:prstGeom>
        </p:spPr>
      </p:pic>
      <p:pic>
        <p:nvPicPr>
          <p:cNvPr id="86" name="Picture 85">
            <a:extLst>
              <a:ext uri="{FF2B5EF4-FFF2-40B4-BE49-F238E27FC236}">
                <a16:creationId xmlns:a16="http://schemas.microsoft.com/office/drawing/2014/main" id="{34DF8EB7-A8ED-C6D3-1B47-D2CEE01A7DF1}"/>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10538984" y="3809209"/>
            <a:ext cx="818192" cy="454551"/>
          </a:xfrm>
          <a:prstGeom prst="rect">
            <a:avLst/>
          </a:prstGeom>
        </p:spPr>
      </p:pic>
      <p:pic>
        <p:nvPicPr>
          <p:cNvPr id="88" name="Picture 87" descr="A colorful background with white text&#10;&#10;Description automatically generated">
            <a:extLst>
              <a:ext uri="{FF2B5EF4-FFF2-40B4-BE49-F238E27FC236}">
                <a16:creationId xmlns:a16="http://schemas.microsoft.com/office/drawing/2014/main" id="{D9D1B5E2-685D-1690-854A-21E274675BD4}"/>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4128898" y="2523664"/>
            <a:ext cx="1223716" cy="914400"/>
          </a:xfrm>
          <a:prstGeom prst="rect">
            <a:avLst/>
          </a:prstGeom>
        </p:spPr>
      </p:pic>
      <p:pic>
        <p:nvPicPr>
          <p:cNvPr id="89" name="Picture 88" descr="A blue light swirls in a circle&#10;&#10;Description automatically generated">
            <a:extLst>
              <a:ext uri="{FF2B5EF4-FFF2-40B4-BE49-F238E27FC236}">
                <a16:creationId xmlns:a16="http://schemas.microsoft.com/office/drawing/2014/main" id="{0B43B80B-1E63-B25F-5201-556FB9E9A67C}"/>
              </a:ext>
            </a:extLst>
          </p:cNvPr>
          <p:cNvPicPr>
            <a:picLocks noChangeAspect="1"/>
          </p:cNvPicPr>
          <p:nvPr/>
        </p:nvPicPr>
        <p:blipFill rotWithShape="1">
          <a:blip r:embed="rId29" cstate="screen">
            <a:extLst>
              <a:ext uri="{28A0092B-C50C-407E-A947-70E740481C1C}">
                <a14:useLocalDpi xmlns:a14="http://schemas.microsoft.com/office/drawing/2010/main"/>
              </a:ext>
            </a:extLst>
          </a:blip>
          <a:srcRect r="-33305"/>
          <a:stretch/>
        </p:blipFill>
        <p:spPr>
          <a:xfrm>
            <a:off x="10336985" y="2524951"/>
            <a:ext cx="1625250" cy="912714"/>
          </a:xfrm>
          <a:prstGeom prst="rect">
            <a:avLst/>
          </a:prstGeom>
        </p:spPr>
      </p:pic>
      <p:pic>
        <p:nvPicPr>
          <p:cNvPr id="90" name="Picture 89">
            <a:extLst>
              <a:ext uri="{FF2B5EF4-FFF2-40B4-BE49-F238E27FC236}">
                <a16:creationId xmlns:a16="http://schemas.microsoft.com/office/drawing/2014/main" id="{2DAE3A74-0D1F-4421-6E6C-68C26C5B0624}"/>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0533336" y="2927127"/>
            <a:ext cx="819142" cy="166100"/>
          </a:xfrm>
          <a:prstGeom prst="rect">
            <a:avLst/>
          </a:prstGeom>
        </p:spPr>
      </p:pic>
      <p:pic>
        <p:nvPicPr>
          <p:cNvPr id="91" name="Picture 90" descr="A colorful background with white text&#10;&#10;Description automatically generated">
            <a:extLst>
              <a:ext uri="{FF2B5EF4-FFF2-40B4-BE49-F238E27FC236}">
                <a16:creationId xmlns:a16="http://schemas.microsoft.com/office/drawing/2014/main" id="{DB56685D-3B7F-8112-611A-BE15B79BB36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4133088" y="2523664"/>
            <a:ext cx="1225296" cy="915581"/>
          </a:xfrm>
          <a:prstGeom prst="rect">
            <a:avLst/>
          </a:prstGeom>
        </p:spPr>
      </p:pic>
      <p:sp>
        <p:nvSpPr>
          <p:cNvPr id="7" name="Text Placeholder 1">
            <a:extLst>
              <a:ext uri="{FF2B5EF4-FFF2-40B4-BE49-F238E27FC236}">
                <a16:creationId xmlns:a16="http://schemas.microsoft.com/office/drawing/2014/main" id="{D3479574-CA10-A853-D0C3-8BEA922C5532}"/>
              </a:ext>
            </a:extLst>
          </p:cNvPr>
          <p:cNvSpPr>
            <a:spLocks noGrp="1"/>
          </p:cNvSpPr>
          <p:nvPr>
            <p:ph type="body" sz="quarter" idx="15"/>
          </p:nvPr>
        </p:nvSpPr>
        <p:spPr>
          <a:xfrm flipH="1">
            <a:off x="580091" y="456038"/>
            <a:ext cx="8172450" cy="285651"/>
          </a:xfrm>
        </p:spPr>
        <p:txBody>
          <a:bodyPr wrap="square" lIns="0" tIns="36000" rIns="0" bIns="0" anchor="t" anchorCtr="0">
            <a:spAutoFit/>
          </a:bodyPr>
          <a:lstStyle/>
          <a:p>
            <a:r>
              <a:rPr lang="en-US" sz="1800" b="1" dirty="0"/>
              <a:t>Creating Smiles With Our Partners</a:t>
            </a:r>
          </a:p>
        </p:txBody>
      </p:sp>
    </p:spTree>
    <p:extLst>
      <p:ext uri="{BB962C8B-B14F-4D97-AF65-F5344CB8AC3E}">
        <p14:creationId xmlns:p14="http://schemas.microsoft.com/office/powerpoint/2010/main" val="94937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DEF42-682A-BAFD-78CB-DAA2AD31BBAA}"/>
            </a:ext>
          </a:extLst>
        </p:cNvPr>
        <p:cNvGrpSpPr/>
        <p:nvPr/>
      </p:nvGrpSpPr>
      <p:grpSpPr>
        <a:xfrm>
          <a:off x="0" y="0"/>
          <a:ext cx="0" cy="0"/>
          <a:chOff x="0" y="0"/>
          <a:chExt cx="0" cy="0"/>
        </a:xfrm>
      </p:grpSpPr>
      <p:sp>
        <p:nvSpPr>
          <p:cNvPr id="178" name="Text Placeholder 177">
            <a:extLst>
              <a:ext uri="{FF2B5EF4-FFF2-40B4-BE49-F238E27FC236}">
                <a16:creationId xmlns:a16="http://schemas.microsoft.com/office/drawing/2014/main" id="{45E43F5C-F264-7F47-86C9-D0BFACEE199F}"/>
              </a:ext>
            </a:extLst>
          </p:cNvPr>
          <p:cNvSpPr>
            <a:spLocks noGrp="1"/>
          </p:cNvSpPr>
          <p:nvPr>
            <p:ph type="body" sz="quarter" idx="20"/>
          </p:nvPr>
        </p:nvSpPr>
        <p:spPr>
          <a:xfrm>
            <a:off x="623887" y="2064890"/>
            <a:ext cx="5400675" cy="2422889"/>
          </a:xfrm>
        </p:spPr>
        <p:txBody>
          <a:bodyPr>
            <a:noAutofit/>
          </a:bodyPr>
          <a:lstStyle/>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Australian Muslims lacked options for storing, investing and growing their wealth, lack of financial assistance, Halal investments, Halal loans, ability to support Islamic organizations and quality of products available.</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Hejaz Islamic Financial Services Pvt Ltd partnered with Hexaware to build the Halal Money App over a period of 15 months from ideation to the MVP launch with the vision of creating a tech platform and digital distribution channel that makes halal financing more accessible.</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Coupled with our digital product engineering services, we brought together a coalition of product partners for the Transaction account, ETF trading, Term investments, Cloud services, e-KYC, AML/CTF, Customer servicing platform to enable a fully serviceable operating model from day 1 of the go-live.</a:t>
            </a:r>
          </a:p>
        </p:txBody>
      </p:sp>
      <p:sp>
        <p:nvSpPr>
          <p:cNvPr id="271" name="Title 270">
            <a:extLst>
              <a:ext uri="{FF2B5EF4-FFF2-40B4-BE49-F238E27FC236}">
                <a16:creationId xmlns:a16="http://schemas.microsoft.com/office/drawing/2014/main" id="{ABAE399D-63AA-C7BA-B2D6-D4C2005FB89B}"/>
              </a:ext>
            </a:extLst>
          </p:cNvPr>
          <p:cNvSpPr>
            <a:spLocks noGrp="1"/>
          </p:cNvSpPr>
          <p:nvPr>
            <p:ph type="title"/>
          </p:nvPr>
        </p:nvSpPr>
        <p:spPr>
          <a:xfrm>
            <a:off x="623886" y="951767"/>
            <a:ext cx="5292725" cy="553998"/>
          </a:xfrm>
        </p:spPr>
        <p:txBody>
          <a:bodyPr/>
          <a:lstStyle/>
          <a:p>
            <a:r>
              <a:rPr lang="en-US" sz="1800" dirty="0"/>
              <a:t>Building an innovative platform providing easy access to Shariah compliant banking</a:t>
            </a:r>
          </a:p>
        </p:txBody>
      </p:sp>
      <p:sp>
        <p:nvSpPr>
          <p:cNvPr id="237" name="Text Placeholder 236">
            <a:extLst>
              <a:ext uri="{FF2B5EF4-FFF2-40B4-BE49-F238E27FC236}">
                <a16:creationId xmlns:a16="http://schemas.microsoft.com/office/drawing/2014/main" id="{167DA907-A37B-183E-5D0C-4DED6A9E998F}"/>
              </a:ext>
            </a:extLst>
          </p:cNvPr>
          <p:cNvSpPr>
            <a:spLocks noGrp="1"/>
          </p:cNvSpPr>
          <p:nvPr>
            <p:ph type="body" sz="quarter" idx="21"/>
          </p:nvPr>
        </p:nvSpPr>
        <p:spPr>
          <a:xfrm flipH="1">
            <a:off x="623886" y="457200"/>
            <a:ext cx="8352529" cy="257816"/>
          </a:xfrm>
        </p:spPr>
        <p:txBody>
          <a:bodyPr/>
          <a:lstStyle/>
          <a:p>
            <a:r>
              <a:rPr lang="en-US" sz="1800" b="1" dirty="0"/>
              <a:t>Banking – Biggest Islamic Banking and financial services provider in Australia</a:t>
            </a:r>
          </a:p>
        </p:txBody>
      </p:sp>
      <p:grpSp>
        <p:nvGrpSpPr>
          <p:cNvPr id="14" name="Group 13">
            <a:extLst>
              <a:ext uri="{FF2B5EF4-FFF2-40B4-BE49-F238E27FC236}">
                <a16:creationId xmlns:a16="http://schemas.microsoft.com/office/drawing/2014/main" id="{53F21963-3BC5-30DE-B18D-C42477FB3874}"/>
              </a:ext>
            </a:extLst>
          </p:cNvPr>
          <p:cNvGrpSpPr/>
          <p:nvPr/>
        </p:nvGrpSpPr>
        <p:grpSpPr>
          <a:xfrm>
            <a:off x="623887" y="5684071"/>
            <a:ext cx="1250077" cy="716729"/>
            <a:chOff x="4175945" y="5238256"/>
            <a:chExt cx="1250077" cy="1056808"/>
          </a:xfrm>
        </p:grpSpPr>
        <p:sp>
          <p:nvSpPr>
            <p:cNvPr id="15" name="Text Placeholder 8">
              <a:extLst>
                <a:ext uri="{FF2B5EF4-FFF2-40B4-BE49-F238E27FC236}">
                  <a16:creationId xmlns:a16="http://schemas.microsoft.com/office/drawing/2014/main" id="{20A1C28F-52F3-36CC-E5BD-4DCA2099BA2B}"/>
                </a:ext>
              </a:extLst>
            </p:cNvPr>
            <p:cNvSpPr txBox="1">
              <a:spLocks/>
            </p:cNvSpPr>
            <p:nvPr/>
          </p:nvSpPr>
          <p:spPr>
            <a:xfrm>
              <a:off x="4175945" y="5803824"/>
              <a:ext cx="1250077" cy="491240"/>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7938"/>
              <a:r>
                <a:rPr lang="en-IN" dirty="0"/>
                <a:t> World’s first Islamic Banking Unicorn</a:t>
              </a:r>
            </a:p>
          </p:txBody>
        </p:sp>
        <p:sp>
          <p:nvSpPr>
            <p:cNvPr id="16" name="Text Placeholder 8">
              <a:extLst>
                <a:ext uri="{FF2B5EF4-FFF2-40B4-BE49-F238E27FC236}">
                  <a16:creationId xmlns:a16="http://schemas.microsoft.com/office/drawing/2014/main" id="{BF2E00FB-5012-6C51-F2EA-B4CBA57B6E74}"/>
                </a:ext>
              </a:extLst>
            </p:cNvPr>
            <p:cNvSpPr txBox="1">
              <a:spLocks/>
            </p:cNvSpPr>
            <p:nvPr/>
          </p:nvSpPr>
          <p:spPr>
            <a:xfrm>
              <a:off x="4191031" y="5238256"/>
              <a:ext cx="1234991" cy="612647"/>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r>
                <a:rPr lang="en-IN" dirty="0"/>
                <a:t>1st</a:t>
              </a:r>
            </a:p>
          </p:txBody>
        </p:sp>
      </p:grpSp>
      <p:sp>
        <p:nvSpPr>
          <p:cNvPr id="9" name="Text Placeholder 1">
            <a:extLst>
              <a:ext uri="{FF2B5EF4-FFF2-40B4-BE49-F238E27FC236}">
                <a16:creationId xmlns:a16="http://schemas.microsoft.com/office/drawing/2014/main" id="{C7B8F356-FFAE-80A7-BAE3-313905AD8916}"/>
              </a:ext>
            </a:extLst>
          </p:cNvPr>
          <p:cNvSpPr>
            <a:spLocks noGrp="1"/>
          </p:cNvSpPr>
          <p:nvPr>
            <p:ph type="body" sz="quarter" idx="18"/>
          </p:nvPr>
        </p:nvSpPr>
        <p:spPr>
          <a:xfrm>
            <a:off x="626148" y="4984664"/>
            <a:ext cx="2611509" cy="428625"/>
          </a:xfrm>
        </p:spPr>
        <p:txBody>
          <a:bodyPr vert="horz" lIns="0" tIns="0" rIns="0" bIns="0" rtlCol="0" anchor="t">
            <a:normAutofit/>
          </a:bodyPr>
          <a:lstStyle/>
          <a:p>
            <a:r>
              <a:rPr lang="en-US" sz="1200" dirty="0">
                <a:latin typeface="DM Sans" pitchFamily="2" charset="77"/>
              </a:rPr>
              <a:t>Digital Strategy, Ops &amp; </a:t>
            </a:r>
            <a:r>
              <a:rPr lang="en-US" sz="1200" dirty="0" err="1">
                <a:latin typeface="DM Sans" pitchFamily="2" charset="77"/>
              </a:rPr>
              <a:t>Organisation</a:t>
            </a:r>
            <a:endParaRPr lang="en-US" sz="1200" dirty="0">
              <a:latin typeface="DM Sans" pitchFamily="2" charset="77"/>
            </a:endParaRPr>
          </a:p>
        </p:txBody>
      </p:sp>
      <p:sp>
        <p:nvSpPr>
          <p:cNvPr id="10" name="Text Placeholder 1">
            <a:extLst>
              <a:ext uri="{FF2B5EF4-FFF2-40B4-BE49-F238E27FC236}">
                <a16:creationId xmlns:a16="http://schemas.microsoft.com/office/drawing/2014/main" id="{5CA0A030-C68B-10F3-DECC-D22CC2E38E58}"/>
              </a:ext>
            </a:extLst>
          </p:cNvPr>
          <p:cNvSpPr txBox="1">
            <a:spLocks/>
          </p:cNvSpPr>
          <p:nvPr/>
        </p:nvSpPr>
        <p:spPr>
          <a:xfrm>
            <a:off x="3537827" y="4984664"/>
            <a:ext cx="1646034" cy="4286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latin typeface="DM Sans" pitchFamily="2" charset="77"/>
              </a:rPr>
              <a:t>Architecture Strategy</a:t>
            </a:r>
          </a:p>
        </p:txBody>
      </p:sp>
      <p:sp>
        <p:nvSpPr>
          <p:cNvPr id="17" name="Text Placeholder 1">
            <a:extLst>
              <a:ext uri="{FF2B5EF4-FFF2-40B4-BE49-F238E27FC236}">
                <a16:creationId xmlns:a16="http://schemas.microsoft.com/office/drawing/2014/main" id="{195EC8B3-312B-B6B5-2A0A-BF2F52E67F2F}"/>
              </a:ext>
            </a:extLst>
          </p:cNvPr>
          <p:cNvSpPr txBox="1">
            <a:spLocks/>
          </p:cNvSpPr>
          <p:nvPr/>
        </p:nvSpPr>
        <p:spPr>
          <a:xfrm>
            <a:off x="626148" y="5354850"/>
            <a:ext cx="1394016" cy="4286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latin typeface="DM Sans" pitchFamily="2" charset="77"/>
              </a:rPr>
              <a:t>Experience Design</a:t>
            </a:r>
          </a:p>
        </p:txBody>
      </p:sp>
      <p:sp>
        <p:nvSpPr>
          <p:cNvPr id="18" name="Text Placeholder 1">
            <a:extLst>
              <a:ext uri="{FF2B5EF4-FFF2-40B4-BE49-F238E27FC236}">
                <a16:creationId xmlns:a16="http://schemas.microsoft.com/office/drawing/2014/main" id="{40B8DF8C-7CB1-1858-A895-F61D17A42335}"/>
              </a:ext>
            </a:extLst>
          </p:cNvPr>
          <p:cNvSpPr txBox="1">
            <a:spLocks/>
          </p:cNvSpPr>
          <p:nvPr/>
        </p:nvSpPr>
        <p:spPr>
          <a:xfrm>
            <a:off x="2102498" y="5354850"/>
            <a:ext cx="1394016" cy="428625"/>
          </a:xfrm>
          <a:prstGeom prst="rect">
            <a:avLst/>
          </a:prstGeom>
        </p:spPr>
        <p:txBody>
          <a:bodyPr vert="horz" lIns="0" tIns="0" rIns="0" bIns="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latin typeface="DM Sans" pitchFamily="2" charset="77"/>
              </a:rPr>
              <a:t>App Development</a:t>
            </a:r>
          </a:p>
        </p:txBody>
      </p:sp>
      <p:sp>
        <p:nvSpPr>
          <p:cNvPr id="19" name="Text Placeholder 1">
            <a:extLst>
              <a:ext uri="{FF2B5EF4-FFF2-40B4-BE49-F238E27FC236}">
                <a16:creationId xmlns:a16="http://schemas.microsoft.com/office/drawing/2014/main" id="{D1BEBDB1-97DC-3A1C-5052-BE3E43154968}"/>
              </a:ext>
            </a:extLst>
          </p:cNvPr>
          <p:cNvSpPr txBox="1">
            <a:spLocks/>
          </p:cNvSpPr>
          <p:nvPr/>
        </p:nvSpPr>
        <p:spPr>
          <a:xfrm>
            <a:off x="3539494" y="5354850"/>
            <a:ext cx="1234991" cy="4286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latin typeface="DM Sans" pitchFamily="2" charset="77"/>
              </a:rPr>
              <a:t>Product Strategy</a:t>
            </a:r>
          </a:p>
        </p:txBody>
      </p:sp>
      <p:sp>
        <p:nvSpPr>
          <p:cNvPr id="20" name="TextBox 19">
            <a:extLst>
              <a:ext uri="{FF2B5EF4-FFF2-40B4-BE49-F238E27FC236}">
                <a16:creationId xmlns:a16="http://schemas.microsoft.com/office/drawing/2014/main" id="{DB7ADC3D-3013-BBDA-6550-806B82259B8C}"/>
              </a:ext>
            </a:extLst>
          </p:cNvPr>
          <p:cNvSpPr txBox="1"/>
          <p:nvPr/>
        </p:nvSpPr>
        <p:spPr>
          <a:xfrm>
            <a:off x="623887" y="4510430"/>
            <a:ext cx="5476240"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dirty="0">
                <a:latin typeface="DM Sans" pitchFamily="2" charset="77"/>
              </a:rPr>
              <a:t>SERVICES OFFERED AS PART OF THE ENGAGEMENT</a:t>
            </a:r>
          </a:p>
        </p:txBody>
      </p:sp>
      <p:pic>
        <p:nvPicPr>
          <p:cNvPr id="23" name="Picture 22" descr="A blue and purple squares&#10;&#10;Description automatically generated">
            <a:extLst>
              <a:ext uri="{FF2B5EF4-FFF2-40B4-BE49-F238E27FC236}">
                <a16:creationId xmlns:a16="http://schemas.microsoft.com/office/drawing/2014/main" id="{172FDAFB-54A1-204E-B915-BC0D15F246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1228766"/>
            <a:ext cx="5935182" cy="4846982"/>
          </a:xfrm>
          <a:prstGeom prst="rect">
            <a:avLst/>
          </a:prstGeom>
        </p:spPr>
      </p:pic>
      <p:pic>
        <p:nvPicPr>
          <p:cNvPr id="24" name="Picture 23" descr="A screenshot of a phone&#10;&#10;Description automatically generated">
            <a:extLst>
              <a:ext uri="{FF2B5EF4-FFF2-40B4-BE49-F238E27FC236}">
                <a16:creationId xmlns:a16="http://schemas.microsoft.com/office/drawing/2014/main" id="{39DC1A58-7477-4902-2A90-78206142F62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76416" y="2163015"/>
            <a:ext cx="2313701" cy="9608042"/>
          </a:xfrm>
          <a:prstGeom prst="rect">
            <a:avLst/>
          </a:prstGeom>
        </p:spPr>
      </p:pic>
      <p:pic>
        <p:nvPicPr>
          <p:cNvPr id="25" name="Picture 24" descr="A screenshot of a phone&#10;&#10;Description automatically generated">
            <a:extLst>
              <a:ext uri="{FF2B5EF4-FFF2-40B4-BE49-F238E27FC236}">
                <a16:creationId xmlns:a16="http://schemas.microsoft.com/office/drawing/2014/main" id="{F09F37D9-EB4E-C958-5AC6-E572D77A6C9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57998" y="540130"/>
            <a:ext cx="3910781" cy="6858000"/>
          </a:xfrm>
          <a:prstGeom prst="rect">
            <a:avLst/>
          </a:prstGeom>
        </p:spPr>
      </p:pic>
    </p:spTree>
    <p:extLst>
      <p:ext uri="{BB962C8B-B14F-4D97-AF65-F5344CB8AC3E}">
        <p14:creationId xmlns:p14="http://schemas.microsoft.com/office/powerpoint/2010/main" val="1448944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8E42-48DD-801C-9D1B-57F628783574}"/>
            </a:ext>
          </a:extLst>
        </p:cNvPr>
        <p:cNvGrpSpPr/>
        <p:nvPr/>
      </p:nvGrpSpPr>
      <p:grpSpPr>
        <a:xfrm>
          <a:off x="0" y="0"/>
          <a:ext cx="0" cy="0"/>
          <a:chOff x="0" y="0"/>
          <a:chExt cx="0" cy="0"/>
        </a:xfrm>
      </p:grpSpPr>
      <p:sp>
        <p:nvSpPr>
          <p:cNvPr id="271" name="Title 270">
            <a:extLst>
              <a:ext uri="{FF2B5EF4-FFF2-40B4-BE49-F238E27FC236}">
                <a16:creationId xmlns:a16="http://schemas.microsoft.com/office/drawing/2014/main" id="{F3184156-FBB5-D14E-A565-7A4CAA818376}"/>
              </a:ext>
            </a:extLst>
          </p:cNvPr>
          <p:cNvSpPr>
            <a:spLocks noGrp="1"/>
          </p:cNvSpPr>
          <p:nvPr>
            <p:ph type="title"/>
          </p:nvPr>
        </p:nvSpPr>
        <p:spPr>
          <a:xfrm>
            <a:off x="614082" y="914401"/>
            <a:ext cx="5481918" cy="553998"/>
          </a:xfrm>
        </p:spPr>
        <p:txBody>
          <a:bodyPr/>
          <a:lstStyle/>
          <a:p>
            <a:r>
              <a:rPr lang="en-US" sz="1800" dirty="0"/>
              <a:t>Store Operations Redefined: Operational Efficiency / Proactive Maintenance / Asset Intelligence</a:t>
            </a:r>
          </a:p>
        </p:txBody>
      </p:sp>
      <p:grpSp>
        <p:nvGrpSpPr>
          <p:cNvPr id="3" name="Group 2">
            <a:extLst>
              <a:ext uri="{FF2B5EF4-FFF2-40B4-BE49-F238E27FC236}">
                <a16:creationId xmlns:a16="http://schemas.microsoft.com/office/drawing/2014/main" id="{8CDEF231-EC1F-06B2-0083-3A6E0C78D33E}"/>
              </a:ext>
            </a:extLst>
          </p:cNvPr>
          <p:cNvGrpSpPr/>
          <p:nvPr/>
        </p:nvGrpSpPr>
        <p:grpSpPr>
          <a:xfrm>
            <a:off x="1818181" y="5474791"/>
            <a:ext cx="1298218" cy="842322"/>
            <a:chOff x="487563" y="5377808"/>
            <a:chExt cx="1427362" cy="853647"/>
          </a:xfrm>
        </p:grpSpPr>
        <p:sp>
          <p:nvSpPr>
            <p:cNvPr id="9" name="Text Placeholder 8">
              <a:extLst>
                <a:ext uri="{FF2B5EF4-FFF2-40B4-BE49-F238E27FC236}">
                  <a16:creationId xmlns:a16="http://schemas.microsoft.com/office/drawing/2014/main" id="{69282C7E-EB6E-5F67-49B1-EEECB9584391}"/>
                </a:ext>
              </a:extLst>
            </p:cNvPr>
            <p:cNvSpPr txBox="1">
              <a:spLocks/>
            </p:cNvSpPr>
            <p:nvPr/>
          </p:nvSpPr>
          <p:spPr>
            <a:xfrm>
              <a:off x="640311" y="5815957"/>
              <a:ext cx="1135234" cy="415498"/>
            </a:xfrm>
            <a:prstGeom prst="rect">
              <a:avLst/>
            </a:prstGeom>
          </p:spPr>
          <p:txBody>
            <a:bodyPr lIns="0" tIns="0" rIns="0" bIns="0" anchor="t">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 indent="-7620">
                <a:lnSpc>
                  <a:spcPct val="100000"/>
                </a:lnSpc>
                <a:spcBef>
                  <a:spcPts val="0"/>
                </a:spcBef>
                <a:buClr>
                  <a:srgbClr val="3C2CDA"/>
                </a:buClr>
                <a:defRPr/>
              </a:pPr>
              <a:r>
                <a:rPr lang="en-US" dirty="0"/>
                <a:t>Improved Efficiency</a:t>
              </a:r>
            </a:p>
            <a:p>
              <a:pPr marL="7620" indent="-7620">
                <a:lnSpc>
                  <a:spcPct val="100000"/>
                </a:lnSpc>
                <a:spcBef>
                  <a:spcPts val="0"/>
                </a:spcBef>
                <a:defRPr/>
              </a:pPr>
              <a:endParaRPr lang="en-US" dirty="0">
                <a:latin typeface="Manrope"/>
              </a:endParaRPr>
            </a:p>
            <a:p>
              <a:pPr marL="7620" indent="-7620">
                <a:lnSpc>
                  <a:spcPct val="100000"/>
                </a:lnSpc>
                <a:spcBef>
                  <a:spcPts val="0"/>
                </a:spcBef>
                <a:defRPr/>
              </a:pPr>
              <a:endParaRPr lang="en-US" dirty="0">
                <a:latin typeface="Manrope"/>
              </a:endParaRPr>
            </a:p>
            <a:p>
              <a:pPr marL="7620" indent="-7620">
                <a:lnSpc>
                  <a:spcPct val="100000"/>
                </a:lnSpc>
                <a:spcBef>
                  <a:spcPts val="0"/>
                </a:spcBef>
                <a:defRPr/>
              </a:pPr>
              <a:endParaRPr lang="en-US" dirty="0">
                <a:latin typeface="Manrope"/>
              </a:endParaRPr>
            </a:p>
          </p:txBody>
        </p:sp>
        <p:sp>
          <p:nvSpPr>
            <p:cNvPr id="10" name="Text Placeholder 8">
              <a:extLst>
                <a:ext uri="{FF2B5EF4-FFF2-40B4-BE49-F238E27FC236}">
                  <a16:creationId xmlns:a16="http://schemas.microsoft.com/office/drawing/2014/main" id="{40158E9C-CCD2-4904-8FE4-C70BA1A15A44}"/>
                </a:ext>
              </a:extLst>
            </p:cNvPr>
            <p:cNvSpPr txBox="1">
              <a:spLocks/>
            </p:cNvSpPr>
            <p:nvPr/>
          </p:nvSpPr>
          <p:spPr>
            <a:xfrm>
              <a:off x="487563" y="5377808"/>
              <a:ext cx="1427362"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dirty="0">
                  <a:ln>
                    <a:noFill/>
                  </a:ln>
                  <a:solidFill>
                    <a:srgbClr val="3C2CDA"/>
                  </a:solidFill>
                  <a:effectLst/>
                  <a:uLnTx/>
                  <a:uFillTx/>
                  <a:latin typeface="Manrope Light"/>
                </a:rPr>
                <a:t> </a:t>
              </a:r>
              <a:r>
                <a:rPr lang="en-IN" dirty="0">
                  <a:solidFill>
                    <a:srgbClr val="3C2CDA"/>
                  </a:solidFill>
                  <a:latin typeface="Manrope Light"/>
                </a:rPr>
                <a:t>64</a:t>
              </a:r>
              <a:r>
                <a:rPr kumimoji="0" lang="en-IN" sz="3000" b="0" i="0" u="none" strike="noStrike" kern="1200" cap="none" spc="0" normalizeH="0" baseline="0" noProof="0" dirty="0">
                  <a:ln>
                    <a:noFill/>
                  </a:ln>
                  <a:solidFill>
                    <a:srgbClr val="3C2CDA"/>
                  </a:solidFill>
                  <a:effectLst/>
                  <a:uLnTx/>
                  <a:uFillTx/>
                  <a:latin typeface="Manrope Light"/>
                </a:rPr>
                <a:t>%</a:t>
              </a:r>
              <a:endParaRPr lang="en-US" dirty="0"/>
            </a:p>
          </p:txBody>
        </p:sp>
      </p:grpSp>
      <p:grpSp>
        <p:nvGrpSpPr>
          <p:cNvPr id="20" name="Group 19">
            <a:extLst>
              <a:ext uri="{FF2B5EF4-FFF2-40B4-BE49-F238E27FC236}">
                <a16:creationId xmlns:a16="http://schemas.microsoft.com/office/drawing/2014/main" id="{54F56002-E426-1F14-C769-FF5D2BAA4CDC}"/>
              </a:ext>
            </a:extLst>
          </p:cNvPr>
          <p:cNvGrpSpPr/>
          <p:nvPr/>
        </p:nvGrpSpPr>
        <p:grpSpPr>
          <a:xfrm>
            <a:off x="3196387" y="5470362"/>
            <a:ext cx="1293474" cy="853646"/>
            <a:chOff x="2267229" y="5238256"/>
            <a:chExt cx="1234991" cy="853646"/>
          </a:xfrm>
        </p:grpSpPr>
        <p:sp>
          <p:nvSpPr>
            <p:cNvPr id="21" name="Text Placeholder 8">
              <a:extLst>
                <a:ext uri="{FF2B5EF4-FFF2-40B4-BE49-F238E27FC236}">
                  <a16:creationId xmlns:a16="http://schemas.microsoft.com/office/drawing/2014/main" id="{C9C3C70B-7BCD-1730-ABA9-4F469CA61521}"/>
                </a:ext>
              </a:extLst>
            </p:cNvPr>
            <p:cNvSpPr txBox="1">
              <a:spLocks/>
            </p:cNvSpPr>
            <p:nvPr/>
          </p:nvSpPr>
          <p:spPr>
            <a:xfrm>
              <a:off x="2267229" y="5764479"/>
              <a:ext cx="1132002" cy="327423"/>
            </a:xfrm>
            <a:prstGeom prst="rect">
              <a:avLst/>
            </a:prstGeom>
          </p:spPr>
          <p:txBody>
            <a:bodyPr lIns="0" tIns="0" rIns="0" bIns="0" anchor="t">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 indent="-7620">
                <a:lnSpc>
                  <a:spcPct val="100000"/>
                </a:lnSpc>
                <a:spcBef>
                  <a:spcPts val="0"/>
                </a:spcBef>
                <a:buClr>
                  <a:srgbClr val="3C2CDA"/>
                </a:buClr>
                <a:defRPr/>
              </a:pPr>
              <a:r>
                <a:rPr lang="en-IN" dirty="0"/>
                <a:t>Increased Quality of Service</a:t>
              </a:r>
            </a:p>
          </p:txBody>
        </p:sp>
        <p:sp>
          <p:nvSpPr>
            <p:cNvPr id="22" name="Text Placeholder 8">
              <a:extLst>
                <a:ext uri="{FF2B5EF4-FFF2-40B4-BE49-F238E27FC236}">
                  <a16:creationId xmlns:a16="http://schemas.microsoft.com/office/drawing/2014/main" id="{433E7B1A-5A8E-8A7D-8413-88F236FEDDEE}"/>
                </a:ext>
              </a:extLst>
            </p:cNvPr>
            <p:cNvSpPr txBox="1">
              <a:spLocks/>
            </p:cNvSpPr>
            <p:nvPr/>
          </p:nvSpPr>
          <p:spPr>
            <a:xfrm>
              <a:off x="2267229" y="5238256"/>
              <a:ext cx="1234991"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buClr>
                  <a:srgbClr val="3C2CDA"/>
                </a:buClr>
                <a:defRPr/>
              </a:pPr>
              <a:r>
                <a:rPr lang="en-IN" dirty="0">
                  <a:solidFill>
                    <a:srgbClr val="3C2CDA"/>
                  </a:solidFill>
                  <a:latin typeface="Manrope Light"/>
                </a:rPr>
                <a:t>40% </a:t>
              </a:r>
              <a:endParaRPr lang="en-IN" sz="3000" b="0" i="0" u="none" strike="noStrike" kern="1200" cap="none" spc="0" normalizeH="0" baseline="0" noProof="0" dirty="0">
                <a:ln>
                  <a:noFill/>
                </a:ln>
                <a:solidFill>
                  <a:srgbClr val="3C2CDA"/>
                </a:solidFill>
                <a:effectLst/>
                <a:uLnTx/>
                <a:uFillTx/>
                <a:latin typeface="Manrope Light"/>
              </a:endParaRPr>
            </a:p>
          </p:txBody>
        </p:sp>
      </p:grpSp>
      <p:grpSp>
        <p:nvGrpSpPr>
          <p:cNvPr id="8" name="Group 7">
            <a:extLst>
              <a:ext uri="{FF2B5EF4-FFF2-40B4-BE49-F238E27FC236}">
                <a16:creationId xmlns:a16="http://schemas.microsoft.com/office/drawing/2014/main" id="{F2B01B4A-FD95-CBC4-B4BD-1109E0423125}"/>
              </a:ext>
            </a:extLst>
          </p:cNvPr>
          <p:cNvGrpSpPr/>
          <p:nvPr/>
        </p:nvGrpSpPr>
        <p:grpSpPr>
          <a:xfrm>
            <a:off x="417314" y="5470362"/>
            <a:ext cx="1260862" cy="817204"/>
            <a:chOff x="487563" y="5377808"/>
            <a:chExt cx="1427362" cy="853647"/>
          </a:xfrm>
        </p:grpSpPr>
        <p:sp>
          <p:nvSpPr>
            <p:cNvPr id="12" name="Text Placeholder 8">
              <a:extLst>
                <a:ext uri="{FF2B5EF4-FFF2-40B4-BE49-F238E27FC236}">
                  <a16:creationId xmlns:a16="http://schemas.microsoft.com/office/drawing/2014/main" id="{F4A27CFF-6E96-7020-2CF1-136FF04F0C9B}"/>
                </a:ext>
              </a:extLst>
            </p:cNvPr>
            <p:cNvSpPr txBox="1">
              <a:spLocks/>
            </p:cNvSpPr>
            <p:nvPr/>
          </p:nvSpPr>
          <p:spPr>
            <a:xfrm>
              <a:off x="640311" y="5815957"/>
              <a:ext cx="1135234" cy="415498"/>
            </a:xfrm>
            <a:prstGeom prst="rect">
              <a:avLst/>
            </a:prstGeom>
          </p:spPr>
          <p:txBody>
            <a:bodyPr lIns="0" tIns="0" rIns="0" bIns="0" anchor="t">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 indent="-7620">
                <a:lnSpc>
                  <a:spcPct val="100000"/>
                </a:lnSpc>
                <a:spcBef>
                  <a:spcPts val="0"/>
                </a:spcBef>
                <a:buClr>
                  <a:srgbClr val="3C2CDA"/>
                </a:buClr>
                <a:defRPr/>
              </a:pPr>
              <a:r>
                <a:rPr lang="en-US" dirty="0"/>
                <a:t>Increase in TCO Benefit</a:t>
              </a:r>
            </a:p>
            <a:p>
              <a:pPr marL="7620" indent="-7620">
                <a:lnSpc>
                  <a:spcPct val="100000"/>
                </a:lnSpc>
                <a:spcBef>
                  <a:spcPts val="0"/>
                </a:spcBef>
                <a:defRPr/>
              </a:pPr>
              <a:endParaRPr lang="en-US" dirty="0">
                <a:latin typeface="Manrope"/>
              </a:endParaRPr>
            </a:p>
            <a:p>
              <a:pPr marL="7620" indent="-7620">
                <a:lnSpc>
                  <a:spcPct val="100000"/>
                </a:lnSpc>
                <a:spcBef>
                  <a:spcPts val="0"/>
                </a:spcBef>
                <a:defRPr/>
              </a:pPr>
              <a:endParaRPr lang="en-US" dirty="0">
                <a:latin typeface="Manrope"/>
              </a:endParaRPr>
            </a:p>
            <a:p>
              <a:pPr marL="7620" indent="-7620">
                <a:lnSpc>
                  <a:spcPct val="100000"/>
                </a:lnSpc>
                <a:spcBef>
                  <a:spcPts val="0"/>
                </a:spcBef>
                <a:defRPr/>
              </a:pPr>
              <a:endParaRPr lang="en-US" dirty="0">
                <a:latin typeface="Manrope"/>
              </a:endParaRPr>
            </a:p>
          </p:txBody>
        </p:sp>
        <p:sp>
          <p:nvSpPr>
            <p:cNvPr id="13" name="Text Placeholder 8">
              <a:extLst>
                <a:ext uri="{FF2B5EF4-FFF2-40B4-BE49-F238E27FC236}">
                  <a16:creationId xmlns:a16="http://schemas.microsoft.com/office/drawing/2014/main" id="{095E99E3-C333-F598-1F9D-6C14D20884B6}"/>
                </a:ext>
              </a:extLst>
            </p:cNvPr>
            <p:cNvSpPr txBox="1">
              <a:spLocks/>
            </p:cNvSpPr>
            <p:nvPr/>
          </p:nvSpPr>
          <p:spPr>
            <a:xfrm>
              <a:off x="487563" y="5377808"/>
              <a:ext cx="1427362" cy="434027"/>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dirty="0">
                  <a:ln>
                    <a:noFill/>
                  </a:ln>
                  <a:solidFill>
                    <a:srgbClr val="3C2CDA"/>
                  </a:solidFill>
                  <a:effectLst/>
                  <a:uLnTx/>
                  <a:uFillTx/>
                  <a:latin typeface="Manrope Light"/>
                </a:rPr>
                <a:t>  21%</a:t>
              </a:r>
              <a:endParaRPr lang="en-US" dirty="0"/>
            </a:p>
          </p:txBody>
        </p:sp>
      </p:grpSp>
      <p:grpSp>
        <p:nvGrpSpPr>
          <p:cNvPr id="14" name="Group 13">
            <a:extLst>
              <a:ext uri="{FF2B5EF4-FFF2-40B4-BE49-F238E27FC236}">
                <a16:creationId xmlns:a16="http://schemas.microsoft.com/office/drawing/2014/main" id="{13A3D12B-042E-EE05-4051-B3301907F2DF}"/>
              </a:ext>
            </a:extLst>
          </p:cNvPr>
          <p:cNvGrpSpPr/>
          <p:nvPr/>
        </p:nvGrpSpPr>
        <p:grpSpPr>
          <a:xfrm>
            <a:off x="4698054" y="5470362"/>
            <a:ext cx="1423046" cy="828530"/>
            <a:chOff x="2267228" y="5238256"/>
            <a:chExt cx="1234992" cy="853647"/>
          </a:xfrm>
        </p:grpSpPr>
        <p:sp>
          <p:nvSpPr>
            <p:cNvPr id="15" name="Text Placeholder 8">
              <a:extLst>
                <a:ext uri="{FF2B5EF4-FFF2-40B4-BE49-F238E27FC236}">
                  <a16:creationId xmlns:a16="http://schemas.microsoft.com/office/drawing/2014/main" id="{3155614F-81B2-52E4-DB38-A3398B1278AB}"/>
                </a:ext>
              </a:extLst>
            </p:cNvPr>
            <p:cNvSpPr txBox="1">
              <a:spLocks/>
            </p:cNvSpPr>
            <p:nvPr/>
          </p:nvSpPr>
          <p:spPr>
            <a:xfrm>
              <a:off x="2267228" y="5676405"/>
              <a:ext cx="1057528" cy="415498"/>
            </a:xfrm>
            <a:prstGeom prst="rect">
              <a:avLst/>
            </a:prstGeom>
          </p:spPr>
          <p:txBody>
            <a:bodyPr lIns="0" tIns="0" rIns="0" bIns="0" anchor="t">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 indent="-7620">
                <a:lnSpc>
                  <a:spcPct val="100000"/>
                </a:lnSpc>
                <a:spcBef>
                  <a:spcPts val="0"/>
                </a:spcBef>
                <a:buClr>
                  <a:srgbClr val="3C2CDA"/>
                </a:buClr>
                <a:defRPr/>
              </a:pPr>
              <a:r>
                <a:rPr lang="en-IN" dirty="0"/>
                <a:t>Reduced Maintenance Cost</a:t>
              </a:r>
            </a:p>
          </p:txBody>
        </p:sp>
        <p:sp>
          <p:nvSpPr>
            <p:cNvPr id="16" name="Text Placeholder 8">
              <a:extLst>
                <a:ext uri="{FF2B5EF4-FFF2-40B4-BE49-F238E27FC236}">
                  <a16:creationId xmlns:a16="http://schemas.microsoft.com/office/drawing/2014/main" id="{DFB129B2-D3CB-8B2E-84EE-45DFCFB56591}"/>
                </a:ext>
              </a:extLst>
            </p:cNvPr>
            <p:cNvSpPr txBox="1">
              <a:spLocks/>
            </p:cNvSpPr>
            <p:nvPr/>
          </p:nvSpPr>
          <p:spPr>
            <a:xfrm>
              <a:off x="2267229" y="5238256"/>
              <a:ext cx="1234991"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buClr>
                  <a:srgbClr val="3C2CDA"/>
                </a:buClr>
                <a:defRPr/>
              </a:pPr>
              <a:r>
                <a:rPr lang="en-IN" dirty="0">
                  <a:solidFill>
                    <a:srgbClr val="3C2CDA"/>
                  </a:solidFill>
                  <a:latin typeface="Manrope Light"/>
                </a:rPr>
                <a:t>18% </a:t>
              </a:r>
              <a:endParaRPr lang="en-IN" sz="3000" b="0" i="0" u="none" strike="noStrike" kern="1200" cap="none" spc="0" normalizeH="0" baseline="0" noProof="0" dirty="0">
                <a:ln>
                  <a:noFill/>
                </a:ln>
                <a:solidFill>
                  <a:srgbClr val="3C2CDA"/>
                </a:solidFill>
                <a:effectLst/>
                <a:uLnTx/>
                <a:uFillTx/>
                <a:latin typeface="Manrope Light"/>
              </a:endParaRPr>
            </a:p>
          </p:txBody>
        </p:sp>
      </p:grpSp>
      <p:sp>
        <p:nvSpPr>
          <p:cNvPr id="18" name="TextBox 17">
            <a:extLst>
              <a:ext uri="{FF2B5EF4-FFF2-40B4-BE49-F238E27FC236}">
                <a16:creationId xmlns:a16="http://schemas.microsoft.com/office/drawing/2014/main" id="{1FC3877B-257F-BCED-56EE-13B11A6F15CC}"/>
              </a:ext>
            </a:extLst>
          </p:cNvPr>
          <p:cNvSpPr txBox="1"/>
          <p:nvPr/>
        </p:nvSpPr>
        <p:spPr>
          <a:xfrm>
            <a:off x="294449" y="2230049"/>
            <a:ext cx="5929778" cy="2397901"/>
          </a:xfrm>
          <a:prstGeom prst="rect">
            <a:avLst/>
          </a:prstGeom>
          <a:noFill/>
        </p:spPr>
        <p:txBody>
          <a:bodyPr wrap="square">
            <a:spAutoFit/>
          </a:bodyPr>
          <a:lstStyle/>
          <a:p>
            <a:pPr marL="342900" lvl="0" indent="-342900" algn="just">
              <a:lnSpc>
                <a:spcPct val="115000"/>
              </a:lnSpc>
              <a:spcAft>
                <a:spcPts val="800"/>
              </a:spcAft>
              <a:buFont typeface="Arial" panose="020B0604020202020204" pitchFamily="34" charset="0"/>
              <a:buChar char="•"/>
              <a:tabLst>
                <a:tab pos="457200" algn="l"/>
              </a:tabLst>
            </a:pPr>
            <a:r>
              <a:rPr lang="en-US" sz="1000" spc="10" dirty="0">
                <a:solidFill>
                  <a:srgbClr val="02051C"/>
                </a:solidFill>
                <a:latin typeface="Manrope"/>
              </a:rPr>
              <a:t>Hexaware implement</a:t>
            </a:r>
            <a:r>
              <a:rPr lang="en-AU" sz="1000" spc="10" dirty="0">
                <a:solidFill>
                  <a:srgbClr val="02051C"/>
                </a:solidFill>
                <a:latin typeface="Manrope"/>
              </a:rPr>
              <a:t>ed a </a:t>
            </a:r>
            <a:r>
              <a:rPr lang="en-US" sz="1000" spc="10" dirty="0">
                <a:solidFill>
                  <a:srgbClr val="02051C"/>
                </a:solidFill>
                <a:latin typeface="Manrope"/>
              </a:rPr>
              <a:t>futuristic solution for Energy and Building management services</a:t>
            </a:r>
            <a:r>
              <a:rPr lang="en-AU" sz="1000" spc="10" dirty="0">
                <a:solidFill>
                  <a:srgbClr val="02051C"/>
                </a:solidFill>
                <a:latin typeface="Manrope"/>
              </a:rPr>
              <a:t> for the store and helped in</a:t>
            </a:r>
            <a:r>
              <a:rPr lang="en-US" sz="1000" spc="10" dirty="0">
                <a:solidFill>
                  <a:srgbClr val="02051C"/>
                </a:solidFill>
                <a:latin typeface="Manrope"/>
              </a:rPr>
              <a:t> predictive maintenance, energy optimization, and food safety.</a:t>
            </a:r>
            <a:endParaRPr lang="en-AU" sz="1000" spc="10" dirty="0">
              <a:solidFill>
                <a:srgbClr val="02051C"/>
              </a:solidFill>
              <a:latin typeface="Manrope"/>
            </a:endParaRPr>
          </a:p>
          <a:p>
            <a:pPr marL="342900" lvl="0" indent="-342900" algn="just">
              <a:lnSpc>
                <a:spcPct val="115000"/>
              </a:lnSpc>
              <a:spcAft>
                <a:spcPts val="800"/>
              </a:spcAft>
              <a:buFont typeface="Arial" panose="020B0604020202020204" pitchFamily="34" charset="0"/>
              <a:buChar char="•"/>
              <a:tabLst>
                <a:tab pos="457200" algn="l"/>
              </a:tabLst>
            </a:pPr>
            <a:r>
              <a:rPr lang="en-US" sz="1000" spc="10" dirty="0">
                <a:solidFill>
                  <a:srgbClr val="02051C"/>
                </a:solidFill>
                <a:latin typeface="Manrope"/>
              </a:rPr>
              <a:t>Digital channels to engage with business, cloud-based asset management platform and 24x7 auto-ticket creation.</a:t>
            </a:r>
            <a:endParaRPr lang="en-AU" sz="1000" spc="10" dirty="0">
              <a:solidFill>
                <a:srgbClr val="02051C"/>
              </a:solidFill>
              <a:latin typeface="Manrope"/>
            </a:endParaRPr>
          </a:p>
          <a:p>
            <a:pPr marL="342900" lvl="0" indent="-342900" algn="just">
              <a:lnSpc>
                <a:spcPct val="115000"/>
              </a:lnSpc>
              <a:spcAft>
                <a:spcPts val="800"/>
              </a:spcAft>
              <a:buFont typeface="Arial" panose="020B0604020202020204" pitchFamily="34" charset="0"/>
              <a:buChar char="•"/>
              <a:tabLst>
                <a:tab pos="457200" algn="l"/>
              </a:tabLst>
            </a:pPr>
            <a:r>
              <a:rPr lang="en-US" sz="1000" spc="10" dirty="0">
                <a:solidFill>
                  <a:srgbClr val="02051C"/>
                </a:solidFill>
                <a:latin typeface="Manrope"/>
              </a:rPr>
              <a:t>Manage a proactive and preventive maintenance plan to reduce MTBF impacting direct and indirect cost of failure.</a:t>
            </a:r>
            <a:endParaRPr lang="en-AU" sz="1000" spc="10" dirty="0">
              <a:solidFill>
                <a:srgbClr val="02051C"/>
              </a:solidFill>
              <a:latin typeface="Manrope"/>
            </a:endParaRPr>
          </a:p>
          <a:p>
            <a:pPr marL="342900" lvl="0" indent="-342900" algn="just">
              <a:lnSpc>
                <a:spcPct val="115000"/>
              </a:lnSpc>
              <a:spcAft>
                <a:spcPts val="800"/>
              </a:spcAft>
              <a:buFont typeface="Arial" panose="020B0604020202020204" pitchFamily="34" charset="0"/>
              <a:buChar char="•"/>
              <a:tabLst>
                <a:tab pos="457200" algn="l"/>
              </a:tabLst>
            </a:pPr>
            <a:r>
              <a:rPr lang="en-US" sz="1000" spc="10" dirty="0">
                <a:solidFill>
                  <a:srgbClr val="02051C"/>
                </a:solidFill>
                <a:latin typeface="Manrope"/>
              </a:rPr>
              <a:t>Integrate IoT feed from in-store assets and leverage ML to create fault detection and predictive maintenance models across their lifecycle.</a:t>
            </a:r>
            <a:endParaRPr lang="en-AU" sz="1000" spc="10" dirty="0">
              <a:solidFill>
                <a:srgbClr val="02051C"/>
              </a:solidFill>
              <a:latin typeface="Manrope"/>
            </a:endParaRPr>
          </a:p>
          <a:p>
            <a:pPr marL="342900" lvl="0" indent="-342900" algn="just">
              <a:lnSpc>
                <a:spcPct val="115000"/>
              </a:lnSpc>
              <a:spcAft>
                <a:spcPts val="800"/>
              </a:spcAft>
              <a:buFont typeface="Arial" panose="020B0604020202020204" pitchFamily="34" charset="0"/>
              <a:buChar char="•"/>
              <a:tabLst>
                <a:tab pos="457200" algn="l"/>
              </a:tabLst>
            </a:pPr>
            <a:r>
              <a:rPr lang="en-US" sz="1000" spc="10" dirty="0">
                <a:solidFill>
                  <a:srgbClr val="02051C"/>
                </a:solidFill>
                <a:latin typeface="Manrope"/>
              </a:rPr>
              <a:t>Proactive maintenance alerts triggered based on analytics and asset intelligence.</a:t>
            </a:r>
            <a:endParaRPr lang="en-AU" sz="1000" spc="10" dirty="0">
              <a:solidFill>
                <a:srgbClr val="02051C"/>
              </a:solidFill>
              <a:latin typeface="Manrope"/>
            </a:endParaRPr>
          </a:p>
          <a:p>
            <a:pPr>
              <a:lnSpc>
                <a:spcPct val="115000"/>
              </a:lnSpc>
              <a:spcAft>
                <a:spcPts val="800"/>
              </a:spcAft>
            </a:pPr>
            <a:r>
              <a:rPr lang="en-AU" sz="1200" kern="100" dirty="0">
                <a:effectLst/>
                <a:ea typeface="Aptos" panose="020B0004020202020204" pitchFamily="34" charset="0"/>
                <a:cs typeface="Times New Roman" panose="02020603050405020304" pitchFamily="18" charset="0"/>
              </a:rPr>
              <a:t> </a:t>
            </a:r>
          </a:p>
        </p:txBody>
      </p:sp>
      <p:pic>
        <p:nvPicPr>
          <p:cNvPr id="24" name="object 8">
            <a:extLst>
              <a:ext uri="{FF2B5EF4-FFF2-40B4-BE49-F238E27FC236}">
                <a16:creationId xmlns:a16="http://schemas.microsoft.com/office/drawing/2014/main" id="{5907E605-65A0-83E7-AEF2-1D8D15937D21}"/>
              </a:ext>
            </a:extLst>
          </p:cNvPr>
          <p:cNvPicPr>
            <a:picLocks noGrp="1"/>
          </p:cNvPicPr>
          <p:nvPr>
            <p:ph type="pic" sz="quarter" idx="17"/>
          </p:nvPr>
        </p:nvPicPr>
        <p:blipFill>
          <a:blip r:embed="rId3" cstate="screen">
            <a:extLst>
              <a:ext uri="{28A0092B-C50C-407E-A947-70E740481C1C}">
                <a14:useLocalDpi xmlns:a14="http://schemas.microsoft.com/office/drawing/2010/main"/>
              </a:ext>
            </a:extLst>
          </a:blip>
          <a:srcRect t="719" b="719"/>
          <a:stretch>
            <a:fillRect/>
          </a:stretch>
        </p:blipFill>
        <p:spPr>
          <a:xfrm>
            <a:off x="6548888" y="914401"/>
            <a:ext cx="5455269" cy="5273748"/>
          </a:xfrm>
          <a:prstGeom prst="rect">
            <a:avLst/>
          </a:prstGeom>
        </p:spPr>
      </p:pic>
      <p:sp>
        <p:nvSpPr>
          <p:cNvPr id="4" name="Text Placeholder 3">
            <a:extLst>
              <a:ext uri="{FF2B5EF4-FFF2-40B4-BE49-F238E27FC236}">
                <a16:creationId xmlns:a16="http://schemas.microsoft.com/office/drawing/2014/main" id="{34BD1CB2-B14B-EB66-A838-1A30ADD00E65}"/>
              </a:ext>
            </a:extLst>
          </p:cNvPr>
          <p:cNvSpPr>
            <a:spLocks noGrp="1"/>
          </p:cNvSpPr>
          <p:nvPr>
            <p:ph type="body" sz="quarter" idx="21"/>
          </p:nvPr>
        </p:nvSpPr>
        <p:spPr/>
        <p:txBody>
          <a:bodyPr/>
          <a:lstStyle/>
          <a:p>
            <a:r>
              <a:rPr lang="en-AU" sz="1800" b="1" dirty="0"/>
              <a:t>Retail – Australian leading Supermarket chain</a:t>
            </a:r>
          </a:p>
        </p:txBody>
      </p:sp>
    </p:spTree>
    <p:extLst>
      <p:ext uri="{BB962C8B-B14F-4D97-AF65-F5344CB8AC3E}">
        <p14:creationId xmlns:p14="http://schemas.microsoft.com/office/powerpoint/2010/main" val="1470852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Placeholder 177">
            <a:extLst>
              <a:ext uri="{FF2B5EF4-FFF2-40B4-BE49-F238E27FC236}">
                <a16:creationId xmlns:a16="http://schemas.microsoft.com/office/drawing/2014/main" id="{917E073C-AC6C-D437-2222-908F3E5194BC}"/>
              </a:ext>
            </a:extLst>
          </p:cNvPr>
          <p:cNvSpPr>
            <a:spLocks noGrp="1"/>
          </p:cNvSpPr>
          <p:nvPr>
            <p:ph type="body" sz="quarter" idx="20"/>
          </p:nvPr>
        </p:nvSpPr>
        <p:spPr>
          <a:xfrm>
            <a:off x="623887" y="1726502"/>
            <a:ext cx="5400675" cy="2927782"/>
          </a:xfrm>
        </p:spPr>
        <p:txBody>
          <a:bodyPr>
            <a:noAutofit/>
          </a:bodyPr>
          <a:lstStyle/>
          <a:p>
            <a:pPr>
              <a:lnSpc>
                <a:spcPct val="100000"/>
              </a:lnSpc>
              <a:buClr>
                <a:schemeClr val="accent1"/>
              </a:buClr>
            </a:pPr>
            <a:r>
              <a:rPr lang="en-US" sz="1000" dirty="0"/>
              <a:t>Omnichannel Loan and Mortgage Computation Intake: Designed and deployed DM, PAF, and UCP systems to streamline the intake process, managing applicant information, assets, costs, and more.</a:t>
            </a:r>
          </a:p>
          <a:p>
            <a:pPr>
              <a:lnSpc>
                <a:spcPct val="100000"/>
              </a:lnSpc>
              <a:buClr>
                <a:schemeClr val="accent1"/>
              </a:buClr>
            </a:pPr>
            <a:r>
              <a:rPr lang="en-US" sz="1000" dirty="0"/>
              <a:t>Automated Client Data Gathering: Enhanced efficiency and effectiveness by automating the collection of client data.</a:t>
            </a:r>
          </a:p>
          <a:p>
            <a:pPr>
              <a:lnSpc>
                <a:spcPct val="100000"/>
              </a:lnSpc>
              <a:buClr>
                <a:schemeClr val="accent1"/>
              </a:buClr>
            </a:pPr>
            <a:r>
              <a:rPr lang="en-US" sz="1000" dirty="0"/>
              <a:t>White-Labeled Solutions: Automated document uploads and performed ABN lookups to ensure seamless integration and branding.</a:t>
            </a:r>
          </a:p>
          <a:p>
            <a:pPr>
              <a:lnSpc>
                <a:spcPct val="100000"/>
              </a:lnSpc>
              <a:buClr>
                <a:schemeClr val="accent1"/>
              </a:buClr>
            </a:pPr>
            <a:r>
              <a:rPr lang="en-US" sz="1000" dirty="0"/>
              <a:t>Data Integration: Integrated an enterprise data warehouse with OutSystems for secure storage and retrieval of critical consumer data.</a:t>
            </a:r>
          </a:p>
          <a:p>
            <a:pPr>
              <a:lnSpc>
                <a:spcPct val="100000"/>
              </a:lnSpc>
              <a:buClr>
                <a:schemeClr val="accent1"/>
              </a:buClr>
            </a:pPr>
            <a:r>
              <a:rPr lang="en-US" sz="1000" dirty="0"/>
              <a:t>Application Modernization: Digitized and modernized applications, reducing overheads and maintenance.</a:t>
            </a:r>
          </a:p>
          <a:p>
            <a:pPr>
              <a:lnSpc>
                <a:spcPct val="100000"/>
              </a:lnSpc>
              <a:buClr>
                <a:schemeClr val="accent1"/>
              </a:buClr>
            </a:pPr>
            <a:r>
              <a:rPr lang="en-US" sz="1000" dirty="0"/>
              <a:t>Automated Initial Client Data Requests: Streamlined the initial data request process for financial decision-making and advisory services.</a:t>
            </a:r>
          </a:p>
          <a:p>
            <a:pPr>
              <a:lnSpc>
                <a:spcPct val="100000"/>
              </a:lnSpc>
              <a:buClr>
                <a:schemeClr val="accent1"/>
              </a:buClr>
            </a:pPr>
            <a:r>
              <a:rPr lang="en-US" sz="1000" dirty="0"/>
              <a:t>Workflow Optimization: Implemented new forms in OutSystems, making workflows smoother and more user-friendly.</a:t>
            </a:r>
          </a:p>
          <a:p>
            <a:pPr>
              <a:lnSpc>
                <a:spcPct val="100000"/>
              </a:lnSpc>
              <a:buClr>
                <a:schemeClr val="accent1"/>
              </a:buClr>
            </a:pPr>
            <a:endParaRPr lang="en-US" sz="1000" dirty="0"/>
          </a:p>
        </p:txBody>
      </p:sp>
      <p:sp>
        <p:nvSpPr>
          <p:cNvPr id="271" name="Title 270">
            <a:extLst>
              <a:ext uri="{FF2B5EF4-FFF2-40B4-BE49-F238E27FC236}">
                <a16:creationId xmlns:a16="http://schemas.microsoft.com/office/drawing/2014/main" id="{C6A455E6-8FDF-A200-8F6B-00E8C683B9D3}"/>
              </a:ext>
            </a:extLst>
          </p:cNvPr>
          <p:cNvSpPr>
            <a:spLocks noGrp="1"/>
          </p:cNvSpPr>
          <p:nvPr>
            <p:ph type="title"/>
          </p:nvPr>
        </p:nvSpPr>
        <p:spPr>
          <a:xfrm>
            <a:off x="677861" y="904676"/>
            <a:ext cx="5292725" cy="553998"/>
          </a:xfrm>
        </p:spPr>
        <p:txBody>
          <a:bodyPr/>
          <a:lstStyle/>
          <a:p>
            <a:r>
              <a:rPr lang="en-US" sz="1800" dirty="0"/>
              <a:t>Modernizing Existing Systems Using Digital Cloud Platforms</a:t>
            </a:r>
          </a:p>
        </p:txBody>
      </p:sp>
      <p:sp>
        <p:nvSpPr>
          <p:cNvPr id="237" name="Text Placeholder 236">
            <a:extLst>
              <a:ext uri="{FF2B5EF4-FFF2-40B4-BE49-F238E27FC236}">
                <a16:creationId xmlns:a16="http://schemas.microsoft.com/office/drawing/2014/main" id="{BA1DBC48-8BFB-D7B4-0FD4-E4B698EA7A40}"/>
              </a:ext>
            </a:extLst>
          </p:cNvPr>
          <p:cNvSpPr>
            <a:spLocks noGrp="1"/>
          </p:cNvSpPr>
          <p:nvPr>
            <p:ph type="body" sz="quarter" idx="21"/>
          </p:nvPr>
        </p:nvSpPr>
        <p:spPr>
          <a:xfrm flipH="1">
            <a:off x="623887" y="457033"/>
            <a:ext cx="6176959" cy="216401"/>
          </a:xfrm>
        </p:spPr>
        <p:txBody>
          <a:bodyPr/>
          <a:lstStyle/>
          <a:p>
            <a:r>
              <a:rPr lang="en-US" sz="1800" b="1" dirty="0"/>
              <a:t>Banking – One of the largest Non-Bank Lenders in the ANZ region</a:t>
            </a:r>
          </a:p>
        </p:txBody>
      </p:sp>
      <p:pic>
        <p:nvPicPr>
          <p:cNvPr id="2" name="Picture Placeholder 4">
            <a:extLst>
              <a:ext uri="{FF2B5EF4-FFF2-40B4-BE49-F238E27FC236}">
                <a16:creationId xmlns:a16="http://schemas.microsoft.com/office/drawing/2014/main" id="{05816629-5A52-9C1C-BE1E-6FA85A12861D}"/>
              </a:ext>
            </a:extLst>
          </p:cNvPr>
          <p:cNvPicPr>
            <a:picLocks noGrp="1" noChangeAspect="1"/>
          </p:cNvPicPr>
          <p:nvPr>
            <p:ph type="pic" sz="quarter" idx="17"/>
          </p:nvPr>
        </p:nvPicPr>
        <p:blipFill rotWithShape="1">
          <a:blip r:embed="rId3" cstate="screen">
            <a:extLst>
              <a:ext uri="{28A0092B-C50C-407E-A947-70E740481C1C}">
                <a14:useLocalDpi xmlns:a14="http://schemas.microsoft.com/office/drawing/2010/main"/>
              </a:ext>
            </a:extLst>
          </a:blip>
          <a:srcRect/>
          <a:stretch/>
        </p:blipFill>
        <p:spPr>
          <a:xfrm>
            <a:off x="6438900" y="914401"/>
            <a:ext cx="5753100" cy="4856084"/>
          </a:xfrm>
        </p:spPr>
      </p:pic>
      <p:grpSp>
        <p:nvGrpSpPr>
          <p:cNvPr id="3" name="Group 2">
            <a:extLst>
              <a:ext uri="{FF2B5EF4-FFF2-40B4-BE49-F238E27FC236}">
                <a16:creationId xmlns:a16="http://schemas.microsoft.com/office/drawing/2014/main" id="{20F9878D-56C6-2E38-225C-208832BD7ECE}"/>
              </a:ext>
            </a:extLst>
          </p:cNvPr>
          <p:cNvGrpSpPr/>
          <p:nvPr/>
        </p:nvGrpSpPr>
        <p:grpSpPr>
          <a:xfrm>
            <a:off x="623887" y="5327082"/>
            <a:ext cx="1000144" cy="853647"/>
            <a:chOff x="640311" y="5377808"/>
            <a:chExt cx="1274614" cy="853647"/>
          </a:xfrm>
        </p:grpSpPr>
        <p:sp>
          <p:nvSpPr>
            <p:cNvPr id="9" name="Text Placeholder 8">
              <a:extLst>
                <a:ext uri="{FF2B5EF4-FFF2-40B4-BE49-F238E27FC236}">
                  <a16:creationId xmlns:a16="http://schemas.microsoft.com/office/drawing/2014/main" id="{AC4F2109-E405-4DA7-B85E-46A28D763473}"/>
                </a:ext>
              </a:extLst>
            </p:cNvPr>
            <p:cNvSpPr txBox="1">
              <a:spLocks/>
            </p:cNvSpPr>
            <p:nvPr/>
          </p:nvSpPr>
          <p:spPr>
            <a:xfrm>
              <a:off x="640311" y="5815957"/>
              <a:ext cx="1135234" cy="415498"/>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marR="0" lvl="0" indent="-7938"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None/>
                <a:tabLst/>
                <a:defRPr/>
              </a:pPr>
              <a:r>
                <a:rPr kumimoji="0" lang="en-US" sz="1000" b="0" i="0" u="none" strike="noStrike" kern="1200" cap="none" spc="10" normalizeH="0" baseline="0" noProof="0" dirty="0">
                  <a:ln>
                    <a:noFill/>
                  </a:ln>
                  <a:effectLst/>
                  <a:uLnTx/>
                  <a:uFillTx/>
                  <a:latin typeface="Manrope"/>
                </a:rPr>
                <a:t>Less time for decisioning</a:t>
              </a:r>
            </a:p>
          </p:txBody>
        </p:sp>
        <p:sp>
          <p:nvSpPr>
            <p:cNvPr id="10" name="Text Placeholder 8">
              <a:extLst>
                <a:ext uri="{FF2B5EF4-FFF2-40B4-BE49-F238E27FC236}">
                  <a16:creationId xmlns:a16="http://schemas.microsoft.com/office/drawing/2014/main" id="{F97274E1-31E3-536A-6888-44028001976A}"/>
                </a:ext>
              </a:extLst>
            </p:cNvPr>
            <p:cNvSpPr txBox="1">
              <a:spLocks/>
            </p:cNvSpPr>
            <p:nvPr/>
          </p:nvSpPr>
          <p:spPr>
            <a:xfrm>
              <a:off x="640311" y="5377808"/>
              <a:ext cx="1274614"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dirty="0">
                  <a:ln>
                    <a:noFill/>
                  </a:ln>
                  <a:solidFill>
                    <a:srgbClr val="3C2CDA"/>
                  </a:solidFill>
                  <a:effectLst/>
                  <a:uLnTx/>
                  <a:uFillTx/>
                  <a:latin typeface="Manrope Light"/>
                </a:rPr>
                <a:t>50% </a:t>
              </a:r>
            </a:p>
          </p:txBody>
        </p:sp>
      </p:grpSp>
      <p:grpSp>
        <p:nvGrpSpPr>
          <p:cNvPr id="20" name="Group 19">
            <a:extLst>
              <a:ext uri="{FF2B5EF4-FFF2-40B4-BE49-F238E27FC236}">
                <a16:creationId xmlns:a16="http://schemas.microsoft.com/office/drawing/2014/main" id="{4B7C5695-AFF7-E954-2143-33384A7FEA76}"/>
              </a:ext>
            </a:extLst>
          </p:cNvPr>
          <p:cNvGrpSpPr/>
          <p:nvPr/>
        </p:nvGrpSpPr>
        <p:grpSpPr>
          <a:xfrm>
            <a:off x="1858125" y="5305789"/>
            <a:ext cx="1099273" cy="853647"/>
            <a:chOff x="2267228" y="5238256"/>
            <a:chExt cx="1357397" cy="853647"/>
          </a:xfrm>
        </p:grpSpPr>
        <p:sp>
          <p:nvSpPr>
            <p:cNvPr id="21" name="Text Placeholder 8">
              <a:extLst>
                <a:ext uri="{FF2B5EF4-FFF2-40B4-BE49-F238E27FC236}">
                  <a16:creationId xmlns:a16="http://schemas.microsoft.com/office/drawing/2014/main" id="{36CF32F1-01DE-0944-DAAE-7D0B85954071}"/>
                </a:ext>
              </a:extLst>
            </p:cNvPr>
            <p:cNvSpPr txBox="1">
              <a:spLocks/>
            </p:cNvSpPr>
            <p:nvPr/>
          </p:nvSpPr>
          <p:spPr>
            <a:xfrm>
              <a:off x="2267228" y="5676405"/>
              <a:ext cx="1357397" cy="415498"/>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marR="0" lvl="0" indent="-7938"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None/>
                <a:tabLst/>
                <a:defRPr/>
              </a:pPr>
              <a:r>
                <a:rPr kumimoji="0" lang="en-IN" sz="1000" b="0" i="0" u="none" strike="noStrike" kern="1200" cap="none" spc="10" normalizeH="0" baseline="0" noProof="0" dirty="0">
                  <a:ln>
                    <a:noFill/>
                  </a:ln>
                  <a:effectLst/>
                  <a:uLnTx/>
                  <a:uFillTx/>
                  <a:latin typeface="Manrope"/>
                </a:rPr>
                <a:t>Faster delivery and greater agility</a:t>
              </a:r>
            </a:p>
          </p:txBody>
        </p:sp>
        <p:sp>
          <p:nvSpPr>
            <p:cNvPr id="22" name="Text Placeholder 8">
              <a:extLst>
                <a:ext uri="{FF2B5EF4-FFF2-40B4-BE49-F238E27FC236}">
                  <a16:creationId xmlns:a16="http://schemas.microsoft.com/office/drawing/2014/main" id="{F30000BE-0C47-283C-7104-FEF41CB9B737}"/>
                </a:ext>
              </a:extLst>
            </p:cNvPr>
            <p:cNvSpPr txBox="1">
              <a:spLocks/>
            </p:cNvSpPr>
            <p:nvPr/>
          </p:nvSpPr>
          <p:spPr>
            <a:xfrm>
              <a:off x="2267229" y="5238256"/>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dirty="0">
                  <a:ln>
                    <a:noFill/>
                  </a:ln>
                  <a:solidFill>
                    <a:srgbClr val="3C2CDA"/>
                  </a:solidFill>
                  <a:effectLst/>
                  <a:uLnTx/>
                  <a:uFillTx/>
                  <a:latin typeface="Manrope Light"/>
                </a:rPr>
                <a:t>90%</a:t>
              </a:r>
            </a:p>
          </p:txBody>
        </p:sp>
      </p:grpSp>
      <p:grpSp>
        <p:nvGrpSpPr>
          <p:cNvPr id="23" name="Group 22">
            <a:extLst>
              <a:ext uri="{FF2B5EF4-FFF2-40B4-BE49-F238E27FC236}">
                <a16:creationId xmlns:a16="http://schemas.microsoft.com/office/drawing/2014/main" id="{BFFDF0C3-BA67-5CFD-2A6A-448BA3212981}"/>
              </a:ext>
            </a:extLst>
          </p:cNvPr>
          <p:cNvGrpSpPr/>
          <p:nvPr/>
        </p:nvGrpSpPr>
        <p:grpSpPr>
          <a:xfrm>
            <a:off x="3330051" y="5305789"/>
            <a:ext cx="890778" cy="929391"/>
            <a:chOff x="4191031" y="5238256"/>
            <a:chExt cx="1588366" cy="929391"/>
          </a:xfrm>
        </p:grpSpPr>
        <p:sp>
          <p:nvSpPr>
            <p:cNvPr id="24" name="Text Placeholder 8">
              <a:extLst>
                <a:ext uri="{FF2B5EF4-FFF2-40B4-BE49-F238E27FC236}">
                  <a16:creationId xmlns:a16="http://schemas.microsoft.com/office/drawing/2014/main" id="{2DC66339-5C7E-23ED-1C64-49B93EE77CC6}"/>
                </a:ext>
              </a:extLst>
            </p:cNvPr>
            <p:cNvSpPr txBox="1">
              <a:spLocks/>
            </p:cNvSpPr>
            <p:nvPr/>
          </p:nvSpPr>
          <p:spPr>
            <a:xfrm>
              <a:off x="4191031" y="5676405"/>
              <a:ext cx="1588366" cy="491242"/>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marR="0" lvl="0" indent="-7938"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None/>
                <a:tabLst/>
                <a:defRPr/>
              </a:pPr>
              <a:r>
                <a:rPr lang="en-IN" dirty="0">
                  <a:latin typeface="Manrope"/>
                </a:rPr>
                <a:t>single</a:t>
              </a:r>
              <a:r>
                <a:rPr kumimoji="0" lang="en-IN" sz="1000" b="0" i="0" u="none" strike="noStrike" kern="1200" cap="none" spc="10" normalizeH="0" baseline="0" noProof="0" dirty="0">
                  <a:ln>
                    <a:noFill/>
                  </a:ln>
                  <a:effectLst/>
                  <a:uLnTx/>
                  <a:uFillTx/>
                  <a:latin typeface="Manrope"/>
                </a:rPr>
                <a:t> portal for loans</a:t>
              </a:r>
            </a:p>
          </p:txBody>
        </p:sp>
        <p:sp>
          <p:nvSpPr>
            <p:cNvPr id="25" name="Text Placeholder 8">
              <a:extLst>
                <a:ext uri="{FF2B5EF4-FFF2-40B4-BE49-F238E27FC236}">
                  <a16:creationId xmlns:a16="http://schemas.microsoft.com/office/drawing/2014/main" id="{AF7B09BF-FD20-1A2B-3875-129CFBB4E9F3}"/>
                </a:ext>
              </a:extLst>
            </p:cNvPr>
            <p:cNvSpPr txBox="1">
              <a:spLocks/>
            </p:cNvSpPr>
            <p:nvPr/>
          </p:nvSpPr>
          <p:spPr>
            <a:xfrm>
              <a:off x="4191031" y="5238256"/>
              <a:ext cx="1234990"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dirty="0">
                  <a:ln>
                    <a:noFill/>
                  </a:ln>
                  <a:solidFill>
                    <a:srgbClr val="3C2CDA"/>
                  </a:solidFill>
                  <a:effectLst/>
                  <a:uLnTx/>
                  <a:uFillTx/>
                  <a:latin typeface="Manrope Light"/>
                </a:rPr>
                <a:t>1</a:t>
              </a:r>
            </a:p>
          </p:txBody>
        </p:sp>
      </p:grpSp>
    </p:spTree>
    <p:extLst>
      <p:ext uri="{BB962C8B-B14F-4D97-AF65-F5344CB8AC3E}">
        <p14:creationId xmlns:p14="http://schemas.microsoft.com/office/powerpoint/2010/main" val="1110886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9F0BB-26CA-6097-C172-01FD21E18C87}"/>
            </a:ext>
          </a:extLst>
        </p:cNvPr>
        <p:cNvGrpSpPr/>
        <p:nvPr/>
      </p:nvGrpSpPr>
      <p:grpSpPr>
        <a:xfrm>
          <a:off x="0" y="0"/>
          <a:ext cx="0" cy="0"/>
          <a:chOff x="0" y="0"/>
          <a:chExt cx="0" cy="0"/>
        </a:xfrm>
      </p:grpSpPr>
      <p:sp>
        <p:nvSpPr>
          <p:cNvPr id="178" name="Text Placeholder 177">
            <a:extLst>
              <a:ext uri="{FF2B5EF4-FFF2-40B4-BE49-F238E27FC236}">
                <a16:creationId xmlns:a16="http://schemas.microsoft.com/office/drawing/2014/main" id="{AFD4D529-2BCF-2EAD-4269-4D18F08DC10B}"/>
              </a:ext>
            </a:extLst>
          </p:cNvPr>
          <p:cNvSpPr>
            <a:spLocks noGrp="1"/>
          </p:cNvSpPr>
          <p:nvPr>
            <p:ph type="body" sz="quarter" idx="20"/>
          </p:nvPr>
        </p:nvSpPr>
        <p:spPr>
          <a:xfrm>
            <a:off x="623887" y="1726502"/>
            <a:ext cx="5400675" cy="2927782"/>
          </a:xfrm>
        </p:spPr>
        <p:txBody>
          <a:bodyPr>
            <a:noAutofit/>
          </a:bodyPr>
          <a:lstStyle/>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Provided managed services with stringent service levels, improved user onboarding/offboarding, and built a robust procedures repository to reduce single points of failure.</a:t>
            </a:r>
          </a:p>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Deployed Intune and MS Teams, implemented AWS helpdesk IVR, and upgraded core banking systems from Power 8 to Power 10.</a:t>
            </a:r>
          </a:p>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Mitigated network risks, conducted regulatory compliance audits, added ISP redundancy with Mega port, and aggregated network links for better control.</a:t>
            </a:r>
          </a:p>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Automated core banking subsystems, implemented asset lifecycle management, and managed ITSM tools, resulting in cost savings.</a:t>
            </a:r>
          </a:p>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Customized solutions to improve SD CSAT scores and enhanced network performance by reducing ISP dependency.</a:t>
            </a:r>
          </a:p>
          <a:p>
            <a:pPr marL="171450" indent="-171450">
              <a:spcAft>
                <a:spcPts val="600"/>
              </a:spcAft>
              <a:buClr>
                <a:schemeClr val="accent2"/>
              </a:buClr>
            </a:pPr>
            <a:r>
              <a:rPr lang="en-AU" sz="1000" dirty="0">
                <a:solidFill>
                  <a:srgbClr val="283D40"/>
                </a:solidFill>
                <a:latin typeface="Manrope" pitchFamily="2" charset="0"/>
                <a:cs typeface="Calibri Light" panose="020F0302020204030204" pitchFamily="34" charset="0"/>
              </a:rPr>
              <a:t>Scope Managed: Active AD accounts and business applications, on-premise infrastructure including virtualized servers, workstations, iOS devices, and core banking systems. Security infrastructure with advanced firewalls and SIEM statistics. Cloud presence with Azure subscriptions, O365 services, AWS for internet banking and API gateway, and multiple SaaS vendor-managed environments.</a:t>
            </a:r>
          </a:p>
        </p:txBody>
      </p:sp>
      <p:sp>
        <p:nvSpPr>
          <p:cNvPr id="271" name="Title 270">
            <a:extLst>
              <a:ext uri="{FF2B5EF4-FFF2-40B4-BE49-F238E27FC236}">
                <a16:creationId xmlns:a16="http://schemas.microsoft.com/office/drawing/2014/main" id="{6D86FBEF-15F4-5840-DDF6-1FE13F548AFC}"/>
              </a:ext>
            </a:extLst>
          </p:cNvPr>
          <p:cNvSpPr>
            <a:spLocks noGrp="1"/>
          </p:cNvSpPr>
          <p:nvPr>
            <p:ph type="title"/>
          </p:nvPr>
        </p:nvSpPr>
        <p:spPr>
          <a:xfrm>
            <a:off x="623887" y="884180"/>
            <a:ext cx="5292725" cy="553998"/>
          </a:xfrm>
        </p:spPr>
        <p:txBody>
          <a:bodyPr/>
          <a:lstStyle/>
          <a:p>
            <a:r>
              <a:rPr lang="en-US" sz="1800" dirty="0"/>
              <a:t>Banking Operations with Reduced risk, Enhanced security and improved Operational efficiency</a:t>
            </a:r>
          </a:p>
        </p:txBody>
      </p:sp>
      <p:sp>
        <p:nvSpPr>
          <p:cNvPr id="237" name="Text Placeholder 236">
            <a:extLst>
              <a:ext uri="{FF2B5EF4-FFF2-40B4-BE49-F238E27FC236}">
                <a16:creationId xmlns:a16="http://schemas.microsoft.com/office/drawing/2014/main" id="{EAF978EB-C305-25C2-616E-61457AE188DB}"/>
              </a:ext>
            </a:extLst>
          </p:cNvPr>
          <p:cNvSpPr>
            <a:spLocks noGrp="1"/>
          </p:cNvSpPr>
          <p:nvPr>
            <p:ph type="body" sz="quarter" idx="21"/>
          </p:nvPr>
        </p:nvSpPr>
        <p:spPr>
          <a:xfrm flipH="1">
            <a:off x="623887" y="457200"/>
            <a:ext cx="6176959" cy="216401"/>
          </a:xfrm>
        </p:spPr>
        <p:txBody>
          <a:bodyPr/>
          <a:lstStyle/>
          <a:p>
            <a:r>
              <a:rPr lang="en-US" sz="1800" b="1" dirty="0"/>
              <a:t>Banking – APRA regulated Bank in Australia and New Zealand</a:t>
            </a:r>
          </a:p>
        </p:txBody>
      </p:sp>
      <p:cxnSp>
        <p:nvCxnSpPr>
          <p:cNvPr id="11" name="Straight Connector 10">
            <a:extLst>
              <a:ext uri="{FF2B5EF4-FFF2-40B4-BE49-F238E27FC236}">
                <a16:creationId xmlns:a16="http://schemas.microsoft.com/office/drawing/2014/main" id="{0C9336B5-E911-C55A-6799-4DA7C40D4291}"/>
              </a:ext>
            </a:extLst>
          </p:cNvPr>
          <p:cNvCxnSpPr/>
          <p:nvPr/>
        </p:nvCxnSpPr>
        <p:spPr>
          <a:xfrm>
            <a:off x="10753594" y="262347"/>
            <a:ext cx="0" cy="281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Placeholder 4">
            <a:extLst>
              <a:ext uri="{FF2B5EF4-FFF2-40B4-BE49-F238E27FC236}">
                <a16:creationId xmlns:a16="http://schemas.microsoft.com/office/drawing/2014/main" id="{073EB9B5-AF7B-67CC-73C3-E574352A57CB}"/>
              </a:ext>
            </a:extLst>
          </p:cNvPr>
          <p:cNvPicPr>
            <a:picLocks noGrp="1" noChangeAspect="1"/>
          </p:cNvPicPr>
          <p:nvPr>
            <p:ph type="pic" sz="quarter" idx="17"/>
          </p:nvPr>
        </p:nvPicPr>
        <p:blipFill rotWithShape="1">
          <a:blip r:embed="rId3" cstate="screen">
            <a:extLst>
              <a:ext uri="{28A0092B-C50C-407E-A947-70E740481C1C}">
                <a14:useLocalDpi xmlns:a14="http://schemas.microsoft.com/office/drawing/2010/main"/>
              </a:ext>
            </a:extLst>
          </a:blip>
          <a:srcRect/>
          <a:stretch/>
        </p:blipFill>
        <p:spPr>
          <a:xfrm>
            <a:off x="6438900" y="914401"/>
            <a:ext cx="5753100" cy="4856084"/>
          </a:xfrm>
        </p:spPr>
      </p:pic>
      <p:grpSp>
        <p:nvGrpSpPr>
          <p:cNvPr id="7" name="Group 6">
            <a:extLst>
              <a:ext uri="{FF2B5EF4-FFF2-40B4-BE49-F238E27FC236}">
                <a16:creationId xmlns:a16="http://schemas.microsoft.com/office/drawing/2014/main" id="{1590634F-23BF-EA34-DD66-E56A1B5E2F03}"/>
              </a:ext>
            </a:extLst>
          </p:cNvPr>
          <p:cNvGrpSpPr/>
          <p:nvPr/>
        </p:nvGrpSpPr>
        <p:grpSpPr>
          <a:xfrm>
            <a:off x="623887" y="5707185"/>
            <a:ext cx="1357397" cy="853647"/>
            <a:chOff x="2267229" y="5238256"/>
            <a:chExt cx="1357397" cy="853647"/>
          </a:xfrm>
        </p:grpSpPr>
        <p:sp>
          <p:nvSpPr>
            <p:cNvPr id="8" name="Text Placeholder 8">
              <a:extLst>
                <a:ext uri="{FF2B5EF4-FFF2-40B4-BE49-F238E27FC236}">
                  <a16:creationId xmlns:a16="http://schemas.microsoft.com/office/drawing/2014/main" id="{626CF042-6149-0BA5-7B59-73BFDA8E0985}"/>
                </a:ext>
              </a:extLst>
            </p:cNvPr>
            <p:cNvSpPr txBox="1">
              <a:spLocks/>
            </p:cNvSpPr>
            <p:nvPr/>
          </p:nvSpPr>
          <p:spPr>
            <a:xfrm>
              <a:off x="2267229" y="5676405"/>
              <a:ext cx="1357397" cy="415498"/>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7938"/>
              <a:r>
                <a:rPr lang="en-IN" dirty="0"/>
                <a:t>CSAT</a:t>
              </a:r>
            </a:p>
          </p:txBody>
        </p:sp>
        <p:sp>
          <p:nvSpPr>
            <p:cNvPr id="12" name="Text Placeholder 8">
              <a:extLst>
                <a:ext uri="{FF2B5EF4-FFF2-40B4-BE49-F238E27FC236}">
                  <a16:creationId xmlns:a16="http://schemas.microsoft.com/office/drawing/2014/main" id="{8C0AF479-A858-0DEF-575B-B05125933261}"/>
                </a:ext>
              </a:extLst>
            </p:cNvPr>
            <p:cNvSpPr txBox="1">
              <a:spLocks/>
            </p:cNvSpPr>
            <p:nvPr/>
          </p:nvSpPr>
          <p:spPr>
            <a:xfrm>
              <a:off x="2267229" y="5238256"/>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r>
                <a:rPr lang="en-IN" dirty="0"/>
                <a:t>90%</a:t>
              </a:r>
            </a:p>
          </p:txBody>
        </p:sp>
      </p:grpSp>
      <p:grpSp>
        <p:nvGrpSpPr>
          <p:cNvPr id="14" name="Group 13">
            <a:extLst>
              <a:ext uri="{FF2B5EF4-FFF2-40B4-BE49-F238E27FC236}">
                <a16:creationId xmlns:a16="http://schemas.microsoft.com/office/drawing/2014/main" id="{8D492C99-34D4-440D-ABDC-7AE44D1BEC01}"/>
              </a:ext>
            </a:extLst>
          </p:cNvPr>
          <p:cNvGrpSpPr/>
          <p:nvPr/>
        </p:nvGrpSpPr>
        <p:grpSpPr>
          <a:xfrm>
            <a:off x="2450274" y="5707185"/>
            <a:ext cx="1234991" cy="929391"/>
            <a:chOff x="4191031" y="5238256"/>
            <a:chExt cx="1234991" cy="929391"/>
          </a:xfrm>
        </p:grpSpPr>
        <p:sp>
          <p:nvSpPr>
            <p:cNvPr id="15" name="Text Placeholder 8">
              <a:extLst>
                <a:ext uri="{FF2B5EF4-FFF2-40B4-BE49-F238E27FC236}">
                  <a16:creationId xmlns:a16="http://schemas.microsoft.com/office/drawing/2014/main" id="{95B3D8B1-F708-8B3B-FE7A-65D776D21C66}"/>
                </a:ext>
              </a:extLst>
            </p:cNvPr>
            <p:cNvSpPr txBox="1">
              <a:spLocks/>
            </p:cNvSpPr>
            <p:nvPr/>
          </p:nvSpPr>
          <p:spPr>
            <a:xfrm>
              <a:off x="4191031" y="5676405"/>
              <a:ext cx="1017161" cy="491242"/>
            </a:xfrm>
            <a:prstGeom prst="rect">
              <a:avLst/>
            </a:prstGeom>
          </p:spPr>
          <p:txBody>
            <a:bodyPr lIns="0" tIns="0" rIns="0" bIns="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7938"/>
              <a:r>
                <a:rPr lang="en-IN" dirty="0"/>
                <a:t> Applications Uptime</a:t>
              </a:r>
            </a:p>
          </p:txBody>
        </p:sp>
        <p:sp>
          <p:nvSpPr>
            <p:cNvPr id="16" name="Text Placeholder 8">
              <a:extLst>
                <a:ext uri="{FF2B5EF4-FFF2-40B4-BE49-F238E27FC236}">
                  <a16:creationId xmlns:a16="http://schemas.microsoft.com/office/drawing/2014/main" id="{36A819F2-B1E6-8661-8314-476427491E4B}"/>
                </a:ext>
              </a:extLst>
            </p:cNvPr>
            <p:cNvSpPr txBox="1">
              <a:spLocks/>
            </p:cNvSpPr>
            <p:nvPr/>
          </p:nvSpPr>
          <p:spPr>
            <a:xfrm>
              <a:off x="4191031" y="5238256"/>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r>
                <a:rPr lang="en-IN" dirty="0"/>
                <a:t>99%+</a:t>
              </a:r>
            </a:p>
          </p:txBody>
        </p:sp>
      </p:grpSp>
    </p:spTree>
    <p:extLst>
      <p:ext uri="{BB962C8B-B14F-4D97-AF65-F5344CB8AC3E}">
        <p14:creationId xmlns:p14="http://schemas.microsoft.com/office/powerpoint/2010/main" val="2072853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152F-FF33-3555-7DEC-C3497FD89904}"/>
            </a:ext>
          </a:extLst>
        </p:cNvPr>
        <p:cNvGrpSpPr/>
        <p:nvPr/>
      </p:nvGrpSpPr>
      <p:grpSpPr>
        <a:xfrm>
          <a:off x="0" y="0"/>
          <a:ext cx="0" cy="0"/>
          <a:chOff x="0" y="0"/>
          <a:chExt cx="0" cy="0"/>
        </a:xfrm>
      </p:grpSpPr>
      <p:sp>
        <p:nvSpPr>
          <p:cNvPr id="178" name="Text Placeholder 177">
            <a:extLst>
              <a:ext uri="{FF2B5EF4-FFF2-40B4-BE49-F238E27FC236}">
                <a16:creationId xmlns:a16="http://schemas.microsoft.com/office/drawing/2014/main" id="{59EC8804-ADE3-2F91-D6AF-09C7C010CB1B}"/>
              </a:ext>
            </a:extLst>
          </p:cNvPr>
          <p:cNvSpPr>
            <a:spLocks noGrp="1"/>
          </p:cNvSpPr>
          <p:nvPr>
            <p:ph type="body" sz="quarter" idx="20"/>
          </p:nvPr>
        </p:nvSpPr>
        <p:spPr>
          <a:xfrm>
            <a:off x="623887" y="1726502"/>
            <a:ext cx="5400675" cy="3458562"/>
          </a:xfrm>
        </p:spPr>
        <p:txBody>
          <a:bodyPr>
            <a:noAutofit/>
          </a:bodyPr>
          <a:lstStyle/>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Operational Efficiency &amp; Cost Optimization by automating routine tasks and optimizing resource allocation using data analytics thus leading to cost reductions and improved overall efficiency</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24/7 Availability &amp; Rapid Response using advanced monitoring tools to detect and address issues proactively, ensuring minimal downtime and high application availability.</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Proactive Issue Management including regular system audits, predictive maintenance, and AI-driven analytics to identify potential problems before they occurred and a robust root cause analysis (RCA) process.</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Scalability &amp; Flexibility by designing with scalability and flexibility in mind, utilizing cloud-based infrastructure and modular architecture. </a:t>
            </a:r>
          </a:p>
          <a:p>
            <a:pPr marL="171450" indent="-171450">
              <a:spcAft>
                <a:spcPts val="600"/>
              </a:spcAft>
              <a:buClr>
                <a:schemeClr val="accent2"/>
              </a:buClr>
              <a:buFont typeface="Arial" panose="020B0604020202020204" pitchFamily="34" charset="0"/>
              <a:buChar char="•"/>
            </a:pPr>
            <a:r>
              <a:rPr lang="en-US" sz="1000" dirty="0">
                <a:solidFill>
                  <a:srgbClr val="283D40"/>
                </a:solidFill>
                <a:latin typeface="Manrope" pitchFamily="2" charset="0"/>
                <a:cs typeface="Calibri Light" panose="020F0302020204030204" pitchFamily="34" charset="0"/>
              </a:rPr>
              <a:t>Continuous Improvement &amp; Innovation through regular training and cross-skilling of team members. Creative problem-solving was encouraged, and feedback loops were implemented to learn from past experiences. Initiatives like the Brainbox project helped reduce defects and drive year-over-year savings, while automation-backed ticket resolution and knowledge management practices further enhanced operational performance.</a:t>
            </a:r>
          </a:p>
        </p:txBody>
      </p:sp>
      <p:sp>
        <p:nvSpPr>
          <p:cNvPr id="271" name="Title 270">
            <a:extLst>
              <a:ext uri="{FF2B5EF4-FFF2-40B4-BE49-F238E27FC236}">
                <a16:creationId xmlns:a16="http://schemas.microsoft.com/office/drawing/2014/main" id="{C7F23078-46C9-6A7D-FFCB-4E9B376E4DB2}"/>
              </a:ext>
            </a:extLst>
          </p:cNvPr>
          <p:cNvSpPr>
            <a:spLocks noGrp="1"/>
          </p:cNvSpPr>
          <p:nvPr>
            <p:ph type="title"/>
          </p:nvPr>
        </p:nvSpPr>
        <p:spPr>
          <a:xfrm>
            <a:off x="623886" y="1064694"/>
            <a:ext cx="5292725" cy="553998"/>
          </a:xfrm>
        </p:spPr>
        <p:txBody>
          <a:bodyPr/>
          <a:lstStyle/>
          <a:p>
            <a:r>
              <a:rPr lang="en-US" sz="1800" dirty="0"/>
              <a:t>Enhancing Operational Efficiency and Innovation in Application Support</a:t>
            </a:r>
          </a:p>
        </p:txBody>
      </p:sp>
      <p:sp>
        <p:nvSpPr>
          <p:cNvPr id="237" name="Text Placeholder 236">
            <a:extLst>
              <a:ext uri="{FF2B5EF4-FFF2-40B4-BE49-F238E27FC236}">
                <a16:creationId xmlns:a16="http://schemas.microsoft.com/office/drawing/2014/main" id="{963924D8-C347-5323-DBD2-88F8ADFA5B9D}"/>
              </a:ext>
            </a:extLst>
          </p:cNvPr>
          <p:cNvSpPr>
            <a:spLocks noGrp="1"/>
          </p:cNvSpPr>
          <p:nvPr>
            <p:ph type="body" sz="quarter" idx="21"/>
          </p:nvPr>
        </p:nvSpPr>
        <p:spPr>
          <a:xfrm flipH="1">
            <a:off x="623886" y="457200"/>
            <a:ext cx="7418677" cy="169345"/>
          </a:xfrm>
        </p:spPr>
        <p:txBody>
          <a:bodyPr/>
          <a:lstStyle/>
          <a:p>
            <a:r>
              <a:rPr lang="en-US" sz="1800" b="1" dirty="0"/>
              <a:t>Insurance – One of the largest private health insurers in Australia and New Zealand</a:t>
            </a:r>
          </a:p>
        </p:txBody>
      </p:sp>
      <p:pic>
        <p:nvPicPr>
          <p:cNvPr id="2" name="Picture Placeholder 4">
            <a:extLst>
              <a:ext uri="{FF2B5EF4-FFF2-40B4-BE49-F238E27FC236}">
                <a16:creationId xmlns:a16="http://schemas.microsoft.com/office/drawing/2014/main" id="{3F7296ED-E12A-D4F2-B7A2-ECEFD0DA45EE}"/>
              </a:ext>
            </a:extLst>
          </p:cNvPr>
          <p:cNvPicPr>
            <a:picLocks noGrp="1" noChangeAspect="1"/>
          </p:cNvPicPr>
          <p:nvPr>
            <p:ph type="pic" sz="quarter" idx="17"/>
          </p:nvPr>
        </p:nvPicPr>
        <p:blipFill rotWithShape="1">
          <a:blip r:embed="rId3" cstate="screen">
            <a:extLst>
              <a:ext uri="{28A0092B-C50C-407E-A947-70E740481C1C}">
                <a14:useLocalDpi xmlns:a14="http://schemas.microsoft.com/office/drawing/2010/main"/>
              </a:ext>
            </a:extLst>
          </a:blip>
          <a:srcRect/>
          <a:stretch/>
        </p:blipFill>
        <p:spPr>
          <a:xfrm>
            <a:off x="6438900" y="914401"/>
            <a:ext cx="5753100" cy="4856084"/>
          </a:xfrm>
        </p:spPr>
      </p:pic>
      <p:grpSp>
        <p:nvGrpSpPr>
          <p:cNvPr id="4" name="Group 3">
            <a:extLst>
              <a:ext uri="{FF2B5EF4-FFF2-40B4-BE49-F238E27FC236}">
                <a16:creationId xmlns:a16="http://schemas.microsoft.com/office/drawing/2014/main" id="{09301BCE-7D52-8574-AFA9-CCF4BBD39F65}"/>
              </a:ext>
            </a:extLst>
          </p:cNvPr>
          <p:cNvGrpSpPr/>
          <p:nvPr/>
        </p:nvGrpSpPr>
        <p:grpSpPr>
          <a:xfrm>
            <a:off x="640310" y="5377808"/>
            <a:ext cx="1234991" cy="721726"/>
            <a:chOff x="640310" y="5238256"/>
            <a:chExt cx="1234991" cy="721726"/>
          </a:xfrm>
        </p:grpSpPr>
        <p:sp>
          <p:nvSpPr>
            <p:cNvPr id="5" name="Text Placeholder 8">
              <a:extLst>
                <a:ext uri="{FF2B5EF4-FFF2-40B4-BE49-F238E27FC236}">
                  <a16:creationId xmlns:a16="http://schemas.microsoft.com/office/drawing/2014/main" id="{9E462237-9839-E8C7-93FE-55711BAF565A}"/>
                </a:ext>
              </a:extLst>
            </p:cNvPr>
            <p:cNvSpPr txBox="1">
              <a:spLocks/>
            </p:cNvSpPr>
            <p:nvPr/>
          </p:nvSpPr>
          <p:spPr>
            <a:xfrm>
              <a:off x="640310" y="5676405"/>
              <a:ext cx="1234991" cy="283577"/>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7938"/>
              <a:r>
                <a:rPr lang="en-IN" dirty="0"/>
                <a:t>Change Success Rate</a:t>
              </a:r>
            </a:p>
          </p:txBody>
        </p:sp>
        <p:sp>
          <p:nvSpPr>
            <p:cNvPr id="6" name="Text Placeholder 8">
              <a:extLst>
                <a:ext uri="{FF2B5EF4-FFF2-40B4-BE49-F238E27FC236}">
                  <a16:creationId xmlns:a16="http://schemas.microsoft.com/office/drawing/2014/main" id="{E9854C81-1F7C-8004-3805-F6D6D0E5D8D3}"/>
                </a:ext>
              </a:extLst>
            </p:cNvPr>
            <p:cNvSpPr txBox="1">
              <a:spLocks/>
            </p:cNvSpPr>
            <p:nvPr/>
          </p:nvSpPr>
          <p:spPr>
            <a:xfrm>
              <a:off x="640310" y="5238256"/>
              <a:ext cx="112833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r>
                <a:rPr lang="en-IN" dirty="0"/>
                <a:t>99%+</a:t>
              </a:r>
            </a:p>
          </p:txBody>
        </p:sp>
      </p:grpSp>
      <p:grpSp>
        <p:nvGrpSpPr>
          <p:cNvPr id="3" name="Group 2">
            <a:extLst>
              <a:ext uri="{FF2B5EF4-FFF2-40B4-BE49-F238E27FC236}">
                <a16:creationId xmlns:a16="http://schemas.microsoft.com/office/drawing/2014/main" id="{6DB5FAEC-9515-EDD5-2AB7-D68C3A5282C1}"/>
              </a:ext>
            </a:extLst>
          </p:cNvPr>
          <p:cNvGrpSpPr/>
          <p:nvPr/>
        </p:nvGrpSpPr>
        <p:grpSpPr>
          <a:xfrm>
            <a:off x="1875301" y="5373044"/>
            <a:ext cx="1234991" cy="721726"/>
            <a:chOff x="640310" y="5238256"/>
            <a:chExt cx="1234991" cy="721726"/>
          </a:xfrm>
        </p:grpSpPr>
        <p:sp>
          <p:nvSpPr>
            <p:cNvPr id="7" name="Text Placeholder 8">
              <a:extLst>
                <a:ext uri="{FF2B5EF4-FFF2-40B4-BE49-F238E27FC236}">
                  <a16:creationId xmlns:a16="http://schemas.microsoft.com/office/drawing/2014/main" id="{E9C85A6B-8F9E-2F9E-C8EE-6156C7939BF8}"/>
                </a:ext>
              </a:extLst>
            </p:cNvPr>
            <p:cNvSpPr txBox="1">
              <a:spLocks/>
            </p:cNvSpPr>
            <p:nvPr/>
          </p:nvSpPr>
          <p:spPr>
            <a:xfrm>
              <a:off x="640310" y="5676405"/>
              <a:ext cx="1234991" cy="283577"/>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7938"/>
              <a:r>
                <a:rPr lang="en-IN" dirty="0"/>
                <a:t>Systems downtime duration</a:t>
              </a:r>
            </a:p>
          </p:txBody>
        </p:sp>
        <p:sp>
          <p:nvSpPr>
            <p:cNvPr id="8" name="Text Placeholder 8">
              <a:extLst>
                <a:ext uri="{FF2B5EF4-FFF2-40B4-BE49-F238E27FC236}">
                  <a16:creationId xmlns:a16="http://schemas.microsoft.com/office/drawing/2014/main" id="{BD3F58AE-C7E0-8282-BEAE-776845104A2B}"/>
                </a:ext>
              </a:extLst>
            </p:cNvPr>
            <p:cNvSpPr txBox="1">
              <a:spLocks/>
            </p:cNvSpPr>
            <p:nvPr/>
          </p:nvSpPr>
          <p:spPr>
            <a:xfrm>
              <a:off x="640310" y="5238256"/>
              <a:ext cx="112833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r>
                <a:rPr lang="en-IN" dirty="0"/>
                <a:t>&lt;1%</a:t>
              </a:r>
            </a:p>
          </p:txBody>
        </p:sp>
      </p:grpSp>
    </p:spTree>
    <p:extLst>
      <p:ext uri="{BB962C8B-B14F-4D97-AF65-F5344CB8AC3E}">
        <p14:creationId xmlns:p14="http://schemas.microsoft.com/office/powerpoint/2010/main" val="3867245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Placeholder 177">
            <a:extLst>
              <a:ext uri="{FF2B5EF4-FFF2-40B4-BE49-F238E27FC236}">
                <a16:creationId xmlns:a16="http://schemas.microsoft.com/office/drawing/2014/main" id="{917E073C-AC6C-D437-2222-908F3E5194BC}"/>
              </a:ext>
            </a:extLst>
          </p:cNvPr>
          <p:cNvSpPr>
            <a:spLocks noGrp="1"/>
          </p:cNvSpPr>
          <p:nvPr>
            <p:ph type="body" sz="quarter" idx="20"/>
          </p:nvPr>
        </p:nvSpPr>
        <p:spPr>
          <a:xfrm>
            <a:off x="695325" y="1975235"/>
            <a:ext cx="5400675" cy="2927782"/>
          </a:xfrm>
        </p:spPr>
        <p:txBody>
          <a:bodyPr lIns="0" tIns="0" rIns="0" bIns="0" anchor="t">
            <a:noAutofit/>
          </a:bodyPr>
          <a:lstStyle/>
          <a:p>
            <a:endParaRPr lang="en-US" sz="1000" dirty="0">
              <a:latin typeface="+mn-lt"/>
            </a:endParaRPr>
          </a:p>
          <a:p>
            <a:r>
              <a:rPr lang="en-US" sz="1000" dirty="0">
                <a:latin typeface="+mn-lt"/>
              </a:rPr>
              <a:t>Query Automation Tool: </a:t>
            </a:r>
            <a:r>
              <a:rPr lang="en-US" sz="1000" dirty="0">
                <a:solidFill>
                  <a:srgbClr val="02051C"/>
                </a:solidFill>
                <a:latin typeface="Manrope"/>
              </a:rPr>
              <a:t> Hexaware developed automation tool to reduce time taken in scanning all URL present for Codes of Practice and generate Report. This helped to reduce great amount of manual effort in searching queries and thus increasing efficiency and reducing cost.</a:t>
            </a:r>
          </a:p>
          <a:p>
            <a:pPr>
              <a:buClr>
                <a:srgbClr val="02051C"/>
              </a:buClr>
            </a:pPr>
            <a:r>
              <a:rPr lang="en-US" sz="1000" dirty="0">
                <a:latin typeface="+mn-lt"/>
              </a:rPr>
              <a:t>Search Term Automation: </a:t>
            </a:r>
            <a:r>
              <a:rPr lang="en-US" sz="1000" dirty="0">
                <a:solidFill>
                  <a:srgbClr val="02051C"/>
                </a:solidFill>
                <a:latin typeface="Manrope"/>
              </a:rPr>
              <a:t>Hexaware developed Search Term Automation service which is web scraping tool developed using Microsoft .NET framework. It will pick the records from database and start processing. It will scan all the content from legislation URL. send report to the Content Management team</a:t>
            </a:r>
          </a:p>
          <a:p>
            <a:pPr>
              <a:lnSpc>
                <a:spcPct val="100000"/>
              </a:lnSpc>
              <a:buClr>
                <a:schemeClr val="accent1"/>
              </a:buClr>
            </a:pPr>
            <a:r>
              <a:rPr lang="en-US" sz="1000" dirty="0">
                <a:solidFill>
                  <a:srgbClr val="02051C"/>
                </a:solidFill>
                <a:latin typeface="Manrope"/>
              </a:rPr>
              <a:t>Scope Managed: Helping the customer in reducing cost and increasing efficiency by providing Staff Augmentation in Knowledge LOB as scale up or scale down model at Optimal Level.</a:t>
            </a:r>
          </a:p>
          <a:p>
            <a:pPr>
              <a:lnSpc>
                <a:spcPct val="100000"/>
              </a:lnSpc>
              <a:buClr>
                <a:schemeClr val="accent1"/>
              </a:buClr>
            </a:pPr>
            <a:endParaRPr lang="en-US" sz="1000" dirty="0"/>
          </a:p>
          <a:p>
            <a:pPr>
              <a:lnSpc>
                <a:spcPct val="100000"/>
              </a:lnSpc>
              <a:buClr>
                <a:schemeClr val="accent1"/>
              </a:buClr>
            </a:pPr>
            <a:endParaRPr lang="en-US" sz="1000" dirty="0"/>
          </a:p>
        </p:txBody>
      </p:sp>
      <p:sp>
        <p:nvSpPr>
          <p:cNvPr id="271" name="Title 270">
            <a:extLst>
              <a:ext uri="{FF2B5EF4-FFF2-40B4-BE49-F238E27FC236}">
                <a16:creationId xmlns:a16="http://schemas.microsoft.com/office/drawing/2014/main" id="{C6A455E6-8FDF-A200-8F6B-00E8C683B9D3}"/>
              </a:ext>
            </a:extLst>
          </p:cNvPr>
          <p:cNvSpPr>
            <a:spLocks noGrp="1"/>
          </p:cNvSpPr>
          <p:nvPr>
            <p:ph type="title"/>
          </p:nvPr>
        </p:nvSpPr>
        <p:spPr>
          <a:xfrm>
            <a:off x="623888" y="1099628"/>
            <a:ext cx="5723100" cy="553998"/>
          </a:xfrm>
        </p:spPr>
        <p:txBody>
          <a:bodyPr/>
          <a:lstStyle/>
          <a:p>
            <a:r>
              <a:rPr lang="en-US" sz="1800" dirty="0"/>
              <a:t>Fostering Innovation and Streamlining Efficiency, </a:t>
            </a:r>
            <a:r>
              <a:rPr lang="en-GB" sz="1800" dirty="0"/>
              <a:t>delivering complete peace of mind</a:t>
            </a:r>
            <a:endParaRPr lang="en-US" sz="1800" dirty="0"/>
          </a:p>
        </p:txBody>
      </p:sp>
      <p:grpSp>
        <p:nvGrpSpPr>
          <p:cNvPr id="20" name="Group 19">
            <a:extLst>
              <a:ext uri="{FF2B5EF4-FFF2-40B4-BE49-F238E27FC236}">
                <a16:creationId xmlns:a16="http://schemas.microsoft.com/office/drawing/2014/main" id="{4B7C5695-AFF7-E954-2143-33384A7FEA76}"/>
              </a:ext>
            </a:extLst>
          </p:cNvPr>
          <p:cNvGrpSpPr/>
          <p:nvPr/>
        </p:nvGrpSpPr>
        <p:grpSpPr>
          <a:xfrm>
            <a:off x="2421919" y="5063476"/>
            <a:ext cx="1099273" cy="853647"/>
            <a:chOff x="2267228" y="5238256"/>
            <a:chExt cx="1357397" cy="853647"/>
          </a:xfrm>
        </p:grpSpPr>
        <p:sp>
          <p:nvSpPr>
            <p:cNvPr id="21" name="Text Placeholder 8">
              <a:extLst>
                <a:ext uri="{FF2B5EF4-FFF2-40B4-BE49-F238E27FC236}">
                  <a16:creationId xmlns:a16="http://schemas.microsoft.com/office/drawing/2014/main" id="{36CF32F1-01DE-0944-DAAE-7D0B85954071}"/>
                </a:ext>
              </a:extLst>
            </p:cNvPr>
            <p:cNvSpPr txBox="1">
              <a:spLocks/>
            </p:cNvSpPr>
            <p:nvPr/>
          </p:nvSpPr>
          <p:spPr>
            <a:xfrm>
              <a:off x="2267228" y="5676405"/>
              <a:ext cx="1357397" cy="415498"/>
            </a:xfrm>
            <a:prstGeom prst="rect">
              <a:avLst/>
            </a:prstGeom>
          </p:spPr>
          <p:txBody>
            <a:bodyPr lIns="0" tIns="0" rIns="0" bIns="0" anchor="t">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 indent="-7620">
                <a:lnSpc>
                  <a:spcPct val="100000"/>
                </a:lnSpc>
                <a:spcBef>
                  <a:spcPts val="0"/>
                </a:spcBef>
                <a:buClr>
                  <a:srgbClr val="3C2CDA"/>
                </a:buClr>
                <a:defRPr/>
              </a:pPr>
              <a:r>
                <a:rPr lang="en-IN" dirty="0">
                  <a:latin typeface="Manrope"/>
                </a:rPr>
                <a:t>Hours Savings Annually</a:t>
              </a:r>
              <a:endParaRPr lang="en-IN" dirty="0"/>
            </a:p>
          </p:txBody>
        </p:sp>
        <p:sp>
          <p:nvSpPr>
            <p:cNvPr id="22" name="Text Placeholder 8">
              <a:extLst>
                <a:ext uri="{FF2B5EF4-FFF2-40B4-BE49-F238E27FC236}">
                  <a16:creationId xmlns:a16="http://schemas.microsoft.com/office/drawing/2014/main" id="{F30000BE-0C47-283C-7104-FEF41CB9B737}"/>
                </a:ext>
              </a:extLst>
            </p:cNvPr>
            <p:cNvSpPr txBox="1">
              <a:spLocks/>
            </p:cNvSpPr>
            <p:nvPr/>
          </p:nvSpPr>
          <p:spPr>
            <a:xfrm>
              <a:off x="2267229" y="5238256"/>
              <a:ext cx="1234991"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buClr>
                  <a:srgbClr val="3C2CDA"/>
                </a:buClr>
                <a:defRPr/>
              </a:pPr>
              <a:r>
                <a:rPr lang="en-IN" dirty="0">
                  <a:solidFill>
                    <a:srgbClr val="3C2CDA"/>
                  </a:solidFill>
                  <a:latin typeface="Manrope Light"/>
                </a:rPr>
                <a:t>200 </a:t>
              </a:r>
              <a:endParaRPr lang="en-IN" sz="3000" b="0" i="0" u="none" strike="noStrike" kern="1200" cap="none" spc="0" normalizeH="0" baseline="0" noProof="0" dirty="0">
                <a:ln>
                  <a:noFill/>
                </a:ln>
                <a:solidFill>
                  <a:srgbClr val="3C2CDA"/>
                </a:solidFill>
                <a:effectLst/>
                <a:uLnTx/>
                <a:uFillTx/>
                <a:latin typeface="Manrope Light"/>
              </a:endParaRPr>
            </a:p>
          </p:txBody>
        </p:sp>
      </p:grpSp>
      <p:pic>
        <p:nvPicPr>
          <p:cNvPr id="7" name="Picture Placeholder 6" descr="A close-up of a handshake&#10;&#10;Description automatically generated">
            <a:extLst>
              <a:ext uri="{FF2B5EF4-FFF2-40B4-BE49-F238E27FC236}">
                <a16:creationId xmlns:a16="http://schemas.microsoft.com/office/drawing/2014/main" id="{5C258394-CEFE-FF8B-D041-1747153591AB}"/>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a:stretch/>
        </p:blipFill>
        <p:spPr>
          <a:xfrm>
            <a:off x="6468900" y="674383"/>
            <a:ext cx="5723100" cy="5834119"/>
          </a:xfrm>
        </p:spPr>
      </p:pic>
      <p:sp>
        <p:nvSpPr>
          <p:cNvPr id="5" name="Text Placeholder 4">
            <a:extLst>
              <a:ext uri="{FF2B5EF4-FFF2-40B4-BE49-F238E27FC236}">
                <a16:creationId xmlns:a16="http://schemas.microsoft.com/office/drawing/2014/main" id="{97E71466-CB06-F65F-80F5-BCEEBB8C05E1}"/>
              </a:ext>
            </a:extLst>
          </p:cNvPr>
          <p:cNvSpPr>
            <a:spLocks noGrp="1"/>
          </p:cNvSpPr>
          <p:nvPr>
            <p:ph type="body" sz="quarter" idx="21"/>
          </p:nvPr>
        </p:nvSpPr>
        <p:spPr/>
        <p:txBody>
          <a:bodyPr/>
          <a:lstStyle/>
          <a:p>
            <a:r>
              <a:rPr lang="en-AU" sz="1800" b="1" dirty="0"/>
              <a:t>Professional Services – Leading Assurance and Standards Business Services Company</a:t>
            </a:r>
          </a:p>
        </p:txBody>
      </p:sp>
      <p:sp>
        <p:nvSpPr>
          <p:cNvPr id="8" name="Text Placeholder 20">
            <a:extLst>
              <a:ext uri="{FF2B5EF4-FFF2-40B4-BE49-F238E27FC236}">
                <a16:creationId xmlns:a16="http://schemas.microsoft.com/office/drawing/2014/main" id="{20FC66C9-4C32-99AF-1F50-E8DE11DE1838}"/>
              </a:ext>
            </a:extLst>
          </p:cNvPr>
          <p:cNvSpPr txBox="1">
            <a:spLocks/>
          </p:cNvSpPr>
          <p:nvPr/>
        </p:nvSpPr>
        <p:spPr>
          <a:xfrm>
            <a:off x="806213" y="5524276"/>
            <a:ext cx="1234991" cy="428625"/>
          </a:xfrm>
          <a:prstGeom prst="rect">
            <a:avLst/>
          </a:prstGeom>
        </p:spPr>
        <p:txBody>
          <a:bodyPr lIns="0" tIns="0" rIns="0" bIns="0" anchor="t">
            <a:noAutofit/>
          </a:bodyPr>
          <a:lstStyle>
            <a:defPPr>
              <a:defRPr lang="en-US"/>
            </a:defPPr>
            <a:lvl1pPr marL="7620" indent="-7620">
              <a:lnSpc>
                <a:spcPct val="100000"/>
              </a:lnSpc>
              <a:spcBef>
                <a:spcPts val="0"/>
              </a:spcBef>
              <a:buClr>
                <a:srgbClr val="3C2CDA"/>
              </a:buClr>
              <a:buFont typeface="Arial" panose="020B0604020202020204" pitchFamily="34" charset="0"/>
              <a:buNone/>
              <a:defRPr sz="1000" spc="10" baseline="0">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reduction in cost due to automation </a:t>
            </a:r>
          </a:p>
        </p:txBody>
      </p:sp>
      <p:sp>
        <p:nvSpPr>
          <p:cNvPr id="12" name="Text Placeholder 22">
            <a:extLst>
              <a:ext uri="{FF2B5EF4-FFF2-40B4-BE49-F238E27FC236}">
                <a16:creationId xmlns:a16="http://schemas.microsoft.com/office/drawing/2014/main" id="{6A8E7428-51B2-E441-62C6-E82F1E9E3E1F}"/>
              </a:ext>
            </a:extLst>
          </p:cNvPr>
          <p:cNvSpPr txBox="1">
            <a:spLocks/>
          </p:cNvSpPr>
          <p:nvPr/>
        </p:nvSpPr>
        <p:spPr>
          <a:xfrm>
            <a:off x="806213" y="5086127"/>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30%</a:t>
            </a:r>
          </a:p>
        </p:txBody>
      </p:sp>
      <p:sp>
        <p:nvSpPr>
          <p:cNvPr id="13" name="Text Placeholder 1">
            <a:extLst>
              <a:ext uri="{FF2B5EF4-FFF2-40B4-BE49-F238E27FC236}">
                <a16:creationId xmlns:a16="http://schemas.microsoft.com/office/drawing/2014/main" id="{C421A85E-7434-97AD-4548-EB70649301CD}"/>
              </a:ext>
            </a:extLst>
          </p:cNvPr>
          <p:cNvSpPr>
            <a:spLocks noGrp="1"/>
          </p:cNvSpPr>
          <p:nvPr>
            <p:ph type="body" sz="quarter" idx="18"/>
          </p:nvPr>
        </p:nvSpPr>
        <p:spPr>
          <a:xfrm>
            <a:off x="3940002" y="5524796"/>
            <a:ext cx="1234991" cy="428625"/>
          </a:xfrm>
        </p:spPr>
        <p:txBody>
          <a:bodyPr lIns="0" tIns="0" rIns="0" bIns="0" anchor="t">
            <a:noAutofit/>
          </a:bodyPr>
          <a:lstStyle/>
          <a:p>
            <a:pPr marL="7620" indent="-7620">
              <a:lnSpc>
                <a:spcPct val="100000"/>
              </a:lnSpc>
              <a:spcBef>
                <a:spcPts val="0"/>
              </a:spcBef>
              <a:buClr>
                <a:srgbClr val="3C2CDA"/>
              </a:buClr>
            </a:pPr>
            <a:r>
              <a:rPr lang="en-US" dirty="0">
                <a:solidFill>
                  <a:schemeClr val="tx1"/>
                </a:solidFill>
                <a:latin typeface="Manrope"/>
              </a:rPr>
              <a:t>improvement in productivity</a:t>
            </a:r>
          </a:p>
          <a:p>
            <a:pPr marL="7620" indent="-7620">
              <a:lnSpc>
                <a:spcPct val="100000"/>
              </a:lnSpc>
              <a:spcBef>
                <a:spcPts val="0"/>
              </a:spcBef>
              <a:buClr>
                <a:srgbClr val="3C2CDA"/>
              </a:buClr>
            </a:pPr>
            <a:endParaRPr lang="en-US" dirty="0">
              <a:solidFill>
                <a:schemeClr val="tx1"/>
              </a:solidFill>
              <a:latin typeface="Manrope"/>
            </a:endParaRPr>
          </a:p>
        </p:txBody>
      </p:sp>
      <p:sp>
        <p:nvSpPr>
          <p:cNvPr id="14" name="Text Placeholder 2">
            <a:extLst>
              <a:ext uri="{FF2B5EF4-FFF2-40B4-BE49-F238E27FC236}">
                <a16:creationId xmlns:a16="http://schemas.microsoft.com/office/drawing/2014/main" id="{F454BCE0-BAE6-48D5-B9EF-509FEFD999CB}"/>
              </a:ext>
            </a:extLst>
          </p:cNvPr>
          <p:cNvSpPr>
            <a:spLocks noGrp="1"/>
          </p:cNvSpPr>
          <p:nvPr>
            <p:ph type="body" sz="quarter" idx="19"/>
          </p:nvPr>
        </p:nvSpPr>
        <p:spPr>
          <a:xfrm>
            <a:off x="3940002" y="5086647"/>
            <a:ext cx="1234991" cy="415498"/>
          </a:xfrm>
        </p:spPr>
        <p:txBody>
          <a:bodyPr wrap="square" lIns="0" tIns="0" rIns="0" bIns="0" rtlCol="0" anchor="t">
            <a:spAutoFit/>
          </a:bodyPr>
          <a:lstStyle/>
          <a:p>
            <a:r>
              <a:rPr lang="en-US"/>
              <a:t>25%</a:t>
            </a:r>
          </a:p>
        </p:txBody>
      </p:sp>
    </p:spTree>
    <p:extLst>
      <p:ext uri="{BB962C8B-B14F-4D97-AF65-F5344CB8AC3E}">
        <p14:creationId xmlns:p14="http://schemas.microsoft.com/office/powerpoint/2010/main" val="366647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6313-4CE3-1FDD-12A3-812BE44B0D39}"/>
              </a:ext>
            </a:extLst>
          </p:cNvPr>
          <p:cNvSpPr>
            <a:spLocks noGrp="1"/>
          </p:cNvSpPr>
          <p:nvPr>
            <p:ph type="title"/>
          </p:nvPr>
        </p:nvSpPr>
        <p:spPr>
          <a:xfrm>
            <a:off x="822960" y="2805752"/>
            <a:ext cx="4884999" cy="623248"/>
          </a:xfrm>
        </p:spPr>
        <p:txBody>
          <a:bodyPr/>
          <a:lstStyle/>
          <a:p>
            <a:r>
              <a:rPr lang="en-US"/>
              <a:t>Thank You</a:t>
            </a:r>
          </a:p>
        </p:txBody>
      </p:sp>
      <p:sp>
        <p:nvSpPr>
          <p:cNvPr id="5" name="Hexaware Named Winner of 2022 ISG Star of Excellence™ Award for the Global Region and Universal Industry Categories…">
            <a:extLst>
              <a:ext uri="{FF2B5EF4-FFF2-40B4-BE49-F238E27FC236}">
                <a16:creationId xmlns:a16="http://schemas.microsoft.com/office/drawing/2014/main" id="{62C09BAE-1497-52C9-22D0-914545EB9CEE}"/>
              </a:ext>
            </a:extLst>
          </p:cNvPr>
          <p:cNvSpPr txBox="1"/>
          <p:nvPr/>
        </p:nvSpPr>
        <p:spPr>
          <a:xfrm>
            <a:off x="842416" y="3547536"/>
            <a:ext cx="3671219" cy="560923"/>
          </a:xfrm>
          <a:prstGeom prst="rect">
            <a:avLst/>
          </a:prstGeom>
          <a:no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t">
            <a:spAutoFit/>
          </a:bodyPr>
          <a:lstStyle>
            <a:defPPr>
              <a:defRPr lang="en-US"/>
            </a:defPPr>
            <a:lvl1pPr>
              <a:defRPr/>
            </a:lvl1pPr>
          </a:lstStyle>
          <a:p>
            <a:pPr>
              <a:lnSpc>
                <a:spcPct val="110000"/>
              </a:lnSpc>
              <a:spcAft>
                <a:spcPts val="1800"/>
              </a:spcAft>
            </a:pPr>
            <a:r>
              <a:rPr lang="en-US" sz="1000" spc="20" dirty="0">
                <a:solidFill>
                  <a:schemeClr val="bg2"/>
                </a:solidFill>
                <a:latin typeface="+mj-lt"/>
              </a:rPr>
              <a:t>Please direct all inquiries to </a:t>
            </a:r>
            <a:r>
              <a:rPr lang="en-US" sz="1000" spc="20" dirty="0">
                <a:solidFill>
                  <a:schemeClr val="bg2"/>
                </a:solidFill>
                <a:latin typeface="+mj-lt"/>
                <a:hlinkClick r:id="rId2">
                  <a:extLst>
                    <a:ext uri="{A12FA001-AC4F-418D-AE19-62706E023703}">
                      <ahyp:hlinkClr xmlns:ahyp="http://schemas.microsoft.com/office/drawing/2018/hyperlinkcolor" val="tx"/>
                    </a:ext>
                  </a:extLst>
                </a:hlinkClick>
              </a:rPr>
              <a:t>sandipg3@hexaware.com</a:t>
            </a:r>
            <a:r>
              <a:rPr lang="en-US" sz="1000" spc="20" dirty="0">
                <a:solidFill>
                  <a:schemeClr val="bg2"/>
                </a:solidFill>
                <a:latin typeface="+mj-lt"/>
              </a:rPr>
              <a:t>.</a:t>
            </a:r>
            <a:endParaRPr lang="en-US" dirty="0">
              <a:solidFill>
                <a:schemeClr val="bg2"/>
              </a:solidFill>
              <a:hlinkClick r:id="rId2">
                <a:extLst>
                  <a:ext uri="{A12FA001-AC4F-418D-AE19-62706E023703}">
                    <ahyp:hlinkClr xmlns:ahyp="http://schemas.microsoft.com/office/drawing/2018/hyperlinkcolor" val="tx"/>
                  </a:ext>
                </a:extLst>
              </a:hlinkClick>
            </a:endParaRPr>
          </a:p>
          <a:p>
            <a:pPr>
              <a:lnSpc>
                <a:spcPct val="110000"/>
              </a:lnSpc>
              <a:spcAft>
                <a:spcPts val="1800"/>
              </a:spcAft>
            </a:pPr>
            <a:endParaRPr lang="en-US" sz="1000" spc="20" dirty="0">
              <a:solidFill>
                <a:schemeClr val="bg2"/>
              </a:solidFill>
              <a:latin typeface="+mj-lt"/>
            </a:endParaRPr>
          </a:p>
        </p:txBody>
      </p:sp>
    </p:spTree>
    <p:extLst>
      <p:ext uri="{BB962C8B-B14F-4D97-AF65-F5344CB8AC3E}">
        <p14:creationId xmlns:p14="http://schemas.microsoft.com/office/powerpoint/2010/main" val="932454387"/>
      </p:ext>
    </p:extLst>
  </p:cSld>
  <p:clrMapOvr>
    <a:masterClrMapping/>
  </p:clrMapOvr>
</p:sld>
</file>

<file path=ppt/theme/theme1.xml><?xml version="1.0" encoding="utf-8"?>
<a:theme xmlns:a="http://schemas.openxmlformats.org/drawingml/2006/main" name="Hexaware Master">
  <a:themeElements>
    <a:clrScheme name="Custom 4">
      <a:dk1>
        <a:srgbClr val="000000"/>
      </a:dk1>
      <a:lt1>
        <a:srgbClr val="FFFFFF"/>
      </a:lt1>
      <a:dk2>
        <a:srgbClr val="07125E"/>
      </a:dk2>
      <a:lt2>
        <a:srgbClr val="FFFFFF"/>
      </a:lt2>
      <a:accent1>
        <a:srgbClr val="3C2CDA"/>
      </a:accent1>
      <a:accent2>
        <a:srgbClr val="1D86FF"/>
      </a:accent2>
      <a:accent3>
        <a:srgbClr val="14CBDE"/>
      </a:accent3>
      <a:accent4>
        <a:srgbClr val="07125E"/>
      </a:accent4>
      <a:accent5>
        <a:srgbClr val="8088A7"/>
      </a:accent5>
      <a:accent6>
        <a:srgbClr val="EA9D00"/>
      </a:accent6>
      <a:hlink>
        <a:srgbClr val="3C2C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2.xml><?xml version="1.0" encoding="utf-8"?>
<a:theme xmlns:a="http://schemas.openxmlformats.org/drawingml/2006/main" name="1_Hexaware Master">
  <a:themeElements>
    <a:clrScheme name="Custom 1">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EA9D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20A52C1B2D5D4693AD9115098C8B92" ma:contentTypeVersion="18" ma:contentTypeDescription="Create a new document." ma:contentTypeScope="" ma:versionID="6b18c68f6b75e3dfe840be60067824b6">
  <xsd:schema xmlns:xsd="http://www.w3.org/2001/XMLSchema" xmlns:xs="http://www.w3.org/2001/XMLSchema" xmlns:p="http://schemas.microsoft.com/office/2006/metadata/properties" xmlns:ns3="adcb59af-b302-4e05-9c8b-4c2668842446" xmlns:ns4="3f91088e-0cd9-4ab5-b860-1831d7d70c98" targetNamespace="http://schemas.microsoft.com/office/2006/metadata/properties" ma:root="true" ma:fieldsID="1ebcc587e10f84368558a0c6b16b97d0" ns3:_="" ns4:_="">
    <xsd:import namespace="adcb59af-b302-4e05-9c8b-4c2668842446"/>
    <xsd:import namespace="3f91088e-0cd9-4ab5-b860-1831d7d70c9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LengthInSeconds" minOccurs="0"/>
                <xsd:element ref="ns4:MediaServiceAutoTags" minOccurs="0"/>
                <xsd:element ref="ns4:MediaServiceGenerationTime" minOccurs="0"/>
                <xsd:element ref="ns4:MediaServiceEventHashCode" minOccurs="0"/>
                <xsd:element ref="ns4:MediaServiceOCR" minOccurs="0"/>
                <xsd:element ref="ns4:MediaServiceLocation"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cb59af-b302-4e05-9c8b-4c266884244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91088e-0cd9-4ab5-b860-1831d7d70c9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f91088e-0cd9-4ab5-b860-1831d7d70c98" xsi:nil="true"/>
  </documentManagement>
</p:properties>
</file>

<file path=customXml/itemProps1.xml><?xml version="1.0" encoding="utf-8"?>
<ds:datastoreItem xmlns:ds="http://schemas.openxmlformats.org/officeDocument/2006/customXml" ds:itemID="{0BE035E1-7D46-4C98-9817-FDA8F85A03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cb59af-b302-4e05-9c8b-4c2668842446"/>
    <ds:schemaRef ds:uri="3f91088e-0cd9-4ab5-b860-1831d7d70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DFCF-E61F-49D0-8328-6606B23B9CD9}">
  <ds:schemaRefs>
    <ds:schemaRef ds:uri="http://schemas.microsoft.com/sharepoint/v3/contenttype/forms"/>
  </ds:schemaRefs>
</ds:datastoreItem>
</file>

<file path=customXml/itemProps3.xml><?xml version="1.0" encoding="utf-8"?>
<ds:datastoreItem xmlns:ds="http://schemas.openxmlformats.org/officeDocument/2006/customXml" ds:itemID="{1EA4496E-CEAC-4D62-B61B-0D3FD1AAD060}">
  <ds:schemaRefs>
    <ds:schemaRef ds:uri="http://purl.org/dc/terms/"/>
    <ds:schemaRef ds:uri="http://purl.org/dc/elements/1.1/"/>
    <ds:schemaRef ds:uri="http://schemas.openxmlformats.org/package/2006/metadata/core-properties"/>
    <ds:schemaRef ds:uri="http://schemas.microsoft.com/office/2006/documentManagement/types"/>
    <ds:schemaRef ds:uri="3f91088e-0cd9-4ab5-b860-1831d7d70c98"/>
    <ds:schemaRef ds:uri="http://purl.org/dc/dcmitype/"/>
    <ds:schemaRef ds:uri="adcb59af-b302-4e05-9c8b-4c2668842446"/>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4796</TotalTime>
  <Words>1338</Words>
  <Application>Microsoft Office PowerPoint</Application>
  <PresentationFormat>Widescreen</PresentationFormat>
  <Paragraphs>135</Paragraphs>
  <Slides>11</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Manrope</vt:lpstr>
      <vt:lpstr>Manrope ExtraLight Light</vt:lpstr>
      <vt:lpstr>Manrope Light</vt:lpstr>
      <vt:lpstr>Manrope SemiBold</vt:lpstr>
      <vt:lpstr>Aptos</vt:lpstr>
      <vt:lpstr>Arial</vt:lpstr>
      <vt:lpstr>Calibri</vt:lpstr>
      <vt:lpstr>DM Sans</vt:lpstr>
      <vt:lpstr>Helvetica</vt:lpstr>
      <vt:lpstr>Lato</vt:lpstr>
      <vt:lpstr>Hexaware Master</vt:lpstr>
      <vt:lpstr>1_Hexaware Master</vt:lpstr>
      <vt:lpstr>Australia &amp; New Zealand</vt:lpstr>
      <vt:lpstr>PowerPoint Presentation</vt:lpstr>
      <vt:lpstr>PowerPoint Presentation</vt:lpstr>
      <vt:lpstr>PowerPoint Presentation</vt:lpstr>
      <vt:lpstr>Building an innovative platform providing easy access to Shariah compliant banking</vt:lpstr>
      <vt:lpstr>Store Operations Redefined: Operational Efficiency / Proactive Maintenance / Asset Intelligence</vt:lpstr>
      <vt:lpstr>Modernizing Existing Systems Using Digital Cloud Platforms</vt:lpstr>
      <vt:lpstr>Banking Operations with Reduced risk, Enhanced security and improved Operational efficiency</vt:lpstr>
      <vt:lpstr>Enhancing Operational Efficiency and Innovation in Application Support</vt:lpstr>
      <vt:lpstr>Fostering Innovation and Streamlining Efficiency, delivering complete peace of mind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Shahul Hameed</dc:creator>
  <cp:lastModifiedBy>Vinay Kumar</cp:lastModifiedBy>
  <cp:revision>11</cp:revision>
  <dcterms:created xsi:type="dcterms:W3CDTF">2024-04-03T05:47:01Z</dcterms:created>
  <dcterms:modified xsi:type="dcterms:W3CDTF">2025-11-26T01:20:00Z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0x0101000B20A52C1B2D5D4693AD9115098C8B92</vt:lpwstr>
  </property>
</Properties>
</file>