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0" r:id="rId5"/>
  </p:sldMasterIdLst>
  <p:notesMasterIdLst>
    <p:notesMasterId r:id="rId45"/>
  </p:notesMasterIdLst>
  <p:handoutMasterIdLst>
    <p:handoutMasterId r:id="rId46"/>
  </p:handoutMasterIdLst>
  <p:sldIdLst>
    <p:sldId id="2147483647" r:id="rId6"/>
    <p:sldId id="309" r:id="rId7"/>
    <p:sldId id="2147481312" r:id="rId8"/>
    <p:sldId id="261" r:id="rId9"/>
    <p:sldId id="256" r:id="rId10"/>
    <p:sldId id="2147475365" r:id="rId11"/>
    <p:sldId id="2147470857" r:id="rId12"/>
    <p:sldId id="350" r:id="rId13"/>
    <p:sldId id="2147480320" r:id="rId14"/>
    <p:sldId id="277" r:id="rId15"/>
    <p:sldId id="257" r:id="rId16"/>
    <p:sldId id="2147481609" r:id="rId17"/>
    <p:sldId id="2147475366" r:id="rId18"/>
    <p:sldId id="278" r:id="rId19"/>
    <p:sldId id="356" r:id="rId20"/>
    <p:sldId id="2147481303" r:id="rId21"/>
    <p:sldId id="2147475370" r:id="rId22"/>
    <p:sldId id="2147470093" r:id="rId23"/>
    <p:sldId id="2147480307" r:id="rId24"/>
    <p:sldId id="2147480308" r:id="rId25"/>
    <p:sldId id="2147470098" r:id="rId26"/>
    <p:sldId id="2147475368" r:id="rId27"/>
    <p:sldId id="259" r:id="rId28"/>
    <p:sldId id="365" r:id="rId29"/>
    <p:sldId id="2147481309" r:id="rId30"/>
    <p:sldId id="2147481310" r:id="rId31"/>
    <p:sldId id="258" r:id="rId32"/>
    <p:sldId id="375" r:id="rId33"/>
    <p:sldId id="312" r:id="rId34"/>
    <p:sldId id="295" r:id="rId35"/>
    <p:sldId id="2147481313" r:id="rId36"/>
    <p:sldId id="260" r:id="rId37"/>
    <p:sldId id="262" r:id="rId38"/>
    <p:sldId id="263" r:id="rId39"/>
    <p:sldId id="264" r:id="rId40"/>
    <p:sldId id="265" r:id="rId41"/>
    <p:sldId id="2147480303" r:id="rId42"/>
    <p:sldId id="355" r:id="rId43"/>
    <p:sldId id="214748131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8AD621-2F61-A9D8-3A98-1BCA6CE25DDD}" name="Danielle Sanders" initials="DS" userId="S::1000051903@hexaware.com::be4d3101-26ec-43c3-81c1-9770cfb38369" providerId="AD"/>
  <p188:author id="{73FAA66E-D248-217C-5BAE-9D5B019F5B80}" name="Disha Mongia" initials="DM" userId="S::1000053303@hexaware.com::53434ea3-9fd5-4ae2-9a84-e25eedf97e95" providerId="AD"/>
  <p188:author id="{51D7D07E-719E-2501-B9EA-82CED137E915}" name="Yogesh Johar" initials="YJ" userId="S::1000057162@hexaware.com::bd613922-1085-42f9-a525-cefcc1d0a296" providerId="AD"/>
  <p188:author id="{B10EE9DE-074B-5CDA-C48E-68380C5051CE}" name="Vignesh V" initials="VV" userId="S::2000076769@hexaware.com::bba0e20e-f410-4107-8e3a-731baa5cf9c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2CDA"/>
    <a:srgbClr val="CDD3F4"/>
    <a:srgbClr val="3C2DDA"/>
    <a:srgbClr val="CBD0E5"/>
    <a:srgbClr val="EEEFF5"/>
    <a:srgbClr val="3B2DDA"/>
    <a:srgbClr val="150F6A"/>
    <a:srgbClr val="3220F6"/>
    <a:srgbClr val="03002E"/>
    <a:srgbClr val="120C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94"/>
  </p:normalViewPr>
  <p:slideViewPr>
    <p:cSldViewPr snapToGrid="0">
      <p:cViewPr varScale="1">
        <p:scale>
          <a:sx n="91" d="100"/>
          <a:sy n="91" d="100"/>
        </p:scale>
        <p:origin x="101"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Kumar" userId="fc0dd98f-5f4d-4520-b687-f2de8019eab1" providerId="ADAL" clId="{675A18D8-4606-490B-B197-ECE7E84AA4EA}"/>
    <pc:docChg chg="delSld">
      <pc:chgData name="Vinay Kumar" userId="fc0dd98f-5f4d-4520-b687-f2de8019eab1" providerId="ADAL" clId="{675A18D8-4606-490B-B197-ECE7E84AA4EA}" dt="2026-10-07T22:23:53.300" v="0" actId="47"/>
      <pc:docMkLst>
        <pc:docMk/>
      </pc:docMkLst>
      <pc:sldChg chg="del">
        <pc:chgData name="Vinay Kumar" userId="fc0dd98f-5f4d-4520-b687-f2de8019eab1" providerId="ADAL" clId="{675A18D8-4606-490B-B197-ECE7E84AA4EA}" dt="2026-10-07T22:23:53.300" v="0" actId="47"/>
        <pc:sldMkLst>
          <pc:docMk/>
          <pc:sldMk cId="552668925" sldId="214748131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1B2259-9883-6F94-1165-B4F149D910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EC2DFEC-917D-E7FD-8926-11E6D834EB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3DF90-B6E1-4448-A065-6EC0CBAAEEAA}" type="datetimeFigureOut">
              <a:rPr lang="en-US" smtClean="0"/>
              <a:t>10/8/2026</a:t>
            </a:fld>
            <a:endParaRPr lang="en-US"/>
          </a:p>
        </p:txBody>
      </p:sp>
      <p:sp>
        <p:nvSpPr>
          <p:cNvPr id="4" name="Footer Placeholder 3">
            <a:extLst>
              <a:ext uri="{FF2B5EF4-FFF2-40B4-BE49-F238E27FC236}">
                <a16:creationId xmlns:a16="http://schemas.microsoft.com/office/drawing/2014/main" id="{CC588B84-9FF3-B2B6-03B4-760A9E1406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4CFA06-FBBA-EA5B-5C6A-264498FA20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F99D79-6FE1-1B41-9FA7-F185D9BA747C}" type="slidenum">
              <a:rPr lang="en-US" smtClean="0"/>
              <a:t>‹#›</a:t>
            </a:fld>
            <a:endParaRPr lang="en-US"/>
          </a:p>
        </p:txBody>
      </p:sp>
    </p:spTree>
    <p:extLst>
      <p:ext uri="{BB962C8B-B14F-4D97-AF65-F5344CB8AC3E}">
        <p14:creationId xmlns:p14="http://schemas.microsoft.com/office/powerpoint/2010/main" val="39958755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anrope"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anrope" pitchFamily="2" charset="0"/>
              </a:defRPr>
            </a:lvl1pPr>
          </a:lstStyle>
          <a:p>
            <a:fld id="{ECAE251F-E50B-4AA0-A361-BF69B56A7095}" type="datetimeFigureOut">
              <a:rPr lang="en-US" smtClean="0"/>
              <a:pPr/>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anrope"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anrope" pitchFamily="2" charset="0"/>
              </a:defRPr>
            </a:lvl1pPr>
          </a:lstStyle>
          <a:p>
            <a:fld id="{331CD59D-0597-43DC-9404-9BA5D1B50171}" type="slidenum">
              <a:rPr lang="en-US" smtClean="0"/>
              <a:pPr/>
              <a:t>‹#›</a:t>
            </a:fld>
            <a:endParaRPr lang="en-US"/>
          </a:p>
        </p:txBody>
      </p:sp>
    </p:spTree>
    <p:extLst>
      <p:ext uri="{BB962C8B-B14F-4D97-AF65-F5344CB8AC3E}">
        <p14:creationId xmlns:p14="http://schemas.microsoft.com/office/powerpoint/2010/main" val="2699819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anrope" pitchFamily="2" charset="0"/>
        <a:ea typeface="+mn-ea"/>
        <a:cs typeface="+mn-cs"/>
      </a:defRPr>
    </a:lvl1pPr>
    <a:lvl2pPr marL="457200" algn="l" defTabSz="914400" rtl="0" eaLnBrk="1" latinLnBrk="0" hangingPunct="1">
      <a:defRPr sz="1200" kern="1200">
        <a:solidFill>
          <a:schemeClr val="tx1"/>
        </a:solidFill>
        <a:latin typeface="Manrope" pitchFamily="2" charset="0"/>
        <a:ea typeface="+mn-ea"/>
        <a:cs typeface="+mn-cs"/>
      </a:defRPr>
    </a:lvl2pPr>
    <a:lvl3pPr marL="914400" algn="l" defTabSz="914400" rtl="0" eaLnBrk="1" latinLnBrk="0" hangingPunct="1">
      <a:defRPr sz="1200" kern="1200">
        <a:solidFill>
          <a:schemeClr val="tx1"/>
        </a:solidFill>
        <a:latin typeface="Manrope" pitchFamily="2" charset="0"/>
        <a:ea typeface="+mn-ea"/>
        <a:cs typeface="+mn-cs"/>
      </a:defRPr>
    </a:lvl3pPr>
    <a:lvl4pPr marL="1371600" algn="l" defTabSz="914400" rtl="0" eaLnBrk="1" latinLnBrk="0" hangingPunct="1">
      <a:defRPr sz="1200" kern="1200">
        <a:solidFill>
          <a:schemeClr val="tx1"/>
        </a:solidFill>
        <a:latin typeface="Manrope" pitchFamily="2" charset="0"/>
        <a:ea typeface="+mn-ea"/>
        <a:cs typeface="+mn-cs"/>
      </a:defRPr>
    </a:lvl4pPr>
    <a:lvl5pPr marL="1828800" algn="l" defTabSz="914400" rtl="0" eaLnBrk="1" latinLnBrk="0" hangingPunct="1">
      <a:defRPr sz="1200" kern="1200">
        <a:solidFill>
          <a:schemeClr val="tx1"/>
        </a:solidFill>
        <a:latin typeface="Manrope"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2</a:t>
            </a:fld>
            <a:endParaRPr lang="en-US"/>
          </a:p>
        </p:txBody>
      </p:sp>
    </p:spTree>
    <p:extLst>
      <p:ext uri="{BB962C8B-B14F-4D97-AF65-F5344CB8AC3E}">
        <p14:creationId xmlns:p14="http://schemas.microsoft.com/office/powerpoint/2010/main" val="2880644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E47F-14C3-89D8-7E43-11AAEEF05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3E3BA-B2B0-B56A-F1CA-6D9207D76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43336-FC3C-E80E-29C5-3051C5A33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74C39D-2600-05B5-C987-774AB462E219}"/>
              </a:ext>
            </a:extLst>
          </p:cNvPr>
          <p:cNvSpPr>
            <a:spLocks noGrp="1"/>
          </p:cNvSpPr>
          <p:nvPr>
            <p:ph type="sldNum" sz="quarter" idx="5"/>
          </p:nvPr>
        </p:nvSpPr>
        <p:spPr/>
        <p:txBody>
          <a:bodyPr/>
          <a:lstStyle/>
          <a:p>
            <a:fld id="{331CD59D-0597-43DC-9404-9BA5D1B50171}" type="slidenum">
              <a:rPr lang="en-US" smtClean="0"/>
              <a:pPr/>
              <a:t>4</a:t>
            </a:fld>
            <a:endParaRPr lang="en-US"/>
          </a:p>
        </p:txBody>
      </p:sp>
    </p:spTree>
    <p:extLst>
      <p:ext uri="{BB962C8B-B14F-4D97-AF65-F5344CB8AC3E}">
        <p14:creationId xmlns:p14="http://schemas.microsoft.com/office/powerpoint/2010/main" val="985025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620364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7</a:t>
            </a:fld>
            <a:endParaRPr lang="en-US"/>
          </a:p>
        </p:txBody>
      </p:sp>
    </p:spTree>
    <p:extLst>
      <p:ext uri="{BB962C8B-B14F-4D97-AF65-F5344CB8AC3E}">
        <p14:creationId xmlns:p14="http://schemas.microsoft.com/office/powerpoint/2010/main" val="274473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8</a:t>
            </a:fld>
            <a:endParaRPr lang="en-US"/>
          </a:p>
        </p:txBody>
      </p:sp>
    </p:spTree>
    <p:extLst>
      <p:ext uri="{BB962C8B-B14F-4D97-AF65-F5344CB8AC3E}">
        <p14:creationId xmlns:p14="http://schemas.microsoft.com/office/powerpoint/2010/main" val="2067954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6BDED-CA57-B289-2130-C2782C0A4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7A997-F982-79FD-E4CC-2DF81977F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8A879-17D1-26A0-1020-3410225A8535}"/>
              </a:ext>
            </a:extLst>
          </p:cNvPr>
          <p:cNvSpPr>
            <a:spLocks noGrp="1"/>
          </p:cNvSpPr>
          <p:nvPr>
            <p:ph type="body" idx="1"/>
          </p:nvPr>
        </p:nvSpPr>
        <p:spPr/>
        <p:txBody>
          <a:bodyPr/>
          <a:lstStyle/>
          <a:p>
            <a:r>
              <a:rPr lang="en-US" b="1" i="0">
                <a:solidFill>
                  <a:srgbClr val="001D35"/>
                </a:solidFill>
                <a:effectLst/>
                <a:latin typeface="Google Sans"/>
              </a:rPr>
              <a:t>Synapse :</a:t>
            </a:r>
            <a:r>
              <a:rPr lang="en-US" b="0" i="0">
                <a:solidFill>
                  <a:srgbClr val="001D35"/>
                </a:solidFill>
                <a:effectLst/>
                <a:latin typeface="Google Sans"/>
              </a:rPr>
              <a:t> Evokes the idea of connections and pathways within the brain, a key concept in AI</a:t>
            </a:r>
            <a:endParaRPr lang="en-IN"/>
          </a:p>
        </p:txBody>
      </p:sp>
      <p:sp>
        <p:nvSpPr>
          <p:cNvPr id="4" name="Slide Number Placeholder 3">
            <a:extLst>
              <a:ext uri="{FF2B5EF4-FFF2-40B4-BE49-F238E27FC236}">
                <a16:creationId xmlns:a16="http://schemas.microsoft.com/office/drawing/2014/main" id="{8E8A3EE2-9C4D-F69B-1685-AB30D25195BB}"/>
              </a:ext>
            </a:extLst>
          </p:cNvPr>
          <p:cNvSpPr>
            <a:spLocks noGrp="1"/>
          </p:cNvSpPr>
          <p:nvPr>
            <p:ph type="sldNum" sz="quarter" idx="5"/>
          </p:nvPr>
        </p:nvSpPr>
        <p:spPr/>
        <p:txBody>
          <a:bodyPr/>
          <a:lstStyle/>
          <a:p>
            <a:fld id="{C9D833BE-1096-430A-8BBD-C7600195B1F3}" type="slidenum">
              <a:rPr lang="en-IN" smtClean="0"/>
              <a:t>11</a:t>
            </a:fld>
            <a:endParaRPr lang="en-IN"/>
          </a:p>
        </p:txBody>
      </p:sp>
    </p:spTree>
    <p:extLst>
      <p:ext uri="{BB962C8B-B14F-4D97-AF65-F5344CB8AC3E}">
        <p14:creationId xmlns:p14="http://schemas.microsoft.com/office/powerpoint/2010/main" val="1422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A4446-1E72-2504-5030-398462D2B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56BF7-E661-8312-D233-EB5F5C4CA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766B8-34B2-5229-55CB-A5E0FA3C96BE}"/>
              </a:ext>
            </a:extLst>
          </p:cNvPr>
          <p:cNvSpPr>
            <a:spLocks noGrp="1"/>
          </p:cNvSpPr>
          <p:nvPr>
            <p:ph type="body" idx="1"/>
          </p:nvPr>
        </p:nvSpPr>
        <p:spPr/>
        <p:txBody>
          <a:bodyPr/>
          <a:lstStyle/>
          <a:p>
            <a:r>
              <a:rPr lang="en-US" b="1" i="0">
                <a:solidFill>
                  <a:srgbClr val="001D35"/>
                </a:solidFill>
                <a:effectLst/>
                <a:latin typeface="Google Sans"/>
              </a:rPr>
              <a:t>Synapse :</a:t>
            </a:r>
            <a:r>
              <a:rPr lang="en-US" b="0" i="0">
                <a:solidFill>
                  <a:srgbClr val="001D35"/>
                </a:solidFill>
                <a:effectLst/>
                <a:latin typeface="Google Sans"/>
              </a:rPr>
              <a:t> Evokes the idea of connections and pathways within the brain, a key concept in AI</a:t>
            </a:r>
            <a:endParaRPr lang="en-IN"/>
          </a:p>
        </p:txBody>
      </p:sp>
      <p:sp>
        <p:nvSpPr>
          <p:cNvPr id="4" name="Slide Number Placeholder 3">
            <a:extLst>
              <a:ext uri="{FF2B5EF4-FFF2-40B4-BE49-F238E27FC236}">
                <a16:creationId xmlns:a16="http://schemas.microsoft.com/office/drawing/2014/main" id="{37B2D656-28F6-A11A-2EDF-8DF2544012CE}"/>
              </a:ext>
            </a:extLst>
          </p:cNvPr>
          <p:cNvSpPr>
            <a:spLocks noGrp="1"/>
          </p:cNvSpPr>
          <p:nvPr>
            <p:ph type="sldNum" sz="quarter" idx="5"/>
          </p:nvPr>
        </p:nvSpPr>
        <p:spPr/>
        <p:txBody>
          <a:bodyPr/>
          <a:lstStyle/>
          <a:p>
            <a:fld id="{C9D833BE-1096-430A-8BBD-C7600195B1F3}" type="slidenum">
              <a:rPr lang="en-IN" smtClean="0"/>
              <a:t>12</a:t>
            </a:fld>
            <a:endParaRPr lang="en-IN"/>
          </a:p>
        </p:txBody>
      </p:sp>
    </p:spTree>
    <p:extLst>
      <p:ext uri="{BB962C8B-B14F-4D97-AF65-F5344CB8AC3E}">
        <p14:creationId xmlns:p14="http://schemas.microsoft.com/office/powerpoint/2010/main" val="3472284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7F66745-B649-4ED7-AF7B-0C3AD0A7797C}" type="slidenum">
              <a:rPr lang="en-IN" smtClean="0"/>
              <a:t>14</a:t>
            </a:fld>
            <a:endParaRPr lang="en-IN"/>
          </a:p>
        </p:txBody>
      </p:sp>
    </p:spTree>
    <p:extLst>
      <p:ext uri="{BB962C8B-B14F-4D97-AF65-F5344CB8AC3E}">
        <p14:creationId xmlns:p14="http://schemas.microsoft.com/office/powerpoint/2010/main" val="3844780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0A7755-F93B-B949-AC21-50ADC7A3FC3B}" type="slidenum">
              <a:rPr lang="en-US" smtClean="0"/>
              <a:pPr/>
              <a:t>18</a:t>
            </a:fld>
            <a:endParaRPr lang="en-US"/>
          </a:p>
        </p:txBody>
      </p:sp>
    </p:spTree>
    <p:extLst>
      <p:ext uri="{BB962C8B-B14F-4D97-AF65-F5344CB8AC3E}">
        <p14:creationId xmlns:p14="http://schemas.microsoft.com/office/powerpoint/2010/main" val="3751380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0A7755-F93B-B949-AC21-50ADC7A3FC3B}" type="slidenum">
              <a:rPr lang="en-US" smtClean="0"/>
              <a:pPr/>
              <a:t>20</a:t>
            </a:fld>
            <a:endParaRPr lang="en-US"/>
          </a:p>
        </p:txBody>
      </p:sp>
    </p:spTree>
    <p:extLst>
      <p:ext uri="{BB962C8B-B14F-4D97-AF65-F5344CB8AC3E}">
        <p14:creationId xmlns:p14="http://schemas.microsoft.com/office/powerpoint/2010/main" val="760784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0A7755-F93B-B949-AC21-50ADC7A3FC3B}" type="slidenum">
              <a:rPr lang="en-US" smtClean="0"/>
              <a:pPr/>
              <a:t>21</a:t>
            </a:fld>
            <a:endParaRPr lang="en-US"/>
          </a:p>
        </p:txBody>
      </p:sp>
    </p:spTree>
    <p:extLst>
      <p:ext uri="{BB962C8B-B14F-4D97-AF65-F5344CB8AC3E}">
        <p14:creationId xmlns:p14="http://schemas.microsoft.com/office/powerpoint/2010/main" val="56921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A1179-E5AF-9BC3-75BB-5DE4F1176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43851-92B0-E226-E895-D9EECE133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49634-ED64-551C-75C0-10E0E59C7A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6585A2-80AF-6BFA-767C-EC4CD1042F0C}"/>
              </a:ext>
            </a:extLst>
          </p:cNvPr>
          <p:cNvSpPr>
            <a:spLocks noGrp="1"/>
          </p:cNvSpPr>
          <p:nvPr>
            <p:ph type="sldNum" sz="quarter" idx="5"/>
          </p:nvPr>
        </p:nvSpPr>
        <p:spPr/>
        <p:txBody>
          <a:bodyPr/>
          <a:lstStyle/>
          <a:p>
            <a:fld id="{331CD59D-0597-43DC-9404-9BA5D1B50171}" type="slidenum">
              <a:rPr lang="en-US" smtClean="0"/>
              <a:pPr/>
              <a:t>30</a:t>
            </a:fld>
            <a:endParaRPr lang="en-US"/>
          </a:p>
        </p:txBody>
      </p:sp>
    </p:spTree>
    <p:extLst>
      <p:ext uri="{BB962C8B-B14F-4D97-AF65-F5344CB8AC3E}">
        <p14:creationId xmlns:p14="http://schemas.microsoft.com/office/powerpoint/2010/main" val="366004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38</a:t>
            </a:fld>
            <a:endParaRPr lang="en-US"/>
          </a:p>
        </p:txBody>
      </p:sp>
    </p:spTree>
    <p:extLst>
      <p:ext uri="{BB962C8B-B14F-4D97-AF65-F5344CB8AC3E}">
        <p14:creationId xmlns:p14="http://schemas.microsoft.com/office/powerpoint/2010/main" val="3620364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39</a:t>
            </a:fld>
            <a:endParaRPr lang="en-US"/>
          </a:p>
        </p:txBody>
      </p:sp>
    </p:spTree>
    <p:extLst>
      <p:ext uri="{BB962C8B-B14F-4D97-AF65-F5344CB8AC3E}">
        <p14:creationId xmlns:p14="http://schemas.microsoft.com/office/powerpoint/2010/main" val="38785095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400784543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a:t>Click to edit title</a:t>
            </a:r>
          </a:p>
        </p:txBody>
      </p:sp>
    </p:spTree>
    <p:extLst>
      <p:ext uri="{BB962C8B-B14F-4D97-AF65-F5344CB8AC3E}">
        <p14:creationId xmlns:p14="http://schemas.microsoft.com/office/powerpoint/2010/main" val="219901980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874428058"/>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36B539-8F08-07D1-EE5B-04C708D1ED8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6313" t="34253" r="24550" b="24287"/>
          <a:stretch/>
        </p:blipFill>
        <p:spPr>
          <a:xfrm>
            <a:off x="0" y="0"/>
            <a:ext cx="12192000" cy="6858000"/>
          </a:xfrm>
          <a:prstGeom prst="rect">
            <a:avLst/>
          </a:prstGeom>
        </p:spPr>
      </p:pic>
      <p:sp>
        <p:nvSpPr>
          <p:cNvPr id="10" name="Freeform 9">
            <a:extLst>
              <a:ext uri="{FF2B5EF4-FFF2-40B4-BE49-F238E27FC236}">
                <a16:creationId xmlns:a16="http://schemas.microsoft.com/office/drawing/2014/main" id="{181B0403-D916-89B9-8BE5-BAD44AD8B8F8}"/>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rgbClr val="3C2DDA">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bg1"/>
                </a:solidFill>
                <a:latin typeface="+mn-lt"/>
                <a:ea typeface="+mn-ea"/>
                <a:cs typeface="Heebo" pitchFamily="2" charset="-79"/>
              </a:rPr>
              <a:t>© Hexaware Technologies. Confidential briefing. </a:t>
            </a:r>
            <a:endParaRPr lang="en-US" sz="700" kern="0" spc="50" baseline="0">
              <a:solidFill>
                <a:schemeClr val="bg1"/>
              </a:solidFill>
              <a:latin typeface="+mn-lt"/>
              <a:ea typeface="+mn-ea"/>
              <a:cs typeface="Heebo" pitchFamily="2" charset="-79"/>
            </a:endParaRPr>
          </a:p>
        </p:txBody>
      </p:sp>
      <p:pic>
        <p:nvPicPr>
          <p:cNvPr id="12" name="Graphic 11">
            <a:extLst>
              <a:ext uri="{FF2B5EF4-FFF2-40B4-BE49-F238E27FC236}">
                <a16:creationId xmlns:a16="http://schemas.microsoft.com/office/drawing/2014/main" id="{67BB5B89-D77F-4F93-9EF6-0F650E89B78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17328" y="345759"/>
            <a:ext cx="914400" cy="122739"/>
          </a:xfrm>
          <a:prstGeom prst="rect">
            <a:avLst/>
          </a:prstGeom>
        </p:spPr>
      </p:pic>
    </p:spTree>
    <p:extLst>
      <p:ext uri="{BB962C8B-B14F-4D97-AF65-F5344CB8AC3E}">
        <p14:creationId xmlns:p14="http://schemas.microsoft.com/office/powerpoint/2010/main" val="2912307655"/>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AC99F4-A364-3CFB-5EA2-C10F0662A1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411" b="30902"/>
          <a:stretch/>
        </p:blipFill>
        <p:spPr>
          <a:xfrm>
            <a:off x="6358" y="3429001"/>
            <a:ext cx="12185641" cy="3428999"/>
          </a:xfrm>
          <a:prstGeom prst="rect">
            <a:avLst/>
          </a:prstGeom>
        </p:spPr>
      </p:pic>
      <p:sp>
        <p:nvSpPr>
          <p:cNvPr id="6" name="Freeform 5">
            <a:extLst>
              <a:ext uri="{FF2B5EF4-FFF2-40B4-BE49-F238E27FC236}">
                <a16:creationId xmlns:a16="http://schemas.microsoft.com/office/drawing/2014/main" id="{C232AA62-94D8-3A21-3139-D1D14ED5A579}"/>
              </a:ext>
            </a:extLst>
          </p:cNvPr>
          <p:cNvSpPr/>
          <p:nvPr userDrawn="1"/>
        </p:nvSpPr>
        <p:spPr>
          <a:xfrm>
            <a:off x="0" y="3428998"/>
            <a:ext cx="12192000" cy="3429001"/>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rgbClr val="3C2DDA">
              <a:alpha val="5944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bg1"/>
                </a:solidFill>
                <a:latin typeface="+mn-lt"/>
                <a:ea typeface="+mn-ea"/>
                <a:cs typeface="Heebo" pitchFamily="2" charset="-79"/>
              </a:rPr>
              <a:t>© Hexaware Technologies. Confidential briefing. </a:t>
            </a:r>
            <a:endParaRPr lang="en-US" sz="700" kern="0" spc="50" baseline="0">
              <a:solidFill>
                <a:schemeClr val="bg1"/>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88228443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296452225"/>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1008626794"/>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814176257"/>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0512412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40" userDrawn="1">
          <p15:clr>
            <a:srgbClr val="FBAE40"/>
          </p15:clr>
        </p15:guide>
        <p15:guide id="5" orient="horz" pos="572" userDrawn="1">
          <p15:clr>
            <a:srgbClr val="FBAE40"/>
          </p15:clr>
        </p15:guide>
        <p15:guide id="6" pos="3795" userDrawn="1">
          <p15:clr>
            <a:srgbClr val="FBAE40"/>
          </p15:clr>
        </p15:guide>
        <p15:guide id="7" pos="405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1300655491"/>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40" userDrawn="1">
          <p15:clr>
            <a:srgbClr val="FBAE40"/>
          </p15:clr>
        </p15:guide>
        <p15:guide id="5" orient="horz" pos="572" userDrawn="1">
          <p15:clr>
            <a:srgbClr val="FBAE40"/>
          </p15:clr>
        </p15:guide>
        <p15:guide id="6" pos="3795" userDrawn="1">
          <p15:clr>
            <a:srgbClr val="FBAE40"/>
          </p15:clr>
        </p15:guide>
        <p15:guide id="7" pos="40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22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527092611"/>
      </p:ext>
    </p:extLst>
  </p:cSld>
  <p:clrMapOvr>
    <a:masterClrMapping/>
  </p:clrMapOvr>
  <p:extLst>
    <p:ext uri="{DCECCB84-F9BA-43D5-87BE-67443E8EF086}">
      <p15:sldGuideLst xmlns:p15="http://schemas.microsoft.com/office/powerpoint/2012/main">
        <p15:guide id="1" orient="horz" pos="3929" userDrawn="1">
          <p15:clr>
            <a:srgbClr val="FBAE40"/>
          </p15:clr>
        </p15:guide>
        <p15:guide id="2" pos="393" userDrawn="1">
          <p15:clr>
            <a:srgbClr val="FBAE40"/>
          </p15:clr>
        </p15:guide>
        <p15:guide id="3" orient="horz" pos="572" userDrawn="1">
          <p15:clr>
            <a:srgbClr val="FBAE40"/>
          </p15:clr>
        </p15:guide>
        <p15:guide id="4" pos="728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9658567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207398985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37702706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3442587381"/>
      </p:ext>
    </p:extLst>
  </p:cSld>
  <p:clrMapOvr>
    <a:masterClrMapping/>
  </p:clrMapOvr>
  <p:extLst>
    <p:ext uri="{DCECCB84-F9BA-43D5-87BE-67443E8EF086}">
      <p15:sldGuideLst xmlns:p15="http://schemas.microsoft.com/office/powerpoint/2012/main">
        <p15:guide id="1" orient="horz" pos="3929" userDrawn="1">
          <p15:clr>
            <a:srgbClr val="FBAE40"/>
          </p15:clr>
        </p15:guide>
        <p15:guide id="2" pos="393" userDrawn="1">
          <p15:clr>
            <a:srgbClr val="FBAE40"/>
          </p15:clr>
        </p15:guide>
        <p15:guide id="3" orient="horz" pos="232" userDrawn="1">
          <p15:clr>
            <a:srgbClr val="FBAE40"/>
          </p15:clr>
        </p15:guide>
        <p15:guide id="4" pos="728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484C3-5389-3DAD-3ABC-C2BFBD4522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3CBA70-0E81-E3F5-3179-450084E554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38BF4A-F277-77DF-E5CA-C999CCB85C2E}"/>
              </a:ext>
            </a:extLst>
          </p:cNvPr>
          <p:cNvSpPr>
            <a:spLocks noGrp="1"/>
          </p:cNvSpPr>
          <p:nvPr>
            <p:ph type="dt" sz="half" idx="10"/>
          </p:nvPr>
        </p:nvSpPr>
        <p:spPr/>
        <p:txBody>
          <a:bodyPr/>
          <a:lstStyle/>
          <a:p>
            <a:fld id="{76156935-AF6F-4E4A-A1DB-B909A6CFE6D3}" type="datetimeFigureOut">
              <a:rPr lang="en-US" smtClean="0"/>
              <a:t>10/8/2026</a:t>
            </a:fld>
            <a:endParaRPr lang="en-US"/>
          </a:p>
        </p:txBody>
      </p:sp>
      <p:sp>
        <p:nvSpPr>
          <p:cNvPr id="5" name="Footer Placeholder 4">
            <a:extLst>
              <a:ext uri="{FF2B5EF4-FFF2-40B4-BE49-F238E27FC236}">
                <a16:creationId xmlns:a16="http://schemas.microsoft.com/office/drawing/2014/main" id="{F59A34D6-90D3-6DF6-2A8B-4A05BAC45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0433A8-C172-DFB4-5C60-606210490CB0}"/>
              </a:ext>
            </a:extLst>
          </p:cNvPr>
          <p:cNvSpPr>
            <a:spLocks noGrp="1"/>
          </p:cNvSpPr>
          <p:nvPr>
            <p:ph type="sldNum" sz="quarter" idx="12"/>
          </p:nvPr>
        </p:nvSpPr>
        <p:spPr/>
        <p:txBody>
          <a:bodyPr/>
          <a:lstStyle/>
          <a:p>
            <a:fld id="{11C215E9-6B4A-40B1-9255-481ED86844FD}" type="slidenum">
              <a:rPr lang="en-US" smtClean="0"/>
              <a:t>‹#›</a:t>
            </a:fld>
            <a:endParaRPr lang="en-US"/>
          </a:p>
        </p:txBody>
      </p:sp>
    </p:spTree>
    <p:extLst>
      <p:ext uri="{BB962C8B-B14F-4D97-AF65-F5344CB8AC3E}">
        <p14:creationId xmlns:p14="http://schemas.microsoft.com/office/powerpoint/2010/main" val="3215240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2F98F-1C83-D963-E553-85A6864B58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D92259-BC37-D0F7-04DF-2F5FC7C943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ACE41A-EBBA-B6F6-4645-175B4059E65B}"/>
              </a:ext>
            </a:extLst>
          </p:cNvPr>
          <p:cNvSpPr>
            <a:spLocks noGrp="1"/>
          </p:cNvSpPr>
          <p:nvPr>
            <p:ph type="dt" sz="half" idx="10"/>
          </p:nvPr>
        </p:nvSpPr>
        <p:spPr/>
        <p:txBody>
          <a:bodyPr/>
          <a:lstStyle/>
          <a:p>
            <a:fld id="{2C2300F4-AA1A-4E5B-8987-17A6BB48995E}" type="datetimeFigureOut">
              <a:rPr lang="en-US" smtClean="0"/>
              <a:t>10/8/2026</a:t>
            </a:fld>
            <a:endParaRPr lang="en-US"/>
          </a:p>
        </p:txBody>
      </p:sp>
      <p:sp>
        <p:nvSpPr>
          <p:cNvPr id="5" name="Footer Placeholder 4">
            <a:extLst>
              <a:ext uri="{FF2B5EF4-FFF2-40B4-BE49-F238E27FC236}">
                <a16:creationId xmlns:a16="http://schemas.microsoft.com/office/drawing/2014/main" id="{83D81EA2-33EC-E459-208B-FAB9A874E2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C2875-7DC9-08AF-93A7-F247E851A274}"/>
              </a:ext>
            </a:extLst>
          </p:cNvPr>
          <p:cNvSpPr>
            <a:spLocks noGrp="1"/>
          </p:cNvSpPr>
          <p:nvPr>
            <p:ph type="sldNum" sz="quarter" idx="12"/>
          </p:nvPr>
        </p:nvSpPr>
        <p:spPr/>
        <p:txBody>
          <a:bodyPr/>
          <a:lstStyle/>
          <a:p>
            <a:fld id="{231A2F89-F773-42A1-A0A8-40B941A7A175}" type="slidenum">
              <a:rPr lang="en-US" smtClean="0"/>
              <a:t>‹#›</a:t>
            </a:fld>
            <a:endParaRPr lang="en-US"/>
          </a:p>
        </p:txBody>
      </p:sp>
    </p:spTree>
    <p:extLst>
      <p:ext uri="{BB962C8B-B14F-4D97-AF65-F5344CB8AC3E}">
        <p14:creationId xmlns:p14="http://schemas.microsoft.com/office/powerpoint/2010/main" val="1406703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reserve="1">
  <p:cSld name="Confidentiality Agreement">
    <p:bg>
      <p:bgPr>
        <a:solidFill>
          <a:srgbClr val="3C2CDA"/>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AF04C826-8384-73E6-174D-68500116C497}"/>
              </a:ext>
            </a:extLst>
          </p:cNvPr>
          <p:cNvSpPr txBox="1"/>
          <p:nvPr userDrawn="1"/>
        </p:nvSpPr>
        <p:spPr>
          <a:xfrm>
            <a:off x="619125" y="2489139"/>
            <a:ext cx="6427675" cy="1231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pPr algn="l" rtl="0">
              <a:spcBef>
                <a:spcPts val="0"/>
              </a:spcBef>
            </a:pPr>
            <a:r>
              <a:rPr lang="en-US" sz="2000">
                <a:solidFill>
                  <a:srgbClr val="FFFFFF"/>
                </a:solidFill>
                <a:effectLst/>
                <a:latin typeface="+mj-lt"/>
              </a:rPr>
              <a:t>During this presentation, we may disclose confidential information, including client names. This information must not be disclosed to third parties without prior permission from Hexaware.</a:t>
            </a:r>
          </a:p>
        </p:txBody>
      </p:sp>
      <p:sp>
        <p:nvSpPr>
          <p:cNvPr id="2" name="Slide Number Placeholder 5">
            <a:extLst>
              <a:ext uri="{FF2B5EF4-FFF2-40B4-BE49-F238E27FC236}">
                <a16:creationId xmlns:a16="http://schemas.microsoft.com/office/drawing/2014/main" id="{968AA8B2-22BA-1E73-5320-74E8B7A8EF5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6" name="Graphic 5">
            <a:extLst>
              <a:ext uri="{FF2B5EF4-FFF2-40B4-BE49-F238E27FC236}">
                <a16:creationId xmlns:a16="http://schemas.microsoft.com/office/drawing/2014/main" id="{17671A1A-9420-29DA-3891-45A3154B1315}"/>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C3CC48F9-23C4-9DF6-3BFC-68640011D939}"/>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
        <p:nvSpPr>
          <p:cNvPr id="13" name="Rounded Rectangle 12">
            <a:extLst>
              <a:ext uri="{FF2B5EF4-FFF2-40B4-BE49-F238E27FC236}">
                <a16:creationId xmlns:a16="http://schemas.microsoft.com/office/drawing/2014/main" id="{50FC3176-AD29-0824-9069-1881FE5A72CB}"/>
              </a:ext>
            </a:extLst>
          </p:cNvPr>
          <p:cNvSpPr/>
          <p:nvPr userDrawn="1"/>
        </p:nvSpPr>
        <p:spPr>
          <a:xfrm>
            <a:off x="619125" y="1664200"/>
            <a:ext cx="2491628" cy="52124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se study: audit transformation for a multinational professional services company">
            <a:extLst>
              <a:ext uri="{FF2B5EF4-FFF2-40B4-BE49-F238E27FC236}">
                <a16:creationId xmlns:a16="http://schemas.microsoft.com/office/drawing/2014/main" id="{92080241-039F-3498-0AD4-3CC3274D0181}"/>
              </a:ext>
            </a:extLst>
          </p:cNvPr>
          <p:cNvSpPr txBox="1"/>
          <p:nvPr userDrawn="1"/>
        </p:nvSpPr>
        <p:spPr>
          <a:xfrm>
            <a:off x="1174085" y="1839902"/>
            <a:ext cx="1846465" cy="169277"/>
          </a:xfrm>
          <a:prstGeom prst="rect">
            <a:avLst/>
          </a:prstGeom>
          <a:ln w="12700">
            <a:miter lim="400000"/>
          </a:ln>
          <a:extLst>
            <a:ext uri="{C572A759-6A51-4108-AA02-DFA0A04FC94B}">
              <ma14:wrappingTextBoxFlag xmlns="" xmlns:lc="http://schemas.openxmlformats.org/drawingml/2006/lockedCanva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r>
              <a:rPr lang="en-US" sz="1100">
                <a:solidFill>
                  <a:schemeClr val="accent1"/>
                </a:solidFill>
                <a:latin typeface="Manrope" pitchFamily="2" charset="0"/>
              </a:rPr>
              <a:t>Confidentiality agreement</a:t>
            </a:r>
            <a:endParaRPr sz="1100">
              <a:solidFill>
                <a:schemeClr val="accent1"/>
              </a:solidFill>
              <a:latin typeface="Manrope" pitchFamily="2" charset="0"/>
            </a:endParaRPr>
          </a:p>
        </p:txBody>
      </p:sp>
      <p:sp>
        <p:nvSpPr>
          <p:cNvPr id="10" name="Triangle 3">
            <a:extLst>
              <a:ext uri="{FF2B5EF4-FFF2-40B4-BE49-F238E27FC236}">
                <a16:creationId xmlns:a16="http://schemas.microsoft.com/office/drawing/2014/main" id="{19AA3BB4-CC9D-A904-5490-8AD1C90B908B}"/>
              </a:ext>
            </a:extLst>
          </p:cNvPr>
          <p:cNvSpPr/>
          <p:nvPr userDrawn="1"/>
        </p:nvSpPr>
        <p:spPr>
          <a:xfrm>
            <a:off x="795056" y="1785000"/>
            <a:ext cx="287806" cy="248109"/>
          </a:xfrm>
          <a:prstGeom prst="triangl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mj-ea"/>
              <a:cs typeface="+mj-cs"/>
              <a:sym typeface="Helvetica Neue Medium"/>
            </a:endParaRPr>
          </a:p>
        </p:txBody>
      </p:sp>
      <p:sp>
        <p:nvSpPr>
          <p:cNvPr id="11" name="Case study: audit transformation for a multinational professional services company">
            <a:extLst>
              <a:ext uri="{FF2B5EF4-FFF2-40B4-BE49-F238E27FC236}">
                <a16:creationId xmlns:a16="http://schemas.microsoft.com/office/drawing/2014/main" id="{4D27650D-B679-158A-89FF-5BC160DB0FE1}"/>
              </a:ext>
            </a:extLst>
          </p:cNvPr>
          <p:cNvSpPr txBox="1"/>
          <p:nvPr userDrawn="1"/>
        </p:nvSpPr>
        <p:spPr>
          <a:xfrm>
            <a:off x="812751" y="1852385"/>
            <a:ext cx="252417" cy="169277"/>
          </a:xfrm>
          <a:prstGeom prst="rect">
            <a:avLst/>
          </a:prstGeom>
          <a:ln w="12700">
            <a:miter lim="400000"/>
          </a:ln>
          <a:extLst>
            <a:ext uri="{C572A759-6A51-4108-AA02-DFA0A04FC94B}">
              <ma14:wrappingTextBoxFlag xmlns="" xmlns:lc="http://schemas.openxmlformats.org/drawingml/2006/lockedCanva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pPr algn="ctr"/>
            <a:r>
              <a:rPr lang="en-US" sz="1100">
                <a:solidFill>
                  <a:schemeClr val="bg1"/>
                </a:solidFill>
                <a:latin typeface="Manrope" pitchFamily="2" charset="0"/>
              </a:rPr>
              <a:t>!</a:t>
            </a:r>
            <a:endParaRPr sz="1100">
              <a:solidFill>
                <a:schemeClr val="bg1"/>
              </a:solidFill>
              <a:latin typeface="Manrope" pitchFamily="2" charset="0"/>
            </a:endParaRPr>
          </a:p>
        </p:txBody>
      </p:sp>
    </p:spTree>
    <p:extLst>
      <p:ext uri="{BB962C8B-B14F-4D97-AF65-F5344CB8AC3E}">
        <p14:creationId xmlns:p14="http://schemas.microsoft.com/office/powerpoint/2010/main" val="2124011115"/>
      </p:ext>
    </p:extLst>
  </p:cSld>
  <p:clrMapOvr>
    <a:masterClrMapping/>
  </p:clrMapOvr>
  <p:transition spd="med"/>
  <p:extLst>
    <p:ext uri="{DCECCB84-F9BA-43D5-87BE-67443E8EF086}">
      <p15:sldGuideLst xmlns:p15="http://schemas.microsoft.com/office/powerpoint/2012/main">
        <p15:guide id="2" pos="39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1576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5" name="TextBox 4">
            <a:extLst>
              <a:ext uri="{FF2B5EF4-FFF2-40B4-BE49-F238E27FC236}">
                <a16:creationId xmlns:a16="http://schemas.microsoft.com/office/drawing/2014/main" id="{968409DB-CB7B-4169-181C-8AC7B3B37EC7}"/>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1050399030"/>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bg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bg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5" name="Graphic 4">
            <a:extLst>
              <a:ext uri="{FF2B5EF4-FFF2-40B4-BE49-F238E27FC236}">
                <a16:creationId xmlns:a16="http://schemas.microsoft.com/office/drawing/2014/main" id="{ADC9056D-0F0D-85E8-271E-778B65526133}"/>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6" name="TextBox 5">
            <a:extLst>
              <a:ext uri="{FF2B5EF4-FFF2-40B4-BE49-F238E27FC236}">
                <a16:creationId xmlns:a16="http://schemas.microsoft.com/office/drawing/2014/main" id="{C059E093-06FF-D167-A76E-CF4FFD813A7C}"/>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675909200"/>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bg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bg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6" name="TextBox 5">
            <a:extLst>
              <a:ext uri="{FF2B5EF4-FFF2-40B4-BE49-F238E27FC236}">
                <a16:creationId xmlns:a16="http://schemas.microsoft.com/office/drawing/2014/main" id="{C7D0A526-A5A2-A405-EAF5-731C3A9CCC62}"/>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817225595"/>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bg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bg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10" name="TextBox 9">
            <a:extLst>
              <a:ext uri="{FF2B5EF4-FFF2-40B4-BE49-F238E27FC236}">
                <a16:creationId xmlns:a16="http://schemas.microsoft.com/office/drawing/2014/main" id="{924F5721-09A8-C795-2E2B-2C53C15943A8}"/>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486546106"/>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2.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52743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678" r:id="rId3"/>
    <p:sldLayoutId id="2147483720" r:id="rId4"/>
    <p:sldLayoutId id="2147483719" r:id="rId5"/>
    <p:sldLayoutId id="2147483679" r:id="rId6"/>
    <p:sldLayoutId id="2147483704" r:id="rId7"/>
    <p:sldLayoutId id="2147483705" r:id="rId8"/>
    <p:sldLayoutId id="2147483674" r:id="rId9"/>
    <p:sldLayoutId id="2147483703" r:id="rId10"/>
    <p:sldLayoutId id="2147483657" r:id="rId11"/>
    <p:sldLayoutId id="2147483706" r:id="rId12"/>
    <p:sldLayoutId id="2147483658" r:id="rId13"/>
    <p:sldLayoutId id="2147483707" r:id="rId14"/>
    <p:sldLayoutId id="2147483656" r:id="rId15"/>
    <p:sldLayoutId id="2147483713" r:id="rId16"/>
    <p:sldLayoutId id="2147483715" r:id="rId17"/>
    <p:sldLayoutId id="2147483718" r:id="rId18"/>
    <p:sldLayoutId id="2147483724"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458989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emf"/><Relationship Id="rId7"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28.jpeg"/><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jpeg"/><Relationship Id="rId5" Type="http://schemas.openxmlformats.org/officeDocument/2006/relationships/image" Target="../media/image17.png"/><Relationship Id="rId15" Type="http://schemas.openxmlformats.org/officeDocument/2006/relationships/image" Target="../media/image27.jpeg"/><Relationship Id="rId23"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svg"/><Relationship Id="rId3" Type="http://schemas.openxmlformats.org/officeDocument/2006/relationships/image" Target="../media/image39.gif"/><Relationship Id="rId7" Type="http://schemas.openxmlformats.org/officeDocument/2006/relationships/image" Target="../media/image42.png"/><Relationship Id="rId12" Type="http://schemas.openxmlformats.org/officeDocument/2006/relationships/image" Target="../media/image47.jpeg"/><Relationship Id="rId17" Type="http://schemas.openxmlformats.org/officeDocument/2006/relationships/image" Target="../media/image52.svg"/><Relationship Id="rId2" Type="http://schemas.openxmlformats.org/officeDocument/2006/relationships/notesSlide" Target="../notesSlides/notesSlide4.xml"/><Relationship Id="rId16" Type="http://schemas.openxmlformats.org/officeDocument/2006/relationships/image" Target="../media/image51.svg"/><Relationship Id="rId20" Type="http://schemas.openxmlformats.org/officeDocument/2006/relationships/image" Target="../media/image35.png"/><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46.png"/><Relationship Id="rId5" Type="http://schemas.openxmlformats.org/officeDocument/2006/relationships/image" Target="../media/image41.png"/><Relationship Id="rId15" Type="http://schemas.openxmlformats.org/officeDocument/2006/relationships/image" Target="../media/image50.svg"/><Relationship Id="rId10" Type="http://schemas.openxmlformats.org/officeDocument/2006/relationships/image" Target="../media/image45.png"/><Relationship Id="rId19" Type="http://schemas.openxmlformats.org/officeDocument/2006/relationships/image" Target="../media/image54.svg"/><Relationship Id="rId4" Type="http://schemas.openxmlformats.org/officeDocument/2006/relationships/image" Target="../media/image40.png"/><Relationship Id="rId9" Type="http://schemas.openxmlformats.org/officeDocument/2006/relationships/image" Target="../media/image44.png"/><Relationship Id="rId14" Type="http://schemas.openxmlformats.org/officeDocument/2006/relationships/image" Target="../media/image49.svg"/></Relationships>
</file>

<file path=ppt/slides/_rels/slide8.xml.rels><?xml version="1.0" encoding="UTF-8" standalone="yes"?>
<Relationships xmlns="http://schemas.openxmlformats.org/package/2006/relationships"><Relationship Id="rId3" Type="http://schemas.openxmlformats.org/officeDocument/2006/relationships/image" Target="../media/image55.jpeg"/><Relationship Id="rId7" Type="http://schemas.openxmlformats.org/officeDocument/2006/relationships/image" Target="../media/image59.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image" Target="../media/image66.svg"/><Relationship Id="rId2" Type="http://schemas.openxmlformats.org/officeDocument/2006/relationships/image" Target="../media/image61.png"/><Relationship Id="rId1" Type="http://schemas.openxmlformats.org/officeDocument/2006/relationships/slideLayout" Target="../slideLayouts/slideLayout19.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63.svg"/></Relationships>
</file>

<file path=ppt/slides/_rels/slide11.xml.rels><?xml version="1.0" encoding="UTF-8" standalone="yes"?>
<Relationships xmlns="http://schemas.openxmlformats.org/package/2006/relationships"><Relationship Id="rId3" Type="http://schemas.openxmlformats.org/officeDocument/2006/relationships/image" Target="../media/image67.svg"/><Relationship Id="rId7" Type="http://schemas.openxmlformats.org/officeDocument/2006/relationships/image" Target="../media/image7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70.svg"/><Relationship Id="rId5" Type="http://schemas.openxmlformats.org/officeDocument/2006/relationships/image" Target="../media/image69.svg"/><Relationship Id="rId4" Type="http://schemas.openxmlformats.org/officeDocument/2006/relationships/image" Target="../media/image68.svg"/></Relationships>
</file>

<file path=ppt/slides/_rels/slide1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2.jpe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3" Type="http://schemas.openxmlformats.org/officeDocument/2006/relationships/image" Target="../media/image83.jpeg"/><Relationship Id="rId18" Type="http://schemas.openxmlformats.org/officeDocument/2006/relationships/image" Target="../media/image86.png"/><Relationship Id="rId26" Type="http://schemas.openxmlformats.org/officeDocument/2006/relationships/image" Target="../media/image91.png"/><Relationship Id="rId39" Type="http://schemas.openxmlformats.org/officeDocument/2006/relationships/image" Target="../media/image99.png"/><Relationship Id="rId21" Type="http://schemas.microsoft.com/office/2007/relationships/hdphoto" Target="../media/hdphoto4.wdp"/><Relationship Id="rId34" Type="http://schemas.openxmlformats.org/officeDocument/2006/relationships/image" Target="../media/image96.png"/><Relationship Id="rId42" Type="http://schemas.openxmlformats.org/officeDocument/2006/relationships/image" Target="../media/image101.png"/><Relationship Id="rId47" Type="http://schemas.openxmlformats.org/officeDocument/2006/relationships/image" Target="../media/image102.svg"/><Relationship Id="rId50" Type="http://schemas.openxmlformats.org/officeDocument/2006/relationships/image" Target="../media/image105.svg"/><Relationship Id="rId7" Type="http://schemas.openxmlformats.org/officeDocument/2006/relationships/image" Target="../media/image77.png"/><Relationship Id="rId2" Type="http://schemas.openxmlformats.org/officeDocument/2006/relationships/notesSlide" Target="../notesSlides/notesSlide8.xml"/><Relationship Id="rId16" Type="http://schemas.openxmlformats.org/officeDocument/2006/relationships/image" Target="../media/image85.png"/><Relationship Id="rId29" Type="http://schemas.microsoft.com/office/2007/relationships/hdphoto" Target="../media/hdphoto7.wdp"/><Relationship Id="rId11" Type="http://schemas.openxmlformats.org/officeDocument/2006/relationships/image" Target="../media/image81.png"/><Relationship Id="rId24" Type="http://schemas.openxmlformats.org/officeDocument/2006/relationships/image" Target="../media/image89.png"/><Relationship Id="rId32" Type="http://schemas.openxmlformats.org/officeDocument/2006/relationships/image" Target="../media/image94.png"/><Relationship Id="rId37" Type="http://schemas.openxmlformats.org/officeDocument/2006/relationships/image" Target="../media/image98.png"/><Relationship Id="rId40" Type="http://schemas.microsoft.com/office/2007/relationships/hdphoto" Target="../media/hdphoto11.wdp"/><Relationship Id="rId45" Type="http://schemas.openxmlformats.org/officeDocument/2006/relationships/image" Target="../media/image42.png"/><Relationship Id="rId5" Type="http://schemas.openxmlformats.org/officeDocument/2006/relationships/image" Target="../media/image75.png"/><Relationship Id="rId15" Type="http://schemas.microsoft.com/office/2007/relationships/hdphoto" Target="../media/hdphoto1.wdp"/><Relationship Id="rId23" Type="http://schemas.microsoft.com/office/2007/relationships/hdphoto" Target="../media/hdphoto5.wdp"/><Relationship Id="rId28" Type="http://schemas.openxmlformats.org/officeDocument/2006/relationships/image" Target="../media/image92.png"/><Relationship Id="rId36" Type="http://schemas.openxmlformats.org/officeDocument/2006/relationships/image" Target="../media/image97.png"/><Relationship Id="rId49" Type="http://schemas.openxmlformats.org/officeDocument/2006/relationships/image" Target="../media/image104.svg"/><Relationship Id="rId10" Type="http://schemas.openxmlformats.org/officeDocument/2006/relationships/image" Target="../media/image80.png"/><Relationship Id="rId19" Type="http://schemas.microsoft.com/office/2007/relationships/hdphoto" Target="../media/hdphoto3.wdp"/><Relationship Id="rId31" Type="http://schemas.microsoft.com/office/2007/relationships/hdphoto" Target="../media/hdphoto8.wdp"/><Relationship Id="rId44" Type="http://schemas.openxmlformats.org/officeDocument/2006/relationships/image" Target="../media/image48.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22" Type="http://schemas.openxmlformats.org/officeDocument/2006/relationships/image" Target="../media/image88.png"/><Relationship Id="rId27" Type="http://schemas.microsoft.com/office/2007/relationships/hdphoto" Target="../media/hdphoto6.wdp"/><Relationship Id="rId30" Type="http://schemas.openxmlformats.org/officeDocument/2006/relationships/image" Target="../media/image93.png"/><Relationship Id="rId35" Type="http://schemas.microsoft.com/office/2007/relationships/hdphoto" Target="../media/hdphoto9.wdp"/><Relationship Id="rId43" Type="http://schemas.openxmlformats.org/officeDocument/2006/relationships/image" Target="../media/image39.gif"/><Relationship Id="rId48" Type="http://schemas.openxmlformats.org/officeDocument/2006/relationships/image" Target="../media/image103.svg"/><Relationship Id="rId8" Type="http://schemas.openxmlformats.org/officeDocument/2006/relationships/image" Target="../media/image78.png"/><Relationship Id="rId51" Type="http://schemas.openxmlformats.org/officeDocument/2006/relationships/image" Target="../media/image106.svg"/><Relationship Id="rId3" Type="http://schemas.openxmlformats.org/officeDocument/2006/relationships/image" Target="../media/image73.png"/><Relationship Id="rId12" Type="http://schemas.openxmlformats.org/officeDocument/2006/relationships/image" Target="../media/image82.png"/><Relationship Id="rId17" Type="http://schemas.microsoft.com/office/2007/relationships/hdphoto" Target="../media/hdphoto2.wdp"/><Relationship Id="rId25" Type="http://schemas.openxmlformats.org/officeDocument/2006/relationships/image" Target="../media/image90.png"/><Relationship Id="rId33" Type="http://schemas.openxmlformats.org/officeDocument/2006/relationships/image" Target="../media/image95.png"/><Relationship Id="rId38" Type="http://schemas.microsoft.com/office/2007/relationships/hdphoto" Target="../media/hdphoto10.wdp"/><Relationship Id="rId46" Type="http://schemas.openxmlformats.org/officeDocument/2006/relationships/image" Target="../media/image44.png"/><Relationship Id="rId20" Type="http://schemas.openxmlformats.org/officeDocument/2006/relationships/image" Target="../media/image87.png"/><Relationship Id="rId41"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6.png"/></Relationships>
</file>

<file path=ppt/slides/_rels/slide15.xml.rels><?xml version="1.0" encoding="UTF-8" standalone="yes"?>
<Relationships xmlns="http://schemas.openxmlformats.org/package/2006/relationships"><Relationship Id="rId8" Type="http://schemas.openxmlformats.org/officeDocument/2006/relationships/image" Target="../media/image113.jpe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jpeg"/><Relationship Id="rId1" Type="http://schemas.openxmlformats.org/officeDocument/2006/relationships/slideLayout" Target="../slideLayouts/slideLayout3.xml"/><Relationship Id="rId6" Type="http://schemas.openxmlformats.org/officeDocument/2006/relationships/image" Target="../media/image111.jpeg"/><Relationship Id="rId5" Type="http://schemas.openxmlformats.org/officeDocument/2006/relationships/image" Target="../media/image110.png"/><Relationship Id="rId4" Type="http://schemas.openxmlformats.org/officeDocument/2006/relationships/image" Target="../media/image109.jpeg"/><Relationship Id="rId9" Type="http://schemas.openxmlformats.org/officeDocument/2006/relationships/image" Target="../media/image114.png"/></Relationships>
</file>

<file path=ppt/slides/_rels/slide16.xml.rels><?xml version="1.0" encoding="UTF-8" standalone="yes"?>
<Relationships xmlns="http://schemas.openxmlformats.org/package/2006/relationships"><Relationship Id="rId13" Type="http://schemas.openxmlformats.org/officeDocument/2006/relationships/image" Target="../media/image126.png"/><Relationship Id="rId18" Type="http://schemas.openxmlformats.org/officeDocument/2006/relationships/image" Target="../media/image131.png"/><Relationship Id="rId26" Type="http://schemas.openxmlformats.org/officeDocument/2006/relationships/image" Target="../media/image139.png"/><Relationship Id="rId39" Type="http://schemas.openxmlformats.org/officeDocument/2006/relationships/image" Target="../media/image152.png"/><Relationship Id="rId21" Type="http://schemas.openxmlformats.org/officeDocument/2006/relationships/image" Target="../media/image134.png"/><Relationship Id="rId34" Type="http://schemas.openxmlformats.org/officeDocument/2006/relationships/image" Target="../media/image147.png"/><Relationship Id="rId42" Type="http://schemas.openxmlformats.org/officeDocument/2006/relationships/image" Target="../media/image155.png"/><Relationship Id="rId47" Type="http://schemas.openxmlformats.org/officeDocument/2006/relationships/image" Target="../media/image160.png"/><Relationship Id="rId50" Type="http://schemas.openxmlformats.org/officeDocument/2006/relationships/image" Target="../media/image163.png"/><Relationship Id="rId55" Type="http://schemas.openxmlformats.org/officeDocument/2006/relationships/image" Target="../media/image168.png"/><Relationship Id="rId7" Type="http://schemas.openxmlformats.org/officeDocument/2006/relationships/image" Target="../media/image120.png"/><Relationship Id="rId2" Type="http://schemas.openxmlformats.org/officeDocument/2006/relationships/image" Target="../media/image115.png"/><Relationship Id="rId16" Type="http://schemas.openxmlformats.org/officeDocument/2006/relationships/image" Target="../media/image129.png"/><Relationship Id="rId29" Type="http://schemas.openxmlformats.org/officeDocument/2006/relationships/image" Target="../media/image142.png"/><Relationship Id="rId11" Type="http://schemas.openxmlformats.org/officeDocument/2006/relationships/image" Target="../media/image124.png"/><Relationship Id="rId24" Type="http://schemas.openxmlformats.org/officeDocument/2006/relationships/image" Target="../media/image137.png"/><Relationship Id="rId32" Type="http://schemas.openxmlformats.org/officeDocument/2006/relationships/image" Target="../media/image145.png"/><Relationship Id="rId37" Type="http://schemas.openxmlformats.org/officeDocument/2006/relationships/image" Target="../media/image150.png"/><Relationship Id="rId40" Type="http://schemas.openxmlformats.org/officeDocument/2006/relationships/image" Target="../media/image153.png"/><Relationship Id="rId45" Type="http://schemas.openxmlformats.org/officeDocument/2006/relationships/image" Target="../media/image158.png"/><Relationship Id="rId53" Type="http://schemas.openxmlformats.org/officeDocument/2006/relationships/image" Target="../media/image166.png"/><Relationship Id="rId5" Type="http://schemas.openxmlformats.org/officeDocument/2006/relationships/image" Target="../media/image118.png"/><Relationship Id="rId19"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 Id="rId22" Type="http://schemas.openxmlformats.org/officeDocument/2006/relationships/image" Target="../media/image135.png"/><Relationship Id="rId27" Type="http://schemas.openxmlformats.org/officeDocument/2006/relationships/image" Target="../media/image140.png"/><Relationship Id="rId30" Type="http://schemas.openxmlformats.org/officeDocument/2006/relationships/image" Target="../media/image143.png"/><Relationship Id="rId35" Type="http://schemas.openxmlformats.org/officeDocument/2006/relationships/image" Target="../media/image148.png"/><Relationship Id="rId43" Type="http://schemas.openxmlformats.org/officeDocument/2006/relationships/image" Target="../media/image156.png"/><Relationship Id="rId48" Type="http://schemas.openxmlformats.org/officeDocument/2006/relationships/image" Target="../media/image161.png"/><Relationship Id="rId56" Type="http://schemas.openxmlformats.org/officeDocument/2006/relationships/image" Target="../media/image169.png"/><Relationship Id="rId8" Type="http://schemas.openxmlformats.org/officeDocument/2006/relationships/image" Target="../media/image121.png"/><Relationship Id="rId51" Type="http://schemas.openxmlformats.org/officeDocument/2006/relationships/image" Target="../media/image164.png"/><Relationship Id="rId3" Type="http://schemas.openxmlformats.org/officeDocument/2006/relationships/image" Target="../media/image116.png"/><Relationship Id="rId12" Type="http://schemas.openxmlformats.org/officeDocument/2006/relationships/image" Target="../media/image125.png"/><Relationship Id="rId17" Type="http://schemas.openxmlformats.org/officeDocument/2006/relationships/image" Target="../media/image130.png"/><Relationship Id="rId25" Type="http://schemas.openxmlformats.org/officeDocument/2006/relationships/image" Target="../media/image138.png"/><Relationship Id="rId33" Type="http://schemas.openxmlformats.org/officeDocument/2006/relationships/image" Target="../media/image146.png"/><Relationship Id="rId38" Type="http://schemas.openxmlformats.org/officeDocument/2006/relationships/image" Target="../media/image151.png"/><Relationship Id="rId46" Type="http://schemas.openxmlformats.org/officeDocument/2006/relationships/image" Target="../media/image159.png"/><Relationship Id="rId20" Type="http://schemas.openxmlformats.org/officeDocument/2006/relationships/image" Target="../media/image133.png"/><Relationship Id="rId41" Type="http://schemas.openxmlformats.org/officeDocument/2006/relationships/image" Target="../media/image154.png"/><Relationship Id="rId54" Type="http://schemas.openxmlformats.org/officeDocument/2006/relationships/image" Target="../media/image167.png"/><Relationship Id="rId1" Type="http://schemas.openxmlformats.org/officeDocument/2006/relationships/slideLayout" Target="../slideLayouts/slideLayout3.xml"/><Relationship Id="rId6" Type="http://schemas.openxmlformats.org/officeDocument/2006/relationships/image" Target="../media/image119.svg"/><Relationship Id="rId15" Type="http://schemas.openxmlformats.org/officeDocument/2006/relationships/image" Target="../media/image128.png"/><Relationship Id="rId23" Type="http://schemas.openxmlformats.org/officeDocument/2006/relationships/image" Target="../media/image136.png"/><Relationship Id="rId28" Type="http://schemas.openxmlformats.org/officeDocument/2006/relationships/image" Target="../media/image141.png"/><Relationship Id="rId36" Type="http://schemas.openxmlformats.org/officeDocument/2006/relationships/image" Target="../media/image149.svg"/><Relationship Id="rId49" Type="http://schemas.openxmlformats.org/officeDocument/2006/relationships/image" Target="../media/image162.png"/><Relationship Id="rId57" Type="http://schemas.openxmlformats.org/officeDocument/2006/relationships/image" Target="../media/image170.svg"/><Relationship Id="rId10" Type="http://schemas.openxmlformats.org/officeDocument/2006/relationships/image" Target="../media/image123.png"/><Relationship Id="rId31" Type="http://schemas.openxmlformats.org/officeDocument/2006/relationships/image" Target="../media/image144.png"/><Relationship Id="rId44" Type="http://schemas.openxmlformats.org/officeDocument/2006/relationships/image" Target="../media/image157.png"/><Relationship Id="rId52" Type="http://schemas.openxmlformats.org/officeDocument/2006/relationships/image" Target="../media/image165.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71.jpe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77.svg"/><Relationship Id="rId3" Type="http://schemas.openxmlformats.org/officeDocument/2006/relationships/image" Target="../media/image173.svg"/><Relationship Id="rId7" Type="http://schemas.openxmlformats.org/officeDocument/2006/relationships/image" Target="../media/image176.svg"/><Relationship Id="rId2" Type="http://schemas.openxmlformats.org/officeDocument/2006/relationships/image" Target="../media/image172.svg"/><Relationship Id="rId1" Type="http://schemas.openxmlformats.org/officeDocument/2006/relationships/slideLayout" Target="../slideLayouts/slideLayout6.xml"/><Relationship Id="rId6" Type="http://schemas.openxmlformats.org/officeDocument/2006/relationships/image" Target="../media/image175.svg"/><Relationship Id="rId5" Type="http://schemas.openxmlformats.org/officeDocument/2006/relationships/image" Target="../media/image68.svg"/><Relationship Id="rId4" Type="http://schemas.openxmlformats.org/officeDocument/2006/relationships/image" Target="../media/image174.svg"/></Relationships>
</file>

<file path=ppt/slides/_rels/slide2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9.svg"/><Relationship Id="rId4" Type="http://schemas.microsoft.com/office/2007/relationships/hdphoto" Target="../media/hdphoto12.wdp"/></Relationships>
</file>

<file path=ppt/slides/_rels/slide21.xml.rels><?xml version="1.0" encoding="UTF-8" standalone="yes"?>
<Relationships xmlns="http://schemas.openxmlformats.org/package/2006/relationships"><Relationship Id="rId3" Type="http://schemas.openxmlformats.org/officeDocument/2006/relationships/image" Target="../media/image180.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81.jpe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2.png"/><Relationship Id="rId3" Type="http://schemas.openxmlformats.org/officeDocument/2006/relationships/image" Target="../media/image183.png"/><Relationship Id="rId7" Type="http://schemas.openxmlformats.org/officeDocument/2006/relationships/image" Target="../media/image187.jpeg"/><Relationship Id="rId12" Type="http://schemas.openxmlformats.org/officeDocument/2006/relationships/image" Target="../media/image33.png"/><Relationship Id="rId2" Type="http://schemas.openxmlformats.org/officeDocument/2006/relationships/image" Target="../media/image182.png"/><Relationship Id="rId1" Type="http://schemas.openxmlformats.org/officeDocument/2006/relationships/slideLayout" Target="../slideLayouts/slideLayout3.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185.png"/><Relationship Id="rId10" Type="http://schemas.openxmlformats.org/officeDocument/2006/relationships/image" Target="../media/image190.png"/><Relationship Id="rId4" Type="http://schemas.openxmlformats.org/officeDocument/2006/relationships/image" Target="../media/image184.png"/><Relationship Id="rId9" Type="http://schemas.openxmlformats.org/officeDocument/2006/relationships/image" Target="../media/image189.png"/></Relationships>
</file>

<file path=ppt/slides/_rels/slide2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jpeg"/><Relationship Id="rId1" Type="http://schemas.openxmlformats.org/officeDocument/2006/relationships/slideLayout" Target="../slideLayouts/slideLayout9.xml"/><Relationship Id="rId5" Type="http://schemas.microsoft.com/office/2007/relationships/hdphoto" Target="../media/hdphoto13.wdp"/><Relationship Id="rId4" Type="http://schemas.openxmlformats.org/officeDocument/2006/relationships/image" Target="../media/image195.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96.jpe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jpe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png"/><Relationship Id="rId1" Type="http://schemas.openxmlformats.org/officeDocument/2006/relationships/slideLayout" Target="../slideLayouts/slideLayout6.xml"/><Relationship Id="rId4" Type="http://schemas.openxmlformats.org/officeDocument/2006/relationships/image" Target="../media/image201.png"/></Relationships>
</file>

<file path=ppt/slides/_rels/slide28.xml.rels><?xml version="1.0" encoding="UTF-8" standalone="yes"?>
<Relationships xmlns="http://schemas.openxmlformats.org/package/2006/relationships"><Relationship Id="rId3" Type="http://schemas.openxmlformats.org/officeDocument/2006/relationships/image" Target="../media/image203.png"/><Relationship Id="rId7" Type="http://schemas.openxmlformats.org/officeDocument/2006/relationships/image" Target="../media/image190.png"/><Relationship Id="rId2" Type="http://schemas.openxmlformats.org/officeDocument/2006/relationships/image" Target="../media/image202.png"/><Relationship Id="rId1" Type="http://schemas.openxmlformats.org/officeDocument/2006/relationships/slideLayout" Target="../slideLayouts/slideLayout9.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6.png"/><Relationship Id="rId18" Type="http://schemas.openxmlformats.org/officeDocument/2006/relationships/image" Target="../media/image45.png"/><Relationship Id="rId3" Type="http://schemas.openxmlformats.org/officeDocument/2006/relationships/image" Target="../media/image130.png"/><Relationship Id="rId7" Type="http://schemas.openxmlformats.org/officeDocument/2006/relationships/image" Target="../media/image20.png"/><Relationship Id="rId12" Type="http://schemas.openxmlformats.org/officeDocument/2006/relationships/image" Target="../media/image27.jpeg"/><Relationship Id="rId17" Type="http://schemas.openxmlformats.org/officeDocument/2006/relationships/image" Target="../media/image41.png"/><Relationship Id="rId2" Type="http://schemas.openxmlformats.org/officeDocument/2006/relationships/notesSlide" Target="../notesSlides/notesSlide12.xml"/><Relationship Id="rId16" Type="http://schemas.openxmlformats.org/officeDocument/2006/relationships/image" Target="../media/image213.png"/><Relationship Id="rId1" Type="http://schemas.openxmlformats.org/officeDocument/2006/relationships/slideLayout" Target="../slideLayouts/slideLayout3.xml"/><Relationship Id="rId6" Type="http://schemas.openxmlformats.org/officeDocument/2006/relationships/image" Target="../media/image208.png"/><Relationship Id="rId11" Type="http://schemas.openxmlformats.org/officeDocument/2006/relationships/image" Target="../media/image187.jpeg"/><Relationship Id="rId5" Type="http://schemas.openxmlformats.org/officeDocument/2006/relationships/image" Target="../media/image207.png"/><Relationship Id="rId15" Type="http://schemas.openxmlformats.org/officeDocument/2006/relationships/image" Target="../media/image212.png"/><Relationship Id="rId10" Type="http://schemas.openxmlformats.org/officeDocument/2006/relationships/image" Target="../media/image210.png"/><Relationship Id="rId19" Type="http://schemas.openxmlformats.org/officeDocument/2006/relationships/image" Target="../media/image214.jpeg"/><Relationship Id="rId4" Type="http://schemas.openxmlformats.org/officeDocument/2006/relationships/image" Target="../media/image186.png"/><Relationship Id="rId9" Type="http://schemas.openxmlformats.org/officeDocument/2006/relationships/image" Target="../media/image188.png"/><Relationship Id="rId14" Type="http://schemas.openxmlformats.org/officeDocument/2006/relationships/image" Target="../media/image211.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81.jpe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16.png"/><Relationship Id="rId7" Type="http://schemas.openxmlformats.org/officeDocument/2006/relationships/image" Target="../media/image220.png"/><Relationship Id="rId2" Type="http://schemas.openxmlformats.org/officeDocument/2006/relationships/image" Target="../media/image215.png"/><Relationship Id="rId1" Type="http://schemas.openxmlformats.org/officeDocument/2006/relationships/slideLayout" Target="../slideLayouts/slideLayout6.xml"/><Relationship Id="rId6" Type="http://schemas.openxmlformats.org/officeDocument/2006/relationships/image" Target="../media/image219.png"/><Relationship Id="rId5" Type="http://schemas.openxmlformats.org/officeDocument/2006/relationships/image" Target="../media/image218.tiff"/><Relationship Id="rId4" Type="http://schemas.openxmlformats.org/officeDocument/2006/relationships/image" Target="../media/image217.tiff"/></Relationships>
</file>

<file path=ppt/slides/_rels/slide33.xml.rels><?xml version="1.0" encoding="UTF-8" standalone="yes"?>
<Relationships xmlns="http://schemas.openxmlformats.org/package/2006/relationships"><Relationship Id="rId3" Type="http://schemas.openxmlformats.org/officeDocument/2006/relationships/image" Target="../media/image216.png"/><Relationship Id="rId7" Type="http://schemas.openxmlformats.org/officeDocument/2006/relationships/image" Target="../media/image220.png"/><Relationship Id="rId2" Type="http://schemas.openxmlformats.org/officeDocument/2006/relationships/image" Target="../media/image215.png"/><Relationship Id="rId1" Type="http://schemas.openxmlformats.org/officeDocument/2006/relationships/slideLayout" Target="../slideLayouts/slideLayout6.xml"/><Relationship Id="rId6" Type="http://schemas.openxmlformats.org/officeDocument/2006/relationships/image" Target="../media/image219.png"/><Relationship Id="rId5" Type="http://schemas.openxmlformats.org/officeDocument/2006/relationships/image" Target="../media/image218.tiff"/><Relationship Id="rId4" Type="http://schemas.openxmlformats.org/officeDocument/2006/relationships/image" Target="../media/image217.tiff"/></Relationships>
</file>

<file path=ppt/slides/_rels/slide34.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image" Target="../media/image222.png"/><Relationship Id="rId7" Type="http://schemas.openxmlformats.org/officeDocument/2006/relationships/image" Target="../media/image224.png"/><Relationship Id="rId2" Type="http://schemas.openxmlformats.org/officeDocument/2006/relationships/image" Target="../media/image221.png"/><Relationship Id="rId1" Type="http://schemas.openxmlformats.org/officeDocument/2006/relationships/slideLayout" Target="../slideLayouts/slideLayout6.xml"/><Relationship Id="rId6" Type="http://schemas.openxmlformats.org/officeDocument/2006/relationships/image" Target="../media/image218.tiff"/><Relationship Id="rId5" Type="http://schemas.openxmlformats.org/officeDocument/2006/relationships/image" Target="../media/image223.png"/><Relationship Id="rId4" Type="http://schemas.openxmlformats.org/officeDocument/2006/relationships/image" Target="../media/image215.png"/><Relationship Id="rId9" Type="http://schemas.openxmlformats.org/officeDocument/2006/relationships/image" Target="../media/image226.png"/></Relationships>
</file>

<file path=ppt/slides/_rels/slide35.xml.rels><?xml version="1.0" encoding="UTF-8" standalone="yes"?>
<Relationships xmlns="http://schemas.openxmlformats.org/package/2006/relationships"><Relationship Id="rId8" Type="http://schemas.openxmlformats.org/officeDocument/2006/relationships/image" Target="../media/image232.png"/><Relationship Id="rId3" Type="http://schemas.openxmlformats.org/officeDocument/2006/relationships/image" Target="../media/image227.png"/><Relationship Id="rId7" Type="http://schemas.openxmlformats.org/officeDocument/2006/relationships/image" Target="../media/image231.png"/><Relationship Id="rId2" Type="http://schemas.openxmlformats.org/officeDocument/2006/relationships/image" Target="../media/image215.png"/><Relationship Id="rId1" Type="http://schemas.openxmlformats.org/officeDocument/2006/relationships/slideLayout" Target="../slideLayouts/slideLayout6.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36.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image215.png"/><Relationship Id="rId1" Type="http://schemas.openxmlformats.org/officeDocument/2006/relationships/slideLayout" Target="../slideLayouts/slideLayout6.xml"/><Relationship Id="rId5" Type="http://schemas.openxmlformats.org/officeDocument/2006/relationships/image" Target="../media/image232.png"/><Relationship Id="rId4" Type="http://schemas.openxmlformats.org/officeDocument/2006/relationships/image" Target="../media/image229.png"/></Relationships>
</file>

<file path=ppt/slides/_rels/slide3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jpeg"/><Relationship Id="rId1" Type="http://schemas.openxmlformats.org/officeDocument/2006/relationships/slideLayout" Target="../slideLayouts/slideLayout3.xml"/><Relationship Id="rId4" Type="http://schemas.openxmlformats.org/officeDocument/2006/relationships/image" Target="../media/image233.png"/></Relationships>
</file>

<file path=ppt/slides/_rels/slide3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39.xml.rels><?xml version="1.0" encoding="UTF-8" standalone="yes"?>
<Relationships xmlns="http://schemas.openxmlformats.org/package/2006/relationships"><Relationship Id="rId8" Type="http://schemas.openxmlformats.org/officeDocument/2006/relationships/image" Target="../media/image237.svg"/><Relationship Id="rId3" Type="http://schemas.openxmlformats.org/officeDocument/2006/relationships/image" Target="../media/image58.svg"/><Relationship Id="rId7" Type="http://schemas.openxmlformats.org/officeDocument/2006/relationships/image" Target="../media/image236.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35.svg"/><Relationship Id="rId11" Type="http://schemas.openxmlformats.org/officeDocument/2006/relationships/image" Target="../media/image239.emf"/><Relationship Id="rId5" Type="http://schemas.openxmlformats.org/officeDocument/2006/relationships/image" Target="../media/image234.svg"/><Relationship Id="rId10" Type="http://schemas.openxmlformats.org/officeDocument/2006/relationships/image" Target="../media/image238.svg"/><Relationship Id="rId4" Type="http://schemas.openxmlformats.org/officeDocument/2006/relationships/image" Target="../media/image57.svg"/><Relationship Id="rId9" Type="http://schemas.openxmlformats.org/officeDocument/2006/relationships/image" Target="../media/image5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Placeholder 40">
            <a:extLst>
              <a:ext uri="{FF2B5EF4-FFF2-40B4-BE49-F238E27FC236}">
                <a16:creationId xmlns:a16="http://schemas.microsoft.com/office/drawing/2014/main" id="{96525837-FB68-E209-D92A-D997E65D84F5}"/>
              </a:ext>
            </a:extLst>
          </p:cNvPr>
          <p:cNvPicPr>
            <a:picLocks noGrp="1" noChangeAspect="1"/>
          </p:cNvPicPr>
          <p:nvPr>
            <p:ph type="pic" sz="quarter" idx="16"/>
          </p:nvPr>
        </p:nvPicPr>
        <p:blipFill>
          <a:blip r:embed="rId2"/>
          <a:srcRect t="509" b="509"/>
          <a:stretch/>
        </p:blipFill>
        <p:spPr>
          <a:xfrm>
            <a:off x="0" y="0"/>
            <a:ext cx="12192000" cy="6858000"/>
          </a:xfrm>
        </p:spPr>
      </p:pic>
      <p:sp>
        <p:nvSpPr>
          <p:cNvPr id="2" name="August 2023">
            <a:extLst>
              <a:ext uri="{FF2B5EF4-FFF2-40B4-BE49-F238E27FC236}">
                <a16:creationId xmlns:a16="http://schemas.microsoft.com/office/drawing/2014/main" id="{64986BE6-D319-9594-F76A-A8917494F93C}"/>
              </a:ext>
            </a:extLst>
          </p:cNvPr>
          <p:cNvSpPr/>
          <p:nvPr/>
        </p:nvSpPr>
        <p:spPr>
          <a:xfrm>
            <a:off x="822960" y="4239734"/>
            <a:ext cx="1382712" cy="393682"/>
          </a:xfrm>
          <a:prstGeom prst="roundRect">
            <a:avLst>
              <a:gd name="adj" fmla="val 50000"/>
            </a:avLst>
          </a:prstGeom>
          <a:noFill/>
          <a:ln w="19050">
            <a:solidFill>
              <a:schemeClr val="bg1"/>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2438338">
              <a:spcBef>
                <a:spcPts val="0"/>
              </a:spcBef>
              <a:defRPr sz="2000" spc="39">
                <a:solidFill>
                  <a:srgbClr val="FFFFFF"/>
                </a:solidFill>
                <a:latin typeface="Heebo Regular Light"/>
                <a:ea typeface="Heebo Regular Light"/>
                <a:cs typeface="Heebo Regular Light"/>
                <a:sym typeface="Heebo Regular Light"/>
              </a:defRPr>
            </a:lvl1pPr>
          </a:lstStyle>
          <a:p>
            <a:r>
              <a:rPr lang="en-US" sz="1100">
                <a:solidFill>
                  <a:schemeClr val="bg1"/>
                </a:solidFill>
              </a:rPr>
              <a:t>January 2026</a:t>
            </a:r>
          </a:p>
        </p:txBody>
      </p:sp>
      <p:sp>
        <p:nvSpPr>
          <p:cNvPr id="10" name="TextBox 9">
            <a:extLst>
              <a:ext uri="{FF2B5EF4-FFF2-40B4-BE49-F238E27FC236}">
                <a16:creationId xmlns:a16="http://schemas.microsoft.com/office/drawing/2014/main" id="{91764FAD-87C6-E6F0-1943-A9CAF6079174}"/>
              </a:ext>
            </a:extLst>
          </p:cNvPr>
          <p:cNvSpPr txBox="1"/>
          <p:nvPr/>
        </p:nvSpPr>
        <p:spPr>
          <a:xfrm>
            <a:off x="7362825" y="5656072"/>
            <a:ext cx="4105274" cy="677108"/>
          </a:xfrm>
          <a:prstGeom prst="rect">
            <a:avLst/>
          </a:prstGeom>
          <a:noFill/>
        </p:spPr>
        <p:txBody>
          <a:bodyPr wrap="square" lIns="0" tIns="0" rIns="0" bIns="0">
            <a:spAutoFit/>
          </a:bodyPr>
          <a:lstStyle/>
          <a:p>
            <a:r>
              <a:rPr lang="en-US" sz="2200">
                <a:solidFill>
                  <a:schemeClr val="bg2"/>
                </a:solidFill>
                <a:latin typeface="Manrope SemiBold" pitchFamily="2" charset="0"/>
              </a:rPr>
              <a:t>Artificial Intelligence Led. </a:t>
            </a:r>
            <a:br>
              <a:rPr lang="en-US" sz="2200">
                <a:solidFill>
                  <a:schemeClr val="bg2"/>
                </a:solidFill>
                <a:latin typeface="Manrope SemiBold" pitchFamily="2" charset="0"/>
              </a:rPr>
            </a:br>
            <a:r>
              <a:rPr lang="en-US" sz="2200">
                <a:solidFill>
                  <a:schemeClr val="accent2"/>
                </a:solidFill>
                <a:latin typeface="Manrope SemiBold" pitchFamily="2" charset="0"/>
              </a:rPr>
              <a:t>Human Intelligence Perfected.</a:t>
            </a:r>
          </a:p>
        </p:txBody>
      </p:sp>
      <p:pic>
        <p:nvPicPr>
          <p:cNvPr id="4" name="Graphic 3">
            <a:extLst>
              <a:ext uri="{FF2B5EF4-FFF2-40B4-BE49-F238E27FC236}">
                <a16:creationId xmlns:a16="http://schemas.microsoft.com/office/drawing/2014/main" id="{E459D5B1-CE4A-216D-4D4F-E75781D56863}"/>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822960" y="731098"/>
            <a:ext cx="1991212" cy="267278"/>
          </a:xfrm>
          <a:prstGeom prst="rect">
            <a:avLst/>
          </a:prstGeom>
        </p:spPr>
      </p:pic>
      <p:sp>
        <p:nvSpPr>
          <p:cNvPr id="5" name="Title 4">
            <a:extLst>
              <a:ext uri="{FF2B5EF4-FFF2-40B4-BE49-F238E27FC236}">
                <a16:creationId xmlns:a16="http://schemas.microsoft.com/office/drawing/2014/main" id="{14A399CB-9D82-7AAA-E3E4-0625562AFE90}"/>
              </a:ext>
            </a:extLst>
          </p:cNvPr>
          <p:cNvSpPr>
            <a:spLocks noGrp="1"/>
          </p:cNvSpPr>
          <p:nvPr>
            <p:ph type="title"/>
          </p:nvPr>
        </p:nvSpPr>
        <p:spPr>
          <a:xfrm>
            <a:off x="822959" y="2485713"/>
            <a:ext cx="5473065" cy="1869743"/>
          </a:xfrm>
        </p:spPr>
        <p:txBody>
          <a:bodyPr/>
          <a:lstStyle/>
          <a:p>
            <a:r>
              <a:rPr lang="en-US"/>
              <a:t>Digital &amp; Software</a:t>
            </a:r>
            <a:br>
              <a:rPr lang="en-US"/>
            </a:br>
            <a:r>
              <a:rPr lang="en-US"/>
              <a:t>Content Capabilities</a:t>
            </a:r>
          </a:p>
        </p:txBody>
      </p:sp>
    </p:spTree>
    <p:extLst>
      <p:ext uri="{BB962C8B-B14F-4D97-AF65-F5344CB8AC3E}">
        <p14:creationId xmlns:p14="http://schemas.microsoft.com/office/powerpoint/2010/main" val="4274741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3E9F086-A757-D965-6575-E04A52C91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95518425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background with triangles&#10;&#10;Description automatically generated">
            <a:extLst>
              <a:ext uri="{FF2B5EF4-FFF2-40B4-BE49-F238E27FC236}">
                <a16:creationId xmlns:a16="http://schemas.microsoft.com/office/drawing/2014/main" id="{CCA9F3EE-864B-0503-C388-5E81EC7ECB25}"/>
              </a:ext>
            </a:extLst>
          </p:cNvPr>
          <p:cNvPicPr>
            <a:picLocks noChangeAspect="1"/>
          </p:cNvPicPr>
          <p:nvPr/>
        </p:nvPicPr>
        <p:blipFill>
          <a:blip r:embed="rId2"/>
          <a:stretch>
            <a:fillRect/>
          </a:stretch>
        </p:blipFill>
        <p:spPr>
          <a:xfrm>
            <a:off x="0" y="3429001"/>
            <a:ext cx="12192000" cy="3448050"/>
          </a:xfrm>
          <a:prstGeom prst="rect">
            <a:avLst/>
          </a:prstGeom>
        </p:spPr>
      </p:pic>
      <p:sp>
        <p:nvSpPr>
          <p:cNvPr id="2" name="Text Placeholder 1">
            <a:extLst>
              <a:ext uri="{FF2B5EF4-FFF2-40B4-BE49-F238E27FC236}">
                <a16:creationId xmlns:a16="http://schemas.microsoft.com/office/drawing/2014/main" id="{84B72707-694F-51F8-D896-A5D7A4864101}"/>
              </a:ext>
            </a:extLst>
          </p:cNvPr>
          <p:cNvSpPr>
            <a:spLocks noGrp="1"/>
          </p:cNvSpPr>
          <p:nvPr>
            <p:ph type="body" sz="quarter" idx="15"/>
          </p:nvPr>
        </p:nvSpPr>
        <p:spPr/>
        <p:txBody>
          <a:bodyPr/>
          <a:lstStyle/>
          <a:p>
            <a:r>
              <a:rPr lang="en-US"/>
              <a:t>Digital &amp; Software - Platforms (Our Mission)</a:t>
            </a:r>
          </a:p>
        </p:txBody>
      </p:sp>
      <p:sp>
        <p:nvSpPr>
          <p:cNvPr id="3" name="Hexaware Named Winner of 2022 ISG Star of Excellence™ Award for the Global Region and Universal Industry Categories…">
            <a:extLst>
              <a:ext uri="{FF2B5EF4-FFF2-40B4-BE49-F238E27FC236}">
                <a16:creationId xmlns:a16="http://schemas.microsoft.com/office/drawing/2014/main" id="{AF4CC26B-1963-9CB2-3913-CD1A5765EC9E}"/>
              </a:ext>
            </a:extLst>
          </p:cNvPr>
          <p:cNvSpPr txBox="1"/>
          <p:nvPr/>
        </p:nvSpPr>
        <p:spPr>
          <a:xfrm>
            <a:off x="623888" y="1440000"/>
            <a:ext cx="8011293" cy="15511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lnSpc>
                <a:spcPct val="90000"/>
              </a:lnSpc>
              <a:defRPr sz="3200">
                <a:latin typeface="Manrope ExtraLight Light"/>
                <a:ea typeface="Manrope ExtraLight Light"/>
                <a:cs typeface="Manrope ExtraLight Light"/>
              </a:defRPr>
            </a:lvl1pPr>
          </a:lstStyle>
          <a:p>
            <a:r>
              <a:rPr lang="en-US" sz="2800">
                <a:latin typeface="+mj-lt"/>
              </a:rPr>
              <a:t>We define, design and engineer world-class digital product experiences and software using industry-leading platforms that </a:t>
            </a:r>
            <a:r>
              <a:rPr lang="en-US" sz="2800">
                <a:solidFill>
                  <a:schemeClr val="accent1"/>
                </a:solidFill>
                <a:latin typeface="+mj-lt"/>
              </a:rPr>
              <a:t>help our clients succeed as modern digital businesses.</a:t>
            </a:r>
          </a:p>
        </p:txBody>
      </p:sp>
      <p:sp>
        <p:nvSpPr>
          <p:cNvPr id="20" name="TextBox 19">
            <a:extLst>
              <a:ext uri="{FF2B5EF4-FFF2-40B4-BE49-F238E27FC236}">
                <a16:creationId xmlns:a16="http://schemas.microsoft.com/office/drawing/2014/main" id="{63592089-1345-838C-C1EC-09A604BA5206}"/>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21" name="Slide Number Placeholder 5">
            <a:extLst>
              <a:ext uri="{FF2B5EF4-FFF2-40B4-BE49-F238E27FC236}">
                <a16:creationId xmlns:a16="http://schemas.microsoft.com/office/drawing/2014/main" id="{B47BBA76-0C12-52C5-AC53-E39F7046393E}"/>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3</a:t>
            </a:fld>
            <a:endParaRPr lang="en-US" sz="900">
              <a:solidFill>
                <a:schemeClr val="tx1"/>
              </a:solidFill>
              <a:latin typeface="+mn-lt"/>
            </a:endParaRPr>
          </a:p>
        </p:txBody>
      </p:sp>
      <p:sp>
        <p:nvSpPr>
          <p:cNvPr id="23" name="TextBox 22">
            <a:extLst>
              <a:ext uri="{FF2B5EF4-FFF2-40B4-BE49-F238E27FC236}">
                <a16:creationId xmlns:a16="http://schemas.microsoft.com/office/drawing/2014/main" id="{335FBE56-8476-5B74-C3F9-FF6924BEDAC4}"/>
              </a:ext>
            </a:extLst>
          </p:cNvPr>
          <p:cNvSpPr txBox="1"/>
          <p:nvPr/>
        </p:nvSpPr>
        <p:spPr>
          <a:xfrm>
            <a:off x="101146" y="4358389"/>
            <a:ext cx="11989707" cy="1165412"/>
          </a:xfrm>
          <a:prstGeom prst="rect">
            <a:avLst/>
          </a:prstGeom>
          <a:noFill/>
          <a:ln>
            <a:noFill/>
          </a:ln>
        </p:spPr>
        <p:txBody>
          <a:bodyPr wrap="square" lIns="612000" rIns="612000" rtlCol="0" anchor="ctr">
            <a:noAutofit/>
          </a:bodyPr>
          <a:lstStyle/>
          <a:p>
            <a:pPr algn="just"/>
            <a:r>
              <a:rPr lang="en-US" sz="2000">
                <a:solidFill>
                  <a:schemeClr val="bg1"/>
                </a:solidFill>
                <a:latin typeface="+mj-lt"/>
              </a:rPr>
              <a:t>From strategy and design-to-build to ultra-flexible, cost-efficient run-and-scale software engineering, we transform complex, free-form digital and software ecosystems into strategic, modernized ecosystems, with gravity.</a:t>
            </a:r>
          </a:p>
        </p:txBody>
      </p:sp>
    </p:spTree>
    <p:extLst>
      <p:ext uri="{BB962C8B-B14F-4D97-AF65-F5344CB8AC3E}">
        <p14:creationId xmlns:p14="http://schemas.microsoft.com/office/powerpoint/2010/main" val="194056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64D37-9EC3-A23E-F31E-F8848317FE5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369E26A-CB6F-3EBE-9B09-69FE86BB399C}"/>
              </a:ext>
            </a:extLst>
          </p:cNvPr>
          <p:cNvPicPr>
            <a:picLocks noChangeAspect="1"/>
          </p:cNvPicPr>
          <p:nvPr/>
        </p:nvPicPr>
        <p:blipFill>
          <a:blip r:embed="rId3"/>
          <a:stretch>
            <a:fillRect/>
          </a:stretch>
        </p:blipFill>
        <p:spPr>
          <a:xfrm>
            <a:off x="623888" y="1413496"/>
            <a:ext cx="2787527" cy="2289654"/>
          </a:xfrm>
          <a:prstGeom prst="rect">
            <a:avLst/>
          </a:prstGeom>
        </p:spPr>
      </p:pic>
      <p:sp>
        <p:nvSpPr>
          <p:cNvPr id="2" name="Title 1">
            <a:extLst>
              <a:ext uri="{FF2B5EF4-FFF2-40B4-BE49-F238E27FC236}">
                <a16:creationId xmlns:a16="http://schemas.microsoft.com/office/drawing/2014/main" id="{99BA1BD4-3FE1-A245-AFA4-34B4811BF593}"/>
              </a:ext>
            </a:extLst>
          </p:cNvPr>
          <p:cNvSpPr>
            <a:spLocks noGrp="1"/>
          </p:cNvSpPr>
          <p:nvPr>
            <p:ph type="title"/>
          </p:nvPr>
        </p:nvSpPr>
        <p:spPr>
          <a:xfrm>
            <a:off x="623887" y="891199"/>
            <a:ext cx="9687607" cy="332399"/>
          </a:xfrm>
        </p:spPr>
        <p:txBody>
          <a:bodyPr/>
          <a:lstStyle/>
          <a:p>
            <a:r>
              <a:rPr lang="en-US" sz="1200" dirty="0"/>
              <a:t>We have capabilities and expertise across various platforms, with dedicated practice looking after each genre of platforms. We cover many products across below mentioned platforms. Also, we can ramp-up or cross train our people to new product within platform very quickly. </a:t>
            </a:r>
          </a:p>
        </p:txBody>
      </p:sp>
      <p:sp>
        <p:nvSpPr>
          <p:cNvPr id="28" name="Text Placeholder 27">
            <a:extLst>
              <a:ext uri="{FF2B5EF4-FFF2-40B4-BE49-F238E27FC236}">
                <a16:creationId xmlns:a16="http://schemas.microsoft.com/office/drawing/2014/main" id="{B6B59EF1-0F52-CE38-C37F-4C459690DED2}"/>
              </a:ext>
            </a:extLst>
          </p:cNvPr>
          <p:cNvSpPr>
            <a:spLocks noGrp="1"/>
          </p:cNvSpPr>
          <p:nvPr>
            <p:ph type="body" sz="quarter" idx="15"/>
          </p:nvPr>
        </p:nvSpPr>
        <p:spPr/>
        <p:txBody>
          <a:bodyPr/>
          <a:lstStyle/>
          <a:p>
            <a:r>
              <a:rPr lang="en-US" dirty="0"/>
              <a:t>Our Platforms Coverage</a:t>
            </a:r>
            <a:endParaRPr lang="en-GB" dirty="0"/>
          </a:p>
        </p:txBody>
      </p:sp>
      <p:sp>
        <p:nvSpPr>
          <p:cNvPr id="4" name="Hexaware Named Winner of 2022 ISG Star of Excellence™ Award for the Global Region and Universal Industry Categories…">
            <a:extLst>
              <a:ext uri="{FF2B5EF4-FFF2-40B4-BE49-F238E27FC236}">
                <a16:creationId xmlns:a16="http://schemas.microsoft.com/office/drawing/2014/main" id="{B58DB929-66AB-6CD3-D8CF-B06A66CD0928}"/>
              </a:ext>
            </a:extLst>
          </p:cNvPr>
          <p:cNvSpPr txBox="1"/>
          <p:nvPr/>
        </p:nvSpPr>
        <p:spPr>
          <a:xfrm>
            <a:off x="1031651" y="2655317"/>
            <a:ext cx="1946011" cy="430887"/>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spcAft>
                <a:spcPts val="1800"/>
              </a:spcAft>
            </a:pPr>
            <a:r>
              <a:rPr lang="en-US" sz="1400" spc="10" dirty="0"/>
              <a:t>Content Management Systems (CMS)</a:t>
            </a:r>
          </a:p>
        </p:txBody>
      </p:sp>
      <p:pic>
        <p:nvPicPr>
          <p:cNvPr id="16" name="Picture 15">
            <a:extLst>
              <a:ext uri="{FF2B5EF4-FFF2-40B4-BE49-F238E27FC236}">
                <a16:creationId xmlns:a16="http://schemas.microsoft.com/office/drawing/2014/main" id="{38B207F0-3C61-A94F-79CF-CEDE30E6EED4}"/>
              </a:ext>
            </a:extLst>
          </p:cNvPr>
          <p:cNvPicPr>
            <a:picLocks noChangeAspect="1"/>
          </p:cNvPicPr>
          <p:nvPr/>
        </p:nvPicPr>
        <p:blipFill>
          <a:blip r:embed="rId3"/>
          <a:stretch>
            <a:fillRect/>
          </a:stretch>
        </p:blipFill>
        <p:spPr>
          <a:xfrm>
            <a:off x="4457334" y="1413496"/>
            <a:ext cx="2787527" cy="2289654"/>
          </a:xfrm>
          <a:prstGeom prst="rect">
            <a:avLst/>
          </a:prstGeom>
        </p:spPr>
      </p:pic>
      <p:pic>
        <p:nvPicPr>
          <p:cNvPr id="18" name="Picture 17">
            <a:extLst>
              <a:ext uri="{FF2B5EF4-FFF2-40B4-BE49-F238E27FC236}">
                <a16:creationId xmlns:a16="http://schemas.microsoft.com/office/drawing/2014/main" id="{AB1DCD1D-2BCA-1C4C-F484-6F0287968C67}"/>
              </a:ext>
            </a:extLst>
          </p:cNvPr>
          <p:cNvPicPr>
            <a:picLocks noChangeAspect="1"/>
          </p:cNvPicPr>
          <p:nvPr/>
        </p:nvPicPr>
        <p:blipFill>
          <a:blip r:embed="rId3"/>
          <a:stretch>
            <a:fillRect/>
          </a:stretch>
        </p:blipFill>
        <p:spPr>
          <a:xfrm>
            <a:off x="8290780" y="1413496"/>
            <a:ext cx="2787527" cy="2289654"/>
          </a:xfrm>
          <a:prstGeom prst="rect">
            <a:avLst/>
          </a:prstGeom>
        </p:spPr>
      </p:pic>
      <p:pic>
        <p:nvPicPr>
          <p:cNvPr id="20" name="Picture 19">
            <a:extLst>
              <a:ext uri="{FF2B5EF4-FFF2-40B4-BE49-F238E27FC236}">
                <a16:creationId xmlns:a16="http://schemas.microsoft.com/office/drawing/2014/main" id="{E24D391B-0F13-EB16-81B5-38E7E1D256CF}"/>
              </a:ext>
            </a:extLst>
          </p:cNvPr>
          <p:cNvPicPr>
            <a:picLocks noChangeAspect="1"/>
          </p:cNvPicPr>
          <p:nvPr/>
        </p:nvPicPr>
        <p:blipFill>
          <a:blip r:embed="rId3"/>
          <a:stretch>
            <a:fillRect/>
          </a:stretch>
        </p:blipFill>
        <p:spPr>
          <a:xfrm>
            <a:off x="623888" y="4098081"/>
            <a:ext cx="2787527" cy="2289654"/>
          </a:xfrm>
          <a:prstGeom prst="rect">
            <a:avLst/>
          </a:prstGeom>
        </p:spPr>
      </p:pic>
      <p:pic>
        <p:nvPicPr>
          <p:cNvPr id="21" name="Picture 20">
            <a:extLst>
              <a:ext uri="{FF2B5EF4-FFF2-40B4-BE49-F238E27FC236}">
                <a16:creationId xmlns:a16="http://schemas.microsoft.com/office/drawing/2014/main" id="{AB06DA80-B2AC-42B7-CF74-E7CC2E6B05F2}"/>
              </a:ext>
            </a:extLst>
          </p:cNvPr>
          <p:cNvPicPr>
            <a:picLocks noChangeAspect="1"/>
          </p:cNvPicPr>
          <p:nvPr/>
        </p:nvPicPr>
        <p:blipFill>
          <a:blip r:embed="rId3"/>
          <a:stretch>
            <a:fillRect/>
          </a:stretch>
        </p:blipFill>
        <p:spPr>
          <a:xfrm>
            <a:off x="4457334" y="4098081"/>
            <a:ext cx="2787527" cy="2289654"/>
          </a:xfrm>
          <a:prstGeom prst="rect">
            <a:avLst/>
          </a:prstGeom>
        </p:spPr>
      </p:pic>
      <p:pic>
        <p:nvPicPr>
          <p:cNvPr id="22" name="Picture 21">
            <a:extLst>
              <a:ext uri="{FF2B5EF4-FFF2-40B4-BE49-F238E27FC236}">
                <a16:creationId xmlns:a16="http://schemas.microsoft.com/office/drawing/2014/main" id="{CAADBBAF-AB02-7625-FE8E-501FFE132D1A}"/>
              </a:ext>
            </a:extLst>
          </p:cNvPr>
          <p:cNvPicPr>
            <a:picLocks noChangeAspect="1"/>
          </p:cNvPicPr>
          <p:nvPr/>
        </p:nvPicPr>
        <p:blipFill>
          <a:blip r:embed="rId3"/>
          <a:stretch>
            <a:fillRect/>
          </a:stretch>
        </p:blipFill>
        <p:spPr>
          <a:xfrm>
            <a:off x="8290780" y="4098081"/>
            <a:ext cx="2787527" cy="2289654"/>
          </a:xfrm>
          <a:prstGeom prst="rect">
            <a:avLst/>
          </a:prstGeom>
        </p:spPr>
      </p:pic>
      <p:sp>
        <p:nvSpPr>
          <p:cNvPr id="23" name="Hexaware Named Winner of 2022 ISG Star of Excellence™ Award for the Global Region and Universal Industry Categories…">
            <a:extLst>
              <a:ext uri="{FF2B5EF4-FFF2-40B4-BE49-F238E27FC236}">
                <a16:creationId xmlns:a16="http://schemas.microsoft.com/office/drawing/2014/main" id="{4EB00D1A-214F-35E3-6DF9-274623938B5D}"/>
              </a:ext>
            </a:extLst>
          </p:cNvPr>
          <p:cNvSpPr txBox="1"/>
          <p:nvPr/>
        </p:nvSpPr>
        <p:spPr>
          <a:xfrm>
            <a:off x="4865097" y="2655317"/>
            <a:ext cx="1946011" cy="215444"/>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spcAft>
                <a:spcPts val="1800"/>
              </a:spcAft>
            </a:pPr>
            <a:r>
              <a:rPr lang="en-US" sz="1400" spc="10" dirty="0"/>
              <a:t>eCommerce Platform</a:t>
            </a:r>
          </a:p>
        </p:txBody>
      </p:sp>
      <p:sp>
        <p:nvSpPr>
          <p:cNvPr id="24" name="Hexaware Named Winner of 2022 ISG Star of Excellence™ Award for the Global Region and Universal Industry Categories…">
            <a:extLst>
              <a:ext uri="{FF2B5EF4-FFF2-40B4-BE49-F238E27FC236}">
                <a16:creationId xmlns:a16="http://schemas.microsoft.com/office/drawing/2014/main" id="{FBBCB4C1-CE65-429B-E67A-980524FDD9CC}"/>
              </a:ext>
            </a:extLst>
          </p:cNvPr>
          <p:cNvSpPr txBox="1"/>
          <p:nvPr/>
        </p:nvSpPr>
        <p:spPr>
          <a:xfrm>
            <a:off x="8721990" y="2655317"/>
            <a:ext cx="1946011" cy="430887"/>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spcAft>
                <a:spcPts val="1800"/>
              </a:spcAft>
            </a:pPr>
            <a:r>
              <a:rPr lang="en-US" sz="1400" spc="10" dirty="0"/>
              <a:t>Customer Relation Management (CRM)</a:t>
            </a:r>
          </a:p>
        </p:txBody>
      </p:sp>
      <p:sp>
        <p:nvSpPr>
          <p:cNvPr id="25" name="Hexaware Named Winner of 2022 ISG Star of Excellence™ Award for the Global Region and Universal Industry Categories…">
            <a:extLst>
              <a:ext uri="{FF2B5EF4-FFF2-40B4-BE49-F238E27FC236}">
                <a16:creationId xmlns:a16="http://schemas.microsoft.com/office/drawing/2014/main" id="{34681D02-AF0B-76D9-6FD7-D8A5645400D7}"/>
              </a:ext>
            </a:extLst>
          </p:cNvPr>
          <p:cNvSpPr txBox="1"/>
          <p:nvPr/>
        </p:nvSpPr>
        <p:spPr>
          <a:xfrm>
            <a:off x="1031651" y="5375071"/>
            <a:ext cx="1946011" cy="430887"/>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spcAft>
                <a:spcPts val="1800"/>
              </a:spcAft>
            </a:pPr>
            <a:r>
              <a:rPr lang="en-US" sz="1400" spc="10" dirty="0"/>
              <a:t>Low Code/ No Code (LC/NC)</a:t>
            </a:r>
          </a:p>
        </p:txBody>
      </p:sp>
      <p:sp>
        <p:nvSpPr>
          <p:cNvPr id="26" name="Hexaware Named Winner of 2022 ISG Star of Excellence™ Award for the Global Region and Universal Industry Categories…">
            <a:extLst>
              <a:ext uri="{FF2B5EF4-FFF2-40B4-BE49-F238E27FC236}">
                <a16:creationId xmlns:a16="http://schemas.microsoft.com/office/drawing/2014/main" id="{1E04DD76-4A43-93C1-402F-92E47EA879D3}"/>
              </a:ext>
            </a:extLst>
          </p:cNvPr>
          <p:cNvSpPr txBox="1"/>
          <p:nvPr/>
        </p:nvSpPr>
        <p:spPr>
          <a:xfrm>
            <a:off x="4865097" y="5375071"/>
            <a:ext cx="1946011" cy="215444"/>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spcAft>
                <a:spcPts val="1800"/>
              </a:spcAft>
            </a:pPr>
            <a:r>
              <a:rPr lang="en-US" sz="1400" spc="10" dirty="0"/>
              <a:t>PowerApps</a:t>
            </a:r>
          </a:p>
        </p:txBody>
      </p:sp>
      <p:sp>
        <p:nvSpPr>
          <p:cNvPr id="27" name="Hexaware Named Winner of 2022 ISG Star of Excellence™ Award for the Global Region and Universal Industry Categories…">
            <a:extLst>
              <a:ext uri="{FF2B5EF4-FFF2-40B4-BE49-F238E27FC236}">
                <a16:creationId xmlns:a16="http://schemas.microsoft.com/office/drawing/2014/main" id="{779F73F6-FEF4-FF33-D53B-A9F8DDA548F1}"/>
              </a:ext>
            </a:extLst>
          </p:cNvPr>
          <p:cNvSpPr txBox="1"/>
          <p:nvPr/>
        </p:nvSpPr>
        <p:spPr>
          <a:xfrm>
            <a:off x="8721990" y="5375071"/>
            <a:ext cx="1946011" cy="215444"/>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spcAft>
                <a:spcPts val="1800"/>
              </a:spcAft>
            </a:pPr>
            <a:r>
              <a:rPr lang="en-US" sz="1400" spc="10" dirty="0"/>
              <a:t>Integration Platforms</a:t>
            </a:r>
          </a:p>
        </p:txBody>
      </p:sp>
      <p:pic>
        <p:nvPicPr>
          <p:cNvPr id="30" name="Graphic 29">
            <a:extLst>
              <a:ext uri="{FF2B5EF4-FFF2-40B4-BE49-F238E27FC236}">
                <a16:creationId xmlns:a16="http://schemas.microsoft.com/office/drawing/2014/main" id="{2F64F40D-FD4E-83B8-59EF-FA3666A4A3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1251" y="1688867"/>
            <a:ext cx="812800" cy="812800"/>
          </a:xfrm>
          <a:prstGeom prst="rect">
            <a:avLst/>
          </a:prstGeom>
        </p:spPr>
      </p:pic>
      <p:pic>
        <p:nvPicPr>
          <p:cNvPr id="32" name="Graphic 31">
            <a:extLst>
              <a:ext uri="{FF2B5EF4-FFF2-40B4-BE49-F238E27FC236}">
                <a16:creationId xmlns:a16="http://schemas.microsoft.com/office/drawing/2014/main" id="{E460E8EE-488A-BAC7-190F-565471FA97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9417" y="1739239"/>
            <a:ext cx="715537" cy="715537"/>
          </a:xfrm>
          <a:prstGeom prst="rect">
            <a:avLst/>
          </a:prstGeom>
        </p:spPr>
      </p:pic>
      <p:pic>
        <p:nvPicPr>
          <p:cNvPr id="34" name="Graphic 33">
            <a:extLst>
              <a:ext uri="{FF2B5EF4-FFF2-40B4-BE49-F238E27FC236}">
                <a16:creationId xmlns:a16="http://schemas.microsoft.com/office/drawing/2014/main" id="{B9DAE5B3-28DB-3E72-9660-A8D18E3A1D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26774" y="1739239"/>
            <a:ext cx="715538" cy="715538"/>
          </a:xfrm>
          <a:prstGeom prst="rect">
            <a:avLst/>
          </a:prstGeom>
        </p:spPr>
      </p:pic>
      <p:pic>
        <p:nvPicPr>
          <p:cNvPr id="36" name="Graphic 35">
            <a:extLst>
              <a:ext uri="{FF2B5EF4-FFF2-40B4-BE49-F238E27FC236}">
                <a16:creationId xmlns:a16="http://schemas.microsoft.com/office/drawing/2014/main" id="{023F8381-1B3B-B78F-BD49-791CDE9EE43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99215" y="4421028"/>
            <a:ext cx="836872" cy="836872"/>
          </a:xfrm>
          <a:prstGeom prst="rect">
            <a:avLst/>
          </a:prstGeom>
        </p:spPr>
      </p:pic>
      <p:pic>
        <p:nvPicPr>
          <p:cNvPr id="38" name="Graphic 37">
            <a:extLst>
              <a:ext uri="{FF2B5EF4-FFF2-40B4-BE49-F238E27FC236}">
                <a16:creationId xmlns:a16="http://schemas.microsoft.com/office/drawing/2014/main" id="{181F4116-B8ED-7850-46B8-EB9696CD6E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17719" y="4421028"/>
            <a:ext cx="840765" cy="840765"/>
          </a:xfrm>
          <a:prstGeom prst="rect">
            <a:avLst/>
          </a:prstGeom>
        </p:spPr>
      </p:pic>
      <p:pic>
        <p:nvPicPr>
          <p:cNvPr id="40" name="Graphic 39">
            <a:extLst>
              <a:ext uri="{FF2B5EF4-FFF2-40B4-BE49-F238E27FC236}">
                <a16:creationId xmlns:a16="http://schemas.microsoft.com/office/drawing/2014/main" id="{6FF50123-CF4F-E6FD-3F4C-EC30580D9B7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82636" y="4454086"/>
            <a:ext cx="803814" cy="803814"/>
          </a:xfrm>
          <a:prstGeom prst="rect">
            <a:avLst/>
          </a:prstGeom>
        </p:spPr>
      </p:pic>
    </p:spTree>
    <p:extLst>
      <p:ext uri="{BB962C8B-B14F-4D97-AF65-F5344CB8AC3E}">
        <p14:creationId xmlns:p14="http://schemas.microsoft.com/office/powerpoint/2010/main" val="428639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02F5-C420-6A28-A622-64EA2BB30FF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A7FCD7F-B9C2-D1EE-C6A3-055E022B9958}"/>
              </a:ext>
            </a:extLst>
          </p:cNvPr>
          <p:cNvSpPr>
            <a:spLocks noGrp="1"/>
          </p:cNvSpPr>
          <p:nvPr>
            <p:ph type="body" sz="quarter" idx="15"/>
          </p:nvPr>
        </p:nvSpPr>
        <p:spPr>
          <a:xfrm flipH="1">
            <a:off x="623888" y="457200"/>
            <a:ext cx="8172450" cy="244101"/>
          </a:xfrm>
        </p:spPr>
        <p:txBody>
          <a:bodyPr/>
          <a:lstStyle/>
          <a:p>
            <a:r>
              <a:rPr lang="en-US"/>
              <a:t>Content &amp; Commerce Practice overview</a:t>
            </a:r>
          </a:p>
        </p:txBody>
      </p:sp>
      <p:grpSp>
        <p:nvGrpSpPr>
          <p:cNvPr id="41" name="Group 40">
            <a:extLst>
              <a:ext uri="{FF2B5EF4-FFF2-40B4-BE49-F238E27FC236}">
                <a16:creationId xmlns:a16="http://schemas.microsoft.com/office/drawing/2014/main" id="{43403355-458B-F468-7685-F597DF02E2B2}"/>
              </a:ext>
            </a:extLst>
          </p:cNvPr>
          <p:cNvGrpSpPr/>
          <p:nvPr/>
        </p:nvGrpSpPr>
        <p:grpSpPr>
          <a:xfrm>
            <a:off x="623888" y="1729273"/>
            <a:ext cx="10944223" cy="3654966"/>
            <a:chOff x="623888" y="1729273"/>
            <a:chExt cx="10944223" cy="3654966"/>
          </a:xfrm>
        </p:grpSpPr>
        <p:sp>
          <p:nvSpPr>
            <p:cNvPr id="6" name="Rounded Rectangle 32">
              <a:extLst>
                <a:ext uri="{FF2B5EF4-FFF2-40B4-BE49-F238E27FC236}">
                  <a16:creationId xmlns:a16="http://schemas.microsoft.com/office/drawing/2014/main" id="{E9E5F648-3858-2682-A406-24B5DECA2348}"/>
                </a:ext>
              </a:extLst>
            </p:cNvPr>
            <p:cNvSpPr/>
            <p:nvPr/>
          </p:nvSpPr>
          <p:spPr>
            <a:xfrm>
              <a:off x="7522590" y="2303290"/>
              <a:ext cx="4045521" cy="3075275"/>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30" name="Rounded Rectangle 32">
              <a:extLst>
                <a:ext uri="{FF2B5EF4-FFF2-40B4-BE49-F238E27FC236}">
                  <a16:creationId xmlns:a16="http://schemas.microsoft.com/office/drawing/2014/main" id="{07ADC561-D50E-0D3B-2A5C-47ED82CDB47E}"/>
                </a:ext>
              </a:extLst>
            </p:cNvPr>
            <p:cNvSpPr/>
            <p:nvPr/>
          </p:nvSpPr>
          <p:spPr>
            <a:xfrm>
              <a:off x="623889" y="2303291"/>
              <a:ext cx="3225737" cy="3075274"/>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5" name="Rounded Rectangle 32">
              <a:extLst>
                <a:ext uri="{FF2B5EF4-FFF2-40B4-BE49-F238E27FC236}">
                  <a16:creationId xmlns:a16="http://schemas.microsoft.com/office/drawing/2014/main" id="{258F0192-4ADB-5058-6EC2-E7F0D18E626F}"/>
                </a:ext>
              </a:extLst>
            </p:cNvPr>
            <p:cNvSpPr/>
            <p:nvPr/>
          </p:nvSpPr>
          <p:spPr>
            <a:xfrm>
              <a:off x="7522588" y="1729273"/>
              <a:ext cx="4045521" cy="574017"/>
            </a:xfrm>
            <a:prstGeom prst="rect">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4" name="Rounded Rectangle 32">
              <a:extLst>
                <a:ext uri="{FF2B5EF4-FFF2-40B4-BE49-F238E27FC236}">
                  <a16:creationId xmlns:a16="http://schemas.microsoft.com/office/drawing/2014/main" id="{7F1A9B31-C5BA-9320-527A-8F9FE68C21F1}"/>
                </a:ext>
              </a:extLst>
            </p:cNvPr>
            <p:cNvSpPr/>
            <p:nvPr/>
          </p:nvSpPr>
          <p:spPr>
            <a:xfrm>
              <a:off x="623889" y="1729273"/>
              <a:ext cx="3225737" cy="574017"/>
            </a:xfrm>
            <a:prstGeom prst="rect">
              <a:avLst/>
            </a:prstGeom>
            <a:solidFill>
              <a:srgbClr val="3C2DDA"/>
            </a:solidFill>
            <a:ln w="12700">
              <a:solidFill>
                <a:srgbClr val="3C2D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3" name="Rectangle 2">
              <a:extLst>
                <a:ext uri="{FF2B5EF4-FFF2-40B4-BE49-F238E27FC236}">
                  <a16:creationId xmlns:a16="http://schemas.microsoft.com/office/drawing/2014/main" id="{2E43C0B9-7BC9-2BC2-1A86-2BFEB43A2C36}"/>
                </a:ext>
              </a:extLst>
            </p:cNvPr>
            <p:cNvSpPr/>
            <p:nvPr/>
          </p:nvSpPr>
          <p:spPr>
            <a:xfrm>
              <a:off x="623888" y="1867353"/>
              <a:ext cx="3225734" cy="307777"/>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600"/>
                </a:spcAft>
                <a:buClr>
                  <a:srgbClr val="29ACE4"/>
                </a:buClr>
                <a:buSzTx/>
                <a:buFontTx/>
                <a:buNone/>
                <a:tabLst/>
                <a:defRPr/>
              </a:pPr>
              <a:r>
                <a:rPr kumimoji="0" lang="en-US" sz="1400" b="1" i="0" u="none" strike="noStrike" kern="1200" cap="none" spc="0" normalizeH="0" baseline="0" noProof="0">
                  <a:ln>
                    <a:noFill/>
                  </a:ln>
                  <a:solidFill>
                    <a:srgbClr val="FFFFFF"/>
                  </a:solidFill>
                  <a:effectLst/>
                  <a:uLnTx/>
                  <a:uFillTx/>
                  <a:latin typeface="Manrope Medium" pitchFamily="2" charset="0"/>
                  <a:cs typeface="Poppins"/>
                </a:rPr>
                <a:t>Marketing &amp; Content Platforms</a:t>
              </a:r>
            </a:p>
          </p:txBody>
        </p:sp>
        <p:sp>
          <p:nvSpPr>
            <p:cNvPr id="29" name="TextBox 11">
              <a:extLst>
                <a:ext uri="{FF2B5EF4-FFF2-40B4-BE49-F238E27FC236}">
                  <a16:creationId xmlns:a16="http://schemas.microsoft.com/office/drawing/2014/main" id="{8C1BEAA2-3FA9-6413-F3F8-AA118F25D812}"/>
                </a:ext>
              </a:extLst>
            </p:cNvPr>
            <p:cNvSpPr txBox="1"/>
            <p:nvPr/>
          </p:nvSpPr>
          <p:spPr>
            <a:xfrm>
              <a:off x="8648409" y="1862201"/>
              <a:ext cx="1793878"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anrope Medium" pitchFamily="2" charset="0"/>
                  <a:cs typeface="Poppins Medium"/>
                </a:rPr>
                <a:t>Partnering with</a:t>
              </a:r>
            </a:p>
          </p:txBody>
        </p:sp>
        <p:sp>
          <p:nvSpPr>
            <p:cNvPr id="7" name="Rectangle 6">
              <a:extLst>
                <a:ext uri="{FF2B5EF4-FFF2-40B4-BE49-F238E27FC236}">
                  <a16:creationId xmlns:a16="http://schemas.microsoft.com/office/drawing/2014/main" id="{F8E311C0-9FD8-9B9A-BD3E-7CBDA7CE28B5}"/>
                </a:ext>
              </a:extLst>
            </p:cNvPr>
            <p:cNvSpPr/>
            <p:nvPr/>
          </p:nvSpPr>
          <p:spPr>
            <a:xfrm>
              <a:off x="687266" y="2460362"/>
              <a:ext cx="3155855" cy="2923877"/>
            </a:xfrm>
            <a:prstGeom prst="rect">
              <a:avLst/>
            </a:prstGeom>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Purposeful experience design  </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Insights driven benchmarking</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Self-service experiences</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Headless/microservices CMS focus</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Omnichannel, multi-lingual, multi-tenant platform design and development</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Data, audience, segmentation and campaign management</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Hyper-personalization</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Continuous optimization</a:t>
              </a:r>
            </a:p>
            <a:p>
              <a:pPr marL="171450" marR="0" lvl="0" indent="-171450" algn="l" defTabSz="914400" rtl="0" eaLnBrk="1" fontAlgn="auto" latinLnBrk="0" hangingPunct="1">
                <a:lnSpc>
                  <a:spcPct val="100000"/>
                </a:lnSpc>
                <a:spcBef>
                  <a:spcPts val="0"/>
                </a:spcBef>
                <a:spcAft>
                  <a:spcPts val="60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pitchFamily="2" charset="0"/>
                  <a:cs typeface="Poppins"/>
                </a:rPr>
                <a:t>Digital ergonomics (accessibility, voice enablement, visual cues, etc.)</a:t>
              </a:r>
            </a:p>
          </p:txBody>
        </p:sp>
        <p:sp>
          <p:nvSpPr>
            <p:cNvPr id="8" name="Rounded Rectangle 32">
              <a:extLst>
                <a:ext uri="{FF2B5EF4-FFF2-40B4-BE49-F238E27FC236}">
                  <a16:creationId xmlns:a16="http://schemas.microsoft.com/office/drawing/2014/main" id="{3D6CA47E-9FA5-785C-0C75-2434DCC6BF3E}"/>
                </a:ext>
              </a:extLst>
            </p:cNvPr>
            <p:cNvSpPr/>
            <p:nvPr/>
          </p:nvSpPr>
          <p:spPr>
            <a:xfrm>
              <a:off x="4056781" y="1729273"/>
              <a:ext cx="3261520" cy="574017"/>
            </a:xfrm>
            <a:prstGeom prst="rect">
              <a:avLst/>
            </a:prstGeom>
            <a:solidFill>
              <a:srgbClr val="3C2DDA"/>
            </a:solidFill>
            <a:ln w="12700">
              <a:solidFill>
                <a:srgbClr val="3C2D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0" name="Rectangle 9">
              <a:extLst>
                <a:ext uri="{FF2B5EF4-FFF2-40B4-BE49-F238E27FC236}">
                  <a16:creationId xmlns:a16="http://schemas.microsoft.com/office/drawing/2014/main" id="{6508FCA0-33AF-44DD-7156-B3882A4DC530}"/>
                </a:ext>
              </a:extLst>
            </p:cNvPr>
            <p:cNvSpPr/>
            <p:nvPr/>
          </p:nvSpPr>
          <p:spPr>
            <a:xfrm>
              <a:off x="4023991" y="2451229"/>
              <a:ext cx="3294310" cy="2846933"/>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Micro-services, API Native, Cloud enabled, Headless commerce (MACH)</a:t>
              </a:r>
            </a:p>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 Omni-channel shoppable experiences</a:t>
              </a:r>
            </a:p>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Smart search, facets, cataloging and taxonomy enablement</a:t>
              </a:r>
            </a:p>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Personalization, Segmentations, Analytics.</a:t>
              </a:r>
            </a:p>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Technology rationalization</a:t>
              </a:r>
            </a:p>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Augmenting Experience through AR/VR</a:t>
              </a:r>
            </a:p>
            <a:p>
              <a:pPr marL="171450" marR="0" lvl="0" indent="-171450" algn="l" defTabSz="914400" rtl="0" eaLnBrk="1" fontAlgn="auto" latinLnBrk="0" hangingPunct="1">
                <a:lnSpc>
                  <a:spcPct val="100000"/>
                </a:lnSpc>
                <a:spcBef>
                  <a:spcPts val="300"/>
                </a:spcBef>
                <a:spcAft>
                  <a:spcPts val="60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Light"/>
                  <a:cs typeface="Poppins"/>
                </a:rPr>
                <a:t>Continuous optimization &amp; enhanceme</a:t>
              </a:r>
              <a:r>
                <a:rPr kumimoji="0" lang="en-US" sz="1400" b="0" i="0" u="none" strike="noStrike" kern="1200" cap="none" spc="0" normalizeH="0" baseline="0" noProof="0">
                  <a:ln>
                    <a:noFill/>
                  </a:ln>
                  <a:solidFill>
                    <a:srgbClr val="000000"/>
                  </a:solidFill>
                  <a:effectLst/>
                  <a:uLnTx/>
                  <a:uFillTx/>
                  <a:latin typeface="Manrope Light"/>
                  <a:cs typeface="Poppins"/>
                </a:rPr>
                <a:t>nts</a:t>
              </a:r>
            </a:p>
          </p:txBody>
        </p:sp>
        <p:sp>
          <p:nvSpPr>
            <p:cNvPr id="11" name="Rounded Rectangle 32">
              <a:extLst>
                <a:ext uri="{FF2B5EF4-FFF2-40B4-BE49-F238E27FC236}">
                  <a16:creationId xmlns:a16="http://schemas.microsoft.com/office/drawing/2014/main" id="{1765D67D-6142-CA61-71A0-2E6C82629656}"/>
                </a:ext>
              </a:extLst>
            </p:cNvPr>
            <p:cNvSpPr/>
            <p:nvPr/>
          </p:nvSpPr>
          <p:spPr>
            <a:xfrm>
              <a:off x="4056783" y="2308965"/>
              <a:ext cx="3261520" cy="3075274"/>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4" name="Rectangle 13">
              <a:extLst>
                <a:ext uri="{FF2B5EF4-FFF2-40B4-BE49-F238E27FC236}">
                  <a16:creationId xmlns:a16="http://schemas.microsoft.com/office/drawing/2014/main" id="{D1D5F9CB-A777-C8D6-E5F2-E27A52891C88}"/>
                </a:ext>
              </a:extLst>
            </p:cNvPr>
            <p:cNvSpPr/>
            <p:nvPr/>
          </p:nvSpPr>
          <p:spPr>
            <a:xfrm>
              <a:off x="4053911" y="1843287"/>
              <a:ext cx="3225737" cy="307777"/>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600"/>
                </a:spcAft>
                <a:buClr>
                  <a:srgbClr val="29ACE4"/>
                </a:buClr>
                <a:buSzTx/>
                <a:buFontTx/>
                <a:buNone/>
                <a:tabLst/>
                <a:defRPr/>
              </a:pPr>
              <a:r>
                <a:rPr kumimoji="0" lang="en-US" sz="1400" b="1" i="0" u="none" strike="noStrike" kern="1200" cap="none" spc="0" normalizeH="0" baseline="0" noProof="0">
                  <a:ln>
                    <a:noFill/>
                  </a:ln>
                  <a:solidFill>
                    <a:srgbClr val="FFFFFF"/>
                  </a:solidFill>
                  <a:effectLst/>
                  <a:uLnTx/>
                  <a:uFillTx/>
                  <a:latin typeface="Manrope Medium" pitchFamily="2" charset="0"/>
                  <a:cs typeface="Poppins"/>
                </a:rPr>
                <a:t>Shoppable Commerce</a:t>
              </a:r>
            </a:p>
          </p:txBody>
        </p:sp>
        <p:pic>
          <p:nvPicPr>
            <p:cNvPr id="22" name="Picture 21" descr="A black and white logo&#10;&#10;Description automatically generated">
              <a:extLst>
                <a:ext uri="{FF2B5EF4-FFF2-40B4-BE49-F238E27FC236}">
                  <a16:creationId xmlns:a16="http://schemas.microsoft.com/office/drawing/2014/main" id="{D47F53E2-806F-A78F-07E7-2619A8E2C968}"/>
                </a:ext>
              </a:extLst>
            </p:cNvPr>
            <p:cNvPicPr>
              <a:picLocks noChangeAspect="1"/>
            </p:cNvPicPr>
            <p:nvPr/>
          </p:nvPicPr>
          <p:blipFill>
            <a:blip r:embed="rId3">
              <a:extLst>
                <a:ext uri="{28A0092B-C50C-407E-A947-70E740481C1C}">
                  <a14:useLocalDpi xmlns:a14="http://schemas.microsoft.com/office/drawing/2010/main" val="0"/>
                </a:ext>
              </a:extLst>
            </a:blip>
            <a:srcRect t="24478" b="25571"/>
            <a:stretch>
              <a:fillRect/>
            </a:stretch>
          </p:blipFill>
          <p:spPr>
            <a:xfrm>
              <a:off x="9801955" y="4648189"/>
              <a:ext cx="1236187" cy="343044"/>
            </a:xfrm>
            <a:prstGeom prst="rect">
              <a:avLst/>
            </a:prstGeom>
          </p:spPr>
        </p:pic>
        <p:pic>
          <p:nvPicPr>
            <p:cNvPr id="9" name="Picture 8" descr="A red letters on a black background&#10;&#10;Description automatically generated">
              <a:extLst>
                <a:ext uri="{FF2B5EF4-FFF2-40B4-BE49-F238E27FC236}">
                  <a16:creationId xmlns:a16="http://schemas.microsoft.com/office/drawing/2014/main" id="{CE1AA854-E8B4-7231-9CD1-2B36D5D0EC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8893" y="2525672"/>
              <a:ext cx="1006363" cy="261025"/>
            </a:xfrm>
            <a:prstGeom prst="rect">
              <a:avLst/>
            </a:prstGeom>
          </p:spPr>
        </p:pic>
        <p:pic>
          <p:nvPicPr>
            <p:cNvPr id="18" name="Picture 17" descr="A black and blue text&#10;&#10;Description automatically generated">
              <a:extLst>
                <a:ext uri="{FF2B5EF4-FFF2-40B4-BE49-F238E27FC236}">
                  <a16:creationId xmlns:a16="http://schemas.microsoft.com/office/drawing/2014/main" id="{3497FA28-01FC-0115-5D75-95CD84A45E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01955" y="3052076"/>
              <a:ext cx="1027999" cy="325361"/>
            </a:xfrm>
            <a:prstGeom prst="rect">
              <a:avLst/>
            </a:prstGeom>
          </p:spPr>
        </p:pic>
        <p:pic>
          <p:nvPicPr>
            <p:cNvPr id="31" name="Picture 30" descr="A black text on a white background&#10;&#10;Description automatically generated">
              <a:extLst>
                <a:ext uri="{FF2B5EF4-FFF2-40B4-BE49-F238E27FC236}">
                  <a16:creationId xmlns:a16="http://schemas.microsoft.com/office/drawing/2014/main" id="{E35AB473-F33A-6B3E-AA22-808152AE19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01955" y="2506058"/>
              <a:ext cx="1368125" cy="295196"/>
            </a:xfrm>
            <a:prstGeom prst="rect">
              <a:avLst/>
            </a:prstGeom>
          </p:spPr>
        </p:pic>
        <p:pic>
          <p:nvPicPr>
            <p:cNvPr id="33" name="Picture 32" descr="A blue and black logo&#10;&#10;Description automatically generated">
              <a:extLst>
                <a:ext uri="{FF2B5EF4-FFF2-40B4-BE49-F238E27FC236}">
                  <a16:creationId xmlns:a16="http://schemas.microsoft.com/office/drawing/2014/main" id="{C699A8C2-F6AB-3BA7-8370-3C50929FEB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08893" y="3112961"/>
              <a:ext cx="795755" cy="170341"/>
            </a:xfrm>
            <a:prstGeom prst="rect">
              <a:avLst/>
            </a:prstGeom>
          </p:spPr>
        </p:pic>
        <p:pic>
          <p:nvPicPr>
            <p:cNvPr id="1026" name="Picture 2" descr="Logo and Wordmark Usage Guidelines | Drupal.org">
              <a:extLst>
                <a:ext uri="{FF2B5EF4-FFF2-40B4-BE49-F238E27FC236}">
                  <a16:creationId xmlns:a16="http://schemas.microsoft.com/office/drawing/2014/main" id="{B1645356-BBA5-F0FB-1E65-2D66A4C36F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01955" y="3562097"/>
              <a:ext cx="614405" cy="4695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ordpress Logo Clipart PNG Transparent Background, Free Download #49488 -  FreeIconsPNG">
              <a:extLst>
                <a:ext uri="{FF2B5EF4-FFF2-40B4-BE49-F238E27FC236}">
                  <a16:creationId xmlns:a16="http://schemas.microsoft.com/office/drawing/2014/main" id="{29D96119-D4C4-4A58-3EB6-8328AD703F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08893" y="3478466"/>
              <a:ext cx="697392" cy="45046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Spryker: E-Commerce System for rapidly growing Companies | AOE">
              <a:extLst>
                <a:ext uri="{FF2B5EF4-FFF2-40B4-BE49-F238E27FC236}">
                  <a16:creationId xmlns:a16="http://schemas.microsoft.com/office/drawing/2014/main" id="{0E3ACE0A-C558-CD63-1D6B-4180BFD31481}"/>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9801955" y="4056931"/>
              <a:ext cx="1015857" cy="57078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Image result for commerce tools">
              <a:extLst>
                <a:ext uri="{FF2B5EF4-FFF2-40B4-BE49-F238E27FC236}">
                  <a16:creationId xmlns:a16="http://schemas.microsoft.com/office/drawing/2014/main" id="{80CD0FBF-EEDC-2DC4-D822-5443C7566121}"/>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8108893" y="4744020"/>
              <a:ext cx="1481892" cy="21087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SAP Hybris Overview | chegos.pl">
              <a:extLst>
                <a:ext uri="{FF2B5EF4-FFF2-40B4-BE49-F238E27FC236}">
                  <a16:creationId xmlns:a16="http://schemas.microsoft.com/office/drawing/2014/main" id="{4E4BB1AE-6289-7242-FA52-A058782EC550}"/>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8108893" y="4074745"/>
              <a:ext cx="1093240" cy="34619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Group 39">
            <a:extLst>
              <a:ext uri="{FF2B5EF4-FFF2-40B4-BE49-F238E27FC236}">
                <a16:creationId xmlns:a16="http://schemas.microsoft.com/office/drawing/2014/main" id="{788B4154-3622-9E27-BBFE-8CC6A666C317}"/>
              </a:ext>
            </a:extLst>
          </p:cNvPr>
          <p:cNvGrpSpPr/>
          <p:nvPr/>
        </p:nvGrpSpPr>
        <p:grpSpPr>
          <a:xfrm>
            <a:off x="687266" y="959499"/>
            <a:ext cx="10629672" cy="783201"/>
            <a:chOff x="687266" y="959499"/>
            <a:chExt cx="10629672" cy="783201"/>
          </a:xfrm>
        </p:grpSpPr>
        <p:sp>
          <p:nvSpPr>
            <p:cNvPr id="27" name="320+">
              <a:extLst>
                <a:ext uri="{FF2B5EF4-FFF2-40B4-BE49-F238E27FC236}">
                  <a16:creationId xmlns:a16="http://schemas.microsoft.com/office/drawing/2014/main" id="{1C362536-44A4-2140-610C-56B51F97532D}"/>
                </a:ext>
              </a:extLst>
            </p:cNvPr>
            <p:cNvSpPr txBox="1"/>
            <p:nvPr/>
          </p:nvSpPr>
          <p:spPr>
            <a:xfrm>
              <a:off x="687266" y="973260"/>
              <a:ext cx="2075770"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3C2DDA"/>
                  </a:solidFill>
                  <a:effectLst/>
                  <a:uLnTx/>
                  <a:uFillTx/>
                  <a:latin typeface="Manrope Light"/>
                  <a:sym typeface="Manrope ExtraLight SemiBold"/>
                </a:rPr>
                <a:t>300+</a:t>
              </a:r>
              <a:br>
                <a:rPr kumimoji="0" lang="en-US" sz="1800" b="0" i="0" u="none" strike="noStrike" kern="1200" cap="none" spc="0" normalizeH="0" baseline="0" noProof="0">
                  <a:ln>
                    <a:noFill/>
                  </a:ln>
                  <a:solidFill>
                    <a:srgbClr val="3C2DDA"/>
                  </a:solidFill>
                  <a:effectLst/>
                  <a:uLnTx/>
                  <a:uFillTx/>
                  <a:latin typeface="Manrope Light"/>
                  <a:sym typeface="Manrope ExtraLight SemiBold"/>
                </a:rPr>
              </a:br>
              <a:r>
                <a:rPr kumimoji="0" lang="en-US" sz="1100" b="0" i="0" u="none" strike="noStrike" kern="1200" cap="none" spc="0" normalizeH="0" baseline="0" noProof="0">
                  <a:ln>
                    <a:noFill/>
                  </a:ln>
                  <a:solidFill>
                    <a:srgbClr val="02051C"/>
                  </a:solidFill>
                  <a:effectLst/>
                  <a:uLnTx/>
                  <a:uFillTx/>
                  <a:latin typeface="Manrope Light"/>
                  <a:sym typeface="Manrope ExtraLight SemiBold"/>
                </a:rPr>
                <a:t>Full Time Consultants</a:t>
              </a:r>
            </a:p>
          </p:txBody>
        </p:sp>
        <p:sp>
          <p:nvSpPr>
            <p:cNvPr id="28" name="320+">
              <a:extLst>
                <a:ext uri="{FF2B5EF4-FFF2-40B4-BE49-F238E27FC236}">
                  <a16:creationId xmlns:a16="http://schemas.microsoft.com/office/drawing/2014/main" id="{A45766CE-1DA3-76CC-C845-49D7DB625628}"/>
                </a:ext>
              </a:extLst>
            </p:cNvPr>
            <p:cNvSpPr txBox="1"/>
            <p:nvPr/>
          </p:nvSpPr>
          <p:spPr>
            <a:xfrm>
              <a:off x="3380830" y="973259"/>
              <a:ext cx="2290485" cy="6001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3C2DDA"/>
                  </a:solidFill>
                  <a:effectLst/>
                  <a:uLnTx/>
                  <a:uFillTx/>
                  <a:latin typeface="Manrope Light"/>
                  <a:sym typeface="Manrope ExtraLight SemiBold"/>
                </a:rPr>
                <a:t>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051C"/>
                  </a:solidFill>
                  <a:effectLst/>
                  <a:uLnTx/>
                  <a:uFillTx/>
                  <a:latin typeface="Manrope Light"/>
                  <a:sym typeface="Manrope ExtraLight SemiBold"/>
                </a:rPr>
                <a:t>Certified Professionals</a:t>
              </a:r>
            </a:p>
          </p:txBody>
        </p:sp>
        <p:sp>
          <p:nvSpPr>
            <p:cNvPr id="32" name="320+">
              <a:extLst>
                <a:ext uri="{FF2B5EF4-FFF2-40B4-BE49-F238E27FC236}">
                  <a16:creationId xmlns:a16="http://schemas.microsoft.com/office/drawing/2014/main" id="{6B75A19E-CA9A-6FD9-44D0-6FBD3078C256}"/>
                </a:ext>
              </a:extLst>
            </p:cNvPr>
            <p:cNvSpPr txBox="1"/>
            <p:nvPr/>
          </p:nvSpPr>
          <p:spPr>
            <a:xfrm>
              <a:off x="6159378" y="973259"/>
              <a:ext cx="3513114" cy="769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3C2DDA"/>
                  </a:solidFill>
                  <a:effectLst/>
                  <a:uLnTx/>
                  <a:uFillTx/>
                  <a:latin typeface="Manrope Light"/>
                  <a:sym typeface="Manrope ExtraLight SemiBold"/>
                </a:rPr>
                <a:t>20+</a:t>
              </a:r>
              <a:br>
                <a:rPr kumimoji="0" lang="en-US" sz="2800" b="0" i="0" u="none" strike="noStrike" kern="1200" cap="none" spc="0" normalizeH="0" baseline="0" noProof="0">
                  <a:ln>
                    <a:noFill/>
                  </a:ln>
                  <a:solidFill>
                    <a:srgbClr val="3C2DDA"/>
                  </a:solidFill>
                  <a:effectLst/>
                  <a:uLnTx/>
                  <a:uFillTx/>
                  <a:latin typeface="Manrope Light"/>
                  <a:sym typeface="Manrope ExtraLight SemiBold"/>
                </a:rPr>
              </a:br>
              <a:r>
                <a:rPr kumimoji="0" lang="en-US" sz="1100" b="0" i="0" u="none" strike="noStrike" kern="1200" cap="none" spc="0" normalizeH="0" baseline="0" noProof="0">
                  <a:ln>
                    <a:noFill/>
                  </a:ln>
                  <a:solidFill>
                    <a:srgbClr val="02051C"/>
                  </a:solidFill>
                  <a:effectLst/>
                  <a:uLnTx/>
                  <a:uFillTx/>
                  <a:latin typeface="Manrope Light"/>
                  <a:sym typeface="Manrope ExtraLight SemiBold"/>
                </a:rPr>
                <a:t>Years of avg. leadership  experience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2051C"/>
                </a:solidFill>
                <a:effectLst/>
                <a:uLnTx/>
                <a:uFillTx/>
                <a:latin typeface="Manrope Light"/>
                <a:sym typeface="Manrope ExtraLight SemiBold"/>
              </a:endParaRPr>
            </a:p>
          </p:txBody>
        </p:sp>
        <p:sp>
          <p:nvSpPr>
            <p:cNvPr id="34" name="320+">
              <a:extLst>
                <a:ext uri="{FF2B5EF4-FFF2-40B4-BE49-F238E27FC236}">
                  <a16:creationId xmlns:a16="http://schemas.microsoft.com/office/drawing/2014/main" id="{386FBC83-D2D5-7A30-B68D-B6C5F3FFEDEB}"/>
                </a:ext>
              </a:extLst>
            </p:cNvPr>
            <p:cNvSpPr txBox="1"/>
            <p:nvPr/>
          </p:nvSpPr>
          <p:spPr>
            <a:xfrm>
              <a:off x="9026453" y="959499"/>
              <a:ext cx="2290485" cy="769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3C2DDA"/>
                  </a:solidFill>
                  <a:effectLst/>
                  <a:uLnTx/>
                  <a:uFillTx/>
                  <a:latin typeface="Manrope Light"/>
                  <a:sym typeface="Manrope ExtraLight SemiBold"/>
                </a:rPr>
                <a:t>5</a:t>
              </a:r>
              <a:br>
                <a:rPr kumimoji="0" lang="en-US" sz="1800" b="0" i="0" u="none" strike="noStrike" kern="1200" cap="none" spc="0" normalizeH="0" baseline="0" noProof="0">
                  <a:ln>
                    <a:noFill/>
                  </a:ln>
                  <a:solidFill>
                    <a:srgbClr val="3C2DDA"/>
                  </a:solidFill>
                  <a:effectLst/>
                  <a:uLnTx/>
                  <a:uFillTx/>
                  <a:latin typeface="Manrope Light"/>
                  <a:sym typeface="Manrope ExtraLight SemiBold"/>
                </a:rPr>
              </a:br>
              <a:r>
                <a:rPr kumimoji="0" lang="en-US" sz="1100" b="0" i="0" u="none" strike="noStrike" kern="1200" cap="none" spc="0" normalizeH="0" baseline="0" noProof="0">
                  <a:ln>
                    <a:noFill/>
                  </a:ln>
                  <a:solidFill>
                    <a:srgbClr val="02051C"/>
                  </a:solidFill>
                  <a:effectLst/>
                  <a:uLnTx/>
                  <a:uFillTx/>
                  <a:latin typeface="Manrope Light"/>
                  <a:sym typeface="Manrope ExtraLight SemiBold"/>
                </a:rPr>
                <a:t>Years of avg. consultant experience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2051C"/>
                </a:solidFill>
                <a:effectLst/>
                <a:uLnTx/>
                <a:uFillTx/>
                <a:latin typeface="Manrope Light"/>
                <a:sym typeface="Manrope ExtraLight SemiBold"/>
              </a:endParaRPr>
            </a:p>
          </p:txBody>
        </p:sp>
      </p:grpSp>
      <p:grpSp>
        <p:nvGrpSpPr>
          <p:cNvPr id="39" name="Group 38">
            <a:extLst>
              <a:ext uri="{FF2B5EF4-FFF2-40B4-BE49-F238E27FC236}">
                <a16:creationId xmlns:a16="http://schemas.microsoft.com/office/drawing/2014/main" id="{F475BA1C-85F4-E6BD-0465-BA762FADDC85}"/>
              </a:ext>
            </a:extLst>
          </p:cNvPr>
          <p:cNvGrpSpPr/>
          <p:nvPr/>
        </p:nvGrpSpPr>
        <p:grpSpPr>
          <a:xfrm>
            <a:off x="489527" y="5434069"/>
            <a:ext cx="9964688" cy="845969"/>
            <a:chOff x="507275" y="5457874"/>
            <a:chExt cx="9964688" cy="845969"/>
          </a:xfrm>
        </p:grpSpPr>
        <p:pic>
          <p:nvPicPr>
            <p:cNvPr id="12" name="Google Shape;446;p4" descr="A picture containing food&#10;&#10;Description automatically generated">
              <a:extLst>
                <a:ext uri="{FF2B5EF4-FFF2-40B4-BE49-F238E27FC236}">
                  <a16:creationId xmlns:a16="http://schemas.microsoft.com/office/drawing/2014/main" id="{BAF85501-4125-29F7-026D-91649BDEFBF4}"/>
                </a:ext>
              </a:extLst>
            </p:cNvPr>
            <p:cNvPicPr preferRelativeResize="0"/>
            <p:nvPr/>
          </p:nvPicPr>
          <p:blipFill rotWithShape="1">
            <a:blip r:embed="rId13" cstate="email">
              <a:extLst>
                <a:ext uri="{28A0092B-C50C-407E-A947-70E740481C1C}">
                  <a14:useLocalDpi xmlns:a14="http://schemas.microsoft.com/office/drawing/2010/main"/>
                </a:ext>
              </a:extLst>
            </a:blip>
            <a:stretch/>
          </p:blipFill>
          <p:spPr>
            <a:xfrm>
              <a:off x="2123666" y="5576778"/>
              <a:ext cx="713848" cy="318221"/>
            </a:xfrm>
            <a:prstGeom prst="rect">
              <a:avLst/>
            </a:prstGeom>
          </p:spPr>
        </p:pic>
        <p:pic>
          <p:nvPicPr>
            <p:cNvPr id="13" name="Google Shape;454;p4" descr="A picture containing person&#10;&#10;Description automatically generated">
              <a:extLst>
                <a:ext uri="{FF2B5EF4-FFF2-40B4-BE49-F238E27FC236}">
                  <a16:creationId xmlns:a16="http://schemas.microsoft.com/office/drawing/2014/main" id="{72A0C4B7-26D3-96BC-DBCD-97CA4B819019}"/>
                </a:ext>
              </a:extLst>
            </p:cNvPr>
            <p:cNvPicPr preferRelativeResize="0"/>
            <p:nvPr/>
          </p:nvPicPr>
          <p:blipFill rotWithShape="1">
            <a:blip r:embed="rId14" cstate="email">
              <a:alphaModFix/>
              <a:extLst>
                <a:ext uri="{28A0092B-C50C-407E-A947-70E740481C1C}">
                  <a14:useLocalDpi xmlns:a14="http://schemas.microsoft.com/office/drawing/2010/main"/>
                </a:ext>
              </a:extLst>
            </a:blip>
            <a:srcRect/>
            <a:stretch/>
          </p:blipFill>
          <p:spPr>
            <a:xfrm>
              <a:off x="4600609" y="5576778"/>
              <a:ext cx="517784" cy="517784"/>
            </a:xfrm>
            <a:prstGeom prst="rect">
              <a:avLst/>
            </a:prstGeom>
            <a:noFill/>
            <a:ln>
              <a:noFill/>
            </a:ln>
          </p:spPr>
        </p:pic>
        <p:pic>
          <p:nvPicPr>
            <p:cNvPr id="15" name="Picture 14" descr="The University of Adelaide - Course Seeker">
              <a:extLst>
                <a:ext uri="{FF2B5EF4-FFF2-40B4-BE49-F238E27FC236}">
                  <a16:creationId xmlns:a16="http://schemas.microsoft.com/office/drawing/2014/main" id="{7073B06C-7586-22A0-8E15-C2C901706A56}"/>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3354136" y="5631405"/>
              <a:ext cx="842438" cy="617359"/>
            </a:xfrm>
            <a:prstGeom prst="rect">
              <a:avLst/>
            </a:prstGeom>
            <a:noFill/>
            <a:extLst>
              <a:ext uri="{909E8E84-426E-40DD-AFC4-6F175D3DCCD1}">
                <a14:hiddenFill xmlns:a14="http://schemas.microsoft.com/office/drawing/2010/main">
                  <a:solidFill>
                    <a:srgbClr val="FFFFFF"/>
                  </a:solidFill>
                </a14:hiddenFill>
              </a:ext>
            </a:extLst>
          </p:spPr>
        </p:pic>
        <p:pic>
          <p:nvPicPr>
            <p:cNvPr id="16" name="Google Shape;444;p4" descr="A picture containing drawing&#10;&#10;Description automatically generated">
              <a:extLst>
                <a:ext uri="{FF2B5EF4-FFF2-40B4-BE49-F238E27FC236}">
                  <a16:creationId xmlns:a16="http://schemas.microsoft.com/office/drawing/2014/main" id="{30BC617E-9957-E8DF-6FDF-31A1A911D8B8}"/>
                </a:ext>
              </a:extLst>
            </p:cNvPr>
            <p:cNvPicPr preferRelativeResize="0"/>
            <p:nvPr/>
          </p:nvPicPr>
          <p:blipFill rotWithShape="1">
            <a:blip r:embed="rId16" cstate="email">
              <a:alphaModFix/>
              <a:extLst>
                <a:ext uri="{28A0092B-C50C-407E-A947-70E740481C1C}">
                  <a14:useLocalDpi xmlns:a14="http://schemas.microsoft.com/office/drawing/2010/main"/>
                </a:ext>
              </a:extLst>
            </a:blip>
            <a:srcRect/>
            <a:stretch/>
          </p:blipFill>
          <p:spPr>
            <a:xfrm>
              <a:off x="687266" y="6070631"/>
              <a:ext cx="738129" cy="211903"/>
            </a:xfrm>
            <a:prstGeom prst="rect">
              <a:avLst/>
            </a:prstGeom>
            <a:noFill/>
            <a:ln>
              <a:noFill/>
            </a:ln>
          </p:spPr>
        </p:pic>
        <p:pic>
          <p:nvPicPr>
            <p:cNvPr id="19" name="Picture 18">
              <a:extLst>
                <a:ext uri="{FF2B5EF4-FFF2-40B4-BE49-F238E27FC236}">
                  <a16:creationId xmlns:a16="http://schemas.microsoft.com/office/drawing/2014/main" id="{BACFF588-583F-3D76-7D84-730AE3669C48}"/>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493284" y="5646541"/>
              <a:ext cx="539574" cy="539574"/>
            </a:xfrm>
            <a:prstGeom prst="rect">
              <a:avLst/>
            </a:prstGeom>
          </p:spPr>
        </p:pic>
        <p:pic>
          <p:nvPicPr>
            <p:cNvPr id="20" name="Picture 19">
              <a:extLst>
                <a:ext uri="{FF2B5EF4-FFF2-40B4-BE49-F238E27FC236}">
                  <a16:creationId xmlns:a16="http://schemas.microsoft.com/office/drawing/2014/main" id="{986959B6-42E4-F970-BF55-495455E4BBF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835487" y="6049320"/>
              <a:ext cx="1127780" cy="254523"/>
            </a:xfrm>
            <a:prstGeom prst="rect">
              <a:avLst/>
            </a:prstGeom>
          </p:spPr>
        </p:pic>
        <p:pic>
          <p:nvPicPr>
            <p:cNvPr id="24" name="Picture 4" descr="Wickes - Wikipedia">
              <a:extLst>
                <a:ext uri="{FF2B5EF4-FFF2-40B4-BE49-F238E27FC236}">
                  <a16:creationId xmlns:a16="http://schemas.microsoft.com/office/drawing/2014/main" id="{78825AC8-6CDC-27BC-23FE-8EA1BFCFB78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407749" y="5714638"/>
              <a:ext cx="705434" cy="37212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a:extLst>
                <a:ext uri="{FF2B5EF4-FFF2-40B4-BE49-F238E27FC236}">
                  <a16:creationId xmlns:a16="http://schemas.microsoft.com/office/drawing/2014/main" id="{F44203D8-A736-5E35-6FC2-D6BF178D4087}"/>
                </a:ext>
              </a:extLst>
            </p:cNvPr>
            <p:cNvPicPr>
              <a:picLocks noChangeAspect="1"/>
            </p:cNvPicPr>
            <p:nvPr/>
          </p:nvPicPr>
          <p:blipFill>
            <a:blip r:embed="rId20"/>
            <a:stretch>
              <a:fillRect/>
            </a:stretch>
          </p:blipFill>
          <p:spPr>
            <a:xfrm>
              <a:off x="507275" y="5457874"/>
              <a:ext cx="1225317" cy="516074"/>
            </a:xfrm>
            <a:prstGeom prst="rect">
              <a:avLst/>
            </a:prstGeom>
          </p:spPr>
        </p:pic>
        <p:pic>
          <p:nvPicPr>
            <p:cNvPr id="36" name="Picture 35" descr="Logo, company name&#10;&#10;Description automatically generated">
              <a:extLst>
                <a:ext uri="{FF2B5EF4-FFF2-40B4-BE49-F238E27FC236}">
                  <a16:creationId xmlns:a16="http://schemas.microsoft.com/office/drawing/2014/main" id="{88820980-E3C8-6AAA-BCE1-65A1F4D4430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383491" y="5689122"/>
              <a:ext cx="725402" cy="408529"/>
            </a:xfrm>
            <a:prstGeom prst="rect">
              <a:avLst/>
            </a:prstGeom>
          </p:spPr>
        </p:pic>
        <p:pic>
          <p:nvPicPr>
            <p:cNvPr id="37" name="Picture 2" descr="Current Interest Rates - Patelco Credit Union">
              <a:extLst>
                <a:ext uri="{FF2B5EF4-FFF2-40B4-BE49-F238E27FC236}">
                  <a16:creationId xmlns:a16="http://schemas.microsoft.com/office/drawing/2014/main" id="{E93578B7-9B1D-F85F-7FF5-0F6D15CE07A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319935" y="5576778"/>
              <a:ext cx="1076524" cy="605545"/>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a:extLst>
                <a:ext uri="{FF2B5EF4-FFF2-40B4-BE49-F238E27FC236}">
                  <a16:creationId xmlns:a16="http://schemas.microsoft.com/office/drawing/2014/main" id="{CDBB7D37-9052-0017-40CE-A01C74029CE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07183" y="5607629"/>
              <a:ext cx="764780" cy="486934"/>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descr="5+ Thousand Bronze Silver Gold Tag Royalty-Free Images, Stock Photos &amp;  Pictures | Shutterstock">
            <a:extLst>
              <a:ext uri="{FF2B5EF4-FFF2-40B4-BE49-F238E27FC236}">
                <a16:creationId xmlns:a16="http://schemas.microsoft.com/office/drawing/2014/main" id="{70CF8B21-A4C3-0B85-3A9B-8AEE94F26CDF}"/>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4537" t="12125" r="67869" b="11742"/>
          <a:stretch>
            <a:fillRect/>
          </a:stretch>
        </p:blipFill>
        <p:spPr bwMode="auto">
          <a:xfrm>
            <a:off x="11176251" y="2546442"/>
            <a:ext cx="155435" cy="21442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5+ Thousand Bronze Silver Gold Tag Royalty-Free Images, Stock Photos &amp;  Pictures | Shutterstock">
            <a:extLst>
              <a:ext uri="{FF2B5EF4-FFF2-40B4-BE49-F238E27FC236}">
                <a16:creationId xmlns:a16="http://schemas.microsoft.com/office/drawing/2014/main" id="{1A287FE7-5DA4-11B8-6439-E224CE08B513}"/>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33934" t="10813" r="34941" b="12170"/>
          <a:stretch>
            <a:fillRect/>
          </a:stretch>
        </p:blipFill>
        <p:spPr bwMode="auto">
          <a:xfrm>
            <a:off x="9169451" y="2546442"/>
            <a:ext cx="173311" cy="21442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5+ Thousand Bronze Silver Gold Tag Royalty-Free Images, Stock Photos &amp;  Pictures | Shutterstock">
            <a:extLst>
              <a:ext uri="{FF2B5EF4-FFF2-40B4-BE49-F238E27FC236}">
                <a16:creationId xmlns:a16="http://schemas.microsoft.com/office/drawing/2014/main" id="{80BE2E6E-7157-266D-B53B-ADF7356F1141}"/>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68027" t="11995" r="3757" b="10605"/>
          <a:stretch>
            <a:fillRect/>
          </a:stretch>
        </p:blipFill>
        <p:spPr bwMode="auto">
          <a:xfrm>
            <a:off x="9010076" y="3109779"/>
            <a:ext cx="156337" cy="21442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5+ Thousand Bronze Silver Gold Tag Royalty-Free Images, Stock Photos &amp;  Pictures | Shutterstock">
            <a:extLst>
              <a:ext uri="{FF2B5EF4-FFF2-40B4-BE49-F238E27FC236}">
                <a16:creationId xmlns:a16="http://schemas.microsoft.com/office/drawing/2014/main" id="{F13F5CD9-B98E-2E34-A582-02B7D9359296}"/>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33934" t="10813" r="34941" b="12170"/>
          <a:stretch>
            <a:fillRect/>
          </a:stretch>
        </p:blipFill>
        <p:spPr bwMode="auto">
          <a:xfrm>
            <a:off x="10892327" y="4206511"/>
            <a:ext cx="173311" cy="214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689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BEDD162B-9DAF-91B0-6241-56599303CC1A}"/>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t="1714"/>
          <a:stretch/>
        </p:blipFill>
        <p:spPr>
          <a:xfrm>
            <a:off x="0" y="0"/>
            <a:ext cx="12192000" cy="6858000"/>
          </a:xfr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623888" y="2962276"/>
            <a:ext cx="5252930" cy="623248"/>
          </a:xfrm>
        </p:spPr>
        <p:txBody>
          <a:bodyPr/>
          <a:lstStyle/>
          <a:p>
            <a:r>
              <a:rPr lang="en-US"/>
              <a:t>Our Service &amp; Solution offerings</a:t>
            </a:r>
          </a:p>
        </p:txBody>
      </p:sp>
    </p:spTree>
    <p:extLst>
      <p:ext uri="{BB962C8B-B14F-4D97-AF65-F5344CB8AC3E}">
        <p14:creationId xmlns:p14="http://schemas.microsoft.com/office/powerpoint/2010/main" val="393331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64D3228-A5E8-E87F-05CE-E8F9BB9FC702}"/>
              </a:ext>
            </a:extLst>
          </p:cNvPr>
          <p:cNvGrpSpPr/>
          <p:nvPr/>
        </p:nvGrpSpPr>
        <p:grpSpPr>
          <a:xfrm>
            <a:off x="473107" y="1406658"/>
            <a:ext cx="4253525" cy="4528825"/>
            <a:chOff x="434455" y="1393958"/>
            <a:chExt cx="4253525" cy="4528825"/>
          </a:xfrm>
        </p:grpSpPr>
        <p:pic>
          <p:nvPicPr>
            <p:cNvPr id="24" name="Picture 23" descr="A logo of a university&#10;&#10;Description automatically generated">
              <a:extLst>
                <a:ext uri="{FF2B5EF4-FFF2-40B4-BE49-F238E27FC236}">
                  <a16:creationId xmlns:a16="http://schemas.microsoft.com/office/drawing/2014/main" id="{49CF8DB6-037C-0F50-2E2E-8440E2708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455" y="4101525"/>
              <a:ext cx="1405232" cy="884775"/>
            </a:xfrm>
            <a:prstGeom prst="rect">
              <a:avLst/>
            </a:prstGeom>
          </p:spPr>
        </p:pic>
        <p:pic>
          <p:nvPicPr>
            <p:cNvPr id="42" name="Google Shape;440;p4" descr="A picture containing clock, drawing&#10;&#10;Description automatically generated">
              <a:extLst>
                <a:ext uri="{FF2B5EF4-FFF2-40B4-BE49-F238E27FC236}">
                  <a16:creationId xmlns:a16="http://schemas.microsoft.com/office/drawing/2014/main" id="{8164AE93-2790-4238-ADC0-85F9E8BDB590}"/>
                </a:ext>
              </a:extLst>
            </p:cNvPr>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2352160" y="2169069"/>
              <a:ext cx="885956" cy="306115"/>
            </a:xfrm>
            <a:prstGeom prst="rect">
              <a:avLst/>
            </a:prstGeom>
            <a:noFill/>
            <a:ln>
              <a:noFill/>
            </a:ln>
          </p:spPr>
        </p:pic>
        <p:pic>
          <p:nvPicPr>
            <p:cNvPr id="49" name="Google Shape;447;p4" descr="A picture containing table&#10;&#10;Description automatically generated">
              <a:extLst>
                <a:ext uri="{FF2B5EF4-FFF2-40B4-BE49-F238E27FC236}">
                  <a16:creationId xmlns:a16="http://schemas.microsoft.com/office/drawing/2014/main" id="{AF3BDF7F-E9E4-46F2-8EF4-3D03D58AAB3E}"/>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352160" y="4598014"/>
              <a:ext cx="1292500" cy="218126"/>
            </a:xfrm>
            <a:prstGeom prst="rect">
              <a:avLst/>
            </a:prstGeom>
            <a:noFill/>
            <a:ln>
              <a:noFill/>
            </a:ln>
          </p:spPr>
        </p:pic>
        <p:pic>
          <p:nvPicPr>
            <p:cNvPr id="60" name="Google Shape;454;p4" descr="A picture containing person&#10;&#10;Description automatically generated">
              <a:extLst>
                <a:ext uri="{FF2B5EF4-FFF2-40B4-BE49-F238E27FC236}">
                  <a16:creationId xmlns:a16="http://schemas.microsoft.com/office/drawing/2014/main" id="{B0351103-C454-42D5-B2F8-C3D0FC463FBD}"/>
                </a:ext>
              </a:extLst>
            </p:cNvPr>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955995" y="3376903"/>
              <a:ext cx="517784" cy="517784"/>
            </a:xfrm>
            <a:prstGeom prst="rect">
              <a:avLst/>
            </a:prstGeom>
            <a:noFill/>
            <a:ln>
              <a:noFill/>
            </a:ln>
          </p:spPr>
        </p:pic>
        <p:pic>
          <p:nvPicPr>
            <p:cNvPr id="61" name="Picture 60" descr="About Us | ORDRE">
              <a:extLst>
                <a:ext uri="{FF2B5EF4-FFF2-40B4-BE49-F238E27FC236}">
                  <a16:creationId xmlns:a16="http://schemas.microsoft.com/office/drawing/2014/main" id="{2070BE8F-F46E-4832-9455-7E4624D733C9}"/>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410493" y="5508879"/>
              <a:ext cx="1011588" cy="162577"/>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7" descr="Logo, company name&#10;&#10;Description automatically generated">
              <a:extLst>
                <a:ext uri="{FF2B5EF4-FFF2-40B4-BE49-F238E27FC236}">
                  <a16:creationId xmlns:a16="http://schemas.microsoft.com/office/drawing/2014/main" id="{FF4265CE-CE9F-4756-B5BE-52E279F3CFD4}"/>
                </a:ext>
              </a:extLst>
            </p:cNvPr>
            <p:cNvPicPr/>
            <p:nvPr/>
          </p:nvPicPr>
          <p:blipFill rotWithShape="1">
            <a:blip r:embed="rId8" cstate="email">
              <a:extLst>
                <a:ext uri="{28A0092B-C50C-407E-A947-70E740481C1C}">
                  <a14:useLocalDpi xmlns:a14="http://schemas.microsoft.com/office/drawing/2010/main"/>
                </a:ext>
              </a:extLst>
            </a:blip>
            <a:srcRect l="10956" r="10716"/>
            <a:stretch/>
          </p:blipFill>
          <p:spPr>
            <a:xfrm>
              <a:off x="2294937" y="2630987"/>
              <a:ext cx="1242700" cy="655380"/>
            </a:xfrm>
            <a:prstGeom prst="rect">
              <a:avLst/>
            </a:prstGeom>
            <a:ln w="0">
              <a:noFill/>
            </a:ln>
          </p:spPr>
        </p:pic>
        <p:pic>
          <p:nvPicPr>
            <p:cNvPr id="14" name="Picture 13" descr="A close-up of a logo&#10;&#10;Description automatically generated">
              <a:extLst>
                <a:ext uri="{FF2B5EF4-FFF2-40B4-BE49-F238E27FC236}">
                  <a16:creationId xmlns:a16="http://schemas.microsoft.com/office/drawing/2014/main" id="{2A3A0620-BEC5-074F-9B29-1820E27C9C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1099" y="1393958"/>
              <a:ext cx="1370525" cy="347200"/>
            </a:xfrm>
            <a:prstGeom prst="rect">
              <a:avLst/>
            </a:prstGeom>
          </p:spPr>
        </p:pic>
        <p:pic>
          <p:nvPicPr>
            <p:cNvPr id="16" name="Picture 15" descr="A logo with horses and a crown&#10;&#10;Description automatically generated">
              <a:extLst>
                <a:ext uri="{FF2B5EF4-FFF2-40B4-BE49-F238E27FC236}">
                  <a16:creationId xmlns:a16="http://schemas.microsoft.com/office/drawing/2014/main" id="{6B870C19-33B9-47F3-E8DC-C1E79D771C6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4864" y="5141382"/>
              <a:ext cx="824414" cy="781401"/>
            </a:xfrm>
            <a:prstGeom prst="rect">
              <a:avLst/>
            </a:prstGeom>
          </p:spPr>
        </p:pic>
        <p:pic>
          <p:nvPicPr>
            <p:cNvPr id="20" name="Picture 19" descr="A close-up of a logo&#10;&#10;Description automatically generated">
              <a:extLst>
                <a:ext uri="{FF2B5EF4-FFF2-40B4-BE49-F238E27FC236}">
                  <a16:creationId xmlns:a16="http://schemas.microsoft.com/office/drawing/2014/main" id="{426F23A5-50A3-66B3-2399-5E24B873C77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6439" y="2856060"/>
              <a:ext cx="1386367" cy="314005"/>
            </a:xfrm>
            <a:prstGeom prst="rect">
              <a:avLst/>
            </a:prstGeom>
          </p:spPr>
        </p:pic>
        <p:pic>
          <p:nvPicPr>
            <p:cNvPr id="22" name="Picture 21" descr="A green and yellow check mark&#10;&#10;Description automatically generated">
              <a:extLst>
                <a:ext uri="{FF2B5EF4-FFF2-40B4-BE49-F238E27FC236}">
                  <a16:creationId xmlns:a16="http://schemas.microsoft.com/office/drawing/2014/main" id="{8C8FD6AC-860A-CDEF-0E42-590A5046E1D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98812" y="1467629"/>
              <a:ext cx="1098752" cy="333935"/>
            </a:xfrm>
            <a:prstGeom prst="rect">
              <a:avLst/>
            </a:prstGeom>
          </p:spPr>
        </p:pic>
        <p:pic>
          <p:nvPicPr>
            <p:cNvPr id="26" name="Picture 25" descr="A blue and green logo&#10;&#10;Description automatically generated">
              <a:extLst>
                <a:ext uri="{FF2B5EF4-FFF2-40B4-BE49-F238E27FC236}">
                  <a16:creationId xmlns:a16="http://schemas.microsoft.com/office/drawing/2014/main" id="{0C0FD1CA-2A9E-279E-6C81-84162E95B5F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6439" y="2061145"/>
              <a:ext cx="1155317" cy="514477"/>
            </a:xfrm>
            <a:prstGeom prst="rect">
              <a:avLst/>
            </a:prstGeom>
          </p:spPr>
        </p:pic>
        <p:pic>
          <p:nvPicPr>
            <p:cNvPr id="28" name="Graphic 27">
              <a:extLst>
                <a:ext uri="{FF2B5EF4-FFF2-40B4-BE49-F238E27FC236}">
                  <a16:creationId xmlns:a16="http://schemas.microsoft.com/office/drawing/2014/main" id="{D1DBDDDA-1029-F767-9462-FD54F8D30C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23157" y="1641557"/>
              <a:ext cx="564823" cy="591818"/>
            </a:xfrm>
            <a:prstGeom prst="rect">
              <a:avLst/>
            </a:prstGeom>
          </p:spPr>
        </p:pic>
        <p:pic>
          <p:nvPicPr>
            <p:cNvPr id="30" name="Graphic 29">
              <a:extLst>
                <a:ext uri="{FF2B5EF4-FFF2-40B4-BE49-F238E27FC236}">
                  <a16:creationId xmlns:a16="http://schemas.microsoft.com/office/drawing/2014/main" id="{2BCB91A9-D763-0523-C285-63E94A0758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151663" y="3380946"/>
              <a:ext cx="507811" cy="509699"/>
            </a:xfrm>
            <a:prstGeom prst="rect">
              <a:avLst/>
            </a:prstGeom>
          </p:spPr>
        </p:pic>
        <p:pic>
          <p:nvPicPr>
            <p:cNvPr id="32" name="Graphic 31">
              <a:extLst>
                <a:ext uri="{FF2B5EF4-FFF2-40B4-BE49-F238E27FC236}">
                  <a16:creationId xmlns:a16="http://schemas.microsoft.com/office/drawing/2014/main" id="{05D9DCF8-44D9-0E9A-F4BE-B331895521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150719" y="5092904"/>
              <a:ext cx="509699" cy="509699"/>
            </a:xfrm>
            <a:prstGeom prst="rect">
              <a:avLst/>
            </a:prstGeom>
          </p:spPr>
        </p:pic>
      </p:grpSp>
      <p:sp>
        <p:nvSpPr>
          <p:cNvPr id="3" name="Rectangle 2">
            <a:extLst>
              <a:ext uri="{FF2B5EF4-FFF2-40B4-BE49-F238E27FC236}">
                <a16:creationId xmlns:a16="http://schemas.microsoft.com/office/drawing/2014/main" id="{FA690B03-71F0-01E5-D56E-7BCE91C6C455}"/>
              </a:ext>
            </a:extLst>
          </p:cNvPr>
          <p:cNvSpPr/>
          <p:nvPr/>
        </p:nvSpPr>
        <p:spPr>
          <a:xfrm>
            <a:off x="623888" y="1079292"/>
            <a:ext cx="3185689" cy="5126636"/>
          </a:xfrm>
          <a:prstGeom prst="rect">
            <a:avLst/>
          </a:prstGeom>
          <a:noFill/>
          <a:ln w="158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4" name="Rectangle 3">
            <a:extLst>
              <a:ext uri="{FF2B5EF4-FFF2-40B4-BE49-F238E27FC236}">
                <a16:creationId xmlns:a16="http://schemas.microsoft.com/office/drawing/2014/main" id="{A98B2E2D-1397-B985-6424-E3E1F84B5074}"/>
              </a:ext>
            </a:extLst>
          </p:cNvPr>
          <p:cNvSpPr/>
          <p:nvPr/>
        </p:nvSpPr>
        <p:spPr>
          <a:xfrm>
            <a:off x="3809577" y="1079292"/>
            <a:ext cx="7747812" cy="1716348"/>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Manrope" pitchFamily="2" charset="0"/>
            </a:endParaRPr>
          </a:p>
        </p:txBody>
      </p:sp>
      <p:sp>
        <p:nvSpPr>
          <p:cNvPr id="5" name="Rectangle 4">
            <a:extLst>
              <a:ext uri="{FF2B5EF4-FFF2-40B4-BE49-F238E27FC236}">
                <a16:creationId xmlns:a16="http://schemas.microsoft.com/office/drawing/2014/main" id="{A0059A45-EA57-5F47-8C60-399CC6F157B4}"/>
              </a:ext>
            </a:extLst>
          </p:cNvPr>
          <p:cNvSpPr/>
          <p:nvPr/>
        </p:nvSpPr>
        <p:spPr>
          <a:xfrm>
            <a:off x="3809577" y="2777621"/>
            <a:ext cx="7747812" cy="171634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6" name="Rectangle 5">
            <a:extLst>
              <a:ext uri="{FF2B5EF4-FFF2-40B4-BE49-F238E27FC236}">
                <a16:creationId xmlns:a16="http://schemas.microsoft.com/office/drawing/2014/main" id="{0B71F7C5-3839-CF52-ED5D-CBC75BA19E64}"/>
              </a:ext>
            </a:extLst>
          </p:cNvPr>
          <p:cNvSpPr/>
          <p:nvPr/>
        </p:nvSpPr>
        <p:spPr>
          <a:xfrm>
            <a:off x="3801702" y="4489579"/>
            <a:ext cx="7747812" cy="1716348"/>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7" name="Oval 6">
            <a:extLst>
              <a:ext uri="{FF2B5EF4-FFF2-40B4-BE49-F238E27FC236}">
                <a16:creationId xmlns:a16="http://schemas.microsoft.com/office/drawing/2014/main" id="{DCBD4D1B-8906-176E-B3A7-FD04F2B48D69}"/>
              </a:ext>
            </a:extLst>
          </p:cNvPr>
          <p:cNvSpPr>
            <a:spLocks noChangeAspect="1"/>
          </p:cNvSpPr>
          <p:nvPr/>
        </p:nvSpPr>
        <p:spPr>
          <a:xfrm>
            <a:off x="4013888" y="1545786"/>
            <a:ext cx="783361" cy="7833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8" name="TextBox 7">
            <a:extLst>
              <a:ext uri="{FF2B5EF4-FFF2-40B4-BE49-F238E27FC236}">
                <a16:creationId xmlns:a16="http://schemas.microsoft.com/office/drawing/2014/main" id="{B3306936-2768-7ADA-9B9D-354FCAEBADCE}"/>
              </a:ext>
            </a:extLst>
          </p:cNvPr>
          <p:cNvSpPr txBox="1"/>
          <p:nvPr/>
        </p:nvSpPr>
        <p:spPr>
          <a:xfrm>
            <a:off x="5033296" y="1722023"/>
            <a:ext cx="1692690" cy="430887"/>
          </a:xfrm>
          <a:prstGeom prst="rect">
            <a:avLst/>
          </a:prstGeom>
          <a:noFill/>
          <a:ln>
            <a:noFill/>
          </a:ln>
        </p:spPr>
        <p:txBody>
          <a:bodyPr wrap="square" lIns="0" tIns="0" rIns="0" bIns="0" rtlCol="0">
            <a:spAutoFit/>
          </a:bodyPr>
          <a:lstStyle/>
          <a:p>
            <a:pPr marL="5557" fontAlgn="ctr"/>
            <a:r>
              <a:rPr lang="en-US" sz="1400" b="1">
                <a:solidFill>
                  <a:schemeClr val="bg1"/>
                </a:solidFill>
                <a:latin typeface="Manrope" pitchFamily="2" charset="0"/>
                <a:cs typeface="Poppins" panose="00000500000000000000" pitchFamily="2" charset="0"/>
              </a:rPr>
              <a:t>Solutions</a:t>
            </a:r>
          </a:p>
          <a:p>
            <a:pPr marL="5557" fontAlgn="ctr"/>
            <a:r>
              <a:rPr lang="en-US" sz="1400" b="1">
                <a:solidFill>
                  <a:schemeClr val="bg1"/>
                </a:solidFill>
                <a:latin typeface="Manrope" pitchFamily="2" charset="0"/>
                <a:cs typeface="Poppins" panose="00000500000000000000" pitchFamily="2" charset="0"/>
                <a:sym typeface="Arial"/>
              </a:rPr>
              <a:t>Management</a:t>
            </a:r>
          </a:p>
        </p:txBody>
      </p:sp>
      <p:sp>
        <p:nvSpPr>
          <p:cNvPr id="10" name="TextBox 9">
            <a:extLst>
              <a:ext uri="{FF2B5EF4-FFF2-40B4-BE49-F238E27FC236}">
                <a16:creationId xmlns:a16="http://schemas.microsoft.com/office/drawing/2014/main" id="{DF67C1CC-7ACA-C273-0CFF-5A7C02666506}"/>
              </a:ext>
            </a:extLst>
          </p:cNvPr>
          <p:cNvSpPr txBox="1"/>
          <p:nvPr/>
        </p:nvSpPr>
        <p:spPr>
          <a:xfrm>
            <a:off x="6914981" y="1674398"/>
            <a:ext cx="4648923" cy="526136"/>
          </a:xfrm>
          <a:prstGeom prst="rect">
            <a:avLst/>
          </a:prstGeom>
          <a:noFill/>
        </p:spPr>
        <p:txBody>
          <a:bodyPr wrap="square" numCol="2">
            <a:spAutoFit/>
          </a:bodyPr>
          <a:lstStyle/>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Current State Assessment</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Optimal Solution Design</a:t>
            </a:r>
          </a:p>
          <a:p>
            <a:pPr marL="171450" indent="-171450">
              <a:spcBef>
                <a:spcPts val="300"/>
              </a:spcBef>
              <a:spcAft>
                <a:spcPts val="600"/>
              </a:spcAft>
              <a:buClr>
                <a:schemeClr val="bg1"/>
              </a:buClr>
              <a:buFont typeface="Arial" panose="020B0604020202020204" pitchFamily="34" charset="0"/>
              <a:buChar char="•"/>
            </a:pPr>
            <a:endParaRPr lang="en-US" sz="1100">
              <a:solidFill>
                <a:schemeClr val="bg1"/>
              </a:solidFill>
              <a:latin typeface="Manrope" pitchFamily="2" charset="0"/>
              <a:ea typeface="Gotham-Book" charset="0"/>
              <a:cs typeface="Poppins" panose="00000500000000000000" pitchFamily="2" charset="0"/>
            </a:endParaRP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Performance Gap Analysis</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New Solution Implementation</a:t>
            </a:r>
          </a:p>
        </p:txBody>
      </p:sp>
      <p:sp>
        <p:nvSpPr>
          <p:cNvPr id="51" name="Oval 50">
            <a:extLst>
              <a:ext uri="{FF2B5EF4-FFF2-40B4-BE49-F238E27FC236}">
                <a16:creationId xmlns:a16="http://schemas.microsoft.com/office/drawing/2014/main" id="{3E2E3C66-73CD-FF0D-055E-40E29F7C5849}"/>
              </a:ext>
            </a:extLst>
          </p:cNvPr>
          <p:cNvSpPr>
            <a:spLocks noChangeAspect="1"/>
          </p:cNvSpPr>
          <p:nvPr/>
        </p:nvSpPr>
        <p:spPr>
          <a:xfrm>
            <a:off x="4013888" y="3244115"/>
            <a:ext cx="783361" cy="7833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52" name="TextBox 51">
            <a:extLst>
              <a:ext uri="{FF2B5EF4-FFF2-40B4-BE49-F238E27FC236}">
                <a16:creationId xmlns:a16="http://schemas.microsoft.com/office/drawing/2014/main" id="{E0255857-107E-C2A9-C485-F2D781FACB38}"/>
              </a:ext>
            </a:extLst>
          </p:cNvPr>
          <p:cNvSpPr txBox="1"/>
          <p:nvPr/>
        </p:nvSpPr>
        <p:spPr>
          <a:xfrm>
            <a:off x="5033296" y="3420352"/>
            <a:ext cx="1692690" cy="430887"/>
          </a:xfrm>
          <a:prstGeom prst="rect">
            <a:avLst/>
          </a:prstGeom>
          <a:noFill/>
          <a:ln>
            <a:noFill/>
          </a:ln>
        </p:spPr>
        <p:txBody>
          <a:bodyPr wrap="square" lIns="0" tIns="0" rIns="0" bIns="0" rtlCol="0">
            <a:spAutoFit/>
          </a:bodyPr>
          <a:lstStyle/>
          <a:p>
            <a:pPr marL="5557" fontAlgn="ctr"/>
            <a:r>
              <a:rPr lang="en-US" sz="1400" b="1">
                <a:solidFill>
                  <a:schemeClr val="bg1"/>
                </a:solidFill>
                <a:latin typeface="Manrope" pitchFamily="2" charset="0"/>
                <a:cs typeface="Poppins" panose="00000500000000000000" pitchFamily="2" charset="0"/>
              </a:rPr>
              <a:t>Platform</a:t>
            </a:r>
          </a:p>
          <a:p>
            <a:pPr marL="5557" fontAlgn="ctr"/>
            <a:r>
              <a:rPr lang="en-US" sz="1400" b="1">
                <a:solidFill>
                  <a:schemeClr val="bg1"/>
                </a:solidFill>
                <a:latin typeface="Manrope" pitchFamily="2" charset="0"/>
                <a:cs typeface="Poppins" panose="00000500000000000000" pitchFamily="2" charset="0"/>
                <a:sym typeface="Arial"/>
              </a:rPr>
              <a:t>Activation</a:t>
            </a:r>
          </a:p>
        </p:txBody>
      </p:sp>
      <p:sp>
        <p:nvSpPr>
          <p:cNvPr id="54" name="TextBox 53">
            <a:extLst>
              <a:ext uri="{FF2B5EF4-FFF2-40B4-BE49-F238E27FC236}">
                <a16:creationId xmlns:a16="http://schemas.microsoft.com/office/drawing/2014/main" id="{1DF35018-8D6A-67FB-3A0F-4F8C3AE10789}"/>
              </a:ext>
            </a:extLst>
          </p:cNvPr>
          <p:cNvSpPr txBox="1"/>
          <p:nvPr/>
        </p:nvSpPr>
        <p:spPr>
          <a:xfrm>
            <a:off x="6914981" y="3218210"/>
            <a:ext cx="4642407" cy="835171"/>
          </a:xfrm>
          <a:prstGeom prst="rect">
            <a:avLst/>
          </a:prstGeom>
          <a:noFill/>
        </p:spPr>
        <p:txBody>
          <a:bodyPr wrap="square" numCol="2">
            <a:noAutofit/>
          </a:bodyPr>
          <a:lstStyle/>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Digital Marketing</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Digital Asset Management </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Campaign Management </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Analytics</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Personalization</a:t>
            </a:r>
          </a:p>
          <a:p>
            <a:pPr marL="171450" indent="-171450">
              <a:spcBef>
                <a:spcPts val="300"/>
              </a:spcBef>
              <a:spcAft>
                <a:spcPts val="600"/>
              </a:spcAft>
              <a:buClr>
                <a:schemeClr val="bg1"/>
              </a:buClr>
              <a:buFont typeface="Arial" panose="020B0604020202020204" pitchFamily="34" charset="0"/>
              <a:buChar char="•"/>
            </a:pPr>
            <a:r>
              <a:rPr lang="en-US" sz="1100">
                <a:solidFill>
                  <a:schemeClr val="bg1"/>
                </a:solidFill>
                <a:latin typeface="Manrope" pitchFamily="2" charset="0"/>
                <a:ea typeface="Gotham-Book" charset="0"/>
                <a:cs typeface="Poppins" panose="00000500000000000000" pitchFamily="2" charset="0"/>
              </a:rPr>
              <a:t>Leverage the Product AI/ML</a:t>
            </a:r>
          </a:p>
        </p:txBody>
      </p:sp>
      <p:sp>
        <p:nvSpPr>
          <p:cNvPr id="55" name="Oval 54">
            <a:extLst>
              <a:ext uri="{FF2B5EF4-FFF2-40B4-BE49-F238E27FC236}">
                <a16:creationId xmlns:a16="http://schemas.microsoft.com/office/drawing/2014/main" id="{7E694360-2202-31F8-205D-3D085629EF52}"/>
              </a:ext>
            </a:extLst>
          </p:cNvPr>
          <p:cNvSpPr>
            <a:spLocks noChangeAspect="1"/>
          </p:cNvSpPr>
          <p:nvPr/>
        </p:nvSpPr>
        <p:spPr>
          <a:xfrm>
            <a:off x="4013888" y="4956073"/>
            <a:ext cx="783361" cy="7833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56" name="TextBox 55">
            <a:extLst>
              <a:ext uri="{FF2B5EF4-FFF2-40B4-BE49-F238E27FC236}">
                <a16:creationId xmlns:a16="http://schemas.microsoft.com/office/drawing/2014/main" id="{FBD776D8-9B0F-C98E-C080-1CBB613BED19}"/>
              </a:ext>
            </a:extLst>
          </p:cNvPr>
          <p:cNvSpPr txBox="1"/>
          <p:nvPr/>
        </p:nvSpPr>
        <p:spPr>
          <a:xfrm>
            <a:off x="5033296" y="5132310"/>
            <a:ext cx="1692690" cy="430887"/>
          </a:xfrm>
          <a:prstGeom prst="rect">
            <a:avLst/>
          </a:prstGeom>
          <a:noFill/>
          <a:ln>
            <a:noFill/>
          </a:ln>
        </p:spPr>
        <p:txBody>
          <a:bodyPr wrap="square" lIns="0" tIns="0" rIns="0" bIns="0" rtlCol="0">
            <a:spAutoFit/>
          </a:bodyPr>
          <a:lstStyle/>
          <a:p>
            <a:pPr marL="5557" fontAlgn="ctr">
              <a:buClr>
                <a:schemeClr val="bg1"/>
              </a:buClr>
            </a:pPr>
            <a:r>
              <a:rPr lang="en-US" sz="1400" b="1">
                <a:solidFill>
                  <a:schemeClr val="bg1"/>
                </a:solidFill>
                <a:latin typeface="Manrope" pitchFamily="2" charset="0"/>
                <a:cs typeface="Poppins" panose="00000500000000000000" pitchFamily="2" charset="0"/>
              </a:rPr>
              <a:t>Marketing</a:t>
            </a:r>
            <a:br>
              <a:rPr lang="en-US" sz="1400" b="1">
                <a:solidFill>
                  <a:schemeClr val="bg1"/>
                </a:solidFill>
                <a:latin typeface="Manrope" pitchFamily="2" charset="0"/>
                <a:cs typeface="Poppins" panose="00000500000000000000" pitchFamily="2" charset="0"/>
              </a:rPr>
            </a:br>
            <a:r>
              <a:rPr lang="en-US" sz="1400" b="1">
                <a:solidFill>
                  <a:schemeClr val="bg1"/>
                </a:solidFill>
                <a:latin typeface="Manrope" pitchFamily="2" charset="0"/>
                <a:cs typeface="Poppins" panose="00000500000000000000" pitchFamily="2" charset="0"/>
              </a:rPr>
              <a:t>Activation</a:t>
            </a:r>
            <a:endParaRPr lang="en-US" sz="1400" b="1">
              <a:solidFill>
                <a:schemeClr val="bg1"/>
              </a:solidFill>
              <a:latin typeface="Manrope" pitchFamily="2" charset="0"/>
              <a:cs typeface="Poppins" panose="00000500000000000000" pitchFamily="2" charset="0"/>
              <a:sym typeface="Arial"/>
            </a:endParaRPr>
          </a:p>
        </p:txBody>
      </p:sp>
      <p:sp>
        <p:nvSpPr>
          <p:cNvPr id="58" name="TextBox 57">
            <a:extLst>
              <a:ext uri="{FF2B5EF4-FFF2-40B4-BE49-F238E27FC236}">
                <a16:creationId xmlns:a16="http://schemas.microsoft.com/office/drawing/2014/main" id="{E8959ACE-3EE9-4A5E-2149-B9E8765AA02C}"/>
              </a:ext>
            </a:extLst>
          </p:cNvPr>
          <p:cNvSpPr txBox="1"/>
          <p:nvPr/>
        </p:nvSpPr>
        <p:spPr>
          <a:xfrm>
            <a:off x="6914981" y="5095754"/>
            <a:ext cx="4740707" cy="503998"/>
          </a:xfrm>
          <a:prstGeom prst="rect">
            <a:avLst/>
          </a:prstGeom>
          <a:noFill/>
        </p:spPr>
        <p:txBody>
          <a:bodyPr wrap="square" numCol="2">
            <a:noAutofit/>
          </a:bodyPr>
          <a:lstStyle/>
          <a:p>
            <a:pPr marL="171450" indent="-171450">
              <a:spcBef>
                <a:spcPts val="300"/>
              </a:spcBef>
              <a:spcAft>
                <a:spcPts val="600"/>
              </a:spcAft>
              <a:buClr>
                <a:schemeClr val="bg1"/>
              </a:buClr>
              <a:buFont typeface="Arial" charset="0"/>
              <a:buChar char="•"/>
            </a:pPr>
            <a:r>
              <a:rPr lang="en-US" sz="1100">
                <a:solidFill>
                  <a:schemeClr val="bg1"/>
                </a:solidFill>
                <a:latin typeface="Manrope" pitchFamily="2" charset="0"/>
                <a:ea typeface="Gotham-Book" charset="0"/>
                <a:cs typeface="Poppins" panose="00000500000000000000" pitchFamily="2" charset="0"/>
              </a:rPr>
              <a:t>Audience Planning</a:t>
            </a:r>
          </a:p>
          <a:p>
            <a:pPr marL="171450" indent="-171450">
              <a:spcBef>
                <a:spcPts val="300"/>
              </a:spcBef>
              <a:spcAft>
                <a:spcPts val="600"/>
              </a:spcAft>
              <a:buClr>
                <a:schemeClr val="bg1"/>
              </a:buClr>
              <a:buFont typeface="Arial" charset="0"/>
              <a:buChar char="•"/>
            </a:pPr>
            <a:r>
              <a:rPr lang="en-US" sz="1100">
                <a:solidFill>
                  <a:schemeClr val="bg1"/>
                </a:solidFill>
                <a:latin typeface="Manrope" pitchFamily="2" charset="0"/>
                <a:ea typeface="Gotham-Book" charset="0"/>
                <a:cs typeface="Poppins" panose="00000500000000000000" pitchFamily="2" charset="0"/>
              </a:rPr>
              <a:t>Content &amp; Creative </a:t>
            </a:r>
          </a:p>
          <a:p>
            <a:pPr marL="171450" indent="-171450">
              <a:spcBef>
                <a:spcPts val="300"/>
              </a:spcBef>
              <a:spcAft>
                <a:spcPts val="600"/>
              </a:spcAft>
              <a:buClr>
                <a:schemeClr val="bg1"/>
              </a:buClr>
              <a:buFont typeface="Arial" charset="0"/>
              <a:buChar char="•"/>
            </a:pPr>
            <a:r>
              <a:rPr lang="en-US" sz="1100">
                <a:solidFill>
                  <a:schemeClr val="bg1"/>
                </a:solidFill>
                <a:latin typeface="Manrope" pitchFamily="2" charset="0"/>
                <a:ea typeface="Gotham-Book" charset="0"/>
                <a:cs typeface="Poppins" panose="00000500000000000000" pitchFamily="2" charset="0"/>
              </a:rPr>
              <a:t>Marketing Platform Operations</a:t>
            </a:r>
          </a:p>
          <a:p>
            <a:pPr marL="171450" indent="-171450">
              <a:spcBef>
                <a:spcPts val="300"/>
              </a:spcBef>
              <a:spcAft>
                <a:spcPts val="600"/>
              </a:spcAft>
              <a:buClr>
                <a:schemeClr val="bg1"/>
              </a:buClr>
              <a:buFont typeface="Arial" charset="0"/>
              <a:buChar char="•"/>
            </a:pPr>
            <a:r>
              <a:rPr lang="en-US" sz="1100">
                <a:solidFill>
                  <a:schemeClr val="bg1"/>
                </a:solidFill>
                <a:latin typeface="Manrope" pitchFamily="2" charset="0"/>
                <a:ea typeface="Gotham-Book" charset="0"/>
                <a:cs typeface="Poppins" panose="00000500000000000000" pitchFamily="2" charset="0"/>
              </a:rPr>
              <a:t>Program Optimization</a:t>
            </a:r>
          </a:p>
        </p:txBody>
      </p:sp>
      <p:sp>
        <p:nvSpPr>
          <p:cNvPr id="2" name="Text Placeholder 1">
            <a:extLst>
              <a:ext uri="{FF2B5EF4-FFF2-40B4-BE49-F238E27FC236}">
                <a16:creationId xmlns:a16="http://schemas.microsoft.com/office/drawing/2014/main" id="{D9424434-D6A6-E44E-4F7B-46906055B10A}"/>
              </a:ext>
            </a:extLst>
          </p:cNvPr>
          <p:cNvSpPr>
            <a:spLocks noGrp="1"/>
          </p:cNvSpPr>
          <p:nvPr>
            <p:ph type="body" sz="quarter" idx="15"/>
          </p:nvPr>
        </p:nvSpPr>
        <p:spPr>
          <a:xfrm flipH="1">
            <a:off x="623888" y="457200"/>
            <a:ext cx="8172450" cy="244101"/>
          </a:xfrm>
        </p:spPr>
        <p:txBody>
          <a:bodyPr/>
          <a:lstStyle/>
          <a:p>
            <a:r>
              <a:rPr lang="en-US">
                <a:latin typeface="Manrope" pitchFamily="2" charset="0"/>
              </a:rPr>
              <a:t>Our Solution Offering</a:t>
            </a:r>
          </a:p>
        </p:txBody>
      </p:sp>
      <p:pic>
        <p:nvPicPr>
          <p:cNvPr id="35" name="Graphic 34">
            <a:extLst>
              <a:ext uri="{FF2B5EF4-FFF2-40B4-BE49-F238E27FC236}">
                <a16:creationId xmlns:a16="http://schemas.microsoft.com/office/drawing/2014/main" id="{913AF6CE-F557-A8A8-C60D-F0CA67BBCD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109055" y="1641987"/>
            <a:ext cx="595969" cy="593895"/>
          </a:xfrm>
          <a:prstGeom prst="rect">
            <a:avLst/>
          </a:prstGeom>
        </p:spPr>
      </p:pic>
      <p:pic>
        <p:nvPicPr>
          <p:cNvPr id="37" name="Graphic 36">
            <a:extLst>
              <a:ext uri="{FF2B5EF4-FFF2-40B4-BE49-F238E27FC236}">
                <a16:creationId xmlns:a16="http://schemas.microsoft.com/office/drawing/2014/main" id="{FC909060-9A48-37F7-AA75-ECF7FB57D9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66055" y="3297395"/>
            <a:ext cx="481968" cy="596177"/>
          </a:xfrm>
          <a:prstGeom prst="rect">
            <a:avLst/>
          </a:prstGeom>
        </p:spPr>
      </p:pic>
      <p:pic>
        <p:nvPicPr>
          <p:cNvPr id="39" name="Graphic 38">
            <a:extLst>
              <a:ext uri="{FF2B5EF4-FFF2-40B4-BE49-F238E27FC236}">
                <a16:creationId xmlns:a16="http://schemas.microsoft.com/office/drawing/2014/main" id="{1BA4D542-B657-2C34-6371-A6A79D7AB8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153134" y="5075960"/>
            <a:ext cx="507811" cy="483269"/>
          </a:xfrm>
          <a:prstGeom prst="rect">
            <a:avLst/>
          </a:prstGeom>
        </p:spPr>
      </p:pic>
      <p:pic>
        <p:nvPicPr>
          <p:cNvPr id="9" name="Picture 4">
            <a:extLst>
              <a:ext uri="{FF2B5EF4-FFF2-40B4-BE49-F238E27FC236}">
                <a16:creationId xmlns:a16="http://schemas.microsoft.com/office/drawing/2014/main" id="{7A8986AB-7EC1-B5D8-61E3-B8D8E97CBFB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49145" y="3540542"/>
            <a:ext cx="764780" cy="486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388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69A29-DE9B-DB09-FBAA-3EA4958FBC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AC41D80-4AC3-8C1D-DE0D-A8CAFB6052E5}"/>
              </a:ext>
            </a:extLst>
          </p:cNvPr>
          <p:cNvSpPr>
            <a:spLocks noGrp="1"/>
          </p:cNvSpPr>
          <p:nvPr>
            <p:ph type="body" sz="quarter" idx="15"/>
          </p:nvPr>
        </p:nvSpPr>
        <p:spPr>
          <a:xfrm flipH="1">
            <a:off x="623888" y="457200"/>
            <a:ext cx="8172450" cy="244101"/>
          </a:xfrm>
        </p:spPr>
        <p:txBody>
          <a:bodyPr/>
          <a:lstStyle/>
          <a:p>
            <a:r>
              <a:rPr lang="en-US"/>
              <a:t>Our Service Offerings</a:t>
            </a:r>
          </a:p>
        </p:txBody>
      </p:sp>
      <p:pic>
        <p:nvPicPr>
          <p:cNvPr id="21" name="Picture 20">
            <a:extLst>
              <a:ext uri="{FF2B5EF4-FFF2-40B4-BE49-F238E27FC236}">
                <a16:creationId xmlns:a16="http://schemas.microsoft.com/office/drawing/2014/main" id="{87937763-B6DC-9902-005F-AAD2690249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2013" y="1124489"/>
            <a:ext cx="11015854" cy="4456181"/>
          </a:xfrm>
          <a:prstGeom prst="rect">
            <a:avLst/>
          </a:prstGeom>
        </p:spPr>
      </p:pic>
      <p:pic>
        <p:nvPicPr>
          <p:cNvPr id="25" name="Graphic 31">
            <a:extLst>
              <a:ext uri="{FF2B5EF4-FFF2-40B4-BE49-F238E27FC236}">
                <a16:creationId xmlns:a16="http://schemas.microsoft.com/office/drawing/2014/main" id="{0E690A42-3D67-18EF-C05D-0677F367543B}"/>
              </a:ext>
            </a:extLst>
          </p:cNvPr>
          <p:cNvPicPr>
            <a:picLocks noChangeAspect="1"/>
          </p:cNvPicPr>
          <p:nvPr/>
        </p:nvPicPr>
        <p:blipFill>
          <a:blip r:embed="rId4" cstate="screen">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9462487" y="1507751"/>
            <a:ext cx="460471" cy="460471"/>
          </a:xfrm>
          <a:prstGeom prst="rect">
            <a:avLst/>
          </a:prstGeom>
        </p:spPr>
      </p:pic>
      <p:sp>
        <p:nvSpPr>
          <p:cNvPr id="27" name="TextBox 57">
            <a:extLst>
              <a:ext uri="{FF2B5EF4-FFF2-40B4-BE49-F238E27FC236}">
                <a16:creationId xmlns:a16="http://schemas.microsoft.com/office/drawing/2014/main" id="{16009EB6-56C3-124A-A77F-4F0438D92C42}"/>
              </a:ext>
            </a:extLst>
          </p:cNvPr>
          <p:cNvSpPr txBox="1"/>
          <p:nvPr/>
        </p:nvSpPr>
        <p:spPr>
          <a:xfrm>
            <a:off x="885209" y="2276360"/>
            <a:ext cx="2256385" cy="215444"/>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a:latin typeface="Manrope" pitchFamily="2" charset="0"/>
                <a:cs typeface="Poppins" pitchFamily="2" charset="77"/>
              </a:rPr>
              <a:t>Strategic Consulting</a:t>
            </a:r>
          </a:p>
        </p:txBody>
      </p:sp>
      <p:sp>
        <p:nvSpPr>
          <p:cNvPr id="28" name="TextBox 79">
            <a:extLst>
              <a:ext uri="{FF2B5EF4-FFF2-40B4-BE49-F238E27FC236}">
                <a16:creationId xmlns:a16="http://schemas.microsoft.com/office/drawing/2014/main" id="{238FE941-B28E-6205-CCEC-ACCCEA860196}"/>
              </a:ext>
            </a:extLst>
          </p:cNvPr>
          <p:cNvSpPr txBox="1"/>
          <p:nvPr/>
        </p:nvSpPr>
        <p:spPr>
          <a:xfrm>
            <a:off x="885209" y="2755232"/>
            <a:ext cx="1921476" cy="1974900"/>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Design thinking workshop</a:t>
            </a:r>
            <a:endParaRPr lang="en-US" sz="1000">
              <a:latin typeface="Manrope" pitchFamily="2" charset="0"/>
            </a:endParaRP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Strategy audits, benchmarking, and proofing​</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Comprehensive assessment of the current ecosystem</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Define omnichannel strategy​</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Perform gap analysis to determine changes required to move from the current state to the optimal state</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Assessments and roadmap development</a:t>
            </a:r>
          </a:p>
        </p:txBody>
      </p:sp>
      <p:sp>
        <p:nvSpPr>
          <p:cNvPr id="29" name="TextBox 57">
            <a:extLst>
              <a:ext uri="{FF2B5EF4-FFF2-40B4-BE49-F238E27FC236}">
                <a16:creationId xmlns:a16="http://schemas.microsoft.com/office/drawing/2014/main" id="{479F1DEB-62A6-F174-6352-210C9D70D6D8}"/>
              </a:ext>
            </a:extLst>
          </p:cNvPr>
          <p:cNvSpPr txBox="1"/>
          <p:nvPr/>
        </p:nvSpPr>
        <p:spPr>
          <a:xfrm>
            <a:off x="3737500" y="2153249"/>
            <a:ext cx="1627122" cy="43088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a:latin typeface="Manrope" pitchFamily="2" charset="0"/>
                <a:cs typeface="Poppins" pitchFamily="2" charset="77"/>
              </a:rPr>
              <a:t>Seamless Experience Design</a:t>
            </a:r>
          </a:p>
        </p:txBody>
      </p:sp>
      <p:sp>
        <p:nvSpPr>
          <p:cNvPr id="30" name="TextBox 79">
            <a:extLst>
              <a:ext uri="{FF2B5EF4-FFF2-40B4-BE49-F238E27FC236}">
                <a16:creationId xmlns:a16="http://schemas.microsoft.com/office/drawing/2014/main" id="{9E17871A-C117-1364-5FB5-1E348BAE9B94}"/>
              </a:ext>
            </a:extLst>
          </p:cNvPr>
          <p:cNvSpPr txBox="1"/>
          <p:nvPr/>
        </p:nvSpPr>
        <p:spPr>
          <a:xfrm>
            <a:off x="3737500" y="2755232"/>
            <a:ext cx="1921476" cy="1384995"/>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Unified  human-centric design​</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Persona development​</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Customer journeys​ mapping</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Redesigning and UX revamp</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Prototype development</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Design prototype</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Define brand guidelines</a:t>
            </a:r>
          </a:p>
        </p:txBody>
      </p:sp>
      <p:sp>
        <p:nvSpPr>
          <p:cNvPr id="31" name="TextBox 57">
            <a:extLst>
              <a:ext uri="{FF2B5EF4-FFF2-40B4-BE49-F238E27FC236}">
                <a16:creationId xmlns:a16="http://schemas.microsoft.com/office/drawing/2014/main" id="{FB8CD756-5192-C7D3-49DC-82E5BE6D516D}"/>
              </a:ext>
            </a:extLst>
          </p:cNvPr>
          <p:cNvSpPr txBox="1"/>
          <p:nvPr/>
        </p:nvSpPr>
        <p:spPr>
          <a:xfrm>
            <a:off x="6582042" y="2153249"/>
            <a:ext cx="2256385" cy="43088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a:latin typeface="Manrope" pitchFamily="2" charset="0"/>
                <a:cs typeface="Poppins" pitchFamily="2" charset="77"/>
              </a:rPr>
              <a:t>Engineering</a:t>
            </a:r>
          </a:p>
          <a:p>
            <a:pPr defTabSz="457200">
              <a:defRPr/>
            </a:pPr>
            <a:r>
              <a:rPr lang="en-US" sz="1400" b="1">
                <a:latin typeface="Manrope" pitchFamily="2" charset="0"/>
                <a:cs typeface="Poppins" pitchFamily="2" charset="77"/>
              </a:rPr>
              <a:t>Transformation</a:t>
            </a:r>
          </a:p>
        </p:txBody>
      </p:sp>
      <p:sp>
        <p:nvSpPr>
          <p:cNvPr id="32" name="TextBox 79">
            <a:extLst>
              <a:ext uri="{FF2B5EF4-FFF2-40B4-BE49-F238E27FC236}">
                <a16:creationId xmlns:a16="http://schemas.microsoft.com/office/drawing/2014/main" id="{14AAADF2-F904-F2C5-9DA1-89997EB6F283}"/>
              </a:ext>
            </a:extLst>
          </p:cNvPr>
          <p:cNvSpPr txBox="1"/>
          <p:nvPr/>
        </p:nvSpPr>
        <p:spPr>
          <a:xfrm>
            <a:off x="6582042" y="2755232"/>
            <a:ext cx="1921476" cy="2359620"/>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Digital marketing and content platform​ activation</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Integrations with various systems &amp; 3rd parties</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Digital asset management</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Data platforms and analytics​</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Personalization</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Platform enablement</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Augmenting Experience through AR/VR​</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Custom development and systems integration​</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Cloud technology migration &amp; managed support</a:t>
            </a:r>
          </a:p>
        </p:txBody>
      </p:sp>
      <p:sp>
        <p:nvSpPr>
          <p:cNvPr id="33" name="TextBox 57">
            <a:extLst>
              <a:ext uri="{FF2B5EF4-FFF2-40B4-BE49-F238E27FC236}">
                <a16:creationId xmlns:a16="http://schemas.microsoft.com/office/drawing/2014/main" id="{321C4F5D-6D0E-F848-072D-66AC75024C01}"/>
              </a:ext>
            </a:extLst>
          </p:cNvPr>
          <p:cNvSpPr txBox="1"/>
          <p:nvPr/>
        </p:nvSpPr>
        <p:spPr>
          <a:xfrm>
            <a:off x="9426584" y="2153249"/>
            <a:ext cx="1921476" cy="43088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a:latin typeface="Manrope" pitchFamily="2" charset="0"/>
                <a:cs typeface="Poppins" pitchFamily="2" charset="77"/>
              </a:rPr>
              <a:t>Continuous Experience Delivery</a:t>
            </a:r>
          </a:p>
        </p:txBody>
      </p:sp>
      <p:sp>
        <p:nvSpPr>
          <p:cNvPr id="34" name="TextBox 79">
            <a:extLst>
              <a:ext uri="{FF2B5EF4-FFF2-40B4-BE49-F238E27FC236}">
                <a16:creationId xmlns:a16="http://schemas.microsoft.com/office/drawing/2014/main" id="{A44C484D-728C-477A-F85C-706976B58148}"/>
              </a:ext>
            </a:extLst>
          </p:cNvPr>
          <p:cNvSpPr txBox="1"/>
          <p:nvPr/>
        </p:nvSpPr>
        <p:spPr>
          <a:xfrm>
            <a:off x="9426584" y="2755232"/>
            <a:ext cx="2014302" cy="166712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Platform optimization &amp; management​</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content and creative production ​</a:t>
            </a:r>
          </a:p>
          <a:p>
            <a:pPr marL="171450" indent="-171450">
              <a:spcAft>
                <a:spcPts val="300"/>
              </a:spcAft>
              <a:buClr>
                <a:schemeClr val="accent1"/>
              </a:buClr>
              <a:buFont typeface="Arial" panose="020B0604020202020204" pitchFamily="34" charset="0"/>
              <a:buChar char="•"/>
            </a:pPr>
            <a:r>
              <a:rPr lang="en-US" sz="1000">
                <a:latin typeface="Manrope" pitchFamily="2" charset="0"/>
                <a:cs typeface="Poppins"/>
              </a:rPr>
              <a:t>Microsite, </a:t>
            </a:r>
            <a:r>
              <a:rPr lang="en-US" sz="1000" err="1">
                <a:latin typeface="Manrope" pitchFamily="2" charset="0"/>
                <a:cs typeface="Poppins"/>
              </a:rPr>
              <a:t>martech</a:t>
            </a:r>
            <a:r>
              <a:rPr lang="en-US" sz="1000">
                <a:latin typeface="Manrope" pitchFamily="2" charset="0"/>
                <a:cs typeface="Poppins"/>
              </a:rPr>
              <a:t> Campaigns and social ​</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Email campaigns through CRM ​</a:t>
            </a:r>
          </a:p>
          <a:p>
            <a:pPr marL="171450" indent="-171450">
              <a:spcBef>
                <a:spcPts val="100"/>
              </a:spcBef>
              <a:spcAft>
                <a:spcPts val="100"/>
              </a:spcAft>
              <a:buClr>
                <a:schemeClr val="accent1"/>
              </a:buClr>
              <a:buFont typeface="Arial" panose="020B0604020202020204" pitchFamily="34" charset="0"/>
              <a:buChar char="•"/>
            </a:pPr>
            <a:r>
              <a:rPr lang="en-US" sz="1000">
                <a:latin typeface="Manrope" pitchFamily="2" charset="0"/>
                <a:cs typeface="Poppins"/>
              </a:rPr>
              <a:t>Marketing analytics and measurement services</a:t>
            </a:r>
          </a:p>
          <a:p>
            <a:pPr marL="171450" indent="-171450">
              <a:spcAft>
                <a:spcPts val="300"/>
              </a:spcAft>
              <a:buClr>
                <a:schemeClr val="accent1"/>
              </a:buClr>
              <a:buFont typeface="Arial" panose="020B0604020202020204" pitchFamily="34" charset="0"/>
              <a:buChar char="•"/>
            </a:pPr>
            <a:endParaRPr lang="en-US" sz="1000">
              <a:latin typeface="Manrope" pitchFamily="2" charset="0"/>
              <a:cs typeface="Poppins"/>
            </a:endParaRPr>
          </a:p>
        </p:txBody>
      </p:sp>
      <p:pic>
        <p:nvPicPr>
          <p:cNvPr id="4" name="Graphic 3">
            <a:extLst>
              <a:ext uri="{FF2B5EF4-FFF2-40B4-BE49-F238E27FC236}">
                <a16:creationId xmlns:a16="http://schemas.microsoft.com/office/drawing/2014/main" id="{CF9F2260-E03C-0828-19D9-05B940E46C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209" y="1455091"/>
            <a:ext cx="525146" cy="513131"/>
          </a:xfrm>
          <a:prstGeom prst="rect">
            <a:avLst/>
          </a:prstGeom>
        </p:spPr>
      </p:pic>
      <p:pic>
        <p:nvPicPr>
          <p:cNvPr id="6" name="Graphic 5">
            <a:extLst>
              <a:ext uri="{FF2B5EF4-FFF2-40B4-BE49-F238E27FC236}">
                <a16:creationId xmlns:a16="http://schemas.microsoft.com/office/drawing/2014/main" id="{759276CA-5972-8B6D-2E93-7DC99A9101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37500" y="1487954"/>
            <a:ext cx="541790" cy="447403"/>
          </a:xfrm>
          <a:prstGeom prst="rect">
            <a:avLst/>
          </a:prstGeom>
        </p:spPr>
      </p:pic>
      <p:pic>
        <p:nvPicPr>
          <p:cNvPr id="8" name="Graphic 7">
            <a:extLst>
              <a:ext uri="{FF2B5EF4-FFF2-40B4-BE49-F238E27FC236}">
                <a16:creationId xmlns:a16="http://schemas.microsoft.com/office/drawing/2014/main" id="{6D66A72E-E9F8-EF31-5256-CB7A7F9F27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93552" y="1485227"/>
            <a:ext cx="522914" cy="490823"/>
          </a:xfrm>
          <a:prstGeom prst="rect">
            <a:avLst/>
          </a:prstGeom>
        </p:spPr>
      </p:pic>
    </p:spTree>
    <p:extLst>
      <p:ext uri="{BB962C8B-B14F-4D97-AF65-F5344CB8AC3E}">
        <p14:creationId xmlns:p14="http://schemas.microsoft.com/office/powerpoint/2010/main" val="3392174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5E8E-02DD-A9BC-C3D3-D2DB6231E68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62B2701-E703-2467-20FC-97DFC54AD963}"/>
              </a:ext>
            </a:extLst>
          </p:cNvPr>
          <p:cNvPicPr>
            <a:picLocks noChangeAspect="1"/>
          </p:cNvPicPr>
          <p:nvPr/>
        </p:nvPicPr>
        <p:blipFill>
          <a:blip r:embed="rId2">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pic>
        <p:nvPicPr>
          <p:cNvPr id="7" name="Picture Placeholder 6" descr="A wireframe of a running person&#10;&#10;AI-generated content may be incorrect.">
            <a:extLst>
              <a:ext uri="{FF2B5EF4-FFF2-40B4-BE49-F238E27FC236}">
                <a16:creationId xmlns:a16="http://schemas.microsoft.com/office/drawing/2014/main" id="{30EEC313-59FA-9C06-D7D2-27F7058539A7}"/>
              </a:ext>
            </a:extLst>
          </p:cNvPr>
          <p:cNvPicPr>
            <a:picLocks noGrp="1" noChangeAspect="1"/>
          </p:cNvPicPr>
          <p:nvPr>
            <p:ph type="pic" sz="quarter" idx="16"/>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t="781" b="781"/>
          <a:stretch>
            <a:fillRect/>
          </a:stretch>
        </p:blipFill>
        <p:spPr>
          <a:xfrm>
            <a:off x="0" y="0"/>
            <a:ext cx="12192000" cy="6858000"/>
          </a:xfrm>
        </p:spPr>
      </p:pic>
      <p:sp>
        <p:nvSpPr>
          <p:cNvPr id="8" name="Title 7">
            <a:extLst>
              <a:ext uri="{FF2B5EF4-FFF2-40B4-BE49-F238E27FC236}">
                <a16:creationId xmlns:a16="http://schemas.microsoft.com/office/drawing/2014/main" id="{AE8C771F-AA97-3D02-5435-0F0BCA07EBF2}"/>
              </a:ext>
            </a:extLst>
          </p:cNvPr>
          <p:cNvSpPr>
            <a:spLocks noGrp="1"/>
          </p:cNvSpPr>
          <p:nvPr>
            <p:ph type="title"/>
          </p:nvPr>
        </p:nvSpPr>
        <p:spPr>
          <a:xfrm>
            <a:off x="6711693" y="3428999"/>
            <a:ext cx="5252930" cy="623248"/>
          </a:xfrm>
        </p:spPr>
        <p:txBody>
          <a:bodyPr/>
          <a:lstStyle/>
          <a:p>
            <a:r>
              <a:rPr lang="en-US"/>
              <a:t>AI Accelerators</a:t>
            </a:r>
          </a:p>
        </p:txBody>
      </p:sp>
    </p:spTree>
    <p:extLst>
      <p:ext uri="{BB962C8B-B14F-4D97-AF65-F5344CB8AC3E}">
        <p14:creationId xmlns:p14="http://schemas.microsoft.com/office/powerpoint/2010/main" val="3887354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4"/>
          <p:cNvGrpSpPr/>
          <p:nvPr/>
        </p:nvGrpSpPr>
        <p:grpSpPr>
          <a:xfrm>
            <a:off x="0" y="0"/>
            <a:ext cx="4800600" cy="6858000"/>
            <a:chOff x="0" y="0"/>
            <a:chExt cx="9601200" cy="13716000"/>
          </a:xfrm>
        </p:grpSpPr>
        <p:sp>
          <p:nvSpPr>
            <p:cNvPr id="35" name="Freeform 35" descr="preencoded.png"/>
            <p:cNvSpPr/>
            <p:nvPr/>
          </p:nvSpPr>
          <p:spPr>
            <a:xfrm>
              <a:off x="0" y="0"/>
              <a:ext cx="9601200" cy="13716000"/>
            </a:xfrm>
            <a:custGeom>
              <a:avLst/>
              <a:gdLst/>
              <a:ahLst/>
              <a:cxnLst/>
              <a:rect l="l" t="t" r="r" b="b"/>
              <a:pathLst>
                <a:path w="9601200" h="13716000">
                  <a:moveTo>
                    <a:pt x="0" y="0"/>
                  </a:moveTo>
                  <a:lnTo>
                    <a:pt x="9601200" y="0"/>
                  </a:lnTo>
                  <a:lnTo>
                    <a:pt x="9601200" y="13716000"/>
                  </a:lnTo>
                  <a:lnTo>
                    <a:pt x="0" y="13716000"/>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sp>
        <p:nvSpPr>
          <p:cNvPr id="2" name="TextBox 2"/>
          <p:cNvSpPr txBox="1"/>
          <p:nvPr/>
        </p:nvSpPr>
        <p:spPr>
          <a:xfrm>
            <a:off x="5233492" y="652264"/>
            <a:ext cx="6296976" cy="244101"/>
          </a:xfrm>
          <a:prstGeom prst="rect">
            <a:avLst/>
          </a:prstGeom>
        </p:spPr>
        <p:txBody>
          <a:bodyPr wrap="square" lIns="0" tIns="36000" rIns="0" bIns="0" anchor="t" anchorCtr="0">
            <a:spAutoFit/>
          </a:bodyPr>
          <a:lstStyle>
            <a:defPPr>
              <a:defRPr lang="en-US"/>
            </a:defPPr>
            <a:lvl1pPr indent="0">
              <a:lnSpc>
                <a:spcPct val="90000"/>
              </a:lnSpc>
              <a:spcBef>
                <a:spcPts val="1000"/>
              </a:spcBef>
              <a:buClr>
                <a:schemeClr val="accent1"/>
              </a:buClr>
              <a:buFont typeface="Arial" panose="020B0604020202020204" pitchFamily="34" charset="0"/>
              <a:buNone/>
              <a:defRPr lang="en-US" sz="1500" b="1" dirty="0"/>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u="none" strike="noStrike" kern="1200" cap="none" spc="0" normalizeH="0" baseline="0" noProof="0" dirty="0">
                <a:ln>
                  <a:noFill/>
                </a:ln>
                <a:solidFill>
                  <a:srgbClr val="000000"/>
                </a:solidFill>
                <a:effectLst/>
                <a:uLnTx/>
                <a:uFillTx/>
                <a:latin typeface="Manrope Medium" pitchFamily="2" charset="0"/>
                <a:sym typeface="Arimo Bold"/>
              </a:rPr>
              <a:t>Content Practice -  AI Accelerators</a:t>
            </a:r>
          </a:p>
        </p:txBody>
      </p:sp>
      <p:grpSp>
        <p:nvGrpSpPr>
          <p:cNvPr id="3" name="Group 3"/>
          <p:cNvGrpSpPr/>
          <p:nvPr/>
        </p:nvGrpSpPr>
        <p:grpSpPr>
          <a:xfrm>
            <a:off x="5233492" y="1245890"/>
            <a:ext cx="6297017" cy="1137643"/>
            <a:chOff x="0" y="0"/>
            <a:chExt cx="12594035" cy="2275285"/>
          </a:xfrm>
        </p:grpSpPr>
        <p:sp>
          <p:nvSpPr>
            <p:cNvPr id="4" name="Freeform 4"/>
            <p:cNvSpPr/>
            <p:nvPr/>
          </p:nvSpPr>
          <p:spPr>
            <a:xfrm>
              <a:off x="0" y="0"/>
              <a:ext cx="12593955" cy="2275205"/>
            </a:xfrm>
            <a:custGeom>
              <a:avLst/>
              <a:gdLst/>
              <a:ahLst/>
              <a:cxnLst/>
              <a:rect l="l" t="t" r="r" b="b"/>
              <a:pathLst>
                <a:path w="12593955" h="2275205">
                  <a:moveTo>
                    <a:pt x="0" y="36830"/>
                  </a:moveTo>
                  <a:cubicBezTo>
                    <a:pt x="0" y="16510"/>
                    <a:pt x="16510" y="0"/>
                    <a:pt x="36830" y="0"/>
                  </a:cubicBezTo>
                  <a:lnTo>
                    <a:pt x="12557125" y="0"/>
                  </a:lnTo>
                  <a:cubicBezTo>
                    <a:pt x="12577445" y="0"/>
                    <a:pt x="12593955" y="16510"/>
                    <a:pt x="12593955" y="36830"/>
                  </a:cubicBezTo>
                  <a:lnTo>
                    <a:pt x="12593955" y="2238375"/>
                  </a:lnTo>
                  <a:cubicBezTo>
                    <a:pt x="12593955" y="2258695"/>
                    <a:pt x="12577445" y="2275205"/>
                    <a:pt x="12557125" y="2275205"/>
                  </a:cubicBezTo>
                  <a:lnTo>
                    <a:pt x="36830" y="2275205"/>
                  </a:lnTo>
                  <a:cubicBezTo>
                    <a:pt x="16510" y="2275205"/>
                    <a:pt x="0" y="2258695"/>
                    <a:pt x="0" y="2238375"/>
                  </a:cubicBezTo>
                  <a:close/>
                </a:path>
              </a:pathLst>
            </a:custGeom>
            <a:solidFill>
              <a:schemeClr val="accent4"/>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2"/>
                </a:solidFill>
                <a:effectLst/>
                <a:uLnTx/>
                <a:uFillTx/>
                <a:latin typeface="Manrope"/>
              </a:endParaRPr>
            </a:p>
          </p:txBody>
        </p:sp>
      </p:grpSp>
      <p:sp>
        <p:nvSpPr>
          <p:cNvPr id="5" name="TextBox 5"/>
          <p:cNvSpPr txBox="1"/>
          <p:nvPr/>
        </p:nvSpPr>
        <p:spPr>
          <a:xfrm>
            <a:off x="5356324" y="1747639"/>
            <a:ext cx="1842889" cy="23083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791"/>
              </a:lnSpc>
              <a:spcBef>
                <a:spcPts val="0"/>
              </a:spcBef>
              <a:spcAft>
                <a:spcPts val="0"/>
              </a:spcAft>
              <a:buClrTx/>
              <a:buSzTx/>
              <a:buFontTx/>
              <a:buNone/>
              <a:tabLst/>
              <a:defRPr/>
            </a:pPr>
            <a:r>
              <a:rPr kumimoji="0" lang="en-US" sz="1600" b="1" i="0" u="none" strike="noStrike" kern="1200" cap="none" spc="0" normalizeH="0" baseline="0" noProof="0" dirty="0" err="1">
                <a:ln>
                  <a:noFill/>
                </a:ln>
                <a:solidFill>
                  <a:schemeClr val="bg2"/>
                </a:solidFill>
                <a:effectLst/>
                <a:uLnTx/>
                <a:uFillTx/>
                <a:latin typeface="Manrope"/>
                <a:ea typeface="Arimo Bold"/>
                <a:cs typeface="Arimo Bold"/>
                <a:sym typeface="Arimo Bold"/>
              </a:rPr>
              <a:t>Synapse.ai</a:t>
            </a:r>
            <a:r>
              <a:rPr kumimoji="0" lang="en-US" sz="1600" b="1" i="0" u="none" strike="noStrike" kern="1200" cap="none" spc="0" normalizeH="0" baseline="0" noProof="0" dirty="0">
                <a:ln>
                  <a:noFill/>
                </a:ln>
                <a:solidFill>
                  <a:schemeClr val="bg2"/>
                </a:solidFill>
                <a:effectLst/>
                <a:uLnTx/>
                <a:uFillTx/>
                <a:latin typeface="Manrope"/>
                <a:ea typeface="Arimo Bold"/>
                <a:cs typeface="Arimo Bold"/>
                <a:sym typeface="Arimo Bold"/>
              </a:rPr>
              <a:t> (V2)</a:t>
            </a:r>
          </a:p>
        </p:txBody>
      </p:sp>
      <p:sp>
        <p:nvSpPr>
          <p:cNvPr id="6" name="TextBox 6"/>
          <p:cNvSpPr txBox="1"/>
          <p:nvPr/>
        </p:nvSpPr>
        <p:spPr>
          <a:xfrm>
            <a:off x="5356324" y="2019797"/>
            <a:ext cx="6051352" cy="19236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541"/>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anrope"/>
                <a:ea typeface="Bitter"/>
                <a:cs typeface="Bitter"/>
                <a:sym typeface="Bitter"/>
              </a:rPr>
              <a:t>AI tool to streamline the creation of CMS components</a:t>
            </a:r>
            <a:endParaRPr kumimoji="0" lang="en-US" sz="1400" b="0" i="0" u="none" strike="noStrike" kern="1200" cap="none" spc="0" normalizeH="0" baseline="0" noProof="0" dirty="0">
              <a:ln>
                <a:noFill/>
              </a:ln>
              <a:solidFill>
                <a:schemeClr val="bg2"/>
              </a:solidFill>
              <a:effectLst/>
              <a:uLnTx/>
              <a:uFillTx/>
              <a:latin typeface="Manrope"/>
              <a:ea typeface="Bitter"/>
              <a:cs typeface="Bitter"/>
            </a:endParaRPr>
          </a:p>
        </p:txBody>
      </p:sp>
      <p:grpSp>
        <p:nvGrpSpPr>
          <p:cNvPr id="7" name="Group 7"/>
          <p:cNvGrpSpPr/>
          <p:nvPr/>
        </p:nvGrpSpPr>
        <p:grpSpPr>
          <a:xfrm>
            <a:off x="5233492" y="2506365"/>
            <a:ext cx="6297017" cy="1137643"/>
            <a:chOff x="0" y="0"/>
            <a:chExt cx="12594035" cy="2275285"/>
          </a:xfrm>
        </p:grpSpPr>
        <p:sp>
          <p:nvSpPr>
            <p:cNvPr id="8" name="Freeform 8"/>
            <p:cNvSpPr/>
            <p:nvPr/>
          </p:nvSpPr>
          <p:spPr>
            <a:xfrm>
              <a:off x="0" y="0"/>
              <a:ext cx="12593955" cy="2275205"/>
            </a:xfrm>
            <a:custGeom>
              <a:avLst/>
              <a:gdLst/>
              <a:ahLst/>
              <a:cxnLst/>
              <a:rect l="l" t="t" r="r" b="b"/>
              <a:pathLst>
                <a:path w="12593955" h="2275205">
                  <a:moveTo>
                    <a:pt x="0" y="36830"/>
                  </a:moveTo>
                  <a:cubicBezTo>
                    <a:pt x="0" y="16510"/>
                    <a:pt x="16510" y="0"/>
                    <a:pt x="36830" y="0"/>
                  </a:cubicBezTo>
                  <a:lnTo>
                    <a:pt x="12557125" y="0"/>
                  </a:lnTo>
                  <a:cubicBezTo>
                    <a:pt x="12577445" y="0"/>
                    <a:pt x="12593955" y="16510"/>
                    <a:pt x="12593955" y="36830"/>
                  </a:cubicBezTo>
                  <a:lnTo>
                    <a:pt x="12593955" y="2238375"/>
                  </a:lnTo>
                  <a:cubicBezTo>
                    <a:pt x="12593955" y="2258695"/>
                    <a:pt x="12577445" y="2275205"/>
                    <a:pt x="12557125" y="2275205"/>
                  </a:cubicBezTo>
                  <a:lnTo>
                    <a:pt x="36830" y="2275205"/>
                  </a:lnTo>
                  <a:cubicBezTo>
                    <a:pt x="16510" y="2275205"/>
                    <a:pt x="0" y="2258695"/>
                    <a:pt x="0" y="2238375"/>
                  </a:cubicBezTo>
                  <a:close/>
                </a:path>
              </a:pathLst>
            </a:custGeom>
            <a:solidFill>
              <a:schemeClr val="accent4"/>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0000"/>
                </a:solidFill>
                <a:effectLst/>
                <a:uLnTx/>
                <a:uFillTx/>
                <a:latin typeface="Manrope"/>
              </a:endParaRPr>
            </a:p>
          </p:txBody>
        </p:sp>
      </p:grpSp>
      <p:sp>
        <p:nvSpPr>
          <p:cNvPr id="9" name="TextBox 9"/>
          <p:cNvSpPr txBox="1"/>
          <p:nvPr/>
        </p:nvSpPr>
        <p:spPr>
          <a:xfrm>
            <a:off x="5356324" y="3008114"/>
            <a:ext cx="1842889" cy="23403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791"/>
              </a:lnSpc>
              <a:spcBef>
                <a:spcPts val="0"/>
              </a:spcBef>
              <a:spcAft>
                <a:spcPts val="0"/>
              </a:spcAft>
              <a:buClrTx/>
              <a:buSzTx/>
              <a:buFontTx/>
              <a:buNone/>
              <a:tabLst/>
              <a:defRPr/>
            </a:pPr>
            <a:r>
              <a:rPr kumimoji="0" lang="en-US" sz="1600" b="1" i="0" u="none" strike="noStrike" kern="1200" cap="none" spc="0" normalizeH="0" baseline="0" noProof="0">
                <a:ln>
                  <a:noFill/>
                </a:ln>
                <a:solidFill>
                  <a:schemeClr val="bg2"/>
                </a:solidFill>
                <a:effectLst/>
                <a:uLnTx/>
                <a:uFillTx/>
                <a:latin typeface="Manrope"/>
                <a:ea typeface="Arimo Bold"/>
                <a:cs typeface="Arimo Bold"/>
                <a:sym typeface="Arimo Bold"/>
              </a:rPr>
              <a:t>SiteAnalyzer.ai</a:t>
            </a:r>
            <a:endParaRPr kumimoji="0" lang="en-US" sz="1600" b="1" i="0" u="none" strike="noStrike" kern="1200" cap="none" spc="0" normalizeH="0" baseline="0" noProof="0">
              <a:ln>
                <a:noFill/>
              </a:ln>
              <a:solidFill>
                <a:schemeClr val="bg2"/>
              </a:solidFill>
              <a:effectLst/>
              <a:uLnTx/>
              <a:uFillTx/>
              <a:latin typeface="Manrope"/>
              <a:ea typeface="Arimo Bold"/>
              <a:cs typeface="Arimo Bold"/>
            </a:endParaRPr>
          </a:p>
        </p:txBody>
      </p:sp>
      <p:sp>
        <p:nvSpPr>
          <p:cNvPr id="10" name="TextBox 10"/>
          <p:cNvSpPr txBox="1"/>
          <p:nvPr/>
        </p:nvSpPr>
        <p:spPr>
          <a:xfrm>
            <a:off x="5356324" y="3280271"/>
            <a:ext cx="6051352" cy="19236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541"/>
              </a:lnSpc>
              <a:spcBef>
                <a:spcPts val="0"/>
              </a:spcBef>
              <a:spcAft>
                <a:spcPts val="0"/>
              </a:spcAft>
              <a:buClrTx/>
              <a:buSzTx/>
              <a:buFontTx/>
              <a:buNone/>
              <a:tabLst/>
              <a:defRPr/>
            </a:pPr>
            <a:r>
              <a:rPr kumimoji="0" lang="en-US" sz="1400" b="0" i="0" u="none" strike="noStrike" kern="1200" cap="none" spc="0" normalizeH="0" baseline="0" noProof="0">
                <a:ln>
                  <a:noFill/>
                </a:ln>
                <a:solidFill>
                  <a:schemeClr val="bg2"/>
                </a:solidFill>
                <a:effectLst/>
                <a:uLnTx/>
                <a:uFillTx/>
                <a:latin typeface="Manrope"/>
                <a:ea typeface="Bitter"/>
                <a:cs typeface="Bitter"/>
                <a:sym typeface="Bitter"/>
              </a:rPr>
              <a:t>Provides the deep insides on Site including competitor analysis</a:t>
            </a:r>
            <a:endParaRPr kumimoji="0" lang="en-US" sz="1400" b="0" i="0" u="none" strike="noStrike" kern="1200" cap="none" spc="0" normalizeH="0" baseline="0" noProof="0">
              <a:ln>
                <a:noFill/>
              </a:ln>
              <a:solidFill>
                <a:schemeClr val="bg2"/>
              </a:solidFill>
              <a:effectLst/>
              <a:uLnTx/>
              <a:uFillTx/>
              <a:latin typeface="Manrope"/>
              <a:ea typeface="Bitter"/>
              <a:cs typeface="Bitter"/>
            </a:endParaRPr>
          </a:p>
        </p:txBody>
      </p:sp>
      <p:grpSp>
        <p:nvGrpSpPr>
          <p:cNvPr id="11" name="Group 11"/>
          <p:cNvGrpSpPr/>
          <p:nvPr/>
        </p:nvGrpSpPr>
        <p:grpSpPr>
          <a:xfrm>
            <a:off x="5233492" y="3782219"/>
            <a:ext cx="6297017" cy="1137643"/>
            <a:chOff x="0" y="0"/>
            <a:chExt cx="12594035" cy="2275285"/>
          </a:xfrm>
        </p:grpSpPr>
        <p:sp>
          <p:nvSpPr>
            <p:cNvPr id="12" name="Freeform 12"/>
            <p:cNvSpPr/>
            <p:nvPr/>
          </p:nvSpPr>
          <p:spPr>
            <a:xfrm>
              <a:off x="0" y="0"/>
              <a:ext cx="12593955" cy="2275205"/>
            </a:xfrm>
            <a:custGeom>
              <a:avLst/>
              <a:gdLst/>
              <a:ahLst/>
              <a:cxnLst/>
              <a:rect l="l" t="t" r="r" b="b"/>
              <a:pathLst>
                <a:path w="12593955" h="2275205">
                  <a:moveTo>
                    <a:pt x="0" y="36830"/>
                  </a:moveTo>
                  <a:cubicBezTo>
                    <a:pt x="0" y="16510"/>
                    <a:pt x="16510" y="0"/>
                    <a:pt x="36830" y="0"/>
                  </a:cubicBezTo>
                  <a:lnTo>
                    <a:pt x="12557125" y="0"/>
                  </a:lnTo>
                  <a:cubicBezTo>
                    <a:pt x="12577445" y="0"/>
                    <a:pt x="12593955" y="16510"/>
                    <a:pt x="12593955" y="36830"/>
                  </a:cubicBezTo>
                  <a:lnTo>
                    <a:pt x="12593955" y="2238375"/>
                  </a:lnTo>
                  <a:cubicBezTo>
                    <a:pt x="12593955" y="2258695"/>
                    <a:pt x="12577445" y="2275205"/>
                    <a:pt x="12557125" y="2275205"/>
                  </a:cubicBezTo>
                  <a:lnTo>
                    <a:pt x="36830" y="2275205"/>
                  </a:lnTo>
                  <a:cubicBezTo>
                    <a:pt x="16510" y="2275205"/>
                    <a:pt x="0" y="2258695"/>
                    <a:pt x="0" y="2238375"/>
                  </a:cubicBezTo>
                  <a:lnTo>
                    <a:pt x="0" y="36830"/>
                  </a:lnTo>
                  <a:close/>
                </a:path>
              </a:pathLst>
            </a:custGeom>
            <a:solidFill>
              <a:schemeClr val="tx2"/>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0000"/>
                </a:solidFill>
                <a:effectLst/>
                <a:uLnTx/>
                <a:uFillTx/>
                <a:latin typeface="Manrope"/>
              </a:endParaRPr>
            </a:p>
          </p:txBody>
        </p:sp>
      </p:grpSp>
      <p:sp>
        <p:nvSpPr>
          <p:cNvPr id="13" name="TextBox 13"/>
          <p:cNvSpPr txBox="1"/>
          <p:nvPr/>
        </p:nvSpPr>
        <p:spPr>
          <a:xfrm>
            <a:off x="5356324" y="4283968"/>
            <a:ext cx="1842889" cy="23083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791"/>
              </a:lnSpc>
              <a:spcBef>
                <a:spcPts val="0"/>
              </a:spcBef>
              <a:spcAft>
                <a:spcPts val="0"/>
              </a:spcAft>
              <a:buClrTx/>
              <a:buSzTx/>
              <a:buFontTx/>
              <a:buNone/>
              <a:tabLst/>
              <a:defRPr/>
            </a:pPr>
            <a:r>
              <a:rPr kumimoji="0" lang="en-US" sz="1600" b="1" i="0" u="none" strike="noStrike" kern="1200" cap="none" spc="0" normalizeH="0" baseline="0" noProof="0" dirty="0" err="1">
                <a:ln>
                  <a:noFill/>
                </a:ln>
                <a:solidFill>
                  <a:schemeClr val="bg2"/>
                </a:solidFill>
                <a:effectLst/>
                <a:uLnTx/>
                <a:uFillTx/>
                <a:latin typeface="Manrope"/>
                <a:ea typeface="Arimo Bold"/>
                <a:cs typeface="Arimo Bold"/>
                <a:sym typeface="Arimo Bold"/>
              </a:rPr>
              <a:t>CloudMigrator.ai</a:t>
            </a:r>
            <a:endParaRPr kumimoji="0" lang="en-US" sz="1600" b="1" i="0" u="none" strike="noStrike" kern="1200" cap="none" spc="0" normalizeH="0" baseline="0" noProof="0" dirty="0">
              <a:ln>
                <a:noFill/>
              </a:ln>
              <a:solidFill>
                <a:schemeClr val="bg2"/>
              </a:solidFill>
              <a:effectLst/>
              <a:uLnTx/>
              <a:uFillTx/>
              <a:latin typeface="Manrope"/>
              <a:ea typeface="Arimo Bold"/>
              <a:cs typeface="Arimo Bold"/>
            </a:endParaRPr>
          </a:p>
        </p:txBody>
      </p:sp>
      <p:sp>
        <p:nvSpPr>
          <p:cNvPr id="14" name="TextBox 14"/>
          <p:cNvSpPr txBox="1"/>
          <p:nvPr/>
        </p:nvSpPr>
        <p:spPr>
          <a:xfrm>
            <a:off x="5356324" y="4556125"/>
            <a:ext cx="6051352" cy="19236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541"/>
              </a:lnSpc>
              <a:spcBef>
                <a:spcPts val="0"/>
              </a:spcBef>
              <a:spcAft>
                <a:spcPts val="0"/>
              </a:spcAft>
              <a:buClrTx/>
              <a:buSzTx/>
              <a:buFontTx/>
              <a:buNone/>
              <a:tabLst/>
              <a:defRPr/>
            </a:pPr>
            <a:r>
              <a:rPr kumimoji="0" lang="en-US" sz="1400" b="0" i="0" u="none" strike="noStrike" kern="1200" cap="none" spc="0" normalizeH="0" baseline="0" noProof="0">
                <a:ln>
                  <a:noFill/>
                </a:ln>
                <a:solidFill>
                  <a:schemeClr val="bg2"/>
                </a:solidFill>
                <a:effectLst/>
                <a:uLnTx/>
                <a:uFillTx/>
                <a:latin typeface="Manrope"/>
                <a:ea typeface="Bitter"/>
                <a:cs typeface="Bitter"/>
                <a:sym typeface="Bitter"/>
              </a:rPr>
              <a:t>AI tool to Migration to AEM Cloud as service</a:t>
            </a:r>
            <a:endParaRPr kumimoji="0" lang="en-US" sz="1400" b="0" i="0" u="none" strike="noStrike" kern="1200" cap="none" spc="0" normalizeH="0" baseline="0" noProof="0">
              <a:ln>
                <a:noFill/>
              </a:ln>
              <a:solidFill>
                <a:schemeClr val="bg2"/>
              </a:solidFill>
              <a:effectLst/>
              <a:uLnTx/>
              <a:uFillTx/>
              <a:latin typeface="Manrope"/>
              <a:ea typeface="Bitter"/>
              <a:cs typeface="Bitter"/>
            </a:endParaRPr>
          </a:p>
        </p:txBody>
      </p:sp>
      <p:grpSp>
        <p:nvGrpSpPr>
          <p:cNvPr id="15" name="Group 15"/>
          <p:cNvGrpSpPr/>
          <p:nvPr/>
        </p:nvGrpSpPr>
        <p:grpSpPr>
          <a:xfrm>
            <a:off x="5233492" y="5042694"/>
            <a:ext cx="6297017" cy="1137643"/>
            <a:chOff x="0" y="0"/>
            <a:chExt cx="12594035" cy="2275285"/>
          </a:xfrm>
        </p:grpSpPr>
        <p:sp>
          <p:nvSpPr>
            <p:cNvPr id="16" name="Freeform 16"/>
            <p:cNvSpPr/>
            <p:nvPr/>
          </p:nvSpPr>
          <p:spPr>
            <a:xfrm>
              <a:off x="0" y="0"/>
              <a:ext cx="12593955" cy="2275205"/>
            </a:xfrm>
            <a:custGeom>
              <a:avLst/>
              <a:gdLst/>
              <a:ahLst/>
              <a:cxnLst/>
              <a:rect l="l" t="t" r="r" b="b"/>
              <a:pathLst>
                <a:path w="12593955" h="2275205">
                  <a:moveTo>
                    <a:pt x="0" y="36830"/>
                  </a:moveTo>
                  <a:cubicBezTo>
                    <a:pt x="0" y="16510"/>
                    <a:pt x="16510" y="0"/>
                    <a:pt x="36830" y="0"/>
                  </a:cubicBezTo>
                  <a:lnTo>
                    <a:pt x="12557125" y="0"/>
                  </a:lnTo>
                  <a:cubicBezTo>
                    <a:pt x="12577445" y="0"/>
                    <a:pt x="12593955" y="16510"/>
                    <a:pt x="12593955" y="36830"/>
                  </a:cubicBezTo>
                  <a:lnTo>
                    <a:pt x="12593955" y="2238375"/>
                  </a:lnTo>
                  <a:cubicBezTo>
                    <a:pt x="12593955" y="2258695"/>
                    <a:pt x="12577445" y="2275205"/>
                    <a:pt x="12557125" y="2275205"/>
                  </a:cubicBezTo>
                  <a:lnTo>
                    <a:pt x="36830" y="2275205"/>
                  </a:lnTo>
                  <a:cubicBezTo>
                    <a:pt x="16510" y="2275205"/>
                    <a:pt x="0" y="2258695"/>
                    <a:pt x="0" y="2238375"/>
                  </a:cubicBezTo>
                  <a:lnTo>
                    <a:pt x="0" y="36830"/>
                  </a:lnTo>
                  <a:close/>
                </a:path>
              </a:pathLst>
            </a:custGeom>
            <a:solidFill>
              <a:schemeClr val="accent4"/>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Manrope"/>
              </a:endParaRPr>
            </a:p>
          </p:txBody>
        </p:sp>
      </p:grpSp>
      <p:sp>
        <p:nvSpPr>
          <p:cNvPr id="17" name="TextBox 17"/>
          <p:cNvSpPr txBox="1"/>
          <p:nvPr/>
        </p:nvSpPr>
        <p:spPr>
          <a:xfrm>
            <a:off x="5356324" y="5544443"/>
            <a:ext cx="1842889" cy="23083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791"/>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anrope"/>
                <a:ea typeface="Arimo Bold"/>
                <a:cs typeface="Arimo Bold"/>
                <a:sym typeface="Arimo Bold"/>
              </a:rPr>
              <a:t>Replatform.ai</a:t>
            </a:r>
            <a:endParaRPr kumimoji="0" lang="en-US" sz="1600" b="1" i="0" u="none" strike="noStrike" kern="1200" cap="none" spc="0" normalizeH="0" baseline="0" noProof="0">
              <a:ln>
                <a:noFill/>
              </a:ln>
              <a:solidFill>
                <a:srgbClr val="FFFFFF"/>
              </a:solidFill>
              <a:effectLst/>
              <a:uLnTx/>
              <a:uFillTx/>
              <a:latin typeface="Manrope"/>
              <a:ea typeface="Arimo Bold"/>
              <a:cs typeface="Arimo Bold"/>
            </a:endParaRPr>
          </a:p>
        </p:txBody>
      </p:sp>
      <p:sp>
        <p:nvSpPr>
          <p:cNvPr id="18" name="TextBox 18"/>
          <p:cNvSpPr txBox="1"/>
          <p:nvPr/>
        </p:nvSpPr>
        <p:spPr>
          <a:xfrm>
            <a:off x="5356324" y="5816601"/>
            <a:ext cx="6051352" cy="19236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1541"/>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anrope"/>
                <a:ea typeface="Bitter"/>
                <a:cs typeface="Bitter"/>
                <a:sym typeface="Bitter"/>
              </a:rPr>
              <a:t>Migration of pages/ site from one CMS/ non-CMS to another CMS</a:t>
            </a:r>
            <a:endParaRPr kumimoji="0" lang="en-US" sz="1400" b="0" i="0" u="none" strike="noStrike" kern="1200" cap="none" spc="0" normalizeH="0" baseline="0" noProof="0">
              <a:ln>
                <a:noFill/>
              </a:ln>
              <a:solidFill>
                <a:srgbClr val="FFFFFF"/>
              </a:solidFill>
              <a:effectLst/>
              <a:uLnTx/>
              <a:uFillTx/>
              <a:latin typeface="Manrope"/>
              <a:ea typeface="Bitter"/>
              <a:cs typeface="Bitter"/>
            </a:endParaRPr>
          </a:p>
        </p:txBody>
      </p:sp>
      <p:grpSp>
        <p:nvGrpSpPr>
          <p:cNvPr id="19" name="Group 19"/>
          <p:cNvGrpSpPr/>
          <p:nvPr/>
        </p:nvGrpSpPr>
        <p:grpSpPr>
          <a:xfrm>
            <a:off x="5356324" y="3891658"/>
            <a:ext cx="341461" cy="341461"/>
            <a:chOff x="0" y="0"/>
            <a:chExt cx="682923" cy="682923"/>
          </a:xfrm>
        </p:grpSpPr>
        <p:grpSp>
          <p:nvGrpSpPr>
            <p:cNvPr id="20" name="Group 20"/>
            <p:cNvGrpSpPr/>
            <p:nvPr/>
          </p:nvGrpSpPr>
          <p:grpSpPr>
            <a:xfrm>
              <a:off x="0" y="0"/>
              <a:ext cx="682923" cy="682923"/>
              <a:chOff x="0" y="0"/>
              <a:chExt cx="1751884" cy="1751884"/>
            </a:xfrm>
          </p:grpSpPr>
          <p:sp>
            <p:nvSpPr>
              <p:cNvPr id="21" name="Freeform 21"/>
              <p:cNvSpPr/>
              <p:nvPr/>
            </p:nvSpPr>
            <p:spPr>
              <a:xfrm>
                <a:off x="0" y="0"/>
                <a:ext cx="1751838" cy="1751838"/>
              </a:xfrm>
              <a:custGeom>
                <a:avLst/>
                <a:gdLst/>
                <a:ahLst/>
                <a:cxnLst/>
                <a:rect l="l" t="t" r="r" b="b"/>
                <a:pathLst>
                  <a:path w="1751838" h="1751838">
                    <a:moveTo>
                      <a:pt x="0" y="875919"/>
                    </a:moveTo>
                    <a:cubicBezTo>
                      <a:pt x="0" y="392176"/>
                      <a:pt x="392176" y="0"/>
                      <a:pt x="875919" y="0"/>
                    </a:cubicBezTo>
                    <a:cubicBezTo>
                      <a:pt x="1359662" y="0"/>
                      <a:pt x="1751838" y="392176"/>
                      <a:pt x="1751838" y="875919"/>
                    </a:cubicBezTo>
                    <a:cubicBezTo>
                      <a:pt x="1751838" y="1359662"/>
                      <a:pt x="1359662" y="1751838"/>
                      <a:pt x="875919" y="1751838"/>
                    </a:cubicBezTo>
                    <a:cubicBezTo>
                      <a:pt x="392176" y="1751838"/>
                      <a:pt x="0" y="1359662"/>
                      <a:pt x="0" y="875919"/>
                    </a:cubicBezTo>
                    <a:close/>
                  </a:path>
                </a:pathLst>
              </a:custGeom>
              <a:solidFill>
                <a:srgbClr val="3C2DDA"/>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sp>
          <p:nvSpPr>
            <p:cNvPr id="22" name="Freeform 22" descr="Internet Of Things with solid fill"/>
            <p:cNvSpPr/>
            <p:nvPr/>
          </p:nvSpPr>
          <p:spPr>
            <a:xfrm>
              <a:off x="207398" y="201125"/>
              <a:ext cx="282360" cy="280672"/>
            </a:xfrm>
            <a:custGeom>
              <a:avLst/>
              <a:gdLst/>
              <a:ahLst/>
              <a:cxnLst/>
              <a:rect l="l" t="t" r="r" b="b"/>
              <a:pathLst>
                <a:path w="282360" h="280672">
                  <a:moveTo>
                    <a:pt x="0" y="0"/>
                  </a:moveTo>
                  <a:lnTo>
                    <a:pt x="282361" y="0"/>
                  </a:lnTo>
                  <a:lnTo>
                    <a:pt x="282361" y="280672"/>
                  </a:lnTo>
                  <a:lnTo>
                    <a:pt x="0" y="280672"/>
                  </a:lnTo>
                  <a:lnTo>
                    <a:pt x="0" y="0"/>
                  </a:lnTo>
                  <a:close/>
                </a:path>
              </a:pathLst>
            </a:custGeom>
            <a:blipFill>
              <a:blip>
                <a:extLst>
                  <a:ext uri="{96DAC541-7B7A-43D3-8B79-37D633B846F1}">
                    <asvg:svgBlip xmlns:asvg="http://schemas.microsoft.com/office/drawing/2016/SVG/main" r:embed="rId3"/>
                  </a:ext>
                </a:extLst>
              </a:blip>
              <a:stretch>
                <a:fillRect t="-300" b="-300"/>
              </a:stretch>
            </a:bli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grpSp>
        <p:nvGrpSpPr>
          <p:cNvPr id="23" name="Group 23"/>
          <p:cNvGrpSpPr/>
          <p:nvPr/>
        </p:nvGrpSpPr>
        <p:grpSpPr>
          <a:xfrm>
            <a:off x="5356324" y="5139482"/>
            <a:ext cx="341461" cy="341461"/>
            <a:chOff x="0" y="0"/>
            <a:chExt cx="682923" cy="682923"/>
          </a:xfrm>
        </p:grpSpPr>
        <p:grpSp>
          <p:nvGrpSpPr>
            <p:cNvPr id="24" name="Group 24"/>
            <p:cNvGrpSpPr/>
            <p:nvPr/>
          </p:nvGrpSpPr>
          <p:grpSpPr>
            <a:xfrm>
              <a:off x="0" y="0"/>
              <a:ext cx="682923" cy="682923"/>
              <a:chOff x="0" y="0"/>
              <a:chExt cx="1751884" cy="1751884"/>
            </a:xfrm>
          </p:grpSpPr>
          <p:sp>
            <p:nvSpPr>
              <p:cNvPr id="25" name="Freeform 25"/>
              <p:cNvSpPr/>
              <p:nvPr/>
            </p:nvSpPr>
            <p:spPr>
              <a:xfrm>
                <a:off x="0" y="0"/>
                <a:ext cx="1751838" cy="1751838"/>
              </a:xfrm>
              <a:custGeom>
                <a:avLst/>
                <a:gdLst/>
                <a:ahLst/>
                <a:cxnLst/>
                <a:rect l="l" t="t" r="r" b="b"/>
                <a:pathLst>
                  <a:path w="1751838" h="1751838">
                    <a:moveTo>
                      <a:pt x="0" y="875919"/>
                    </a:moveTo>
                    <a:cubicBezTo>
                      <a:pt x="0" y="392176"/>
                      <a:pt x="392176" y="0"/>
                      <a:pt x="875919" y="0"/>
                    </a:cubicBezTo>
                    <a:cubicBezTo>
                      <a:pt x="1359662" y="0"/>
                      <a:pt x="1751838" y="392176"/>
                      <a:pt x="1751838" y="875919"/>
                    </a:cubicBezTo>
                    <a:cubicBezTo>
                      <a:pt x="1751838" y="1359662"/>
                      <a:pt x="1359662" y="1751838"/>
                      <a:pt x="875919" y="1751838"/>
                    </a:cubicBezTo>
                    <a:cubicBezTo>
                      <a:pt x="392176" y="1751838"/>
                      <a:pt x="0" y="1359662"/>
                      <a:pt x="0" y="875919"/>
                    </a:cubicBezTo>
                    <a:close/>
                  </a:path>
                </a:pathLst>
              </a:custGeom>
              <a:solidFill>
                <a:srgbClr val="3C2DDA"/>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sp>
          <p:nvSpPr>
            <p:cNvPr id="26" name="Freeform 26" descr="Gears outline"/>
            <p:cNvSpPr/>
            <p:nvPr/>
          </p:nvSpPr>
          <p:spPr>
            <a:xfrm>
              <a:off x="201095" y="201125"/>
              <a:ext cx="280672" cy="280672"/>
            </a:xfrm>
            <a:custGeom>
              <a:avLst/>
              <a:gdLst/>
              <a:ahLst/>
              <a:cxnLst/>
              <a:rect l="l" t="t" r="r" b="b"/>
              <a:pathLst>
                <a:path w="280672" h="280672">
                  <a:moveTo>
                    <a:pt x="0" y="0"/>
                  </a:moveTo>
                  <a:lnTo>
                    <a:pt x="280672" y="0"/>
                  </a:lnTo>
                  <a:lnTo>
                    <a:pt x="280672" y="280672"/>
                  </a:lnTo>
                  <a:lnTo>
                    <a:pt x="0" y="280672"/>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grpSp>
        <p:nvGrpSpPr>
          <p:cNvPr id="27" name="Group 27"/>
          <p:cNvGrpSpPr/>
          <p:nvPr/>
        </p:nvGrpSpPr>
        <p:grpSpPr>
          <a:xfrm>
            <a:off x="5356324" y="2629395"/>
            <a:ext cx="341461" cy="341461"/>
            <a:chOff x="0" y="0"/>
            <a:chExt cx="682923" cy="682923"/>
          </a:xfrm>
        </p:grpSpPr>
        <p:grpSp>
          <p:nvGrpSpPr>
            <p:cNvPr id="28" name="Group 28"/>
            <p:cNvGrpSpPr/>
            <p:nvPr/>
          </p:nvGrpSpPr>
          <p:grpSpPr>
            <a:xfrm>
              <a:off x="0" y="0"/>
              <a:ext cx="682923" cy="682923"/>
              <a:chOff x="0" y="0"/>
              <a:chExt cx="1751884" cy="1751884"/>
            </a:xfrm>
          </p:grpSpPr>
          <p:sp>
            <p:nvSpPr>
              <p:cNvPr id="29" name="Freeform 29"/>
              <p:cNvSpPr/>
              <p:nvPr/>
            </p:nvSpPr>
            <p:spPr>
              <a:xfrm>
                <a:off x="0" y="0"/>
                <a:ext cx="1751838" cy="1751838"/>
              </a:xfrm>
              <a:custGeom>
                <a:avLst/>
                <a:gdLst/>
                <a:ahLst/>
                <a:cxnLst/>
                <a:rect l="l" t="t" r="r" b="b"/>
                <a:pathLst>
                  <a:path w="1751838" h="1751838">
                    <a:moveTo>
                      <a:pt x="0" y="875919"/>
                    </a:moveTo>
                    <a:cubicBezTo>
                      <a:pt x="0" y="392176"/>
                      <a:pt x="392176" y="0"/>
                      <a:pt x="875919" y="0"/>
                    </a:cubicBezTo>
                    <a:cubicBezTo>
                      <a:pt x="1359662" y="0"/>
                      <a:pt x="1751838" y="392176"/>
                      <a:pt x="1751838" y="875919"/>
                    </a:cubicBezTo>
                    <a:cubicBezTo>
                      <a:pt x="1751838" y="1359662"/>
                      <a:pt x="1359662" y="1751838"/>
                      <a:pt x="875919" y="1751838"/>
                    </a:cubicBezTo>
                    <a:cubicBezTo>
                      <a:pt x="392176" y="1751838"/>
                      <a:pt x="0" y="1359662"/>
                      <a:pt x="0" y="875919"/>
                    </a:cubicBezTo>
                    <a:close/>
                  </a:path>
                </a:pathLst>
              </a:custGeom>
              <a:solidFill>
                <a:srgbClr val="3C2DDA"/>
              </a:solidFill>
              <a:ln w="1270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sp>
          <p:nvSpPr>
            <p:cNvPr id="30" name="Freeform 30" descr="Hierarchy with solid fill"/>
            <p:cNvSpPr/>
            <p:nvPr/>
          </p:nvSpPr>
          <p:spPr>
            <a:xfrm>
              <a:off x="201095" y="199921"/>
              <a:ext cx="280672" cy="283082"/>
            </a:xfrm>
            <a:custGeom>
              <a:avLst/>
              <a:gdLst/>
              <a:ahLst/>
              <a:cxnLst/>
              <a:rect l="l" t="t" r="r" b="b"/>
              <a:pathLst>
                <a:path w="280672" h="283082">
                  <a:moveTo>
                    <a:pt x="0" y="0"/>
                  </a:moveTo>
                  <a:lnTo>
                    <a:pt x="280672" y="0"/>
                  </a:lnTo>
                  <a:lnTo>
                    <a:pt x="280672" y="283082"/>
                  </a:lnTo>
                  <a:lnTo>
                    <a:pt x="0" y="283082"/>
                  </a:lnTo>
                  <a:lnTo>
                    <a:pt x="0" y="0"/>
                  </a:lnTo>
                  <a:close/>
                </a:path>
              </a:pathLst>
            </a:custGeom>
            <a:blipFill>
              <a:blip>
                <a:extLst>
                  <a:ext uri="{96DAC541-7B7A-43D3-8B79-37D633B846F1}">
                    <asvg:svgBlip xmlns:asvg="http://schemas.microsoft.com/office/drawing/2016/SVG/main" r:embed="rId5"/>
                  </a:ext>
                </a:extLst>
              </a:blip>
              <a:stretch>
                <a:fillRect l="-429" r="-429"/>
              </a:stretch>
            </a:bli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grpSp>
      <p:sp>
        <p:nvSpPr>
          <p:cNvPr id="31" name="Freeform 31"/>
          <p:cNvSpPr/>
          <p:nvPr/>
        </p:nvSpPr>
        <p:spPr>
          <a:xfrm>
            <a:off x="5356324" y="1342678"/>
            <a:ext cx="341461" cy="341461"/>
          </a:xfrm>
          <a:custGeom>
            <a:avLst/>
            <a:gdLst/>
            <a:ahLst/>
            <a:cxnLst/>
            <a:rect l="l" t="t" r="r" b="b"/>
            <a:pathLst>
              <a:path w="512192" h="512192">
                <a:moveTo>
                  <a:pt x="0" y="0"/>
                </a:moveTo>
                <a:lnTo>
                  <a:pt x="512192" y="0"/>
                </a:lnTo>
                <a:lnTo>
                  <a:pt x="512192" y="512192"/>
                </a:lnTo>
                <a:lnTo>
                  <a:pt x="0" y="5121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0000"/>
              </a:solidFill>
              <a:effectLst/>
              <a:uLnTx/>
              <a:uFillTx/>
              <a:latin typeface="Manrope"/>
            </a:endParaRPr>
          </a:p>
        </p:txBody>
      </p:sp>
      <p:sp>
        <p:nvSpPr>
          <p:cNvPr id="32" name="TextBox 32"/>
          <p:cNvSpPr txBox="1"/>
          <p:nvPr/>
        </p:nvSpPr>
        <p:spPr>
          <a:xfrm>
            <a:off x="623888" y="6559572"/>
            <a:ext cx="2781211" cy="10259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609539" rtl="0" eaLnBrk="1" fontAlgn="auto" latinLnBrk="0" hangingPunct="1">
              <a:lnSpc>
                <a:spcPts val="840"/>
              </a:lnSpc>
              <a:spcBef>
                <a:spcPts val="0"/>
              </a:spcBef>
              <a:spcAft>
                <a:spcPts val="0"/>
              </a:spcAft>
              <a:buClrTx/>
              <a:buSzTx/>
              <a:buFontTx/>
              <a:buNone/>
              <a:tabLst/>
              <a:defRPr/>
            </a:pPr>
            <a:r>
              <a:rPr kumimoji="0" lang="en-US" sz="700" b="0" i="0" u="none" strike="noStrike" kern="1200" cap="none" spc="50" normalizeH="0" baseline="0" noProof="0" dirty="0">
                <a:ln>
                  <a:noFill/>
                </a:ln>
                <a:solidFill>
                  <a:schemeClr val="bg2"/>
                </a:solidFill>
                <a:effectLst/>
                <a:uLnTx/>
                <a:uFillTx/>
                <a:latin typeface="Manrope"/>
                <a:ea typeface="Arimo"/>
                <a:cs typeface="Arimo"/>
                <a:sym typeface="Arimo"/>
              </a:rPr>
              <a:t>© Hexaware Technologies. Confidential briefing. </a:t>
            </a:r>
          </a:p>
        </p:txBody>
      </p:sp>
      <p:sp>
        <p:nvSpPr>
          <p:cNvPr id="33" name="Freeform 33"/>
          <p:cNvSpPr/>
          <p:nvPr/>
        </p:nvSpPr>
        <p:spPr>
          <a:xfrm>
            <a:off x="10917328" y="345760"/>
            <a:ext cx="914400" cy="122739"/>
          </a:xfrm>
          <a:custGeom>
            <a:avLst/>
            <a:gdLst/>
            <a:ahLst/>
            <a:cxnLst/>
            <a:rect l="l" t="t" r="r" b="b"/>
            <a:pathLst>
              <a:path w="1371600" h="184108">
                <a:moveTo>
                  <a:pt x="0" y="0"/>
                </a:moveTo>
                <a:lnTo>
                  <a:pt x="1371600" y="0"/>
                </a:lnTo>
                <a:lnTo>
                  <a:pt x="1371600" y="184108"/>
                </a:lnTo>
                <a:lnTo>
                  <a:pt x="0" y="184108"/>
                </a:lnTo>
                <a:lnTo>
                  <a:pt x="0" y="0"/>
                </a:lnTo>
                <a:close/>
              </a:path>
            </a:pathLst>
          </a:custGeom>
          <a:blipFill>
            <a:blip>
              <a:extLst>
                <a:ext uri="{96DAC541-7B7A-43D3-8B79-37D633B846F1}">
                  <asvg:svgBlip xmlns:asvg="http://schemas.microsoft.com/office/drawing/2016/SVG/main" r:embed="rId7"/>
                </a:ext>
              </a:extLst>
            </a:blip>
            <a:stretch>
              <a:fillRect t="-1378" b="-1378"/>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Manrope"/>
            </a:endParaRPr>
          </a:p>
        </p:txBody>
      </p:sp>
    </p:spTree>
    <p:extLst>
      <p:ext uri="{BB962C8B-B14F-4D97-AF65-F5344CB8AC3E}">
        <p14:creationId xmlns:p14="http://schemas.microsoft.com/office/powerpoint/2010/main" val="1255317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3A0C2-7887-F0C1-947A-F074CB8240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C060C88-56F4-D62B-9C4F-96E28FA6999F}"/>
              </a:ext>
            </a:extLst>
          </p:cNvPr>
          <p:cNvSpPr/>
          <p:nvPr/>
        </p:nvSpPr>
        <p:spPr>
          <a:xfrm>
            <a:off x="0" y="5237190"/>
            <a:ext cx="12192000" cy="1620808"/>
          </a:xfrm>
          <a:prstGeom prst="rect">
            <a:avLst/>
          </a:prstGeom>
          <a:solidFill>
            <a:srgbClr val="D2D7FC">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106910E-5C87-3047-9D1C-4E1CB07C2AFC}"/>
              </a:ext>
            </a:extLst>
          </p:cNvPr>
          <p:cNvSpPr txBox="1">
            <a:spLocks/>
          </p:cNvSpPr>
          <p:nvPr/>
        </p:nvSpPr>
        <p:spPr>
          <a:xfrm>
            <a:off x="279400" y="291371"/>
            <a:ext cx="9542694" cy="4524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400" b="0" i="0" u="none" strike="noStrike" kern="1200" cap="none" spc="0" normalizeH="0" baseline="0" noProof="0">
              <a:ln>
                <a:noFill/>
              </a:ln>
              <a:solidFill>
                <a:srgbClr val="02051C"/>
              </a:solidFill>
              <a:effectLst/>
              <a:uLnTx/>
              <a:uFillTx/>
              <a:latin typeface="Manrope Light"/>
            </a:endParaRPr>
          </a:p>
        </p:txBody>
      </p:sp>
      <p:sp>
        <p:nvSpPr>
          <p:cNvPr id="5" name="Text Placeholder 4">
            <a:extLst>
              <a:ext uri="{FF2B5EF4-FFF2-40B4-BE49-F238E27FC236}">
                <a16:creationId xmlns:a16="http://schemas.microsoft.com/office/drawing/2014/main" id="{4BD87850-68D0-B74C-DAC0-E2AAB9FCEEC5}"/>
              </a:ext>
            </a:extLst>
          </p:cNvPr>
          <p:cNvSpPr>
            <a:spLocks noGrp="1"/>
          </p:cNvSpPr>
          <p:nvPr>
            <p:ph type="body" sz="quarter" idx="15"/>
          </p:nvPr>
        </p:nvSpPr>
        <p:spPr>
          <a:xfrm flipH="1">
            <a:off x="623888" y="457200"/>
            <a:ext cx="8172450" cy="244101"/>
          </a:xfrm>
        </p:spPr>
        <p:txBody>
          <a:bodyPr/>
          <a:lstStyle/>
          <a:p>
            <a:r>
              <a:rPr lang="en-US"/>
              <a:t>How Hexaware Synapse.AI works?</a:t>
            </a:r>
          </a:p>
        </p:txBody>
      </p:sp>
      <p:cxnSp>
        <p:nvCxnSpPr>
          <p:cNvPr id="55" name="Straight Connector 54">
            <a:extLst>
              <a:ext uri="{FF2B5EF4-FFF2-40B4-BE49-F238E27FC236}">
                <a16:creationId xmlns:a16="http://schemas.microsoft.com/office/drawing/2014/main" id="{E154C0FD-5CCE-F35D-5E70-120CF3FEA730}"/>
              </a:ext>
            </a:extLst>
          </p:cNvPr>
          <p:cNvCxnSpPr>
            <a:cxnSpLocks/>
          </p:cNvCxnSpPr>
          <p:nvPr/>
        </p:nvCxnSpPr>
        <p:spPr>
          <a:xfrm flipH="1" flipV="1">
            <a:off x="5212257" y="2490795"/>
            <a:ext cx="395096" cy="50097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55376EF-13AF-90AA-E0E6-67C785847F32}"/>
              </a:ext>
            </a:extLst>
          </p:cNvPr>
          <p:cNvCxnSpPr>
            <a:cxnSpLocks/>
          </p:cNvCxnSpPr>
          <p:nvPr/>
        </p:nvCxnSpPr>
        <p:spPr>
          <a:xfrm flipV="1">
            <a:off x="6407048" y="2510025"/>
            <a:ext cx="395096" cy="50097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B78A3DE-B72D-5776-4CF2-3B2560EACC41}"/>
              </a:ext>
            </a:extLst>
          </p:cNvPr>
          <p:cNvCxnSpPr/>
          <p:nvPr/>
        </p:nvCxnSpPr>
        <p:spPr>
          <a:xfrm>
            <a:off x="4578175" y="4144775"/>
            <a:ext cx="2842342"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A4DD2FEE-D941-A27D-AE48-BF7BC138D5E0}"/>
              </a:ext>
            </a:extLst>
          </p:cNvPr>
          <p:cNvSpPr/>
          <p:nvPr/>
        </p:nvSpPr>
        <p:spPr>
          <a:xfrm>
            <a:off x="4775261" y="2495228"/>
            <a:ext cx="2461049" cy="2518334"/>
          </a:xfrm>
          <a:prstGeom prst="ellipse">
            <a:avLst/>
          </a:prstGeom>
          <a:solidFill>
            <a:schemeClr val="bg1"/>
          </a:solidFill>
          <a:ln w="222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FFFFFF"/>
              </a:solidFill>
              <a:effectLst/>
              <a:uLnTx/>
              <a:uFillTx/>
              <a:latin typeface="Manrope"/>
            </a:endParaRPr>
          </a:p>
        </p:txBody>
      </p:sp>
      <p:sp>
        <p:nvSpPr>
          <p:cNvPr id="82" name="TextBox 81">
            <a:extLst>
              <a:ext uri="{FF2B5EF4-FFF2-40B4-BE49-F238E27FC236}">
                <a16:creationId xmlns:a16="http://schemas.microsoft.com/office/drawing/2014/main" id="{D80EF342-AB36-A846-23AA-E347E37BA508}"/>
              </a:ext>
            </a:extLst>
          </p:cNvPr>
          <p:cNvSpPr txBox="1"/>
          <p:nvPr/>
        </p:nvSpPr>
        <p:spPr>
          <a:xfrm>
            <a:off x="6837639" y="1374785"/>
            <a:ext cx="2331267" cy="338554"/>
          </a:xfrm>
          <a:prstGeom prst="rect">
            <a:avLst/>
          </a:prstGeom>
          <a:noFill/>
        </p:spPr>
        <p:txBody>
          <a:bodyPr wrap="square" lIns="0" tIns="0" rIns="0" bIns="0" rtlCol="0" anchor="t">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lang="en-US" sz="1100" kern="0">
                <a:solidFill>
                  <a:srgbClr val="02051C"/>
                </a:solidFill>
                <a:latin typeface="Manrope" pitchFamily="2" charset="0"/>
                <a:ea typeface="Calibri Light" charset="0"/>
                <a:cs typeface="Calibri Light"/>
              </a:rPr>
              <a:t>Use </a:t>
            </a:r>
            <a:r>
              <a:rPr kumimoji="0" lang="en-US" sz="1100" b="0" i="0" u="none" strike="noStrike" kern="0" cap="none" spc="0" normalizeH="0" baseline="0" noProof="0">
                <a:ln>
                  <a:noFill/>
                </a:ln>
                <a:solidFill>
                  <a:srgbClr val="02051C"/>
                </a:solidFill>
                <a:effectLst/>
                <a:uLnTx/>
                <a:uFillTx/>
                <a:latin typeface="Manrope" pitchFamily="2" charset="0"/>
                <a:ea typeface="Calibri Light" charset="0"/>
                <a:cs typeface="Calibri Light"/>
              </a:rPr>
              <a:t>AI LLM (Claude Sonnet) to generate component code, </a:t>
            </a:r>
          </a:p>
        </p:txBody>
      </p:sp>
      <p:sp>
        <p:nvSpPr>
          <p:cNvPr id="83" name="TextBox 82">
            <a:extLst>
              <a:ext uri="{FF2B5EF4-FFF2-40B4-BE49-F238E27FC236}">
                <a16:creationId xmlns:a16="http://schemas.microsoft.com/office/drawing/2014/main" id="{FF3DD060-8FC4-D8BE-3F5D-18D647A4E155}"/>
              </a:ext>
            </a:extLst>
          </p:cNvPr>
          <p:cNvSpPr txBox="1"/>
          <p:nvPr/>
        </p:nvSpPr>
        <p:spPr>
          <a:xfrm>
            <a:off x="6837638" y="1120040"/>
            <a:ext cx="2984455" cy="215444"/>
          </a:xfrm>
          <a:prstGeom prst="rect">
            <a:avLst/>
          </a:prstGeom>
          <a:noFill/>
        </p:spPr>
        <p:txBody>
          <a:bodyPr wrap="square" lIns="0" tIns="0" rIns="0" bIns="0" rtlCol="0" anchor="b">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kumimoji="0" lang="en-US" sz="1400" b="1" u="none" strike="noStrike" kern="0" cap="none" spc="0" normalizeH="0" baseline="0" noProof="0" dirty="0">
                <a:ln>
                  <a:noFill/>
                </a:ln>
                <a:solidFill>
                  <a:schemeClr val="accent1"/>
                </a:solidFill>
                <a:effectLst/>
                <a:uLnTx/>
                <a:uFillTx/>
                <a:latin typeface="Manrope SemiBold" pitchFamily="2" charset="0"/>
                <a:ea typeface="Calibri Light" charset="0"/>
                <a:cs typeface="Calibri Light" charset="0"/>
              </a:rPr>
              <a:t>Specification -&gt; Component Code</a:t>
            </a:r>
          </a:p>
        </p:txBody>
      </p:sp>
      <p:sp>
        <p:nvSpPr>
          <p:cNvPr id="85" name="TextBox 84">
            <a:extLst>
              <a:ext uri="{FF2B5EF4-FFF2-40B4-BE49-F238E27FC236}">
                <a16:creationId xmlns:a16="http://schemas.microsoft.com/office/drawing/2014/main" id="{93FF7865-A5B0-2743-5C68-D78F4B38042F}"/>
              </a:ext>
            </a:extLst>
          </p:cNvPr>
          <p:cNvSpPr txBox="1"/>
          <p:nvPr/>
        </p:nvSpPr>
        <p:spPr>
          <a:xfrm>
            <a:off x="1606592" y="4044452"/>
            <a:ext cx="2104935" cy="677108"/>
          </a:xfrm>
          <a:prstGeom prst="rect">
            <a:avLst/>
          </a:prstGeom>
          <a:noFill/>
        </p:spPr>
        <p:txBody>
          <a:bodyPr wrap="square" lIns="0" tIns="0" rIns="0" bIns="0" rtlCol="0">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2051C"/>
                </a:solidFill>
                <a:effectLst/>
                <a:uLnTx/>
                <a:uFillTx/>
                <a:latin typeface="Manrope" pitchFamily="2" charset="0"/>
                <a:cs typeface="Calibri Light"/>
              </a:rPr>
              <a:t>Use AI LLM (Claude Sonnet) to analyze the UX Design and </a:t>
            </a:r>
            <a:r>
              <a:rPr lang="en-US" sz="1100" kern="0" dirty="0">
                <a:solidFill>
                  <a:srgbClr val="02051C"/>
                </a:solidFill>
                <a:latin typeface="Manrope" pitchFamily="2" charset="0"/>
                <a:cs typeface="Calibri Light"/>
              </a:rPr>
              <a:t>business and technical specifications</a:t>
            </a:r>
            <a:endParaRPr kumimoji="0" lang="en-US" sz="1100" b="0" i="0" u="none" strike="noStrike" kern="0" cap="none" spc="0" normalizeH="0" baseline="0" noProof="0" dirty="0">
              <a:ln>
                <a:noFill/>
              </a:ln>
              <a:solidFill>
                <a:srgbClr val="02051C"/>
              </a:solidFill>
              <a:effectLst/>
              <a:uLnTx/>
              <a:uFillTx/>
              <a:latin typeface="Manrope" pitchFamily="2" charset="0"/>
              <a:cs typeface="Calibri Light"/>
            </a:endParaRPr>
          </a:p>
        </p:txBody>
      </p:sp>
      <p:sp>
        <p:nvSpPr>
          <p:cNvPr id="86" name="TextBox 85">
            <a:extLst>
              <a:ext uri="{FF2B5EF4-FFF2-40B4-BE49-F238E27FC236}">
                <a16:creationId xmlns:a16="http://schemas.microsoft.com/office/drawing/2014/main" id="{B438E427-CD97-5947-7230-753B20096393}"/>
              </a:ext>
            </a:extLst>
          </p:cNvPr>
          <p:cNvSpPr txBox="1"/>
          <p:nvPr/>
        </p:nvSpPr>
        <p:spPr>
          <a:xfrm>
            <a:off x="1606592" y="3576628"/>
            <a:ext cx="2429049" cy="430887"/>
          </a:xfrm>
          <a:prstGeom prst="rect">
            <a:avLst/>
          </a:prstGeom>
          <a:noFill/>
        </p:spPr>
        <p:txBody>
          <a:bodyPr wrap="square" lIns="0" tIns="0" rIns="0" bIns="0" rtlCol="0" anchor="b">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lang="en-US" sz="1400" b="1" kern="0" dirty="0">
                <a:solidFill>
                  <a:schemeClr val="accent1"/>
                </a:solidFill>
                <a:latin typeface="Manrope SemiBold" pitchFamily="2" charset="0"/>
                <a:cs typeface="Calibri Light" charset="0"/>
              </a:rPr>
              <a:t>UX Design -&gt; Component Specifications</a:t>
            </a:r>
            <a:endParaRPr kumimoji="0" lang="en-US" sz="1400" b="1" u="none" strike="noStrike" kern="0" cap="none" spc="0" normalizeH="0" baseline="0" noProof="0" dirty="0">
              <a:ln>
                <a:noFill/>
              </a:ln>
              <a:solidFill>
                <a:schemeClr val="accent1"/>
              </a:solidFill>
              <a:effectLst/>
              <a:uLnTx/>
              <a:uFillTx/>
              <a:latin typeface="Manrope SemiBold" pitchFamily="2" charset="0"/>
              <a:cs typeface="Calibri Light" charset="0"/>
            </a:endParaRPr>
          </a:p>
        </p:txBody>
      </p:sp>
      <p:sp>
        <p:nvSpPr>
          <p:cNvPr id="144" name="TextBox 143">
            <a:extLst>
              <a:ext uri="{FF2B5EF4-FFF2-40B4-BE49-F238E27FC236}">
                <a16:creationId xmlns:a16="http://schemas.microsoft.com/office/drawing/2014/main" id="{8DA8C1DF-3CD3-7A6C-7EFB-3232BEEC34BC}"/>
              </a:ext>
            </a:extLst>
          </p:cNvPr>
          <p:cNvSpPr txBox="1"/>
          <p:nvPr/>
        </p:nvSpPr>
        <p:spPr>
          <a:xfrm>
            <a:off x="8441916" y="4107424"/>
            <a:ext cx="2371102" cy="169277"/>
          </a:xfrm>
          <a:prstGeom prst="rect">
            <a:avLst/>
          </a:prstGeom>
          <a:noFill/>
        </p:spPr>
        <p:txBody>
          <a:bodyPr wrap="square" lIns="0" tIns="0" rIns="0" bIns="0" rtlCol="0">
            <a:spAutoFit/>
          </a:bodyPr>
          <a:lstStyle/>
          <a:p>
            <a:r>
              <a:rPr lang="en-US" sz="1100"/>
              <a:t>Deploy component code to AEM</a:t>
            </a:r>
            <a:endParaRPr lang="en-IN" sz="1100"/>
          </a:p>
        </p:txBody>
      </p:sp>
      <p:sp>
        <p:nvSpPr>
          <p:cNvPr id="145" name="TextBox 144">
            <a:extLst>
              <a:ext uri="{FF2B5EF4-FFF2-40B4-BE49-F238E27FC236}">
                <a16:creationId xmlns:a16="http://schemas.microsoft.com/office/drawing/2014/main" id="{E1923147-5477-B140-4187-34A22312C60F}"/>
              </a:ext>
            </a:extLst>
          </p:cNvPr>
          <p:cNvSpPr txBox="1"/>
          <p:nvPr/>
        </p:nvSpPr>
        <p:spPr>
          <a:xfrm>
            <a:off x="8441916" y="3861959"/>
            <a:ext cx="1870289" cy="215444"/>
          </a:xfrm>
          <a:prstGeom prst="rect">
            <a:avLst/>
          </a:prstGeom>
          <a:noFill/>
        </p:spPr>
        <p:txBody>
          <a:bodyPr wrap="square" lIns="0" tIns="0" rIns="0" bIns="0" rtlCol="0" anchor="b">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kumimoji="0" lang="en-US" sz="1400" b="1" u="none" strike="noStrike" kern="0" cap="none" spc="0" normalizeH="0" baseline="0" noProof="0" dirty="0">
                <a:ln>
                  <a:noFill/>
                </a:ln>
                <a:solidFill>
                  <a:schemeClr val="accent1"/>
                </a:solidFill>
                <a:effectLst/>
                <a:uLnTx/>
                <a:uFillTx/>
                <a:latin typeface="Manrope SemiBold" pitchFamily="2" charset="0"/>
                <a:cs typeface="Calibri Light" charset="0"/>
              </a:rPr>
              <a:t>Integration into AEM</a:t>
            </a:r>
          </a:p>
        </p:txBody>
      </p:sp>
      <p:sp>
        <p:nvSpPr>
          <p:cNvPr id="23" name="Freeform 22">
            <a:extLst>
              <a:ext uri="{FF2B5EF4-FFF2-40B4-BE49-F238E27FC236}">
                <a16:creationId xmlns:a16="http://schemas.microsoft.com/office/drawing/2014/main" id="{32D8D841-ECB0-1A8E-46DB-570C1AD6F6E4}"/>
              </a:ext>
            </a:extLst>
          </p:cNvPr>
          <p:cNvSpPr/>
          <p:nvPr/>
        </p:nvSpPr>
        <p:spPr>
          <a:xfrm>
            <a:off x="3781688" y="3785920"/>
            <a:ext cx="676511" cy="692469"/>
          </a:xfrm>
          <a:custGeom>
            <a:avLst/>
            <a:gdLst>
              <a:gd name="connsiteX0" fmla="*/ 658863 w 857406"/>
              <a:gd name="connsiteY0" fmla="*/ 67454 h 857668"/>
              <a:gd name="connsiteX1" fmla="*/ 429203 w 857406"/>
              <a:gd name="connsiteY1" fmla="*/ 0 h 857668"/>
              <a:gd name="connsiteX2" fmla="*/ 335926 w 857406"/>
              <a:gd name="connsiteY2" fmla="*/ 10283 h 857668"/>
              <a:gd name="connsiteX3" fmla="*/ 264435 w 857406"/>
              <a:gd name="connsiteY3" fmla="*/ 32813 h 857668"/>
              <a:gd name="connsiteX4" fmla="*/ 10263 w 857406"/>
              <a:gd name="connsiteY4" fmla="*/ 521682 h 857668"/>
              <a:gd name="connsiteX5" fmla="*/ 428657 w 857406"/>
              <a:gd name="connsiteY5" fmla="*/ 857669 h 857668"/>
              <a:gd name="connsiteX6" fmla="*/ 521470 w 857406"/>
              <a:gd name="connsiteY6" fmla="*/ 847468 h 857668"/>
              <a:gd name="connsiteX7" fmla="*/ 592961 w 857406"/>
              <a:gd name="connsiteY7" fmla="*/ 824938 h 857668"/>
              <a:gd name="connsiteX8" fmla="*/ 847133 w 857406"/>
              <a:gd name="connsiteY8" fmla="*/ 336068 h 857668"/>
              <a:gd name="connsiteX9" fmla="*/ 658863 w 857406"/>
              <a:gd name="connsiteY9" fmla="*/ 67454 h 857668"/>
              <a:gd name="connsiteX10" fmla="*/ 584918 w 857406"/>
              <a:gd name="connsiteY10" fmla="*/ 805572 h 857668"/>
              <a:gd name="connsiteX11" fmla="*/ 516917 w 857406"/>
              <a:gd name="connsiteY11" fmla="*/ 826983 h 857668"/>
              <a:gd name="connsiteX12" fmla="*/ 428630 w 857406"/>
              <a:gd name="connsiteY12" fmla="*/ 836694 h 857668"/>
              <a:gd name="connsiteX13" fmla="*/ 30740 w 857406"/>
              <a:gd name="connsiteY13" fmla="*/ 517154 h 857668"/>
              <a:gd name="connsiteX14" fmla="*/ 272479 w 857406"/>
              <a:gd name="connsiteY14" fmla="*/ 52234 h 857668"/>
              <a:gd name="connsiteX15" fmla="*/ 340480 w 857406"/>
              <a:gd name="connsiteY15" fmla="*/ 30822 h 857668"/>
              <a:gd name="connsiteX16" fmla="*/ 429230 w 857406"/>
              <a:gd name="connsiteY16" fmla="*/ 21030 h 857668"/>
              <a:gd name="connsiteX17" fmla="*/ 647602 w 857406"/>
              <a:gd name="connsiteY17" fmla="*/ 85183 h 857668"/>
              <a:gd name="connsiteX18" fmla="*/ 826656 w 857406"/>
              <a:gd name="connsiteY18" fmla="*/ 340651 h 857668"/>
              <a:gd name="connsiteX19" fmla="*/ 584918 w 857406"/>
              <a:gd name="connsiteY19" fmla="*/ 805572 h 85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7406" h="857668">
                <a:moveTo>
                  <a:pt x="658863" y="67454"/>
                </a:moveTo>
                <a:cubicBezTo>
                  <a:pt x="589607" y="23321"/>
                  <a:pt x="510209" y="0"/>
                  <a:pt x="429203" y="0"/>
                </a:cubicBezTo>
                <a:cubicBezTo>
                  <a:pt x="398065" y="0"/>
                  <a:pt x="366682" y="3464"/>
                  <a:pt x="335926" y="10283"/>
                </a:cubicBezTo>
                <a:cubicBezTo>
                  <a:pt x="311469" y="15711"/>
                  <a:pt x="287420" y="23294"/>
                  <a:pt x="264435" y="32813"/>
                </a:cubicBezTo>
                <a:cubicBezTo>
                  <a:pt x="72075" y="112514"/>
                  <a:pt x="-34834" y="318121"/>
                  <a:pt x="10263" y="521682"/>
                </a:cubicBezTo>
                <a:cubicBezTo>
                  <a:pt x="53425" y="716379"/>
                  <a:pt x="229399" y="857669"/>
                  <a:pt x="428657" y="857669"/>
                </a:cubicBezTo>
                <a:cubicBezTo>
                  <a:pt x="459713" y="857669"/>
                  <a:pt x="490932" y="854232"/>
                  <a:pt x="521470" y="847468"/>
                </a:cubicBezTo>
                <a:cubicBezTo>
                  <a:pt x="545846" y="842067"/>
                  <a:pt x="569894" y="834484"/>
                  <a:pt x="592961" y="824938"/>
                </a:cubicBezTo>
                <a:cubicBezTo>
                  <a:pt x="785349" y="745237"/>
                  <a:pt x="892258" y="539630"/>
                  <a:pt x="847133" y="336068"/>
                </a:cubicBezTo>
                <a:cubicBezTo>
                  <a:pt x="822376" y="224455"/>
                  <a:pt x="755520" y="129043"/>
                  <a:pt x="658863" y="67454"/>
                </a:cubicBezTo>
                <a:close/>
                <a:moveTo>
                  <a:pt x="584918" y="805572"/>
                </a:moveTo>
                <a:cubicBezTo>
                  <a:pt x="563023" y="814627"/>
                  <a:pt x="540147" y="821828"/>
                  <a:pt x="516917" y="826983"/>
                </a:cubicBezTo>
                <a:cubicBezTo>
                  <a:pt x="487851" y="833421"/>
                  <a:pt x="458159" y="836694"/>
                  <a:pt x="428630" y="836694"/>
                </a:cubicBezTo>
                <a:cubicBezTo>
                  <a:pt x="239133" y="836694"/>
                  <a:pt x="71775" y="702304"/>
                  <a:pt x="30740" y="517154"/>
                </a:cubicBezTo>
                <a:cubicBezTo>
                  <a:pt x="-12149" y="323576"/>
                  <a:pt x="89525" y="128034"/>
                  <a:pt x="272479" y="52234"/>
                </a:cubicBezTo>
                <a:cubicBezTo>
                  <a:pt x="294346" y="43178"/>
                  <a:pt x="317222" y="35977"/>
                  <a:pt x="340480" y="30822"/>
                </a:cubicBezTo>
                <a:cubicBezTo>
                  <a:pt x="369736" y="24330"/>
                  <a:pt x="399592" y="21030"/>
                  <a:pt x="429230" y="21030"/>
                </a:cubicBezTo>
                <a:cubicBezTo>
                  <a:pt x="506228" y="21030"/>
                  <a:pt x="581728" y="43233"/>
                  <a:pt x="647602" y="85183"/>
                </a:cubicBezTo>
                <a:cubicBezTo>
                  <a:pt x="739542" y="143772"/>
                  <a:pt x="803126" y="234492"/>
                  <a:pt x="826656" y="340651"/>
                </a:cubicBezTo>
                <a:cubicBezTo>
                  <a:pt x="869545" y="534229"/>
                  <a:pt x="767899" y="729771"/>
                  <a:pt x="584918" y="805572"/>
                </a:cubicBezTo>
                <a:close/>
              </a:path>
            </a:pathLst>
          </a:custGeom>
          <a:solidFill>
            <a:schemeClr val="bg1">
              <a:lumMod val="85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51C"/>
              </a:solidFill>
              <a:effectLst/>
              <a:uLnTx/>
              <a:uFillTx/>
              <a:latin typeface="Manrope"/>
            </a:endParaRPr>
          </a:p>
        </p:txBody>
      </p:sp>
      <p:sp>
        <p:nvSpPr>
          <p:cNvPr id="25" name="Freeform 24">
            <a:extLst>
              <a:ext uri="{FF2B5EF4-FFF2-40B4-BE49-F238E27FC236}">
                <a16:creationId xmlns:a16="http://schemas.microsoft.com/office/drawing/2014/main" id="{6FD0A8B6-0E4D-2E8F-A989-36DB1D02851D}"/>
              </a:ext>
            </a:extLst>
          </p:cNvPr>
          <p:cNvSpPr/>
          <p:nvPr/>
        </p:nvSpPr>
        <p:spPr>
          <a:xfrm>
            <a:off x="4578174" y="1798458"/>
            <a:ext cx="675610" cy="692734"/>
          </a:xfrm>
          <a:custGeom>
            <a:avLst/>
            <a:gdLst>
              <a:gd name="connsiteX0" fmla="*/ 763329 w 856265"/>
              <a:gd name="connsiteY0" fmla="*/ 162020 h 857996"/>
              <a:gd name="connsiteX1" fmla="*/ 697128 w 856265"/>
              <a:gd name="connsiteY1" fmla="*/ 95466 h 857996"/>
              <a:gd name="connsiteX2" fmla="*/ 634962 w 856265"/>
              <a:gd name="connsiteY2" fmla="*/ 53597 h 857996"/>
              <a:gd name="connsiteX3" fmla="*/ 427851 w 856265"/>
              <a:gd name="connsiteY3" fmla="*/ 0 h 857996"/>
              <a:gd name="connsiteX4" fmla="*/ 94417 w 856265"/>
              <a:gd name="connsiteY4" fmla="*/ 159592 h 857996"/>
              <a:gd name="connsiteX5" fmla="*/ 92699 w 856265"/>
              <a:gd name="connsiteY5" fmla="*/ 696304 h 857996"/>
              <a:gd name="connsiteX6" fmla="*/ 158546 w 856265"/>
              <a:gd name="connsiteY6" fmla="*/ 762530 h 857996"/>
              <a:gd name="connsiteX7" fmla="*/ 220712 w 856265"/>
              <a:gd name="connsiteY7" fmla="*/ 804399 h 857996"/>
              <a:gd name="connsiteX8" fmla="*/ 427823 w 856265"/>
              <a:gd name="connsiteY8" fmla="*/ 857996 h 857996"/>
              <a:gd name="connsiteX9" fmla="*/ 761257 w 856265"/>
              <a:gd name="connsiteY9" fmla="*/ 698377 h 857996"/>
              <a:gd name="connsiteX10" fmla="*/ 853797 w 856265"/>
              <a:gd name="connsiteY10" fmla="*/ 383638 h 857996"/>
              <a:gd name="connsiteX11" fmla="*/ 763329 w 856265"/>
              <a:gd name="connsiteY11" fmla="*/ 161965 h 857996"/>
              <a:gd name="connsiteX12" fmla="*/ 744925 w 856265"/>
              <a:gd name="connsiteY12" fmla="*/ 685202 h 857996"/>
              <a:gd name="connsiteX13" fmla="*/ 230855 w 856265"/>
              <a:gd name="connsiteY13" fmla="*/ 786015 h 857996"/>
              <a:gd name="connsiteX14" fmla="*/ 171716 w 856265"/>
              <a:gd name="connsiteY14" fmla="*/ 746192 h 857996"/>
              <a:gd name="connsiteX15" fmla="*/ 109086 w 856265"/>
              <a:gd name="connsiteY15" fmla="*/ 683211 h 857996"/>
              <a:gd name="connsiteX16" fmla="*/ 110722 w 856265"/>
              <a:gd name="connsiteY16" fmla="*/ 172767 h 857996"/>
              <a:gd name="connsiteX17" fmla="*/ 624792 w 856265"/>
              <a:gd name="connsiteY17" fmla="*/ 71954 h 857996"/>
              <a:gd name="connsiteX18" fmla="*/ 683931 w 856265"/>
              <a:gd name="connsiteY18" fmla="*/ 111777 h 857996"/>
              <a:gd name="connsiteX19" fmla="*/ 746915 w 856265"/>
              <a:gd name="connsiteY19" fmla="*/ 175085 h 857996"/>
              <a:gd name="connsiteX20" fmla="*/ 832911 w 856265"/>
              <a:gd name="connsiteY20" fmla="*/ 385875 h 857996"/>
              <a:gd name="connsiteX21" fmla="*/ 744898 w 856265"/>
              <a:gd name="connsiteY21" fmla="*/ 685202 h 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6265" h="857996">
                <a:moveTo>
                  <a:pt x="763329" y="162020"/>
                </a:moveTo>
                <a:cubicBezTo>
                  <a:pt x="743889" y="137662"/>
                  <a:pt x="721640" y="115269"/>
                  <a:pt x="697128" y="95466"/>
                </a:cubicBezTo>
                <a:cubicBezTo>
                  <a:pt x="677660" y="79728"/>
                  <a:pt x="656720" y="65626"/>
                  <a:pt x="634962" y="53597"/>
                </a:cubicBezTo>
                <a:cubicBezTo>
                  <a:pt x="571541" y="18520"/>
                  <a:pt x="499914" y="0"/>
                  <a:pt x="427851" y="0"/>
                </a:cubicBezTo>
                <a:cubicBezTo>
                  <a:pt x="297874" y="0"/>
                  <a:pt x="176324" y="58180"/>
                  <a:pt x="94417" y="159592"/>
                </a:cubicBezTo>
                <a:cubicBezTo>
                  <a:pt x="-30815" y="314739"/>
                  <a:pt x="-31551" y="540475"/>
                  <a:pt x="92699" y="696304"/>
                </a:cubicBezTo>
                <a:cubicBezTo>
                  <a:pt x="112058" y="720607"/>
                  <a:pt x="134225" y="742864"/>
                  <a:pt x="158546" y="762530"/>
                </a:cubicBezTo>
                <a:cubicBezTo>
                  <a:pt x="177987" y="778241"/>
                  <a:pt x="198900" y="792316"/>
                  <a:pt x="220712" y="804399"/>
                </a:cubicBezTo>
                <a:cubicBezTo>
                  <a:pt x="284132" y="839476"/>
                  <a:pt x="355760" y="857996"/>
                  <a:pt x="427823" y="857996"/>
                </a:cubicBezTo>
                <a:cubicBezTo>
                  <a:pt x="557800" y="857996"/>
                  <a:pt x="679350" y="799816"/>
                  <a:pt x="761257" y="698377"/>
                </a:cubicBezTo>
                <a:cubicBezTo>
                  <a:pt x="833048" y="609429"/>
                  <a:pt x="865931" y="497652"/>
                  <a:pt x="853797" y="383638"/>
                </a:cubicBezTo>
                <a:cubicBezTo>
                  <a:pt x="845099" y="301973"/>
                  <a:pt x="813825" y="225328"/>
                  <a:pt x="763329" y="161965"/>
                </a:cubicBezTo>
                <a:close/>
                <a:moveTo>
                  <a:pt x="744925" y="685202"/>
                </a:moveTo>
                <a:cubicBezTo>
                  <a:pt x="620375" y="839449"/>
                  <a:pt x="404184" y="881863"/>
                  <a:pt x="230855" y="786015"/>
                </a:cubicBezTo>
                <a:cubicBezTo>
                  <a:pt x="210133" y="774532"/>
                  <a:pt x="190229" y="761139"/>
                  <a:pt x="171716" y="746192"/>
                </a:cubicBezTo>
                <a:cubicBezTo>
                  <a:pt x="148540" y="727480"/>
                  <a:pt x="127490" y="706287"/>
                  <a:pt x="109086" y="683211"/>
                </a:cubicBezTo>
                <a:cubicBezTo>
                  <a:pt x="-9057" y="534993"/>
                  <a:pt x="-8375" y="320330"/>
                  <a:pt x="110722" y="172767"/>
                </a:cubicBezTo>
                <a:cubicBezTo>
                  <a:pt x="235299" y="18520"/>
                  <a:pt x="451490" y="-23867"/>
                  <a:pt x="624792" y="71954"/>
                </a:cubicBezTo>
                <a:cubicBezTo>
                  <a:pt x="645486" y="83410"/>
                  <a:pt x="665390" y="96803"/>
                  <a:pt x="683931" y="111777"/>
                </a:cubicBezTo>
                <a:cubicBezTo>
                  <a:pt x="707243" y="130598"/>
                  <a:pt x="728429" y="151928"/>
                  <a:pt x="746915" y="175085"/>
                </a:cubicBezTo>
                <a:cubicBezTo>
                  <a:pt x="794903" y="235283"/>
                  <a:pt x="824650" y="308192"/>
                  <a:pt x="832911" y="385875"/>
                </a:cubicBezTo>
                <a:cubicBezTo>
                  <a:pt x="844445" y="494297"/>
                  <a:pt x="813198" y="600619"/>
                  <a:pt x="744898" y="685202"/>
                </a:cubicBezTo>
                <a:close/>
              </a:path>
            </a:pathLst>
          </a:custGeom>
          <a:solidFill>
            <a:schemeClr val="bg1">
              <a:lumMod val="85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51C"/>
              </a:solidFill>
              <a:effectLst/>
              <a:uLnTx/>
              <a:uFillTx/>
              <a:latin typeface="Manrope"/>
            </a:endParaRPr>
          </a:p>
        </p:txBody>
      </p:sp>
      <p:sp>
        <p:nvSpPr>
          <p:cNvPr id="27" name="Freeform 26">
            <a:extLst>
              <a:ext uri="{FF2B5EF4-FFF2-40B4-BE49-F238E27FC236}">
                <a16:creationId xmlns:a16="http://schemas.microsoft.com/office/drawing/2014/main" id="{4E8B1D70-42A3-E2E0-3A73-03CE643611AB}"/>
              </a:ext>
            </a:extLst>
          </p:cNvPr>
          <p:cNvSpPr/>
          <p:nvPr/>
        </p:nvSpPr>
        <p:spPr>
          <a:xfrm>
            <a:off x="6734099" y="1798458"/>
            <a:ext cx="676284" cy="692337"/>
          </a:xfrm>
          <a:custGeom>
            <a:avLst/>
            <a:gdLst>
              <a:gd name="connsiteX0" fmla="*/ 846367 w 857119"/>
              <a:gd name="connsiteY0" fmla="*/ 524683 h 857505"/>
              <a:gd name="connsiteX1" fmla="*/ 857110 w 857119"/>
              <a:gd name="connsiteY1" fmla="*/ 431426 h 857505"/>
              <a:gd name="connsiteX2" fmla="*/ 851084 w 857119"/>
              <a:gd name="connsiteY2" fmla="*/ 356689 h 857505"/>
              <a:gd name="connsiteX3" fmla="*/ 431218 w 857119"/>
              <a:gd name="connsiteY3" fmla="*/ 0 h 857505"/>
              <a:gd name="connsiteX4" fmla="*/ 428628 w 857119"/>
              <a:gd name="connsiteY4" fmla="*/ 0 h 857505"/>
              <a:gd name="connsiteX5" fmla="*/ 10697 w 857119"/>
              <a:gd name="connsiteY5" fmla="*/ 333286 h 857505"/>
              <a:gd name="connsiteX6" fmla="*/ 9 w 857119"/>
              <a:gd name="connsiteY6" fmla="*/ 426080 h 857505"/>
              <a:gd name="connsiteX7" fmla="*/ 6035 w 857119"/>
              <a:gd name="connsiteY7" fmla="*/ 500816 h 857505"/>
              <a:gd name="connsiteX8" fmla="*/ 425901 w 857119"/>
              <a:gd name="connsiteY8" fmla="*/ 857505 h 857505"/>
              <a:gd name="connsiteX9" fmla="*/ 428573 w 857119"/>
              <a:gd name="connsiteY9" fmla="*/ 857505 h 857505"/>
              <a:gd name="connsiteX10" fmla="*/ 729588 w 857119"/>
              <a:gd name="connsiteY10" fmla="*/ 733645 h 857505"/>
              <a:gd name="connsiteX11" fmla="*/ 846394 w 857119"/>
              <a:gd name="connsiteY11" fmla="*/ 524683 h 857505"/>
              <a:gd name="connsiteX12" fmla="*/ 426010 w 857119"/>
              <a:gd name="connsiteY12" fmla="*/ 836530 h 857505"/>
              <a:gd name="connsiteX13" fmla="*/ 26702 w 857119"/>
              <a:gd name="connsiteY13" fmla="*/ 497325 h 857505"/>
              <a:gd name="connsiteX14" fmla="*/ 20949 w 857119"/>
              <a:gd name="connsiteY14" fmla="*/ 426243 h 857505"/>
              <a:gd name="connsiteX15" fmla="*/ 31119 w 857119"/>
              <a:gd name="connsiteY15" fmla="*/ 337978 h 857505"/>
              <a:gd name="connsiteX16" fmla="*/ 431082 w 857119"/>
              <a:gd name="connsiteY16" fmla="*/ 21003 h 857505"/>
              <a:gd name="connsiteX17" fmla="*/ 830389 w 857119"/>
              <a:gd name="connsiteY17" fmla="*/ 360208 h 857505"/>
              <a:gd name="connsiteX18" fmla="*/ 836142 w 857119"/>
              <a:gd name="connsiteY18" fmla="*/ 431289 h 857505"/>
              <a:gd name="connsiteX19" fmla="*/ 825918 w 857119"/>
              <a:gd name="connsiteY19" fmla="*/ 520018 h 857505"/>
              <a:gd name="connsiteX20" fmla="*/ 714809 w 857119"/>
              <a:gd name="connsiteY20" fmla="*/ 718725 h 857505"/>
              <a:gd name="connsiteX21" fmla="*/ 426010 w 857119"/>
              <a:gd name="connsiteY21" fmla="*/ 836530 h 857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119" h="857505">
                <a:moveTo>
                  <a:pt x="846367" y="524683"/>
                </a:moveTo>
                <a:cubicBezTo>
                  <a:pt x="853293" y="494297"/>
                  <a:pt x="856919" y="462930"/>
                  <a:pt x="857110" y="431426"/>
                </a:cubicBezTo>
                <a:cubicBezTo>
                  <a:pt x="857273" y="406414"/>
                  <a:pt x="855256" y="381265"/>
                  <a:pt x="851084" y="356689"/>
                </a:cubicBezTo>
                <a:cubicBezTo>
                  <a:pt x="816211" y="151328"/>
                  <a:pt x="639638" y="1337"/>
                  <a:pt x="431218" y="0"/>
                </a:cubicBezTo>
                <a:lnTo>
                  <a:pt x="428628" y="0"/>
                </a:lnTo>
                <a:cubicBezTo>
                  <a:pt x="230514" y="0"/>
                  <a:pt x="54731" y="140172"/>
                  <a:pt x="10697" y="333286"/>
                </a:cubicBezTo>
                <a:cubicBezTo>
                  <a:pt x="3799" y="363590"/>
                  <a:pt x="200" y="394821"/>
                  <a:pt x="9" y="426080"/>
                </a:cubicBezTo>
                <a:cubicBezTo>
                  <a:pt x="-155" y="451092"/>
                  <a:pt x="1890" y="476213"/>
                  <a:pt x="6035" y="500816"/>
                </a:cubicBezTo>
                <a:cubicBezTo>
                  <a:pt x="40908" y="706178"/>
                  <a:pt x="217509" y="856196"/>
                  <a:pt x="425901" y="857505"/>
                </a:cubicBezTo>
                <a:lnTo>
                  <a:pt x="428573" y="857505"/>
                </a:lnTo>
                <a:cubicBezTo>
                  <a:pt x="541835" y="857505"/>
                  <a:pt x="648744" y="813509"/>
                  <a:pt x="729588" y="733645"/>
                </a:cubicBezTo>
                <a:cubicBezTo>
                  <a:pt x="787991" y="675929"/>
                  <a:pt x="828399" y="603674"/>
                  <a:pt x="846394" y="524683"/>
                </a:cubicBezTo>
                <a:close/>
                <a:moveTo>
                  <a:pt x="426010" y="836530"/>
                </a:moveTo>
                <a:cubicBezTo>
                  <a:pt x="227815" y="835275"/>
                  <a:pt x="59857" y="692621"/>
                  <a:pt x="26702" y="497325"/>
                </a:cubicBezTo>
                <a:cubicBezTo>
                  <a:pt x="22749" y="473976"/>
                  <a:pt x="20813" y="450028"/>
                  <a:pt x="20949" y="426243"/>
                </a:cubicBezTo>
                <a:cubicBezTo>
                  <a:pt x="21140" y="396458"/>
                  <a:pt x="24576" y="366781"/>
                  <a:pt x="31119" y="337978"/>
                </a:cubicBezTo>
                <a:cubicBezTo>
                  <a:pt x="73272" y="153155"/>
                  <a:pt x="241475" y="19857"/>
                  <a:pt x="431082" y="21003"/>
                </a:cubicBezTo>
                <a:cubicBezTo>
                  <a:pt x="629304" y="22257"/>
                  <a:pt x="797234" y="164911"/>
                  <a:pt x="830389" y="360208"/>
                </a:cubicBezTo>
                <a:cubicBezTo>
                  <a:pt x="834343" y="383529"/>
                  <a:pt x="836306" y="407450"/>
                  <a:pt x="836142" y="431289"/>
                </a:cubicBezTo>
                <a:cubicBezTo>
                  <a:pt x="835952" y="461266"/>
                  <a:pt x="832516" y="491106"/>
                  <a:pt x="825918" y="520018"/>
                </a:cubicBezTo>
                <a:cubicBezTo>
                  <a:pt x="808795" y="595109"/>
                  <a:pt x="770377" y="663818"/>
                  <a:pt x="714809" y="718725"/>
                </a:cubicBezTo>
                <a:cubicBezTo>
                  <a:pt x="637266" y="795343"/>
                  <a:pt x="534692" y="837185"/>
                  <a:pt x="426010" y="836530"/>
                </a:cubicBezTo>
                <a:close/>
              </a:path>
            </a:pathLst>
          </a:custGeom>
          <a:solidFill>
            <a:schemeClr val="bg1">
              <a:lumMod val="85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51C"/>
              </a:solidFill>
              <a:effectLst/>
              <a:uLnTx/>
              <a:uFillTx/>
              <a:latin typeface="Manrope"/>
            </a:endParaRPr>
          </a:p>
        </p:txBody>
      </p:sp>
      <p:sp>
        <p:nvSpPr>
          <p:cNvPr id="29" name="Freeform 28">
            <a:extLst>
              <a:ext uri="{FF2B5EF4-FFF2-40B4-BE49-F238E27FC236}">
                <a16:creationId xmlns:a16="http://schemas.microsoft.com/office/drawing/2014/main" id="{43046CCA-5539-94E9-1980-C7563015E448}"/>
              </a:ext>
            </a:extLst>
          </p:cNvPr>
          <p:cNvSpPr/>
          <p:nvPr/>
        </p:nvSpPr>
        <p:spPr>
          <a:xfrm>
            <a:off x="7553168" y="3787836"/>
            <a:ext cx="676714" cy="691787"/>
          </a:xfrm>
          <a:custGeom>
            <a:avLst/>
            <a:gdLst>
              <a:gd name="connsiteX0" fmla="*/ 765602 w 857664"/>
              <a:gd name="connsiteY0" fmla="*/ 163002 h 856823"/>
              <a:gd name="connsiteX1" fmla="*/ 427261 w 857664"/>
              <a:gd name="connsiteY1" fmla="*/ 0 h 856823"/>
              <a:gd name="connsiteX2" fmla="*/ 242890 w 857664"/>
              <a:gd name="connsiteY2" fmla="*/ 41923 h 856823"/>
              <a:gd name="connsiteX3" fmla="*/ 163710 w 857664"/>
              <a:gd name="connsiteY3" fmla="*/ 91402 h 856823"/>
              <a:gd name="connsiteX4" fmla="*/ 109069 w 857664"/>
              <a:gd name="connsiteY4" fmla="*/ 142708 h 856823"/>
              <a:gd name="connsiteX5" fmla="*/ 92109 w 857664"/>
              <a:gd name="connsiteY5" fmla="*/ 693494 h 856823"/>
              <a:gd name="connsiteX6" fmla="*/ 378237 w 857664"/>
              <a:gd name="connsiteY6" fmla="*/ 853769 h 856823"/>
              <a:gd name="connsiteX7" fmla="*/ 429715 w 857664"/>
              <a:gd name="connsiteY7" fmla="*/ 856823 h 856823"/>
              <a:gd name="connsiteX8" fmla="*/ 614386 w 857664"/>
              <a:gd name="connsiteY8" fmla="*/ 814846 h 856823"/>
              <a:gd name="connsiteX9" fmla="*/ 693948 w 857664"/>
              <a:gd name="connsiteY9" fmla="*/ 765094 h 856823"/>
              <a:gd name="connsiteX10" fmla="*/ 748616 w 857664"/>
              <a:gd name="connsiteY10" fmla="*/ 713760 h 856823"/>
              <a:gd name="connsiteX11" fmla="*/ 765575 w 857664"/>
              <a:gd name="connsiteY11" fmla="*/ 162975 h 856823"/>
              <a:gd name="connsiteX12" fmla="*/ 732993 w 857664"/>
              <a:gd name="connsiteY12" fmla="*/ 699822 h 856823"/>
              <a:gd name="connsiteX13" fmla="*/ 681024 w 857664"/>
              <a:gd name="connsiteY13" fmla="*/ 748646 h 856823"/>
              <a:gd name="connsiteX14" fmla="*/ 605307 w 857664"/>
              <a:gd name="connsiteY14" fmla="*/ 795971 h 856823"/>
              <a:gd name="connsiteX15" fmla="*/ 380746 w 857664"/>
              <a:gd name="connsiteY15" fmla="*/ 832957 h 856823"/>
              <a:gd name="connsiteX16" fmla="*/ 108605 w 857664"/>
              <a:gd name="connsiteY16" fmla="*/ 680538 h 856823"/>
              <a:gd name="connsiteX17" fmla="*/ 124720 w 857664"/>
              <a:gd name="connsiteY17" fmla="*/ 156728 h 856823"/>
              <a:gd name="connsiteX18" fmla="*/ 176688 w 857664"/>
              <a:gd name="connsiteY18" fmla="*/ 107931 h 856823"/>
              <a:gd name="connsiteX19" fmla="*/ 251996 w 857664"/>
              <a:gd name="connsiteY19" fmla="*/ 60880 h 856823"/>
              <a:gd name="connsiteX20" fmla="*/ 749079 w 857664"/>
              <a:gd name="connsiteY20" fmla="*/ 176067 h 856823"/>
              <a:gd name="connsiteX21" fmla="*/ 732965 w 857664"/>
              <a:gd name="connsiteY21" fmla="*/ 699877 h 85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664" h="856823">
                <a:moveTo>
                  <a:pt x="765602" y="163002"/>
                </a:moveTo>
                <a:cubicBezTo>
                  <a:pt x="685250" y="60935"/>
                  <a:pt x="558764" y="0"/>
                  <a:pt x="427261" y="0"/>
                </a:cubicBezTo>
                <a:cubicBezTo>
                  <a:pt x="362641" y="0"/>
                  <a:pt x="300611" y="14102"/>
                  <a:pt x="242890" y="41923"/>
                </a:cubicBezTo>
                <a:cubicBezTo>
                  <a:pt x="214888" y="55425"/>
                  <a:pt x="188249" y="72063"/>
                  <a:pt x="163710" y="91402"/>
                </a:cubicBezTo>
                <a:cubicBezTo>
                  <a:pt x="144078" y="106840"/>
                  <a:pt x="125701" y="124106"/>
                  <a:pt x="109069" y="142708"/>
                </a:cubicBezTo>
                <a:cubicBezTo>
                  <a:pt x="-29687" y="298046"/>
                  <a:pt x="-36830" y="529674"/>
                  <a:pt x="92109" y="693494"/>
                </a:cubicBezTo>
                <a:cubicBezTo>
                  <a:pt x="162810" y="783314"/>
                  <a:pt x="264430" y="840240"/>
                  <a:pt x="378237" y="853769"/>
                </a:cubicBezTo>
                <a:cubicBezTo>
                  <a:pt x="395306" y="855814"/>
                  <a:pt x="412619" y="856823"/>
                  <a:pt x="429715" y="856823"/>
                </a:cubicBezTo>
                <a:cubicBezTo>
                  <a:pt x="493517" y="856823"/>
                  <a:pt x="557401" y="842313"/>
                  <a:pt x="614386" y="814846"/>
                </a:cubicBezTo>
                <a:cubicBezTo>
                  <a:pt x="642443" y="801317"/>
                  <a:pt x="669218" y="784596"/>
                  <a:pt x="693948" y="765094"/>
                </a:cubicBezTo>
                <a:cubicBezTo>
                  <a:pt x="713607" y="749629"/>
                  <a:pt x="731984" y="732363"/>
                  <a:pt x="748616" y="713760"/>
                </a:cubicBezTo>
                <a:cubicBezTo>
                  <a:pt x="887344" y="558450"/>
                  <a:pt x="894488" y="326822"/>
                  <a:pt x="765575" y="162975"/>
                </a:cubicBezTo>
                <a:close/>
                <a:moveTo>
                  <a:pt x="732993" y="699822"/>
                </a:moveTo>
                <a:cubicBezTo>
                  <a:pt x="717233" y="717470"/>
                  <a:pt x="699728" y="733890"/>
                  <a:pt x="681024" y="748646"/>
                </a:cubicBezTo>
                <a:cubicBezTo>
                  <a:pt x="657466" y="767194"/>
                  <a:pt x="632000" y="783123"/>
                  <a:pt x="605307" y="795971"/>
                </a:cubicBezTo>
                <a:cubicBezTo>
                  <a:pt x="535942" y="829384"/>
                  <a:pt x="458289" y="842176"/>
                  <a:pt x="380746" y="832957"/>
                </a:cubicBezTo>
                <a:cubicBezTo>
                  <a:pt x="272500" y="820083"/>
                  <a:pt x="175870" y="765940"/>
                  <a:pt x="108605" y="680538"/>
                </a:cubicBezTo>
                <a:cubicBezTo>
                  <a:pt x="-14009" y="524737"/>
                  <a:pt x="-7220" y="304456"/>
                  <a:pt x="124720" y="156728"/>
                </a:cubicBezTo>
                <a:cubicBezTo>
                  <a:pt x="140506" y="139081"/>
                  <a:pt x="158011" y="122633"/>
                  <a:pt x="176688" y="107931"/>
                </a:cubicBezTo>
                <a:cubicBezTo>
                  <a:pt x="200082" y="89493"/>
                  <a:pt x="225412" y="73673"/>
                  <a:pt x="251996" y="60880"/>
                </a:cubicBezTo>
                <a:cubicBezTo>
                  <a:pt x="422735" y="-21385"/>
                  <a:pt x="631782" y="27058"/>
                  <a:pt x="749079" y="176067"/>
                </a:cubicBezTo>
                <a:cubicBezTo>
                  <a:pt x="871694" y="331868"/>
                  <a:pt x="864905" y="552177"/>
                  <a:pt x="732965" y="699877"/>
                </a:cubicBezTo>
                <a:close/>
              </a:path>
            </a:pathLst>
          </a:custGeom>
          <a:solidFill>
            <a:schemeClr val="bg1">
              <a:lumMod val="85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51C"/>
              </a:solidFill>
              <a:effectLst/>
              <a:uLnTx/>
              <a:uFillTx/>
              <a:latin typeface="Manrope"/>
            </a:endParaRPr>
          </a:p>
        </p:txBody>
      </p:sp>
      <p:sp>
        <p:nvSpPr>
          <p:cNvPr id="31" name="Oval 30">
            <a:extLst>
              <a:ext uri="{FF2B5EF4-FFF2-40B4-BE49-F238E27FC236}">
                <a16:creationId xmlns:a16="http://schemas.microsoft.com/office/drawing/2014/main" id="{291D0777-23C2-4206-A721-411634EA34F9}"/>
              </a:ext>
            </a:extLst>
          </p:cNvPr>
          <p:cNvSpPr/>
          <p:nvPr/>
        </p:nvSpPr>
        <p:spPr>
          <a:xfrm>
            <a:off x="4988823" y="2713761"/>
            <a:ext cx="2033925" cy="20812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u="none" strike="noStrike" kern="1200" cap="none" spc="0" normalizeH="0" baseline="0" noProof="0" dirty="0" err="1">
                <a:ln>
                  <a:noFill/>
                </a:ln>
                <a:solidFill>
                  <a:srgbClr val="FFFFFF"/>
                </a:solidFill>
                <a:effectLst/>
                <a:uLnTx/>
                <a:uFillTx/>
                <a:latin typeface="Manrope"/>
              </a:rPr>
              <a:t>Synapse.AI</a:t>
            </a:r>
            <a:endParaRPr kumimoji="0" lang="en-IN" sz="1600" b="1" u="none" strike="noStrike" kern="1200" cap="none" spc="0" normalizeH="0" baseline="0" noProof="0" dirty="0">
              <a:ln>
                <a:noFill/>
              </a:ln>
              <a:solidFill>
                <a:srgbClr val="FFFFFF"/>
              </a:solidFill>
              <a:effectLst/>
              <a:uLnTx/>
              <a:uFillTx/>
              <a:latin typeface="Manrope"/>
            </a:endParaRPr>
          </a:p>
        </p:txBody>
      </p:sp>
      <p:pic>
        <p:nvPicPr>
          <p:cNvPr id="37" name="Graphic 36">
            <a:extLst>
              <a:ext uri="{FF2B5EF4-FFF2-40B4-BE49-F238E27FC236}">
                <a16:creationId xmlns:a16="http://schemas.microsoft.com/office/drawing/2014/main" id="{9726F5AF-0176-C8B4-77B4-1F3ED3A784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23205" y="1919873"/>
            <a:ext cx="370883" cy="423717"/>
          </a:xfrm>
          <a:prstGeom prst="rect">
            <a:avLst/>
          </a:prstGeom>
        </p:spPr>
      </p:pic>
      <p:pic>
        <p:nvPicPr>
          <p:cNvPr id="41" name="Graphic 40">
            <a:extLst>
              <a:ext uri="{FF2B5EF4-FFF2-40B4-BE49-F238E27FC236}">
                <a16:creationId xmlns:a16="http://schemas.microsoft.com/office/drawing/2014/main" id="{6F41E018-2579-D55C-211D-43337350A0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06201" y="3904595"/>
            <a:ext cx="427483" cy="437433"/>
          </a:xfrm>
          <a:prstGeom prst="rect">
            <a:avLst/>
          </a:prstGeom>
        </p:spPr>
      </p:pic>
      <p:pic>
        <p:nvPicPr>
          <p:cNvPr id="43" name="Graphic 42">
            <a:extLst>
              <a:ext uri="{FF2B5EF4-FFF2-40B4-BE49-F238E27FC236}">
                <a16:creationId xmlns:a16="http://schemas.microsoft.com/office/drawing/2014/main" id="{837C5386-7C4B-676F-5524-D81ABB9697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7284" y="1906511"/>
            <a:ext cx="414079" cy="428290"/>
          </a:xfrm>
          <a:prstGeom prst="rect">
            <a:avLst/>
          </a:prstGeom>
        </p:spPr>
      </p:pic>
      <p:pic>
        <p:nvPicPr>
          <p:cNvPr id="47" name="Graphic 46">
            <a:extLst>
              <a:ext uri="{FF2B5EF4-FFF2-40B4-BE49-F238E27FC236}">
                <a16:creationId xmlns:a16="http://schemas.microsoft.com/office/drawing/2014/main" id="{E95B995B-AFBB-BB15-0908-A83E302219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65421" y="3886478"/>
            <a:ext cx="452210" cy="464412"/>
          </a:xfrm>
          <a:prstGeom prst="rect">
            <a:avLst/>
          </a:prstGeom>
        </p:spPr>
      </p:pic>
      <p:pic>
        <p:nvPicPr>
          <p:cNvPr id="17" name="Picture 2" descr="Hexaware Technologies">
            <a:extLst>
              <a:ext uri="{FF2B5EF4-FFF2-40B4-BE49-F238E27FC236}">
                <a16:creationId xmlns:a16="http://schemas.microsoft.com/office/drawing/2014/main" id="{7D455E04-A4A6-5287-A1E9-07998AA0660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6963" b="38041"/>
          <a:stretch/>
        </p:blipFill>
        <p:spPr bwMode="auto">
          <a:xfrm>
            <a:off x="5458796" y="3354198"/>
            <a:ext cx="1121139" cy="28024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4">
            <a:extLst>
              <a:ext uri="{FF2B5EF4-FFF2-40B4-BE49-F238E27FC236}">
                <a16:creationId xmlns:a16="http://schemas.microsoft.com/office/drawing/2014/main" id="{5D537AFB-BED0-2BB2-B44E-C4828646F4FB}"/>
              </a:ext>
            </a:extLst>
          </p:cNvPr>
          <p:cNvSpPr txBox="1">
            <a:spLocks/>
          </p:cNvSpPr>
          <p:nvPr/>
        </p:nvSpPr>
        <p:spPr>
          <a:xfrm flipH="1">
            <a:off x="623888" y="5437271"/>
            <a:ext cx="3999620" cy="2579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966788" algn="l"/>
              </a:tabLst>
            </a:pPr>
            <a:r>
              <a:rPr lang="en-IN" sz="1600" b="1" dirty="0">
                <a:solidFill>
                  <a:schemeClr val="tx1">
                    <a:lumMod val="50000"/>
                    <a:lumOff val="50000"/>
                  </a:schemeClr>
                </a:solidFill>
              </a:rPr>
              <a:t>Can reduce the efforts by 50% to 70%</a:t>
            </a:r>
          </a:p>
        </p:txBody>
      </p:sp>
      <p:sp>
        <p:nvSpPr>
          <p:cNvPr id="20" name="TextBox 19">
            <a:extLst>
              <a:ext uri="{FF2B5EF4-FFF2-40B4-BE49-F238E27FC236}">
                <a16:creationId xmlns:a16="http://schemas.microsoft.com/office/drawing/2014/main" id="{2BA3E0C2-1605-3A01-C4CF-972340CEC987}"/>
              </a:ext>
            </a:extLst>
          </p:cNvPr>
          <p:cNvSpPr txBox="1"/>
          <p:nvPr/>
        </p:nvSpPr>
        <p:spPr>
          <a:xfrm>
            <a:off x="544376" y="5783792"/>
            <a:ext cx="10944225" cy="523220"/>
          </a:xfrm>
          <a:prstGeom prst="rect">
            <a:avLst/>
          </a:prstGeom>
          <a:noFill/>
        </p:spPr>
        <p:txBody>
          <a:bodyPr wrap="square">
            <a:spAutoFit/>
          </a:bodyPr>
          <a:lstStyle/>
          <a:p>
            <a:r>
              <a:rPr lang="en-US" sz="1400" dirty="0"/>
              <a:t>Can significantly reduce manual effort, accelerate the design-to-development process, and ensure consistency in the creation of CMS components</a:t>
            </a:r>
            <a:r>
              <a:rPr lang="en-US" sz="1400" i="0" dirty="0">
                <a:solidFill>
                  <a:srgbClr val="282828"/>
                </a:solidFill>
                <a:effectLst/>
                <a:latin typeface="Roboto" panose="02000000000000000000" pitchFamily="2" charset="0"/>
              </a:rPr>
              <a:t>.</a:t>
            </a:r>
            <a:endParaRPr lang="en-IN" sz="1400" dirty="0"/>
          </a:p>
        </p:txBody>
      </p:sp>
      <p:sp>
        <p:nvSpPr>
          <p:cNvPr id="7" name="TextBox 6">
            <a:extLst>
              <a:ext uri="{FF2B5EF4-FFF2-40B4-BE49-F238E27FC236}">
                <a16:creationId xmlns:a16="http://schemas.microsoft.com/office/drawing/2014/main" id="{D735407B-F287-E653-77F5-954337522A19}"/>
              </a:ext>
            </a:extLst>
          </p:cNvPr>
          <p:cNvSpPr txBox="1"/>
          <p:nvPr/>
        </p:nvSpPr>
        <p:spPr>
          <a:xfrm>
            <a:off x="3949613" y="1375617"/>
            <a:ext cx="2331267" cy="169277"/>
          </a:xfrm>
          <a:prstGeom prst="rect">
            <a:avLst/>
          </a:prstGeom>
          <a:noFill/>
        </p:spPr>
        <p:txBody>
          <a:bodyPr wrap="square" lIns="0" tIns="0" rIns="0" bIns="0" rtlCol="0" anchor="t">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lang="en-US" sz="1100" kern="0" dirty="0">
                <a:solidFill>
                  <a:srgbClr val="02051C"/>
                </a:solidFill>
                <a:latin typeface="Manrope" pitchFamily="2" charset="0"/>
                <a:ea typeface="Calibri Light" charset="0"/>
                <a:cs typeface="Calibri Light"/>
              </a:rPr>
              <a:t>Use </a:t>
            </a:r>
            <a:r>
              <a:rPr kumimoji="0" lang="en-US" sz="1100" b="0" i="0" u="none" strike="noStrike" kern="0" cap="none" spc="0" normalizeH="0" baseline="0" noProof="0" dirty="0">
                <a:ln>
                  <a:noFill/>
                </a:ln>
                <a:solidFill>
                  <a:srgbClr val="02051C"/>
                </a:solidFill>
                <a:effectLst/>
                <a:uLnTx/>
                <a:uFillTx/>
                <a:latin typeface="Manrope" pitchFamily="2" charset="0"/>
                <a:ea typeface="Calibri Light" charset="0"/>
                <a:cs typeface="Calibri Light"/>
              </a:rPr>
              <a:t>JIRA API to create the stories , </a:t>
            </a:r>
          </a:p>
        </p:txBody>
      </p:sp>
      <p:sp>
        <p:nvSpPr>
          <p:cNvPr id="8" name="TextBox 7">
            <a:extLst>
              <a:ext uri="{FF2B5EF4-FFF2-40B4-BE49-F238E27FC236}">
                <a16:creationId xmlns:a16="http://schemas.microsoft.com/office/drawing/2014/main" id="{0D726165-5FA1-7F4D-569D-15960833F64D}"/>
              </a:ext>
            </a:extLst>
          </p:cNvPr>
          <p:cNvSpPr txBox="1"/>
          <p:nvPr/>
        </p:nvSpPr>
        <p:spPr>
          <a:xfrm>
            <a:off x="3949613" y="1120871"/>
            <a:ext cx="2784486" cy="215444"/>
          </a:xfrm>
          <a:prstGeom prst="rect">
            <a:avLst/>
          </a:prstGeom>
          <a:noFill/>
        </p:spPr>
        <p:txBody>
          <a:bodyPr wrap="square" lIns="0" tIns="0" rIns="0" bIns="0" rtlCol="0" anchor="b">
            <a:spAutoFit/>
          </a:bodyPr>
          <a:lstStyle/>
          <a:p>
            <a:pPr marL="0" marR="0" lvl="0" indent="0" defTabSz="1218987" rtl="0" eaLnBrk="1" fontAlgn="auto" latinLnBrk="0" hangingPunct="1">
              <a:lnSpc>
                <a:spcPct val="100000"/>
              </a:lnSpc>
              <a:spcBef>
                <a:spcPts val="0"/>
              </a:spcBef>
              <a:spcAft>
                <a:spcPts val="0"/>
              </a:spcAft>
              <a:buClrTx/>
              <a:buSzTx/>
              <a:buFontTx/>
              <a:buNone/>
              <a:tabLst/>
              <a:defRPr/>
            </a:pPr>
            <a:r>
              <a:rPr kumimoji="0" lang="en-US" sz="1400" b="1" u="none" strike="noStrike" kern="0" cap="none" spc="0" normalizeH="0" baseline="0" noProof="0" dirty="0">
                <a:ln>
                  <a:noFill/>
                </a:ln>
                <a:solidFill>
                  <a:schemeClr val="accent1"/>
                </a:solidFill>
                <a:effectLst/>
                <a:uLnTx/>
                <a:uFillTx/>
                <a:latin typeface="Manrope SemiBold" pitchFamily="2" charset="0"/>
                <a:ea typeface="Calibri Light" charset="0"/>
                <a:cs typeface="Calibri Light" charset="0"/>
              </a:rPr>
              <a:t>JIRA Story Creation</a:t>
            </a:r>
          </a:p>
        </p:txBody>
      </p:sp>
      <p:sp>
        <p:nvSpPr>
          <p:cNvPr id="14" name="Isosceles Triangle 13">
            <a:extLst>
              <a:ext uri="{FF2B5EF4-FFF2-40B4-BE49-F238E27FC236}">
                <a16:creationId xmlns:a16="http://schemas.microsoft.com/office/drawing/2014/main" id="{994B99AB-933B-801E-EF18-560F50EEA74D}"/>
              </a:ext>
            </a:extLst>
          </p:cNvPr>
          <p:cNvSpPr/>
          <p:nvPr/>
        </p:nvSpPr>
        <p:spPr>
          <a:xfrm rot="1121830">
            <a:off x="4775966" y="3159420"/>
            <a:ext cx="161077" cy="29333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9ED6BBE8-D1CC-B12A-F641-D43E71BB8212}"/>
              </a:ext>
            </a:extLst>
          </p:cNvPr>
          <p:cNvSpPr/>
          <p:nvPr/>
        </p:nvSpPr>
        <p:spPr>
          <a:xfrm rot="5400000">
            <a:off x="5911795" y="2348372"/>
            <a:ext cx="161077" cy="29333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93150790-DA2C-E873-BC32-8CE6EC8CFA12}"/>
              </a:ext>
            </a:extLst>
          </p:cNvPr>
          <p:cNvSpPr/>
          <p:nvPr/>
        </p:nvSpPr>
        <p:spPr>
          <a:xfrm rot="9472439">
            <a:off x="7042629" y="3065636"/>
            <a:ext cx="161077" cy="29333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9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014EB-3DD8-2045-FE73-1A938F10209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A0ED7E-CC1B-DBB7-86BA-10640B3DB1A4}"/>
              </a:ext>
            </a:extLst>
          </p:cNvPr>
          <p:cNvSpPr txBox="1">
            <a:spLocks/>
          </p:cNvSpPr>
          <p:nvPr/>
        </p:nvSpPr>
        <p:spPr>
          <a:xfrm>
            <a:off x="279400" y="291371"/>
            <a:ext cx="9542694" cy="4524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400" b="0" i="0" u="none" strike="noStrike" kern="1200" cap="none" spc="0" normalizeH="0" baseline="0" noProof="0">
              <a:ln>
                <a:noFill/>
              </a:ln>
              <a:solidFill>
                <a:srgbClr val="02051C"/>
              </a:solidFill>
              <a:effectLst/>
              <a:uLnTx/>
              <a:uFillTx/>
              <a:latin typeface="Manrope Light"/>
            </a:endParaRPr>
          </a:p>
        </p:txBody>
      </p:sp>
      <p:sp>
        <p:nvSpPr>
          <p:cNvPr id="5" name="Text Placeholder 4">
            <a:extLst>
              <a:ext uri="{FF2B5EF4-FFF2-40B4-BE49-F238E27FC236}">
                <a16:creationId xmlns:a16="http://schemas.microsoft.com/office/drawing/2014/main" id="{BE28E914-1DE8-F22C-780B-B1AC3F9E81A8}"/>
              </a:ext>
            </a:extLst>
          </p:cNvPr>
          <p:cNvSpPr>
            <a:spLocks noGrp="1"/>
          </p:cNvSpPr>
          <p:nvPr>
            <p:ph type="body" sz="quarter" idx="15"/>
          </p:nvPr>
        </p:nvSpPr>
        <p:spPr>
          <a:xfrm flipH="1">
            <a:off x="623888" y="457200"/>
            <a:ext cx="8172450" cy="244101"/>
          </a:xfrm>
        </p:spPr>
        <p:txBody>
          <a:bodyPr/>
          <a:lstStyle/>
          <a:p>
            <a:r>
              <a:rPr lang="en-US"/>
              <a:t>Hexaware Synapse.AI demo</a:t>
            </a:r>
          </a:p>
        </p:txBody>
      </p:sp>
      <p:cxnSp>
        <p:nvCxnSpPr>
          <p:cNvPr id="55" name="Straight Connector 54">
            <a:extLst>
              <a:ext uri="{FF2B5EF4-FFF2-40B4-BE49-F238E27FC236}">
                <a16:creationId xmlns:a16="http://schemas.microsoft.com/office/drawing/2014/main" id="{54EC07AE-7B25-DF53-4E24-156C774AB4D8}"/>
              </a:ext>
            </a:extLst>
          </p:cNvPr>
          <p:cNvCxnSpPr>
            <a:cxnSpLocks/>
          </p:cNvCxnSpPr>
          <p:nvPr/>
        </p:nvCxnSpPr>
        <p:spPr>
          <a:xfrm flipH="1" flipV="1">
            <a:off x="4957916" y="1761283"/>
            <a:ext cx="395096" cy="50097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165D1BB-C513-5583-4EE4-B19ACBD75BC1}"/>
              </a:ext>
            </a:extLst>
          </p:cNvPr>
          <p:cNvCxnSpPr>
            <a:cxnSpLocks/>
          </p:cNvCxnSpPr>
          <p:nvPr/>
        </p:nvCxnSpPr>
        <p:spPr>
          <a:xfrm flipV="1">
            <a:off x="6152707" y="1780513"/>
            <a:ext cx="395096" cy="50097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4872445-E6DC-DBFB-B961-7FB6A11A304D}"/>
              </a:ext>
            </a:extLst>
          </p:cNvPr>
          <p:cNvCxnSpPr/>
          <p:nvPr/>
        </p:nvCxnSpPr>
        <p:spPr>
          <a:xfrm>
            <a:off x="4323834" y="3415263"/>
            <a:ext cx="2842342"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8003E4D1-40B0-EA4B-39A6-90C03A7CF464}"/>
              </a:ext>
            </a:extLst>
          </p:cNvPr>
          <p:cNvSpPr/>
          <p:nvPr/>
        </p:nvSpPr>
        <p:spPr>
          <a:xfrm>
            <a:off x="4520920" y="1765716"/>
            <a:ext cx="2461049" cy="2518334"/>
          </a:xfrm>
          <a:prstGeom prst="ellipse">
            <a:avLst/>
          </a:prstGeom>
          <a:solidFill>
            <a:schemeClr val="bg1"/>
          </a:solidFill>
          <a:ln w="222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FFFFFF"/>
              </a:solidFill>
              <a:effectLst/>
              <a:uLnTx/>
              <a:uFillTx/>
              <a:latin typeface="Manrope"/>
            </a:endParaRPr>
          </a:p>
        </p:txBody>
      </p:sp>
      <p:sp>
        <p:nvSpPr>
          <p:cNvPr id="31" name="Oval 30">
            <a:extLst>
              <a:ext uri="{FF2B5EF4-FFF2-40B4-BE49-F238E27FC236}">
                <a16:creationId xmlns:a16="http://schemas.microsoft.com/office/drawing/2014/main" id="{60EAB607-2C52-D785-9CD0-3F6B6494BDF8}"/>
              </a:ext>
            </a:extLst>
          </p:cNvPr>
          <p:cNvSpPr/>
          <p:nvPr/>
        </p:nvSpPr>
        <p:spPr>
          <a:xfrm>
            <a:off x="4734482" y="1984249"/>
            <a:ext cx="2033925" cy="20812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u="none" strike="noStrike" kern="1200" cap="none" spc="0" normalizeH="0" baseline="0" noProof="0" dirty="0" err="1">
                <a:ln>
                  <a:noFill/>
                </a:ln>
                <a:solidFill>
                  <a:srgbClr val="FFFFFF"/>
                </a:solidFill>
                <a:effectLst/>
                <a:uLnTx/>
                <a:uFillTx/>
                <a:latin typeface="Manrope"/>
              </a:rPr>
              <a:t>Synapse.AI</a:t>
            </a:r>
            <a:endParaRPr kumimoji="0" lang="en-IN" sz="1600" b="1" u="none" strike="noStrike" kern="1200" cap="none" spc="0" normalizeH="0" baseline="0" noProof="0" dirty="0">
              <a:ln>
                <a:noFill/>
              </a:ln>
              <a:solidFill>
                <a:srgbClr val="FFFFFF"/>
              </a:solidFill>
              <a:effectLst/>
              <a:uLnTx/>
              <a:uFillTx/>
              <a:latin typeface="Manrope"/>
            </a:endParaRPr>
          </a:p>
        </p:txBody>
      </p:sp>
      <p:pic>
        <p:nvPicPr>
          <p:cNvPr id="17" name="Picture 2" descr="Hexaware Technologies">
            <a:extLst>
              <a:ext uri="{FF2B5EF4-FFF2-40B4-BE49-F238E27FC236}">
                <a16:creationId xmlns:a16="http://schemas.microsoft.com/office/drawing/2014/main" id="{4A040499-16C5-A24B-1505-6C5D922E0A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963" b="38041"/>
          <a:stretch/>
        </p:blipFill>
        <p:spPr bwMode="auto">
          <a:xfrm>
            <a:off x="5204455" y="2624686"/>
            <a:ext cx="1121139" cy="28024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4">
            <a:extLst>
              <a:ext uri="{FF2B5EF4-FFF2-40B4-BE49-F238E27FC236}">
                <a16:creationId xmlns:a16="http://schemas.microsoft.com/office/drawing/2014/main" id="{7665A0CD-DCA4-1FC8-B5D7-04148AB8E2F2}"/>
              </a:ext>
            </a:extLst>
          </p:cNvPr>
          <p:cNvSpPr txBox="1">
            <a:spLocks/>
          </p:cNvSpPr>
          <p:nvPr/>
        </p:nvSpPr>
        <p:spPr>
          <a:xfrm flipH="1">
            <a:off x="3765755" y="4464154"/>
            <a:ext cx="3932902" cy="103354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tabLst>
                <a:tab pos="966788" algn="l"/>
              </a:tabLst>
            </a:pPr>
            <a:r>
              <a:rPr lang="en-IN" sz="7200" b="1" dirty="0">
                <a:solidFill>
                  <a:schemeClr val="accent1"/>
                </a:solidFill>
              </a:rPr>
              <a:t>DEMO</a:t>
            </a:r>
          </a:p>
        </p:txBody>
      </p:sp>
      <p:sp>
        <p:nvSpPr>
          <p:cNvPr id="14" name="Isosceles Triangle 13">
            <a:extLst>
              <a:ext uri="{FF2B5EF4-FFF2-40B4-BE49-F238E27FC236}">
                <a16:creationId xmlns:a16="http://schemas.microsoft.com/office/drawing/2014/main" id="{CAF8C445-CC9F-6E8A-4BB3-58B0B0BA262B}"/>
              </a:ext>
            </a:extLst>
          </p:cNvPr>
          <p:cNvSpPr/>
          <p:nvPr/>
        </p:nvSpPr>
        <p:spPr>
          <a:xfrm rot="1121830">
            <a:off x="4521625" y="2429908"/>
            <a:ext cx="161077" cy="29333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C58D98C2-DFAA-2030-E95E-BA8FDA2BD98D}"/>
              </a:ext>
            </a:extLst>
          </p:cNvPr>
          <p:cNvSpPr/>
          <p:nvPr/>
        </p:nvSpPr>
        <p:spPr>
          <a:xfrm rot="5400000">
            <a:off x="5657454" y="1618860"/>
            <a:ext cx="161077" cy="29333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5B48BC27-83BC-014A-B19A-6D39708055DE}"/>
              </a:ext>
            </a:extLst>
          </p:cNvPr>
          <p:cNvSpPr/>
          <p:nvPr/>
        </p:nvSpPr>
        <p:spPr>
          <a:xfrm rot="9472439">
            <a:off x="6788288" y="2336124"/>
            <a:ext cx="161077" cy="29333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7074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BEDD162B-9DAF-91B0-6241-56599303CC1A}"/>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l="4251" t="24311" r="8746"/>
          <a:stretch/>
        </p:blipFill>
        <p:spPr>
          <a:xfrm>
            <a:off x="0" y="0"/>
            <a:ext cx="12192000" cy="6858000"/>
          </a:xfr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623888" y="3117375"/>
            <a:ext cx="8180649" cy="623248"/>
          </a:xfrm>
        </p:spPr>
        <p:txBody>
          <a:bodyPr/>
          <a:lstStyle/>
          <a:p>
            <a:r>
              <a:rPr lang="en-US"/>
              <a:t>Our Focus</a:t>
            </a:r>
          </a:p>
        </p:txBody>
      </p:sp>
    </p:spTree>
    <p:extLst>
      <p:ext uri="{BB962C8B-B14F-4D97-AF65-F5344CB8AC3E}">
        <p14:creationId xmlns:p14="http://schemas.microsoft.com/office/powerpoint/2010/main" val="3959242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970BCA-0E3D-4382-ABB3-287EDC6AE6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516" y="1502748"/>
            <a:ext cx="2419684" cy="2200156"/>
          </a:xfrm>
          <a:prstGeom prst="rect">
            <a:avLst/>
          </a:prstGeom>
        </p:spPr>
      </p:pic>
      <p:sp>
        <p:nvSpPr>
          <p:cNvPr id="21" name="Rectangle 20">
            <a:extLst>
              <a:ext uri="{FF2B5EF4-FFF2-40B4-BE49-F238E27FC236}">
                <a16:creationId xmlns:a16="http://schemas.microsoft.com/office/drawing/2014/main" id="{5500531A-1BF3-3F26-1B27-1B55C93EA7FF}"/>
              </a:ext>
            </a:extLst>
          </p:cNvPr>
          <p:cNvSpPr/>
          <p:nvPr/>
        </p:nvSpPr>
        <p:spPr>
          <a:xfrm>
            <a:off x="9198506" y="2729773"/>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22" name="Rectangle 21">
            <a:extLst>
              <a:ext uri="{FF2B5EF4-FFF2-40B4-BE49-F238E27FC236}">
                <a16:creationId xmlns:a16="http://schemas.microsoft.com/office/drawing/2014/main" id="{EE795A2D-5DBF-05DA-FA56-2351FC9E316E}"/>
              </a:ext>
            </a:extLst>
          </p:cNvPr>
          <p:cNvSpPr/>
          <p:nvPr/>
        </p:nvSpPr>
        <p:spPr>
          <a:xfrm>
            <a:off x="9198506" y="1326199"/>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23" name="Rectangle 22">
            <a:extLst>
              <a:ext uri="{FF2B5EF4-FFF2-40B4-BE49-F238E27FC236}">
                <a16:creationId xmlns:a16="http://schemas.microsoft.com/office/drawing/2014/main" id="{A4133CED-AB30-0508-5911-A9D7A5A9696F}"/>
              </a:ext>
            </a:extLst>
          </p:cNvPr>
          <p:cNvSpPr/>
          <p:nvPr/>
        </p:nvSpPr>
        <p:spPr>
          <a:xfrm>
            <a:off x="9198506" y="1784014"/>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0" name="Rectangle 29">
            <a:extLst>
              <a:ext uri="{FF2B5EF4-FFF2-40B4-BE49-F238E27FC236}">
                <a16:creationId xmlns:a16="http://schemas.microsoft.com/office/drawing/2014/main" id="{98983BCD-3D62-AC95-B966-F0FBB0073657}"/>
              </a:ext>
            </a:extLst>
          </p:cNvPr>
          <p:cNvSpPr/>
          <p:nvPr/>
        </p:nvSpPr>
        <p:spPr>
          <a:xfrm>
            <a:off x="10853486" y="2729773"/>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1" name="Rectangle 30">
            <a:extLst>
              <a:ext uri="{FF2B5EF4-FFF2-40B4-BE49-F238E27FC236}">
                <a16:creationId xmlns:a16="http://schemas.microsoft.com/office/drawing/2014/main" id="{A55F52E1-1147-C0FD-A2D2-5117DB8D9AF5}"/>
              </a:ext>
            </a:extLst>
          </p:cNvPr>
          <p:cNvSpPr/>
          <p:nvPr/>
        </p:nvSpPr>
        <p:spPr>
          <a:xfrm>
            <a:off x="10853486" y="1784014"/>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2" name="Rectangle 31">
            <a:extLst>
              <a:ext uri="{FF2B5EF4-FFF2-40B4-BE49-F238E27FC236}">
                <a16:creationId xmlns:a16="http://schemas.microsoft.com/office/drawing/2014/main" id="{AF03B074-CF10-C575-7E9B-4D8495741A87}"/>
              </a:ext>
            </a:extLst>
          </p:cNvPr>
          <p:cNvSpPr/>
          <p:nvPr/>
        </p:nvSpPr>
        <p:spPr>
          <a:xfrm>
            <a:off x="10023347" y="1784014"/>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3" name="Rectangle 32">
            <a:extLst>
              <a:ext uri="{FF2B5EF4-FFF2-40B4-BE49-F238E27FC236}">
                <a16:creationId xmlns:a16="http://schemas.microsoft.com/office/drawing/2014/main" id="{8C09CC99-8869-F983-1C10-1759B70D3883}"/>
              </a:ext>
            </a:extLst>
          </p:cNvPr>
          <p:cNvSpPr/>
          <p:nvPr/>
        </p:nvSpPr>
        <p:spPr>
          <a:xfrm>
            <a:off x="10023347" y="2265661"/>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4" name="Rectangle 33">
            <a:extLst>
              <a:ext uri="{FF2B5EF4-FFF2-40B4-BE49-F238E27FC236}">
                <a16:creationId xmlns:a16="http://schemas.microsoft.com/office/drawing/2014/main" id="{20602C6C-B6F3-B87D-AE8D-D9A3885DA905}"/>
              </a:ext>
            </a:extLst>
          </p:cNvPr>
          <p:cNvSpPr/>
          <p:nvPr/>
        </p:nvSpPr>
        <p:spPr>
          <a:xfrm>
            <a:off x="9198506" y="2265661"/>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5" name="Rectangle 34">
            <a:extLst>
              <a:ext uri="{FF2B5EF4-FFF2-40B4-BE49-F238E27FC236}">
                <a16:creationId xmlns:a16="http://schemas.microsoft.com/office/drawing/2014/main" id="{BDEB0161-7B51-B43D-1742-AD687849C417}"/>
              </a:ext>
            </a:extLst>
          </p:cNvPr>
          <p:cNvSpPr/>
          <p:nvPr/>
        </p:nvSpPr>
        <p:spPr>
          <a:xfrm>
            <a:off x="10023347" y="1324678"/>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6" name="Rectangle 35">
            <a:extLst>
              <a:ext uri="{FF2B5EF4-FFF2-40B4-BE49-F238E27FC236}">
                <a16:creationId xmlns:a16="http://schemas.microsoft.com/office/drawing/2014/main" id="{5B650478-5958-ECA2-2EBB-073B17AEF1F9}"/>
              </a:ext>
            </a:extLst>
          </p:cNvPr>
          <p:cNvSpPr/>
          <p:nvPr/>
        </p:nvSpPr>
        <p:spPr>
          <a:xfrm>
            <a:off x="10853486" y="2265661"/>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7" name="Rectangle 36">
            <a:extLst>
              <a:ext uri="{FF2B5EF4-FFF2-40B4-BE49-F238E27FC236}">
                <a16:creationId xmlns:a16="http://schemas.microsoft.com/office/drawing/2014/main" id="{1A2EE218-7ED5-7DA9-C6EF-669A821B7B87}"/>
              </a:ext>
            </a:extLst>
          </p:cNvPr>
          <p:cNvSpPr/>
          <p:nvPr/>
        </p:nvSpPr>
        <p:spPr>
          <a:xfrm>
            <a:off x="10853486" y="1324678"/>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8" name="Rectangle 37">
            <a:extLst>
              <a:ext uri="{FF2B5EF4-FFF2-40B4-BE49-F238E27FC236}">
                <a16:creationId xmlns:a16="http://schemas.microsoft.com/office/drawing/2014/main" id="{E111EB36-737C-01BA-4E95-B638C451121F}"/>
              </a:ext>
            </a:extLst>
          </p:cNvPr>
          <p:cNvSpPr/>
          <p:nvPr/>
        </p:nvSpPr>
        <p:spPr>
          <a:xfrm>
            <a:off x="10023347" y="2729773"/>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39" name="Rectangle 38">
            <a:extLst>
              <a:ext uri="{FF2B5EF4-FFF2-40B4-BE49-F238E27FC236}">
                <a16:creationId xmlns:a16="http://schemas.microsoft.com/office/drawing/2014/main" id="{C4F4874D-DA71-2C20-0C02-8D682C4798AA}"/>
              </a:ext>
            </a:extLst>
          </p:cNvPr>
          <p:cNvSpPr/>
          <p:nvPr/>
        </p:nvSpPr>
        <p:spPr>
          <a:xfrm>
            <a:off x="10023347" y="3216176"/>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40" name="Rectangle 39">
            <a:extLst>
              <a:ext uri="{FF2B5EF4-FFF2-40B4-BE49-F238E27FC236}">
                <a16:creationId xmlns:a16="http://schemas.microsoft.com/office/drawing/2014/main" id="{8EB0FED0-5AAC-90F4-FE10-0CE4C216BE47}"/>
              </a:ext>
            </a:extLst>
          </p:cNvPr>
          <p:cNvSpPr/>
          <p:nvPr/>
        </p:nvSpPr>
        <p:spPr>
          <a:xfrm>
            <a:off x="9198506" y="3216176"/>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41" name="Rectangle 40">
            <a:extLst>
              <a:ext uri="{FF2B5EF4-FFF2-40B4-BE49-F238E27FC236}">
                <a16:creationId xmlns:a16="http://schemas.microsoft.com/office/drawing/2014/main" id="{F405F50A-B387-C524-1A7F-B9607CAB354D}"/>
              </a:ext>
            </a:extLst>
          </p:cNvPr>
          <p:cNvSpPr/>
          <p:nvPr/>
        </p:nvSpPr>
        <p:spPr>
          <a:xfrm>
            <a:off x="9198506" y="3680904"/>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42" name="Rectangle 41">
            <a:extLst>
              <a:ext uri="{FF2B5EF4-FFF2-40B4-BE49-F238E27FC236}">
                <a16:creationId xmlns:a16="http://schemas.microsoft.com/office/drawing/2014/main" id="{C755FB7F-4483-21F5-40E1-AEEF1F90FDD4}"/>
              </a:ext>
            </a:extLst>
          </p:cNvPr>
          <p:cNvSpPr/>
          <p:nvPr/>
        </p:nvSpPr>
        <p:spPr>
          <a:xfrm>
            <a:off x="10853486" y="3216176"/>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43" name="Rectangle 42">
            <a:extLst>
              <a:ext uri="{FF2B5EF4-FFF2-40B4-BE49-F238E27FC236}">
                <a16:creationId xmlns:a16="http://schemas.microsoft.com/office/drawing/2014/main" id="{BAE06AF8-9C88-A837-4F76-297159F2E23B}"/>
              </a:ext>
            </a:extLst>
          </p:cNvPr>
          <p:cNvSpPr/>
          <p:nvPr/>
        </p:nvSpPr>
        <p:spPr>
          <a:xfrm>
            <a:off x="10853486" y="3680904"/>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48" name="Rectangle 47">
            <a:extLst>
              <a:ext uri="{FF2B5EF4-FFF2-40B4-BE49-F238E27FC236}">
                <a16:creationId xmlns:a16="http://schemas.microsoft.com/office/drawing/2014/main" id="{ECD6BE7A-79B9-5B37-6262-F06571F4612E}"/>
              </a:ext>
            </a:extLst>
          </p:cNvPr>
          <p:cNvSpPr/>
          <p:nvPr/>
        </p:nvSpPr>
        <p:spPr>
          <a:xfrm>
            <a:off x="10023347" y="3680904"/>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49" name="Rectangle 48">
            <a:extLst>
              <a:ext uri="{FF2B5EF4-FFF2-40B4-BE49-F238E27FC236}">
                <a16:creationId xmlns:a16="http://schemas.microsoft.com/office/drawing/2014/main" id="{48E48FC8-E6B9-54B9-C384-6DF668CD8D81}"/>
              </a:ext>
            </a:extLst>
          </p:cNvPr>
          <p:cNvSpPr/>
          <p:nvPr/>
        </p:nvSpPr>
        <p:spPr>
          <a:xfrm>
            <a:off x="10023347" y="4152766"/>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50" name="Rectangle 49">
            <a:extLst>
              <a:ext uri="{FF2B5EF4-FFF2-40B4-BE49-F238E27FC236}">
                <a16:creationId xmlns:a16="http://schemas.microsoft.com/office/drawing/2014/main" id="{DC746CD2-DEE6-C4D9-36D5-E9F2F3DC9125}"/>
              </a:ext>
            </a:extLst>
          </p:cNvPr>
          <p:cNvSpPr/>
          <p:nvPr/>
        </p:nvSpPr>
        <p:spPr>
          <a:xfrm>
            <a:off x="9198506" y="4152766"/>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51" name="Rectangle 50">
            <a:extLst>
              <a:ext uri="{FF2B5EF4-FFF2-40B4-BE49-F238E27FC236}">
                <a16:creationId xmlns:a16="http://schemas.microsoft.com/office/drawing/2014/main" id="{7D1C4DFD-6805-F584-0588-B5646D285905}"/>
              </a:ext>
            </a:extLst>
          </p:cNvPr>
          <p:cNvSpPr/>
          <p:nvPr/>
        </p:nvSpPr>
        <p:spPr>
          <a:xfrm>
            <a:off x="9198506" y="4629409"/>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52" name="Rectangle 51">
            <a:extLst>
              <a:ext uri="{FF2B5EF4-FFF2-40B4-BE49-F238E27FC236}">
                <a16:creationId xmlns:a16="http://schemas.microsoft.com/office/drawing/2014/main" id="{89336F66-9925-81EE-3953-A283F179F3BA}"/>
              </a:ext>
            </a:extLst>
          </p:cNvPr>
          <p:cNvSpPr/>
          <p:nvPr/>
        </p:nvSpPr>
        <p:spPr>
          <a:xfrm>
            <a:off x="10853486" y="4152766"/>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54" name="Rectangle 53">
            <a:extLst>
              <a:ext uri="{FF2B5EF4-FFF2-40B4-BE49-F238E27FC236}">
                <a16:creationId xmlns:a16="http://schemas.microsoft.com/office/drawing/2014/main" id="{AFD34364-01A3-4C0D-5407-6CDBF9471990}"/>
              </a:ext>
            </a:extLst>
          </p:cNvPr>
          <p:cNvSpPr/>
          <p:nvPr/>
        </p:nvSpPr>
        <p:spPr>
          <a:xfrm>
            <a:off x="10853486" y="4629409"/>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55" name="Rectangle 54">
            <a:extLst>
              <a:ext uri="{FF2B5EF4-FFF2-40B4-BE49-F238E27FC236}">
                <a16:creationId xmlns:a16="http://schemas.microsoft.com/office/drawing/2014/main" id="{728196A4-D837-16F9-F193-0BCA5EF694FB}"/>
              </a:ext>
            </a:extLst>
          </p:cNvPr>
          <p:cNvSpPr/>
          <p:nvPr/>
        </p:nvSpPr>
        <p:spPr>
          <a:xfrm>
            <a:off x="10023347" y="4629409"/>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pic>
        <p:nvPicPr>
          <p:cNvPr id="56" name="Picture 55">
            <a:extLst>
              <a:ext uri="{FF2B5EF4-FFF2-40B4-BE49-F238E27FC236}">
                <a16:creationId xmlns:a16="http://schemas.microsoft.com/office/drawing/2014/main" id="{4F79DC90-7086-0397-E6D5-4A52231000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95711" y="2359794"/>
            <a:ext cx="583606" cy="171650"/>
          </a:xfrm>
          <a:prstGeom prst="rect">
            <a:avLst/>
          </a:prstGeom>
          <a:ln>
            <a:noFill/>
          </a:ln>
        </p:spPr>
      </p:pic>
      <p:pic>
        <p:nvPicPr>
          <p:cNvPr id="57" name="Picture 56">
            <a:extLst>
              <a:ext uri="{FF2B5EF4-FFF2-40B4-BE49-F238E27FC236}">
                <a16:creationId xmlns:a16="http://schemas.microsoft.com/office/drawing/2014/main" id="{5FC05E5F-6D74-A9B2-362C-1807725052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8840" y="2340518"/>
            <a:ext cx="487667" cy="210202"/>
          </a:xfrm>
          <a:prstGeom prst="rect">
            <a:avLst/>
          </a:prstGeom>
          <a:ln>
            <a:noFill/>
          </a:ln>
        </p:spPr>
      </p:pic>
      <p:pic>
        <p:nvPicPr>
          <p:cNvPr id="58" name="Picture 57">
            <a:extLst>
              <a:ext uri="{FF2B5EF4-FFF2-40B4-BE49-F238E27FC236}">
                <a16:creationId xmlns:a16="http://schemas.microsoft.com/office/drawing/2014/main" id="{C16243CB-82FC-038F-D17A-0797D14E4D5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14810" y="1871842"/>
            <a:ext cx="545409" cy="184261"/>
          </a:xfrm>
          <a:prstGeom prst="rect">
            <a:avLst/>
          </a:prstGeom>
          <a:ln>
            <a:noFill/>
          </a:ln>
        </p:spPr>
      </p:pic>
      <p:pic>
        <p:nvPicPr>
          <p:cNvPr id="59" name="Picture 58">
            <a:extLst>
              <a:ext uri="{FF2B5EF4-FFF2-40B4-BE49-F238E27FC236}">
                <a16:creationId xmlns:a16="http://schemas.microsoft.com/office/drawing/2014/main" id="{86F011B9-AF8B-BCEE-5325-555850173E1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68509" y="1877453"/>
            <a:ext cx="588329" cy="173038"/>
          </a:xfrm>
          <a:prstGeom prst="rect">
            <a:avLst/>
          </a:prstGeom>
          <a:ln>
            <a:noFill/>
          </a:ln>
        </p:spPr>
      </p:pic>
      <p:pic>
        <p:nvPicPr>
          <p:cNvPr id="60" name="Picture 59">
            <a:extLst>
              <a:ext uri="{FF2B5EF4-FFF2-40B4-BE49-F238E27FC236}">
                <a16:creationId xmlns:a16="http://schemas.microsoft.com/office/drawing/2014/main" id="{BFF23A67-6A0B-5460-6842-0E311A5472D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80477" y="2864843"/>
            <a:ext cx="564393" cy="89777"/>
          </a:xfrm>
          <a:prstGeom prst="rect">
            <a:avLst/>
          </a:prstGeom>
          <a:ln>
            <a:noFill/>
          </a:ln>
        </p:spPr>
      </p:pic>
      <p:pic>
        <p:nvPicPr>
          <p:cNvPr id="61" name="Picture 60">
            <a:extLst>
              <a:ext uri="{FF2B5EF4-FFF2-40B4-BE49-F238E27FC236}">
                <a16:creationId xmlns:a16="http://schemas.microsoft.com/office/drawing/2014/main" id="{A6DD2AF9-E769-CAB5-6BD9-987BBA9868A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898351" y="3302222"/>
            <a:ext cx="638604" cy="187825"/>
          </a:xfrm>
          <a:prstGeom prst="rect">
            <a:avLst/>
          </a:prstGeom>
          <a:ln>
            <a:noFill/>
          </a:ln>
        </p:spPr>
      </p:pic>
      <p:pic>
        <p:nvPicPr>
          <p:cNvPr id="62" name="Picture 61">
            <a:extLst>
              <a:ext uri="{FF2B5EF4-FFF2-40B4-BE49-F238E27FC236}">
                <a16:creationId xmlns:a16="http://schemas.microsoft.com/office/drawing/2014/main" id="{D14B82EA-B1E9-5FC2-4088-044162EF053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278308" y="3312497"/>
            <a:ext cx="568730" cy="167274"/>
          </a:xfrm>
          <a:prstGeom prst="rect">
            <a:avLst/>
          </a:prstGeom>
          <a:ln>
            <a:noFill/>
          </a:ln>
        </p:spPr>
      </p:pic>
      <p:pic>
        <p:nvPicPr>
          <p:cNvPr id="64" name="Picture 63">
            <a:extLst>
              <a:ext uri="{FF2B5EF4-FFF2-40B4-BE49-F238E27FC236}">
                <a16:creationId xmlns:a16="http://schemas.microsoft.com/office/drawing/2014/main" id="{5EDBA710-8247-910B-BCCC-997DAD007E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245521" y="4716087"/>
            <a:ext cx="634305" cy="186561"/>
          </a:xfrm>
          <a:prstGeom prst="rect">
            <a:avLst/>
          </a:prstGeom>
          <a:ln w="3175">
            <a:noFill/>
          </a:ln>
        </p:spPr>
      </p:pic>
      <p:pic>
        <p:nvPicPr>
          <p:cNvPr id="66" name="Picture 2" descr="Equinox Fitness Logo transparent PNG - StickPNG">
            <a:extLst>
              <a:ext uri="{FF2B5EF4-FFF2-40B4-BE49-F238E27FC236}">
                <a16:creationId xmlns:a16="http://schemas.microsoft.com/office/drawing/2014/main" id="{13C0CAB1-197E-40F6-2108-79E6477F3CA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073817" y="3775698"/>
            <a:ext cx="627394" cy="170328"/>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 descr="NBCUniversal logo and symbol, meaning, history, PNG">
            <a:extLst>
              <a:ext uri="{FF2B5EF4-FFF2-40B4-BE49-F238E27FC236}">
                <a16:creationId xmlns:a16="http://schemas.microsoft.com/office/drawing/2014/main" id="{28F62A66-4F0F-C2D6-24BC-7A37B4E6D7C8}"/>
              </a:ext>
            </a:extLst>
          </p:cNvPr>
          <p:cNvPicPr>
            <a:picLocks noChangeAspect="1" noChangeArrowheads="1"/>
          </p:cNvPicPr>
          <p:nvPr/>
        </p:nvPicPr>
        <p:blipFill>
          <a:blip r:embed="rId13" cstate="print">
            <a:grayscl/>
            <a:extLst>
              <a:ext uri="{28A0092B-C50C-407E-A947-70E740481C1C}">
                <a14:useLocalDpi xmlns:a14="http://schemas.microsoft.com/office/drawing/2010/main" val="0"/>
              </a:ext>
            </a:extLst>
          </a:blip>
          <a:srcRect/>
          <a:stretch>
            <a:fillRect/>
          </a:stretch>
        </p:blipFill>
        <p:spPr bwMode="auto">
          <a:xfrm>
            <a:off x="10109298" y="4180970"/>
            <a:ext cx="556432" cy="303508"/>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6">
            <a:extLst>
              <a:ext uri="{FF2B5EF4-FFF2-40B4-BE49-F238E27FC236}">
                <a16:creationId xmlns:a16="http://schemas.microsoft.com/office/drawing/2014/main" id="{BC65EB76-BDDB-0841-CDA7-8A66C1DF230C}"/>
              </a:ext>
            </a:extLst>
          </p:cNvPr>
          <p:cNvPicPr>
            <a:picLocks noChangeAspect="1" noChangeArrowheads="1"/>
          </p:cNvPicPr>
          <p:nvPr/>
        </p:nvPicPr>
        <p:blipFill>
          <a:blip r:embed="rId14" cstate="print">
            <a:extLst>
              <a:ext uri="{BEBA8EAE-BF5A-486C-A8C5-ECC9F3942E4B}">
                <a14:imgProps xmlns:a14="http://schemas.microsoft.com/office/drawing/2010/main">
                  <a14:imgLayer r:embed="rId1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892589" y="2801630"/>
            <a:ext cx="650129" cy="216202"/>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8" descr="Panera logo and symbol, meaning, history, PNG">
            <a:extLst>
              <a:ext uri="{FF2B5EF4-FFF2-40B4-BE49-F238E27FC236}">
                <a16:creationId xmlns:a16="http://schemas.microsoft.com/office/drawing/2014/main" id="{DF4AB53A-B18E-1A76-CA0B-960D65ECDA22}"/>
              </a:ext>
            </a:extLst>
          </p:cNvPr>
          <p:cNvPicPr>
            <a:picLocks noChangeAspect="1" noChangeArrowheads="1"/>
          </p:cNvPicPr>
          <p:nvPr/>
        </p:nvPicPr>
        <p:blipFill>
          <a:blip r:embed="rId16" cstate="print">
            <a:extLst>
              <a:ext uri="{BEBA8EAE-BF5A-486C-A8C5-ECC9F3942E4B}">
                <a14:imgProps xmlns:a14="http://schemas.microsoft.com/office/drawing/2010/main">
                  <a14:imgLayer r:embed="rId17">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915645" y="1791672"/>
            <a:ext cx="604016" cy="339759"/>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10" descr="Williams Racing - Dorilton">
            <a:extLst>
              <a:ext uri="{FF2B5EF4-FFF2-40B4-BE49-F238E27FC236}">
                <a16:creationId xmlns:a16="http://schemas.microsoft.com/office/drawing/2014/main" id="{851178CB-3651-2A89-27AD-103C98D61B35}"/>
              </a:ext>
            </a:extLst>
          </p:cNvPr>
          <p:cNvPicPr>
            <a:picLocks noChangeAspect="1" noChangeArrowheads="1"/>
          </p:cNvPicPr>
          <p:nvPr/>
        </p:nvPicPr>
        <p:blipFill>
          <a:blip r:embed="rId18" cstate="print">
            <a:extLst>
              <a:ext uri="{BEBA8EAE-BF5A-486C-A8C5-ECC9F3942E4B}">
                <a14:imgProps xmlns:a14="http://schemas.microsoft.com/office/drawing/2010/main">
                  <a14:imgLayer r:embed="rId19">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877516" y="2289457"/>
            <a:ext cx="680275" cy="312324"/>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14" descr="BJ's Logo Download Vector">
            <a:extLst>
              <a:ext uri="{FF2B5EF4-FFF2-40B4-BE49-F238E27FC236}">
                <a16:creationId xmlns:a16="http://schemas.microsoft.com/office/drawing/2014/main" id="{E8A57ABB-B563-2916-6916-2D743C5FF7BD}"/>
              </a:ext>
            </a:extLst>
          </p:cNvPr>
          <p:cNvPicPr>
            <a:picLocks noChangeAspect="1" noChangeArrowheads="1"/>
          </p:cNvPicPr>
          <p:nvPr/>
        </p:nvPicPr>
        <p:blipFill>
          <a:blip r:embed="rId20" cstate="print">
            <a:extLst>
              <a:ext uri="{BEBA8EAE-BF5A-486C-A8C5-ECC9F3942E4B}">
                <a14:imgProps xmlns:a14="http://schemas.microsoft.com/office/drawing/2010/main">
                  <a14:imgLayer r:embed="rId21">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199587" y="3235563"/>
            <a:ext cx="375855" cy="32114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16" descr="NetSpend Corporation | Austin Chamber of Commerce">
            <a:extLst>
              <a:ext uri="{FF2B5EF4-FFF2-40B4-BE49-F238E27FC236}">
                <a16:creationId xmlns:a16="http://schemas.microsoft.com/office/drawing/2014/main" id="{ABE76A26-9C22-4371-DB88-2BD1BC7C825D}"/>
              </a:ext>
            </a:extLst>
          </p:cNvPr>
          <p:cNvPicPr>
            <a:picLocks noChangeAspect="1" noChangeArrowheads="1"/>
          </p:cNvPicPr>
          <p:nvPr/>
        </p:nvPicPr>
        <p:blipFill>
          <a:blip r:embed="rId22" cstate="print">
            <a:extLst>
              <a:ext uri="{BEBA8EAE-BF5A-486C-A8C5-ECC9F3942E4B}">
                <a14:imgProps xmlns:a14="http://schemas.microsoft.com/office/drawing/2010/main">
                  <a14:imgLayer r:embed="rId2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9266670" y="3808021"/>
            <a:ext cx="592006" cy="10568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18" descr="Charles Schwab Logo, history, meaning, symbol, PNG">
            <a:extLst>
              <a:ext uri="{FF2B5EF4-FFF2-40B4-BE49-F238E27FC236}">
                <a16:creationId xmlns:a16="http://schemas.microsoft.com/office/drawing/2014/main" id="{D6A94FA8-319B-E291-FAB8-2F0BC00EBA7A}"/>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10066779" y="4628953"/>
            <a:ext cx="641471" cy="360828"/>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2" descr="Brunswick Logo / Industry / Logonoid.com">
            <a:extLst>
              <a:ext uri="{FF2B5EF4-FFF2-40B4-BE49-F238E27FC236}">
                <a16:creationId xmlns:a16="http://schemas.microsoft.com/office/drawing/2014/main" id="{5FC7AC46-66F7-5030-339B-BA7D6B22DF44}"/>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9219824" y="4242547"/>
            <a:ext cx="685699" cy="180354"/>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34">
            <a:extLst>
              <a:ext uri="{FF2B5EF4-FFF2-40B4-BE49-F238E27FC236}">
                <a16:creationId xmlns:a16="http://schemas.microsoft.com/office/drawing/2014/main" id="{A41AA484-6F28-713E-79C0-74B6054D0ED2}"/>
              </a:ext>
            </a:extLst>
          </p:cNvPr>
          <p:cNvPicPr>
            <a:picLocks noChangeAspect="1" noChangeArrowheads="1"/>
          </p:cNvPicPr>
          <p:nvPr/>
        </p:nvPicPr>
        <p:blipFill>
          <a:blip r:embed="rId26" cstate="print">
            <a:extLst>
              <a:ext uri="{BEBA8EAE-BF5A-486C-A8C5-ECC9F3942E4B}">
                <a14:imgProps xmlns:a14="http://schemas.microsoft.com/office/drawing/2010/main">
                  <a14:imgLayer r:embed="rId27">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936731" y="4668247"/>
            <a:ext cx="561845" cy="28224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36">
            <a:extLst>
              <a:ext uri="{FF2B5EF4-FFF2-40B4-BE49-F238E27FC236}">
                <a16:creationId xmlns:a16="http://schemas.microsoft.com/office/drawing/2014/main" id="{BADF7738-31AC-1238-9F13-9792224A13A9}"/>
              </a:ext>
            </a:extLst>
          </p:cNvPr>
          <p:cNvPicPr>
            <a:picLocks noChangeAspect="1" noChangeArrowheads="1"/>
          </p:cNvPicPr>
          <p:nvPr/>
        </p:nvPicPr>
        <p:blipFill>
          <a:blip r:embed="rId28" cstate="print">
            <a:extLst>
              <a:ext uri="{BEBA8EAE-BF5A-486C-A8C5-ECC9F3942E4B}">
                <a14:imgProps xmlns:a14="http://schemas.microsoft.com/office/drawing/2010/main">
                  <a14:imgLayer r:embed="rId29">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106592" y="2854095"/>
            <a:ext cx="561845" cy="111272"/>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40" descr="New Report by Healthgrades and MGMA Analyzes 8.4 Million Patient Reviews">
            <a:extLst>
              <a:ext uri="{FF2B5EF4-FFF2-40B4-BE49-F238E27FC236}">
                <a16:creationId xmlns:a16="http://schemas.microsoft.com/office/drawing/2014/main" id="{B16E9400-63D8-4B03-E5AE-723E381D9D21}"/>
              </a:ext>
            </a:extLst>
          </p:cNvPr>
          <p:cNvPicPr>
            <a:picLocks noChangeAspect="1" noChangeArrowheads="1"/>
          </p:cNvPicPr>
          <p:nvPr/>
        </p:nvPicPr>
        <p:blipFill>
          <a:blip r:embed="rId30" cstate="print">
            <a:extLst>
              <a:ext uri="{BEBA8EAE-BF5A-486C-A8C5-ECC9F3942E4B}">
                <a14:imgProps xmlns:a14="http://schemas.microsoft.com/office/drawing/2010/main">
                  <a14:imgLayer r:embed="rId31">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896918" y="3742190"/>
            <a:ext cx="641471" cy="237345"/>
          </a:xfrm>
          <a:prstGeom prst="rect">
            <a:avLst/>
          </a:prstGeom>
          <a:noFill/>
          <a:extLst>
            <a:ext uri="{909E8E84-426E-40DD-AFC4-6F175D3DCCD1}">
              <a14:hiddenFill xmlns:a14="http://schemas.microsoft.com/office/drawing/2010/main">
                <a:solidFill>
                  <a:srgbClr val="FFFFFF"/>
                </a:solidFill>
              </a14:hiddenFill>
            </a:ext>
          </a:extLst>
        </p:spPr>
      </p:pic>
      <p:sp>
        <p:nvSpPr>
          <p:cNvPr id="96" name="Rectangle 95">
            <a:extLst>
              <a:ext uri="{FF2B5EF4-FFF2-40B4-BE49-F238E27FC236}">
                <a16:creationId xmlns:a16="http://schemas.microsoft.com/office/drawing/2014/main" id="{DB68504C-AFBB-5152-1FA9-BA8228384C13}"/>
              </a:ext>
            </a:extLst>
          </p:cNvPr>
          <p:cNvSpPr/>
          <p:nvPr/>
        </p:nvSpPr>
        <p:spPr>
          <a:xfrm>
            <a:off x="9198506" y="5072419"/>
            <a:ext cx="72833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97" name="Rectangle 96">
            <a:extLst>
              <a:ext uri="{FF2B5EF4-FFF2-40B4-BE49-F238E27FC236}">
                <a16:creationId xmlns:a16="http://schemas.microsoft.com/office/drawing/2014/main" id="{08FBD400-E223-5425-E344-1653004F2CEE}"/>
              </a:ext>
            </a:extLst>
          </p:cNvPr>
          <p:cNvSpPr/>
          <p:nvPr/>
        </p:nvSpPr>
        <p:spPr>
          <a:xfrm>
            <a:off x="10028040" y="5072419"/>
            <a:ext cx="718949"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98" name="Rectangle 97">
            <a:extLst>
              <a:ext uri="{FF2B5EF4-FFF2-40B4-BE49-F238E27FC236}">
                <a16:creationId xmlns:a16="http://schemas.microsoft.com/office/drawing/2014/main" id="{51AF95D9-EB40-BDFE-3D6D-DF0C779F7CEC}"/>
              </a:ext>
            </a:extLst>
          </p:cNvPr>
          <p:cNvSpPr/>
          <p:nvPr/>
        </p:nvSpPr>
        <p:spPr>
          <a:xfrm>
            <a:off x="10855506" y="5072419"/>
            <a:ext cx="724294"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99" name="Rectangle 98">
            <a:extLst>
              <a:ext uri="{FF2B5EF4-FFF2-40B4-BE49-F238E27FC236}">
                <a16:creationId xmlns:a16="http://schemas.microsoft.com/office/drawing/2014/main" id="{E404C328-C356-1C31-4B72-000F693F2384}"/>
              </a:ext>
            </a:extLst>
          </p:cNvPr>
          <p:cNvSpPr/>
          <p:nvPr/>
        </p:nvSpPr>
        <p:spPr>
          <a:xfrm>
            <a:off x="9204659" y="5541237"/>
            <a:ext cx="716029"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100" name="Rectangle 99">
            <a:extLst>
              <a:ext uri="{FF2B5EF4-FFF2-40B4-BE49-F238E27FC236}">
                <a16:creationId xmlns:a16="http://schemas.microsoft.com/office/drawing/2014/main" id="{06A7335E-4EE4-0F1E-BDC1-0B400EC47B2A}"/>
              </a:ext>
            </a:extLst>
          </p:cNvPr>
          <p:cNvSpPr/>
          <p:nvPr/>
        </p:nvSpPr>
        <p:spPr>
          <a:xfrm>
            <a:off x="10030442" y="5541237"/>
            <a:ext cx="714145"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pic>
        <p:nvPicPr>
          <p:cNvPr id="103" name="Picture 102">
            <a:extLst>
              <a:ext uri="{FF2B5EF4-FFF2-40B4-BE49-F238E27FC236}">
                <a16:creationId xmlns:a16="http://schemas.microsoft.com/office/drawing/2014/main" id="{CFD4BBA3-021D-7BEF-20DA-A02E9C3C229B}"/>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9344813" y="5158224"/>
            <a:ext cx="435721" cy="178574"/>
          </a:xfrm>
          <a:prstGeom prst="rect">
            <a:avLst/>
          </a:prstGeom>
          <a:ln>
            <a:noFill/>
          </a:ln>
        </p:spPr>
      </p:pic>
      <p:pic>
        <p:nvPicPr>
          <p:cNvPr id="104" name="Picture 103">
            <a:extLst>
              <a:ext uri="{FF2B5EF4-FFF2-40B4-BE49-F238E27FC236}">
                <a16:creationId xmlns:a16="http://schemas.microsoft.com/office/drawing/2014/main" id="{6C9FDA5F-6F35-734A-65AB-3CC7E987B1A5}"/>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10298190" y="5597134"/>
            <a:ext cx="178648" cy="248123"/>
          </a:xfrm>
          <a:prstGeom prst="rect">
            <a:avLst/>
          </a:prstGeom>
          <a:ln>
            <a:noFill/>
          </a:ln>
        </p:spPr>
      </p:pic>
      <p:pic>
        <p:nvPicPr>
          <p:cNvPr id="106" name="Picture 38">
            <a:extLst>
              <a:ext uri="{FF2B5EF4-FFF2-40B4-BE49-F238E27FC236}">
                <a16:creationId xmlns:a16="http://schemas.microsoft.com/office/drawing/2014/main" id="{C8A38F84-E440-2B5A-9B4D-8FDD51611194}"/>
              </a:ext>
            </a:extLst>
          </p:cNvPr>
          <p:cNvPicPr>
            <a:picLocks noChangeAspect="1" noChangeArrowheads="1"/>
          </p:cNvPicPr>
          <p:nvPr/>
        </p:nvPicPr>
        <p:blipFill>
          <a:blip r:embed="rId34" cstate="print">
            <a:extLst>
              <a:ext uri="{BEBA8EAE-BF5A-486C-A8C5-ECC9F3942E4B}">
                <a14:imgProps xmlns:a14="http://schemas.microsoft.com/office/drawing/2010/main">
                  <a14:imgLayer r:embed="rId3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164699" y="5194076"/>
            <a:ext cx="445631" cy="123245"/>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8" descr="The Wiley Logo | Wiley">
            <a:extLst>
              <a:ext uri="{FF2B5EF4-FFF2-40B4-BE49-F238E27FC236}">
                <a16:creationId xmlns:a16="http://schemas.microsoft.com/office/drawing/2014/main" id="{11E12079-463F-4CF7-E0C3-0A986AB46591}"/>
              </a:ext>
            </a:extLst>
          </p:cNvPr>
          <p:cNvPicPr>
            <a:picLocks noChangeAspect="1" noChangeArrowheads="1"/>
          </p:cNvPicPr>
          <p:nvPr/>
        </p:nvPicPr>
        <p:blipFill>
          <a:blip r:embed="rId36" cstate="print">
            <a:grayscl/>
            <a:extLst>
              <a:ext uri="{28A0092B-C50C-407E-A947-70E740481C1C}">
                <a14:useLocalDpi xmlns:a14="http://schemas.microsoft.com/office/drawing/2010/main" val="0"/>
              </a:ext>
            </a:extLst>
          </a:blip>
          <a:srcRect/>
          <a:stretch>
            <a:fillRect/>
          </a:stretch>
        </p:blipFill>
        <p:spPr bwMode="auto">
          <a:xfrm>
            <a:off x="10916588" y="5134959"/>
            <a:ext cx="602130" cy="241479"/>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30">
            <a:extLst>
              <a:ext uri="{FF2B5EF4-FFF2-40B4-BE49-F238E27FC236}">
                <a16:creationId xmlns:a16="http://schemas.microsoft.com/office/drawing/2014/main" id="{0753DFEE-7017-F49F-F01B-520EE8065DAD}"/>
              </a:ext>
            </a:extLst>
          </p:cNvPr>
          <p:cNvPicPr>
            <a:picLocks noChangeAspect="1" noChangeArrowheads="1"/>
          </p:cNvPicPr>
          <p:nvPr/>
        </p:nvPicPr>
        <p:blipFill>
          <a:blip r:embed="rId37" cstate="print">
            <a:extLst>
              <a:ext uri="{BEBA8EAE-BF5A-486C-A8C5-ECC9F3942E4B}">
                <a14:imgProps xmlns:a14="http://schemas.microsoft.com/office/drawing/2010/main">
                  <a14:imgLayer r:embed="rId3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9323902" y="5640050"/>
            <a:ext cx="477542" cy="162290"/>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a:extLst>
              <a:ext uri="{FF2B5EF4-FFF2-40B4-BE49-F238E27FC236}">
                <a16:creationId xmlns:a16="http://schemas.microsoft.com/office/drawing/2014/main" id="{8F4E4122-BADE-0A44-47FE-62F288744241}"/>
              </a:ext>
            </a:extLst>
          </p:cNvPr>
          <p:cNvSpPr/>
          <p:nvPr/>
        </p:nvSpPr>
        <p:spPr>
          <a:xfrm>
            <a:off x="10851813" y="5534538"/>
            <a:ext cx="731680" cy="373314"/>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sp>
        <p:nvSpPr>
          <p:cNvPr id="111" name="Rectangle 110">
            <a:extLst>
              <a:ext uri="{FF2B5EF4-FFF2-40B4-BE49-F238E27FC236}">
                <a16:creationId xmlns:a16="http://schemas.microsoft.com/office/drawing/2014/main" id="{980B4CBC-1F6B-EC06-2A0C-4B250C463AE5}"/>
              </a:ext>
            </a:extLst>
          </p:cNvPr>
          <p:cNvSpPr/>
          <p:nvPr/>
        </p:nvSpPr>
        <p:spPr>
          <a:xfrm>
            <a:off x="9194770" y="6034292"/>
            <a:ext cx="735807" cy="359916"/>
          </a:xfrm>
          <a:prstGeom prst="rect">
            <a:avLst/>
          </a:prstGeom>
          <a:solidFill>
            <a:schemeClr val="bg1"/>
          </a:solidFill>
          <a:ln w="3175">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ndParaRPr>
          </a:p>
        </p:txBody>
      </p:sp>
      <p:pic>
        <p:nvPicPr>
          <p:cNvPr id="112" name="Picture 28" descr="Purchasing Power Logo – BuildHr">
            <a:extLst>
              <a:ext uri="{FF2B5EF4-FFF2-40B4-BE49-F238E27FC236}">
                <a16:creationId xmlns:a16="http://schemas.microsoft.com/office/drawing/2014/main" id="{F332F510-3B48-F255-8EA7-CAC73802C285}"/>
              </a:ext>
            </a:extLst>
          </p:cNvPr>
          <p:cNvPicPr>
            <a:picLocks noChangeAspect="1" noChangeArrowheads="1"/>
          </p:cNvPicPr>
          <p:nvPr/>
        </p:nvPicPr>
        <p:blipFill>
          <a:blip r:embed="rId39" cstate="print">
            <a:extLst>
              <a:ext uri="{BEBA8EAE-BF5A-486C-A8C5-ECC9F3942E4B}">
                <a14:imgProps xmlns:a14="http://schemas.microsoft.com/office/drawing/2010/main">
                  <a14:imgLayer r:embed="rId40">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936731" y="5613837"/>
            <a:ext cx="561845" cy="214716"/>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a:extLst>
              <a:ext uri="{FF2B5EF4-FFF2-40B4-BE49-F238E27FC236}">
                <a16:creationId xmlns:a16="http://schemas.microsoft.com/office/drawing/2014/main" id="{8F7BB74B-AC5B-887B-35A0-5579C19CBDAC}"/>
              </a:ext>
            </a:extLst>
          </p:cNvPr>
          <p:cNvPicPr>
            <a:picLocks noChangeAspect="1"/>
          </p:cNvPicPr>
          <p:nvPr/>
        </p:nvPicPr>
        <p:blipFill>
          <a:blip r:embed="rId41" cstate="print">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9322112" y="6102477"/>
            <a:ext cx="481122" cy="211694"/>
          </a:xfrm>
          <a:prstGeom prst="rect">
            <a:avLst/>
          </a:prstGeom>
        </p:spPr>
      </p:pic>
      <p:sp>
        <p:nvSpPr>
          <p:cNvPr id="116" name="TextBox 115">
            <a:extLst>
              <a:ext uri="{FF2B5EF4-FFF2-40B4-BE49-F238E27FC236}">
                <a16:creationId xmlns:a16="http://schemas.microsoft.com/office/drawing/2014/main" id="{CCA0F067-8078-A872-7829-E2A3A0D99D7B}"/>
              </a:ext>
            </a:extLst>
          </p:cNvPr>
          <p:cNvSpPr txBox="1"/>
          <p:nvPr/>
        </p:nvSpPr>
        <p:spPr>
          <a:xfrm>
            <a:off x="9172087" y="828635"/>
            <a:ext cx="2058089" cy="307777"/>
          </a:xfrm>
          <a:prstGeom prst="rect">
            <a:avLst/>
          </a:prstGeom>
          <a:noFill/>
        </p:spPr>
        <p:txBody>
          <a:bodyPr wrap="square">
            <a:spAutoFit/>
          </a:bodyPr>
          <a:lstStyle/>
          <a:p>
            <a:r>
              <a:rPr lang="en-IN" sz="1400" dirty="0">
                <a:latin typeface="Manrope Medium" pitchFamily="2" charset="0"/>
                <a:cs typeface="Arial" panose="020B0604020202020204" pitchFamily="34" charset="0"/>
              </a:rPr>
              <a:t>Adobe Clients</a:t>
            </a:r>
          </a:p>
        </p:txBody>
      </p:sp>
      <p:sp>
        <p:nvSpPr>
          <p:cNvPr id="120" name="Rectangle: Rounded Corners 10">
            <a:extLst>
              <a:ext uri="{FF2B5EF4-FFF2-40B4-BE49-F238E27FC236}">
                <a16:creationId xmlns:a16="http://schemas.microsoft.com/office/drawing/2014/main" id="{4148D3D5-DE79-38E2-CE6D-9DACBF34EA8C}"/>
              </a:ext>
            </a:extLst>
          </p:cNvPr>
          <p:cNvSpPr/>
          <p:nvPr/>
        </p:nvSpPr>
        <p:spPr>
          <a:xfrm>
            <a:off x="620912" y="4311976"/>
            <a:ext cx="2485847" cy="1191172"/>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Manrope" pitchFamily="2" charset="0"/>
              <a:ea typeface="Roboto" panose="02000000000000000000" pitchFamily="2" charset="0"/>
              <a:cs typeface="Arial" panose="020B0604020202020204" pitchFamily="34" charset="0"/>
            </a:endParaRPr>
          </a:p>
        </p:txBody>
      </p:sp>
      <p:pic>
        <p:nvPicPr>
          <p:cNvPr id="119" name="Picture 118" descr="A black background with a black square&#10;&#10;Description automatically generated with medium confidence">
            <a:extLst>
              <a:ext uri="{FF2B5EF4-FFF2-40B4-BE49-F238E27FC236}">
                <a16:creationId xmlns:a16="http://schemas.microsoft.com/office/drawing/2014/main" id="{A2821879-931A-B7D4-173F-FB4950851714}"/>
              </a:ext>
            </a:extLst>
          </p:cNvPr>
          <p:cNvPicPr>
            <a:picLocks noChangeAspect="1"/>
          </p:cNvPicPr>
          <p:nvPr/>
        </p:nvPicPr>
        <p:blipFill>
          <a:blip r:embed="rId42" cstate="print">
            <a:extLst>
              <a:ext uri="{28A0092B-C50C-407E-A947-70E740481C1C}">
                <a14:useLocalDpi xmlns:a14="http://schemas.microsoft.com/office/drawing/2010/main" val="0"/>
              </a:ext>
            </a:extLst>
          </a:blip>
          <a:stretch>
            <a:fillRect/>
          </a:stretch>
        </p:blipFill>
        <p:spPr>
          <a:xfrm>
            <a:off x="738886" y="4513275"/>
            <a:ext cx="2454170" cy="827197"/>
          </a:xfrm>
          <a:prstGeom prst="rect">
            <a:avLst/>
          </a:prstGeom>
        </p:spPr>
      </p:pic>
      <p:pic>
        <p:nvPicPr>
          <p:cNvPr id="20" name="Picture 19" descr="A logo of a university&#10;&#10;Description automatically generated">
            <a:extLst>
              <a:ext uri="{FF2B5EF4-FFF2-40B4-BE49-F238E27FC236}">
                <a16:creationId xmlns:a16="http://schemas.microsoft.com/office/drawing/2014/main" id="{18F643EB-4952-CD62-07CD-8E7F383027D4}"/>
              </a:ext>
            </a:extLst>
          </p:cNvPr>
          <p:cNvPicPr>
            <a:picLocks noChangeAspect="1"/>
          </p:cNvPicPr>
          <p:nvPr/>
        </p:nvPicPr>
        <p:blipFill>
          <a:blip r:embed="rId43">
            <a:grayscl/>
            <a:extLst>
              <a:ext uri="{28A0092B-C50C-407E-A947-70E740481C1C}">
                <a14:useLocalDpi xmlns:a14="http://schemas.microsoft.com/office/drawing/2010/main" val="0"/>
              </a:ext>
            </a:extLst>
          </a:blip>
          <a:stretch>
            <a:fillRect/>
          </a:stretch>
        </p:blipFill>
        <p:spPr>
          <a:xfrm>
            <a:off x="9289714" y="1345247"/>
            <a:ext cx="545919" cy="325761"/>
          </a:xfrm>
          <a:prstGeom prst="rect">
            <a:avLst/>
          </a:prstGeom>
        </p:spPr>
      </p:pic>
      <p:pic>
        <p:nvPicPr>
          <p:cNvPr id="25" name="Picture 24" descr="A blue and green logo&#10;&#10;Description automatically generated">
            <a:extLst>
              <a:ext uri="{FF2B5EF4-FFF2-40B4-BE49-F238E27FC236}">
                <a16:creationId xmlns:a16="http://schemas.microsoft.com/office/drawing/2014/main" id="{ACF7947C-127B-78F0-F7F5-D8F3E6B05F99}"/>
              </a:ext>
            </a:extLst>
          </p:cNvPr>
          <p:cNvPicPr>
            <a:picLocks noChangeAspect="1"/>
          </p:cNvPicPr>
          <p:nvPr/>
        </p:nvPicPr>
        <p:blipFill>
          <a:blip r:embed="rId44">
            <a:biLevel thresh="75000"/>
            <a:extLst>
              <a:ext uri="{28A0092B-C50C-407E-A947-70E740481C1C}">
                <a14:useLocalDpi xmlns:a14="http://schemas.microsoft.com/office/drawing/2010/main" val="0"/>
              </a:ext>
            </a:extLst>
          </a:blip>
          <a:stretch>
            <a:fillRect/>
          </a:stretch>
        </p:blipFill>
        <p:spPr>
          <a:xfrm>
            <a:off x="10131322" y="1396732"/>
            <a:ext cx="512384" cy="228171"/>
          </a:xfrm>
          <a:prstGeom prst="rect">
            <a:avLst/>
          </a:prstGeom>
        </p:spPr>
      </p:pic>
      <p:pic>
        <p:nvPicPr>
          <p:cNvPr id="26" name="Picture 25" descr="About Us | ORDRE">
            <a:extLst>
              <a:ext uri="{FF2B5EF4-FFF2-40B4-BE49-F238E27FC236}">
                <a16:creationId xmlns:a16="http://schemas.microsoft.com/office/drawing/2014/main" id="{6294D67B-AAD3-1641-2B86-E6C4183E9620}"/>
              </a:ext>
            </a:extLst>
          </p:cNvPr>
          <p:cNvPicPr>
            <a:picLocks noChangeAspect="1" noChangeArrowheads="1"/>
          </p:cNvPicPr>
          <p:nvPr/>
        </p:nvPicPr>
        <p:blipFill>
          <a:blip r:embed="rId45" cstate="screen">
            <a:extLst>
              <a:ext uri="{28A0092B-C50C-407E-A947-70E740481C1C}">
                <a14:useLocalDpi xmlns:a14="http://schemas.microsoft.com/office/drawing/2010/main"/>
              </a:ext>
            </a:extLst>
          </a:blip>
          <a:srcRect/>
          <a:stretch>
            <a:fillRect/>
          </a:stretch>
        </p:blipFill>
        <p:spPr bwMode="auto">
          <a:xfrm>
            <a:off x="10960728" y="4291432"/>
            <a:ext cx="513851" cy="8258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A close-up of a logo&#10;&#10;Description automatically generated">
            <a:extLst>
              <a:ext uri="{FF2B5EF4-FFF2-40B4-BE49-F238E27FC236}">
                <a16:creationId xmlns:a16="http://schemas.microsoft.com/office/drawing/2014/main" id="{9A94774D-D6ED-C8B4-0294-8C0908C3F3C0}"/>
              </a:ext>
            </a:extLst>
          </p:cNvPr>
          <p:cNvPicPr>
            <a:picLocks noChangeAspect="1"/>
          </p:cNvPicPr>
          <p:nvPr/>
        </p:nvPicPr>
        <p:blipFill>
          <a:blip r:embed="rId46">
            <a:biLevel thresh="50000"/>
            <a:extLst>
              <a:ext uri="{28A0092B-C50C-407E-A947-70E740481C1C}">
                <a14:useLocalDpi xmlns:a14="http://schemas.microsoft.com/office/drawing/2010/main" val="0"/>
              </a:ext>
            </a:extLst>
          </a:blip>
          <a:stretch>
            <a:fillRect/>
          </a:stretch>
        </p:blipFill>
        <p:spPr>
          <a:xfrm>
            <a:off x="10909987" y="1431131"/>
            <a:ext cx="615332" cy="155884"/>
          </a:xfrm>
          <a:prstGeom prst="rect">
            <a:avLst/>
          </a:prstGeom>
        </p:spPr>
      </p:pic>
      <p:sp>
        <p:nvSpPr>
          <p:cNvPr id="28" name="TextBox 27">
            <a:extLst>
              <a:ext uri="{FF2B5EF4-FFF2-40B4-BE49-F238E27FC236}">
                <a16:creationId xmlns:a16="http://schemas.microsoft.com/office/drawing/2014/main" id="{45A9851A-FE8A-4A9A-74F6-A7A40E983731}"/>
              </a:ext>
            </a:extLst>
          </p:cNvPr>
          <p:cNvSpPr txBox="1"/>
          <p:nvPr/>
        </p:nvSpPr>
        <p:spPr>
          <a:xfrm>
            <a:off x="9147170" y="1002727"/>
            <a:ext cx="2081401" cy="280013"/>
          </a:xfrm>
          <a:prstGeom prst="rect">
            <a:avLst/>
          </a:prstGeom>
          <a:noFill/>
        </p:spPr>
        <p:txBody>
          <a:bodyPr wrap="square" rtlCol="0">
            <a:spAutoFit/>
          </a:bodyPr>
          <a:lstStyle/>
          <a:p>
            <a:pPr>
              <a:lnSpc>
                <a:spcPts val="1600"/>
              </a:lnSpc>
              <a:defRPr/>
            </a:pPr>
            <a:r>
              <a:rPr lang="en-US" sz="1000" spc="60" dirty="0">
                <a:latin typeface="Manrope" pitchFamily="2" charset="0"/>
                <a:ea typeface="Roboto" panose="02000000000000000000" pitchFamily="2" charset="0"/>
                <a:cs typeface="Arial" panose="020B0604020202020204" pitchFamily="34" charset="0"/>
              </a:rPr>
              <a:t>Not comprehensive list</a:t>
            </a:r>
          </a:p>
        </p:txBody>
      </p:sp>
      <p:sp>
        <p:nvSpPr>
          <p:cNvPr id="45" name="Rectangle 44">
            <a:extLst>
              <a:ext uri="{FF2B5EF4-FFF2-40B4-BE49-F238E27FC236}">
                <a16:creationId xmlns:a16="http://schemas.microsoft.com/office/drawing/2014/main" id="{8336F6CE-335C-31F1-665F-9356609D33CA}"/>
              </a:ext>
            </a:extLst>
          </p:cNvPr>
          <p:cNvSpPr/>
          <p:nvPr/>
        </p:nvSpPr>
        <p:spPr>
          <a:xfrm>
            <a:off x="4221287" y="4355139"/>
            <a:ext cx="2116624" cy="85084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8518C3FD-BAD1-28D8-4E22-4EA388224B81}"/>
              </a:ext>
            </a:extLst>
          </p:cNvPr>
          <p:cNvSpPr/>
          <p:nvPr/>
        </p:nvSpPr>
        <p:spPr>
          <a:xfrm>
            <a:off x="4231756" y="3295989"/>
            <a:ext cx="2116624" cy="85084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B26DD7DA-6FCE-5619-F2C6-CE74C22B3FF9}"/>
              </a:ext>
            </a:extLst>
          </p:cNvPr>
          <p:cNvSpPr>
            <a:spLocks noChangeAspect="1"/>
          </p:cNvSpPr>
          <p:nvPr/>
        </p:nvSpPr>
        <p:spPr>
          <a:xfrm>
            <a:off x="3159809" y="3202525"/>
            <a:ext cx="1008537" cy="1008537"/>
          </a:xfrm>
          <a:prstGeom prst="ellipse">
            <a:avLst/>
          </a:prstGeom>
          <a:no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28E63D4-6173-DB2D-1E4C-BB44FB41B9F9}"/>
              </a:ext>
            </a:extLst>
          </p:cNvPr>
          <p:cNvSpPr>
            <a:spLocks noChangeAspect="1"/>
          </p:cNvSpPr>
          <p:nvPr/>
        </p:nvSpPr>
        <p:spPr>
          <a:xfrm>
            <a:off x="3118493" y="4254846"/>
            <a:ext cx="1008537" cy="1008538"/>
          </a:xfrm>
          <a:prstGeom prst="ellipse">
            <a:avLst/>
          </a:prstGeom>
          <a:noFill/>
          <a:ln cmpd="sng">
            <a:solidFill>
              <a:schemeClr val="bg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5B9D0163-6387-101E-F828-7FD1E96DCBC1}"/>
              </a:ext>
            </a:extLst>
          </p:cNvPr>
          <p:cNvSpPr/>
          <p:nvPr/>
        </p:nvSpPr>
        <p:spPr>
          <a:xfrm>
            <a:off x="3226042" y="4372602"/>
            <a:ext cx="831273" cy="831273"/>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91" b="0" i="0" u="none" strike="noStrike" kern="1200" cap="none" spc="0" normalizeH="0" baseline="0" noProof="0">
              <a:ln>
                <a:noFill/>
              </a:ln>
              <a:solidFill>
                <a:schemeClr val="bg1"/>
              </a:solidFill>
              <a:effectLst/>
              <a:uLnTx/>
              <a:uFillTx/>
              <a:latin typeface="adobe-clean"/>
              <a:ea typeface="+mn-ea"/>
              <a:cs typeface="+mn-cs"/>
            </a:endParaRPr>
          </a:p>
        </p:txBody>
      </p:sp>
      <p:sp>
        <p:nvSpPr>
          <p:cNvPr id="94" name="TextBox 93">
            <a:extLst>
              <a:ext uri="{FF2B5EF4-FFF2-40B4-BE49-F238E27FC236}">
                <a16:creationId xmlns:a16="http://schemas.microsoft.com/office/drawing/2014/main" id="{1AC771E6-EF54-4A2E-9479-D25F53D8395C}"/>
              </a:ext>
            </a:extLst>
          </p:cNvPr>
          <p:cNvSpPr txBox="1"/>
          <p:nvPr/>
        </p:nvSpPr>
        <p:spPr>
          <a:xfrm>
            <a:off x="4347899" y="4668880"/>
            <a:ext cx="1725052" cy="279797"/>
          </a:xfrm>
          <a:prstGeom prst="rect">
            <a:avLst/>
          </a:prstGeom>
          <a:noFill/>
        </p:spPr>
        <p:txBody>
          <a:bodyPr wrap="square" rtlCol="0">
            <a:spAutoFit/>
          </a:bodyPr>
          <a:lstStyle>
            <a:defPPr>
              <a:defRPr lang="en-US"/>
            </a:defPPr>
            <a:lvl1pPr defTabSz="457189">
              <a:defRPr sz="1400">
                <a:latin typeface="Poppins Medium" panose="00000600000000000000" pitchFamily="2" charset="0"/>
                <a:ea typeface="Helvetica Neue" panose="02000503000000020004" pitchFamily="2" charset="0"/>
                <a:cs typeface="Poppins Medium" panose="00000600000000000000" pitchFamily="2" charset="0"/>
              </a:defRPr>
            </a:lvl1p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effectLst/>
                <a:uLnTx/>
                <a:uFillTx/>
                <a:latin typeface="Manrope" pitchFamily="2" charset="0"/>
              </a:rPr>
              <a:t>Customer </a:t>
            </a:r>
            <a:r>
              <a:rPr lang="en-US" sz="1200" b="1">
                <a:latin typeface="Manrope" pitchFamily="2" charset="0"/>
              </a:rPr>
              <a:t>J</a:t>
            </a:r>
            <a:r>
              <a:rPr kumimoji="0" lang="en-US" sz="1200" b="1" u="none" strike="noStrike" kern="1200" cap="none" spc="0" normalizeH="0" baseline="0" noProof="0">
                <a:ln>
                  <a:noFill/>
                </a:ln>
                <a:effectLst/>
                <a:uLnTx/>
                <a:uFillTx/>
                <a:latin typeface="Manrope" pitchFamily="2" charset="0"/>
              </a:rPr>
              <a:t>ourneys</a:t>
            </a:r>
          </a:p>
        </p:txBody>
      </p:sp>
      <p:sp>
        <p:nvSpPr>
          <p:cNvPr id="102" name="Oval 101">
            <a:extLst>
              <a:ext uri="{FF2B5EF4-FFF2-40B4-BE49-F238E27FC236}">
                <a16:creationId xmlns:a16="http://schemas.microsoft.com/office/drawing/2014/main" id="{B59FC809-1AE7-382D-CF5B-B4CAF82F6225}"/>
              </a:ext>
            </a:extLst>
          </p:cNvPr>
          <p:cNvSpPr/>
          <p:nvPr/>
        </p:nvSpPr>
        <p:spPr>
          <a:xfrm>
            <a:off x="3256061" y="3283135"/>
            <a:ext cx="831273" cy="831273"/>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91" b="0" i="0" u="none" strike="noStrike" kern="1200" cap="none" spc="0" normalizeH="0" baseline="0" noProof="0">
              <a:ln>
                <a:noFill/>
              </a:ln>
              <a:solidFill>
                <a:prstClr val="white"/>
              </a:solidFill>
              <a:effectLst/>
              <a:uLnTx/>
              <a:uFillTx/>
              <a:latin typeface="adobe-clean"/>
              <a:ea typeface="+mn-ea"/>
              <a:cs typeface="+mn-cs"/>
            </a:endParaRPr>
          </a:p>
        </p:txBody>
      </p:sp>
      <p:sp>
        <p:nvSpPr>
          <p:cNvPr id="105" name="TextBox 104">
            <a:extLst>
              <a:ext uri="{FF2B5EF4-FFF2-40B4-BE49-F238E27FC236}">
                <a16:creationId xmlns:a16="http://schemas.microsoft.com/office/drawing/2014/main" id="{9728E554-BB2E-AD6F-0853-0C291808B67E}"/>
              </a:ext>
            </a:extLst>
          </p:cNvPr>
          <p:cNvSpPr txBox="1"/>
          <p:nvPr/>
        </p:nvSpPr>
        <p:spPr>
          <a:xfrm>
            <a:off x="4341692" y="3483585"/>
            <a:ext cx="1719535" cy="475655"/>
          </a:xfrm>
          <a:prstGeom prst="rect">
            <a:avLst/>
          </a:prstGeom>
          <a:noFill/>
        </p:spPr>
        <p:txBody>
          <a:bodyPr wrap="square" rtlCol="0">
            <a:spAutoFit/>
          </a:bodyPr>
          <a:lstStyle>
            <a:defPPr>
              <a:defRPr lang="en-US"/>
            </a:defPPr>
            <a:lvl1pPr defTabSz="457189">
              <a:defRPr sz="1400">
                <a:latin typeface="Poppins Medium" panose="00000600000000000000" pitchFamily="2" charset="0"/>
                <a:ea typeface="Helvetica Neue" panose="02000503000000020004" pitchFamily="2" charset="0"/>
                <a:cs typeface="Poppins Medium" panose="00000600000000000000" pitchFamily="2" charset="0"/>
              </a:defRPr>
            </a:lvl1p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effectLst/>
                <a:uLnTx/>
                <a:uFillTx/>
                <a:latin typeface="Manrope" pitchFamily="2" charset="0"/>
              </a:rPr>
              <a:t>Digital Enrolment &amp; Onboarding</a:t>
            </a:r>
            <a:endParaRPr kumimoji="0" lang="en-IN" sz="1200" b="1" u="none" strike="noStrike" kern="1200" cap="none" spc="0" normalizeH="0" baseline="0" noProof="0">
              <a:ln>
                <a:noFill/>
              </a:ln>
              <a:effectLst/>
              <a:uLnTx/>
              <a:uFillTx/>
              <a:latin typeface="Manrope" pitchFamily="2" charset="0"/>
            </a:endParaRPr>
          </a:p>
        </p:txBody>
      </p:sp>
      <p:pic>
        <p:nvPicPr>
          <p:cNvPr id="123" name="Graphic 122">
            <a:extLst>
              <a:ext uri="{FF2B5EF4-FFF2-40B4-BE49-F238E27FC236}">
                <a16:creationId xmlns:a16="http://schemas.microsoft.com/office/drawing/2014/main" id="{B50FA8D1-3F02-189A-285D-73DA92176C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3374679" y="3397167"/>
            <a:ext cx="564823" cy="595969"/>
          </a:xfrm>
          <a:prstGeom prst="rect">
            <a:avLst/>
          </a:prstGeom>
        </p:spPr>
      </p:pic>
      <p:pic>
        <p:nvPicPr>
          <p:cNvPr id="124" name="Graphic 123">
            <a:extLst>
              <a:ext uri="{FF2B5EF4-FFF2-40B4-BE49-F238E27FC236}">
                <a16:creationId xmlns:a16="http://schemas.microsoft.com/office/drawing/2014/main" id="{14D44B58-FB17-B39C-152A-43C706EAEC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3358132" y="4518776"/>
            <a:ext cx="541790" cy="543678"/>
          </a:xfrm>
          <a:prstGeom prst="rect">
            <a:avLst/>
          </a:prstGeom>
        </p:spPr>
      </p:pic>
      <p:sp>
        <p:nvSpPr>
          <p:cNvPr id="125" name="Rectangle 124">
            <a:extLst>
              <a:ext uri="{FF2B5EF4-FFF2-40B4-BE49-F238E27FC236}">
                <a16:creationId xmlns:a16="http://schemas.microsoft.com/office/drawing/2014/main" id="{59E55203-A408-3365-3E4B-B283554A4695}"/>
              </a:ext>
            </a:extLst>
          </p:cNvPr>
          <p:cNvSpPr/>
          <p:nvPr/>
        </p:nvSpPr>
        <p:spPr>
          <a:xfrm>
            <a:off x="6336473" y="4355139"/>
            <a:ext cx="2571940" cy="850847"/>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171E1A04-04E6-1591-3A1D-488C15BEB7D4}"/>
              </a:ext>
            </a:extLst>
          </p:cNvPr>
          <p:cNvSpPr/>
          <p:nvPr/>
        </p:nvSpPr>
        <p:spPr>
          <a:xfrm>
            <a:off x="6343237" y="3295989"/>
            <a:ext cx="2563936" cy="850847"/>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4" name="Group 1033">
            <a:extLst>
              <a:ext uri="{FF2B5EF4-FFF2-40B4-BE49-F238E27FC236}">
                <a16:creationId xmlns:a16="http://schemas.microsoft.com/office/drawing/2014/main" id="{5ADF0CAA-82CA-5E61-F78D-71A1C2692E38}"/>
              </a:ext>
            </a:extLst>
          </p:cNvPr>
          <p:cNvGrpSpPr/>
          <p:nvPr/>
        </p:nvGrpSpPr>
        <p:grpSpPr>
          <a:xfrm>
            <a:off x="3234345" y="1197967"/>
            <a:ext cx="5672164" cy="1023577"/>
            <a:chOff x="3339928" y="2032581"/>
            <a:chExt cx="5672164" cy="1023577"/>
          </a:xfrm>
        </p:grpSpPr>
        <p:sp>
          <p:nvSpPr>
            <p:cNvPr id="68" name="Rectangle 67">
              <a:extLst>
                <a:ext uri="{FF2B5EF4-FFF2-40B4-BE49-F238E27FC236}">
                  <a16:creationId xmlns:a16="http://schemas.microsoft.com/office/drawing/2014/main" id="{9F96E807-E5B4-6C1C-5B4D-ACCFA13C77FB}"/>
                </a:ext>
              </a:extLst>
            </p:cNvPr>
            <p:cNvSpPr/>
            <p:nvPr/>
          </p:nvSpPr>
          <p:spPr>
            <a:xfrm>
              <a:off x="4336676" y="2032581"/>
              <a:ext cx="2116624" cy="85084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E641497-C832-3065-590E-297CD037B1BA}"/>
                </a:ext>
              </a:extLst>
            </p:cNvPr>
            <p:cNvSpPr>
              <a:spLocks noChangeAspect="1"/>
            </p:cNvSpPr>
            <p:nvPr/>
          </p:nvSpPr>
          <p:spPr>
            <a:xfrm>
              <a:off x="3836999" y="2047621"/>
              <a:ext cx="1008537" cy="1008537"/>
            </a:xfrm>
            <a:prstGeom prst="ellipse">
              <a:avLst/>
            </a:prstGeom>
            <a:no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02AFBB14-63D4-4483-27E1-6851C00EB6EE}"/>
                </a:ext>
              </a:extLst>
            </p:cNvPr>
            <p:cNvSpPr/>
            <p:nvPr/>
          </p:nvSpPr>
          <p:spPr>
            <a:xfrm>
              <a:off x="3339928" y="2038567"/>
              <a:ext cx="831273" cy="831273"/>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91" b="0" i="0" u="none" strike="noStrike" kern="1200" cap="none" spc="0" normalizeH="0" baseline="0" noProof="0">
                <a:ln>
                  <a:noFill/>
                </a:ln>
                <a:solidFill>
                  <a:prstClr val="white"/>
                </a:solidFill>
                <a:effectLst/>
                <a:uLnTx/>
                <a:uFillTx/>
                <a:latin typeface="adobe-clean"/>
                <a:ea typeface="+mn-ea"/>
                <a:cs typeface="+mn-cs"/>
              </a:endParaRPr>
            </a:p>
          </p:txBody>
        </p:sp>
        <p:sp>
          <p:nvSpPr>
            <p:cNvPr id="91" name="TextBox 90">
              <a:extLst>
                <a:ext uri="{FF2B5EF4-FFF2-40B4-BE49-F238E27FC236}">
                  <a16:creationId xmlns:a16="http://schemas.microsoft.com/office/drawing/2014/main" id="{C310DA24-CF6C-4B8F-9EEF-D3D78371D3F5}"/>
                </a:ext>
              </a:extLst>
            </p:cNvPr>
            <p:cNvSpPr txBox="1"/>
            <p:nvPr/>
          </p:nvSpPr>
          <p:spPr>
            <a:xfrm>
              <a:off x="4458521" y="2236693"/>
              <a:ext cx="1480224" cy="461665"/>
            </a:xfrm>
            <a:prstGeom prst="rect">
              <a:avLst/>
            </a:prstGeom>
            <a:noFill/>
          </p:spPr>
          <p:txBody>
            <a:bodyPr wrap="square" rtlCol="0">
              <a:spAutoFit/>
            </a:bodyPr>
            <a:lstStyle>
              <a:defPPr>
                <a:defRPr lang="en-US"/>
              </a:defPPr>
              <a:lvl1pPr defTabSz="457189">
                <a:defRPr sz="1400">
                  <a:latin typeface="Poppins Medium" panose="00000600000000000000" pitchFamily="2" charset="0"/>
                  <a:ea typeface="Helvetica Neue" panose="02000503000000020004" pitchFamily="2" charset="0"/>
                  <a:cs typeface="Poppins Medium" panose="00000600000000000000" pitchFamily="2" charset="0"/>
                </a:defRPr>
              </a:lvl1p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effectLst/>
                  <a:uLnTx/>
                  <a:uFillTx/>
                  <a:latin typeface="Manrope" pitchFamily="2" charset="0"/>
                </a:rPr>
                <a:t>Content </a:t>
              </a:r>
            </a:p>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effectLst/>
                  <a:uLnTx/>
                  <a:uFillTx/>
                  <a:latin typeface="Manrope" pitchFamily="2" charset="0"/>
                </a:rPr>
                <a:t>&amp;</a:t>
              </a:r>
              <a:r>
                <a:rPr lang="en-US" sz="1200" b="1">
                  <a:latin typeface="Manrope" pitchFamily="2" charset="0"/>
                </a:rPr>
                <a:t> </a:t>
              </a:r>
              <a:r>
                <a:rPr kumimoji="0" lang="en-US" sz="1200" b="1" u="none" strike="noStrike" kern="1200" cap="none" spc="0" normalizeH="0" baseline="0" noProof="0">
                  <a:ln>
                    <a:noFill/>
                  </a:ln>
                  <a:effectLst/>
                  <a:uLnTx/>
                  <a:uFillTx/>
                  <a:latin typeface="Manrope" pitchFamily="2" charset="0"/>
                </a:rPr>
                <a:t>Commerce</a:t>
              </a:r>
            </a:p>
          </p:txBody>
        </p:sp>
        <p:pic>
          <p:nvPicPr>
            <p:cNvPr id="121" name="Graphic 120">
              <a:extLst>
                <a:ext uri="{FF2B5EF4-FFF2-40B4-BE49-F238E27FC236}">
                  <a16:creationId xmlns:a16="http://schemas.microsoft.com/office/drawing/2014/main" id="{94B4DA3F-85A4-51C7-A430-C3F77E132F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3509296" y="2210509"/>
              <a:ext cx="492536" cy="487389"/>
            </a:xfrm>
            <a:prstGeom prst="rect">
              <a:avLst/>
            </a:prstGeom>
          </p:spPr>
        </p:pic>
        <p:sp>
          <p:nvSpPr>
            <p:cNvPr id="1024" name="Rectangle 1023">
              <a:extLst>
                <a:ext uri="{FF2B5EF4-FFF2-40B4-BE49-F238E27FC236}">
                  <a16:creationId xmlns:a16="http://schemas.microsoft.com/office/drawing/2014/main" id="{05F5D60D-CA1C-DAA5-C07C-5E013871BA93}"/>
                </a:ext>
              </a:extLst>
            </p:cNvPr>
            <p:cNvSpPr/>
            <p:nvPr/>
          </p:nvSpPr>
          <p:spPr>
            <a:xfrm>
              <a:off x="6448156" y="2032581"/>
              <a:ext cx="2563936" cy="850847"/>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TextBox 1026">
              <a:extLst>
                <a:ext uri="{FF2B5EF4-FFF2-40B4-BE49-F238E27FC236}">
                  <a16:creationId xmlns:a16="http://schemas.microsoft.com/office/drawing/2014/main" id="{0D7BE210-0199-D501-0867-A5D36B3884EB}"/>
                </a:ext>
              </a:extLst>
            </p:cNvPr>
            <p:cNvSpPr txBox="1"/>
            <p:nvPr/>
          </p:nvSpPr>
          <p:spPr>
            <a:xfrm>
              <a:off x="6600586" y="2151762"/>
              <a:ext cx="2264218" cy="591637"/>
            </a:xfrm>
            <a:prstGeom prst="rect">
              <a:avLst/>
            </a:prstGeom>
            <a:noFill/>
          </p:spPr>
          <p:txBody>
            <a:bodyPr wrap="square" lIns="0" rIns="0" rtlCol="0" anchor="t">
              <a:spAutoFit/>
            </a:bodyPr>
            <a:lstStyle/>
            <a:p>
              <a:pPr marL="182601" indent="-182601">
                <a:lnSpc>
                  <a:spcPct val="110000"/>
                </a:lnSpc>
                <a:buClr>
                  <a:schemeClr val="bg1"/>
                </a:buClr>
                <a:buFont typeface="Arial" panose="020B0604020202020204" pitchFamily="34" charset="0"/>
                <a:buChar char="•"/>
                <a:defRPr/>
              </a:pPr>
              <a:r>
                <a:rPr lang="en-US" sz="1000" kern="0">
                  <a:solidFill>
                    <a:schemeClr val="bg1"/>
                  </a:solidFill>
                  <a:latin typeface="Manrope" pitchFamily="2" charset="0"/>
                  <a:cs typeface="Arial" panose="020B0604020202020204" pitchFamily="34" charset="0"/>
                </a:rPr>
                <a:t>Experience Manager Sites (CMS)</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Experience Manager Assets (DAM)</a:t>
              </a:r>
              <a:endParaRPr lang="en-US" sz="1000" kern="0">
                <a:solidFill>
                  <a:schemeClr val="bg1"/>
                </a:solidFill>
                <a:latin typeface="Manrope" pitchFamily="2" charset="0"/>
                <a:cs typeface="Arial" panose="020B0604020202020204" pitchFamily="34" charset="0"/>
              </a:endParaRP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Adobe Commerce (Magento)</a:t>
              </a:r>
              <a:endParaRPr kumimoji="0" lang="en-IN" sz="1000" i="0" u="none" strike="noStrike" kern="1200" cap="none" spc="0" normalizeH="0" baseline="0" noProof="0">
                <a:ln>
                  <a:noFill/>
                </a:ln>
                <a:solidFill>
                  <a:schemeClr val="bg1"/>
                </a:solidFill>
                <a:effectLst/>
                <a:uLnTx/>
                <a:uFillTx/>
                <a:latin typeface="Manrope" pitchFamily="2" charset="0"/>
                <a:cs typeface="Arial" panose="020B0604020202020204" pitchFamily="34" charset="0"/>
              </a:endParaRPr>
            </a:p>
          </p:txBody>
        </p:sp>
      </p:grpSp>
      <p:sp>
        <p:nvSpPr>
          <p:cNvPr id="1028" name="TextBox 1027">
            <a:extLst>
              <a:ext uri="{FF2B5EF4-FFF2-40B4-BE49-F238E27FC236}">
                <a16:creationId xmlns:a16="http://schemas.microsoft.com/office/drawing/2014/main" id="{A1CA8FEB-D4E7-D48F-D712-193A71FAED24}"/>
              </a:ext>
            </a:extLst>
          </p:cNvPr>
          <p:cNvSpPr txBox="1"/>
          <p:nvPr/>
        </p:nvSpPr>
        <p:spPr>
          <a:xfrm>
            <a:off x="6639169" y="4507946"/>
            <a:ext cx="1997717" cy="591637"/>
          </a:xfrm>
          <a:prstGeom prst="rect">
            <a:avLst/>
          </a:prstGeom>
          <a:noFill/>
        </p:spPr>
        <p:txBody>
          <a:bodyPr wrap="square" lIns="0" rIns="0" rtlCol="0" anchor="t">
            <a:spAutoFit/>
          </a:bodyPr>
          <a:lstStyle/>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Target</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Campaign</a:t>
            </a:r>
          </a:p>
          <a:p>
            <a:pPr marL="182601" indent="-182601">
              <a:lnSpc>
                <a:spcPct val="110000"/>
              </a:lnSpc>
              <a:buClr>
                <a:schemeClr val="bg1"/>
              </a:buClr>
              <a:buFont typeface="Arial" panose="020B0604020202020204" pitchFamily="34" charset="0"/>
              <a:buChar char="•"/>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Adobe Workfront</a:t>
            </a:r>
            <a:endParaRPr kumimoji="0" lang="en-IN" sz="1000" i="0" u="none" strike="noStrike" kern="1200" cap="none" spc="0" normalizeH="0" baseline="0" noProof="0">
              <a:ln>
                <a:noFill/>
              </a:ln>
              <a:solidFill>
                <a:schemeClr val="bg1"/>
              </a:solidFill>
              <a:effectLst/>
              <a:uLnTx/>
              <a:uFillTx/>
              <a:latin typeface="Manrope" pitchFamily="2" charset="0"/>
              <a:cs typeface="Arial" panose="020B0604020202020204" pitchFamily="34" charset="0"/>
            </a:endParaRPr>
          </a:p>
        </p:txBody>
      </p:sp>
      <p:grpSp>
        <p:nvGrpSpPr>
          <p:cNvPr id="1035" name="Group 1034">
            <a:extLst>
              <a:ext uri="{FF2B5EF4-FFF2-40B4-BE49-F238E27FC236}">
                <a16:creationId xmlns:a16="http://schemas.microsoft.com/office/drawing/2014/main" id="{63271571-7F64-2805-BEAE-2CA929637059}"/>
              </a:ext>
            </a:extLst>
          </p:cNvPr>
          <p:cNvGrpSpPr/>
          <p:nvPr/>
        </p:nvGrpSpPr>
        <p:grpSpPr>
          <a:xfrm>
            <a:off x="3121100" y="2180164"/>
            <a:ext cx="5766320" cy="1008537"/>
            <a:chOff x="3246275" y="2968924"/>
            <a:chExt cx="5766320" cy="1008537"/>
          </a:xfrm>
        </p:grpSpPr>
        <p:sp>
          <p:nvSpPr>
            <p:cNvPr id="65" name="Rectangle 64">
              <a:extLst>
                <a:ext uri="{FF2B5EF4-FFF2-40B4-BE49-F238E27FC236}">
                  <a16:creationId xmlns:a16="http://schemas.microsoft.com/office/drawing/2014/main" id="{47903A5F-FF38-AC00-DACC-5E03F2C8C25C}"/>
                </a:ext>
              </a:extLst>
            </p:cNvPr>
            <p:cNvSpPr/>
            <p:nvPr/>
          </p:nvSpPr>
          <p:spPr>
            <a:xfrm>
              <a:off x="4337179" y="3051528"/>
              <a:ext cx="2116624" cy="85084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15A35AA7-CDC1-6F51-9245-24E01941F85D}"/>
                </a:ext>
              </a:extLst>
            </p:cNvPr>
            <p:cNvSpPr>
              <a:spLocks noChangeAspect="1"/>
            </p:cNvSpPr>
            <p:nvPr/>
          </p:nvSpPr>
          <p:spPr>
            <a:xfrm>
              <a:off x="3246275" y="2968924"/>
              <a:ext cx="1008537" cy="1008537"/>
            </a:xfrm>
            <a:prstGeom prst="ellipse">
              <a:avLst/>
            </a:prstGeom>
            <a:noFill/>
            <a:ln>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069CF265-7A3A-BC09-0E15-8826749E597D}"/>
                </a:ext>
              </a:extLst>
            </p:cNvPr>
            <p:cNvSpPr/>
            <p:nvPr/>
          </p:nvSpPr>
          <p:spPr>
            <a:xfrm>
              <a:off x="3358959" y="3073497"/>
              <a:ext cx="831273" cy="831273"/>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91" b="0" i="0" u="none" strike="noStrike" kern="1200" cap="none" spc="0" normalizeH="0" baseline="0" noProof="0">
                <a:ln>
                  <a:noFill/>
                </a:ln>
                <a:solidFill>
                  <a:prstClr val="white"/>
                </a:solidFill>
                <a:effectLst/>
                <a:uLnTx/>
                <a:uFillTx/>
                <a:latin typeface="adobe-clean"/>
                <a:ea typeface="+mn-ea"/>
                <a:cs typeface="+mn-cs"/>
              </a:endParaRPr>
            </a:p>
          </p:txBody>
        </p:sp>
        <p:sp>
          <p:nvSpPr>
            <p:cNvPr id="101" name="TextBox 100">
              <a:extLst>
                <a:ext uri="{FF2B5EF4-FFF2-40B4-BE49-F238E27FC236}">
                  <a16:creationId xmlns:a16="http://schemas.microsoft.com/office/drawing/2014/main" id="{1288713B-88AB-8019-6F22-73097368C3A1}"/>
                </a:ext>
              </a:extLst>
            </p:cNvPr>
            <p:cNvSpPr txBox="1"/>
            <p:nvPr/>
          </p:nvSpPr>
          <p:spPr>
            <a:xfrm>
              <a:off x="4453869" y="3234719"/>
              <a:ext cx="1328177" cy="475655"/>
            </a:xfrm>
            <a:prstGeom prst="rect">
              <a:avLst/>
            </a:prstGeom>
            <a:noFill/>
          </p:spPr>
          <p:txBody>
            <a:bodyPr wrap="square" rtlCol="0">
              <a:spAutoFit/>
            </a:bodyPr>
            <a:lstStyle>
              <a:defPPr>
                <a:defRPr lang="en-US"/>
              </a:defPPr>
              <a:lvl1pPr defTabSz="457189">
                <a:defRPr sz="1400">
                  <a:latin typeface="Poppins Medium" panose="00000600000000000000" pitchFamily="2" charset="0"/>
                  <a:ea typeface="Helvetica Neue" panose="02000503000000020004" pitchFamily="2" charset="0"/>
                  <a:cs typeface="Poppins Medium" panose="00000600000000000000" pitchFamily="2" charset="0"/>
                </a:defRPr>
              </a:lvl1p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effectLst/>
                  <a:uLnTx/>
                  <a:uFillTx/>
                  <a:latin typeface="Manrope" pitchFamily="2" charset="0"/>
                </a:rPr>
                <a:t>Data Insights &amp; Audiences</a:t>
              </a:r>
              <a:endParaRPr kumimoji="0" lang="en-IN" sz="1200" b="1" u="none" strike="noStrike" kern="1200" cap="none" spc="0" normalizeH="0" baseline="0" noProof="0">
                <a:ln>
                  <a:noFill/>
                </a:ln>
                <a:effectLst/>
                <a:uLnTx/>
                <a:uFillTx/>
                <a:latin typeface="Manrope" pitchFamily="2" charset="0"/>
              </a:endParaRPr>
            </a:p>
          </p:txBody>
        </p:sp>
        <p:pic>
          <p:nvPicPr>
            <p:cNvPr id="122" name="Graphic 121">
              <a:extLst>
                <a:ext uri="{FF2B5EF4-FFF2-40B4-BE49-F238E27FC236}">
                  <a16:creationId xmlns:a16="http://schemas.microsoft.com/office/drawing/2014/main" id="{B7CA74DD-5BB5-86BF-BA95-54E98E539B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3497690" y="3170616"/>
              <a:ext cx="537827" cy="595969"/>
            </a:xfrm>
            <a:prstGeom prst="rect">
              <a:avLst/>
            </a:prstGeom>
          </p:spPr>
        </p:pic>
        <p:sp>
          <p:nvSpPr>
            <p:cNvPr id="127" name="Rectangle 126">
              <a:extLst>
                <a:ext uri="{FF2B5EF4-FFF2-40B4-BE49-F238E27FC236}">
                  <a16:creationId xmlns:a16="http://schemas.microsoft.com/office/drawing/2014/main" id="{D8C75445-071D-AC6F-579D-9D2584DF34BE}"/>
                </a:ext>
              </a:extLst>
            </p:cNvPr>
            <p:cNvSpPr/>
            <p:nvPr/>
          </p:nvSpPr>
          <p:spPr>
            <a:xfrm>
              <a:off x="6448659" y="3051528"/>
              <a:ext cx="2563936" cy="850847"/>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TextBox 1028">
              <a:extLst>
                <a:ext uri="{FF2B5EF4-FFF2-40B4-BE49-F238E27FC236}">
                  <a16:creationId xmlns:a16="http://schemas.microsoft.com/office/drawing/2014/main" id="{F121C709-E555-C601-15BA-4F4711FBF6B6}"/>
                </a:ext>
              </a:extLst>
            </p:cNvPr>
            <p:cNvSpPr txBox="1"/>
            <p:nvPr/>
          </p:nvSpPr>
          <p:spPr>
            <a:xfrm>
              <a:off x="6693055" y="3105680"/>
              <a:ext cx="1944564" cy="760914"/>
            </a:xfrm>
            <a:prstGeom prst="rect">
              <a:avLst/>
            </a:prstGeom>
            <a:noFill/>
          </p:spPr>
          <p:txBody>
            <a:bodyPr wrap="square" lIns="0" rIns="0" rtlCol="0" anchor="t">
              <a:spAutoFit/>
            </a:bodyPr>
            <a:lstStyle/>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Customer Journey Analytics</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Audience Manager</a:t>
              </a:r>
              <a:endParaRPr kumimoji="0" lang="en-IN" sz="1000" i="0" u="none" strike="noStrike" kern="1200" cap="none" spc="0" normalizeH="0" baseline="0" noProof="0">
                <a:ln>
                  <a:noFill/>
                </a:ln>
                <a:solidFill>
                  <a:schemeClr val="bg1"/>
                </a:solidFill>
                <a:effectLst/>
                <a:uLnTx/>
                <a:uFillTx/>
                <a:latin typeface="Manrope" pitchFamily="2" charset="0"/>
                <a:cs typeface="Arial" panose="020B0604020202020204" pitchFamily="34" charset="0"/>
              </a:endParaRP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Adobe Analytics</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Real Time CDP</a:t>
              </a:r>
            </a:p>
          </p:txBody>
        </p:sp>
      </p:grpSp>
      <p:sp>
        <p:nvSpPr>
          <p:cNvPr id="1030" name="TextBox 1029">
            <a:extLst>
              <a:ext uri="{FF2B5EF4-FFF2-40B4-BE49-F238E27FC236}">
                <a16:creationId xmlns:a16="http://schemas.microsoft.com/office/drawing/2014/main" id="{8C7C4F35-BB6C-8A76-99E7-6A90862B46F8}"/>
              </a:ext>
            </a:extLst>
          </p:cNvPr>
          <p:cNvSpPr txBox="1"/>
          <p:nvPr/>
        </p:nvSpPr>
        <p:spPr>
          <a:xfrm>
            <a:off x="6547821" y="3507432"/>
            <a:ext cx="1852224" cy="591637"/>
          </a:xfrm>
          <a:prstGeom prst="rect">
            <a:avLst/>
          </a:prstGeom>
          <a:noFill/>
        </p:spPr>
        <p:txBody>
          <a:bodyPr wrap="square" lIns="0" rIns="0" rtlCol="0" anchor="t">
            <a:spAutoFit/>
          </a:bodyPr>
          <a:lstStyle/>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Adobe Acrobat Sign</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Experience Manger Forms</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endParaRPr kumimoji="0" lang="en-IN" sz="1000" i="0" u="none" strike="noStrike" kern="1200" cap="none" spc="0" normalizeH="0" baseline="0" noProof="0">
              <a:ln>
                <a:noFill/>
              </a:ln>
              <a:solidFill>
                <a:schemeClr val="bg1"/>
              </a:solidFill>
              <a:effectLst/>
              <a:uLnTx/>
              <a:uFillTx/>
              <a:latin typeface="Manrope" pitchFamily="2" charset="0"/>
              <a:cs typeface="Arial" panose="020B0604020202020204" pitchFamily="34" charset="0"/>
            </a:endParaRPr>
          </a:p>
        </p:txBody>
      </p:sp>
      <p:grpSp>
        <p:nvGrpSpPr>
          <p:cNvPr id="1033" name="Group 1032">
            <a:extLst>
              <a:ext uri="{FF2B5EF4-FFF2-40B4-BE49-F238E27FC236}">
                <a16:creationId xmlns:a16="http://schemas.microsoft.com/office/drawing/2014/main" id="{EB8BDF06-CD5A-A607-FC13-5ADDE155E11C}"/>
              </a:ext>
            </a:extLst>
          </p:cNvPr>
          <p:cNvGrpSpPr/>
          <p:nvPr/>
        </p:nvGrpSpPr>
        <p:grpSpPr>
          <a:xfrm>
            <a:off x="3159809" y="5380789"/>
            <a:ext cx="5764809" cy="1008537"/>
            <a:chOff x="3264566" y="935142"/>
            <a:chExt cx="5764809" cy="1008537"/>
          </a:xfrm>
        </p:grpSpPr>
        <p:sp>
          <p:nvSpPr>
            <p:cNvPr id="72" name="Oval 71">
              <a:extLst>
                <a:ext uri="{FF2B5EF4-FFF2-40B4-BE49-F238E27FC236}">
                  <a16:creationId xmlns:a16="http://schemas.microsoft.com/office/drawing/2014/main" id="{B22AF330-0211-A320-92B5-EA54F38D0AB2}"/>
                </a:ext>
              </a:extLst>
            </p:cNvPr>
            <p:cNvSpPr>
              <a:spLocks noChangeAspect="1"/>
            </p:cNvSpPr>
            <p:nvPr/>
          </p:nvSpPr>
          <p:spPr>
            <a:xfrm>
              <a:off x="3264566" y="935142"/>
              <a:ext cx="1008537" cy="1008537"/>
            </a:xfrm>
            <a:prstGeom prst="ellipse">
              <a:avLst/>
            </a:prstGeom>
            <a:no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C074107B-9B52-EE04-3444-D008D7170D8D}"/>
                </a:ext>
              </a:extLst>
            </p:cNvPr>
            <p:cNvSpPr/>
            <p:nvPr/>
          </p:nvSpPr>
          <p:spPr>
            <a:xfrm>
              <a:off x="3364506" y="1032633"/>
              <a:ext cx="831273" cy="831273"/>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91" b="0" i="0" u="none" strike="noStrike" kern="1200" cap="none" spc="0" normalizeH="0" baseline="0" noProof="0">
                <a:ln>
                  <a:noFill/>
                </a:ln>
                <a:solidFill>
                  <a:prstClr val="white"/>
                </a:solidFill>
                <a:effectLst/>
                <a:uLnTx/>
                <a:uFillTx/>
                <a:latin typeface="adobe-clean"/>
                <a:ea typeface="+mn-ea"/>
                <a:cs typeface="+mn-cs"/>
              </a:endParaRPr>
            </a:p>
          </p:txBody>
        </p:sp>
        <p:sp>
          <p:nvSpPr>
            <p:cNvPr id="114" name="TextBox 113">
              <a:extLst>
                <a:ext uri="{FF2B5EF4-FFF2-40B4-BE49-F238E27FC236}">
                  <a16:creationId xmlns:a16="http://schemas.microsoft.com/office/drawing/2014/main" id="{DFEA6E5A-B3AD-18AB-F690-17CCFBFD6DC1}"/>
                </a:ext>
              </a:extLst>
            </p:cNvPr>
            <p:cNvSpPr txBox="1"/>
            <p:nvPr/>
          </p:nvSpPr>
          <p:spPr>
            <a:xfrm>
              <a:off x="4450451" y="1188345"/>
              <a:ext cx="2227427" cy="461665"/>
            </a:xfrm>
            <a:prstGeom prst="rect">
              <a:avLst/>
            </a:prstGeom>
            <a:noFill/>
          </p:spPr>
          <p:txBody>
            <a:bodyPr wrap="square" rtlCol="0">
              <a:spAutoFit/>
            </a:bodyPr>
            <a:lstStyle>
              <a:defPPr>
                <a:defRPr lang="en-US"/>
              </a:defPPr>
              <a:lvl1pPr defTabSz="457189">
                <a:defRPr sz="1400">
                  <a:latin typeface="Poppins Medium" panose="00000600000000000000" pitchFamily="2" charset="0"/>
                  <a:ea typeface="Helvetica Neue" panose="02000503000000020004" pitchFamily="2" charset="0"/>
                  <a:cs typeface="Poppins Medium" panose="00000600000000000000" pitchFamily="2" charset="0"/>
                </a:defRPr>
              </a:lvl1p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effectLst/>
                  <a:uLnTx/>
                  <a:uFillTx/>
                  <a:latin typeface="Manrope" pitchFamily="2" charset="0"/>
                </a:rPr>
                <a:t>Experience</a:t>
              </a:r>
            </a:p>
            <a:p>
              <a:pPr marL="0" marR="0" lvl="0" indent="0" algn="l" defTabSz="457189" rtl="0" eaLnBrk="1" fontAlgn="auto" latinLnBrk="0" hangingPunct="1">
                <a:lnSpc>
                  <a:spcPct val="100000"/>
                </a:lnSpc>
                <a:spcBef>
                  <a:spcPts val="0"/>
                </a:spcBef>
                <a:spcAft>
                  <a:spcPts val="0"/>
                </a:spcAft>
                <a:buClrTx/>
                <a:buSzTx/>
                <a:buFontTx/>
                <a:buNone/>
                <a:tabLst/>
                <a:defRPr/>
              </a:pPr>
              <a:r>
                <a:rPr lang="en-US" sz="1200" b="1">
                  <a:latin typeface="Manrope" pitchFamily="2" charset="0"/>
                </a:rPr>
                <a:t>M</a:t>
              </a:r>
              <a:r>
                <a:rPr kumimoji="0" lang="en-US" sz="1200" b="1" u="none" strike="noStrike" kern="1200" cap="none" spc="0" normalizeH="0" baseline="0" noProof="0">
                  <a:ln>
                    <a:noFill/>
                  </a:ln>
                  <a:effectLst/>
                  <a:uLnTx/>
                  <a:uFillTx/>
                  <a:latin typeface="Manrope" pitchFamily="2" charset="0"/>
                </a:rPr>
                <a:t>anagement </a:t>
              </a:r>
              <a:r>
                <a:rPr lang="en-US" sz="1200" b="1">
                  <a:latin typeface="Manrope" pitchFamily="2" charset="0"/>
                </a:rPr>
                <a:t>P</a:t>
              </a:r>
              <a:r>
                <a:rPr kumimoji="0" lang="en-US" sz="1200" b="1" u="none" strike="noStrike" kern="1200" cap="none" spc="0" normalizeH="0" baseline="0" noProof="0">
                  <a:ln>
                    <a:noFill/>
                  </a:ln>
                  <a:effectLst/>
                  <a:uLnTx/>
                  <a:uFillTx/>
                  <a:latin typeface="Manrope" pitchFamily="2" charset="0"/>
                </a:rPr>
                <a:t>latform</a:t>
              </a:r>
            </a:p>
          </p:txBody>
        </p:sp>
        <p:sp>
          <p:nvSpPr>
            <p:cNvPr id="115" name="Rectangle 114">
              <a:extLst>
                <a:ext uri="{FF2B5EF4-FFF2-40B4-BE49-F238E27FC236}">
                  <a16:creationId xmlns:a16="http://schemas.microsoft.com/office/drawing/2014/main" id="{2DD1331D-2F8C-6CF8-82D8-1AA239B5DB00}"/>
                </a:ext>
              </a:extLst>
            </p:cNvPr>
            <p:cNvSpPr/>
            <p:nvPr/>
          </p:nvSpPr>
          <p:spPr>
            <a:xfrm>
              <a:off x="4353958" y="1013058"/>
              <a:ext cx="2116624" cy="85084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Graphic 117">
              <a:extLst>
                <a:ext uri="{FF2B5EF4-FFF2-40B4-BE49-F238E27FC236}">
                  <a16:creationId xmlns:a16="http://schemas.microsoft.com/office/drawing/2014/main" id="{53AC11A5-7248-F7A2-F19A-2D35004015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3480193" y="1158027"/>
              <a:ext cx="577281" cy="577281"/>
            </a:xfrm>
            <a:prstGeom prst="rect">
              <a:avLst/>
            </a:prstGeom>
          </p:spPr>
        </p:pic>
        <p:sp>
          <p:nvSpPr>
            <p:cNvPr id="1025" name="Rectangle 1024">
              <a:extLst>
                <a:ext uri="{FF2B5EF4-FFF2-40B4-BE49-F238E27FC236}">
                  <a16:creationId xmlns:a16="http://schemas.microsoft.com/office/drawing/2014/main" id="{DFBF6B88-55FD-4B12-2943-B392677F4AF0}"/>
                </a:ext>
              </a:extLst>
            </p:cNvPr>
            <p:cNvSpPr/>
            <p:nvPr/>
          </p:nvSpPr>
          <p:spPr>
            <a:xfrm>
              <a:off x="6465439" y="1013058"/>
              <a:ext cx="2563936" cy="850847"/>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a:extLst>
                <a:ext uri="{FF2B5EF4-FFF2-40B4-BE49-F238E27FC236}">
                  <a16:creationId xmlns:a16="http://schemas.microsoft.com/office/drawing/2014/main" id="{41711DF9-52E1-D45D-D661-61B9C44516A8}"/>
                </a:ext>
              </a:extLst>
            </p:cNvPr>
            <p:cNvSpPr txBox="1"/>
            <p:nvPr/>
          </p:nvSpPr>
          <p:spPr>
            <a:xfrm>
              <a:off x="6729840" y="1234968"/>
              <a:ext cx="1852225" cy="422360"/>
            </a:xfrm>
            <a:prstGeom prst="rect">
              <a:avLst/>
            </a:prstGeom>
            <a:noFill/>
          </p:spPr>
          <p:txBody>
            <a:bodyPr wrap="square" lIns="0" rIns="0" rtlCol="0" anchor="t">
              <a:spAutoFit/>
            </a:bodyPr>
            <a:lstStyle/>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Adobe Experience Platform</a:t>
              </a:r>
            </a:p>
            <a:p>
              <a:pPr marL="182601" marR="0" lvl="0" indent="-182601" algn="l" defTabSz="914400" rtl="0" eaLnBrk="1" fontAlgn="auto" latinLnBrk="0" hangingPunct="1">
                <a:lnSpc>
                  <a:spcPct val="110000"/>
                </a:lnSpc>
                <a:spcBef>
                  <a:spcPts val="0"/>
                </a:spcBef>
                <a:spcAft>
                  <a:spcPts val="0"/>
                </a:spcAft>
                <a:buClr>
                  <a:schemeClr val="bg1"/>
                </a:buClr>
                <a:buSzTx/>
                <a:buFont typeface="Arial" panose="020B0604020202020204" pitchFamily="34" charset="0"/>
                <a:buChar char="•"/>
                <a:tabLst/>
                <a:defRPr/>
              </a:pPr>
              <a:r>
                <a:rPr kumimoji="0" lang="en-US" sz="1000" i="0" u="none" strike="noStrike" kern="0" cap="none" spc="0" normalizeH="0" baseline="0" noProof="0">
                  <a:ln>
                    <a:noFill/>
                  </a:ln>
                  <a:solidFill>
                    <a:schemeClr val="bg1"/>
                  </a:solidFill>
                  <a:effectLst/>
                  <a:uLnTx/>
                  <a:uFillTx/>
                  <a:latin typeface="Manrope" pitchFamily="2" charset="0"/>
                  <a:cs typeface="Arial" panose="020B0604020202020204" pitchFamily="34" charset="0"/>
                </a:rPr>
                <a:t>Sensei</a:t>
              </a:r>
            </a:p>
          </p:txBody>
        </p:sp>
      </p:grpSp>
      <p:sp>
        <p:nvSpPr>
          <p:cNvPr id="1032" name="Text Placeholder 1031">
            <a:extLst>
              <a:ext uri="{FF2B5EF4-FFF2-40B4-BE49-F238E27FC236}">
                <a16:creationId xmlns:a16="http://schemas.microsoft.com/office/drawing/2014/main" id="{78CE3ACF-1C1A-5004-C941-880FC1D63CA3}"/>
              </a:ext>
            </a:extLst>
          </p:cNvPr>
          <p:cNvSpPr>
            <a:spLocks noGrp="1"/>
          </p:cNvSpPr>
          <p:nvPr>
            <p:ph type="body" sz="quarter" idx="15"/>
          </p:nvPr>
        </p:nvSpPr>
        <p:spPr>
          <a:xfrm flipH="1">
            <a:off x="623888" y="457200"/>
            <a:ext cx="8172450" cy="244101"/>
          </a:xfrm>
        </p:spPr>
        <p:txBody>
          <a:bodyPr/>
          <a:lstStyle/>
          <a:p>
            <a:r>
              <a:rPr lang="en-US"/>
              <a:t>Adobe Expertise</a:t>
            </a:r>
          </a:p>
        </p:txBody>
      </p:sp>
      <p:sp>
        <p:nvSpPr>
          <p:cNvPr id="2" name="Isosceles Triangle 1">
            <a:extLst>
              <a:ext uri="{FF2B5EF4-FFF2-40B4-BE49-F238E27FC236}">
                <a16:creationId xmlns:a16="http://schemas.microsoft.com/office/drawing/2014/main" id="{C36FD3C1-DBB8-1A49-8DBD-8DE445CB87B2}"/>
              </a:ext>
            </a:extLst>
          </p:cNvPr>
          <p:cNvSpPr/>
          <p:nvPr/>
        </p:nvSpPr>
        <p:spPr>
          <a:xfrm>
            <a:off x="1429977" y="2343355"/>
            <a:ext cx="705121" cy="780493"/>
          </a:xfrm>
          <a:prstGeom prst="triangle">
            <a:avLst>
              <a:gd name="adj" fmla="val 49508"/>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2119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F0482-C5A5-7E39-F5AB-67E6AE0EB89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1AA0A2C-1471-56CD-A1CC-9B5568561115}"/>
              </a:ext>
            </a:extLst>
          </p:cNvPr>
          <p:cNvSpPr>
            <a:spLocks noGrp="1"/>
          </p:cNvSpPr>
          <p:nvPr>
            <p:ph type="body" sz="quarter" idx="15"/>
          </p:nvPr>
        </p:nvSpPr>
        <p:spPr>
          <a:xfrm flipH="1">
            <a:off x="623888" y="457200"/>
            <a:ext cx="8172450" cy="244101"/>
          </a:xfrm>
        </p:spPr>
        <p:txBody>
          <a:bodyPr/>
          <a:lstStyle/>
          <a:p>
            <a:r>
              <a:rPr lang="en-US"/>
              <a:t>Our Collaboration Partners</a:t>
            </a:r>
          </a:p>
        </p:txBody>
      </p:sp>
      <p:grpSp>
        <p:nvGrpSpPr>
          <p:cNvPr id="15" name="Group 14">
            <a:extLst>
              <a:ext uri="{FF2B5EF4-FFF2-40B4-BE49-F238E27FC236}">
                <a16:creationId xmlns:a16="http://schemas.microsoft.com/office/drawing/2014/main" id="{2D620E62-D750-7A3D-8B81-93F112DCC065}"/>
              </a:ext>
            </a:extLst>
          </p:cNvPr>
          <p:cNvGrpSpPr/>
          <p:nvPr/>
        </p:nvGrpSpPr>
        <p:grpSpPr>
          <a:xfrm>
            <a:off x="5859106" y="3303492"/>
            <a:ext cx="5340706" cy="2924915"/>
            <a:chOff x="6299257" y="2801842"/>
            <a:chExt cx="5340706" cy="2924915"/>
          </a:xfrm>
        </p:grpSpPr>
        <p:pic>
          <p:nvPicPr>
            <p:cNvPr id="22" name="Picture 21">
              <a:extLst>
                <a:ext uri="{FF2B5EF4-FFF2-40B4-BE49-F238E27FC236}">
                  <a16:creationId xmlns:a16="http://schemas.microsoft.com/office/drawing/2014/main" id="{06D3BDDB-B06B-8782-AD83-813942E9D7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36942" y="2801842"/>
              <a:ext cx="2503021" cy="2908463"/>
            </a:xfrm>
            <a:prstGeom prst="rect">
              <a:avLst/>
            </a:prstGeom>
            <a:ln>
              <a:noFill/>
            </a:ln>
          </p:spPr>
        </p:pic>
        <p:pic>
          <p:nvPicPr>
            <p:cNvPr id="24" name="Picture 2" descr="See the source image">
              <a:extLst>
                <a:ext uri="{FF2B5EF4-FFF2-40B4-BE49-F238E27FC236}">
                  <a16:creationId xmlns:a16="http://schemas.microsoft.com/office/drawing/2014/main" id="{EDD14599-C1C6-F66A-D0EC-B2A70A915C1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514620" y="3433408"/>
              <a:ext cx="1682035" cy="93446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E2917581-242D-23D7-B2E3-D740CD8660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99257" y="2818296"/>
              <a:ext cx="2503020" cy="2908461"/>
            </a:xfrm>
            <a:prstGeom prst="rect">
              <a:avLst/>
            </a:prstGeom>
            <a:ln>
              <a:noFill/>
            </a:ln>
          </p:spPr>
        </p:pic>
        <p:pic>
          <p:nvPicPr>
            <p:cNvPr id="20" name="Picture 19" descr="Logo&#10;&#10;Description automatically generated">
              <a:extLst>
                <a:ext uri="{FF2B5EF4-FFF2-40B4-BE49-F238E27FC236}">
                  <a16:creationId xmlns:a16="http://schemas.microsoft.com/office/drawing/2014/main" id="{B5553AEC-5117-BA2F-AB16-032BA89582F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721146" y="3704747"/>
              <a:ext cx="1571835" cy="391786"/>
            </a:xfrm>
            <a:prstGeom prst="rect">
              <a:avLst/>
            </a:prstGeom>
          </p:spPr>
        </p:pic>
        <p:sp>
          <p:nvSpPr>
            <p:cNvPr id="21" name="TextBox 20">
              <a:extLst>
                <a:ext uri="{FF2B5EF4-FFF2-40B4-BE49-F238E27FC236}">
                  <a16:creationId xmlns:a16="http://schemas.microsoft.com/office/drawing/2014/main" id="{2DD9CD6C-45B4-B4CB-914A-DD81D4A39258}"/>
                </a:ext>
              </a:extLst>
            </p:cNvPr>
            <p:cNvSpPr txBox="1"/>
            <p:nvPr/>
          </p:nvSpPr>
          <p:spPr>
            <a:xfrm>
              <a:off x="6516075" y="4725961"/>
              <a:ext cx="2023734" cy="769441"/>
            </a:xfrm>
            <a:prstGeom prst="rect">
              <a:avLst/>
            </a:prstGeom>
            <a:noFill/>
          </p:spPr>
          <p:txBody>
            <a:bodyPr wrap="square" lIns="91440" tIns="45720" rIns="91440" bIns="45720" anchor="t">
              <a:spAutoFit/>
            </a:bodyPr>
            <a:lstStyle/>
            <a:p>
              <a:pPr algn="ctr"/>
              <a:r>
                <a:rPr lang="en-US" sz="1600" b="1">
                  <a:solidFill>
                    <a:schemeClr val="bg1"/>
                  </a:solidFill>
                  <a:latin typeface="Manrope"/>
                  <a:cs typeface="Poppins"/>
                </a:rPr>
                <a:t>BRONZE</a:t>
              </a:r>
            </a:p>
            <a:p>
              <a:pPr algn="ctr"/>
              <a:r>
                <a:rPr lang="en-US" sz="1400">
                  <a:solidFill>
                    <a:schemeClr val="bg1"/>
                  </a:solidFill>
                  <a:latin typeface="Manrope" pitchFamily="2" charset="0"/>
                  <a:cs typeface="Poppins Light" panose="00000400000000000000" pitchFamily="2" charset="0"/>
                </a:rPr>
                <a:t>LEVEL PARTNER</a:t>
              </a:r>
            </a:p>
            <a:p>
              <a:pPr algn="ctr"/>
              <a:r>
                <a:rPr lang="en-US" sz="1400">
                  <a:solidFill>
                    <a:schemeClr val="bg1"/>
                  </a:solidFill>
                  <a:latin typeface="Manrope" pitchFamily="2" charset="0"/>
                  <a:cs typeface="Poppins Light" panose="00000400000000000000" pitchFamily="2" charset="0"/>
                </a:rPr>
                <a:t>WITH DRUPAL ACQUIA</a:t>
              </a:r>
            </a:p>
          </p:txBody>
        </p:sp>
        <p:sp>
          <p:nvSpPr>
            <p:cNvPr id="25" name="TextBox 24">
              <a:extLst>
                <a:ext uri="{FF2B5EF4-FFF2-40B4-BE49-F238E27FC236}">
                  <a16:creationId xmlns:a16="http://schemas.microsoft.com/office/drawing/2014/main" id="{7790DF7A-BA3E-2EB2-3915-733B6A95D166}"/>
                </a:ext>
              </a:extLst>
            </p:cNvPr>
            <p:cNvSpPr txBox="1"/>
            <p:nvPr/>
          </p:nvSpPr>
          <p:spPr>
            <a:xfrm>
              <a:off x="9564799" y="4725961"/>
              <a:ext cx="1613002" cy="769441"/>
            </a:xfrm>
            <a:prstGeom prst="rect">
              <a:avLst/>
            </a:prstGeom>
            <a:noFill/>
          </p:spPr>
          <p:txBody>
            <a:bodyPr wrap="square" lIns="91440" tIns="45720" rIns="91440" bIns="45720" anchor="t">
              <a:spAutoFit/>
            </a:bodyPr>
            <a:lstStyle/>
            <a:p>
              <a:pPr algn="ctr"/>
              <a:r>
                <a:rPr lang="en-US" sz="1600" b="1">
                  <a:solidFill>
                    <a:schemeClr val="bg1"/>
                  </a:solidFill>
                  <a:latin typeface="Manrope"/>
                  <a:cs typeface="Poppins"/>
                </a:rPr>
                <a:t>GOLD</a:t>
              </a:r>
            </a:p>
            <a:p>
              <a:pPr algn="ctr"/>
              <a:r>
                <a:rPr lang="en-US" sz="1400">
                  <a:solidFill>
                    <a:schemeClr val="bg1"/>
                  </a:solidFill>
                  <a:latin typeface="Manrope" pitchFamily="2" charset="0"/>
                  <a:cs typeface="Poppins Light" panose="00000400000000000000" pitchFamily="2" charset="0"/>
                </a:rPr>
                <a:t>LEVEL PARTNER</a:t>
              </a:r>
            </a:p>
            <a:p>
              <a:pPr algn="ctr"/>
              <a:r>
                <a:rPr lang="en-US" sz="1400">
                  <a:solidFill>
                    <a:schemeClr val="bg1"/>
                  </a:solidFill>
                  <a:latin typeface="Manrope" pitchFamily="2" charset="0"/>
                  <a:cs typeface="Poppins Light" panose="00000400000000000000" pitchFamily="2" charset="0"/>
                </a:rPr>
                <a:t>WITH SPRYKER</a:t>
              </a:r>
            </a:p>
          </p:txBody>
        </p:sp>
      </p:grpSp>
      <p:sp>
        <p:nvSpPr>
          <p:cNvPr id="10" name="TextBox 9">
            <a:extLst>
              <a:ext uri="{FF2B5EF4-FFF2-40B4-BE49-F238E27FC236}">
                <a16:creationId xmlns:a16="http://schemas.microsoft.com/office/drawing/2014/main" id="{020D63EC-717E-6598-D5D0-2E31980B1C94}"/>
              </a:ext>
            </a:extLst>
          </p:cNvPr>
          <p:cNvSpPr txBox="1"/>
          <p:nvPr/>
        </p:nvSpPr>
        <p:spPr>
          <a:xfrm>
            <a:off x="553366" y="1626734"/>
            <a:ext cx="4060388" cy="2308324"/>
          </a:xfrm>
          <a:prstGeom prst="rect">
            <a:avLst/>
          </a:prstGeom>
          <a:noFill/>
        </p:spPr>
        <p:txBody>
          <a:bodyPr wrap="square">
            <a:spAutoFit/>
          </a:bodyPr>
          <a:lstStyle/>
          <a:p>
            <a:r>
              <a:rPr lang="en-US" dirty="0">
                <a:latin typeface="Manrope Light"/>
              </a:rPr>
              <a:t>We maintain a technology and platform-agnostic approach. </a:t>
            </a:r>
          </a:p>
          <a:p>
            <a:endParaRPr lang="en-US" dirty="0">
              <a:latin typeface="Manrope Light"/>
            </a:endParaRPr>
          </a:p>
          <a:p>
            <a:r>
              <a:rPr lang="en-US" dirty="0">
                <a:latin typeface="Manrope Light"/>
              </a:rPr>
              <a:t>Our team possesses the experience and depth of knowledge to deliver solutions across a wide range of platforms and technologies tailored to your needs.</a:t>
            </a:r>
          </a:p>
        </p:txBody>
      </p:sp>
      <p:grpSp>
        <p:nvGrpSpPr>
          <p:cNvPr id="14" name="Group 13">
            <a:extLst>
              <a:ext uri="{FF2B5EF4-FFF2-40B4-BE49-F238E27FC236}">
                <a16:creationId xmlns:a16="http://schemas.microsoft.com/office/drawing/2014/main" id="{75A489E5-78FD-03BA-1B40-4E86CA240D8D}"/>
              </a:ext>
            </a:extLst>
          </p:cNvPr>
          <p:cNvGrpSpPr/>
          <p:nvPr/>
        </p:nvGrpSpPr>
        <p:grpSpPr>
          <a:xfrm>
            <a:off x="5859108" y="622508"/>
            <a:ext cx="5340704" cy="2908461"/>
            <a:chOff x="623888" y="2811227"/>
            <a:chExt cx="5340704" cy="2908461"/>
          </a:xfrm>
        </p:grpSpPr>
        <p:pic>
          <p:nvPicPr>
            <p:cNvPr id="4" name="Picture 3">
              <a:extLst>
                <a:ext uri="{FF2B5EF4-FFF2-40B4-BE49-F238E27FC236}">
                  <a16:creationId xmlns:a16="http://schemas.microsoft.com/office/drawing/2014/main" id="{09D9D07A-69A8-73CE-8E28-98758582114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23888" y="2811227"/>
              <a:ext cx="2503019" cy="2908460"/>
            </a:xfrm>
            <a:prstGeom prst="rect">
              <a:avLst/>
            </a:prstGeom>
            <a:ln>
              <a:noFill/>
            </a:ln>
          </p:spPr>
        </p:pic>
        <p:pic>
          <p:nvPicPr>
            <p:cNvPr id="5" name="Picture 4" descr="Capabilities">
              <a:extLst>
                <a:ext uri="{FF2B5EF4-FFF2-40B4-BE49-F238E27FC236}">
                  <a16:creationId xmlns:a16="http://schemas.microsoft.com/office/drawing/2014/main" id="{F4E64EB1-5095-E70E-577C-5CF9EB4C5426}"/>
                </a:ext>
              </a:extLst>
            </p:cNvPr>
            <p:cNvPicPr>
              <a:picLocks noChangeAspect="1" noChangeArrowheads="1"/>
            </p:cNvPicPr>
            <p:nvPr/>
          </p:nvPicPr>
          <p:blipFill rotWithShape="1">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b="25470"/>
            <a:stretch/>
          </p:blipFill>
          <p:spPr bwMode="auto">
            <a:xfrm>
              <a:off x="958553" y="3752503"/>
              <a:ext cx="1820815" cy="3528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F2A6AE9-B607-59C6-EC40-880DB8D400C0}"/>
                </a:ext>
              </a:extLst>
            </p:cNvPr>
            <p:cNvSpPr txBox="1"/>
            <p:nvPr/>
          </p:nvSpPr>
          <p:spPr>
            <a:xfrm>
              <a:off x="1050042" y="4725961"/>
              <a:ext cx="1613002" cy="769441"/>
            </a:xfrm>
            <a:prstGeom prst="rect">
              <a:avLst/>
            </a:prstGeom>
            <a:noFill/>
          </p:spPr>
          <p:txBody>
            <a:bodyPr wrap="square" lIns="91440" tIns="45720" rIns="91440" bIns="45720" anchor="t">
              <a:spAutoFit/>
            </a:bodyPr>
            <a:lstStyle/>
            <a:p>
              <a:pPr algn="ctr"/>
              <a:r>
                <a:rPr lang="en-US" sz="1600" b="1">
                  <a:solidFill>
                    <a:schemeClr val="bg1"/>
                  </a:solidFill>
                  <a:latin typeface="Manrope"/>
                  <a:cs typeface="Poppins"/>
                </a:rPr>
                <a:t>GOLD</a:t>
              </a:r>
            </a:p>
            <a:p>
              <a:pPr algn="ctr"/>
              <a:r>
                <a:rPr lang="en-US" sz="1400">
                  <a:solidFill>
                    <a:schemeClr val="bg1"/>
                  </a:solidFill>
                  <a:latin typeface="Manrope" pitchFamily="2" charset="0"/>
                  <a:cs typeface="Poppins Light" panose="00000400000000000000" pitchFamily="2" charset="0"/>
                </a:rPr>
                <a:t>LEVEL PARTNER</a:t>
              </a:r>
            </a:p>
            <a:p>
              <a:pPr algn="ctr"/>
              <a:r>
                <a:rPr lang="en-US" sz="1400">
                  <a:solidFill>
                    <a:schemeClr val="bg1"/>
                  </a:solidFill>
                  <a:latin typeface="Manrope" pitchFamily="2" charset="0"/>
                  <a:cs typeface="Poppins Light" panose="00000400000000000000" pitchFamily="2" charset="0"/>
                </a:rPr>
                <a:t>WITH ADOBE</a:t>
              </a:r>
            </a:p>
          </p:txBody>
        </p:sp>
        <p:pic>
          <p:nvPicPr>
            <p:cNvPr id="9" name="Picture 8">
              <a:extLst>
                <a:ext uri="{FF2B5EF4-FFF2-40B4-BE49-F238E27FC236}">
                  <a16:creationId xmlns:a16="http://schemas.microsoft.com/office/drawing/2014/main" id="{7F86D8D0-8FEA-3A79-A559-9D47494D882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461572" y="2811227"/>
              <a:ext cx="2503020" cy="2908461"/>
            </a:xfrm>
            <a:prstGeom prst="rect">
              <a:avLst/>
            </a:prstGeom>
            <a:ln>
              <a:noFill/>
            </a:ln>
          </p:spPr>
        </p:pic>
        <p:pic>
          <p:nvPicPr>
            <p:cNvPr id="11" name="Picture 10" descr="Sitecore Logo [ Download - Logo - icon ] png svg">
              <a:extLst>
                <a:ext uri="{FF2B5EF4-FFF2-40B4-BE49-F238E27FC236}">
                  <a16:creationId xmlns:a16="http://schemas.microsoft.com/office/drawing/2014/main" id="{E18D774E-C45C-C067-15DD-D26608C024FA}"/>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4205430" y="3438326"/>
              <a:ext cx="924628" cy="92462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8FBEA62-F561-E65E-5040-56B0CF02F43B}"/>
                </a:ext>
              </a:extLst>
            </p:cNvPr>
            <p:cNvSpPr txBox="1"/>
            <p:nvPr/>
          </p:nvSpPr>
          <p:spPr>
            <a:xfrm>
              <a:off x="3861243" y="4725961"/>
              <a:ext cx="1613002" cy="769441"/>
            </a:xfrm>
            <a:prstGeom prst="rect">
              <a:avLst/>
            </a:prstGeom>
            <a:noFill/>
          </p:spPr>
          <p:txBody>
            <a:bodyPr wrap="square" lIns="91440" tIns="45720" rIns="91440" bIns="45720" anchor="t">
              <a:spAutoFit/>
            </a:bodyPr>
            <a:lstStyle/>
            <a:p>
              <a:pPr algn="ctr"/>
              <a:r>
                <a:rPr lang="en-US" sz="1600" b="1">
                  <a:solidFill>
                    <a:schemeClr val="bg1"/>
                  </a:solidFill>
                  <a:latin typeface="Manrope"/>
                  <a:cs typeface="Poppins"/>
                </a:rPr>
                <a:t>SILVER</a:t>
              </a:r>
            </a:p>
            <a:p>
              <a:pPr algn="ctr"/>
              <a:r>
                <a:rPr lang="en-US" sz="1400">
                  <a:solidFill>
                    <a:schemeClr val="bg1"/>
                  </a:solidFill>
                  <a:latin typeface="Manrope" pitchFamily="2" charset="0"/>
                  <a:cs typeface="Poppins Light" panose="00000400000000000000" pitchFamily="2" charset="0"/>
                </a:rPr>
                <a:t>LEVEL PARTNER</a:t>
              </a:r>
            </a:p>
            <a:p>
              <a:pPr algn="ctr"/>
              <a:r>
                <a:rPr lang="en-US" sz="1400">
                  <a:solidFill>
                    <a:schemeClr val="bg1"/>
                  </a:solidFill>
                  <a:latin typeface="Manrope" pitchFamily="2" charset="0"/>
                  <a:cs typeface="Poppins Light" panose="00000400000000000000" pitchFamily="2" charset="0"/>
                </a:rPr>
                <a:t>WITH SITECORE</a:t>
              </a:r>
            </a:p>
          </p:txBody>
        </p:sp>
      </p:grpSp>
    </p:spTree>
    <p:extLst>
      <p:ext uri="{BB962C8B-B14F-4D97-AF65-F5344CB8AC3E}">
        <p14:creationId xmlns:p14="http://schemas.microsoft.com/office/powerpoint/2010/main" val="3594274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DAB1E-49B8-9A7E-180C-DD07D6DCFED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FCC3CF0-9CD9-CF77-A577-7392D692292F}"/>
              </a:ext>
            </a:extLst>
          </p:cNvPr>
          <p:cNvSpPr>
            <a:spLocks noGrp="1"/>
          </p:cNvSpPr>
          <p:nvPr>
            <p:ph type="body" sz="quarter" idx="15"/>
          </p:nvPr>
        </p:nvSpPr>
        <p:spPr>
          <a:xfrm flipH="1">
            <a:off x="623888" y="457200"/>
            <a:ext cx="8172450" cy="244101"/>
          </a:xfrm>
        </p:spPr>
        <p:txBody>
          <a:bodyPr/>
          <a:lstStyle/>
          <a:p>
            <a:r>
              <a:rPr lang="en-US"/>
              <a:t>Technology Landscape</a:t>
            </a:r>
          </a:p>
        </p:txBody>
      </p:sp>
      <p:grpSp>
        <p:nvGrpSpPr>
          <p:cNvPr id="4" name="Group 3">
            <a:extLst>
              <a:ext uri="{FF2B5EF4-FFF2-40B4-BE49-F238E27FC236}">
                <a16:creationId xmlns:a16="http://schemas.microsoft.com/office/drawing/2014/main" id="{8016D15B-4CE9-74EA-089B-A3B550089A31}"/>
              </a:ext>
            </a:extLst>
          </p:cNvPr>
          <p:cNvGrpSpPr/>
          <p:nvPr/>
        </p:nvGrpSpPr>
        <p:grpSpPr>
          <a:xfrm>
            <a:off x="761999" y="902791"/>
            <a:ext cx="10668002" cy="5379592"/>
            <a:chOff x="761999" y="943780"/>
            <a:chExt cx="10668002" cy="5379592"/>
          </a:xfrm>
        </p:grpSpPr>
        <p:sp>
          <p:nvSpPr>
            <p:cNvPr id="96" name="Freeform 5">
              <a:extLst>
                <a:ext uri="{FF2B5EF4-FFF2-40B4-BE49-F238E27FC236}">
                  <a16:creationId xmlns:a16="http://schemas.microsoft.com/office/drawing/2014/main" id="{E18A6B0E-D709-0139-22C4-CF25BDA2D91C}"/>
                </a:ext>
              </a:extLst>
            </p:cNvPr>
            <p:cNvSpPr>
              <a:spLocks/>
            </p:cNvSpPr>
            <p:nvPr/>
          </p:nvSpPr>
          <p:spPr bwMode="auto">
            <a:xfrm>
              <a:off x="761999" y="4008424"/>
              <a:ext cx="5334001" cy="2314946"/>
            </a:xfrm>
            <a:custGeom>
              <a:avLst/>
              <a:gdLst>
                <a:gd name="T0" fmla="*/ 0 w 14414"/>
                <a:gd name="T1" fmla="*/ 6254 h 6254"/>
                <a:gd name="T2" fmla="*/ 1427 w 14414"/>
                <a:gd name="T3" fmla="*/ 0 h 6254"/>
                <a:gd name="T4" fmla="*/ 14414 w 14414"/>
                <a:gd name="T5" fmla="*/ 6254 h 6254"/>
                <a:gd name="T6" fmla="*/ 0 w 14414"/>
                <a:gd name="T7" fmla="*/ 6254 h 6254"/>
              </a:gdLst>
              <a:ahLst/>
              <a:cxnLst>
                <a:cxn ang="0">
                  <a:pos x="T0" y="T1"/>
                </a:cxn>
                <a:cxn ang="0">
                  <a:pos x="T2" y="T3"/>
                </a:cxn>
                <a:cxn ang="0">
                  <a:pos x="T4" y="T5"/>
                </a:cxn>
                <a:cxn ang="0">
                  <a:pos x="T6" y="T7"/>
                </a:cxn>
              </a:cxnLst>
              <a:rect l="0" t="0" r="r" b="b"/>
              <a:pathLst>
                <a:path w="14414" h="6254">
                  <a:moveTo>
                    <a:pt x="0" y="6254"/>
                  </a:moveTo>
                  <a:cubicBezTo>
                    <a:pt x="0" y="4088"/>
                    <a:pt x="488" y="1951"/>
                    <a:pt x="1427" y="0"/>
                  </a:cubicBezTo>
                  <a:lnTo>
                    <a:pt x="14414" y="6254"/>
                  </a:lnTo>
                  <a:lnTo>
                    <a:pt x="0" y="6254"/>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97" name="Freeform 7">
              <a:extLst>
                <a:ext uri="{FF2B5EF4-FFF2-40B4-BE49-F238E27FC236}">
                  <a16:creationId xmlns:a16="http://schemas.microsoft.com/office/drawing/2014/main" id="{6C313250-0B8F-B394-FD46-F49EFD8852A7}"/>
                </a:ext>
              </a:extLst>
            </p:cNvPr>
            <p:cNvSpPr>
              <a:spLocks/>
            </p:cNvSpPr>
            <p:nvPr/>
          </p:nvSpPr>
          <p:spPr bwMode="auto">
            <a:xfrm>
              <a:off x="1288814" y="2154441"/>
              <a:ext cx="4807186" cy="4168929"/>
            </a:xfrm>
            <a:custGeom>
              <a:avLst/>
              <a:gdLst>
                <a:gd name="T0" fmla="*/ 0 w 12987"/>
                <a:gd name="T1" fmla="*/ 5016 h 11270"/>
                <a:gd name="T2" fmla="*/ 4000 w 12987"/>
                <a:gd name="T3" fmla="*/ 0 h 11270"/>
                <a:gd name="T4" fmla="*/ 12987 w 12987"/>
                <a:gd name="T5" fmla="*/ 11270 h 11270"/>
                <a:gd name="T6" fmla="*/ 0 w 12987"/>
                <a:gd name="T7" fmla="*/ 5016 h 11270"/>
              </a:gdLst>
              <a:ahLst/>
              <a:cxnLst>
                <a:cxn ang="0">
                  <a:pos x="T0" y="T1"/>
                </a:cxn>
                <a:cxn ang="0">
                  <a:pos x="T2" y="T3"/>
                </a:cxn>
                <a:cxn ang="0">
                  <a:pos x="T4" y="T5"/>
                </a:cxn>
                <a:cxn ang="0">
                  <a:pos x="T6" y="T7"/>
                </a:cxn>
              </a:cxnLst>
              <a:rect l="0" t="0" r="r" b="b"/>
              <a:pathLst>
                <a:path w="12987" h="11270">
                  <a:moveTo>
                    <a:pt x="0" y="5016"/>
                  </a:moveTo>
                  <a:cubicBezTo>
                    <a:pt x="940" y="3065"/>
                    <a:pt x="2307" y="1350"/>
                    <a:pt x="4000" y="0"/>
                  </a:cubicBezTo>
                  <a:lnTo>
                    <a:pt x="12987" y="11270"/>
                  </a:lnTo>
                  <a:lnTo>
                    <a:pt x="0" y="5016"/>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98" name="Freeform 9">
              <a:extLst>
                <a:ext uri="{FF2B5EF4-FFF2-40B4-BE49-F238E27FC236}">
                  <a16:creationId xmlns:a16="http://schemas.microsoft.com/office/drawing/2014/main" id="{7D6DCF32-D523-D30B-EEE8-895AA700D4A3}"/>
                </a:ext>
              </a:extLst>
            </p:cNvPr>
            <p:cNvSpPr>
              <a:spLocks/>
            </p:cNvSpPr>
            <p:nvPr/>
          </p:nvSpPr>
          <p:spPr bwMode="auto">
            <a:xfrm>
              <a:off x="2770482" y="1123607"/>
              <a:ext cx="3325520" cy="5199765"/>
            </a:xfrm>
            <a:custGeom>
              <a:avLst/>
              <a:gdLst>
                <a:gd name="T0" fmla="*/ 0 w 8987"/>
                <a:gd name="T1" fmla="*/ 2783 h 14053"/>
                <a:gd name="T2" fmla="*/ 5780 w 8987"/>
                <a:gd name="T3" fmla="*/ 0 h 14053"/>
                <a:gd name="T4" fmla="*/ 8987 w 8987"/>
                <a:gd name="T5" fmla="*/ 14053 h 14053"/>
                <a:gd name="T6" fmla="*/ 0 w 8987"/>
                <a:gd name="T7" fmla="*/ 2783 h 14053"/>
              </a:gdLst>
              <a:ahLst/>
              <a:cxnLst>
                <a:cxn ang="0">
                  <a:pos x="T0" y="T1"/>
                </a:cxn>
                <a:cxn ang="0">
                  <a:pos x="T2" y="T3"/>
                </a:cxn>
                <a:cxn ang="0">
                  <a:pos x="T4" y="T5"/>
                </a:cxn>
                <a:cxn ang="0">
                  <a:pos x="T6" y="T7"/>
                </a:cxn>
              </a:cxnLst>
              <a:rect l="0" t="0" r="r" b="b"/>
              <a:pathLst>
                <a:path w="8987" h="14053">
                  <a:moveTo>
                    <a:pt x="0" y="2783"/>
                  </a:moveTo>
                  <a:cubicBezTo>
                    <a:pt x="1693" y="1433"/>
                    <a:pt x="3669" y="482"/>
                    <a:pt x="5780" y="0"/>
                  </a:cubicBezTo>
                  <a:lnTo>
                    <a:pt x="8987" y="14053"/>
                  </a:lnTo>
                  <a:lnTo>
                    <a:pt x="0" y="2783"/>
                  </a:lnTo>
                  <a:close/>
                </a:path>
              </a:pathLst>
            </a:custGeom>
            <a:solidFill>
              <a:srgbClr val="A5C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99" name="Freeform 11">
              <a:extLst>
                <a:ext uri="{FF2B5EF4-FFF2-40B4-BE49-F238E27FC236}">
                  <a16:creationId xmlns:a16="http://schemas.microsoft.com/office/drawing/2014/main" id="{FC4CBCB5-11BA-4102-3A50-B4F3C6567D2C}"/>
                </a:ext>
              </a:extLst>
            </p:cNvPr>
            <p:cNvSpPr>
              <a:spLocks/>
            </p:cNvSpPr>
            <p:nvPr/>
          </p:nvSpPr>
          <p:spPr bwMode="auto">
            <a:xfrm>
              <a:off x="4908134" y="943780"/>
              <a:ext cx="2375733" cy="5379590"/>
            </a:xfrm>
            <a:custGeom>
              <a:avLst/>
              <a:gdLst>
                <a:gd name="T0" fmla="*/ 0 w 6415"/>
                <a:gd name="T1" fmla="*/ 482 h 14535"/>
                <a:gd name="T2" fmla="*/ 6415 w 6415"/>
                <a:gd name="T3" fmla="*/ 482 h 14535"/>
                <a:gd name="T4" fmla="*/ 3207 w 6415"/>
                <a:gd name="T5" fmla="*/ 14535 h 14535"/>
                <a:gd name="T6" fmla="*/ 0 w 6415"/>
                <a:gd name="T7" fmla="*/ 482 h 14535"/>
              </a:gdLst>
              <a:ahLst/>
              <a:cxnLst>
                <a:cxn ang="0">
                  <a:pos x="T0" y="T1"/>
                </a:cxn>
                <a:cxn ang="0">
                  <a:pos x="T2" y="T3"/>
                </a:cxn>
                <a:cxn ang="0">
                  <a:pos x="T4" y="T5"/>
                </a:cxn>
                <a:cxn ang="0">
                  <a:pos x="T6" y="T7"/>
                </a:cxn>
              </a:cxnLst>
              <a:rect l="0" t="0" r="r" b="b"/>
              <a:pathLst>
                <a:path w="6415" h="14535">
                  <a:moveTo>
                    <a:pt x="0" y="482"/>
                  </a:moveTo>
                  <a:cubicBezTo>
                    <a:pt x="2111" y="0"/>
                    <a:pt x="4304" y="0"/>
                    <a:pt x="6415" y="482"/>
                  </a:cubicBezTo>
                  <a:lnTo>
                    <a:pt x="3207" y="14535"/>
                  </a:lnTo>
                  <a:lnTo>
                    <a:pt x="0" y="482"/>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100" name="Freeform 13">
              <a:extLst>
                <a:ext uri="{FF2B5EF4-FFF2-40B4-BE49-F238E27FC236}">
                  <a16:creationId xmlns:a16="http://schemas.microsoft.com/office/drawing/2014/main" id="{29B96129-473E-BA01-64DC-7E259D250131}"/>
                </a:ext>
              </a:extLst>
            </p:cNvPr>
            <p:cNvSpPr>
              <a:spLocks/>
            </p:cNvSpPr>
            <p:nvPr/>
          </p:nvSpPr>
          <p:spPr bwMode="auto">
            <a:xfrm>
              <a:off x="6096000" y="1123607"/>
              <a:ext cx="3325520" cy="5199765"/>
            </a:xfrm>
            <a:custGeom>
              <a:avLst/>
              <a:gdLst>
                <a:gd name="T0" fmla="*/ 3208 w 8988"/>
                <a:gd name="T1" fmla="*/ 0 h 14053"/>
                <a:gd name="T2" fmla="*/ 8988 w 8988"/>
                <a:gd name="T3" fmla="*/ 2783 h 14053"/>
                <a:gd name="T4" fmla="*/ 0 w 8988"/>
                <a:gd name="T5" fmla="*/ 14053 h 14053"/>
                <a:gd name="T6" fmla="*/ 3208 w 8988"/>
                <a:gd name="T7" fmla="*/ 0 h 14053"/>
              </a:gdLst>
              <a:ahLst/>
              <a:cxnLst>
                <a:cxn ang="0">
                  <a:pos x="T0" y="T1"/>
                </a:cxn>
                <a:cxn ang="0">
                  <a:pos x="T2" y="T3"/>
                </a:cxn>
                <a:cxn ang="0">
                  <a:pos x="T4" y="T5"/>
                </a:cxn>
                <a:cxn ang="0">
                  <a:pos x="T6" y="T7"/>
                </a:cxn>
              </a:cxnLst>
              <a:rect l="0" t="0" r="r" b="b"/>
              <a:pathLst>
                <a:path w="8988" h="14053">
                  <a:moveTo>
                    <a:pt x="3208" y="0"/>
                  </a:moveTo>
                  <a:cubicBezTo>
                    <a:pt x="5319" y="482"/>
                    <a:pt x="7295" y="1433"/>
                    <a:pt x="8988" y="2783"/>
                  </a:cubicBezTo>
                  <a:lnTo>
                    <a:pt x="0" y="14053"/>
                  </a:lnTo>
                  <a:lnTo>
                    <a:pt x="3208"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101" name="Freeform 15">
              <a:extLst>
                <a:ext uri="{FF2B5EF4-FFF2-40B4-BE49-F238E27FC236}">
                  <a16:creationId xmlns:a16="http://schemas.microsoft.com/office/drawing/2014/main" id="{AB08BF7B-E8FD-5E14-5EEB-F96343A723AE}"/>
                </a:ext>
              </a:extLst>
            </p:cNvPr>
            <p:cNvSpPr>
              <a:spLocks/>
            </p:cNvSpPr>
            <p:nvPr/>
          </p:nvSpPr>
          <p:spPr bwMode="auto">
            <a:xfrm>
              <a:off x="6096000" y="2154441"/>
              <a:ext cx="4807186" cy="4168929"/>
            </a:xfrm>
            <a:custGeom>
              <a:avLst/>
              <a:gdLst>
                <a:gd name="T0" fmla="*/ 4494 w 6493"/>
                <a:gd name="T1" fmla="*/ 0 h 5635"/>
                <a:gd name="T2" fmla="*/ 6493 w 6493"/>
                <a:gd name="T3" fmla="*/ 2508 h 5635"/>
                <a:gd name="T4" fmla="*/ 0 w 6493"/>
                <a:gd name="T5" fmla="*/ 5635 h 5635"/>
                <a:gd name="T6" fmla="*/ 4494 w 6493"/>
                <a:gd name="T7" fmla="*/ 0 h 5635"/>
              </a:gdLst>
              <a:ahLst/>
              <a:cxnLst>
                <a:cxn ang="0">
                  <a:pos x="T0" y="T1"/>
                </a:cxn>
                <a:cxn ang="0">
                  <a:pos x="T2" y="T3"/>
                </a:cxn>
                <a:cxn ang="0">
                  <a:pos x="T4" y="T5"/>
                </a:cxn>
                <a:cxn ang="0">
                  <a:pos x="T6" y="T7"/>
                </a:cxn>
              </a:cxnLst>
              <a:rect l="0" t="0" r="r" b="b"/>
              <a:pathLst>
                <a:path w="6493" h="5635">
                  <a:moveTo>
                    <a:pt x="4494" y="0"/>
                  </a:moveTo>
                  <a:cubicBezTo>
                    <a:pt x="5340" y="675"/>
                    <a:pt x="6024" y="1532"/>
                    <a:pt x="6493" y="2508"/>
                  </a:cubicBezTo>
                  <a:lnTo>
                    <a:pt x="0" y="5635"/>
                  </a:lnTo>
                  <a:lnTo>
                    <a:pt x="4494"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102" name="Freeform 17">
              <a:extLst>
                <a:ext uri="{FF2B5EF4-FFF2-40B4-BE49-F238E27FC236}">
                  <a16:creationId xmlns:a16="http://schemas.microsoft.com/office/drawing/2014/main" id="{4700DBBB-8407-992A-E59F-4456C0F74A6E}"/>
                </a:ext>
              </a:extLst>
            </p:cNvPr>
            <p:cNvSpPr>
              <a:spLocks/>
            </p:cNvSpPr>
            <p:nvPr/>
          </p:nvSpPr>
          <p:spPr bwMode="auto">
            <a:xfrm>
              <a:off x="6096000" y="4010958"/>
              <a:ext cx="5334001" cy="2312414"/>
            </a:xfrm>
            <a:custGeom>
              <a:avLst/>
              <a:gdLst>
                <a:gd name="T0" fmla="*/ 6493 w 7207"/>
                <a:gd name="T1" fmla="*/ 0 h 3127"/>
                <a:gd name="T2" fmla="*/ 7207 w 7207"/>
                <a:gd name="T3" fmla="*/ 3127 h 3127"/>
                <a:gd name="T4" fmla="*/ 0 w 7207"/>
                <a:gd name="T5" fmla="*/ 3127 h 3127"/>
                <a:gd name="T6" fmla="*/ 6493 w 7207"/>
                <a:gd name="T7" fmla="*/ 0 h 3127"/>
              </a:gdLst>
              <a:ahLst/>
              <a:cxnLst>
                <a:cxn ang="0">
                  <a:pos x="T0" y="T1"/>
                </a:cxn>
                <a:cxn ang="0">
                  <a:pos x="T2" y="T3"/>
                </a:cxn>
                <a:cxn ang="0">
                  <a:pos x="T4" y="T5"/>
                </a:cxn>
                <a:cxn ang="0">
                  <a:pos x="T6" y="T7"/>
                </a:cxn>
              </a:cxnLst>
              <a:rect l="0" t="0" r="r" b="b"/>
              <a:pathLst>
                <a:path w="7207" h="3127">
                  <a:moveTo>
                    <a:pt x="6493" y="0"/>
                  </a:moveTo>
                  <a:cubicBezTo>
                    <a:pt x="6963" y="975"/>
                    <a:pt x="7207" y="2044"/>
                    <a:pt x="7207" y="3127"/>
                  </a:cubicBezTo>
                  <a:lnTo>
                    <a:pt x="0" y="3127"/>
                  </a:lnTo>
                  <a:lnTo>
                    <a:pt x="6493" y="0"/>
                  </a:ln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grpSp>
      <p:sp>
        <p:nvSpPr>
          <p:cNvPr id="5" name="Oval 107">
            <a:extLst>
              <a:ext uri="{FF2B5EF4-FFF2-40B4-BE49-F238E27FC236}">
                <a16:creationId xmlns:a16="http://schemas.microsoft.com/office/drawing/2014/main" id="{345AA533-CF2F-2CB1-13E5-86E90DEF767C}"/>
              </a:ext>
            </a:extLst>
          </p:cNvPr>
          <p:cNvSpPr/>
          <p:nvPr/>
        </p:nvSpPr>
        <p:spPr>
          <a:xfrm>
            <a:off x="2907103" y="3093480"/>
            <a:ext cx="6377794" cy="3188903"/>
          </a:xfrm>
          <a:custGeom>
            <a:avLst/>
            <a:gdLst>
              <a:gd name="connsiteX0" fmla="*/ 0 w 2598722"/>
              <a:gd name="connsiteY0" fmla="*/ 1299361 h 2598722"/>
              <a:gd name="connsiteX1" fmla="*/ 1299361 w 2598722"/>
              <a:gd name="connsiteY1" fmla="*/ 0 h 2598722"/>
              <a:gd name="connsiteX2" fmla="*/ 2598722 w 2598722"/>
              <a:gd name="connsiteY2" fmla="*/ 1299361 h 2598722"/>
              <a:gd name="connsiteX3" fmla="*/ 1299361 w 2598722"/>
              <a:gd name="connsiteY3" fmla="*/ 2598722 h 2598722"/>
              <a:gd name="connsiteX4" fmla="*/ 0 w 2598722"/>
              <a:gd name="connsiteY4" fmla="*/ 1299361 h 2598722"/>
              <a:gd name="connsiteX0" fmla="*/ 1299361 w 2598722"/>
              <a:gd name="connsiteY0" fmla="*/ 2598722 h 2690162"/>
              <a:gd name="connsiteX1" fmla="*/ 0 w 2598722"/>
              <a:gd name="connsiteY1" fmla="*/ 1299361 h 2690162"/>
              <a:gd name="connsiteX2" fmla="*/ 1299361 w 2598722"/>
              <a:gd name="connsiteY2" fmla="*/ 0 h 2690162"/>
              <a:gd name="connsiteX3" fmla="*/ 2598722 w 2598722"/>
              <a:gd name="connsiteY3" fmla="*/ 1299361 h 2690162"/>
              <a:gd name="connsiteX4" fmla="*/ 1390801 w 2598722"/>
              <a:gd name="connsiteY4" fmla="*/ 2690162 h 2690162"/>
              <a:gd name="connsiteX0" fmla="*/ 1299361 w 2598722"/>
              <a:gd name="connsiteY0" fmla="*/ 2598722 h 2598722"/>
              <a:gd name="connsiteX1" fmla="*/ 0 w 2598722"/>
              <a:gd name="connsiteY1" fmla="*/ 1299361 h 2598722"/>
              <a:gd name="connsiteX2" fmla="*/ 1299361 w 2598722"/>
              <a:gd name="connsiteY2" fmla="*/ 0 h 2598722"/>
              <a:gd name="connsiteX3" fmla="*/ 2598722 w 2598722"/>
              <a:gd name="connsiteY3" fmla="*/ 1299361 h 2598722"/>
              <a:gd name="connsiteX0" fmla="*/ 0 w 2598722"/>
              <a:gd name="connsiteY0" fmla="*/ 1299361 h 1299361"/>
              <a:gd name="connsiteX1" fmla="*/ 1299361 w 2598722"/>
              <a:gd name="connsiteY1" fmla="*/ 0 h 1299361"/>
              <a:gd name="connsiteX2" fmla="*/ 2598722 w 2598722"/>
              <a:gd name="connsiteY2" fmla="*/ 1299361 h 1299361"/>
            </a:gdLst>
            <a:ahLst/>
            <a:cxnLst>
              <a:cxn ang="0">
                <a:pos x="connsiteX0" y="connsiteY0"/>
              </a:cxn>
              <a:cxn ang="0">
                <a:pos x="connsiteX1" y="connsiteY1"/>
              </a:cxn>
              <a:cxn ang="0">
                <a:pos x="connsiteX2" y="connsiteY2"/>
              </a:cxn>
            </a:cxnLst>
            <a:rect l="l" t="t" r="r" b="b"/>
            <a:pathLst>
              <a:path w="2598722" h="1299361">
                <a:moveTo>
                  <a:pt x="0" y="1299361"/>
                </a:moveTo>
                <a:cubicBezTo>
                  <a:pt x="0" y="581744"/>
                  <a:pt x="581744" y="0"/>
                  <a:pt x="1299361" y="0"/>
                </a:cubicBezTo>
                <a:cubicBezTo>
                  <a:pt x="2016978" y="0"/>
                  <a:pt x="2598722" y="581744"/>
                  <a:pt x="2598722" y="1299361"/>
                </a:cubicBezTo>
              </a:path>
            </a:pathLst>
          </a:custGeom>
          <a:gradFill>
            <a:gsLst>
              <a:gs pos="0">
                <a:schemeClr val="accent1">
                  <a:lumMod val="5000"/>
                  <a:lumOff val="95000"/>
                  <a:alpha val="87046"/>
                </a:schemeClr>
              </a:gs>
              <a:gs pos="100000">
                <a:schemeClr val="bg1">
                  <a:lumMod val="95000"/>
                  <a:alpha val="29763"/>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7" name="Oval 107">
            <a:extLst>
              <a:ext uri="{FF2B5EF4-FFF2-40B4-BE49-F238E27FC236}">
                <a16:creationId xmlns:a16="http://schemas.microsoft.com/office/drawing/2014/main" id="{B6464AB0-8759-7A2F-679A-4251A084F257}"/>
              </a:ext>
            </a:extLst>
          </p:cNvPr>
          <p:cNvSpPr/>
          <p:nvPr/>
        </p:nvSpPr>
        <p:spPr>
          <a:xfrm>
            <a:off x="4081448" y="4267827"/>
            <a:ext cx="4029104" cy="2014556"/>
          </a:xfrm>
          <a:custGeom>
            <a:avLst/>
            <a:gdLst>
              <a:gd name="connsiteX0" fmla="*/ 0 w 2598722"/>
              <a:gd name="connsiteY0" fmla="*/ 1299361 h 2598722"/>
              <a:gd name="connsiteX1" fmla="*/ 1299361 w 2598722"/>
              <a:gd name="connsiteY1" fmla="*/ 0 h 2598722"/>
              <a:gd name="connsiteX2" fmla="*/ 2598722 w 2598722"/>
              <a:gd name="connsiteY2" fmla="*/ 1299361 h 2598722"/>
              <a:gd name="connsiteX3" fmla="*/ 1299361 w 2598722"/>
              <a:gd name="connsiteY3" fmla="*/ 2598722 h 2598722"/>
              <a:gd name="connsiteX4" fmla="*/ 0 w 2598722"/>
              <a:gd name="connsiteY4" fmla="*/ 1299361 h 2598722"/>
              <a:gd name="connsiteX0" fmla="*/ 1299361 w 2598722"/>
              <a:gd name="connsiteY0" fmla="*/ 2598722 h 2690162"/>
              <a:gd name="connsiteX1" fmla="*/ 0 w 2598722"/>
              <a:gd name="connsiteY1" fmla="*/ 1299361 h 2690162"/>
              <a:gd name="connsiteX2" fmla="*/ 1299361 w 2598722"/>
              <a:gd name="connsiteY2" fmla="*/ 0 h 2690162"/>
              <a:gd name="connsiteX3" fmla="*/ 2598722 w 2598722"/>
              <a:gd name="connsiteY3" fmla="*/ 1299361 h 2690162"/>
              <a:gd name="connsiteX4" fmla="*/ 1390801 w 2598722"/>
              <a:gd name="connsiteY4" fmla="*/ 2690162 h 2690162"/>
              <a:gd name="connsiteX0" fmla="*/ 1299361 w 2598722"/>
              <a:gd name="connsiteY0" fmla="*/ 2598722 h 2598722"/>
              <a:gd name="connsiteX1" fmla="*/ 0 w 2598722"/>
              <a:gd name="connsiteY1" fmla="*/ 1299361 h 2598722"/>
              <a:gd name="connsiteX2" fmla="*/ 1299361 w 2598722"/>
              <a:gd name="connsiteY2" fmla="*/ 0 h 2598722"/>
              <a:gd name="connsiteX3" fmla="*/ 2598722 w 2598722"/>
              <a:gd name="connsiteY3" fmla="*/ 1299361 h 2598722"/>
              <a:gd name="connsiteX0" fmla="*/ 0 w 2598722"/>
              <a:gd name="connsiteY0" fmla="*/ 1299361 h 1299361"/>
              <a:gd name="connsiteX1" fmla="*/ 1299361 w 2598722"/>
              <a:gd name="connsiteY1" fmla="*/ 0 h 1299361"/>
              <a:gd name="connsiteX2" fmla="*/ 2598722 w 2598722"/>
              <a:gd name="connsiteY2" fmla="*/ 1299361 h 1299361"/>
            </a:gdLst>
            <a:ahLst/>
            <a:cxnLst>
              <a:cxn ang="0">
                <a:pos x="connsiteX0" y="connsiteY0"/>
              </a:cxn>
              <a:cxn ang="0">
                <a:pos x="connsiteX1" y="connsiteY1"/>
              </a:cxn>
              <a:cxn ang="0">
                <a:pos x="connsiteX2" y="connsiteY2"/>
              </a:cxn>
            </a:cxnLst>
            <a:rect l="l" t="t" r="r" b="b"/>
            <a:pathLst>
              <a:path w="2598722" h="1299361">
                <a:moveTo>
                  <a:pt x="0" y="1299361"/>
                </a:moveTo>
                <a:cubicBezTo>
                  <a:pt x="0" y="581744"/>
                  <a:pt x="581744" y="0"/>
                  <a:pt x="1299361" y="0"/>
                </a:cubicBezTo>
                <a:cubicBezTo>
                  <a:pt x="2016978" y="0"/>
                  <a:pt x="2598722" y="581744"/>
                  <a:pt x="2598722" y="1299361"/>
                </a:cubicBezTo>
              </a:path>
            </a:pathLst>
          </a:custGeom>
          <a:gradFill>
            <a:gsLst>
              <a:gs pos="0">
                <a:schemeClr val="accent1">
                  <a:lumMod val="5000"/>
                  <a:lumOff val="95000"/>
                  <a:alpha val="87046"/>
                </a:schemeClr>
              </a:gs>
              <a:gs pos="100000">
                <a:schemeClr val="bg1">
                  <a:lumMod val="95000"/>
                  <a:alpha val="29763"/>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6" name="Oval 107">
            <a:extLst>
              <a:ext uri="{FF2B5EF4-FFF2-40B4-BE49-F238E27FC236}">
                <a16:creationId xmlns:a16="http://schemas.microsoft.com/office/drawing/2014/main" id="{7DC46A1F-5250-1ED8-D4DF-4966A86D52B2}"/>
              </a:ext>
            </a:extLst>
          </p:cNvPr>
          <p:cNvSpPr/>
          <p:nvPr/>
        </p:nvSpPr>
        <p:spPr>
          <a:xfrm>
            <a:off x="5235802" y="5422184"/>
            <a:ext cx="1720396" cy="860199"/>
          </a:xfrm>
          <a:custGeom>
            <a:avLst/>
            <a:gdLst>
              <a:gd name="connsiteX0" fmla="*/ 0 w 2598722"/>
              <a:gd name="connsiteY0" fmla="*/ 1299361 h 2598722"/>
              <a:gd name="connsiteX1" fmla="*/ 1299361 w 2598722"/>
              <a:gd name="connsiteY1" fmla="*/ 0 h 2598722"/>
              <a:gd name="connsiteX2" fmla="*/ 2598722 w 2598722"/>
              <a:gd name="connsiteY2" fmla="*/ 1299361 h 2598722"/>
              <a:gd name="connsiteX3" fmla="*/ 1299361 w 2598722"/>
              <a:gd name="connsiteY3" fmla="*/ 2598722 h 2598722"/>
              <a:gd name="connsiteX4" fmla="*/ 0 w 2598722"/>
              <a:gd name="connsiteY4" fmla="*/ 1299361 h 2598722"/>
              <a:gd name="connsiteX0" fmla="*/ 1299361 w 2598722"/>
              <a:gd name="connsiteY0" fmla="*/ 2598722 h 2690162"/>
              <a:gd name="connsiteX1" fmla="*/ 0 w 2598722"/>
              <a:gd name="connsiteY1" fmla="*/ 1299361 h 2690162"/>
              <a:gd name="connsiteX2" fmla="*/ 1299361 w 2598722"/>
              <a:gd name="connsiteY2" fmla="*/ 0 h 2690162"/>
              <a:gd name="connsiteX3" fmla="*/ 2598722 w 2598722"/>
              <a:gd name="connsiteY3" fmla="*/ 1299361 h 2690162"/>
              <a:gd name="connsiteX4" fmla="*/ 1390801 w 2598722"/>
              <a:gd name="connsiteY4" fmla="*/ 2690162 h 2690162"/>
              <a:gd name="connsiteX0" fmla="*/ 1299361 w 2598722"/>
              <a:gd name="connsiteY0" fmla="*/ 2598722 h 2598722"/>
              <a:gd name="connsiteX1" fmla="*/ 0 w 2598722"/>
              <a:gd name="connsiteY1" fmla="*/ 1299361 h 2598722"/>
              <a:gd name="connsiteX2" fmla="*/ 1299361 w 2598722"/>
              <a:gd name="connsiteY2" fmla="*/ 0 h 2598722"/>
              <a:gd name="connsiteX3" fmla="*/ 2598722 w 2598722"/>
              <a:gd name="connsiteY3" fmla="*/ 1299361 h 2598722"/>
              <a:gd name="connsiteX0" fmla="*/ 0 w 2598722"/>
              <a:gd name="connsiteY0" fmla="*/ 1299361 h 1299361"/>
              <a:gd name="connsiteX1" fmla="*/ 1299361 w 2598722"/>
              <a:gd name="connsiteY1" fmla="*/ 0 h 1299361"/>
              <a:gd name="connsiteX2" fmla="*/ 2598722 w 2598722"/>
              <a:gd name="connsiteY2" fmla="*/ 1299361 h 1299361"/>
            </a:gdLst>
            <a:ahLst/>
            <a:cxnLst>
              <a:cxn ang="0">
                <a:pos x="connsiteX0" y="connsiteY0"/>
              </a:cxn>
              <a:cxn ang="0">
                <a:pos x="connsiteX1" y="connsiteY1"/>
              </a:cxn>
              <a:cxn ang="0">
                <a:pos x="connsiteX2" y="connsiteY2"/>
              </a:cxn>
            </a:cxnLst>
            <a:rect l="l" t="t" r="r" b="b"/>
            <a:pathLst>
              <a:path w="2598722" h="1299361">
                <a:moveTo>
                  <a:pt x="0" y="1299361"/>
                </a:moveTo>
                <a:cubicBezTo>
                  <a:pt x="0" y="581744"/>
                  <a:pt x="581744" y="0"/>
                  <a:pt x="1299361" y="0"/>
                </a:cubicBezTo>
                <a:cubicBezTo>
                  <a:pt x="2016978" y="0"/>
                  <a:pt x="2598722" y="581744"/>
                  <a:pt x="2598722" y="1299361"/>
                </a:cubicBezTo>
              </a:path>
            </a:pathLst>
          </a:custGeom>
          <a:solidFill>
            <a:schemeClr val="bg1"/>
          </a:solidFill>
          <a:ln>
            <a:noFill/>
          </a:ln>
          <a:effectLst>
            <a:outerShdw blurRad="50800" dist="38100" dir="16200000" rotWithShape="0">
              <a:prstClr val="black">
                <a:alpha val="14207"/>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Manrope Light"/>
            </a:endParaRPr>
          </a:p>
        </p:txBody>
      </p:sp>
      <p:sp>
        <p:nvSpPr>
          <p:cNvPr id="8" name="TextBox 88">
            <a:extLst>
              <a:ext uri="{FF2B5EF4-FFF2-40B4-BE49-F238E27FC236}">
                <a16:creationId xmlns:a16="http://schemas.microsoft.com/office/drawing/2014/main" id="{85C74AA8-02F3-BBB8-0B2C-A077527ACB2E}"/>
              </a:ext>
            </a:extLst>
          </p:cNvPr>
          <p:cNvSpPr txBox="1"/>
          <p:nvPr/>
        </p:nvSpPr>
        <p:spPr>
          <a:xfrm>
            <a:off x="5916594" y="6236433"/>
            <a:ext cx="438325" cy="18466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anrope Light"/>
                <a:cs typeface="Poppins" pitchFamily="2" charset="77"/>
              </a:rPr>
              <a:t>People</a:t>
            </a:r>
          </a:p>
        </p:txBody>
      </p:sp>
      <p:sp>
        <p:nvSpPr>
          <p:cNvPr id="10" name="TextBox 136">
            <a:extLst>
              <a:ext uri="{FF2B5EF4-FFF2-40B4-BE49-F238E27FC236}">
                <a16:creationId xmlns:a16="http://schemas.microsoft.com/office/drawing/2014/main" id="{4D0BB69B-CFE2-ED7C-78F3-9C70508D031C}"/>
              </a:ext>
            </a:extLst>
          </p:cNvPr>
          <p:cNvSpPr txBox="1"/>
          <p:nvPr/>
        </p:nvSpPr>
        <p:spPr>
          <a:xfrm>
            <a:off x="4258676" y="5897930"/>
            <a:ext cx="799898"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Connect with</a:t>
            </a:r>
            <a:b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b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Brand</a:t>
            </a:r>
          </a:p>
        </p:txBody>
      </p:sp>
      <p:sp>
        <p:nvSpPr>
          <p:cNvPr id="11" name="TextBox 137">
            <a:extLst>
              <a:ext uri="{FF2B5EF4-FFF2-40B4-BE49-F238E27FC236}">
                <a16:creationId xmlns:a16="http://schemas.microsoft.com/office/drawing/2014/main" id="{460A4210-0245-CF8A-0FAC-2F0492484729}"/>
              </a:ext>
            </a:extLst>
          </p:cNvPr>
          <p:cNvSpPr txBox="1"/>
          <p:nvPr/>
        </p:nvSpPr>
        <p:spPr>
          <a:xfrm>
            <a:off x="4350108" y="5235022"/>
            <a:ext cx="1236982" cy="307777"/>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srgbClr val="000000"/>
                </a:solidFill>
                <a:latin typeface="Manrope" pitchFamily="2" charset="0"/>
                <a:cs typeface="Poppins"/>
              </a:rPr>
              <a:t>Personalize</a:t>
            </a:r>
            <a:r>
              <a:rPr kumimoji="0" lang="en-US" sz="1000" b="0" i="0" u="none" strike="noStrike" kern="1200" cap="none" spc="0" normalizeH="0" baseline="0" noProof="0">
                <a:ln>
                  <a:noFill/>
                </a:ln>
                <a:solidFill>
                  <a:srgbClr val="000000"/>
                </a:solidFill>
                <a:effectLst/>
                <a:uLnTx/>
                <a:uFillTx/>
                <a:latin typeface="Manrope" pitchFamily="2" charset="0"/>
                <a:cs typeface="Poppins"/>
              </a:rPr>
              <a:t>,</a:t>
            </a:r>
            <a:br>
              <a:rPr lang="en-US" sz="1000" b="0" i="0" u="none" strike="noStrike" kern="1200" cap="none" spc="0" normalizeH="0" baseline="0" noProof="0">
                <a:ln>
                  <a:noFill/>
                </a:ln>
                <a:effectLst/>
                <a:uLnTx/>
                <a:uFillTx/>
                <a:latin typeface="Manrope" pitchFamily="2" charset="0"/>
                <a:cs typeface="Poppins" pitchFamily="2" charset="77"/>
              </a:rPr>
            </a:br>
            <a:r>
              <a:rPr kumimoji="0" lang="en-US" sz="1000" b="0" i="0" u="none" strike="noStrike" kern="1200" cap="none" spc="0" normalizeH="0" baseline="0" noProof="0">
                <a:ln>
                  <a:noFill/>
                </a:ln>
                <a:solidFill>
                  <a:srgbClr val="000000"/>
                </a:solidFill>
                <a:effectLst/>
                <a:uLnTx/>
                <a:uFillTx/>
                <a:latin typeface="Manrope" pitchFamily="2" charset="0"/>
                <a:cs typeface="Poppins"/>
              </a:rPr>
              <a:t>Track &amp;</a:t>
            </a:r>
            <a:r>
              <a:rPr lang="en-US" sz="1000">
                <a:solidFill>
                  <a:srgbClr val="000000"/>
                </a:solidFill>
                <a:latin typeface="Manrope" pitchFamily="2" charset="0"/>
                <a:cs typeface="Poppins"/>
              </a:rPr>
              <a:t> </a:t>
            </a:r>
            <a:r>
              <a:rPr kumimoji="0" lang="en-US" sz="1000" b="0" i="0" u="none" strike="noStrike" kern="1200" cap="none" spc="0" normalizeH="0" baseline="0" noProof="0" err="1">
                <a:ln>
                  <a:noFill/>
                </a:ln>
                <a:solidFill>
                  <a:srgbClr val="000000"/>
                </a:solidFill>
                <a:effectLst/>
                <a:uLnTx/>
                <a:uFillTx/>
                <a:latin typeface="Manrope" pitchFamily="2" charset="0"/>
                <a:cs typeface="Poppins" pitchFamily="2" charset="77"/>
              </a:rPr>
              <a:t>Analyse</a:t>
            </a:r>
            <a:endPar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endParaRPr>
          </a:p>
        </p:txBody>
      </p:sp>
      <p:sp>
        <p:nvSpPr>
          <p:cNvPr id="12" name="TextBox 138">
            <a:extLst>
              <a:ext uri="{FF2B5EF4-FFF2-40B4-BE49-F238E27FC236}">
                <a16:creationId xmlns:a16="http://schemas.microsoft.com/office/drawing/2014/main" id="{D28BA22C-0ED4-D7C9-8D00-62FEFC745D51}"/>
              </a:ext>
            </a:extLst>
          </p:cNvPr>
          <p:cNvSpPr txBox="1"/>
          <p:nvPr/>
        </p:nvSpPr>
        <p:spPr>
          <a:xfrm>
            <a:off x="4964022" y="4642661"/>
            <a:ext cx="686210" cy="30777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Bring it all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together</a:t>
            </a:r>
          </a:p>
        </p:txBody>
      </p:sp>
      <p:sp>
        <p:nvSpPr>
          <p:cNvPr id="13" name="TextBox 139">
            <a:extLst>
              <a:ext uri="{FF2B5EF4-FFF2-40B4-BE49-F238E27FC236}">
                <a16:creationId xmlns:a16="http://schemas.microsoft.com/office/drawing/2014/main" id="{13B0EF12-5E25-5C4C-B417-0CF3EEB06F73}"/>
              </a:ext>
            </a:extLst>
          </p:cNvPr>
          <p:cNvSpPr txBox="1"/>
          <p:nvPr/>
        </p:nvSpPr>
        <p:spPr>
          <a:xfrm>
            <a:off x="5808113" y="4384914"/>
            <a:ext cx="565861" cy="461665"/>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Web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Mobile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Channels</a:t>
            </a:r>
          </a:p>
        </p:txBody>
      </p:sp>
      <p:sp>
        <p:nvSpPr>
          <p:cNvPr id="14" name="TextBox 140">
            <a:extLst>
              <a:ext uri="{FF2B5EF4-FFF2-40B4-BE49-F238E27FC236}">
                <a16:creationId xmlns:a16="http://schemas.microsoft.com/office/drawing/2014/main" id="{FE599205-1AEF-2BCD-CDF3-4044E3A9C682}"/>
              </a:ext>
            </a:extLst>
          </p:cNvPr>
          <p:cNvSpPr txBox="1"/>
          <p:nvPr/>
        </p:nvSpPr>
        <p:spPr>
          <a:xfrm>
            <a:off x="6497067" y="4614173"/>
            <a:ext cx="660437"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Commerce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Integration</a:t>
            </a:r>
          </a:p>
        </p:txBody>
      </p:sp>
      <p:sp>
        <p:nvSpPr>
          <p:cNvPr id="15" name="TextBox 141">
            <a:extLst>
              <a:ext uri="{FF2B5EF4-FFF2-40B4-BE49-F238E27FC236}">
                <a16:creationId xmlns:a16="http://schemas.microsoft.com/office/drawing/2014/main" id="{6C95B5CC-0A11-2BBB-13A3-98BE7D0C0AA4}"/>
              </a:ext>
            </a:extLst>
          </p:cNvPr>
          <p:cNvSpPr txBox="1"/>
          <p:nvPr/>
        </p:nvSpPr>
        <p:spPr>
          <a:xfrm>
            <a:off x="6985970" y="5160557"/>
            <a:ext cx="652422"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Enable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Commerce</a:t>
            </a:r>
          </a:p>
        </p:txBody>
      </p:sp>
      <p:sp>
        <p:nvSpPr>
          <p:cNvPr id="16" name="TextBox 141">
            <a:extLst>
              <a:ext uri="{FF2B5EF4-FFF2-40B4-BE49-F238E27FC236}">
                <a16:creationId xmlns:a16="http://schemas.microsoft.com/office/drawing/2014/main" id="{3569A7C1-2ED0-9C5E-6670-827E1EAEEF56}"/>
              </a:ext>
            </a:extLst>
          </p:cNvPr>
          <p:cNvSpPr txBox="1"/>
          <p:nvPr/>
        </p:nvSpPr>
        <p:spPr>
          <a:xfrm>
            <a:off x="7194275" y="5846803"/>
            <a:ext cx="863382" cy="30777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Customer Relationship</a:t>
            </a:r>
          </a:p>
        </p:txBody>
      </p:sp>
      <p:pic>
        <p:nvPicPr>
          <p:cNvPr id="17" name="Picture 16" descr="A picture containing icon&#10;&#10;Description automatically generated">
            <a:extLst>
              <a:ext uri="{FF2B5EF4-FFF2-40B4-BE49-F238E27FC236}">
                <a16:creationId xmlns:a16="http://schemas.microsoft.com/office/drawing/2014/main" id="{45ED1412-B441-093C-AB61-05D63F741530}"/>
              </a:ext>
            </a:extLst>
          </p:cNvPr>
          <p:cNvPicPr>
            <a:picLocks noChangeAspect="1"/>
          </p:cNvPicPr>
          <p:nvPr/>
        </p:nvPicPr>
        <p:blipFill>
          <a:blip r:embed="rId2"/>
          <a:stretch>
            <a:fillRect/>
          </a:stretch>
        </p:blipFill>
        <p:spPr>
          <a:xfrm>
            <a:off x="3467490" y="5275105"/>
            <a:ext cx="512887" cy="526554"/>
          </a:xfrm>
          <a:prstGeom prst="rect">
            <a:avLst/>
          </a:prstGeom>
        </p:spPr>
      </p:pic>
      <p:pic>
        <p:nvPicPr>
          <p:cNvPr id="18" name="Picture 17" descr="Adobe Experience Manager Logo PNG Vector (AI) Free Download">
            <a:extLst>
              <a:ext uri="{FF2B5EF4-FFF2-40B4-BE49-F238E27FC236}">
                <a16:creationId xmlns:a16="http://schemas.microsoft.com/office/drawing/2014/main" id="{3DA0A22D-3526-AD28-752E-D15B618DAB0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196784" y="5784970"/>
            <a:ext cx="398897" cy="40952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dobe Advertising Cloud | District M">
            <a:extLst>
              <a:ext uri="{FF2B5EF4-FFF2-40B4-BE49-F238E27FC236}">
                <a16:creationId xmlns:a16="http://schemas.microsoft.com/office/drawing/2014/main" id="{C1F284CF-8C33-672C-A920-9BA08DF6F52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32453" y="4604541"/>
            <a:ext cx="638541" cy="31029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Sitecore white logo transparent PNG - StickPNG">
            <a:extLst>
              <a:ext uri="{FF2B5EF4-FFF2-40B4-BE49-F238E27FC236}">
                <a16:creationId xmlns:a16="http://schemas.microsoft.com/office/drawing/2014/main" id="{97E6440E-7260-2023-FCB0-9F03C73F0C99}"/>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879799" y="4058517"/>
            <a:ext cx="336278" cy="345237"/>
          </a:xfrm>
          <a:prstGeom prst="rect">
            <a:avLst/>
          </a:prstGeom>
          <a:noFill/>
          <a:extLst>
            <a:ext uri="{909E8E84-426E-40DD-AFC4-6F175D3DCCD1}">
              <a14:hiddenFill xmlns:a14="http://schemas.microsoft.com/office/drawing/2010/main">
                <a:solidFill>
                  <a:srgbClr val="FFFFFF"/>
                </a:solidFill>
              </a14:hiddenFill>
            </a:ext>
          </a:extLst>
        </p:spPr>
      </p:pic>
      <p:pic>
        <p:nvPicPr>
          <p:cNvPr id="36" name="Graphic 25">
            <a:extLst>
              <a:ext uri="{FF2B5EF4-FFF2-40B4-BE49-F238E27FC236}">
                <a16:creationId xmlns:a16="http://schemas.microsoft.com/office/drawing/2014/main" id="{E470F3AB-3296-F144-7716-25111991887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076328" y="4476820"/>
            <a:ext cx="551053" cy="282868"/>
          </a:xfrm>
          <a:prstGeom prst="rect">
            <a:avLst/>
          </a:prstGeom>
        </p:spPr>
      </p:pic>
      <p:grpSp>
        <p:nvGrpSpPr>
          <p:cNvPr id="37" name="Group 36">
            <a:extLst>
              <a:ext uri="{FF2B5EF4-FFF2-40B4-BE49-F238E27FC236}">
                <a16:creationId xmlns:a16="http://schemas.microsoft.com/office/drawing/2014/main" id="{60BBD075-00EA-D07F-22F0-14B63D5D3D50}"/>
              </a:ext>
            </a:extLst>
          </p:cNvPr>
          <p:cNvGrpSpPr/>
          <p:nvPr/>
        </p:nvGrpSpPr>
        <p:grpSpPr>
          <a:xfrm>
            <a:off x="4617824" y="3576789"/>
            <a:ext cx="849867" cy="781288"/>
            <a:chOff x="4617829" y="3617778"/>
            <a:chExt cx="958715" cy="881352"/>
          </a:xfrm>
        </p:grpSpPr>
        <p:pic>
          <p:nvPicPr>
            <p:cNvPr id="93" name="Picture 92" descr="PHP PNG File | PNG Mart">
              <a:extLst>
                <a:ext uri="{FF2B5EF4-FFF2-40B4-BE49-F238E27FC236}">
                  <a16:creationId xmlns:a16="http://schemas.microsoft.com/office/drawing/2014/main" id="{81081EAF-9FEF-60AB-2BC2-AD551672A8A9}"/>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617829" y="3617778"/>
              <a:ext cx="450936" cy="46295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93" descr="Java Logo PNG Transparent (1) – Brands Logos">
              <a:extLst>
                <a:ext uri="{FF2B5EF4-FFF2-40B4-BE49-F238E27FC236}">
                  <a16:creationId xmlns:a16="http://schemas.microsoft.com/office/drawing/2014/main" id="{C38D3D6C-56A7-3CBD-300D-C815278E359A}"/>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010651" y="3690755"/>
              <a:ext cx="565893" cy="58097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a:extLst>
                <a:ext uri="{FF2B5EF4-FFF2-40B4-BE49-F238E27FC236}">
                  <a16:creationId xmlns:a16="http://schemas.microsoft.com/office/drawing/2014/main" id="{E2B6D9ED-66BD-62D4-96E7-9E9E20844FC5}"/>
                </a:ext>
              </a:extLst>
            </p:cNvPr>
            <p:cNvPicPr>
              <a:picLocks noChangeAspect="1"/>
            </p:cNvPicPr>
            <p:nvPr/>
          </p:nvPicPr>
          <p:blipFill>
            <a:blip r:embed="rId9"/>
            <a:stretch>
              <a:fillRect/>
            </a:stretch>
          </p:blipFill>
          <p:spPr>
            <a:xfrm>
              <a:off x="4699775" y="4162503"/>
              <a:ext cx="292760" cy="336627"/>
            </a:xfrm>
            <a:prstGeom prst="rect">
              <a:avLst/>
            </a:prstGeom>
          </p:spPr>
        </p:pic>
      </p:grpSp>
      <p:grpSp>
        <p:nvGrpSpPr>
          <p:cNvPr id="38" name="Group 37">
            <a:extLst>
              <a:ext uri="{FF2B5EF4-FFF2-40B4-BE49-F238E27FC236}">
                <a16:creationId xmlns:a16="http://schemas.microsoft.com/office/drawing/2014/main" id="{0CF56429-DDE5-EA28-BF3F-14010F7E3C19}"/>
              </a:ext>
            </a:extLst>
          </p:cNvPr>
          <p:cNvGrpSpPr/>
          <p:nvPr/>
        </p:nvGrpSpPr>
        <p:grpSpPr>
          <a:xfrm>
            <a:off x="5654171" y="3313738"/>
            <a:ext cx="855172" cy="756968"/>
            <a:chOff x="5654171" y="3354727"/>
            <a:chExt cx="855172" cy="756968"/>
          </a:xfrm>
        </p:grpSpPr>
        <p:pic>
          <p:nvPicPr>
            <p:cNvPr id="90" name="Picture 89" descr="Logo&#10;&#10;Description automatically generated">
              <a:extLst>
                <a:ext uri="{FF2B5EF4-FFF2-40B4-BE49-F238E27FC236}">
                  <a16:creationId xmlns:a16="http://schemas.microsoft.com/office/drawing/2014/main" id="{B7ACBC71-A348-D644-4CC0-FC2D3A571EA3}"/>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065009" y="3825874"/>
              <a:ext cx="264269" cy="285821"/>
            </a:xfrm>
            <a:prstGeom prst="rect">
              <a:avLst/>
            </a:prstGeom>
          </p:spPr>
        </p:pic>
        <p:pic>
          <p:nvPicPr>
            <p:cNvPr id="91" name="Picture 90" descr="Vue.js full logo transparent PNG - StickPNG">
              <a:extLst>
                <a:ext uri="{FF2B5EF4-FFF2-40B4-BE49-F238E27FC236}">
                  <a16:creationId xmlns:a16="http://schemas.microsoft.com/office/drawing/2014/main" id="{253FDE1D-93D4-EABC-92EE-D026122D97ED}"/>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5654171" y="3354727"/>
              <a:ext cx="374040" cy="38400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91">
              <a:extLst>
                <a:ext uri="{FF2B5EF4-FFF2-40B4-BE49-F238E27FC236}">
                  <a16:creationId xmlns:a16="http://schemas.microsoft.com/office/drawing/2014/main" id="{B48DF5D2-8CC9-B39E-7CCE-B6339EE569AB}"/>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6238370" y="3398662"/>
              <a:ext cx="270973" cy="241907"/>
            </a:xfrm>
            <a:prstGeom prst="rect">
              <a:avLst/>
            </a:prstGeom>
            <a:noFill/>
            <a:extLst>
              <a:ext uri="{909E8E84-426E-40DD-AFC4-6F175D3DCCD1}">
                <a14:hiddenFill xmlns:a14="http://schemas.microsoft.com/office/drawing/2010/main">
                  <a:solidFill>
                    <a:srgbClr val="FFFFFF"/>
                  </a:solidFill>
                </a14:hiddenFill>
              </a:ext>
            </a:extLst>
          </p:spPr>
        </p:pic>
      </p:grpSp>
      <p:pic>
        <p:nvPicPr>
          <p:cNvPr id="39" name="Picture 38" descr="A picture containing food, drawing&#10;&#10;Description automatically generated">
            <a:extLst>
              <a:ext uri="{FF2B5EF4-FFF2-40B4-BE49-F238E27FC236}">
                <a16:creationId xmlns:a16="http://schemas.microsoft.com/office/drawing/2014/main" id="{CD88E7A9-3805-F9F7-B7D7-1ED30E39E732}"/>
              </a:ext>
            </a:extLst>
          </p:cNvPr>
          <p:cNvPicPr>
            <a:picLocks noChangeAspect="1"/>
          </p:cNvPicPr>
          <p:nvPr/>
        </p:nvPicPr>
        <p:blipFill rotWithShape="1">
          <a:blip r:embed="rId13" cstate="screen">
            <a:extLst>
              <a:ext uri="{28A0092B-C50C-407E-A947-70E740481C1C}">
                <a14:useLocalDpi xmlns:a14="http://schemas.microsoft.com/office/drawing/2010/main"/>
              </a:ext>
            </a:extLst>
          </a:blip>
          <a:srcRect t="28718" b="27845"/>
          <a:stretch/>
        </p:blipFill>
        <p:spPr>
          <a:xfrm>
            <a:off x="6944352" y="3662130"/>
            <a:ext cx="800595" cy="187436"/>
          </a:xfrm>
          <a:prstGeom prst="rect">
            <a:avLst/>
          </a:prstGeom>
        </p:spPr>
      </p:pic>
      <p:pic>
        <p:nvPicPr>
          <p:cNvPr id="40" name="Picture 39">
            <a:extLst>
              <a:ext uri="{FF2B5EF4-FFF2-40B4-BE49-F238E27FC236}">
                <a16:creationId xmlns:a16="http://schemas.microsoft.com/office/drawing/2014/main" id="{D9F470ED-279C-1A93-41E1-F54819E633D6}"/>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6826995" y="3958142"/>
            <a:ext cx="908427" cy="114379"/>
          </a:xfrm>
          <a:prstGeom prst="rect">
            <a:avLst/>
          </a:prstGeom>
        </p:spPr>
      </p:pic>
      <p:pic>
        <p:nvPicPr>
          <p:cNvPr id="41" name="Picture 40" descr="Partner - Spryker | Tealium">
            <a:extLst>
              <a:ext uri="{FF2B5EF4-FFF2-40B4-BE49-F238E27FC236}">
                <a16:creationId xmlns:a16="http://schemas.microsoft.com/office/drawing/2014/main" id="{BDC41574-42B6-797C-FF94-D1168C44C876}"/>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758760" y="4330323"/>
            <a:ext cx="643911" cy="26811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We Seamlessly Integrate Into Adobe Commerce - Intelligent Reach">
            <a:extLst>
              <a:ext uri="{FF2B5EF4-FFF2-40B4-BE49-F238E27FC236}">
                <a16:creationId xmlns:a16="http://schemas.microsoft.com/office/drawing/2014/main" id="{B0D50ABA-245A-1F46-E2C0-12E39B41E102}"/>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7694986" y="4622077"/>
            <a:ext cx="931246" cy="47803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id="{DC260CD4-0CDC-8C04-BFBD-46894ECF0F7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811600" y="5736904"/>
            <a:ext cx="671042" cy="193382"/>
          </a:xfrm>
          <a:prstGeom prst="rect">
            <a:avLst/>
          </a:prstGeom>
        </p:spPr>
      </p:pic>
      <p:pic>
        <p:nvPicPr>
          <p:cNvPr id="44" name="Picture 43">
            <a:extLst>
              <a:ext uri="{FF2B5EF4-FFF2-40B4-BE49-F238E27FC236}">
                <a16:creationId xmlns:a16="http://schemas.microsoft.com/office/drawing/2014/main" id="{5DB304EC-75A9-B47F-4D21-F97AF74C2C0E}"/>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1995826" y="4831515"/>
            <a:ext cx="629194" cy="175005"/>
          </a:xfrm>
          <a:prstGeom prst="rect">
            <a:avLst/>
          </a:prstGeom>
        </p:spPr>
      </p:pic>
      <p:pic>
        <p:nvPicPr>
          <p:cNvPr id="45" name="Picture 44" descr="CMS, Digital Marketing &amp; Commerce DXP | Kentico">
            <a:extLst>
              <a:ext uri="{FF2B5EF4-FFF2-40B4-BE49-F238E27FC236}">
                <a16:creationId xmlns:a16="http://schemas.microsoft.com/office/drawing/2014/main" id="{64A904DD-F773-36E4-EEF1-EF3D70106C67}"/>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1802292" y="5229696"/>
            <a:ext cx="748889" cy="25910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6EAD0CB0-4A1E-F37A-FEBC-4248350452FC}"/>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1270151" y="4682066"/>
            <a:ext cx="617724" cy="20071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Press | Download the Umbraco logo &amp; other Umbraco material">
            <a:extLst>
              <a:ext uri="{FF2B5EF4-FFF2-40B4-BE49-F238E27FC236}">
                <a16:creationId xmlns:a16="http://schemas.microsoft.com/office/drawing/2014/main" id="{E19F0301-3E69-B98C-43F5-7D16985225CC}"/>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1103700" y="4906979"/>
            <a:ext cx="581817" cy="58181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Adobe Analytics | Tools | TAP CXM">
            <a:extLst>
              <a:ext uri="{FF2B5EF4-FFF2-40B4-BE49-F238E27FC236}">
                <a16:creationId xmlns:a16="http://schemas.microsoft.com/office/drawing/2014/main" id="{246F4A96-1930-E59F-5B77-D244CF53524A}"/>
              </a:ext>
            </a:extLst>
          </p:cNvPr>
          <p:cNvPicPr>
            <a:picLocks noChangeAspect="1" noChangeArrowheads="1"/>
          </p:cNvPicPr>
          <p:nvPr/>
        </p:nvPicPr>
        <p:blipFill>
          <a:blip r:embed="rId22" cstate="screen">
            <a:extLst>
              <a:ext uri="{28A0092B-C50C-407E-A947-70E740481C1C}">
                <a14:useLocalDpi xmlns:a14="http://schemas.microsoft.com/office/drawing/2010/main"/>
              </a:ext>
            </a:extLst>
          </a:blip>
          <a:srcRect/>
          <a:stretch>
            <a:fillRect/>
          </a:stretch>
        </p:blipFill>
        <p:spPr bwMode="auto">
          <a:xfrm>
            <a:off x="1773533" y="3246487"/>
            <a:ext cx="828727" cy="55019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Adobe Audience Manager | Tools | TAP CXM">
            <a:extLst>
              <a:ext uri="{FF2B5EF4-FFF2-40B4-BE49-F238E27FC236}">
                <a16:creationId xmlns:a16="http://schemas.microsoft.com/office/drawing/2014/main" id="{74C88046-7011-333A-D9D9-7D2F3201CA4A}"/>
              </a:ext>
            </a:extLst>
          </p:cNvPr>
          <p:cNvPicPr>
            <a:picLocks noChangeAspect="1" noChangeArrowheads="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2335898" y="2563478"/>
            <a:ext cx="723707" cy="48046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Marketo, logo Icon in Vector Logo">
            <a:extLst>
              <a:ext uri="{FF2B5EF4-FFF2-40B4-BE49-F238E27FC236}">
                <a16:creationId xmlns:a16="http://schemas.microsoft.com/office/drawing/2014/main" id="{2816A32B-8D65-0D84-BC74-973C30FC1F4C}"/>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2670049" y="3126802"/>
            <a:ext cx="854494" cy="43863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Adobe Target Services | TAP CXM">
            <a:extLst>
              <a:ext uri="{FF2B5EF4-FFF2-40B4-BE49-F238E27FC236}">
                <a16:creationId xmlns:a16="http://schemas.microsoft.com/office/drawing/2014/main" id="{D89E9D3F-DAAF-FFC4-A00A-36CB4F9AAE45}"/>
              </a:ext>
            </a:extLst>
          </p:cNvPr>
          <p:cNvPicPr>
            <a:picLocks noChangeAspect="1" noChangeArrowheads="1"/>
          </p:cNvPicPr>
          <p:nvPr/>
        </p:nvPicPr>
        <p:blipFill>
          <a:blip r:embed="rId25" cstate="screen">
            <a:extLst>
              <a:ext uri="{28A0092B-C50C-407E-A947-70E740481C1C}">
                <a14:useLocalDpi xmlns:a14="http://schemas.microsoft.com/office/drawing/2010/main"/>
              </a:ext>
            </a:extLst>
          </a:blip>
          <a:srcRect/>
          <a:stretch>
            <a:fillRect/>
          </a:stretch>
        </p:blipFill>
        <p:spPr bwMode="auto">
          <a:xfrm>
            <a:off x="1906758" y="3753012"/>
            <a:ext cx="826183" cy="54850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Adobe Campaign | Services | TAP CXM">
            <a:extLst>
              <a:ext uri="{FF2B5EF4-FFF2-40B4-BE49-F238E27FC236}">
                <a16:creationId xmlns:a16="http://schemas.microsoft.com/office/drawing/2014/main" id="{1C989939-502B-AAF9-165C-52FD2F1D3FDA}"/>
              </a:ext>
            </a:extLst>
          </p:cNvPr>
          <p:cNvPicPr>
            <a:picLocks noChangeAspect="1" noChangeArrowheads="1"/>
          </p:cNvPicPr>
          <p:nvPr/>
        </p:nvPicPr>
        <p:blipFill>
          <a:blip r:embed="rId26" cstate="screen">
            <a:extLst>
              <a:ext uri="{28A0092B-C50C-407E-A947-70E740481C1C}">
                <a14:useLocalDpi xmlns:a14="http://schemas.microsoft.com/office/drawing/2010/main"/>
              </a:ext>
            </a:extLst>
          </a:blip>
          <a:srcRect/>
          <a:stretch>
            <a:fillRect/>
          </a:stretch>
        </p:blipFill>
        <p:spPr bwMode="auto">
          <a:xfrm>
            <a:off x="2753023" y="3661439"/>
            <a:ext cx="898771" cy="59669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Moosend Logos">
            <a:extLst>
              <a:ext uri="{FF2B5EF4-FFF2-40B4-BE49-F238E27FC236}">
                <a16:creationId xmlns:a16="http://schemas.microsoft.com/office/drawing/2014/main" id="{94389099-A74E-5C7B-78F5-4527E6488FEA}"/>
              </a:ext>
            </a:extLst>
          </p:cNvPr>
          <p:cNvPicPr>
            <a:picLocks noChangeAspect="1" noChangeArrowheads="1"/>
          </p:cNvPicPr>
          <p:nvPr/>
        </p:nvPicPr>
        <p:blipFill>
          <a:blip r:embed="rId27" cstate="screen">
            <a:extLst>
              <a:ext uri="{28A0092B-C50C-407E-A947-70E740481C1C}">
                <a14:useLocalDpi xmlns:a14="http://schemas.microsoft.com/office/drawing/2010/main"/>
              </a:ext>
            </a:extLst>
          </a:blip>
          <a:srcRect/>
          <a:stretch>
            <a:fillRect/>
          </a:stretch>
        </p:blipFill>
        <p:spPr bwMode="auto">
          <a:xfrm>
            <a:off x="2502643" y="4160502"/>
            <a:ext cx="904323" cy="489472"/>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a:extLst>
              <a:ext uri="{FF2B5EF4-FFF2-40B4-BE49-F238E27FC236}">
                <a16:creationId xmlns:a16="http://schemas.microsoft.com/office/drawing/2014/main" id="{EE0C1CA9-EB68-CE18-5FC6-A5F500DAC0CC}"/>
              </a:ext>
            </a:extLst>
          </p:cNvPr>
          <p:cNvPicPr>
            <a:picLocks noChangeAspect="1"/>
          </p:cNvPicPr>
          <p:nvPr/>
        </p:nvPicPr>
        <p:blipFill>
          <a:blip r:embed="rId28"/>
          <a:stretch>
            <a:fillRect/>
          </a:stretch>
        </p:blipFill>
        <p:spPr>
          <a:xfrm>
            <a:off x="4712209" y="2767195"/>
            <a:ext cx="351337" cy="360698"/>
          </a:xfrm>
          <a:prstGeom prst="rect">
            <a:avLst/>
          </a:prstGeom>
        </p:spPr>
      </p:pic>
      <p:pic>
        <p:nvPicPr>
          <p:cNvPr id="55" name="Picture 54" descr="A picture containing text, clipart, vector graphics&#10;&#10;Description automatically generated">
            <a:extLst>
              <a:ext uri="{FF2B5EF4-FFF2-40B4-BE49-F238E27FC236}">
                <a16:creationId xmlns:a16="http://schemas.microsoft.com/office/drawing/2014/main" id="{DA306ADE-077B-CF11-6B66-A8F9B3678015}"/>
              </a:ext>
            </a:extLst>
          </p:cNvPr>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3690962" y="1583049"/>
            <a:ext cx="340161" cy="357197"/>
          </a:xfrm>
          <a:prstGeom prst="rect">
            <a:avLst/>
          </a:prstGeom>
        </p:spPr>
      </p:pic>
      <p:pic>
        <p:nvPicPr>
          <p:cNvPr id="56" name="Picture 55">
            <a:extLst>
              <a:ext uri="{FF2B5EF4-FFF2-40B4-BE49-F238E27FC236}">
                <a16:creationId xmlns:a16="http://schemas.microsoft.com/office/drawing/2014/main" id="{FF9CA7A8-BD14-2A19-0D86-5125C5EFA42B}"/>
              </a:ext>
            </a:extLst>
          </p:cNvPr>
          <p:cNvPicPr>
            <a:picLocks noChangeAspect="1"/>
          </p:cNvPicPr>
          <p:nvPr/>
        </p:nvPicPr>
        <p:blipFill>
          <a:blip r:embed="rId30"/>
          <a:stretch>
            <a:fillRect/>
          </a:stretch>
        </p:blipFill>
        <p:spPr>
          <a:xfrm>
            <a:off x="4035772" y="2026843"/>
            <a:ext cx="321141" cy="329698"/>
          </a:xfrm>
          <a:prstGeom prst="rect">
            <a:avLst/>
          </a:prstGeom>
        </p:spPr>
      </p:pic>
      <p:pic>
        <p:nvPicPr>
          <p:cNvPr id="57" name="Picture 56" descr="Microsoft, powerbi, logo Icon in Vector Logo">
            <a:extLst>
              <a:ext uri="{FF2B5EF4-FFF2-40B4-BE49-F238E27FC236}">
                <a16:creationId xmlns:a16="http://schemas.microsoft.com/office/drawing/2014/main" id="{9F98E8D1-875E-0763-30C4-1F723BB43B91}"/>
              </a:ext>
            </a:extLst>
          </p:cNvPr>
          <p:cNvPicPr>
            <a:picLocks noChangeAspect="1" noChangeArrowheads="1"/>
          </p:cNvPicPr>
          <p:nvPr/>
        </p:nvPicPr>
        <p:blipFill>
          <a:blip r:embed="rId31" cstate="screen">
            <a:extLst>
              <a:ext uri="{28A0092B-C50C-407E-A947-70E740481C1C}">
                <a14:useLocalDpi xmlns:a14="http://schemas.microsoft.com/office/drawing/2010/main"/>
              </a:ext>
            </a:extLst>
          </a:blip>
          <a:srcRect/>
          <a:stretch>
            <a:fillRect/>
          </a:stretch>
        </p:blipFill>
        <p:spPr bwMode="auto">
          <a:xfrm>
            <a:off x="4231155" y="1331372"/>
            <a:ext cx="636985" cy="326979"/>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descr="Download MuleSoft Logo in SVG Vector or PNG File Format ...">
            <a:extLst>
              <a:ext uri="{FF2B5EF4-FFF2-40B4-BE49-F238E27FC236}">
                <a16:creationId xmlns:a16="http://schemas.microsoft.com/office/drawing/2014/main" id="{9442ADB4-F819-4855-41D2-B98B6A39354F}"/>
              </a:ext>
            </a:extLst>
          </p:cNvPr>
          <p:cNvPicPr>
            <a:picLocks noChangeAspect="1" noChangeArrowheads="1"/>
          </p:cNvPicPr>
          <p:nvPr/>
        </p:nvPicPr>
        <p:blipFill>
          <a:blip r:embed="rId32" cstate="screen">
            <a:extLst>
              <a:ext uri="{28A0092B-C50C-407E-A947-70E740481C1C}">
                <a14:useLocalDpi xmlns:a14="http://schemas.microsoft.com/office/drawing/2010/main"/>
              </a:ext>
            </a:extLst>
          </a:blip>
          <a:srcRect/>
          <a:stretch>
            <a:fillRect/>
          </a:stretch>
        </p:blipFill>
        <p:spPr bwMode="auto">
          <a:xfrm>
            <a:off x="2980116" y="1842578"/>
            <a:ext cx="829744" cy="56790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52FDF864-422D-6F3A-4D66-BF0A761D48C1}"/>
              </a:ext>
            </a:extLst>
          </p:cNvPr>
          <p:cNvPicPr>
            <a:picLocks noChangeAspect="1" noChangeArrowheads="1"/>
          </p:cNvPicPr>
          <p:nvPr/>
        </p:nvPicPr>
        <p:blipFill>
          <a:blip r:embed="rId33" cstate="screen">
            <a:extLst>
              <a:ext uri="{28A0092B-C50C-407E-A947-70E740481C1C}">
                <a14:useLocalDpi xmlns:a14="http://schemas.microsoft.com/office/drawing/2010/main"/>
              </a:ext>
            </a:extLst>
          </a:blip>
          <a:srcRect/>
          <a:stretch>
            <a:fillRect/>
          </a:stretch>
        </p:blipFill>
        <p:spPr bwMode="auto">
          <a:xfrm>
            <a:off x="3216069" y="2311932"/>
            <a:ext cx="824331" cy="185788"/>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a:extLst>
              <a:ext uri="{FF2B5EF4-FFF2-40B4-BE49-F238E27FC236}">
                <a16:creationId xmlns:a16="http://schemas.microsoft.com/office/drawing/2014/main" id="{F13DE1F0-2AE7-0202-98C9-C5ADCB610092}"/>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4405617" y="1730694"/>
            <a:ext cx="569382" cy="19683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a:extLst>
              <a:ext uri="{FF2B5EF4-FFF2-40B4-BE49-F238E27FC236}">
                <a16:creationId xmlns:a16="http://schemas.microsoft.com/office/drawing/2014/main" id="{100425FB-1530-72EF-5245-2532593846E5}"/>
              </a:ext>
            </a:extLst>
          </p:cNvPr>
          <p:cNvPicPr>
            <a:picLocks noChangeAspect="1"/>
          </p:cNvPicPr>
          <p:nvPr/>
        </p:nvPicPr>
        <p:blipFill>
          <a:blip r:embed="rId35" cstate="screen">
            <a:extLst>
              <a:ext uri="{28A0092B-C50C-407E-A947-70E740481C1C}">
                <a14:useLocalDpi xmlns:a14="http://schemas.microsoft.com/office/drawing/2010/main"/>
              </a:ext>
            </a:extLst>
          </a:blip>
          <a:stretch>
            <a:fillRect/>
          </a:stretch>
        </p:blipFill>
        <p:spPr>
          <a:xfrm>
            <a:off x="3496705" y="2636803"/>
            <a:ext cx="487574" cy="164804"/>
          </a:xfrm>
          <a:prstGeom prst="rect">
            <a:avLst/>
          </a:prstGeom>
        </p:spPr>
      </p:pic>
      <p:pic>
        <p:nvPicPr>
          <p:cNvPr id="62" name="Graphic 57">
            <a:extLst>
              <a:ext uri="{FF2B5EF4-FFF2-40B4-BE49-F238E27FC236}">
                <a16:creationId xmlns:a16="http://schemas.microsoft.com/office/drawing/2014/main" id="{8CA4AC60-ED3A-6CAB-F01C-E531DB3FD56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597340" y="2136660"/>
            <a:ext cx="407534" cy="398756"/>
          </a:xfrm>
          <a:prstGeom prst="rect">
            <a:avLst/>
          </a:prstGeom>
        </p:spPr>
      </p:pic>
      <p:pic>
        <p:nvPicPr>
          <p:cNvPr id="63" name="Picture 62">
            <a:extLst>
              <a:ext uri="{FF2B5EF4-FFF2-40B4-BE49-F238E27FC236}">
                <a16:creationId xmlns:a16="http://schemas.microsoft.com/office/drawing/2014/main" id="{AB74FAE8-26AB-75BD-80F9-70287A32262B}"/>
              </a:ext>
            </a:extLst>
          </p:cNvPr>
          <p:cNvPicPr>
            <a:picLocks noChangeAspect="1"/>
          </p:cNvPicPr>
          <p:nvPr/>
        </p:nvPicPr>
        <p:blipFill>
          <a:blip r:embed="rId37" cstate="screen">
            <a:extLst>
              <a:ext uri="{28A0092B-C50C-407E-A947-70E740481C1C}">
                <a14:useLocalDpi xmlns:a14="http://schemas.microsoft.com/office/drawing/2010/main"/>
              </a:ext>
            </a:extLst>
          </a:blip>
          <a:stretch>
            <a:fillRect/>
          </a:stretch>
        </p:blipFill>
        <p:spPr>
          <a:xfrm>
            <a:off x="3777778" y="2929328"/>
            <a:ext cx="716768" cy="301124"/>
          </a:xfrm>
          <a:prstGeom prst="rect">
            <a:avLst/>
          </a:prstGeom>
        </p:spPr>
      </p:pic>
      <p:pic>
        <p:nvPicPr>
          <p:cNvPr id="64" name="Picture 63" descr="Icon&#10;&#10;Description automatically generated">
            <a:extLst>
              <a:ext uri="{FF2B5EF4-FFF2-40B4-BE49-F238E27FC236}">
                <a16:creationId xmlns:a16="http://schemas.microsoft.com/office/drawing/2014/main" id="{A8C78313-08CF-221C-585B-D390A4E230A8}"/>
              </a:ext>
            </a:extLst>
          </p:cNvPr>
          <p:cNvPicPr>
            <a:picLocks noChangeAspect="1"/>
          </p:cNvPicPr>
          <p:nvPr/>
        </p:nvPicPr>
        <p:blipFill>
          <a:blip r:embed="rId38" cstate="screen">
            <a:extLst>
              <a:ext uri="{28A0092B-C50C-407E-A947-70E740481C1C}">
                <a14:useLocalDpi xmlns:a14="http://schemas.microsoft.com/office/drawing/2010/main"/>
              </a:ext>
            </a:extLst>
          </a:blip>
          <a:stretch>
            <a:fillRect/>
          </a:stretch>
        </p:blipFill>
        <p:spPr>
          <a:xfrm>
            <a:off x="5859795" y="1328687"/>
            <a:ext cx="611608" cy="232090"/>
          </a:xfrm>
          <a:prstGeom prst="rect">
            <a:avLst/>
          </a:prstGeom>
        </p:spPr>
      </p:pic>
      <p:pic>
        <p:nvPicPr>
          <p:cNvPr id="65" name="Picture 64">
            <a:extLst>
              <a:ext uri="{FF2B5EF4-FFF2-40B4-BE49-F238E27FC236}">
                <a16:creationId xmlns:a16="http://schemas.microsoft.com/office/drawing/2014/main" id="{5339BD7F-F017-B3CE-2DE6-A5CA5571108B}"/>
              </a:ext>
            </a:extLst>
          </p:cNvPr>
          <p:cNvPicPr>
            <a:picLocks noChangeAspect="1"/>
          </p:cNvPicPr>
          <p:nvPr/>
        </p:nvPicPr>
        <p:blipFill>
          <a:blip r:embed="rId39" cstate="screen">
            <a:extLst>
              <a:ext uri="{28A0092B-C50C-407E-A947-70E740481C1C}">
                <a14:useLocalDpi xmlns:a14="http://schemas.microsoft.com/office/drawing/2010/main"/>
              </a:ext>
            </a:extLst>
          </a:blip>
          <a:stretch>
            <a:fillRect/>
          </a:stretch>
        </p:blipFill>
        <p:spPr>
          <a:xfrm>
            <a:off x="5457208" y="2151130"/>
            <a:ext cx="669573" cy="212885"/>
          </a:xfrm>
          <a:prstGeom prst="rect">
            <a:avLst/>
          </a:prstGeom>
        </p:spPr>
      </p:pic>
      <p:pic>
        <p:nvPicPr>
          <p:cNvPr id="66" name="Picture 65">
            <a:extLst>
              <a:ext uri="{FF2B5EF4-FFF2-40B4-BE49-F238E27FC236}">
                <a16:creationId xmlns:a16="http://schemas.microsoft.com/office/drawing/2014/main" id="{C3165C1A-240A-EB69-BB4B-612CAE39A95B}"/>
              </a:ext>
            </a:extLst>
          </p:cNvPr>
          <p:cNvPicPr>
            <a:picLocks noChangeAspect="1"/>
          </p:cNvPicPr>
          <p:nvPr/>
        </p:nvPicPr>
        <p:blipFill>
          <a:blip r:embed="rId40"/>
          <a:stretch>
            <a:fillRect/>
          </a:stretch>
        </p:blipFill>
        <p:spPr>
          <a:xfrm>
            <a:off x="5419695" y="1731647"/>
            <a:ext cx="803045" cy="193382"/>
          </a:xfrm>
          <a:prstGeom prst="rect">
            <a:avLst/>
          </a:prstGeom>
        </p:spPr>
      </p:pic>
      <p:pic>
        <p:nvPicPr>
          <p:cNvPr id="67" name="Picture 66">
            <a:extLst>
              <a:ext uri="{FF2B5EF4-FFF2-40B4-BE49-F238E27FC236}">
                <a16:creationId xmlns:a16="http://schemas.microsoft.com/office/drawing/2014/main" id="{7FA10805-8503-6D40-D4CE-B49049A17CAB}"/>
              </a:ext>
            </a:extLst>
          </p:cNvPr>
          <p:cNvPicPr>
            <a:picLocks noChangeAspect="1" noChangeArrowheads="1"/>
          </p:cNvPicPr>
          <p:nvPr/>
        </p:nvPicPr>
        <p:blipFill>
          <a:blip r:embed="rId41" cstate="screen">
            <a:extLst>
              <a:ext uri="{28A0092B-C50C-407E-A947-70E740481C1C}">
                <a14:useLocalDpi xmlns:a14="http://schemas.microsoft.com/office/drawing/2010/main"/>
              </a:ext>
            </a:extLst>
          </a:blip>
          <a:srcRect/>
          <a:stretch>
            <a:fillRect/>
          </a:stretch>
        </p:blipFill>
        <p:spPr bwMode="auto">
          <a:xfrm>
            <a:off x="6422710" y="1801866"/>
            <a:ext cx="310443" cy="27820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a:extLst>
              <a:ext uri="{FF2B5EF4-FFF2-40B4-BE49-F238E27FC236}">
                <a16:creationId xmlns:a16="http://schemas.microsoft.com/office/drawing/2014/main" id="{F8AF36D7-14F1-C8A8-46D6-8B3B273C2CA1}"/>
              </a:ext>
            </a:extLst>
          </p:cNvPr>
          <p:cNvPicPr>
            <a:picLocks noChangeAspect="1"/>
          </p:cNvPicPr>
          <p:nvPr/>
        </p:nvPicPr>
        <p:blipFill>
          <a:blip r:embed="rId42" cstate="screen">
            <a:extLst>
              <a:ext uri="{28A0092B-C50C-407E-A947-70E740481C1C}">
                <a14:useLocalDpi xmlns:a14="http://schemas.microsoft.com/office/drawing/2010/main"/>
              </a:ext>
            </a:extLst>
          </a:blip>
          <a:stretch>
            <a:fillRect/>
          </a:stretch>
        </p:blipFill>
        <p:spPr>
          <a:xfrm>
            <a:off x="6259743" y="2249651"/>
            <a:ext cx="435972" cy="174063"/>
          </a:xfrm>
          <a:prstGeom prst="rect">
            <a:avLst/>
          </a:prstGeom>
        </p:spPr>
      </p:pic>
      <p:pic>
        <p:nvPicPr>
          <p:cNvPr id="69" name="Picture 68" descr="Eloqua | Brands of the World™ | Download vector logos and logotypes">
            <a:extLst>
              <a:ext uri="{FF2B5EF4-FFF2-40B4-BE49-F238E27FC236}">
                <a16:creationId xmlns:a16="http://schemas.microsoft.com/office/drawing/2014/main" id="{A386E4EC-B007-7E9B-C581-9B8C5750DCA4}"/>
              </a:ext>
            </a:extLst>
          </p:cNvPr>
          <p:cNvPicPr>
            <a:picLocks noChangeAspect="1" noChangeArrowheads="1"/>
          </p:cNvPicPr>
          <p:nvPr/>
        </p:nvPicPr>
        <p:blipFill>
          <a:blip r:embed="rId4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788413" y="2659479"/>
            <a:ext cx="629503" cy="650089"/>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descr="PayPal - B2B Commerce Platform | Pepperi">
            <a:extLst>
              <a:ext uri="{FF2B5EF4-FFF2-40B4-BE49-F238E27FC236}">
                <a16:creationId xmlns:a16="http://schemas.microsoft.com/office/drawing/2014/main" id="{853431DF-A818-DBB0-8BE4-8F81EA594D57}"/>
              </a:ext>
            </a:extLst>
          </p:cNvPr>
          <p:cNvPicPr>
            <a:picLocks noChangeAspect="1" noChangeArrowheads="1"/>
          </p:cNvPicPr>
          <p:nvPr/>
        </p:nvPicPr>
        <p:blipFill>
          <a:blip r:embed="rId44" cstate="screen">
            <a:extLst>
              <a:ext uri="{28A0092B-C50C-407E-A947-70E740481C1C}">
                <a14:useLocalDpi xmlns:a14="http://schemas.microsoft.com/office/drawing/2010/main"/>
              </a:ext>
            </a:extLst>
          </a:blip>
          <a:srcRect/>
          <a:stretch>
            <a:fillRect/>
          </a:stretch>
        </p:blipFill>
        <p:spPr bwMode="auto">
          <a:xfrm>
            <a:off x="7233066" y="2238439"/>
            <a:ext cx="414706" cy="419795"/>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descr="Vertex — Florida Dreamin'">
            <a:extLst>
              <a:ext uri="{FF2B5EF4-FFF2-40B4-BE49-F238E27FC236}">
                <a16:creationId xmlns:a16="http://schemas.microsoft.com/office/drawing/2014/main" id="{D1313225-4DF9-3492-6446-6F9778DDAA08}"/>
              </a:ext>
            </a:extLst>
          </p:cNvPr>
          <p:cNvPicPr>
            <a:picLocks noChangeAspect="1" noChangeArrowheads="1"/>
          </p:cNvPicPr>
          <p:nvPr/>
        </p:nvPicPr>
        <p:blipFill>
          <a:blip r:embed="rId45" cstate="screen">
            <a:extLst>
              <a:ext uri="{28A0092B-C50C-407E-A947-70E740481C1C}">
                <a14:useLocalDpi xmlns:a14="http://schemas.microsoft.com/office/drawing/2010/main"/>
              </a:ext>
            </a:extLst>
          </a:blip>
          <a:srcRect/>
          <a:stretch>
            <a:fillRect/>
          </a:stretch>
        </p:blipFill>
        <p:spPr bwMode="auto">
          <a:xfrm>
            <a:off x="7576319" y="1780765"/>
            <a:ext cx="771528" cy="281847"/>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Narvar Logo Download Vector">
            <a:extLst>
              <a:ext uri="{FF2B5EF4-FFF2-40B4-BE49-F238E27FC236}">
                <a16:creationId xmlns:a16="http://schemas.microsoft.com/office/drawing/2014/main" id="{EB7A6B4C-8DAB-1363-20A1-45DBEE5412EA}"/>
              </a:ext>
            </a:extLst>
          </p:cNvPr>
          <p:cNvPicPr>
            <a:picLocks noChangeAspect="1" noChangeArrowheads="1"/>
          </p:cNvPicPr>
          <p:nvPr/>
        </p:nvPicPr>
        <p:blipFill>
          <a:blip r:embed="rId46" cstate="screen">
            <a:extLst>
              <a:ext uri="{28A0092B-C50C-407E-A947-70E740481C1C}">
                <a14:useLocalDpi xmlns:a14="http://schemas.microsoft.com/office/drawing/2010/main"/>
              </a:ext>
            </a:extLst>
          </a:blip>
          <a:srcRect/>
          <a:stretch>
            <a:fillRect/>
          </a:stretch>
        </p:blipFill>
        <p:spPr bwMode="auto">
          <a:xfrm>
            <a:off x="7972394" y="2326807"/>
            <a:ext cx="916943" cy="240992"/>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A723FAE8-D8ED-0E07-C506-1848149E83A9}"/>
              </a:ext>
            </a:extLst>
          </p:cNvPr>
          <p:cNvPicPr>
            <a:picLocks noChangeAspect="1"/>
          </p:cNvPicPr>
          <p:nvPr/>
        </p:nvPicPr>
        <p:blipFill rotWithShape="1">
          <a:blip r:embed="rId47" cstate="screen">
            <a:extLst>
              <a:ext uri="{28A0092B-C50C-407E-A947-70E740481C1C}">
                <a14:useLocalDpi xmlns:a14="http://schemas.microsoft.com/office/drawing/2010/main"/>
              </a:ext>
            </a:extLst>
          </a:blip>
          <a:srcRect/>
          <a:stretch/>
        </p:blipFill>
        <p:spPr>
          <a:xfrm>
            <a:off x="8715911" y="3235743"/>
            <a:ext cx="679898" cy="278653"/>
          </a:xfrm>
          <a:prstGeom prst="rect">
            <a:avLst/>
          </a:prstGeom>
        </p:spPr>
      </p:pic>
      <p:pic>
        <p:nvPicPr>
          <p:cNvPr id="74" name="SFCClogo.png">
            <a:extLst>
              <a:ext uri="{FF2B5EF4-FFF2-40B4-BE49-F238E27FC236}">
                <a16:creationId xmlns:a16="http://schemas.microsoft.com/office/drawing/2014/main" id="{41074526-C3CD-A0D1-E62E-C2CBCB1DF83B}"/>
              </a:ext>
            </a:extLst>
          </p:cNvPr>
          <p:cNvPicPr>
            <a:picLocks noChangeAspect="1"/>
          </p:cNvPicPr>
          <p:nvPr/>
        </p:nvPicPr>
        <p:blipFill rotWithShape="1">
          <a:blip r:embed="rId48" cstate="screen">
            <a:clrChange>
              <a:clrFrom>
                <a:srgbClr val="FFFFFF"/>
              </a:clrFrom>
              <a:clrTo>
                <a:srgbClr val="FFFFFF">
                  <a:alpha val="0"/>
                </a:srgbClr>
              </a:clrTo>
            </a:clrChange>
            <a:extLst>
              <a:ext uri="{28A0092B-C50C-407E-A947-70E740481C1C}">
                <a14:useLocalDpi xmlns:a14="http://schemas.microsoft.com/office/drawing/2010/main"/>
              </a:ext>
            </a:extLst>
          </a:blip>
          <a:srcRect l="11036"/>
          <a:stretch/>
        </p:blipFill>
        <p:spPr>
          <a:xfrm>
            <a:off x="8935728" y="2829149"/>
            <a:ext cx="1090002" cy="328479"/>
          </a:xfrm>
          <a:prstGeom prst="rect">
            <a:avLst/>
          </a:prstGeom>
          <a:ln w="12700">
            <a:miter lim="400000"/>
          </a:ln>
        </p:spPr>
      </p:pic>
      <p:pic>
        <p:nvPicPr>
          <p:cNvPr id="75" name="Picture 74" descr="Image result for commerce tools">
            <a:extLst>
              <a:ext uri="{FF2B5EF4-FFF2-40B4-BE49-F238E27FC236}">
                <a16:creationId xmlns:a16="http://schemas.microsoft.com/office/drawing/2014/main" id="{1F25997B-2A7E-8245-7B79-2C4AE61DAC0A}"/>
              </a:ext>
            </a:extLst>
          </p:cNvPr>
          <p:cNvPicPr>
            <a:picLocks noChangeAspect="1" noChangeArrowheads="1"/>
          </p:cNvPicPr>
          <p:nvPr/>
        </p:nvPicPr>
        <p:blipFill>
          <a:blip r:embed="rId49" cstate="screen">
            <a:extLst>
              <a:ext uri="{28A0092B-C50C-407E-A947-70E740481C1C}">
                <a14:useLocalDpi xmlns:a14="http://schemas.microsoft.com/office/drawing/2010/main"/>
              </a:ext>
            </a:extLst>
          </a:blip>
          <a:srcRect/>
          <a:stretch>
            <a:fillRect/>
          </a:stretch>
        </p:blipFill>
        <p:spPr bwMode="auto">
          <a:xfrm>
            <a:off x="9310076" y="3551919"/>
            <a:ext cx="993694" cy="15673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a:extLst>
              <a:ext uri="{FF2B5EF4-FFF2-40B4-BE49-F238E27FC236}">
                <a16:creationId xmlns:a16="http://schemas.microsoft.com/office/drawing/2014/main" id="{3D4FF6A7-BDD8-660C-3CF4-DC0CEA659348}"/>
              </a:ext>
            </a:extLst>
          </p:cNvPr>
          <p:cNvPicPr>
            <a:picLocks noChangeAspect="1"/>
          </p:cNvPicPr>
          <p:nvPr/>
        </p:nvPicPr>
        <p:blipFill>
          <a:blip r:embed="rId50" cstate="screen">
            <a:extLst>
              <a:ext uri="{28A0092B-C50C-407E-A947-70E740481C1C}">
                <a14:useLocalDpi xmlns:a14="http://schemas.microsoft.com/office/drawing/2010/main"/>
              </a:ext>
            </a:extLst>
          </a:blip>
          <a:stretch>
            <a:fillRect/>
          </a:stretch>
        </p:blipFill>
        <p:spPr>
          <a:xfrm>
            <a:off x="8532497" y="3694156"/>
            <a:ext cx="685709" cy="437907"/>
          </a:xfrm>
          <a:prstGeom prst="rect">
            <a:avLst/>
          </a:prstGeom>
        </p:spPr>
      </p:pic>
      <p:pic>
        <p:nvPicPr>
          <p:cNvPr id="77" name="Picture 76" descr="Job Application for DevOps Engineer - Engagement Pillar at Bloomreach">
            <a:extLst>
              <a:ext uri="{FF2B5EF4-FFF2-40B4-BE49-F238E27FC236}">
                <a16:creationId xmlns:a16="http://schemas.microsoft.com/office/drawing/2014/main" id="{A7637E49-FC70-42E9-1E53-838B381B5BE4}"/>
              </a:ext>
            </a:extLst>
          </p:cNvPr>
          <p:cNvPicPr>
            <a:picLocks noChangeAspect="1" noChangeArrowheads="1"/>
          </p:cNvPicPr>
          <p:nvPr/>
        </p:nvPicPr>
        <p:blipFill>
          <a:blip r:embed="rId51" cstate="screen">
            <a:extLst>
              <a:ext uri="{28A0092B-C50C-407E-A947-70E740481C1C}">
                <a14:useLocalDpi xmlns:a14="http://schemas.microsoft.com/office/drawing/2010/main"/>
              </a:ext>
            </a:extLst>
          </a:blip>
          <a:srcRect/>
          <a:stretch>
            <a:fillRect/>
          </a:stretch>
        </p:blipFill>
        <p:spPr bwMode="auto">
          <a:xfrm>
            <a:off x="9208681" y="3673316"/>
            <a:ext cx="1276175" cy="657878"/>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89">
            <a:extLst>
              <a:ext uri="{FF2B5EF4-FFF2-40B4-BE49-F238E27FC236}">
                <a16:creationId xmlns:a16="http://schemas.microsoft.com/office/drawing/2014/main" id="{AA4BC996-52A7-FD23-DFC1-9317E54B2FC9}"/>
              </a:ext>
            </a:extLst>
          </p:cNvPr>
          <p:cNvSpPr txBox="1"/>
          <p:nvPr/>
        </p:nvSpPr>
        <p:spPr>
          <a:xfrm rot="17082846">
            <a:off x="-172410" y="4655084"/>
            <a:ext cx="2571378" cy="809461"/>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effectLst/>
                <a:uLnTx/>
                <a:uFillTx/>
                <a:latin typeface="Manrope Light"/>
                <a:cs typeface="Poppins" pitchFamily="2" charset="77"/>
              </a:rPr>
              <a:t>Brand Awareness</a:t>
            </a:r>
          </a:p>
        </p:txBody>
      </p:sp>
      <p:sp>
        <p:nvSpPr>
          <p:cNvPr id="79" name="TextBox 90">
            <a:extLst>
              <a:ext uri="{FF2B5EF4-FFF2-40B4-BE49-F238E27FC236}">
                <a16:creationId xmlns:a16="http://schemas.microsoft.com/office/drawing/2014/main" id="{EF6FB489-22ED-F693-B85A-E760B75CBA09}"/>
              </a:ext>
            </a:extLst>
          </p:cNvPr>
          <p:cNvSpPr txBox="1"/>
          <p:nvPr/>
        </p:nvSpPr>
        <p:spPr>
          <a:xfrm rot="18443389">
            <a:off x="777544" y="2696088"/>
            <a:ext cx="2504642" cy="678956"/>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Manrope Light"/>
                <a:cs typeface="Poppins" pitchFamily="2" charset="77"/>
              </a:rPr>
              <a:t>Marketing Automation</a:t>
            </a:r>
          </a:p>
        </p:txBody>
      </p:sp>
      <p:sp>
        <p:nvSpPr>
          <p:cNvPr id="80" name="TextBox 91">
            <a:extLst>
              <a:ext uri="{FF2B5EF4-FFF2-40B4-BE49-F238E27FC236}">
                <a16:creationId xmlns:a16="http://schemas.microsoft.com/office/drawing/2014/main" id="{E6D14E2A-61ED-2A8F-F1D2-EE8088A82526}"/>
              </a:ext>
            </a:extLst>
          </p:cNvPr>
          <p:cNvSpPr txBox="1"/>
          <p:nvPr/>
        </p:nvSpPr>
        <p:spPr>
          <a:xfrm rot="19701938">
            <a:off x="2435718" y="1215316"/>
            <a:ext cx="2504642" cy="589226"/>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Manrope Light"/>
                <a:cs typeface="Poppins" pitchFamily="2" charset="77"/>
              </a:rPr>
              <a:t>Enablers</a:t>
            </a:r>
          </a:p>
        </p:txBody>
      </p:sp>
      <p:sp>
        <p:nvSpPr>
          <p:cNvPr id="81" name="TextBox 92">
            <a:extLst>
              <a:ext uri="{FF2B5EF4-FFF2-40B4-BE49-F238E27FC236}">
                <a16:creationId xmlns:a16="http://schemas.microsoft.com/office/drawing/2014/main" id="{264926F1-7476-69BF-1BDA-FCB5CC3D09B0}"/>
              </a:ext>
            </a:extLst>
          </p:cNvPr>
          <p:cNvSpPr txBox="1"/>
          <p:nvPr/>
        </p:nvSpPr>
        <p:spPr>
          <a:xfrm>
            <a:off x="4840007" y="819470"/>
            <a:ext cx="2504642" cy="589226"/>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Manrope Light"/>
                <a:cs typeface="Poppins" pitchFamily="2" charset="77"/>
              </a:rPr>
              <a:t>Front End/Mobile Apps</a:t>
            </a:r>
          </a:p>
        </p:txBody>
      </p:sp>
      <p:sp>
        <p:nvSpPr>
          <p:cNvPr id="82" name="TextBox 93">
            <a:extLst>
              <a:ext uri="{FF2B5EF4-FFF2-40B4-BE49-F238E27FC236}">
                <a16:creationId xmlns:a16="http://schemas.microsoft.com/office/drawing/2014/main" id="{B53F55A0-C73F-2114-222B-9648D0A0E0E0}"/>
              </a:ext>
            </a:extLst>
          </p:cNvPr>
          <p:cNvSpPr txBox="1"/>
          <p:nvPr/>
        </p:nvSpPr>
        <p:spPr>
          <a:xfrm rot="1750568">
            <a:off x="6509900" y="1207791"/>
            <a:ext cx="3615380" cy="1109198"/>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Manrope Light"/>
                <a:cs typeface="Poppins" pitchFamily="2" charset="77"/>
              </a:rPr>
              <a:t>Digital Commerce Enablers</a:t>
            </a:r>
          </a:p>
        </p:txBody>
      </p:sp>
      <p:sp>
        <p:nvSpPr>
          <p:cNvPr id="83" name="TextBox 94">
            <a:extLst>
              <a:ext uri="{FF2B5EF4-FFF2-40B4-BE49-F238E27FC236}">
                <a16:creationId xmlns:a16="http://schemas.microsoft.com/office/drawing/2014/main" id="{07CDD255-76F7-792A-6BF8-0CBFB1E7BA39}"/>
              </a:ext>
            </a:extLst>
          </p:cNvPr>
          <p:cNvSpPr txBox="1"/>
          <p:nvPr/>
        </p:nvSpPr>
        <p:spPr>
          <a:xfrm rot="3166837">
            <a:off x="8883980" y="2729189"/>
            <a:ext cx="2571378" cy="528397"/>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Manrope Light"/>
                <a:cs typeface="Poppins" pitchFamily="2" charset="77"/>
              </a:rPr>
              <a:t>Digital Transactions</a:t>
            </a:r>
          </a:p>
        </p:txBody>
      </p:sp>
      <p:sp>
        <p:nvSpPr>
          <p:cNvPr id="84" name="TextBox 94">
            <a:extLst>
              <a:ext uri="{FF2B5EF4-FFF2-40B4-BE49-F238E27FC236}">
                <a16:creationId xmlns:a16="http://schemas.microsoft.com/office/drawing/2014/main" id="{087E8B24-3D21-1FA2-8BDA-3B63609C8648}"/>
              </a:ext>
            </a:extLst>
          </p:cNvPr>
          <p:cNvSpPr txBox="1"/>
          <p:nvPr/>
        </p:nvSpPr>
        <p:spPr>
          <a:xfrm rot="4613870">
            <a:off x="9920744" y="4933688"/>
            <a:ext cx="2571378" cy="528397"/>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Manrope Light"/>
                <a:cs typeface="Poppins" pitchFamily="2" charset="77"/>
              </a:rPr>
              <a:t>Digital Relationships</a:t>
            </a:r>
          </a:p>
        </p:txBody>
      </p:sp>
      <p:pic>
        <p:nvPicPr>
          <p:cNvPr id="85" name="Picture 84" descr="Salesforce - Wikipedia">
            <a:extLst>
              <a:ext uri="{FF2B5EF4-FFF2-40B4-BE49-F238E27FC236}">
                <a16:creationId xmlns:a16="http://schemas.microsoft.com/office/drawing/2014/main" id="{B49E3A62-C3DD-77E0-0BFA-A55F4D794B79}"/>
              </a:ext>
            </a:extLst>
          </p:cNvPr>
          <p:cNvPicPr>
            <a:picLocks noChangeAspect="1" noChangeArrowheads="1"/>
          </p:cNvPicPr>
          <p:nvPr/>
        </p:nvPicPr>
        <p:blipFill>
          <a:blip r:embed="rId52" cstate="screen">
            <a:extLst>
              <a:ext uri="{28A0092B-C50C-407E-A947-70E740481C1C}">
                <a14:useLocalDpi xmlns:a14="http://schemas.microsoft.com/office/drawing/2010/main"/>
              </a:ext>
            </a:extLst>
          </a:blip>
          <a:srcRect/>
          <a:stretch>
            <a:fillRect/>
          </a:stretch>
        </p:blipFill>
        <p:spPr bwMode="auto">
          <a:xfrm>
            <a:off x="8207722" y="5346351"/>
            <a:ext cx="565058" cy="395568"/>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85" descr="Microsoft Dynamics 365 | Trillium">
            <a:extLst>
              <a:ext uri="{FF2B5EF4-FFF2-40B4-BE49-F238E27FC236}">
                <a16:creationId xmlns:a16="http://schemas.microsoft.com/office/drawing/2014/main" id="{F8A533A6-C44D-0BE0-6A6A-C596442D2378}"/>
              </a:ext>
            </a:extLst>
          </p:cNvPr>
          <p:cNvPicPr>
            <a:picLocks noChangeAspect="1" noChangeArrowheads="1"/>
          </p:cNvPicPr>
          <p:nvPr/>
        </p:nvPicPr>
        <p:blipFill>
          <a:blip r:embed="rId53" cstate="screen">
            <a:extLst>
              <a:ext uri="{28A0092B-C50C-407E-A947-70E740481C1C}">
                <a14:useLocalDpi xmlns:a14="http://schemas.microsoft.com/office/drawing/2010/main"/>
              </a:ext>
            </a:extLst>
          </a:blip>
          <a:srcRect/>
          <a:stretch>
            <a:fillRect/>
          </a:stretch>
        </p:blipFill>
        <p:spPr bwMode="auto">
          <a:xfrm>
            <a:off x="8312201" y="5930342"/>
            <a:ext cx="843976" cy="21099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Zoho CRM Reviews 2023: Details, Pricing, &amp; Features | G2">
            <a:extLst>
              <a:ext uri="{FF2B5EF4-FFF2-40B4-BE49-F238E27FC236}">
                <a16:creationId xmlns:a16="http://schemas.microsoft.com/office/drawing/2014/main" id="{8B8BA073-774B-F1DE-FD36-A34B253B7B86}"/>
              </a:ext>
            </a:extLst>
          </p:cNvPr>
          <p:cNvPicPr>
            <a:picLocks noChangeAspect="1" noChangeArrowheads="1"/>
          </p:cNvPicPr>
          <p:nvPr/>
        </p:nvPicPr>
        <p:blipFill>
          <a:blip r:embed="rId54" cstate="screen">
            <a:extLst>
              <a:ext uri="{28A0092B-C50C-407E-A947-70E740481C1C}">
                <a14:useLocalDpi xmlns:a14="http://schemas.microsoft.com/office/drawing/2010/main"/>
              </a:ext>
            </a:extLst>
          </a:blip>
          <a:srcRect/>
          <a:stretch>
            <a:fillRect/>
          </a:stretch>
        </p:blipFill>
        <p:spPr bwMode="auto">
          <a:xfrm>
            <a:off x="9782385" y="4808453"/>
            <a:ext cx="896354" cy="470586"/>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descr="Freshworks logo transparent PNG - StickPNG">
            <a:extLst>
              <a:ext uri="{FF2B5EF4-FFF2-40B4-BE49-F238E27FC236}">
                <a16:creationId xmlns:a16="http://schemas.microsoft.com/office/drawing/2014/main" id="{6F6167DE-7A11-6E48-91F6-2BABDBF440E0}"/>
              </a:ext>
            </a:extLst>
          </p:cNvPr>
          <p:cNvPicPr>
            <a:picLocks noChangeAspect="1" noChangeArrowheads="1"/>
          </p:cNvPicPr>
          <p:nvPr/>
        </p:nvPicPr>
        <p:blipFill>
          <a:blip r:embed="rId55" cstate="screen">
            <a:extLst>
              <a:ext uri="{28A0092B-C50C-407E-A947-70E740481C1C}">
                <a14:useLocalDpi xmlns:a14="http://schemas.microsoft.com/office/drawing/2010/main"/>
              </a:ext>
            </a:extLst>
          </a:blip>
          <a:srcRect/>
          <a:stretch>
            <a:fillRect/>
          </a:stretch>
        </p:blipFill>
        <p:spPr bwMode="auto">
          <a:xfrm>
            <a:off x="9744602" y="5315170"/>
            <a:ext cx="1295431" cy="729409"/>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Graphics &amp; Logos – WordPress.org">
            <a:extLst>
              <a:ext uri="{FF2B5EF4-FFF2-40B4-BE49-F238E27FC236}">
                <a16:creationId xmlns:a16="http://schemas.microsoft.com/office/drawing/2014/main" id="{4C49943A-B7FC-E846-DCC0-5F9F0E0E5525}"/>
              </a:ext>
            </a:extLst>
          </p:cNvPr>
          <p:cNvPicPr>
            <a:picLocks noChangeAspect="1" noChangeArrowheads="1"/>
          </p:cNvPicPr>
          <p:nvPr/>
        </p:nvPicPr>
        <p:blipFill>
          <a:blip r:embed="rId56" cstate="screen">
            <a:extLst>
              <a:ext uri="{28A0092B-C50C-407E-A947-70E740481C1C}">
                <a14:useLocalDpi xmlns:a14="http://schemas.microsoft.com/office/drawing/2010/main"/>
              </a:ext>
            </a:extLst>
          </a:blip>
          <a:srcRect/>
          <a:stretch>
            <a:fillRect/>
          </a:stretch>
        </p:blipFill>
        <p:spPr bwMode="auto">
          <a:xfrm>
            <a:off x="769450" y="5506144"/>
            <a:ext cx="895576" cy="483588"/>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0F873487-CE34-8D10-DA70-B4A71278F961}"/>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5902267" y="5702982"/>
            <a:ext cx="466050" cy="466050"/>
          </a:xfrm>
          <a:prstGeom prst="rect">
            <a:avLst/>
          </a:prstGeom>
        </p:spPr>
      </p:pic>
    </p:spTree>
    <p:extLst>
      <p:ext uri="{BB962C8B-B14F-4D97-AF65-F5344CB8AC3E}">
        <p14:creationId xmlns:p14="http://schemas.microsoft.com/office/powerpoint/2010/main" val="1926833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FAD5B5A-11C2-5674-3908-5668D75E933B}"/>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t="2527" r="2527"/>
          <a:stretch/>
        </p:blipFill>
        <p:spPr>
          <a:xfrm>
            <a:off x="0" y="0"/>
            <a:ext cx="12192000" cy="6858000"/>
          </a:xfr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728033" y="3717664"/>
            <a:ext cx="8857013" cy="997196"/>
          </a:xfrm>
          <a:noFill/>
        </p:spPr>
        <p:txBody>
          <a:bodyPr/>
          <a:lstStyle/>
          <a:p>
            <a:r>
              <a:rPr lang="en-US" sz="3600" dirty="0"/>
              <a:t>Our Engagement Models</a:t>
            </a:r>
            <a:br>
              <a:rPr lang="en-US" sz="3600" dirty="0"/>
            </a:br>
            <a:r>
              <a:rPr lang="en-US" sz="3600" dirty="0"/>
              <a:t>Quality &amp; Program Management Approach</a:t>
            </a:r>
          </a:p>
        </p:txBody>
      </p:sp>
    </p:spTree>
    <p:extLst>
      <p:ext uri="{BB962C8B-B14F-4D97-AF65-F5344CB8AC3E}">
        <p14:creationId xmlns:p14="http://schemas.microsoft.com/office/powerpoint/2010/main" val="1120156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CDFFCF1-ADF5-1EFF-4CF8-0D7FB2ECB476}"/>
              </a:ext>
            </a:extLst>
          </p:cNvPr>
          <p:cNvSpPr>
            <a:spLocks noGrp="1"/>
          </p:cNvSpPr>
          <p:nvPr>
            <p:ph type="body" sz="quarter" idx="15"/>
          </p:nvPr>
        </p:nvSpPr>
        <p:spPr/>
        <p:txBody>
          <a:bodyPr/>
          <a:lstStyle/>
          <a:p>
            <a:r>
              <a:rPr lang="en-US"/>
              <a:t>Engagement Models</a:t>
            </a:r>
          </a:p>
        </p:txBody>
      </p:sp>
      <p:sp>
        <p:nvSpPr>
          <p:cNvPr id="14" name="Freeform 29">
            <a:extLst>
              <a:ext uri="{FF2B5EF4-FFF2-40B4-BE49-F238E27FC236}">
                <a16:creationId xmlns:a16="http://schemas.microsoft.com/office/drawing/2014/main" id="{24913747-BEDE-10C4-84DB-9BDBB6AA0291}"/>
              </a:ext>
            </a:extLst>
          </p:cNvPr>
          <p:cNvSpPr>
            <a:spLocks/>
          </p:cNvSpPr>
          <p:nvPr/>
        </p:nvSpPr>
        <p:spPr bwMode="auto">
          <a:xfrm rot="3364177">
            <a:off x="2275597" y="179996"/>
            <a:ext cx="3285724" cy="3751752"/>
          </a:xfrm>
          <a:custGeom>
            <a:avLst/>
            <a:gdLst>
              <a:gd name="T0" fmla="*/ 699 w 1083"/>
              <a:gd name="T1" fmla="*/ 882 h 1239"/>
              <a:gd name="T2" fmla="*/ 699 w 1083"/>
              <a:gd name="T3" fmla="*/ 889 h 1239"/>
              <a:gd name="T4" fmla="*/ 349 w 1083"/>
              <a:gd name="T5" fmla="*/ 1239 h 1239"/>
              <a:gd name="T6" fmla="*/ 0 w 1083"/>
              <a:gd name="T7" fmla="*/ 889 h 1239"/>
              <a:gd name="T8" fmla="*/ 240 w 1083"/>
              <a:gd name="T9" fmla="*/ 557 h 1239"/>
              <a:gd name="T10" fmla="*/ 624 w 1083"/>
              <a:gd name="T11" fmla="*/ 39 h 1239"/>
              <a:gd name="T12" fmla="*/ 624 w 1083"/>
              <a:gd name="T13" fmla="*/ 0 h 1239"/>
              <a:gd name="T14" fmla="*/ 974 w 1083"/>
              <a:gd name="T15" fmla="*/ 343 h 1239"/>
              <a:gd name="T16" fmla="*/ 1083 w 1083"/>
              <a:gd name="T17" fmla="*/ 325 h 1239"/>
              <a:gd name="T18" fmla="*/ 699 w 1083"/>
              <a:gd name="T19" fmla="*/ 882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3" h="1239">
                <a:moveTo>
                  <a:pt x="699" y="882"/>
                </a:moveTo>
                <a:cubicBezTo>
                  <a:pt x="699" y="885"/>
                  <a:pt x="699" y="887"/>
                  <a:pt x="699" y="889"/>
                </a:cubicBezTo>
                <a:cubicBezTo>
                  <a:pt x="699" y="1082"/>
                  <a:pt x="542" y="1239"/>
                  <a:pt x="349" y="1239"/>
                </a:cubicBezTo>
                <a:cubicBezTo>
                  <a:pt x="156" y="1239"/>
                  <a:pt x="0" y="1082"/>
                  <a:pt x="0" y="889"/>
                </a:cubicBezTo>
                <a:cubicBezTo>
                  <a:pt x="0" y="734"/>
                  <a:pt x="100" y="603"/>
                  <a:pt x="240" y="557"/>
                </a:cubicBezTo>
                <a:cubicBezTo>
                  <a:pt x="545" y="450"/>
                  <a:pt x="624" y="347"/>
                  <a:pt x="624" y="39"/>
                </a:cubicBezTo>
                <a:cubicBezTo>
                  <a:pt x="624" y="27"/>
                  <a:pt x="624" y="13"/>
                  <a:pt x="624" y="0"/>
                </a:cubicBezTo>
                <a:cubicBezTo>
                  <a:pt x="628" y="190"/>
                  <a:pt x="783" y="343"/>
                  <a:pt x="974" y="343"/>
                </a:cubicBezTo>
                <a:cubicBezTo>
                  <a:pt x="1012" y="343"/>
                  <a:pt x="1048" y="337"/>
                  <a:pt x="1083" y="325"/>
                </a:cubicBezTo>
                <a:cubicBezTo>
                  <a:pt x="766" y="436"/>
                  <a:pt x="692" y="544"/>
                  <a:pt x="699" y="882"/>
                </a:cubicBezTo>
                <a:close/>
              </a:path>
            </a:pathLst>
          </a:custGeom>
          <a:solidFill>
            <a:srgbClr val="002D56"/>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2833" b="0" i="0" u="sng"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35" name="Freeform 29">
            <a:extLst>
              <a:ext uri="{FF2B5EF4-FFF2-40B4-BE49-F238E27FC236}">
                <a16:creationId xmlns:a16="http://schemas.microsoft.com/office/drawing/2014/main" id="{C97ECCBE-9CC8-F0C3-E9FB-859F37D2772C}"/>
              </a:ext>
            </a:extLst>
          </p:cNvPr>
          <p:cNvSpPr>
            <a:spLocks/>
          </p:cNvSpPr>
          <p:nvPr/>
        </p:nvSpPr>
        <p:spPr bwMode="auto">
          <a:xfrm rot="3364177">
            <a:off x="2278392" y="175508"/>
            <a:ext cx="3285724" cy="3751752"/>
          </a:xfrm>
          <a:custGeom>
            <a:avLst/>
            <a:gdLst>
              <a:gd name="T0" fmla="*/ 699 w 1083"/>
              <a:gd name="T1" fmla="*/ 882 h 1239"/>
              <a:gd name="T2" fmla="*/ 699 w 1083"/>
              <a:gd name="T3" fmla="*/ 889 h 1239"/>
              <a:gd name="T4" fmla="*/ 349 w 1083"/>
              <a:gd name="T5" fmla="*/ 1239 h 1239"/>
              <a:gd name="T6" fmla="*/ 0 w 1083"/>
              <a:gd name="T7" fmla="*/ 889 h 1239"/>
              <a:gd name="T8" fmla="*/ 240 w 1083"/>
              <a:gd name="T9" fmla="*/ 557 h 1239"/>
              <a:gd name="T10" fmla="*/ 624 w 1083"/>
              <a:gd name="T11" fmla="*/ 39 h 1239"/>
              <a:gd name="T12" fmla="*/ 624 w 1083"/>
              <a:gd name="T13" fmla="*/ 0 h 1239"/>
              <a:gd name="T14" fmla="*/ 974 w 1083"/>
              <a:gd name="T15" fmla="*/ 343 h 1239"/>
              <a:gd name="T16" fmla="*/ 1083 w 1083"/>
              <a:gd name="T17" fmla="*/ 325 h 1239"/>
              <a:gd name="T18" fmla="*/ 699 w 1083"/>
              <a:gd name="T19" fmla="*/ 882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3" h="1239">
                <a:moveTo>
                  <a:pt x="699" y="882"/>
                </a:moveTo>
                <a:cubicBezTo>
                  <a:pt x="699" y="885"/>
                  <a:pt x="699" y="887"/>
                  <a:pt x="699" y="889"/>
                </a:cubicBezTo>
                <a:cubicBezTo>
                  <a:pt x="699" y="1082"/>
                  <a:pt x="542" y="1239"/>
                  <a:pt x="349" y="1239"/>
                </a:cubicBezTo>
                <a:cubicBezTo>
                  <a:pt x="156" y="1239"/>
                  <a:pt x="0" y="1082"/>
                  <a:pt x="0" y="889"/>
                </a:cubicBezTo>
                <a:cubicBezTo>
                  <a:pt x="0" y="734"/>
                  <a:pt x="100" y="603"/>
                  <a:pt x="240" y="557"/>
                </a:cubicBezTo>
                <a:cubicBezTo>
                  <a:pt x="545" y="450"/>
                  <a:pt x="624" y="347"/>
                  <a:pt x="624" y="39"/>
                </a:cubicBezTo>
                <a:cubicBezTo>
                  <a:pt x="624" y="27"/>
                  <a:pt x="624" y="13"/>
                  <a:pt x="624" y="0"/>
                </a:cubicBezTo>
                <a:cubicBezTo>
                  <a:pt x="628" y="190"/>
                  <a:pt x="783" y="343"/>
                  <a:pt x="974" y="343"/>
                </a:cubicBezTo>
                <a:cubicBezTo>
                  <a:pt x="1012" y="343"/>
                  <a:pt x="1048" y="337"/>
                  <a:pt x="1083" y="325"/>
                </a:cubicBezTo>
                <a:cubicBezTo>
                  <a:pt x="766" y="436"/>
                  <a:pt x="692" y="544"/>
                  <a:pt x="699" y="88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endParaRPr lang="en-IN" sz="2833" u="sng">
              <a:solidFill>
                <a:srgbClr val="000000"/>
              </a:solidFill>
              <a:latin typeface="Arial" pitchFamily="34" charset="0"/>
              <a:ea typeface="MS PGothic" pitchFamily="34" charset="-128"/>
            </a:endParaRPr>
          </a:p>
        </p:txBody>
      </p:sp>
      <p:sp>
        <p:nvSpPr>
          <p:cNvPr id="36" name="Freeform 29">
            <a:extLst>
              <a:ext uri="{FF2B5EF4-FFF2-40B4-BE49-F238E27FC236}">
                <a16:creationId xmlns:a16="http://schemas.microsoft.com/office/drawing/2014/main" id="{7E2E98BF-B644-F619-DB4D-A70BCA23939D}"/>
              </a:ext>
            </a:extLst>
          </p:cNvPr>
          <p:cNvSpPr>
            <a:spLocks/>
          </p:cNvSpPr>
          <p:nvPr/>
        </p:nvSpPr>
        <p:spPr bwMode="auto">
          <a:xfrm rot="3364177">
            <a:off x="5512239" y="179996"/>
            <a:ext cx="3285724" cy="3751752"/>
          </a:xfrm>
          <a:custGeom>
            <a:avLst/>
            <a:gdLst>
              <a:gd name="T0" fmla="*/ 699 w 1083"/>
              <a:gd name="T1" fmla="*/ 882 h 1239"/>
              <a:gd name="T2" fmla="*/ 699 w 1083"/>
              <a:gd name="T3" fmla="*/ 889 h 1239"/>
              <a:gd name="T4" fmla="*/ 349 w 1083"/>
              <a:gd name="T5" fmla="*/ 1239 h 1239"/>
              <a:gd name="T6" fmla="*/ 0 w 1083"/>
              <a:gd name="T7" fmla="*/ 889 h 1239"/>
              <a:gd name="T8" fmla="*/ 240 w 1083"/>
              <a:gd name="T9" fmla="*/ 557 h 1239"/>
              <a:gd name="T10" fmla="*/ 624 w 1083"/>
              <a:gd name="T11" fmla="*/ 39 h 1239"/>
              <a:gd name="T12" fmla="*/ 624 w 1083"/>
              <a:gd name="T13" fmla="*/ 0 h 1239"/>
              <a:gd name="T14" fmla="*/ 974 w 1083"/>
              <a:gd name="T15" fmla="*/ 343 h 1239"/>
              <a:gd name="T16" fmla="*/ 1083 w 1083"/>
              <a:gd name="T17" fmla="*/ 325 h 1239"/>
              <a:gd name="T18" fmla="*/ 699 w 1083"/>
              <a:gd name="T19" fmla="*/ 882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3" h="1239">
                <a:moveTo>
                  <a:pt x="699" y="882"/>
                </a:moveTo>
                <a:cubicBezTo>
                  <a:pt x="699" y="885"/>
                  <a:pt x="699" y="887"/>
                  <a:pt x="699" y="889"/>
                </a:cubicBezTo>
                <a:cubicBezTo>
                  <a:pt x="699" y="1082"/>
                  <a:pt x="542" y="1239"/>
                  <a:pt x="349" y="1239"/>
                </a:cubicBezTo>
                <a:cubicBezTo>
                  <a:pt x="156" y="1239"/>
                  <a:pt x="0" y="1082"/>
                  <a:pt x="0" y="889"/>
                </a:cubicBezTo>
                <a:cubicBezTo>
                  <a:pt x="0" y="734"/>
                  <a:pt x="100" y="603"/>
                  <a:pt x="240" y="557"/>
                </a:cubicBezTo>
                <a:cubicBezTo>
                  <a:pt x="545" y="450"/>
                  <a:pt x="624" y="347"/>
                  <a:pt x="624" y="39"/>
                </a:cubicBezTo>
                <a:cubicBezTo>
                  <a:pt x="624" y="27"/>
                  <a:pt x="624" y="13"/>
                  <a:pt x="624" y="0"/>
                </a:cubicBezTo>
                <a:cubicBezTo>
                  <a:pt x="628" y="190"/>
                  <a:pt x="783" y="343"/>
                  <a:pt x="974" y="343"/>
                </a:cubicBezTo>
                <a:cubicBezTo>
                  <a:pt x="1012" y="343"/>
                  <a:pt x="1048" y="337"/>
                  <a:pt x="1083" y="325"/>
                </a:cubicBezTo>
                <a:cubicBezTo>
                  <a:pt x="766" y="436"/>
                  <a:pt x="692" y="544"/>
                  <a:pt x="699" y="882"/>
                </a:cubicBezTo>
                <a:close/>
              </a:path>
            </a:pathLst>
          </a:custGeom>
          <a:solidFill>
            <a:srgbClr val="004380"/>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2833" b="0" i="0" u="sng"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39" name="Freeform 29">
            <a:extLst>
              <a:ext uri="{FF2B5EF4-FFF2-40B4-BE49-F238E27FC236}">
                <a16:creationId xmlns:a16="http://schemas.microsoft.com/office/drawing/2014/main" id="{FE812CCD-10C2-E9A6-7CEB-412B1FF41347}"/>
              </a:ext>
            </a:extLst>
          </p:cNvPr>
          <p:cNvSpPr>
            <a:spLocks/>
          </p:cNvSpPr>
          <p:nvPr/>
        </p:nvSpPr>
        <p:spPr bwMode="auto">
          <a:xfrm rot="3364177">
            <a:off x="5498002" y="175508"/>
            <a:ext cx="3285724" cy="3751752"/>
          </a:xfrm>
          <a:custGeom>
            <a:avLst/>
            <a:gdLst>
              <a:gd name="T0" fmla="*/ 699 w 1083"/>
              <a:gd name="T1" fmla="*/ 882 h 1239"/>
              <a:gd name="T2" fmla="*/ 699 w 1083"/>
              <a:gd name="T3" fmla="*/ 889 h 1239"/>
              <a:gd name="T4" fmla="*/ 349 w 1083"/>
              <a:gd name="T5" fmla="*/ 1239 h 1239"/>
              <a:gd name="T6" fmla="*/ 0 w 1083"/>
              <a:gd name="T7" fmla="*/ 889 h 1239"/>
              <a:gd name="T8" fmla="*/ 240 w 1083"/>
              <a:gd name="T9" fmla="*/ 557 h 1239"/>
              <a:gd name="T10" fmla="*/ 624 w 1083"/>
              <a:gd name="T11" fmla="*/ 39 h 1239"/>
              <a:gd name="T12" fmla="*/ 624 w 1083"/>
              <a:gd name="T13" fmla="*/ 0 h 1239"/>
              <a:gd name="T14" fmla="*/ 974 w 1083"/>
              <a:gd name="T15" fmla="*/ 343 h 1239"/>
              <a:gd name="T16" fmla="*/ 1083 w 1083"/>
              <a:gd name="T17" fmla="*/ 325 h 1239"/>
              <a:gd name="T18" fmla="*/ 699 w 1083"/>
              <a:gd name="T19" fmla="*/ 882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3" h="1239">
                <a:moveTo>
                  <a:pt x="699" y="882"/>
                </a:moveTo>
                <a:cubicBezTo>
                  <a:pt x="699" y="885"/>
                  <a:pt x="699" y="887"/>
                  <a:pt x="699" y="889"/>
                </a:cubicBezTo>
                <a:cubicBezTo>
                  <a:pt x="699" y="1082"/>
                  <a:pt x="542" y="1239"/>
                  <a:pt x="349" y="1239"/>
                </a:cubicBezTo>
                <a:cubicBezTo>
                  <a:pt x="156" y="1239"/>
                  <a:pt x="0" y="1082"/>
                  <a:pt x="0" y="889"/>
                </a:cubicBezTo>
                <a:cubicBezTo>
                  <a:pt x="0" y="734"/>
                  <a:pt x="100" y="603"/>
                  <a:pt x="240" y="557"/>
                </a:cubicBezTo>
                <a:cubicBezTo>
                  <a:pt x="545" y="450"/>
                  <a:pt x="624" y="347"/>
                  <a:pt x="624" y="39"/>
                </a:cubicBezTo>
                <a:cubicBezTo>
                  <a:pt x="624" y="27"/>
                  <a:pt x="624" y="13"/>
                  <a:pt x="624" y="0"/>
                </a:cubicBezTo>
                <a:cubicBezTo>
                  <a:pt x="628" y="190"/>
                  <a:pt x="783" y="343"/>
                  <a:pt x="974" y="343"/>
                </a:cubicBezTo>
                <a:cubicBezTo>
                  <a:pt x="1012" y="343"/>
                  <a:pt x="1048" y="337"/>
                  <a:pt x="1083" y="325"/>
                </a:cubicBezTo>
                <a:cubicBezTo>
                  <a:pt x="766" y="436"/>
                  <a:pt x="692" y="544"/>
                  <a:pt x="699" y="88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endParaRPr lang="en-IN" sz="2833" u="sng">
              <a:solidFill>
                <a:srgbClr val="000000"/>
              </a:solidFill>
              <a:latin typeface="Arial" pitchFamily="34" charset="0"/>
              <a:ea typeface="MS PGothic" pitchFamily="34" charset="-128"/>
            </a:endParaRPr>
          </a:p>
        </p:txBody>
      </p:sp>
      <p:sp>
        <p:nvSpPr>
          <p:cNvPr id="67" name="TextBox 66">
            <a:extLst>
              <a:ext uri="{FF2B5EF4-FFF2-40B4-BE49-F238E27FC236}">
                <a16:creationId xmlns:a16="http://schemas.microsoft.com/office/drawing/2014/main" id="{0524326A-031C-A53B-8CB1-D7BBED020AEE}"/>
              </a:ext>
            </a:extLst>
          </p:cNvPr>
          <p:cNvSpPr txBox="1"/>
          <p:nvPr/>
        </p:nvSpPr>
        <p:spPr>
          <a:xfrm>
            <a:off x="639947" y="5870490"/>
            <a:ext cx="10919479" cy="408623"/>
          </a:xfrm>
          <a:prstGeom prst="roundRect">
            <a:avLst>
              <a:gd name="adj" fmla="val 0"/>
            </a:avLst>
          </a:prstGeom>
          <a:solidFill>
            <a:schemeClr val="accent1"/>
          </a:solidFill>
        </p:spPr>
        <p:txBody>
          <a:bodyPr wrap="square" rtlCol="0">
            <a:spAutoFit/>
          </a:bodyPr>
          <a:lstStyle/>
          <a:p>
            <a:endParaRPr lang="en-US">
              <a:latin typeface="Calibiri"/>
            </a:endParaRPr>
          </a:p>
        </p:txBody>
      </p:sp>
      <p:sp>
        <p:nvSpPr>
          <p:cNvPr id="68" name="Rectangle 67">
            <a:extLst>
              <a:ext uri="{FF2B5EF4-FFF2-40B4-BE49-F238E27FC236}">
                <a16:creationId xmlns:a16="http://schemas.microsoft.com/office/drawing/2014/main" id="{FF28A42F-2FBA-36BA-22FF-815D3BB606F4}"/>
              </a:ext>
            </a:extLst>
          </p:cNvPr>
          <p:cNvSpPr/>
          <p:nvPr/>
        </p:nvSpPr>
        <p:spPr>
          <a:xfrm>
            <a:off x="1345355" y="5977852"/>
            <a:ext cx="1944441" cy="193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defTabSz="1218072" fontAlgn="base">
              <a:lnSpc>
                <a:spcPct val="90000"/>
              </a:lnSpc>
              <a:spcBef>
                <a:spcPct val="0"/>
              </a:spcBef>
              <a:spcAft>
                <a:spcPts val="300"/>
              </a:spcAft>
              <a:defRPr/>
            </a:pPr>
            <a:r>
              <a:rPr lang="en-US" sz="1400" b="1">
                <a:solidFill>
                  <a:schemeClr val="bg1"/>
                </a:solidFill>
                <a:latin typeface="Manrope" pitchFamily="2" charset="0"/>
                <a:ea typeface="+mj-ea"/>
                <a:cs typeface="Segoe UI" panose="020B0502040204020203" pitchFamily="34" charset="0"/>
              </a:rPr>
              <a:t>Certified Consultants</a:t>
            </a:r>
          </a:p>
        </p:txBody>
      </p:sp>
      <p:sp>
        <p:nvSpPr>
          <p:cNvPr id="69" name="Rectangle 68">
            <a:extLst>
              <a:ext uri="{FF2B5EF4-FFF2-40B4-BE49-F238E27FC236}">
                <a16:creationId xmlns:a16="http://schemas.microsoft.com/office/drawing/2014/main" id="{A127C60E-6D38-B875-265D-DA36E5E04249}"/>
              </a:ext>
            </a:extLst>
          </p:cNvPr>
          <p:cNvSpPr/>
          <p:nvPr/>
        </p:nvSpPr>
        <p:spPr>
          <a:xfrm>
            <a:off x="5712504" y="5977852"/>
            <a:ext cx="1380186" cy="193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218072" fontAlgn="base">
              <a:lnSpc>
                <a:spcPct val="90000"/>
              </a:lnSpc>
              <a:spcBef>
                <a:spcPct val="0"/>
              </a:spcBef>
              <a:spcAft>
                <a:spcPts val="300"/>
              </a:spcAft>
              <a:defRPr/>
            </a:pPr>
            <a:r>
              <a:rPr lang="en-US" sz="1400" b="1">
                <a:solidFill>
                  <a:schemeClr val="bg1"/>
                </a:solidFill>
                <a:latin typeface="Manrope" pitchFamily="2" charset="0"/>
                <a:ea typeface="+mj-ea"/>
                <a:cs typeface="Segoe UI" panose="020B0502040204020203" pitchFamily="34" charset="0"/>
              </a:rPr>
              <a:t>Periodic Review</a:t>
            </a:r>
          </a:p>
        </p:txBody>
      </p:sp>
      <p:sp>
        <p:nvSpPr>
          <p:cNvPr id="71" name="Rectangle 70">
            <a:extLst>
              <a:ext uri="{FF2B5EF4-FFF2-40B4-BE49-F238E27FC236}">
                <a16:creationId xmlns:a16="http://schemas.microsoft.com/office/drawing/2014/main" id="{15FA21FB-18AF-2100-2FAD-C8DDA619722F}"/>
              </a:ext>
            </a:extLst>
          </p:cNvPr>
          <p:cNvSpPr/>
          <p:nvPr/>
        </p:nvSpPr>
        <p:spPr>
          <a:xfrm>
            <a:off x="9515398" y="5977852"/>
            <a:ext cx="1372171" cy="193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218072" fontAlgn="base">
              <a:lnSpc>
                <a:spcPct val="90000"/>
              </a:lnSpc>
              <a:spcBef>
                <a:spcPct val="0"/>
              </a:spcBef>
              <a:spcAft>
                <a:spcPts val="300"/>
              </a:spcAft>
              <a:defRPr/>
            </a:pPr>
            <a:r>
              <a:rPr lang="en-US" sz="1400" b="1">
                <a:solidFill>
                  <a:schemeClr val="bg1"/>
                </a:solidFill>
                <a:latin typeface="Manrope" pitchFamily="2" charset="0"/>
                <a:ea typeface="+mj-ea"/>
                <a:cs typeface="Segoe UI" panose="020B0502040204020203" pitchFamily="34" charset="0"/>
              </a:rPr>
              <a:t>Process &amp; Tools</a:t>
            </a:r>
          </a:p>
        </p:txBody>
      </p:sp>
      <p:cxnSp>
        <p:nvCxnSpPr>
          <p:cNvPr id="72" name="Straight Connector 71">
            <a:extLst>
              <a:ext uri="{FF2B5EF4-FFF2-40B4-BE49-F238E27FC236}">
                <a16:creationId xmlns:a16="http://schemas.microsoft.com/office/drawing/2014/main" id="{46240225-ADC2-9C91-FD8A-7C93D403097B}"/>
              </a:ext>
            </a:extLst>
          </p:cNvPr>
          <p:cNvCxnSpPr>
            <a:cxnSpLocks/>
          </p:cNvCxnSpPr>
          <p:nvPr/>
        </p:nvCxnSpPr>
        <p:spPr>
          <a:xfrm>
            <a:off x="4501150" y="5941451"/>
            <a:ext cx="0" cy="266700"/>
          </a:xfrm>
          <a:prstGeom prst="line">
            <a:avLst/>
          </a:prstGeom>
          <a:ln w="952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DA1B425-D09A-113C-5E5D-ECDEEEB3F361}"/>
              </a:ext>
            </a:extLst>
          </p:cNvPr>
          <p:cNvCxnSpPr>
            <a:cxnSpLocks/>
          </p:cNvCxnSpPr>
          <p:nvPr/>
        </p:nvCxnSpPr>
        <p:spPr>
          <a:xfrm>
            <a:off x="8304044" y="5941451"/>
            <a:ext cx="0" cy="266700"/>
          </a:xfrm>
          <a:prstGeom prst="line">
            <a:avLst/>
          </a:prstGeom>
          <a:ln w="9525"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108" name="Oval 32">
            <a:extLst>
              <a:ext uri="{FF2B5EF4-FFF2-40B4-BE49-F238E27FC236}">
                <a16:creationId xmlns:a16="http://schemas.microsoft.com/office/drawing/2014/main" id="{B21BB1B5-F3C1-F00C-1476-448A4C3B979D}"/>
              </a:ext>
            </a:extLst>
          </p:cNvPr>
          <p:cNvSpPr>
            <a:spLocks noChangeArrowheads="1"/>
          </p:cNvSpPr>
          <p:nvPr/>
        </p:nvSpPr>
        <p:spPr bwMode="auto">
          <a:xfrm>
            <a:off x="8339087" y="967912"/>
            <a:ext cx="2122792" cy="21194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2833"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109" name="Oval 108">
            <a:extLst>
              <a:ext uri="{FF2B5EF4-FFF2-40B4-BE49-F238E27FC236}">
                <a16:creationId xmlns:a16="http://schemas.microsoft.com/office/drawing/2014/main" id="{053A113D-B208-8858-5877-FC336A0C795A}"/>
              </a:ext>
            </a:extLst>
          </p:cNvPr>
          <p:cNvSpPr/>
          <p:nvPr/>
        </p:nvSpPr>
        <p:spPr bwMode="auto">
          <a:xfrm>
            <a:off x="8475428" y="1113412"/>
            <a:ext cx="1829142" cy="1829141"/>
          </a:xfrm>
          <a:prstGeom prst="ellipse">
            <a:avLst/>
          </a:prstGeom>
          <a:gradFill flip="none" rotWithShape="1">
            <a:gsLst>
              <a:gs pos="0">
                <a:schemeClr val="bg1">
                  <a:lumMod val="95000"/>
                </a:schemeClr>
              </a:gs>
              <a:gs pos="100000">
                <a:schemeClr val="bg1"/>
              </a:gs>
            </a:gsLst>
            <a:lin ang="16200000" scaled="1"/>
            <a:tileRect/>
          </a:gradFill>
          <a:ln w="9525" cap="flat" cmpd="sng" algn="ctr">
            <a:noFill/>
            <a:prstDash val="solid"/>
            <a:miter lim="800000"/>
            <a:headEnd type="none" w="sm" len="sm"/>
            <a:tailEnd type="triangle" w="med" len="med"/>
          </a:ln>
          <a:effectLst>
            <a:outerShdw blurRad="63500" sx="102000" sy="102000" algn="ctr" rotWithShape="0">
              <a:prstClr val="black">
                <a:alpha val="40000"/>
              </a:prstClr>
            </a:outerShdw>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a:ln>
                <a:noFill/>
              </a:ln>
              <a:solidFill>
                <a:srgbClr val="000000">
                  <a:lumMod val="75000"/>
                  <a:lumOff val="25000"/>
                </a:srgbClr>
              </a:solidFill>
              <a:effectLst/>
              <a:uLnTx/>
              <a:uFillTx/>
              <a:latin typeface="Calibri" panose="020F0502020204030204" pitchFamily="34" charset="0"/>
              <a:ea typeface="MS PGothic" pitchFamily="34" charset="-128"/>
              <a:cs typeface="+mn-cs"/>
            </a:endParaRPr>
          </a:p>
        </p:txBody>
      </p:sp>
      <p:sp>
        <p:nvSpPr>
          <p:cNvPr id="110" name="Oval 109">
            <a:extLst>
              <a:ext uri="{FF2B5EF4-FFF2-40B4-BE49-F238E27FC236}">
                <a16:creationId xmlns:a16="http://schemas.microsoft.com/office/drawing/2014/main" id="{64F83542-7E8C-1753-EDB9-DD477EF43D9C}"/>
              </a:ext>
            </a:extLst>
          </p:cNvPr>
          <p:cNvSpPr/>
          <p:nvPr/>
        </p:nvSpPr>
        <p:spPr bwMode="auto">
          <a:xfrm>
            <a:off x="1987574" y="1114688"/>
            <a:ext cx="1826586" cy="1826584"/>
          </a:xfrm>
          <a:prstGeom prst="ellipse">
            <a:avLst/>
          </a:prstGeom>
          <a:gradFill flip="none" rotWithShape="1">
            <a:gsLst>
              <a:gs pos="0">
                <a:schemeClr val="bg1">
                  <a:lumMod val="95000"/>
                </a:schemeClr>
              </a:gs>
              <a:gs pos="100000">
                <a:schemeClr val="bg1"/>
              </a:gs>
            </a:gsLst>
            <a:lin ang="16200000" scaled="1"/>
            <a:tileRect/>
          </a:gradFill>
          <a:ln w="9525" cap="flat" cmpd="sng" algn="ctr">
            <a:noFill/>
            <a:prstDash val="solid"/>
            <a:miter lim="800000"/>
            <a:headEnd type="none" w="sm" len="sm"/>
            <a:tailEnd type="triangle" w="med" len="med"/>
          </a:ln>
          <a:effectLst>
            <a:outerShdw blurRad="63500" sx="102000" sy="102000" algn="ctr" rotWithShape="0">
              <a:prstClr val="black">
                <a:alpha val="40000"/>
              </a:prstClr>
            </a:outerShdw>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a:ln>
                <a:noFill/>
              </a:ln>
              <a:solidFill>
                <a:srgbClr val="000000">
                  <a:lumMod val="75000"/>
                  <a:lumOff val="25000"/>
                </a:srgbClr>
              </a:solidFill>
              <a:effectLst/>
              <a:uLnTx/>
              <a:uFillTx/>
              <a:latin typeface="Calibri" panose="020F0502020204030204" pitchFamily="34" charset="0"/>
              <a:ea typeface="MS PGothic" pitchFamily="34" charset="-128"/>
              <a:cs typeface="+mn-cs"/>
            </a:endParaRPr>
          </a:p>
        </p:txBody>
      </p:sp>
      <p:sp>
        <p:nvSpPr>
          <p:cNvPr id="111" name="Oval 110">
            <a:extLst>
              <a:ext uri="{FF2B5EF4-FFF2-40B4-BE49-F238E27FC236}">
                <a16:creationId xmlns:a16="http://schemas.microsoft.com/office/drawing/2014/main" id="{E5502953-74A8-516E-7E25-AC8BDEAD180A}"/>
              </a:ext>
            </a:extLst>
          </p:cNvPr>
          <p:cNvSpPr/>
          <p:nvPr/>
        </p:nvSpPr>
        <p:spPr bwMode="auto">
          <a:xfrm>
            <a:off x="5231497" y="1114688"/>
            <a:ext cx="1826586" cy="1826584"/>
          </a:xfrm>
          <a:prstGeom prst="ellipse">
            <a:avLst/>
          </a:prstGeom>
          <a:gradFill flip="none" rotWithShape="1">
            <a:gsLst>
              <a:gs pos="0">
                <a:schemeClr val="bg1">
                  <a:lumMod val="95000"/>
                </a:schemeClr>
              </a:gs>
              <a:gs pos="100000">
                <a:schemeClr val="bg1"/>
              </a:gs>
            </a:gsLst>
            <a:lin ang="16200000" scaled="1"/>
            <a:tileRect/>
          </a:gradFill>
          <a:ln w="9525" cap="flat" cmpd="sng" algn="ctr">
            <a:noFill/>
            <a:prstDash val="solid"/>
            <a:miter lim="800000"/>
            <a:headEnd type="none" w="sm" len="sm"/>
            <a:tailEnd type="triangle" w="med" len="med"/>
          </a:ln>
          <a:effectLst>
            <a:outerShdw blurRad="63500" sx="102000" sy="102000" algn="ctr" rotWithShape="0">
              <a:prstClr val="black">
                <a:alpha val="40000"/>
              </a:prstClr>
            </a:outerShdw>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a:ln>
                <a:noFill/>
              </a:ln>
              <a:solidFill>
                <a:srgbClr val="000000">
                  <a:lumMod val="75000"/>
                  <a:lumOff val="25000"/>
                </a:srgbClr>
              </a:solidFill>
              <a:effectLst/>
              <a:uLnTx/>
              <a:uFillTx/>
              <a:latin typeface="Calibri" panose="020F0502020204030204" pitchFamily="34" charset="0"/>
              <a:ea typeface="MS PGothic" pitchFamily="34" charset="-128"/>
              <a:cs typeface="+mn-cs"/>
            </a:endParaRPr>
          </a:p>
        </p:txBody>
      </p:sp>
      <p:grpSp>
        <p:nvGrpSpPr>
          <p:cNvPr id="112" name="Group 111">
            <a:extLst>
              <a:ext uri="{FF2B5EF4-FFF2-40B4-BE49-F238E27FC236}">
                <a16:creationId xmlns:a16="http://schemas.microsoft.com/office/drawing/2014/main" id="{768C4E4A-1909-39A8-DB0C-6FD4928E813D}"/>
              </a:ext>
            </a:extLst>
          </p:cNvPr>
          <p:cNvGrpSpPr/>
          <p:nvPr/>
        </p:nvGrpSpPr>
        <p:grpSpPr>
          <a:xfrm>
            <a:off x="4259524" y="1855677"/>
            <a:ext cx="526610" cy="344608"/>
            <a:chOff x="3580577" y="1913900"/>
            <a:chExt cx="314080" cy="205532"/>
          </a:xfrm>
          <a:solidFill>
            <a:srgbClr val="FFFFFF"/>
          </a:solidFill>
        </p:grpSpPr>
        <p:sp>
          <p:nvSpPr>
            <p:cNvPr id="113" name="Chevron 118">
              <a:extLst>
                <a:ext uri="{FF2B5EF4-FFF2-40B4-BE49-F238E27FC236}">
                  <a16:creationId xmlns:a16="http://schemas.microsoft.com/office/drawing/2014/main" id="{DEE105EB-EC2D-5757-32B5-0A2857AD25A1}"/>
                </a:ext>
              </a:extLst>
            </p:cNvPr>
            <p:cNvSpPr/>
            <p:nvPr/>
          </p:nvSpPr>
          <p:spPr bwMode="auto">
            <a:xfrm>
              <a:off x="3724796" y="1913900"/>
              <a:ext cx="169861" cy="205532"/>
            </a:xfrm>
            <a:prstGeom prst="chevron">
              <a:avLst/>
            </a:prstGeom>
            <a:grpFill/>
            <a:ln w="3175" cap="flat" cmpd="sng" algn="ctr">
              <a:noFill/>
              <a:prstDash val="solid"/>
              <a:miter lim="800000"/>
              <a:headEnd type="none" w="sm" len="sm"/>
              <a:tailEnd type="triangl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600" b="0" i="0" u="none" strike="noStrike" kern="1200" cap="none" spc="0" normalizeH="0" baseline="0" noProof="0">
                <a:ln>
                  <a:noFill/>
                </a:ln>
                <a:solidFill>
                  <a:srgbClr val="000000"/>
                </a:solidFill>
                <a:effectLst/>
                <a:uLnTx/>
                <a:uFillTx/>
                <a:latin typeface="Arial" charset="0"/>
                <a:ea typeface="MS PGothic" pitchFamily="34" charset="-128"/>
                <a:cs typeface="+mn-cs"/>
              </a:endParaRPr>
            </a:p>
          </p:txBody>
        </p:sp>
        <p:sp>
          <p:nvSpPr>
            <p:cNvPr id="114" name="Chevron 119">
              <a:extLst>
                <a:ext uri="{FF2B5EF4-FFF2-40B4-BE49-F238E27FC236}">
                  <a16:creationId xmlns:a16="http://schemas.microsoft.com/office/drawing/2014/main" id="{2AD968C0-9F89-865D-336B-E21F3EF1248E}"/>
                </a:ext>
              </a:extLst>
            </p:cNvPr>
            <p:cNvSpPr/>
            <p:nvPr/>
          </p:nvSpPr>
          <p:spPr bwMode="auto">
            <a:xfrm>
              <a:off x="3580577" y="1913900"/>
              <a:ext cx="169861" cy="205532"/>
            </a:xfrm>
            <a:prstGeom prst="chevron">
              <a:avLst/>
            </a:prstGeom>
            <a:solidFill>
              <a:srgbClr val="FFFFFF">
                <a:alpha val="79000"/>
              </a:srgbClr>
            </a:solidFill>
            <a:ln w="3175" cap="flat" cmpd="sng" algn="ctr">
              <a:noFill/>
              <a:prstDash val="solid"/>
              <a:miter lim="800000"/>
              <a:headEnd type="none" w="sm" len="sm"/>
              <a:tailEnd type="triangl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600" b="0" i="0" u="none" strike="noStrike" kern="1200" cap="none" spc="0" normalizeH="0" baseline="0" noProof="0">
                <a:ln>
                  <a:noFill/>
                </a:ln>
                <a:solidFill>
                  <a:srgbClr val="000000"/>
                </a:solidFill>
                <a:effectLst/>
                <a:uLnTx/>
                <a:uFillTx/>
                <a:latin typeface="Arial" charset="0"/>
                <a:ea typeface="MS PGothic" pitchFamily="34" charset="-128"/>
                <a:cs typeface="+mn-cs"/>
              </a:endParaRPr>
            </a:p>
          </p:txBody>
        </p:sp>
      </p:grpSp>
      <p:grpSp>
        <p:nvGrpSpPr>
          <p:cNvPr id="115" name="Group 114">
            <a:extLst>
              <a:ext uri="{FF2B5EF4-FFF2-40B4-BE49-F238E27FC236}">
                <a16:creationId xmlns:a16="http://schemas.microsoft.com/office/drawing/2014/main" id="{929410B8-84ED-C14E-DFCC-A4F1057B3EF9}"/>
              </a:ext>
            </a:extLst>
          </p:cNvPr>
          <p:cNvGrpSpPr/>
          <p:nvPr/>
        </p:nvGrpSpPr>
        <p:grpSpPr>
          <a:xfrm>
            <a:off x="7503448" y="1855677"/>
            <a:ext cx="526610" cy="344608"/>
            <a:chOff x="3580577" y="1913900"/>
            <a:chExt cx="314080" cy="205532"/>
          </a:xfrm>
          <a:solidFill>
            <a:srgbClr val="FFFFFF"/>
          </a:solidFill>
        </p:grpSpPr>
        <p:sp>
          <p:nvSpPr>
            <p:cNvPr id="116" name="Chevron 121">
              <a:extLst>
                <a:ext uri="{FF2B5EF4-FFF2-40B4-BE49-F238E27FC236}">
                  <a16:creationId xmlns:a16="http://schemas.microsoft.com/office/drawing/2014/main" id="{36CA3A64-9BB8-EA3F-5B91-CBF513F2E3F7}"/>
                </a:ext>
              </a:extLst>
            </p:cNvPr>
            <p:cNvSpPr/>
            <p:nvPr/>
          </p:nvSpPr>
          <p:spPr bwMode="auto">
            <a:xfrm>
              <a:off x="3724796" y="1913900"/>
              <a:ext cx="169861" cy="205532"/>
            </a:xfrm>
            <a:prstGeom prst="chevron">
              <a:avLst/>
            </a:prstGeom>
            <a:grpFill/>
            <a:ln w="3175" cap="flat" cmpd="sng" algn="ctr">
              <a:noFill/>
              <a:prstDash val="solid"/>
              <a:miter lim="800000"/>
              <a:headEnd type="none" w="sm" len="sm"/>
              <a:tailEnd type="triangl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600" b="0" i="0" u="none" strike="noStrike" kern="1200" cap="none" spc="0" normalizeH="0" baseline="0" noProof="0">
                <a:ln>
                  <a:noFill/>
                </a:ln>
                <a:solidFill>
                  <a:srgbClr val="000000"/>
                </a:solidFill>
                <a:effectLst/>
                <a:uLnTx/>
                <a:uFillTx/>
                <a:latin typeface="Arial" charset="0"/>
                <a:ea typeface="MS PGothic" pitchFamily="34" charset="-128"/>
                <a:cs typeface="+mn-cs"/>
              </a:endParaRPr>
            </a:p>
          </p:txBody>
        </p:sp>
        <p:sp>
          <p:nvSpPr>
            <p:cNvPr id="117" name="Chevron 122">
              <a:extLst>
                <a:ext uri="{FF2B5EF4-FFF2-40B4-BE49-F238E27FC236}">
                  <a16:creationId xmlns:a16="http://schemas.microsoft.com/office/drawing/2014/main" id="{0335C8B6-4FB9-B68D-147F-FA110C036032}"/>
                </a:ext>
              </a:extLst>
            </p:cNvPr>
            <p:cNvSpPr/>
            <p:nvPr/>
          </p:nvSpPr>
          <p:spPr bwMode="auto">
            <a:xfrm>
              <a:off x="3580577" y="1913900"/>
              <a:ext cx="169861" cy="205532"/>
            </a:xfrm>
            <a:prstGeom prst="chevron">
              <a:avLst/>
            </a:prstGeom>
            <a:solidFill>
              <a:srgbClr val="FFFFFF">
                <a:alpha val="79000"/>
              </a:srgbClr>
            </a:solidFill>
            <a:ln w="3175" cap="flat" cmpd="sng" algn="ctr">
              <a:noFill/>
              <a:prstDash val="solid"/>
              <a:miter lim="800000"/>
              <a:headEnd type="none" w="sm" len="sm"/>
              <a:tailEnd type="triangl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600" b="0" i="0" u="none" strike="noStrike" kern="1200" cap="none" spc="0" normalizeH="0" baseline="0" noProof="0">
                <a:ln>
                  <a:noFill/>
                </a:ln>
                <a:solidFill>
                  <a:srgbClr val="000000"/>
                </a:solidFill>
                <a:effectLst/>
                <a:uLnTx/>
                <a:uFillTx/>
                <a:latin typeface="Arial" charset="0"/>
                <a:ea typeface="MS PGothic" pitchFamily="34" charset="-128"/>
                <a:cs typeface="+mn-cs"/>
              </a:endParaRPr>
            </a:p>
          </p:txBody>
        </p:sp>
      </p:grpSp>
      <p:grpSp>
        <p:nvGrpSpPr>
          <p:cNvPr id="118" name="Group 117">
            <a:extLst>
              <a:ext uri="{FF2B5EF4-FFF2-40B4-BE49-F238E27FC236}">
                <a16:creationId xmlns:a16="http://schemas.microsoft.com/office/drawing/2014/main" id="{ED272941-0C6A-F7A6-890D-E54443EA93C3}"/>
              </a:ext>
            </a:extLst>
          </p:cNvPr>
          <p:cNvGrpSpPr/>
          <p:nvPr/>
        </p:nvGrpSpPr>
        <p:grpSpPr>
          <a:xfrm>
            <a:off x="2581649" y="1708762"/>
            <a:ext cx="638436" cy="638436"/>
            <a:chOff x="10310813" y="1103313"/>
            <a:chExt cx="611187" cy="611187"/>
          </a:xfrm>
          <a:solidFill>
            <a:srgbClr val="262626"/>
          </a:solidFill>
        </p:grpSpPr>
        <p:sp>
          <p:nvSpPr>
            <p:cNvPr id="119" name="Freeform 5">
              <a:extLst>
                <a:ext uri="{FF2B5EF4-FFF2-40B4-BE49-F238E27FC236}">
                  <a16:creationId xmlns:a16="http://schemas.microsoft.com/office/drawing/2014/main" id="{10BA7423-4D1B-FF71-4E02-59F211A191DE}"/>
                </a:ext>
              </a:extLst>
            </p:cNvPr>
            <p:cNvSpPr>
              <a:spLocks/>
            </p:cNvSpPr>
            <p:nvPr/>
          </p:nvSpPr>
          <p:spPr bwMode="auto">
            <a:xfrm>
              <a:off x="10348913" y="1141413"/>
              <a:ext cx="215900" cy="214312"/>
            </a:xfrm>
            <a:custGeom>
              <a:avLst/>
              <a:gdLst>
                <a:gd name="T0" fmla="*/ 29 w 656"/>
                <a:gd name="T1" fmla="*/ 652 h 652"/>
                <a:gd name="T2" fmla="*/ 36 w 656"/>
                <a:gd name="T3" fmla="*/ 652 h 652"/>
                <a:gd name="T4" fmla="*/ 68 w 656"/>
                <a:gd name="T5" fmla="*/ 628 h 652"/>
                <a:gd name="T6" fmla="*/ 629 w 656"/>
                <a:gd name="T7" fmla="*/ 66 h 652"/>
                <a:gd name="T8" fmla="*/ 652 w 656"/>
                <a:gd name="T9" fmla="*/ 28 h 652"/>
                <a:gd name="T10" fmla="*/ 613 w 656"/>
                <a:gd name="T11" fmla="*/ 4 h 652"/>
                <a:gd name="T12" fmla="*/ 5 w 656"/>
                <a:gd name="T13" fmla="*/ 612 h 652"/>
                <a:gd name="T14" fmla="*/ 27 w 656"/>
                <a:gd name="T15" fmla="*/ 652 h 652"/>
                <a:gd name="T16" fmla="*/ 29 w 656"/>
                <a:gd name="T17" fmla="*/ 65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6" h="652">
                  <a:moveTo>
                    <a:pt x="29" y="652"/>
                  </a:moveTo>
                  <a:cubicBezTo>
                    <a:pt x="31" y="652"/>
                    <a:pt x="34" y="652"/>
                    <a:pt x="36" y="652"/>
                  </a:cubicBezTo>
                  <a:cubicBezTo>
                    <a:pt x="51" y="652"/>
                    <a:pt x="65" y="642"/>
                    <a:pt x="68" y="628"/>
                  </a:cubicBezTo>
                  <a:cubicBezTo>
                    <a:pt x="136" y="351"/>
                    <a:pt x="352" y="134"/>
                    <a:pt x="629" y="66"/>
                  </a:cubicBezTo>
                  <a:cubicBezTo>
                    <a:pt x="646" y="62"/>
                    <a:pt x="656" y="45"/>
                    <a:pt x="652" y="28"/>
                  </a:cubicBezTo>
                  <a:cubicBezTo>
                    <a:pt x="648" y="10"/>
                    <a:pt x="631" y="0"/>
                    <a:pt x="613" y="4"/>
                  </a:cubicBezTo>
                  <a:cubicBezTo>
                    <a:pt x="313" y="78"/>
                    <a:pt x="79" y="312"/>
                    <a:pt x="5" y="612"/>
                  </a:cubicBezTo>
                  <a:cubicBezTo>
                    <a:pt x="0" y="629"/>
                    <a:pt x="10" y="647"/>
                    <a:pt x="27" y="652"/>
                  </a:cubicBezTo>
                  <a:cubicBezTo>
                    <a:pt x="28" y="652"/>
                    <a:pt x="28" y="652"/>
                    <a:pt x="29" y="6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0" name="Freeform 6">
              <a:extLst>
                <a:ext uri="{FF2B5EF4-FFF2-40B4-BE49-F238E27FC236}">
                  <a16:creationId xmlns:a16="http://schemas.microsoft.com/office/drawing/2014/main" id="{8D0644ED-9CAF-C3A9-2418-A9003F154897}"/>
                </a:ext>
              </a:extLst>
            </p:cNvPr>
            <p:cNvSpPr>
              <a:spLocks/>
            </p:cNvSpPr>
            <p:nvPr/>
          </p:nvSpPr>
          <p:spPr bwMode="auto">
            <a:xfrm>
              <a:off x="10348913" y="1460500"/>
              <a:ext cx="215900" cy="214312"/>
            </a:xfrm>
            <a:custGeom>
              <a:avLst/>
              <a:gdLst>
                <a:gd name="T0" fmla="*/ 628 w 655"/>
                <a:gd name="T1" fmla="*/ 589 h 651"/>
                <a:gd name="T2" fmla="*/ 66 w 655"/>
                <a:gd name="T3" fmla="*/ 27 h 651"/>
                <a:gd name="T4" fmla="*/ 28 w 655"/>
                <a:gd name="T5" fmla="*/ 4 h 651"/>
                <a:gd name="T6" fmla="*/ 4 w 655"/>
                <a:gd name="T7" fmla="*/ 43 h 651"/>
                <a:gd name="T8" fmla="*/ 612 w 655"/>
                <a:gd name="T9" fmla="*/ 651 h 651"/>
                <a:gd name="T10" fmla="*/ 620 w 655"/>
                <a:gd name="T11" fmla="*/ 651 h 651"/>
                <a:gd name="T12" fmla="*/ 652 w 655"/>
                <a:gd name="T13" fmla="*/ 626 h 651"/>
                <a:gd name="T14" fmla="*/ 628 w 655"/>
                <a:gd name="T15" fmla="*/ 589 h 6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5" h="651">
                  <a:moveTo>
                    <a:pt x="628" y="589"/>
                  </a:moveTo>
                  <a:cubicBezTo>
                    <a:pt x="351" y="521"/>
                    <a:pt x="134" y="304"/>
                    <a:pt x="66" y="27"/>
                  </a:cubicBezTo>
                  <a:cubicBezTo>
                    <a:pt x="62" y="10"/>
                    <a:pt x="45" y="0"/>
                    <a:pt x="28" y="4"/>
                  </a:cubicBezTo>
                  <a:cubicBezTo>
                    <a:pt x="10" y="8"/>
                    <a:pt x="0" y="25"/>
                    <a:pt x="4" y="43"/>
                  </a:cubicBezTo>
                  <a:cubicBezTo>
                    <a:pt x="78" y="343"/>
                    <a:pt x="312" y="577"/>
                    <a:pt x="612" y="651"/>
                  </a:cubicBezTo>
                  <a:cubicBezTo>
                    <a:pt x="615" y="651"/>
                    <a:pt x="617" y="651"/>
                    <a:pt x="620" y="651"/>
                  </a:cubicBezTo>
                  <a:cubicBezTo>
                    <a:pt x="635" y="651"/>
                    <a:pt x="648" y="641"/>
                    <a:pt x="652" y="626"/>
                  </a:cubicBezTo>
                  <a:cubicBezTo>
                    <a:pt x="655" y="609"/>
                    <a:pt x="645" y="593"/>
                    <a:pt x="628" y="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1" name="Freeform 7">
              <a:extLst>
                <a:ext uri="{FF2B5EF4-FFF2-40B4-BE49-F238E27FC236}">
                  <a16:creationId xmlns:a16="http://schemas.microsoft.com/office/drawing/2014/main" id="{FF898ECD-0E0D-51B1-C2F3-91F3788F57FA}"/>
                </a:ext>
              </a:extLst>
            </p:cNvPr>
            <p:cNvSpPr>
              <a:spLocks/>
            </p:cNvSpPr>
            <p:nvPr/>
          </p:nvSpPr>
          <p:spPr bwMode="auto">
            <a:xfrm>
              <a:off x="10668000" y="1460500"/>
              <a:ext cx="215900" cy="214312"/>
            </a:xfrm>
            <a:custGeom>
              <a:avLst/>
              <a:gdLst>
                <a:gd name="T0" fmla="*/ 628 w 657"/>
                <a:gd name="T1" fmla="*/ 4 h 653"/>
                <a:gd name="T2" fmla="*/ 590 w 657"/>
                <a:gd name="T3" fmla="*/ 27 h 653"/>
                <a:gd name="T4" fmla="*/ 28 w 657"/>
                <a:gd name="T5" fmla="*/ 590 h 653"/>
                <a:gd name="T6" fmla="*/ 4 w 657"/>
                <a:gd name="T7" fmla="*/ 628 h 653"/>
                <a:gd name="T8" fmla="*/ 4 w 657"/>
                <a:gd name="T9" fmla="*/ 628 h 653"/>
                <a:gd name="T10" fmla="*/ 36 w 657"/>
                <a:gd name="T11" fmla="*/ 653 h 653"/>
                <a:gd name="T12" fmla="*/ 44 w 657"/>
                <a:gd name="T13" fmla="*/ 653 h 653"/>
                <a:gd name="T14" fmla="*/ 652 w 657"/>
                <a:gd name="T15" fmla="*/ 45 h 653"/>
                <a:gd name="T16" fmla="*/ 631 w 657"/>
                <a:gd name="T17" fmla="*/ 5 h 653"/>
                <a:gd name="T18" fmla="*/ 628 w 657"/>
                <a:gd name="T19" fmla="*/ 4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7" h="653">
                  <a:moveTo>
                    <a:pt x="628" y="4"/>
                  </a:moveTo>
                  <a:cubicBezTo>
                    <a:pt x="611" y="0"/>
                    <a:pt x="594" y="10"/>
                    <a:pt x="590" y="27"/>
                  </a:cubicBezTo>
                  <a:cubicBezTo>
                    <a:pt x="522" y="305"/>
                    <a:pt x="306" y="522"/>
                    <a:pt x="28" y="590"/>
                  </a:cubicBezTo>
                  <a:cubicBezTo>
                    <a:pt x="11" y="593"/>
                    <a:pt x="0" y="610"/>
                    <a:pt x="4" y="628"/>
                  </a:cubicBezTo>
                  <a:cubicBezTo>
                    <a:pt x="4" y="628"/>
                    <a:pt x="4" y="628"/>
                    <a:pt x="4" y="628"/>
                  </a:cubicBezTo>
                  <a:cubicBezTo>
                    <a:pt x="7" y="643"/>
                    <a:pt x="21" y="653"/>
                    <a:pt x="36" y="653"/>
                  </a:cubicBezTo>
                  <a:cubicBezTo>
                    <a:pt x="39" y="653"/>
                    <a:pt x="41" y="653"/>
                    <a:pt x="44" y="653"/>
                  </a:cubicBezTo>
                  <a:cubicBezTo>
                    <a:pt x="344" y="579"/>
                    <a:pt x="578" y="345"/>
                    <a:pt x="652" y="45"/>
                  </a:cubicBezTo>
                  <a:cubicBezTo>
                    <a:pt x="657" y="28"/>
                    <a:pt x="648" y="10"/>
                    <a:pt x="631" y="5"/>
                  </a:cubicBezTo>
                  <a:cubicBezTo>
                    <a:pt x="630" y="4"/>
                    <a:pt x="629" y="4"/>
                    <a:pt x="6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2" name="Freeform 8">
              <a:extLst>
                <a:ext uri="{FF2B5EF4-FFF2-40B4-BE49-F238E27FC236}">
                  <a16:creationId xmlns:a16="http://schemas.microsoft.com/office/drawing/2014/main" id="{428F2ECF-83CB-0CB0-78B6-189FF6D2ED81}"/>
                </a:ext>
              </a:extLst>
            </p:cNvPr>
            <p:cNvSpPr>
              <a:spLocks/>
            </p:cNvSpPr>
            <p:nvPr/>
          </p:nvSpPr>
          <p:spPr bwMode="auto">
            <a:xfrm>
              <a:off x="10668000" y="1141413"/>
              <a:ext cx="215900" cy="214312"/>
            </a:xfrm>
            <a:custGeom>
              <a:avLst/>
              <a:gdLst>
                <a:gd name="T0" fmla="*/ 28 w 657"/>
                <a:gd name="T1" fmla="*/ 66 h 652"/>
                <a:gd name="T2" fmla="*/ 590 w 657"/>
                <a:gd name="T3" fmla="*/ 628 h 652"/>
                <a:gd name="T4" fmla="*/ 622 w 657"/>
                <a:gd name="T5" fmla="*/ 652 h 652"/>
                <a:gd name="T6" fmla="*/ 629 w 657"/>
                <a:gd name="T7" fmla="*/ 652 h 652"/>
                <a:gd name="T8" fmla="*/ 653 w 657"/>
                <a:gd name="T9" fmla="*/ 613 h 652"/>
                <a:gd name="T10" fmla="*/ 653 w 657"/>
                <a:gd name="T11" fmla="*/ 613 h 652"/>
                <a:gd name="T12" fmla="*/ 45 w 657"/>
                <a:gd name="T13" fmla="*/ 5 h 652"/>
                <a:gd name="T14" fmla="*/ 5 w 657"/>
                <a:gd name="T15" fmla="*/ 26 h 652"/>
                <a:gd name="T16" fmla="*/ 4 w 657"/>
                <a:gd name="T17" fmla="*/ 27 h 652"/>
                <a:gd name="T18" fmla="*/ 28 w 657"/>
                <a:gd name="T19" fmla="*/ 66 h 652"/>
                <a:gd name="T20" fmla="*/ 28 w 657"/>
                <a:gd name="T21" fmla="*/ 66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7" h="652">
                  <a:moveTo>
                    <a:pt x="28" y="66"/>
                  </a:moveTo>
                  <a:cubicBezTo>
                    <a:pt x="306" y="134"/>
                    <a:pt x="522" y="350"/>
                    <a:pt x="590" y="628"/>
                  </a:cubicBezTo>
                  <a:cubicBezTo>
                    <a:pt x="593" y="642"/>
                    <a:pt x="607" y="652"/>
                    <a:pt x="622" y="652"/>
                  </a:cubicBezTo>
                  <a:cubicBezTo>
                    <a:pt x="624" y="652"/>
                    <a:pt x="627" y="652"/>
                    <a:pt x="629" y="652"/>
                  </a:cubicBezTo>
                  <a:cubicBezTo>
                    <a:pt x="646" y="648"/>
                    <a:pt x="657" y="631"/>
                    <a:pt x="653" y="613"/>
                  </a:cubicBezTo>
                  <a:cubicBezTo>
                    <a:pt x="653" y="613"/>
                    <a:pt x="653" y="613"/>
                    <a:pt x="653" y="613"/>
                  </a:cubicBezTo>
                  <a:cubicBezTo>
                    <a:pt x="579" y="313"/>
                    <a:pt x="345" y="79"/>
                    <a:pt x="45" y="5"/>
                  </a:cubicBezTo>
                  <a:cubicBezTo>
                    <a:pt x="28" y="0"/>
                    <a:pt x="10" y="9"/>
                    <a:pt x="5" y="26"/>
                  </a:cubicBezTo>
                  <a:cubicBezTo>
                    <a:pt x="4" y="26"/>
                    <a:pt x="4" y="27"/>
                    <a:pt x="4" y="27"/>
                  </a:cubicBezTo>
                  <a:cubicBezTo>
                    <a:pt x="0" y="45"/>
                    <a:pt x="10" y="62"/>
                    <a:pt x="28" y="66"/>
                  </a:cubicBezTo>
                  <a:cubicBezTo>
                    <a:pt x="28" y="66"/>
                    <a:pt x="28" y="66"/>
                    <a:pt x="28"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3" name="Freeform 9">
              <a:extLst>
                <a:ext uri="{FF2B5EF4-FFF2-40B4-BE49-F238E27FC236}">
                  <a16:creationId xmlns:a16="http://schemas.microsoft.com/office/drawing/2014/main" id="{1C4C2B77-A99B-FC05-34DC-ABCF0E203A32}"/>
                </a:ext>
              </a:extLst>
            </p:cNvPr>
            <p:cNvSpPr>
              <a:spLocks noEditPoints="1"/>
            </p:cNvSpPr>
            <p:nvPr/>
          </p:nvSpPr>
          <p:spPr bwMode="auto">
            <a:xfrm>
              <a:off x="10574338" y="1103313"/>
              <a:ext cx="84137" cy="84137"/>
            </a:xfrm>
            <a:custGeom>
              <a:avLst/>
              <a:gdLst>
                <a:gd name="T0" fmla="*/ 128 w 256"/>
                <a:gd name="T1" fmla="*/ 256 h 256"/>
                <a:gd name="T2" fmla="*/ 256 w 256"/>
                <a:gd name="T3" fmla="*/ 128 h 256"/>
                <a:gd name="T4" fmla="*/ 128 w 256"/>
                <a:gd name="T5" fmla="*/ 0 h 256"/>
                <a:gd name="T6" fmla="*/ 0 w 256"/>
                <a:gd name="T7" fmla="*/ 128 h 256"/>
                <a:gd name="T8" fmla="*/ 128 w 256"/>
                <a:gd name="T9" fmla="*/ 256 h 256"/>
                <a:gd name="T10" fmla="*/ 128 w 256"/>
                <a:gd name="T11" fmla="*/ 64 h 256"/>
                <a:gd name="T12" fmla="*/ 192 w 256"/>
                <a:gd name="T13" fmla="*/ 128 h 256"/>
                <a:gd name="T14" fmla="*/ 128 w 256"/>
                <a:gd name="T15" fmla="*/ 192 h 256"/>
                <a:gd name="T16" fmla="*/ 64 w 256"/>
                <a:gd name="T17" fmla="*/ 128 h 256"/>
                <a:gd name="T18" fmla="*/ 128 w 256"/>
                <a:gd name="T19"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6">
                  <a:moveTo>
                    <a:pt x="128" y="256"/>
                  </a:moveTo>
                  <a:cubicBezTo>
                    <a:pt x="199" y="256"/>
                    <a:pt x="256" y="199"/>
                    <a:pt x="256" y="128"/>
                  </a:cubicBezTo>
                  <a:cubicBezTo>
                    <a:pt x="256" y="57"/>
                    <a:pt x="199" y="0"/>
                    <a:pt x="128" y="0"/>
                  </a:cubicBezTo>
                  <a:cubicBezTo>
                    <a:pt x="57" y="0"/>
                    <a:pt x="0" y="57"/>
                    <a:pt x="0" y="128"/>
                  </a:cubicBezTo>
                  <a:cubicBezTo>
                    <a:pt x="0" y="199"/>
                    <a:pt x="57" y="256"/>
                    <a:pt x="128" y="256"/>
                  </a:cubicBezTo>
                  <a:close/>
                  <a:moveTo>
                    <a:pt x="128" y="64"/>
                  </a:moveTo>
                  <a:cubicBezTo>
                    <a:pt x="163" y="64"/>
                    <a:pt x="192" y="93"/>
                    <a:pt x="192" y="128"/>
                  </a:cubicBezTo>
                  <a:cubicBezTo>
                    <a:pt x="192" y="163"/>
                    <a:pt x="163" y="192"/>
                    <a:pt x="128" y="192"/>
                  </a:cubicBezTo>
                  <a:cubicBezTo>
                    <a:pt x="93" y="192"/>
                    <a:pt x="64" y="163"/>
                    <a:pt x="64" y="128"/>
                  </a:cubicBezTo>
                  <a:cubicBezTo>
                    <a:pt x="64" y="93"/>
                    <a:pt x="93" y="64"/>
                    <a:pt x="128"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4" name="Freeform 10">
              <a:extLst>
                <a:ext uri="{FF2B5EF4-FFF2-40B4-BE49-F238E27FC236}">
                  <a16:creationId xmlns:a16="http://schemas.microsoft.com/office/drawing/2014/main" id="{41148209-343A-F466-2A64-92445E0DF649}"/>
                </a:ext>
              </a:extLst>
            </p:cNvPr>
            <p:cNvSpPr>
              <a:spLocks noEditPoints="1"/>
            </p:cNvSpPr>
            <p:nvPr/>
          </p:nvSpPr>
          <p:spPr bwMode="auto">
            <a:xfrm>
              <a:off x="10574338" y="1630363"/>
              <a:ext cx="84137" cy="84137"/>
            </a:xfrm>
            <a:custGeom>
              <a:avLst/>
              <a:gdLst>
                <a:gd name="T0" fmla="*/ 128 w 256"/>
                <a:gd name="T1" fmla="*/ 0 h 256"/>
                <a:gd name="T2" fmla="*/ 0 w 256"/>
                <a:gd name="T3" fmla="*/ 128 h 256"/>
                <a:gd name="T4" fmla="*/ 128 w 256"/>
                <a:gd name="T5" fmla="*/ 256 h 256"/>
                <a:gd name="T6" fmla="*/ 256 w 256"/>
                <a:gd name="T7" fmla="*/ 128 h 256"/>
                <a:gd name="T8" fmla="*/ 128 w 256"/>
                <a:gd name="T9" fmla="*/ 0 h 256"/>
                <a:gd name="T10" fmla="*/ 128 w 256"/>
                <a:gd name="T11" fmla="*/ 192 h 256"/>
                <a:gd name="T12" fmla="*/ 64 w 256"/>
                <a:gd name="T13" fmla="*/ 128 h 256"/>
                <a:gd name="T14" fmla="*/ 128 w 256"/>
                <a:gd name="T15" fmla="*/ 64 h 256"/>
                <a:gd name="T16" fmla="*/ 192 w 256"/>
                <a:gd name="T17" fmla="*/ 128 h 256"/>
                <a:gd name="T18" fmla="*/ 128 w 256"/>
                <a:gd name="T19"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6">
                  <a:moveTo>
                    <a:pt x="128" y="0"/>
                  </a:moveTo>
                  <a:cubicBezTo>
                    <a:pt x="57" y="0"/>
                    <a:pt x="0" y="57"/>
                    <a:pt x="0" y="128"/>
                  </a:cubicBezTo>
                  <a:cubicBezTo>
                    <a:pt x="0" y="199"/>
                    <a:pt x="57" y="256"/>
                    <a:pt x="128" y="256"/>
                  </a:cubicBezTo>
                  <a:cubicBezTo>
                    <a:pt x="199" y="256"/>
                    <a:pt x="256" y="199"/>
                    <a:pt x="256" y="128"/>
                  </a:cubicBezTo>
                  <a:cubicBezTo>
                    <a:pt x="256" y="57"/>
                    <a:pt x="199" y="0"/>
                    <a:pt x="128" y="0"/>
                  </a:cubicBezTo>
                  <a:close/>
                  <a:moveTo>
                    <a:pt x="128" y="192"/>
                  </a:moveTo>
                  <a:cubicBezTo>
                    <a:pt x="93" y="192"/>
                    <a:pt x="64" y="163"/>
                    <a:pt x="64" y="128"/>
                  </a:cubicBezTo>
                  <a:cubicBezTo>
                    <a:pt x="64" y="93"/>
                    <a:pt x="93" y="64"/>
                    <a:pt x="128" y="64"/>
                  </a:cubicBezTo>
                  <a:cubicBezTo>
                    <a:pt x="163" y="64"/>
                    <a:pt x="192" y="93"/>
                    <a:pt x="192" y="128"/>
                  </a:cubicBezTo>
                  <a:cubicBezTo>
                    <a:pt x="192" y="163"/>
                    <a:pt x="163" y="192"/>
                    <a:pt x="128"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5" name="Freeform 11">
              <a:extLst>
                <a:ext uri="{FF2B5EF4-FFF2-40B4-BE49-F238E27FC236}">
                  <a16:creationId xmlns:a16="http://schemas.microsoft.com/office/drawing/2014/main" id="{2F149B39-5203-610A-7FEF-BE4AD6D182B2}"/>
                </a:ext>
              </a:extLst>
            </p:cNvPr>
            <p:cNvSpPr>
              <a:spLocks noEditPoints="1"/>
            </p:cNvSpPr>
            <p:nvPr/>
          </p:nvSpPr>
          <p:spPr bwMode="auto">
            <a:xfrm>
              <a:off x="10310813" y="1366838"/>
              <a:ext cx="84137" cy="84137"/>
            </a:xfrm>
            <a:custGeom>
              <a:avLst/>
              <a:gdLst>
                <a:gd name="T0" fmla="*/ 256 w 256"/>
                <a:gd name="T1" fmla="*/ 128 h 256"/>
                <a:gd name="T2" fmla="*/ 128 w 256"/>
                <a:gd name="T3" fmla="*/ 0 h 256"/>
                <a:gd name="T4" fmla="*/ 0 w 256"/>
                <a:gd name="T5" fmla="*/ 128 h 256"/>
                <a:gd name="T6" fmla="*/ 128 w 256"/>
                <a:gd name="T7" fmla="*/ 256 h 256"/>
                <a:gd name="T8" fmla="*/ 256 w 256"/>
                <a:gd name="T9" fmla="*/ 128 h 256"/>
                <a:gd name="T10" fmla="*/ 64 w 256"/>
                <a:gd name="T11" fmla="*/ 128 h 256"/>
                <a:gd name="T12" fmla="*/ 128 w 256"/>
                <a:gd name="T13" fmla="*/ 64 h 256"/>
                <a:gd name="T14" fmla="*/ 192 w 256"/>
                <a:gd name="T15" fmla="*/ 128 h 256"/>
                <a:gd name="T16" fmla="*/ 128 w 256"/>
                <a:gd name="T17" fmla="*/ 192 h 256"/>
                <a:gd name="T18" fmla="*/ 64 w 256"/>
                <a:gd name="T19" fmla="*/ 1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6">
                  <a:moveTo>
                    <a:pt x="256" y="128"/>
                  </a:moveTo>
                  <a:cubicBezTo>
                    <a:pt x="256" y="57"/>
                    <a:pt x="199" y="0"/>
                    <a:pt x="128" y="0"/>
                  </a:cubicBezTo>
                  <a:cubicBezTo>
                    <a:pt x="57" y="0"/>
                    <a:pt x="0" y="57"/>
                    <a:pt x="0" y="128"/>
                  </a:cubicBezTo>
                  <a:cubicBezTo>
                    <a:pt x="0" y="199"/>
                    <a:pt x="57" y="256"/>
                    <a:pt x="128" y="256"/>
                  </a:cubicBezTo>
                  <a:cubicBezTo>
                    <a:pt x="199" y="256"/>
                    <a:pt x="256" y="199"/>
                    <a:pt x="256" y="128"/>
                  </a:cubicBezTo>
                  <a:close/>
                  <a:moveTo>
                    <a:pt x="64" y="128"/>
                  </a:moveTo>
                  <a:cubicBezTo>
                    <a:pt x="64" y="93"/>
                    <a:pt x="93" y="64"/>
                    <a:pt x="128" y="64"/>
                  </a:cubicBezTo>
                  <a:cubicBezTo>
                    <a:pt x="163" y="64"/>
                    <a:pt x="192" y="93"/>
                    <a:pt x="192" y="128"/>
                  </a:cubicBezTo>
                  <a:cubicBezTo>
                    <a:pt x="192" y="163"/>
                    <a:pt x="163" y="192"/>
                    <a:pt x="128" y="192"/>
                  </a:cubicBezTo>
                  <a:cubicBezTo>
                    <a:pt x="93" y="192"/>
                    <a:pt x="64" y="163"/>
                    <a:pt x="64"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6" name="Freeform 12">
              <a:extLst>
                <a:ext uri="{FF2B5EF4-FFF2-40B4-BE49-F238E27FC236}">
                  <a16:creationId xmlns:a16="http://schemas.microsoft.com/office/drawing/2014/main" id="{F8F24041-031C-08B9-A641-C5B9D60EF84C}"/>
                </a:ext>
              </a:extLst>
            </p:cNvPr>
            <p:cNvSpPr>
              <a:spLocks noEditPoints="1"/>
            </p:cNvSpPr>
            <p:nvPr/>
          </p:nvSpPr>
          <p:spPr bwMode="auto">
            <a:xfrm>
              <a:off x="10837863" y="1366838"/>
              <a:ext cx="84137" cy="84137"/>
            </a:xfrm>
            <a:custGeom>
              <a:avLst/>
              <a:gdLst>
                <a:gd name="T0" fmla="*/ 128 w 256"/>
                <a:gd name="T1" fmla="*/ 0 h 256"/>
                <a:gd name="T2" fmla="*/ 0 w 256"/>
                <a:gd name="T3" fmla="*/ 128 h 256"/>
                <a:gd name="T4" fmla="*/ 128 w 256"/>
                <a:gd name="T5" fmla="*/ 256 h 256"/>
                <a:gd name="T6" fmla="*/ 256 w 256"/>
                <a:gd name="T7" fmla="*/ 128 h 256"/>
                <a:gd name="T8" fmla="*/ 128 w 256"/>
                <a:gd name="T9" fmla="*/ 0 h 256"/>
                <a:gd name="T10" fmla="*/ 128 w 256"/>
                <a:gd name="T11" fmla="*/ 192 h 256"/>
                <a:gd name="T12" fmla="*/ 64 w 256"/>
                <a:gd name="T13" fmla="*/ 128 h 256"/>
                <a:gd name="T14" fmla="*/ 128 w 256"/>
                <a:gd name="T15" fmla="*/ 64 h 256"/>
                <a:gd name="T16" fmla="*/ 192 w 256"/>
                <a:gd name="T17" fmla="*/ 128 h 256"/>
                <a:gd name="T18" fmla="*/ 128 w 256"/>
                <a:gd name="T19"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6">
                  <a:moveTo>
                    <a:pt x="128" y="0"/>
                  </a:moveTo>
                  <a:cubicBezTo>
                    <a:pt x="57" y="0"/>
                    <a:pt x="0" y="57"/>
                    <a:pt x="0" y="128"/>
                  </a:cubicBezTo>
                  <a:cubicBezTo>
                    <a:pt x="0" y="199"/>
                    <a:pt x="57" y="256"/>
                    <a:pt x="128" y="256"/>
                  </a:cubicBezTo>
                  <a:cubicBezTo>
                    <a:pt x="199" y="256"/>
                    <a:pt x="256" y="199"/>
                    <a:pt x="256" y="128"/>
                  </a:cubicBezTo>
                  <a:cubicBezTo>
                    <a:pt x="256" y="57"/>
                    <a:pt x="199" y="0"/>
                    <a:pt x="128" y="0"/>
                  </a:cubicBezTo>
                  <a:close/>
                  <a:moveTo>
                    <a:pt x="128" y="192"/>
                  </a:moveTo>
                  <a:cubicBezTo>
                    <a:pt x="93" y="192"/>
                    <a:pt x="64" y="163"/>
                    <a:pt x="64" y="128"/>
                  </a:cubicBezTo>
                  <a:cubicBezTo>
                    <a:pt x="64" y="93"/>
                    <a:pt x="93" y="64"/>
                    <a:pt x="128" y="64"/>
                  </a:cubicBezTo>
                  <a:cubicBezTo>
                    <a:pt x="163" y="64"/>
                    <a:pt x="192" y="93"/>
                    <a:pt x="192" y="128"/>
                  </a:cubicBezTo>
                  <a:cubicBezTo>
                    <a:pt x="192" y="163"/>
                    <a:pt x="163" y="192"/>
                    <a:pt x="128"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7" name="Freeform 13">
              <a:extLst>
                <a:ext uri="{FF2B5EF4-FFF2-40B4-BE49-F238E27FC236}">
                  <a16:creationId xmlns:a16="http://schemas.microsoft.com/office/drawing/2014/main" id="{2D2EFF86-0C77-82CC-A421-B8586F8424DC}"/>
                </a:ext>
              </a:extLst>
            </p:cNvPr>
            <p:cNvSpPr>
              <a:spLocks noEditPoints="1"/>
            </p:cNvSpPr>
            <p:nvPr/>
          </p:nvSpPr>
          <p:spPr bwMode="auto">
            <a:xfrm>
              <a:off x="10447338" y="1239838"/>
              <a:ext cx="338137" cy="338137"/>
            </a:xfrm>
            <a:custGeom>
              <a:avLst/>
              <a:gdLst>
                <a:gd name="T0" fmla="*/ 806 w 1024"/>
                <a:gd name="T1" fmla="*/ 942 h 1024"/>
                <a:gd name="T2" fmla="*/ 942 w 1024"/>
                <a:gd name="T3" fmla="*/ 761 h 1024"/>
                <a:gd name="T4" fmla="*/ 941 w 1024"/>
                <a:gd name="T5" fmla="*/ 640 h 1024"/>
                <a:gd name="T6" fmla="*/ 1024 w 1024"/>
                <a:gd name="T7" fmla="*/ 608 h 1024"/>
                <a:gd name="T8" fmla="*/ 992 w 1024"/>
                <a:gd name="T9" fmla="*/ 384 h 1024"/>
                <a:gd name="T10" fmla="*/ 906 w 1024"/>
                <a:gd name="T11" fmla="*/ 299 h 1024"/>
                <a:gd name="T12" fmla="*/ 942 w 1024"/>
                <a:gd name="T13" fmla="*/ 218 h 1024"/>
                <a:gd name="T14" fmla="*/ 761 w 1024"/>
                <a:gd name="T15" fmla="*/ 82 h 1024"/>
                <a:gd name="T16" fmla="*/ 640 w 1024"/>
                <a:gd name="T17" fmla="*/ 83 h 1024"/>
                <a:gd name="T18" fmla="*/ 608 w 1024"/>
                <a:gd name="T19" fmla="*/ 0 h 1024"/>
                <a:gd name="T20" fmla="*/ 384 w 1024"/>
                <a:gd name="T21" fmla="*/ 32 h 1024"/>
                <a:gd name="T22" fmla="*/ 299 w 1024"/>
                <a:gd name="T23" fmla="*/ 118 h 1024"/>
                <a:gd name="T24" fmla="*/ 218 w 1024"/>
                <a:gd name="T25" fmla="*/ 82 h 1024"/>
                <a:gd name="T26" fmla="*/ 82 w 1024"/>
                <a:gd name="T27" fmla="*/ 263 h 1024"/>
                <a:gd name="T28" fmla="*/ 83 w 1024"/>
                <a:gd name="T29" fmla="*/ 384 h 1024"/>
                <a:gd name="T30" fmla="*/ 0 w 1024"/>
                <a:gd name="T31" fmla="*/ 416 h 1024"/>
                <a:gd name="T32" fmla="*/ 32 w 1024"/>
                <a:gd name="T33" fmla="*/ 640 h 1024"/>
                <a:gd name="T34" fmla="*/ 118 w 1024"/>
                <a:gd name="T35" fmla="*/ 725 h 1024"/>
                <a:gd name="T36" fmla="*/ 82 w 1024"/>
                <a:gd name="T37" fmla="*/ 806 h 1024"/>
                <a:gd name="T38" fmla="*/ 263 w 1024"/>
                <a:gd name="T39" fmla="*/ 942 h 1024"/>
                <a:gd name="T40" fmla="*/ 384 w 1024"/>
                <a:gd name="T41" fmla="*/ 941 h 1024"/>
                <a:gd name="T42" fmla="*/ 416 w 1024"/>
                <a:gd name="T43" fmla="*/ 1024 h 1024"/>
                <a:gd name="T44" fmla="*/ 640 w 1024"/>
                <a:gd name="T45" fmla="*/ 992 h 1024"/>
                <a:gd name="T46" fmla="*/ 725 w 1024"/>
                <a:gd name="T47" fmla="*/ 906 h 1024"/>
                <a:gd name="T48" fmla="*/ 601 w 1024"/>
                <a:gd name="T49" fmla="*/ 885 h 1024"/>
                <a:gd name="T50" fmla="*/ 576 w 1024"/>
                <a:gd name="T51" fmla="*/ 960 h 1024"/>
                <a:gd name="T52" fmla="*/ 448 w 1024"/>
                <a:gd name="T53" fmla="*/ 916 h 1024"/>
                <a:gd name="T54" fmla="*/ 311 w 1024"/>
                <a:gd name="T55" fmla="*/ 838 h 1024"/>
                <a:gd name="T56" fmla="*/ 239 w 1024"/>
                <a:gd name="T57" fmla="*/ 874 h 1024"/>
                <a:gd name="T58" fmla="*/ 181 w 1024"/>
                <a:gd name="T59" fmla="*/ 752 h 1024"/>
                <a:gd name="T60" fmla="*/ 139 w 1024"/>
                <a:gd name="T61" fmla="*/ 600 h 1024"/>
                <a:gd name="T62" fmla="*/ 64 w 1024"/>
                <a:gd name="T63" fmla="*/ 575 h 1024"/>
                <a:gd name="T64" fmla="*/ 108 w 1024"/>
                <a:gd name="T65" fmla="*/ 448 h 1024"/>
                <a:gd name="T66" fmla="*/ 186 w 1024"/>
                <a:gd name="T67" fmla="*/ 311 h 1024"/>
                <a:gd name="T68" fmla="*/ 150 w 1024"/>
                <a:gd name="T69" fmla="*/ 239 h 1024"/>
                <a:gd name="T70" fmla="*/ 272 w 1024"/>
                <a:gd name="T71" fmla="*/ 181 h 1024"/>
                <a:gd name="T72" fmla="*/ 424 w 1024"/>
                <a:gd name="T73" fmla="*/ 139 h 1024"/>
                <a:gd name="T74" fmla="*/ 449 w 1024"/>
                <a:gd name="T75" fmla="*/ 64 h 1024"/>
                <a:gd name="T76" fmla="*/ 577 w 1024"/>
                <a:gd name="T77" fmla="*/ 108 h 1024"/>
                <a:gd name="T78" fmla="*/ 714 w 1024"/>
                <a:gd name="T79" fmla="*/ 186 h 1024"/>
                <a:gd name="T80" fmla="*/ 785 w 1024"/>
                <a:gd name="T81" fmla="*/ 150 h 1024"/>
                <a:gd name="T82" fmla="*/ 844 w 1024"/>
                <a:gd name="T83" fmla="*/ 272 h 1024"/>
                <a:gd name="T84" fmla="*/ 886 w 1024"/>
                <a:gd name="T85" fmla="*/ 424 h 1024"/>
                <a:gd name="T86" fmla="*/ 960 w 1024"/>
                <a:gd name="T87" fmla="*/ 449 h 1024"/>
                <a:gd name="T88" fmla="*/ 916 w 1024"/>
                <a:gd name="T89" fmla="*/ 577 h 1024"/>
                <a:gd name="T90" fmla="*/ 838 w 1024"/>
                <a:gd name="T91" fmla="*/ 714 h 1024"/>
                <a:gd name="T92" fmla="*/ 874 w 1024"/>
                <a:gd name="T93" fmla="*/ 785 h 1024"/>
                <a:gd name="T94" fmla="*/ 752 w 1024"/>
                <a:gd name="T95" fmla="*/ 844 h 1024"/>
                <a:gd name="T96" fmla="*/ 601 w 1024"/>
                <a:gd name="T97" fmla="*/ 885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24" h="1024">
                  <a:moveTo>
                    <a:pt x="761" y="942"/>
                  </a:moveTo>
                  <a:cubicBezTo>
                    <a:pt x="773" y="954"/>
                    <a:pt x="794" y="954"/>
                    <a:pt x="806" y="942"/>
                  </a:cubicBezTo>
                  <a:cubicBezTo>
                    <a:pt x="942" y="806"/>
                    <a:pt x="942" y="806"/>
                    <a:pt x="942" y="806"/>
                  </a:cubicBezTo>
                  <a:cubicBezTo>
                    <a:pt x="954" y="794"/>
                    <a:pt x="954" y="773"/>
                    <a:pt x="942" y="761"/>
                  </a:cubicBezTo>
                  <a:cubicBezTo>
                    <a:pt x="906" y="725"/>
                    <a:pt x="906" y="725"/>
                    <a:pt x="906" y="725"/>
                  </a:cubicBezTo>
                  <a:cubicBezTo>
                    <a:pt x="920" y="698"/>
                    <a:pt x="932" y="669"/>
                    <a:pt x="941" y="640"/>
                  </a:cubicBezTo>
                  <a:cubicBezTo>
                    <a:pt x="992" y="640"/>
                    <a:pt x="992" y="640"/>
                    <a:pt x="992" y="640"/>
                  </a:cubicBezTo>
                  <a:cubicBezTo>
                    <a:pt x="1010" y="640"/>
                    <a:pt x="1024" y="626"/>
                    <a:pt x="1024" y="608"/>
                  </a:cubicBezTo>
                  <a:cubicBezTo>
                    <a:pt x="1024" y="416"/>
                    <a:pt x="1024" y="416"/>
                    <a:pt x="1024" y="416"/>
                  </a:cubicBezTo>
                  <a:cubicBezTo>
                    <a:pt x="1024" y="398"/>
                    <a:pt x="1010" y="384"/>
                    <a:pt x="992" y="384"/>
                  </a:cubicBezTo>
                  <a:cubicBezTo>
                    <a:pt x="941" y="384"/>
                    <a:pt x="941" y="384"/>
                    <a:pt x="941" y="384"/>
                  </a:cubicBezTo>
                  <a:cubicBezTo>
                    <a:pt x="932" y="355"/>
                    <a:pt x="920" y="326"/>
                    <a:pt x="906" y="299"/>
                  </a:cubicBezTo>
                  <a:cubicBezTo>
                    <a:pt x="942" y="263"/>
                    <a:pt x="942" y="263"/>
                    <a:pt x="942" y="263"/>
                  </a:cubicBezTo>
                  <a:cubicBezTo>
                    <a:pt x="954" y="251"/>
                    <a:pt x="954" y="230"/>
                    <a:pt x="942" y="218"/>
                  </a:cubicBezTo>
                  <a:cubicBezTo>
                    <a:pt x="806" y="82"/>
                    <a:pt x="806" y="82"/>
                    <a:pt x="806" y="82"/>
                  </a:cubicBezTo>
                  <a:cubicBezTo>
                    <a:pt x="794" y="70"/>
                    <a:pt x="773" y="70"/>
                    <a:pt x="761" y="82"/>
                  </a:cubicBezTo>
                  <a:cubicBezTo>
                    <a:pt x="725" y="118"/>
                    <a:pt x="725" y="118"/>
                    <a:pt x="725" y="118"/>
                  </a:cubicBezTo>
                  <a:cubicBezTo>
                    <a:pt x="698" y="104"/>
                    <a:pt x="669" y="92"/>
                    <a:pt x="640" y="83"/>
                  </a:cubicBezTo>
                  <a:cubicBezTo>
                    <a:pt x="640" y="32"/>
                    <a:pt x="640" y="32"/>
                    <a:pt x="640" y="32"/>
                  </a:cubicBezTo>
                  <a:cubicBezTo>
                    <a:pt x="640" y="14"/>
                    <a:pt x="626" y="0"/>
                    <a:pt x="608" y="0"/>
                  </a:cubicBezTo>
                  <a:cubicBezTo>
                    <a:pt x="416" y="0"/>
                    <a:pt x="416" y="0"/>
                    <a:pt x="416" y="0"/>
                  </a:cubicBezTo>
                  <a:cubicBezTo>
                    <a:pt x="398" y="0"/>
                    <a:pt x="384" y="14"/>
                    <a:pt x="384" y="32"/>
                  </a:cubicBezTo>
                  <a:cubicBezTo>
                    <a:pt x="384" y="83"/>
                    <a:pt x="384" y="83"/>
                    <a:pt x="384" y="83"/>
                  </a:cubicBezTo>
                  <a:cubicBezTo>
                    <a:pt x="355" y="92"/>
                    <a:pt x="326" y="104"/>
                    <a:pt x="299" y="118"/>
                  </a:cubicBezTo>
                  <a:cubicBezTo>
                    <a:pt x="263" y="82"/>
                    <a:pt x="263" y="82"/>
                    <a:pt x="263" y="82"/>
                  </a:cubicBezTo>
                  <a:cubicBezTo>
                    <a:pt x="251" y="70"/>
                    <a:pt x="230" y="70"/>
                    <a:pt x="218" y="82"/>
                  </a:cubicBezTo>
                  <a:cubicBezTo>
                    <a:pt x="82" y="218"/>
                    <a:pt x="82" y="218"/>
                    <a:pt x="82" y="218"/>
                  </a:cubicBezTo>
                  <a:cubicBezTo>
                    <a:pt x="70" y="230"/>
                    <a:pt x="70" y="251"/>
                    <a:pt x="82" y="263"/>
                  </a:cubicBezTo>
                  <a:cubicBezTo>
                    <a:pt x="118" y="299"/>
                    <a:pt x="118" y="299"/>
                    <a:pt x="118" y="299"/>
                  </a:cubicBezTo>
                  <a:cubicBezTo>
                    <a:pt x="104" y="326"/>
                    <a:pt x="92" y="355"/>
                    <a:pt x="83" y="384"/>
                  </a:cubicBezTo>
                  <a:cubicBezTo>
                    <a:pt x="32" y="384"/>
                    <a:pt x="32" y="384"/>
                    <a:pt x="32" y="384"/>
                  </a:cubicBezTo>
                  <a:cubicBezTo>
                    <a:pt x="14" y="384"/>
                    <a:pt x="0" y="398"/>
                    <a:pt x="0" y="416"/>
                  </a:cubicBezTo>
                  <a:cubicBezTo>
                    <a:pt x="0" y="608"/>
                    <a:pt x="0" y="608"/>
                    <a:pt x="0" y="608"/>
                  </a:cubicBezTo>
                  <a:cubicBezTo>
                    <a:pt x="0" y="626"/>
                    <a:pt x="14" y="640"/>
                    <a:pt x="32" y="640"/>
                  </a:cubicBezTo>
                  <a:cubicBezTo>
                    <a:pt x="83" y="640"/>
                    <a:pt x="83" y="640"/>
                    <a:pt x="83" y="640"/>
                  </a:cubicBezTo>
                  <a:cubicBezTo>
                    <a:pt x="92" y="669"/>
                    <a:pt x="104" y="698"/>
                    <a:pt x="118" y="725"/>
                  </a:cubicBezTo>
                  <a:cubicBezTo>
                    <a:pt x="82" y="761"/>
                    <a:pt x="82" y="761"/>
                    <a:pt x="82" y="761"/>
                  </a:cubicBezTo>
                  <a:cubicBezTo>
                    <a:pt x="70" y="773"/>
                    <a:pt x="70" y="794"/>
                    <a:pt x="82" y="806"/>
                  </a:cubicBezTo>
                  <a:cubicBezTo>
                    <a:pt x="218" y="942"/>
                    <a:pt x="218" y="942"/>
                    <a:pt x="218" y="942"/>
                  </a:cubicBezTo>
                  <a:cubicBezTo>
                    <a:pt x="230" y="954"/>
                    <a:pt x="251" y="954"/>
                    <a:pt x="263" y="942"/>
                  </a:cubicBezTo>
                  <a:cubicBezTo>
                    <a:pt x="299" y="906"/>
                    <a:pt x="299" y="906"/>
                    <a:pt x="299" y="906"/>
                  </a:cubicBezTo>
                  <a:cubicBezTo>
                    <a:pt x="326" y="920"/>
                    <a:pt x="355" y="932"/>
                    <a:pt x="384" y="941"/>
                  </a:cubicBezTo>
                  <a:cubicBezTo>
                    <a:pt x="384" y="992"/>
                    <a:pt x="384" y="992"/>
                    <a:pt x="384" y="992"/>
                  </a:cubicBezTo>
                  <a:cubicBezTo>
                    <a:pt x="384" y="1010"/>
                    <a:pt x="398" y="1024"/>
                    <a:pt x="416" y="1024"/>
                  </a:cubicBezTo>
                  <a:cubicBezTo>
                    <a:pt x="608" y="1024"/>
                    <a:pt x="608" y="1024"/>
                    <a:pt x="608" y="1024"/>
                  </a:cubicBezTo>
                  <a:cubicBezTo>
                    <a:pt x="626" y="1024"/>
                    <a:pt x="640" y="1010"/>
                    <a:pt x="640" y="992"/>
                  </a:cubicBezTo>
                  <a:cubicBezTo>
                    <a:pt x="640" y="941"/>
                    <a:pt x="640" y="941"/>
                    <a:pt x="640" y="941"/>
                  </a:cubicBezTo>
                  <a:cubicBezTo>
                    <a:pt x="669" y="932"/>
                    <a:pt x="698" y="920"/>
                    <a:pt x="725" y="906"/>
                  </a:cubicBezTo>
                  <a:lnTo>
                    <a:pt x="761" y="942"/>
                  </a:lnTo>
                  <a:close/>
                  <a:moveTo>
                    <a:pt x="601" y="885"/>
                  </a:moveTo>
                  <a:cubicBezTo>
                    <a:pt x="586" y="889"/>
                    <a:pt x="576" y="902"/>
                    <a:pt x="576" y="917"/>
                  </a:cubicBezTo>
                  <a:cubicBezTo>
                    <a:pt x="576" y="960"/>
                    <a:pt x="576" y="960"/>
                    <a:pt x="576" y="960"/>
                  </a:cubicBezTo>
                  <a:cubicBezTo>
                    <a:pt x="448" y="960"/>
                    <a:pt x="448" y="960"/>
                    <a:pt x="448" y="960"/>
                  </a:cubicBezTo>
                  <a:cubicBezTo>
                    <a:pt x="448" y="916"/>
                    <a:pt x="448" y="916"/>
                    <a:pt x="448" y="916"/>
                  </a:cubicBezTo>
                  <a:cubicBezTo>
                    <a:pt x="448" y="901"/>
                    <a:pt x="438" y="888"/>
                    <a:pt x="423" y="884"/>
                  </a:cubicBezTo>
                  <a:cubicBezTo>
                    <a:pt x="384" y="875"/>
                    <a:pt x="346" y="859"/>
                    <a:pt x="311" y="838"/>
                  </a:cubicBezTo>
                  <a:cubicBezTo>
                    <a:pt x="298" y="830"/>
                    <a:pt x="282" y="832"/>
                    <a:pt x="271" y="842"/>
                  </a:cubicBezTo>
                  <a:cubicBezTo>
                    <a:pt x="239" y="874"/>
                    <a:pt x="239" y="874"/>
                    <a:pt x="239" y="874"/>
                  </a:cubicBezTo>
                  <a:cubicBezTo>
                    <a:pt x="149" y="784"/>
                    <a:pt x="149" y="784"/>
                    <a:pt x="149" y="784"/>
                  </a:cubicBezTo>
                  <a:cubicBezTo>
                    <a:pt x="181" y="752"/>
                    <a:pt x="181" y="752"/>
                    <a:pt x="181" y="752"/>
                  </a:cubicBezTo>
                  <a:cubicBezTo>
                    <a:pt x="192" y="741"/>
                    <a:pt x="193" y="725"/>
                    <a:pt x="186" y="713"/>
                  </a:cubicBezTo>
                  <a:cubicBezTo>
                    <a:pt x="164" y="678"/>
                    <a:pt x="148" y="640"/>
                    <a:pt x="139" y="600"/>
                  </a:cubicBezTo>
                  <a:cubicBezTo>
                    <a:pt x="135" y="585"/>
                    <a:pt x="122" y="575"/>
                    <a:pt x="107" y="575"/>
                  </a:cubicBezTo>
                  <a:cubicBezTo>
                    <a:pt x="64" y="575"/>
                    <a:pt x="64" y="575"/>
                    <a:pt x="64" y="575"/>
                  </a:cubicBezTo>
                  <a:cubicBezTo>
                    <a:pt x="64" y="448"/>
                    <a:pt x="64" y="448"/>
                    <a:pt x="64" y="448"/>
                  </a:cubicBezTo>
                  <a:cubicBezTo>
                    <a:pt x="108" y="448"/>
                    <a:pt x="108" y="448"/>
                    <a:pt x="108" y="448"/>
                  </a:cubicBezTo>
                  <a:cubicBezTo>
                    <a:pt x="123" y="448"/>
                    <a:pt x="136" y="438"/>
                    <a:pt x="140" y="423"/>
                  </a:cubicBezTo>
                  <a:cubicBezTo>
                    <a:pt x="149" y="384"/>
                    <a:pt x="165" y="346"/>
                    <a:pt x="186" y="311"/>
                  </a:cubicBezTo>
                  <a:cubicBezTo>
                    <a:pt x="194" y="298"/>
                    <a:pt x="192" y="282"/>
                    <a:pt x="182" y="271"/>
                  </a:cubicBezTo>
                  <a:cubicBezTo>
                    <a:pt x="150" y="239"/>
                    <a:pt x="150" y="239"/>
                    <a:pt x="150" y="239"/>
                  </a:cubicBezTo>
                  <a:cubicBezTo>
                    <a:pt x="240" y="149"/>
                    <a:pt x="240" y="149"/>
                    <a:pt x="240" y="149"/>
                  </a:cubicBezTo>
                  <a:cubicBezTo>
                    <a:pt x="272" y="181"/>
                    <a:pt x="272" y="181"/>
                    <a:pt x="272" y="181"/>
                  </a:cubicBezTo>
                  <a:cubicBezTo>
                    <a:pt x="283" y="192"/>
                    <a:pt x="299" y="193"/>
                    <a:pt x="311" y="186"/>
                  </a:cubicBezTo>
                  <a:cubicBezTo>
                    <a:pt x="346" y="164"/>
                    <a:pt x="384" y="148"/>
                    <a:pt x="424" y="139"/>
                  </a:cubicBezTo>
                  <a:cubicBezTo>
                    <a:pt x="439" y="135"/>
                    <a:pt x="449" y="122"/>
                    <a:pt x="449" y="107"/>
                  </a:cubicBezTo>
                  <a:cubicBezTo>
                    <a:pt x="449" y="64"/>
                    <a:pt x="449" y="64"/>
                    <a:pt x="449" y="64"/>
                  </a:cubicBezTo>
                  <a:cubicBezTo>
                    <a:pt x="577" y="64"/>
                    <a:pt x="577" y="64"/>
                    <a:pt x="577" y="64"/>
                  </a:cubicBezTo>
                  <a:cubicBezTo>
                    <a:pt x="577" y="108"/>
                    <a:pt x="577" y="108"/>
                    <a:pt x="577" y="108"/>
                  </a:cubicBezTo>
                  <a:cubicBezTo>
                    <a:pt x="576" y="123"/>
                    <a:pt x="587" y="136"/>
                    <a:pt x="601" y="140"/>
                  </a:cubicBezTo>
                  <a:cubicBezTo>
                    <a:pt x="641" y="149"/>
                    <a:pt x="679" y="165"/>
                    <a:pt x="714" y="186"/>
                  </a:cubicBezTo>
                  <a:cubicBezTo>
                    <a:pt x="726" y="194"/>
                    <a:pt x="743" y="192"/>
                    <a:pt x="753" y="182"/>
                  </a:cubicBezTo>
                  <a:cubicBezTo>
                    <a:pt x="785" y="150"/>
                    <a:pt x="785" y="150"/>
                    <a:pt x="785" y="150"/>
                  </a:cubicBezTo>
                  <a:cubicBezTo>
                    <a:pt x="876" y="240"/>
                    <a:pt x="876" y="240"/>
                    <a:pt x="876" y="240"/>
                  </a:cubicBezTo>
                  <a:cubicBezTo>
                    <a:pt x="844" y="272"/>
                    <a:pt x="844" y="272"/>
                    <a:pt x="844" y="272"/>
                  </a:cubicBezTo>
                  <a:cubicBezTo>
                    <a:pt x="833" y="283"/>
                    <a:pt x="831" y="299"/>
                    <a:pt x="839" y="311"/>
                  </a:cubicBezTo>
                  <a:cubicBezTo>
                    <a:pt x="860" y="346"/>
                    <a:pt x="876" y="384"/>
                    <a:pt x="886" y="424"/>
                  </a:cubicBezTo>
                  <a:cubicBezTo>
                    <a:pt x="889" y="439"/>
                    <a:pt x="903" y="449"/>
                    <a:pt x="918" y="449"/>
                  </a:cubicBezTo>
                  <a:cubicBezTo>
                    <a:pt x="960" y="449"/>
                    <a:pt x="960" y="449"/>
                    <a:pt x="960" y="449"/>
                  </a:cubicBezTo>
                  <a:cubicBezTo>
                    <a:pt x="960" y="577"/>
                    <a:pt x="960" y="577"/>
                    <a:pt x="960" y="577"/>
                  </a:cubicBezTo>
                  <a:cubicBezTo>
                    <a:pt x="916" y="577"/>
                    <a:pt x="916" y="577"/>
                    <a:pt x="916" y="577"/>
                  </a:cubicBezTo>
                  <a:cubicBezTo>
                    <a:pt x="901" y="576"/>
                    <a:pt x="888" y="587"/>
                    <a:pt x="884" y="601"/>
                  </a:cubicBezTo>
                  <a:cubicBezTo>
                    <a:pt x="875" y="641"/>
                    <a:pt x="859" y="679"/>
                    <a:pt x="838" y="714"/>
                  </a:cubicBezTo>
                  <a:cubicBezTo>
                    <a:pt x="830" y="726"/>
                    <a:pt x="832" y="743"/>
                    <a:pt x="842" y="753"/>
                  </a:cubicBezTo>
                  <a:cubicBezTo>
                    <a:pt x="874" y="785"/>
                    <a:pt x="874" y="785"/>
                    <a:pt x="874" y="785"/>
                  </a:cubicBezTo>
                  <a:cubicBezTo>
                    <a:pt x="784" y="876"/>
                    <a:pt x="784" y="876"/>
                    <a:pt x="784" y="876"/>
                  </a:cubicBezTo>
                  <a:cubicBezTo>
                    <a:pt x="752" y="844"/>
                    <a:pt x="752" y="844"/>
                    <a:pt x="752" y="844"/>
                  </a:cubicBezTo>
                  <a:cubicBezTo>
                    <a:pt x="741" y="833"/>
                    <a:pt x="725" y="831"/>
                    <a:pt x="713" y="839"/>
                  </a:cubicBezTo>
                  <a:cubicBezTo>
                    <a:pt x="678" y="860"/>
                    <a:pt x="640" y="876"/>
                    <a:pt x="601" y="8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28" name="Freeform 14">
              <a:extLst>
                <a:ext uri="{FF2B5EF4-FFF2-40B4-BE49-F238E27FC236}">
                  <a16:creationId xmlns:a16="http://schemas.microsoft.com/office/drawing/2014/main" id="{B2B2E343-8705-CA5E-B705-CC56A8EE58E6}"/>
                </a:ext>
              </a:extLst>
            </p:cNvPr>
            <p:cNvSpPr>
              <a:spLocks noEditPoints="1"/>
            </p:cNvSpPr>
            <p:nvPr/>
          </p:nvSpPr>
          <p:spPr bwMode="auto">
            <a:xfrm>
              <a:off x="10542588" y="1335088"/>
              <a:ext cx="147637" cy="147637"/>
            </a:xfrm>
            <a:custGeom>
              <a:avLst/>
              <a:gdLst>
                <a:gd name="T0" fmla="*/ 224 w 448"/>
                <a:gd name="T1" fmla="*/ 0 h 448"/>
                <a:gd name="T2" fmla="*/ 0 w 448"/>
                <a:gd name="T3" fmla="*/ 224 h 448"/>
                <a:gd name="T4" fmla="*/ 224 w 448"/>
                <a:gd name="T5" fmla="*/ 448 h 448"/>
                <a:gd name="T6" fmla="*/ 448 w 448"/>
                <a:gd name="T7" fmla="*/ 224 h 448"/>
                <a:gd name="T8" fmla="*/ 224 w 448"/>
                <a:gd name="T9" fmla="*/ 0 h 448"/>
                <a:gd name="T10" fmla="*/ 224 w 448"/>
                <a:gd name="T11" fmla="*/ 384 h 448"/>
                <a:gd name="T12" fmla="*/ 64 w 448"/>
                <a:gd name="T13" fmla="*/ 224 h 448"/>
                <a:gd name="T14" fmla="*/ 224 w 448"/>
                <a:gd name="T15" fmla="*/ 64 h 448"/>
                <a:gd name="T16" fmla="*/ 384 w 448"/>
                <a:gd name="T17" fmla="*/ 224 h 448"/>
                <a:gd name="T18" fmla="*/ 224 w 448"/>
                <a:gd name="T19" fmla="*/ 38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8" h="448">
                  <a:moveTo>
                    <a:pt x="224" y="0"/>
                  </a:moveTo>
                  <a:cubicBezTo>
                    <a:pt x="100" y="0"/>
                    <a:pt x="0" y="100"/>
                    <a:pt x="0" y="224"/>
                  </a:cubicBezTo>
                  <a:cubicBezTo>
                    <a:pt x="0" y="348"/>
                    <a:pt x="100" y="448"/>
                    <a:pt x="224" y="448"/>
                  </a:cubicBezTo>
                  <a:cubicBezTo>
                    <a:pt x="348" y="448"/>
                    <a:pt x="448" y="348"/>
                    <a:pt x="448" y="224"/>
                  </a:cubicBezTo>
                  <a:cubicBezTo>
                    <a:pt x="448" y="100"/>
                    <a:pt x="348" y="0"/>
                    <a:pt x="224" y="0"/>
                  </a:cubicBezTo>
                  <a:close/>
                  <a:moveTo>
                    <a:pt x="224" y="384"/>
                  </a:moveTo>
                  <a:cubicBezTo>
                    <a:pt x="136" y="384"/>
                    <a:pt x="64" y="312"/>
                    <a:pt x="64" y="224"/>
                  </a:cubicBezTo>
                  <a:cubicBezTo>
                    <a:pt x="64" y="136"/>
                    <a:pt x="136" y="64"/>
                    <a:pt x="224" y="64"/>
                  </a:cubicBezTo>
                  <a:cubicBezTo>
                    <a:pt x="312" y="64"/>
                    <a:pt x="384" y="136"/>
                    <a:pt x="384" y="224"/>
                  </a:cubicBezTo>
                  <a:cubicBezTo>
                    <a:pt x="384" y="312"/>
                    <a:pt x="312" y="384"/>
                    <a:pt x="224" y="3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grpSp>
      <p:grpSp>
        <p:nvGrpSpPr>
          <p:cNvPr id="129" name="Group 128">
            <a:extLst>
              <a:ext uri="{FF2B5EF4-FFF2-40B4-BE49-F238E27FC236}">
                <a16:creationId xmlns:a16="http://schemas.microsoft.com/office/drawing/2014/main" id="{859EEF86-9E04-E4FF-8452-F7F360DFCB95}"/>
              </a:ext>
            </a:extLst>
          </p:cNvPr>
          <p:cNvGrpSpPr/>
          <p:nvPr/>
        </p:nvGrpSpPr>
        <p:grpSpPr>
          <a:xfrm>
            <a:off x="9026136" y="1712772"/>
            <a:ext cx="727726" cy="630420"/>
            <a:chOff x="10552113" y="5645150"/>
            <a:chExt cx="842963" cy="730250"/>
          </a:xfrm>
          <a:solidFill>
            <a:srgbClr val="262626"/>
          </a:solidFill>
        </p:grpSpPr>
        <p:sp>
          <p:nvSpPr>
            <p:cNvPr id="130" name="Freeform 16">
              <a:extLst>
                <a:ext uri="{FF2B5EF4-FFF2-40B4-BE49-F238E27FC236}">
                  <a16:creationId xmlns:a16="http://schemas.microsoft.com/office/drawing/2014/main" id="{C0BB0351-1077-8F92-7594-9E911CB919BE}"/>
                </a:ext>
              </a:extLst>
            </p:cNvPr>
            <p:cNvSpPr>
              <a:spLocks/>
            </p:cNvSpPr>
            <p:nvPr/>
          </p:nvSpPr>
          <p:spPr bwMode="auto">
            <a:xfrm>
              <a:off x="10617201" y="5710238"/>
              <a:ext cx="501650" cy="601663"/>
            </a:xfrm>
            <a:custGeom>
              <a:avLst/>
              <a:gdLst>
                <a:gd name="T0" fmla="*/ 1078 w 1145"/>
                <a:gd name="T1" fmla="*/ 323 h 1372"/>
                <a:gd name="T2" fmla="*/ 1145 w 1145"/>
                <a:gd name="T3" fmla="*/ 301 h 1372"/>
                <a:gd name="T4" fmla="*/ 1069 w 1145"/>
                <a:gd name="T5" fmla="*/ 226 h 1372"/>
                <a:gd name="T6" fmla="*/ 1069 w 1145"/>
                <a:gd name="T7" fmla="*/ 156 h 1372"/>
                <a:gd name="T8" fmla="*/ 892 w 1145"/>
                <a:gd name="T9" fmla="*/ 20 h 1372"/>
                <a:gd name="T10" fmla="*/ 770 w 1145"/>
                <a:gd name="T11" fmla="*/ 70 h 1372"/>
                <a:gd name="T12" fmla="*/ 633 w 1145"/>
                <a:gd name="T13" fmla="*/ 89 h 1372"/>
                <a:gd name="T14" fmla="*/ 516 w 1145"/>
                <a:gd name="T15" fmla="*/ 13 h 1372"/>
                <a:gd name="T16" fmla="*/ 360 w 1145"/>
                <a:gd name="T17" fmla="*/ 70 h 1372"/>
                <a:gd name="T18" fmla="*/ 310 w 1145"/>
                <a:gd name="T19" fmla="*/ 192 h 1372"/>
                <a:gd name="T20" fmla="*/ 302 w 1145"/>
                <a:gd name="T21" fmla="*/ 226 h 1372"/>
                <a:gd name="T22" fmla="*/ 193 w 1145"/>
                <a:gd name="T23" fmla="*/ 311 h 1372"/>
                <a:gd name="T24" fmla="*/ 69 w 1145"/>
                <a:gd name="T25" fmla="*/ 361 h 1372"/>
                <a:gd name="T26" fmla="*/ 20 w 1145"/>
                <a:gd name="T27" fmla="*/ 480 h 1372"/>
                <a:gd name="T28" fmla="*/ 70 w 1145"/>
                <a:gd name="T29" fmla="*/ 601 h 1372"/>
                <a:gd name="T30" fmla="*/ 89 w 1145"/>
                <a:gd name="T31" fmla="*/ 741 h 1372"/>
                <a:gd name="T32" fmla="*/ 20 w 1145"/>
                <a:gd name="T33" fmla="*/ 820 h 1372"/>
                <a:gd name="T34" fmla="*/ 69 w 1145"/>
                <a:gd name="T35" fmla="*/ 1011 h 1372"/>
                <a:gd name="T36" fmla="*/ 191 w 1145"/>
                <a:gd name="T37" fmla="*/ 1062 h 1372"/>
                <a:gd name="T38" fmla="*/ 302 w 1145"/>
                <a:gd name="T39" fmla="*/ 1146 h 1372"/>
                <a:gd name="T40" fmla="*/ 309 w 1145"/>
                <a:gd name="T41" fmla="*/ 1181 h 1372"/>
                <a:gd name="T42" fmla="*/ 360 w 1145"/>
                <a:gd name="T43" fmla="*/ 1303 h 1372"/>
                <a:gd name="T44" fmla="*/ 600 w 1145"/>
                <a:gd name="T45" fmla="*/ 1303 h 1372"/>
                <a:gd name="T46" fmla="*/ 633 w 1145"/>
                <a:gd name="T47" fmla="*/ 1283 h 1372"/>
                <a:gd name="T48" fmla="*/ 769 w 1145"/>
                <a:gd name="T49" fmla="*/ 1302 h 1372"/>
                <a:gd name="T50" fmla="*/ 855 w 1145"/>
                <a:gd name="T51" fmla="*/ 1360 h 1372"/>
                <a:gd name="T52" fmla="*/ 1010 w 1145"/>
                <a:gd name="T53" fmla="*/ 1303 h 1372"/>
                <a:gd name="T54" fmla="*/ 1061 w 1145"/>
                <a:gd name="T55" fmla="*/ 1181 h 1372"/>
                <a:gd name="T56" fmla="*/ 1069 w 1145"/>
                <a:gd name="T57" fmla="*/ 1147 h 1372"/>
                <a:gd name="T58" fmla="*/ 1145 w 1145"/>
                <a:gd name="T59" fmla="*/ 1071 h 1372"/>
                <a:gd name="T60" fmla="*/ 1077 w 1145"/>
                <a:gd name="T61" fmla="*/ 1047 h 1372"/>
                <a:gd name="T62" fmla="*/ 994 w 1145"/>
                <a:gd name="T63" fmla="*/ 1165 h 1372"/>
                <a:gd name="T64" fmla="*/ 1001 w 1145"/>
                <a:gd name="T65" fmla="*/ 1224 h 1372"/>
                <a:gd name="T66" fmla="*/ 866 w 1145"/>
                <a:gd name="T67" fmla="*/ 1289 h 1372"/>
                <a:gd name="T68" fmla="*/ 827 w 1145"/>
                <a:gd name="T69" fmla="*/ 1273 h 1372"/>
                <a:gd name="T70" fmla="*/ 639 w 1145"/>
                <a:gd name="T71" fmla="*/ 1215 h 1372"/>
                <a:gd name="T72" fmla="*/ 527 w 1145"/>
                <a:gd name="T73" fmla="*/ 1289 h 1372"/>
                <a:gd name="T74" fmla="*/ 385 w 1145"/>
                <a:gd name="T75" fmla="*/ 1239 h 1372"/>
                <a:gd name="T76" fmla="*/ 369 w 1145"/>
                <a:gd name="T77" fmla="*/ 1203 h 1372"/>
                <a:gd name="T78" fmla="*/ 345 w 1145"/>
                <a:gd name="T79" fmla="*/ 1094 h 1372"/>
                <a:gd name="T80" fmla="*/ 205 w 1145"/>
                <a:gd name="T81" fmla="*/ 994 h 1372"/>
                <a:gd name="T82" fmla="*/ 146 w 1145"/>
                <a:gd name="T83" fmla="*/ 1001 h 1372"/>
                <a:gd name="T84" fmla="*/ 79 w 1145"/>
                <a:gd name="T85" fmla="*/ 865 h 1372"/>
                <a:gd name="T86" fmla="*/ 96 w 1145"/>
                <a:gd name="T87" fmla="*/ 827 h 1372"/>
                <a:gd name="T88" fmla="*/ 153 w 1145"/>
                <a:gd name="T89" fmla="*/ 640 h 1372"/>
                <a:gd name="T90" fmla="*/ 95 w 1145"/>
                <a:gd name="T91" fmla="*/ 542 h 1372"/>
                <a:gd name="T92" fmla="*/ 79 w 1145"/>
                <a:gd name="T93" fmla="*/ 504 h 1372"/>
                <a:gd name="T94" fmla="*/ 145 w 1145"/>
                <a:gd name="T95" fmla="*/ 369 h 1372"/>
                <a:gd name="T96" fmla="*/ 168 w 1145"/>
                <a:gd name="T97" fmla="*/ 370 h 1372"/>
                <a:gd name="T98" fmla="*/ 343 w 1145"/>
                <a:gd name="T99" fmla="*/ 276 h 1372"/>
                <a:gd name="T100" fmla="*/ 369 w 1145"/>
                <a:gd name="T101" fmla="*/ 168 h 1372"/>
                <a:gd name="T102" fmla="*/ 384 w 1145"/>
                <a:gd name="T103" fmla="*/ 130 h 1372"/>
                <a:gd name="T104" fmla="*/ 542 w 1145"/>
                <a:gd name="T105" fmla="*/ 96 h 1372"/>
                <a:gd name="T106" fmla="*/ 731 w 1145"/>
                <a:gd name="T107" fmla="*/ 154 h 1372"/>
                <a:gd name="T108" fmla="*/ 843 w 1145"/>
                <a:gd name="T109" fmla="*/ 81 h 1372"/>
                <a:gd name="T110" fmla="*/ 985 w 1145"/>
                <a:gd name="T111" fmla="*/ 131 h 1372"/>
                <a:gd name="T112" fmla="*/ 1027 w 1145"/>
                <a:gd name="T113" fmla="*/ 275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45" h="1372">
                  <a:moveTo>
                    <a:pt x="1027" y="275"/>
                  </a:moveTo>
                  <a:cubicBezTo>
                    <a:pt x="1045" y="290"/>
                    <a:pt x="1062" y="306"/>
                    <a:pt x="1078" y="323"/>
                  </a:cubicBezTo>
                  <a:cubicBezTo>
                    <a:pt x="1095" y="343"/>
                    <a:pt x="1095" y="343"/>
                    <a:pt x="1095" y="343"/>
                  </a:cubicBezTo>
                  <a:cubicBezTo>
                    <a:pt x="1145" y="301"/>
                    <a:pt x="1145" y="301"/>
                    <a:pt x="1145" y="301"/>
                  </a:cubicBezTo>
                  <a:cubicBezTo>
                    <a:pt x="1138" y="293"/>
                    <a:pt x="1131" y="286"/>
                    <a:pt x="1124" y="278"/>
                  </a:cubicBezTo>
                  <a:cubicBezTo>
                    <a:pt x="1107" y="260"/>
                    <a:pt x="1089" y="242"/>
                    <a:pt x="1069" y="226"/>
                  </a:cubicBezTo>
                  <a:cubicBezTo>
                    <a:pt x="1059" y="217"/>
                    <a:pt x="1056" y="203"/>
                    <a:pt x="1061" y="192"/>
                  </a:cubicBezTo>
                  <a:cubicBezTo>
                    <a:pt x="1066" y="180"/>
                    <a:pt x="1069" y="168"/>
                    <a:pt x="1069" y="156"/>
                  </a:cubicBezTo>
                  <a:cubicBezTo>
                    <a:pt x="1069" y="118"/>
                    <a:pt x="1046" y="84"/>
                    <a:pt x="1011" y="70"/>
                  </a:cubicBezTo>
                  <a:cubicBezTo>
                    <a:pt x="892" y="20"/>
                    <a:pt x="892" y="20"/>
                    <a:pt x="892" y="20"/>
                  </a:cubicBezTo>
                  <a:cubicBezTo>
                    <a:pt x="845" y="0"/>
                    <a:pt x="791" y="22"/>
                    <a:pt x="771" y="69"/>
                  </a:cubicBezTo>
                  <a:cubicBezTo>
                    <a:pt x="771" y="70"/>
                    <a:pt x="771" y="70"/>
                    <a:pt x="770" y="70"/>
                  </a:cubicBezTo>
                  <a:cubicBezTo>
                    <a:pt x="766" y="83"/>
                    <a:pt x="753" y="91"/>
                    <a:pt x="740" y="89"/>
                  </a:cubicBezTo>
                  <a:cubicBezTo>
                    <a:pt x="704" y="86"/>
                    <a:pt x="669" y="86"/>
                    <a:pt x="633" y="89"/>
                  </a:cubicBezTo>
                  <a:cubicBezTo>
                    <a:pt x="620" y="90"/>
                    <a:pt x="608" y="83"/>
                    <a:pt x="603" y="71"/>
                  </a:cubicBezTo>
                  <a:cubicBezTo>
                    <a:pt x="589" y="35"/>
                    <a:pt x="554" y="12"/>
                    <a:pt x="516" y="13"/>
                  </a:cubicBezTo>
                  <a:cubicBezTo>
                    <a:pt x="503" y="13"/>
                    <a:pt x="491" y="16"/>
                    <a:pt x="480" y="20"/>
                  </a:cubicBezTo>
                  <a:cubicBezTo>
                    <a:pt x="360" y="70"/>
                    <a:pt x="360" y="70"/>
                    <a:pt x="360" y="70"/>
                  </a:cubicBezTo>
                  <a:cubicBezTo>
                    <a:pt x="337" y="79"/>
                    <a:pt x="319" y="97"/>
                    <a:pt x="310" y="120"/>
                  </a:cubicBezTo>
                  <a:cubicBezTo>
                    <a:pt x="300" y="143"/>
                    <a:pt x="300" y="169"/>
                    <a:pt x="310" y="192"/>
                  </a:cubicBezTo>
                  <a:cubicBezTo>
                    <a:pt x="311" y="196"/>
                    <a:pt x="312" y="200"/>
                    <a:pt x="312" y="204"/>
                  </a:cubicBezTo>
                  <a:cubicBezTo>
                    <a:pt x="312" y="212"/>
                    <a:pt x="308" y="220"/>
                    <a:pt x="302" y="226"/>
                  </a:cubicBezTo>
                  <a:cubicBezTo>
                    <a:pt x="274" y="249"/>
                    <a:pt x="248" y="275"/>
                    <a:pt x="225" y="303"/>
                  </a:cubicBezTo>
                  <a:cubicBezTo>
                    <a:pt x="217" y="312"/>
                    <a:pt x="204" y="316"/>
                    <a:pt x="193" y="311"/>
                  </a:cubicBezTo>
                  <a:cubicBezTo>
                    <a:pt x="190" y="311"/>
                    <a:pt x="190" y="311"/>
                    <a:pt x="190" y="311"/>
                  </a:cubicBezTo>
                  <a:cubicBezTo>
                    <a:pt x="143" y="291"/>
                    <a:pt x="89" y="314"/>
                    <a:pt x="69" y="361"/>
                  </a:cubicBezTo>
                  <a:cubicBezTo>
                    <a:pt x="69" y="361"/>
                    <a:pt x="69" y="361"/>
                    <a:pt x="69" y="361"/>
                  </a:cubicBezTo>
                  <a:cubicBezTo>
                    <a:pt x="20" y="480"/>
                    <a:pt x="20" y="480"/>
                    <a:pt x="20" y="480"/>
                  </a:cubicBezTo>
                  <a:cubicBezTo>
                    <a:pt x="0" y="527"/>
                    <a:pt x="22" y="581"/>
                    <a:pt x="69" y="601"/>
                  </a:cubicBezTo>
                  <a:cubicBezTo>
                    <a:pt x="70" y="601"/>
                    <a:pt x="70" y="601"/>
                    <a:pt x="70" y="601"/>
                  </a:cubicBezTo>
                  <a:cubicBezTo>
                    <a:pt x="83" y="607"/>
                    <a:pt x="90" y="620"/>
                    <a:pt x="89" y="633"/>
                  </a:cubicBezTo>
                  <a:cubicBezTo>
                    <a:pt x="86" y="669"/>
                    <a:pt x="86" y="705"/>
                    <a:pt x="89" y="741"/>
                  </a:cubicBezTo>
                  <a:cubicBezTo>
                    <a:pt x="90" y="754"/>
                    <a:pt x="82" y="766"/>
                    <a:pt x="70" y="770"/>
                  </a:cubicBezTo>
                  <a:cubicBezTo>
                    <a:pt x="47" y="779"/>
                    <a:pt x="29" y="797"/>
                    <a:pt x="20" y="820"/>
                  </a:cubicBezTo>
                  <a:cubicBezTo>
                    <a:pt x="10" y="843"/>
                    <a:pt x="10" y="869"/>
                    <a:pt x="20" y="891"/>
                  </a:cubicBezTo>
                  <a:cubicBezTo>
                    <a:pt x="69" y="1011"/>
                    <a:pt x="69" y="1011"/>
                    <a:pt x="69" y="1011"/>
                  </a:cubicBezTo>
                  <a:cubicBezTo>
                    <a:pt x="78" y="1034"/>
                    <a:pt x="96" y="1052"/>
                    <a:pt x="119" y="1062"/>
                  </a:cubicBezTo>
                  <a:cubicBezTo>
                    <a:pt x="142" y="1071"/>
                    <a:pt x="168" y="1071"/>
                    <a:pt x="191" y="1062"/>
                  </a:cubicBezTo>
                  <a:cubicBezTo>
                    <a:pt x="203" y="1057"/>
                    <a:pt x="216" y="1060"/>
                    <a:pt x="225" y="1069"/>
                  </a:cubicBezTo>
                  <a:cubicBezTo>
                    <a:pt x="248" y="1097"/>
                    <a:pt x="274" y="1123"/>
                    <a:pt x="302" y="1146"/>
                  </a:cubicBezTo>
                  <a:cubicBezTo>
                    <a:pt x="312" y="1154"/>
                    <a:pt x="315" y="1166"/>
                    <a:pt x="311" y="1178"/>
                  </a:cubicBezTo>
                  <a:cubicBezTo>
                    <a:pt x="310" y="1179"/>
                    <a:pt x="309" y="1180"/>
                    <a:pt x="309" y="1181"/>
                  </a:cubicBezTo>
                  <a:cubicBezTo>
                    <a:pt x="289" y="1228"/>
                    <a:pt x="312" y="1283"/>
                    <a:pt x="359" y="1302"/>
                  </a:cubicBezTo>
                  <a:cubicBezTo>
                    <a:pt x="359" y="1302"/>
                    <a:pt x="359" y="1302"/>
                    <a:pt x="360" y="1303"/>
                  </a:cubicBezTo>
                  <a:cubicBezTo>
                    <a:pt x="479" y="1352"/>
                    <a:pt x="479" y="1352"/>
                    <a:pt x="479" y="1352"/>
                  </a:cubicBezTo>
                  <a:cubicBezTo>
                    <a:pt x="526" y="1372"/>
                    <a:pt x="580" y="1350"/>
                    <a:pt x="600" y="1303"/>
                  </a:cubicBezTo>
                  <a:cubicBezTo>
                    <a:pt x="600" y="1303"/>
                    <a:pt x="600" y="1303"/>
                    <a:pt x="601" y="1302"/>
                  </a:cubicBezTo>
                  <a:cubicBezTo>
                    <a:pt x="606" y="1290"/>
                    <a:pt x="619" y="1282"/>
                    <a:pt x="633" y="1283"/>
                  </a:cubicBezTo>
                  <a:cubicBezTo>
                    <a:pt x="669" y="1286"/>
                    <a:pt x="705" y="1286"/>
                    <a:pt x="741" y="1283"/>
                  </a:cubicBezTo>
                  <a:cubicBezTo>
                    <a:pt x="753" y="1283"/>
                    <a:pt x="765" y="1290"/>
                    <a:pt x="769" y="1302"/>
                  </a:cubicBezTo>
                  <a:cubicBezTo>
                    <a:pt x="779" y="1325"/>
                    <a:pt x="797" y="1343"/>
                    <a:pt x="820" y="1353"/>
                  </a:cubicBezTo>
                  <a:cubicBezTo>
                    <a:pt x="831" y="1358"/>
                    <a:pt x="843" y="1360"/>
                    <a:pt x="855" y="1360"/>
                  </a:cubicBezTo>
                  <a:cubicBezTo>
                    <a:pt x="867" y="1360"/>
                    <a:pt x="879" y="1357"/>
                    <a:pt x="891" y="1353"/>
                  </a:cubicBezTo>
                  <a:cubicBezTo>
                    <a:pt x="1010" y="1303"/>
                    <a:pt x="1010" y="1303"/>
                    <a:pt x="1010" y="1303"/>
                  </a:cubicBezTo>
                  <a:cubicBezTo>
                    <a:pt x="1033" y="1294"/>
                    <a:pt x="1052" y="1276"/>
                    <a:pt x="1061" y="1253"/>
                  </a:cubicBezTo>
                  <a:cubicBezTo>
                    <a:pt x="1071" y="1230"/>
                    <a:pt x="1071" y="1204"/>
                    <a:pt x="1061" y="1181"/>
                  </a:cubicBezTo>
                  <a:cubicBezTo>
                    <a:pt x="1059" y="1177"/>
                    <a:pt x="1058" y="1173"/>
                    <a:pt x="1058" y="1169"/>
                  </a:cubicBezTo>
                  <a:cubicBezTo>
                    <a:pt x="1058" y="1161"/>
                    <a:pt x="1062" y="1153"/>
                    <a:pt x="1069" y="1147"/>
                  </a:cubicBezTo>
                  <a:cubicBezTo>
                    <a:pt x="1089" y="1131"/>
                    <a:pt x="1107" y="1113"/>
                    <a:pt x="1125" y="1094"/>
                  </a:cubicBezTo>
                  <a:cubicBezTo>
                    <a:pt x="1132" y="1086"/>
                    <a:pt x="1138" y="1079"/>
                    <a:pt x="1145" y="1071"/>
                  </a:cubicBezTo>
                  <a:cubicBezTo>
                    <a:pt x="1095" y="1027"/>
                    <a:pt x="1095" y="1027"/>
                    <a:pt x="1095" y="1027"/>
                  </a:cubicBezTo>
                  <a:cubicBezTo>
                    <a:pt x="1089" y="1034"/>
                    <a:pt x="1083" y="1041"/>
                    <a:pt x="1077" y="1047"/>
                  </a:cubicBezTo>
                  <a:cubicBezTo>
                    <a:pt x="1062" y="1064"/>
                    <a:pt x="1045" y="1080"/>
                    <a:pt x="1027" y="1095"/>
                  </a:cubicBezTo>
                  <a:cubicBezTo>
                    <a:pt x="1006" y="1112"/>
                    <a:pt x="994" y="1138"/>
                    <a:pt x="994" y="1165"/>
                  </a:cubicBezTo>
                  <a:cubicBezTo>
                    <a:pt x="994" y="1178"/>
                    <a:pt x="996" y="1190"/>
                    <a:pt x="1001" y="1202"/>
                  </a:cubicBezTo>
                  <a:cubicBezTo>
                    <a:pt x="1005" y="1209"/>
                    <a:pt x="1005" y="1217"/>
                    <a:pt x="1001" y="1224"/>
                  </a:cubicBezTo>
                  <a:cubicBezTo>
                    <a:pt x="999" y="1231"/>
                    <a:pt x="993" y="1237"/>
                    <a:pt x="986" y="1240"/>
                  </a:cubicBezTo>
                  <a:cubicBezTo>
                    <a:pt x="866" y="1289"/>
                    <a:pt x="866" y="1289"/>
                    <a:pt x="866" y="1289"/>
                  </a:cubicBezTo>
                  <a:cubicBezTo>
                    <a:pt x="859" y="1292"/>
                    <a:pt x="851" y="1292"/>
                    <a:pt x="844" y="1289"/>
                  </a:cubicBezTo>
                  <a:cubicBezTo>
                    <a:pt x="836" y="1286"/>
                    <a:pt x="830" y="1280"/>
                    <a:pt x="827" y="1273"/>
                  </a:cubicBezTo>
                  <a:cubicBezTo>
                    <a:pt x="812" y="1235"/>
                    <a:pt x="775" y="1212"/>
                    <a:pt x="735" y="1215"/>
                  </a:cubicBezTo>
                  <a:cubicBezTo>
                    <a:pt x="703" y="1218"/>
                    <a:pt x="671" y="1218"/>
                    <a:pt x="639" y="1215"/>
                  </a:cubicBezTo>
                  <a:cubicBezTo>
                    <a:pt x="597" y="1211"/>
                    <a:pt x="558" y="1234"/>
                    <a:pt x="543" y="1273"/>
                  </a:cubicBezTo>
                  <a:cubicBezTo>
                    <a:pt x="540" y="1280"/>
                    <a:pt x="534" y="1286"/>
                    <a:pt x="527" y="1289"/>
                  </a:cubicBezTo>
                  <a:cubicBezTo>
                    <a:pt x="520" y="1292"/>
                    <a:pt x="512" y="1292"/>
                    <a:pt x="505" y="1289"/>
                  </a:cubicBezTo>
                  <a:cubicBezTo>
                    <a:pt x="385" y="1239"/>
                    <a:pt x="385" y="1239"/>
                    <a:pt x="385" y="1239"/>
                  </a:cubicBezTo>
                  <a:cubicBezTo>
                    <a:pt x="378" y="1236"/>
                    <a:pt x="372" y="1231"/>
                    <a:pt x="369" y="1224"/>
                  </a:cubicBezTo>
                  <a:cubicBezTo>
                    <a:pt x="367" y="1217"/>
                    <a:pt x="367" y="1210"/>
                    <a:pt x="369" y="1203"/>
                  </a:cubicBezTo>
                  <a:cubicBezTo>
                    <a:pt x="371" y="1200"/>
                    <a:pt x="371" y="1200"/>
                    <a:pt x="371" y="1200"/>
                  </a:cubicBezTo>
                  <a:cubicBezTo>
                    <a:pt x="387" y="1163"/>
                    <a:pt x="376" y="1120"/>
                    <a:pt x="345" y="1094"/>
                  </a:cubicBezTo>
                  <a:cubicBezTo>
                    <a:pt x="321" y="1073"/>
                    <a:pt x="298" y="1050"/>
                    <a:pt x="277" y="1025"/>
                  </a:cubicBezTo>
                  <a:cubicBezTo>
                    <a:pt x="259" y="1005"/>
                    <a:pt x="232" y="993"/>
                    <a:pt x="205" y="994"/>
                  </a:cubicBezTo>
                  <a:cubicBezTo>
                    <a:pt x="192" y="994"/>
                    <a:pt x="180" y="996"/>
                    <a:pt x="168" y="1001"/>
                  </a:cubicBezTo>
                  <a:cubicBezTo>
                    <a:pt x="161" y="1005"/>
                    <a:pt x="153" y="1005"/>
                    <a:pt x="146" y="1001"/>
                  </a:cubicBezTo>
                  <a:cubicBezTo>
                    <a:pt x="139" y="999"/>
                    <a:pt x="133" y="993"/>
                    <a:pt x="130" y="986"/>
                  </a:cubicBezTo>
                  <a:cubicBezTo>
                    <a:pt x="79" y="865"/>
                    <a:pt x="79" y="865"/>
                    <a:pt x="79" y="865"/>
                  </a:cubicBezTo>
                  <a:cubicBezTo>
                    <a:pt x="76" y="858"/>
                    <a:pt x="76" y="850"/>
                    <a:pt x="79" y="843"/>
                  </a:cubicBezTo>
                  <a:cubicBezTo>
                    <a:pt x="83" y="836"/>
                    <a:pt x="89" y="830"/>
                    <a:pt x="96" y="827"/>
                  </a:cubicBezTo>
                  <a:cubicBezTo>
                    <a:pt x="134" y="812"/>
                    <a:pt x="157" y="774"/>
                    <a:pt x="153" y="734"/>
                  </a:cubicBezTo>
                  <a:cubicBezTo>
                    <a:pt x="151" y="703"/>
                    <a:pt x="151" y="671"/>
                    <a:pt x="153" y="640"/>
                  </a:cubicBezTo>
                  <a:cubicBezTo>
                    <a:pt x="154" y="636"/>
                    <a:pt x="154" y="632"/>
                    <a:pt x="153" y="629"/>
                  </a:cubicBezTo>
                  <a:cubicBezTo>
                    <a:pt x="153" y="591"/>
                    <a:pt x="130" y="557"/>
                    <a:pt x="95" y="542"/>
                  </a:cubicBezTo>
                  <a:cubicBezTo>
                    <a:pt x="88" y="539"/>
                    <a:pt x="82" y="534"/>
                    <a:pt x="79" y="527"/>
                  </a:cubicBezTo>
                  <a:cubicBezTo>
                    <a:pt x="76" y="519"/>
                    <a:pt x="76" y="511"/>
                    <a:pt x="79" y="504"/>
                  </a:cubicBezTo>
                  <a:cubicBezTo>
                    <a:pt x="129" y="385"/>
                    <a:pt x="129" y="385"/>
                    <a:pt x="129" y="385"/>
                  </a:cubicBezTo>
                  <a:cubicBezTo>
                    <a:pt x="132" y="377"/>
                    <a:pt x="137" y="372"/>
                    <a:pt x="145" y="369"/>
                  </a:cubicBezTo>
                  <a:cubicBezTo>
                    <a:pt x="151" y="366"/>
                    <a:pt x="158" y="366"/>
                    <a:pt x="165" y="369"/>
                  </a:cubicBezTo>
                  <a:cubicBezTo>
                    <a:pt x="168" y="370"/>
                    <a:pt x="168" y="370"/>
                    <a:pt x="168" y="370"/>
                  </a:cubicBezTo>
                  <a:cubicBezTo>
                    <a:pt x="205" y="386"/>
                    <a:pt x="249" y="376"/>
                    <a:pt x="274" y="345"/>
                  </a:cubicBezTo>
                  <a:cubicBezTo>
                    <a:pt x="295" y="320"/>
                    <a:pt x="318" y="297"/>
                    <a:pt x="343" y="276"/>
                  </a:cubicBezTo>
                  <a:cubicBezTo>
                    <a:pt x="364" y="258"/>
                    <a:pt x="376" y="232"/>
                    <a:pt x="376" y="205"/>
                  </a:cubicBezTo>
                  <a:cubicBezTo>
                    <a:pt x="376" y="192"/>
                    <a:pt x="374" y="180"/>
                    <a:pt x="369" y="168"/>
                  </a:cubicBezTo>
                  <a:cubicBezTo>
                    <a:pt x="365" y="161"/>
                    <a:pt x="365" y="153"/>
                    <a:pt x="369" y="146"/>
                  </a:cubicBezTo>
                  <a:cubicBezTo>
                    <a:pt x="371" y="139"/>
                    <a:pt x="377" y="133"/>
                    <a:pt x="384" y="130"/>
                  </a:cubicBezTo>
                  <a:cubicBezTo>
                    <a:pt x="504" y="81"/>
                    <a:pt x="504" y="81"/>
                    <a:pt x="504" y="81"/>
                  </a:cubicBezTo>
                  <a:cubicBezTo>
                    <a:pt x="519" y="75"/>
                    <a:pt x="536" y="82"/>
                    <a:pt x="542" y="96"/>
                  </a:cubicBezTo>
                  <a:cubicBezTo>
                    <a:pt x="557" y="135"/>
                    <a:pt x="596" y="158"/>
                    <a:pt x="638" y="154"/>
                  </a:cubicBezTo>
                  <a:cubicBezTo>
                    <a:pt x="669" y="152"/>
                    <a:pt x="700" y="152"/>
                    <a:pt x="731" y="154"/>
                  </a:cubicBezTo>
                  <a:cubicBezTo>
                    <a:pt x="773" y="159"/>
                    <a:pt x="812" y="135"/>
                    <a:pt x="827" y="97"/>
                  </a:cubicBezTo>
                  <a:cubicBezTo>
                    <a:pt x="830" y="89"/>
                    <a:pt x="836" y="84"/>
                    <a:pt x="843" y="81"/>
                  </a:cubicBezTo>
                  <a:cubicBezTo>
                    <a:pt x="850" y="78"/>
                    <a:pt x="858" y="78"/>
                    <a:pt x="865" y="81"/>
                  </a:cubicBezTo>
                  <a:cubicBezTo>
                    <a:pt x="985" y="131"/>
                    <a:pt x="985" y="131"/>
                    <a:pt x="985" y="131"/>
                  </a:cubicBezTo>
                  <a:cubicBezTo>
                    <a:pt x="999" y="137"/>
                    <a:pt x="1006" y="153"/>
                    <a:pt x="1001" y="168"/>
                  </a:cubicBezTo>
                  <a:cubicBezTo>
                    <a:pt x="986" y="206"/>
                    <a:pt x="996" y="249"/>
                    <a:pt x="1027" y="2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1" name="Freeform 17">
              <a:extLst>
                <a:ext uri="{FF2B5EF4-FFF2-40B4-BE49-F238E27FC236}">
                  <a16:creationId xmlns:a16="http://schemas.microsoft.com/office/drawing/2014/main" id="{941D372F-2046-4D75-C124-0023A91DD6A9}"/>
                </a:ext>
              </a:extLst>
            </p:cNvPr>
            <p:cNvSpPr>
              <a:spLocks/>
            </p:cNvSpPr>
            <p:nvPr/>
          </p:nvSpPr>
          <p:spPr bwMode="auto">
            <a:xfrm>
              <a:off x="10702926" y="5794375"/>
              <a:ext cx="357188" cy="433388"/>
            </a:xfrm>
            <a:custGeom>
              <a:avLst/>
              <a:gdLst>
                <a:gd name="T0" fmla="*/ 490 w 817"/>
                <a:gd name="T1" fmla="*/ 110 h 988"/>
                <a:gd name="T2" fmla="*/ 772 w 817"/>
                <a:gd name="T3" fmla="*/ 228 h 988"/>
                <a:gd name="T4" fmla="*/ 817 w 817"/>
                <a:gd name="T5" fmla="*/ 184 h 988"/>
                <a:gd name="T6" fmla="*/ 184 w 817"/>
                <a:gd name="T7" fmla="*/ 171 h 988"/>
                <a:gd name="T8" fmla="*/ 171 w 817"/>
                <a:gd name="T9" fmla="*/ 804 h 988"/>
                <a:gd name="T10" fmla="*/ 805 w 817"/>
                <a:gd name="T11" fmla="*/ 817 h 988"/>
                <a:gd name="T12" fmla="*/ 817 w 817"/>
                <a:gd name="T13" fmla="*/ 804 h 988"/>
                <a:gd name="T14" fmla="*/ 772 w 817"/>
                <a:gd name="T15" fmla="*/ 760 h 988"/>
                <a:gd name="T16" fmla="*/ 225 w 817"/>
                <a:gd name="T17" fmla="*/ 781 h 988"/>
                <a:gd name="T18" fmla="*/ 204 w 817"/>
                <a:gd name="T19" fmla="*/ 234 h 988"/>
                <a:gd name="T20" fmla="*/ 490 w 817"/>
                <a:gd name="T21" fmla="*/ 110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988">
                  <a:moveTo>
                    <a:pt x="490" y="110"/>
                  </a:moveTo>
                  <a:cubicBezTo>
                    <a:pt x="596" y="109"/>
                    <a:pt x="698" y="152"/>
                    <a:pt x="772" y="228"/>
                  </a:cubicBezTo>
                  <a:cubicBezTo>
                    <a:pt x="817" y="184"/>
                    <a:pt x="817" y="184"/>
                    <a:pt x="817" y="184"/>
                  </a:cubicBezTo>
                  <a:cubicBezTo>
                    <a:pt x="646" y="5"/>
                    <a:pt x="362" y="0"/>
                    <a:pt x="184" y="171"/>
                  </a:cubicBezTo>
                  <a:cubicBezTo>
                    <a:pt x="6" y="342"/>
                    <a:pt x="0" y="626"/>
                    <a:pt x="171" y="804"/>
                  </a:cubicBezTo>
                  <a:cubicBezTo>
                    <a:pt x="343" y="983"/>
                    <a:pt x="626" y="988"/>
                    <a:pt x="805" y="817"/>
                  </a:cubicBezTo>
                  <a:cubicBezTo>
                    <a:pt x="809" y="813"/>
                    <a:pt x="813" y="809"/>
                    <a:pt x="817" y="804"/>
                  </a:cubicBezTo>
                  <a:cubicBezTo>
                    <a:pt x="772" y="760"/>
                    <a:pt x="772" y="760"/>
                    <a:pt x="772" y="760"/>
                  </a:cubicBezTo>
                  <a:cubicBezTo>
                    <a:pt x="626" y="916"/>
                    <a:pt x="382" y="926"/>
                    <a:pt x="225" y="781"/>
                  </a:cubicBezTo>
                  <a:cubicBezTo>
                    <a:pt x="68" y="636"/>
                    <a:pt x="59" y="391"/>
                    <a:pt x="204" y="234"/>
                  </a:cubicBezTo>
                  <a:cubicBezTo>
                    <a:pt x="277" y="154"/>
                    <a:pt x="381" y="109"/>
                    <a:pt x="490" y="1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2" name="Freeform 18">
              <a:extLst>
                <a:ext uri="{FF2B5EF4-FFF2-40B4-BE49-F238E27FC236}">
                  <a16:creationId xmlns:a16="http://schemas.microsoft.com/office/drawing/2014/main" id="{07E46548-1255-4587-5ABC-567CF65D1CC9}"/>
                </a:ext>
              </a:extLst>
            </p:cNvPr>
            <p:cNvSpPr>
              <a:spLocks/>
            </p:cNvSpPr>
            <p:nvPr/>
          </p:nvSpPr>
          <p:spPr bwMode="auto">
            <a:xfrm>
              <a:off x="10971213" y="5651500"/>
              <a:ext cx="227013" cy="142875"/>
            </a:xfrm>
            <a:custGeom>
              <a:avLst/>
              <a:gdLst>
                <a:gd name="T0" fmla="*/ 466 w 516"/>
                <a:gd name="T1" fmla="*/ 328 h 328"/>
                <a:gd name="T2" fmla="*/ 516 w 516"/>
                <a:gd name="T3" fmla="*/ 288 h 328"/>
                <a:gd name="T4" fmla="*/ 10 w 516"/>
                <a:gd name="T5" fmla="*/ 0 h 328"/>
                <a:gd name="T6" fmla="*/ 0 w 516"/>
                <a:gd name="T7" fmla="*/ 64 h 328"/>
                <a:gd name="T8" fmla="*/ 466 w 516"/>
                <a:gd name="T9" fmla="*/ 328 h 328"/>
              </a:gdLst>
              <a:ahLst/>
              <a:cxnLst>
                <a:cxn ang="0">
                  <a:pos x="T0" y="T1"/>
                </a:cxn>
                <a:cxn ang="0">
                  <a:pos x="T2" y="T3"/>
                </a:cxn>
                <a:cxn ang="0">
                  <a:pos x="T4" y="T5"/>
                </a:cxn>
                <a:cxn ang="0">
                  <a:pos x="T6" y="T7"/>
                </a:cxn>
                <a:cxn ang="0">
                  <a:pos x="T8" y="T9"/>
                </a:cxn>
              </a:cxnLst>
              <a:rect l="0" t="0" r="r" b="b"/>
              <a:pathLst>
                <a:path w="516" h="328">
                  <a:moveTo>
                    <a:pt x="466" y="328"/>
                  </a:moveTo>
                  <a:cubicBezTo>
                    <a:pt x="516" y="288"/>
                    <a:pt x="516" y="288"/>
                    <a:pt x="516" y="288"/>
                  </a:cubicBezTo>
                  <a:cubicBezTo>
                    <a:pt x="388" y="134"/>
                    <a:pt x="208" y="31"/>
                    <a:pt x="10" y="0"/>
                  </a:cubicBezTo>
                  <a:cubicBezTo>
                    <a:pt x="0" y="64"/>
                    <a:pt x="0" y="64"/>
                    <a:pt x="0" y="64"/>
                  </a:cubicBezTo>
                  <a:cubicBezTo>
                    <a:pt x="182" y="93"/>
                    <a:pt x="348" y="187"/>
                    <a:pt x="466" y="3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3" name="Freeform 19">
              <a:extLst>
                <a:ext uri="{FF2B5EF4-FFF2-40B4-BE49-F238E27FC236}">
                  <a16:creationId xmlns:a16="http://schemas.microsoft.com/office/drawing/2014/main" id="{5FBAB7F9-8B01-3ED5-A227-1B9F5F224463}"/>
                </a:ext>
              </a:extLst>
            </p:cNvPr>
            <p:cNvSpPr>
              <a:spLocks/>
            </p:cNvSpPr>
            <p:nvPr/>
          </p:nvSpPr>
          <p:spPr bwMode="auto">
            <a:xfrm>
              <a:off x="10556876" y="5649913"/>
              <a:ext cx="306388" cy="306388"/>
            </a:xfrm>
            <a:custGeom>
              <a:avLst/>
              <a:gdLst>
                <a:gd name="T0" fmla="*/ 698 w 698"/>
                <a:gd name="T1" fmla="*/ 64 h 699"/>
                <a:gd name="T2" fmla="*/ 688 w 698"/>
                <a:gd name="T3" fmla="*/ 0 h 699"/>
                <a:gd name="T4" fmla="*/ 0 w 698"/>
                <a:gd name="T5" fmla="*/ 689 h 699"/>
                <a:gd name="T6" fmla="*/ 64 w 698"/>
                <a:gd name="T7" fmla="*/ 699 h 699"/>
                <a:gd name="T8" fmla="*/ 698 w 698"/>
                <a:gd name="T9" fmla="*/ 64 h 699"/>
              </a:gdLst>
              <a:ahLst/>
              <a:cxnLst>
                <a:cxn ang="0">
                  <a:pos x="T0" y="T1"/>
                </a:cxn>
                <a:cxn ang="0">
                  <a:pos x="T2" y="T3"/>
                </a:cxn>
                <a:cxn ang="0">
                  <a:pos x="T4" y="T5"/>
                </a:cxn>
                <a:cxn ang="0">
                  <a:pos x="T6" y="T7"/>
                </a:cxn>
                <a:cxn ang="0">
                  <a:pos x="T8" y="T9"/>
                </a:cxn>
              </a:cxnLst>
              <a:rect l="0" t="0" r="r" b="b"/>
              <a:pathLst>
                <a:path w="698" h="699">
                  <a:moveTo>
                    <a:pt x="698" y="64"/>
                  </a:moveTo>
                  <a:cubicBezTo>
                    <a:pt x="688" y="0"/>
                    <a:pt x="688" y="0"/>
                    <a:pt x="688" y="0"/>
                  </a:cubicBezTo>
                  <a:cubicBezTo>
                    <a:pt x="334" y="57"/>
                    <a:pt x="56" y="335"/>
                    <a:pt x="0" y="689"/>
                  </a:cubicBezTo>
                  <a:cubicBezTo>
                    <a:pt x="64" y="699"/>
                    <a:pt x="64" y="699"/>
                    <a:pt x="64" y="699"/>
                  </a:cubicBezTo>
                  <a:cubicBezTo>
                    <a:pt x="115" y="372"/>
                    <a:pt x="371" y="116"/>
                    <a:pt x="698"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4" name="Freeform 20">
              <a:extLst>
                <a:ext uri="{FF2B5EF4-FFF2-40B4-BE49-F238E27FC236}">
                  <a16:creationId xmlns:a16="http://schemas.microsoft.com/office/drawing/2014/main" id="{50D4669C-E213-BAFC-D385-0874A140CCBE}"/>
                </a:ext>
              </a:extLst>
            </p:cNvPr>
            <p:cNvSpPr>
              <a:spLocks/>
            </p:cNvSpPr>
            <p:nvPr/>
          </p:nvSpPr>
          <p:spPr bwMode="auto">
            <a:xfrm>
              <a:off x="10558463" y="6078538"/>
              <a:ext cx="304800" cy="292100"/>
            </a:xfrm>
            <a:custGeom>
              <a:avLst/>
              <a:gdLst>
                <a:gd name="T0" fmla="*/ 684 w 694"/>
                <a:gd name="T1" fmla="*/ 667 h 667"/>
                <a:gd name="T2" fmla="*/ 694 w 694"/>
                <a:gd name="T3" fmla="*/ 603 h 667"/>
                <a:gd name="T4" fmla="*/ 64 w 694"/>
                <a:gd name="T5" fmla="*/ 0 h 667"/>
                <a:gd name="T6" fmla="*/ 0 w 694"/>
                <a:gd name="T7" fmla="*/ 12 h 667"/>
                <a:gd name="T8" fmla="*/ 684 w 694"/>
                <a:gd name="T9" fmla="*/ 667 h 667"/>
              </a:gdLst>
              <a:ahLst/>
              <a:cxnLst>
                <a:cxn ang="0">
                  <a:pos x="T0" y="T1"/>
                </a:cxn>
                <a:cxn ang="0">
                  <a:pos x="T2" y="T3"/>
                </a:cxn>
                <a:cxn ang="0">
                  <a:pos x="T4" y="T5"/>
                </a:cxn>
                <a:cxn ang="0">
                  <a:pos x="T6" y="T7"/>
                </a:cxn>
                <a:cxn ang="0">
                  <a:pos x="T8" y="T9"/>
                </a:cxn>
              </a:cxnLst>
              <a:rect l="0" t="0" r="r" b="b"/>
              <a:pathLst>
                <a:path w="694" h="667">
                  <a:moveTo>
                    <a:pt x="684" y="667"/>
                  </a:moveTo>
                  <a:cubicBezTo>
                    <a:pt x="694" y="603"/>
                    <a:pt x="694" y="603"/>
                    <a:pt x="694" y="603"/>
                  </a:cubicBezTo>
                  <a:cubicBezTo>
                    <a:pt x="379" y="552"/>
                    <a:pt x="129" y="312"/>
                    <a:pt x="64" y="0"/>
                  </a:cubicBezTo>
                  <a:cubicBezTo>
                    <a:pt x="0" y="12"/>
                    <a:pt x="0" y="12"/>
                    <a:pt x="0" y="12"/>
                  </a:cubicBezTo>
                  <a:cubicBezTo>
                    <a:pt x="70" y="351"/>
                    <a:pt x="342" y="612"/>
                    <a:pt x="684" y="6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5" name="Freeform 21">
              <a:extLst>
                <a:ext uri="{FF2B5EF4-FFF2-40B4-BE49-F238E27FC236}">
                  <a16:creationId xmlns:a16="http://schemas.microsoft.com/office/drawing/2014/main" id="{2B3AEA49-530B-F391-6A45-AE9E0E9A3C44}"/>
                </a:ext>
              </a:extLst>
            </p:cNvPr>
            <p:cNvSpPr>
              <a:spLocks/>
            </p:cNvSpPr>
            <p:nvPr/>
          </p:nvSpPr>
          <p:spPr bwMode="auto">
            <a:xfrm>
              <a:off x="10971213" y="6211888"/>
              <a:ext cx="238125" cy="158750"/>
            </a:xfrm>
            <a:custGeom>
              <a:avLst/>
              <a:gdLst>
                <a:gd name="T0" fmla="*/ 0 w 543"/>
                <a:gd name="T1" fmla="*/ 298 h 362"/>
                <a:gd name="T2" fmla="*/ 10 w 543"/>
                <a:gd name="T3" fmla="*/ 362 h 362"/>
                <a:gd name="T4" fmla="*/ 543 w 543"/>
                <a:gd name="T5" fmla="*/ 39 h 362"/>
                <a:gd name="T6" fmla="*/ 491 w 543"/>
                <a:gd name="T7" fmla="*/ 0 h 362"/>
                <a:gd name="T8" fmla="*/ 0 w 543"/>
                <a:gd name="T9" fmla="*/ 298 h 362"/>
              </a:gdLst>
              <a:ahLst/>
              <a:cxnLst>
                <a:cxn ang="0">
                  <a:pos x="T0" y="T1"/>
                </a:cxn>
                <a:cxn ang="0">
                  <a:pos x="T2" y="T3"/>
                </a:cxn>
                <a:cxn ang="0">
                  <a:pos x="T4" y="T5"/>
                </a:cxn>
                <a:cxn ang="0">
                  <a:pos x="T6" y="T7"/>
                </a:cxn>
                <a:cxn ang="0">
                  <a:pos x="T8" y="T9"/>
                </a:cxn>
              </a:cxnLst>
              <a:rect l="0" t="0" r="r" b="b"/>
              <a:pathLst>
                <a:path w="543" h="362">
                  <a:moveTo>
                    <a:pt x="0" y="298"/>
                  </a:moveTo>
                  <a:cubicBezTo>
                    <a:pt x="10" y="362"/>
                    <a:pt x="10" y="362"/>
                    <a:pt x="10" y="362"/>
                  </a:cubicBezTo>
                  <a:cubicBezTo>
                    <a:pt x="223" y="328"/>
                    <a:pt x="414" y="212"/>
                    <a:pt x="543" y="39"/>
                  </a:cubicBezTo>
                  <a:cubicBezTo>
                    <a:pt x="491" y="0"/>
                    <a:pt x="491" y="0"/>
                    <a:pt x="491" y="0"/>
                  </a:cubicBezTo>
                  <a:cubicBezTo>
                    <a:pt x="373" y="160"/>
                    <a:pt x="196" y="267"/>
                    <a:pt x="0" y="2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6" name="Freeform 22">
              <a:extLst>
                <a:ext uri="{FF2B5EF4-FFF2-40B4-BE49-F238E27FC236}">
                  <a16:creationId xmlns:a16="http://schemas.microsoft.com/office/drawing/2014/main" id="{2E26C0A5-6B67-8662-DDB6-55083B157AC3}"/>
                </a:ext>
              </a:extLst>
            </p:cNvPr>
            <p:cNvSpPr>
              <a:spLocks noEditPoints="1"/>
            </p:cNvSpPr>
            <p:nvPr/>
          </p:nvSpPr>
          <p:spPr bwMode="auto">
            <a:xfrm>
              <a:off x="10902951" y="5840413"/>
              <a:ext cx="492125" cy="338138"/>
            </a:xfrm>
            <a:custGeom>
              <a:avLst/>
              <a:gdLst>
                <a:gd name="T0" fmla="*/ 1106 w 1124"/>
                <a:gd name="T1" fmla="*/ 362 h 772"/>
                <a:gd name="T2" fmla="*/ 594 w 1124"/>
                <a:gd name="T3" fmla="*/ 10 h 772"/>
                <a:gd name="T4" fmla="*/ 550 w 1124"/>
                <a:gd name="T5" fmla="*/ 18 h 772"/>
                <a:gd name="T6" fmla="*/ 544 w 1124"/>
                <a:gd name="T7" fmla="*/ 36 h 772"/>
                <a:gd name="T8" fmla="*/ 544 w 1124"/>
                <a:gd name="T9" fmla="*/ 196 h 772"/>
                <a:gd name="T10" fmla="*/ 96 w 1124"/>
                <a:gd name="T11" fmla="*/ 196 h 772"/>
                <a:gd name="T12" fmla="*/ 0 w 1124"/>
                <a:gd name="T13" fmla="*/ 292 h 772"/>
                <a:gd name="T14" fmla="*/ 0 w 1124"/>
                <a:gd name="T15" fmla="*/ 484 h 772"/>
                <a:gd name="T16" fmla="*/ 96 w 1124"/>
                <a:gd name="T17" fmla="*/ 580 h 772"/>
                <a:gd name="T18" fmla="*/ 544 w 1124"/>
                <a:gd name="T19" fmla="*/ 580 h 772"/>
                <a:gd name="T20" fmla="*/ 544 w 1124"/>
                <a:gd name="T21" fmla="*/ 740 h 772"/>
                <a:gd name="T22" fmla="*/ 576 w 1124"/>
                <a:gd name="T23" fmla="*/ 772 h 772"/>
                <a:gd name="T24" fmla="*/ 594 w 1124"/>
                <a:gd name="T25" fmla="*/ 766 h 772"/>
                <a:gd name="T26" fmla="*/ 1106 w 1124"/>
                <a:gd name="T27" fmla="*/ 414 h 772"/>
                <a:gd name="T28" fmla="*/ 1114 w 1124"/>
                <a:gd name="T29" fmla="*/ 370 h 772"/>
                <a:gd name="T30" fmla="*/ 1106 w 1124"/>
                <a:gd name="T31" fmla="*/ 362 h 772"/>
                <a:gd name="T32" fmla="*/ 608 w 1124"/>
                <a:gd name="T33" fmla="*/ 679 h 772"/>
                <a:gd name="T34" fmla="*/ 608 w 1124"/>
                <a:gd name="T35" fmla="*/ 548 h 772"/>
                <a:gd name="T36" fmla="*/ 576 w 1124"/>
                <a:gd name="T37" fmla="*/ 516 h 772"/>
                <a:gd name="T38" fmla="*/ 96 w 1124"/>
                <a:gd name="T39" fmla="*/ 516 h 772"/>
                <a:gd name="T40" fmla="*/ 64 w 1124"/>
                <a:gd name="T41" fmla="*/ 484 h 772"/>
                <a:gd name="T42" fmla="*/ 64 w 1124"/>
                <a:gd name="T43" fmla="*/ 292 h 772"/>
                <a:gd name="T44" fmla="*/ 96 w 1124"/>
                <a:gd name="T45" fmla="*/ 260 h 772"/>
                <a:gd name="T46" fmla="*/ 576 w 1124"/>
                <a:gd name="T47" fmla="*/ 260 h 772"/>
                <a:gd name="T48" fmla="*/ 608 w 1124"/>
                <a:gd name="T49" fmla="*/ 228 h 772"/>
                <a:gd name="T50" fmla="*/ 608 w 1124"/>
                <a:gd name="T51" fmla="*/ 97 h 772"/>
                <a:gd name="T52" fmla="*/ 1031 w 1124"/>
                <a:gd name="T53" fmla="*/ 388 h 772"/>
                <a:gd name="T54" fmla="*/ 608 w 1124"/>
                <a:gd name="T55" fmla="*/ 679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24" h="772">
                  <a:moveTo>
                    <a:pt x="1106" y="362"/>
                  </a:moveTo>
                  <a:cubicBezTo>
                    <a:pt x="594" y="10"/>
                    <a:pt x="594" y="10"/>
                    <a:pt x="594" y="10"/>
                  </a:cubicBezTo>
                  <a:cubicBezTo>
                    <a:pt x="580" y="0"/>
                    <a:pt x="560" y="3"/>
                    <a:pt x="550" y="18"/>
                  </a:cubicBezTo>
                  <a:cubicBezTo>
                    <a:pt x="546" y="23"/>
                    <a:pt x="544" y="29"/>
                    <a:pt x="544" y="36"/>
                  </a:cubicBezTo>
                  <a:cubicBezTo>
                    <a:pt x="544" y="196"/>
                    <a:pt x="544" y="196"/>
                    <a:pt x="544" y="196"/>
                  </a:cubicBezTo>
                  <a:cubicBezTo>
                    <a:pt x="96" y="196"/>
                    <a:pt x="96" y="196"/>
                    <a:pt x="96" y="196"/>
                  </a:cubicBezTo>
                  <a:cubicBezTo>
                    <a:pt x="43" y="196"/>
                    <a:pt x="0" y="239"/>
                    <a:pt x="0" y="292"/>
                  </a:cubicBezTo>
                  <a:cubicBezTo>
                    <a:pt x="0" y="484"/>
                    <a:pt x="0" y="484"/>
                    <a:pt x="0" y="484"/>
                  </a:cubicBezTo>
                  <a:cubicBezTo>
                    <a:pt x="0" y="537"/>
                    <a:pt x="43" y="580"/>
                    <a:pt x="96" y="580"/>
                  </a:cubicBezTo>
                  <a:cubicBezTo>
                    <a:pt x="544" y="580"/>
                    <a:pt x="544" y="580"/>
                    <a:pt x="544" y="580"/>
                  </a:cubicBezTo>
                  <a:cubicBezTo>
                    <a:pt x="544" y="740"/>
                    <a:pt x="544" y="740"/>
                    <a:pt x="544" y="740"/>
                  </a:cubicBezTo>
                  <a:cubicBezTo>
                    <a:pt x="544" y="758"/>
                    <a:pt x="558" y="772"/>
                    <a:pt x="576" y="772"/>
                  </a:cubicBezTo>
                  <a:cubicBezTo>
                    <a:pt x="583" y="772"/>
                    <a:pt x="589" y="770"/>
                    <a:pt x="594" y="766"/>
                  </a:cubicBezTo>
                  <a:cubicBezTo>
                    <a:pt x="1106" y="414"/>
                    <a:pt x="1106" y="414"/>
                    <a:pt x="1106" y="414"/>
                  </a:cubicBezTo>
                  <a:cubicBezTo>
                    <a:pt x="1121" y="404"/>
                    <a:pt x="1124" y="384"/>
                    <a:pt x="1114" y="370"/>
                  </a:cubicBezTo>
                  <a:cubicBezTo>
                    <a:pt x="1112" y="367"/>
                    <a:pt x="1109" y="364"/>
                    <a:pt x="1106" y="362"/>
                  </a:cubicBezTo>
                  <a:close/>
                  <a:moveTo>
                    <a:pt x="608" y="679"/>
                  </a:moveTo>
                  <a:cubicBezTo>
                    <a:pt x="608" y="548"/>
                    <a:pt x="608" y="548"/>
                    <a:pt x="608" y="548"/>
                  </a:cubicBezTo>
                  <a:cubicBezTo>
                    <a:pt x="608" y="530"/>
                    <a:pt x="594" y="516"/>
                    <a:pt x="576" y="516"/>
                  </a:cubicBezTo>
                  <a:cubicBezTo>
                    <a:pt x="96" y="516"/>
                    <a:pt x="96" y="516"/>
                    <a:pt x="96" y="516"/>
                  </a:cubicBezTo>
                  <a:cubicBezTo>
                    <a:pt x="78" y="516"/>
                    <a:pt x="64" y="502"/>
                    <a:pt x="64" y="484"/>
                  </a:cubicBezTo>
                  <a:cubicBezTo>
                    <a:pt x="64" y="292"/>
                    <a:pt x="64" y="292"/>
                    <a:pt x="64" y="292"/>
                  </a:cubicBezTo>
                  <a:cubicBezTo>
                    <a:pt x="64" y="274"/>
                    <a:pt x="78" y="260"/>
                    <a:pt x="96" y="260"/>
                  </a:cubicBezTo>
                  <a:cubicBezTo>
                    <a:pt x="576" y="260"/>
                    <a:pt x="576" y="260"/>
                    <a:pt x="576" y="260"/>
                  </a:cubicBezTo>
                  <a:cubicBezTo>
                    <a:pt x="594" y="260"/>
                    <a:pt x="608" y="246"/>
                    <a:pt x="608" y="228"/>
                  </a:cubicBezTo>
                  <a:cubicBezTo>
                    <a:pt x="608" y="97"/>
                    <a:pt x="608" y="97"/>
                    <a:pt x="608" y="97"/>
                  </a:cubicBezTo>
                  <a:cubicBezTo>
                    <a:pt x="1031" y="388"/>
                    <a:pt x="1031" y="388"/>
                    <a:pt x="1031" y="388"/>
                  </a:cubicBezTo>
                  <a:lnTo>
                    <a:pt x="608" y="6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7" name="Rectangle 23">
              <a:extLst>
                <a:ext uri="{FF2B5EF4-FFF2-40B4-BE49-F238E27FC236}">
                  <a16:creationId xmlns:a16="http://schemas.microsoft.com/office/drawing/2014/main" id="{795AD1B6-AA33-4687-7BFF-23208FF1F40D}"/>
                </a:ext>
              </a:extLst>
            </p:cNvPr>
            <p:cNvSpPr>
              <a:spLocks noChangeArrowheads="1"/>
            </p:cNvSpPr>
            <p:nvPr/>
          </p:nvSpPr>
          <p:spPr bwMode="auto">
            <a:xfrm>
              <a:off x="10552113" y="5995988"/>
              <a:ext cx="28575" cy="28575"/>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8" name="Rectangle 24">
              <a:extLst>
                <a:ext uri="{FF2B5EF4-FFF2-40B4-BE49-F238E27FC236}">
                  <a16:creationId xmlns:a16="http://schemas.microsoft.com/office/drawing/2014/main" id="{E7E533A9-C244-B85C-AD49-A349FFDBA220}"/>
                </a:ext>
              </a:extLst>
            </p:cNvPr>
            <p:cNvSpPr>
              <a:spLocks noChangeArrowheads="1"/>
            </p:cNvSpPr>
            <p:nvPr/>
          </p:nvSpPr>
          <p:spPr bwMode="auto">
            <a:xfrm>
              <a:off x="10902951" y="5645150"/>
              <a:ext cx="28575" cy="28575"/>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39" name="Rectangle 25">
              <a:extLst>
                <a:ext uri="{FF2B5EF4-FFF2-40B4-BE49-F238E27FC236}">
                  <a16:creationId xmlns:a16="http://schemas.microsoft.com/office/drawing/2014/main" id="{877FC455-F3BC-C1F4-C5FC-7FB487FAFCC5}"/>
                </a:ext>
              </a:extLst>
            </p:cNvPr>
            <p:cNvSpPr>
              <a:spLocks noChangeArrowheads="1"/>
            </p:cNvSpPr>
            <p:nvPr/>
          </p:nvSpPr>
          <p:spPr bwMode="auto">
            <a:xfrm>
              <a:off x="10902951" y="6346825"/>
              <a:ext cx="28575" cy="28575"/>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grpSp>
      <p:grpSp>
        <p:nvGrpSpPr>
          <p:cNvPr id="140" name="Group 139">
            <a:extLst>
              <a:ext uri="{FF2B5EF4-FFF2-40B4-BE49-F238E27FC236}">
                <a16:creationId xmlns:a16="http://schemas.microsoft.com/office/drawing/2014/main" id="{D4D1EA66-595B-CE22-8FCE-E7A85E0FBA78}"/>
              </a:ext>
            </a:extLst>
          </p:cNvPr>
          <p:cNvGrpSpPr/>
          <p:nvPr/>
        </p:nvGrpSpPr>
        <p:grpSpPr>
          <a:xfrm>
            <a:off x="5842945" y="1736896"/>
            <a:ext cx="603690" cy="582168"/>
            <a:chOff x="10720388" y="5365750"/>
            <a:chExt cx="846138" cy="815975"/>
          </a:xfrm>
          <a:solidFill>
            <a:srgbClr val="262626"/>
          </a:solidFill>
        </p:grpSpPr>
        <p:sp>
          <p:nvSpPr>
            <p:cNvPr id="141" name="Freeform 29">
              <a:extLst>
                <a:ext uri="{FF2B5EF4-FFF2-40B4-BE49-F238E27FC236}">
                  <a16:creationId xmlns:a16="http://schemas.microsoft.com/office/drawing/2014/main" id="{41C056D9-9D9C-2E21-85B2-8DF583B95E47}"/>
                </a:ext>
              </a:extLst>
            </p:cNvPr>
            <p:cNvSpPr>
              <a:spLocks noEditPoints="1"/>
            </p:cNvSpPr>
            <p:nvPr/>
          </p:nvSpPr>
          <p:spPr bwMode="auto">
            <a:xfrm>
              <a:off x="10720388" y="5365750"/>
              <a:ext cx="846138" cy="815975"/>
            </a:xfrm>
            <a:custGeom>
              <a:avLst/>
              <a:gdLst>
                <a:gd name="T0" fmla="*/ 1730 w 2128"/>
                <a:gd name="T1" fmla="*/ 669 h 2048"/>
                <a:gd name="T2" fmla="*/ 1677 w 2128"/>
                <a:gd name="T3" fmla="*/ 249 h 2048"/>
                <a:gd name="T4" fmla="*/ 1443 w 2128"/>
                <a:gd name="T5" fmla="*/ 19 h 2048"/>
                <a:gd name="T6" fmla="*/ 664 w 2128"/>
                <a:gd name="T7" fmla="*/ 0 h 2048"/>
                <a:gd name="T8" fmla="*/ 476 w 2128"/>
                <a:gd name="T9" fmla="*/ 1203 h 2048"/>
                <a:gd name="T10" fmla="*/ 328 w 2128"/>
                <a:gd name="T11" fmla="*/ 1312 h 2048"/>
                <a:gd name="T12" fmla="*/ 328 w 2128"/>
                <a:gd name="T13" fmla="*/ 1465 h 2048"/>
                <a:gd name="T14" fmla="*/ 173 w 2128"/>
                <a:gd name="T15" fmla="*/ 1960 h 2048"/>
                <a:gd name="T16" fmla="*/ 904 w 2128"/>
                <a:gd name="T17" fmla="*/ 2032 h 2048"/>
                <a:gd name="T18" fmla="*/ 981 w 2128"/>
                <a:gd name="T19" fmla="*/ 1847 h 2048"/>
                <a:gd name="T20" fmla="*/ 1053 w 2128"/>
                <a:gd name="T21" fmla="*/ 1776 h 2048"/>
                <a:gd name="T22" fmla="*/ 1304 w 2128"/>
                <a:gd name="T23" fmla="*/ 2048 h 2048"/>
                <a:gd name="T24" fmla="*/ 2128 w 2128"/>
                <a:gd name="T25" fmla="*/ 1797 h 2048"/>
                <a:gd name="T26" fmla="*/ 1877 w 2128"/>
                <a:gd name="T27" fmla="*/ 669 h 2048"/>
                <a:gd name="T28" fmla="*/ 1621 w 2128"/>
                <a:gd name="T29" fmla="*/ 283 h 2048"/>
                <a:gd name="T30" fmla="*/ 1621 w 2128"/>
                <a:gd name="T31" fmla="*/ 283 h 2048"/>
                <a:gd name="T32" fmla="*/ 1622 w 2128"/>
                <a:gd name="T33" fmla="*/ 284 h 2048"/>
                <a:gd name="T34" fmla="*/ 1622 w 2128"/>
                <a:gd name="T35" fmla="*/ 284 h 2048"/>
                <a:gd name="T36" fmla="*/ 1622 w 2128"/>
                <a:gd name="T37" fmla="*/ 284 h 2048"/>
                <a:gd name="T38" fmla="*/ 1461 w 2128"/>
                <a:gd name="T39" fmla="*/ 114 h 2048"/>
                <a:gd name="T40" fmla="*/ 436 w 2128"/>
                <a:gd name="T41" fmla="*/ 1268 h 2048"/>
                <a:gd name="T42" fmla="*/ 949 w 2128"/>
                <a:gd name="T43" fmla="*/ 1312 h 2048"/>
                <a:gd name="T44" fmla="*/ 436 w 2128"/>
                <a:gd name="T45" fmla="*/ 1356 h 2048"/>
                <a:gd name="T46" fmla="*/ 436 w 2128"/>
                <a:gd name="T47" fmla="*/ 1268 h 2048"/>
                <a:gd name="T48" fmla="*/ 904 w 2128"/>
                <a:gd name="T49" fmla="*/ 1420 h 2048"/>
                <a:gd name="T50" fmla="*/ 904 w 2128"/>
                <a:gd name="T51" fmla="*/ 1509 h 2048"/>
                <a:gd name="T52" fmla="*/ 540 w 2128"/>
                <a:gd name="T53" fmla="*/ 1494 h 2048"/>
                <a:gd name="T54" fmla="*/ 457 w 2128"/>
                <a:gd name="T55" fmla="*/ 1485 h 2048"/>
                <a:gd name="T56" fmla="*/ 392 w 2128"/>
                <a:gd name="T57" fmla="*/ 1465 h 2048"/>
                <a:gd name="T58" fmla="*/ 949 w 2128"/>
                <a:gd name="T59" fmla="*/ 1617 h 2048"/>
                <a:gd name="T60" fmla="*/ 724 w 2128"/>
                <a:gd name="T61" fmla="*/ 1662 h 2048"/>
                <a:gd name="T62" fmla="*/ 904 w 2128"/>
                <a:gd name="T63" fmla="*/ 1573 h 2048"/>
                <a:gd name="T64" fmla="*/ 280 w 2128"/>
                <a:gd name="T65" fmla="*/ 1560 h 2048"/>
                <a:gd name="T66" fmla="*/ 192 w 2128"/>
                <a:gd name="T67" fmla="*/ 1625 h 2048"/>
                <a:gd name="T68" fmla="*/ 157 w 2128"/>
                <a:gd name="T69" fmla="*/ 1685 h 2048"/>
                <a:gd name="T70" fmla="*/ 195 w 2128"/>
                <a:gd name="T71" fmla="*/ 1733 h 2048"/>
                <a:gd name="T72" fmla="*/ 157 w 2128"/>
                <a:gd name="T73" fmla="*/ 1685 h 2048"/>
                <a:gd name="T74" fmla="*/ 147 w 2128"/>
                <a:gd name="T75" fmla="*/ 1793 h 2048"/>
                <a:gd name="T76" fmla="*/ 208 w 2128"/>
                <a:gd name="T77" fmla="*/ 1844 h 2048"/>
                <a:gd name="T78" fmla="*/ 203 w 2128"/>
                <a:gd name="T79" fmla="*/ 1905 h 2048"/>
                <a:gd name="T80" fmla="*/ 280 w 2128"/>
                <a:gd name="T81" fmla="*/ 1957 h 2048"/>
                <a:gd name="T82" fmla="*/ 477 w 2128"/>
                <a:gd name="T83" fmla="*/ 1972 h 2048"/>
                <a:gd name="T84" fmla="*/ 612 w 2128"/>
                <a:gd name="T85" fmla="*/ 1601 h 2048"/>
                <a:gd name="T86" fmla="*/ 904 w 2128"/>
                <a:gd name="T87" fmla="*/ 1967 h 2048"/>
                <a:gd name="T88" fmla="*/ 714 w 2128"/>
                <a:gd name="T89" fmla="*/ 1879 h 2048"/>
                <a:gd name="T90" fmla="*/ 949 w 2128"/>
                <a:gd name="T91" fmla="*/ 1923 h 2048"/>
                <a:gd name="T92" fmla="*/ 948 w 2128"/>
                <a:gd name="T93" fmla="*/ 1776 h 2048"/>
                <a:gd name="T94" fmla="*/ 736 w 2128"/>
                <a:gd name="T95" fmla="*/ 1814 h 2048"/>
                <a:gd name="T96" fmla="*/ 904 w 2128"/>
                <a:gd name="T97" fmla="*/ 1726 h 2048"/>
                <a:gd name="T98" fmla="*/ 1053 w 2128"/>
                <a:gd name="T99" fmla="*/ 1711 h 2048"/>
                <a:gd name="T100" fmla="*/ 981 w 2128"/>
                <a:gd name="T101" fmla="*/ 1694 h 2048"/>
                <a:gd name="T102" fmla="*/ 1013 w 2128"/>
                <a:gd name="T103" fmla="*/ 1465 h 2048"/>
                <a:gd name="T104" fmla="*/ 904 w 2128"/>
                <a:gd name="T105" fmla="*/ 1203 h 2048"/>
                <a:gd name="T106" fmla="*/ 540 w 2128"/>
                <a:gd name="T107" fmla="*/ 188 h 2048"/>
                <a:gd name="T108" fmla="*/ 1396 w 2128"/>
                <a:gd name="T109" fmla="*/ 64 h 2048"/>
                <a:gd name="T110" fmla="*/ 1429 w 2128"/>
                <a:gd name="T111" fmla="*/ 349 h 2048"/>
                <a:gd name="T112" fmla="*/ 1665 w 2128"/>
                <a:gd name="T113" fmla="*/ 669 h 2048"/>
                <a:gd name="T114" fmla="*/ 1053 w 2128"/>
                <a:gd name="T115" fmla="*/ 920 h 2048"/>
                <a:gd name="T116" fmla="*/ 2067 w 2128"/>
                <a:gd name="T117" fmla="*/ 1797 h 2048"/>
                <a:gd name="T118" fmla="*/ 1304 w 2128"/>
                <a:gd name="T119" fmla="*/ 1988 h 2048"/>
                <a:gd name="T120" fmla="*/ 1114 w 2128"/>
                <a:gd name="T121" fmla="*/ 920 h 2048"/>
                <a:gd name="T122" fmla="*/ 1877 w 2128"/>
                <a:gd name="T123" fmla="*/ 730 h 2048"/>
                <a:gd name="T124" fmla="*/ 2067 w 2128"/>
                <a:gd name="T125" fmla="*/ 179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28" h="2048">
                  <a:moveTo>
                    <a:pt x="1877" y="669"/>
                  </a:moveTo>
                  <a:cubicBezTo>
                    <a:pt x="1730" y="669"/>
                    <a:pt x="1730" y="669"/>
                    <a:pt x="1730" y="669"/>
                  </a:cubicBezTo>
                  <a:cubicBezTo>
                    <a:pt x="1730" y="379"/>
                    <a:pt x="1730" y="379"/>
                    <a:pt x="1730" y="379"/>
                  </a:cubicBezTo>
                  <a:cubicBezTo>
                    <a:pt x="1730" y="329"/>
                    <a:pt x="1710" y="283"/>
                    <a:pt x="1677" y="249"/>
                  </a:cubicBezTo>
                  <a:cubicBezTo>
                    <a:pt x="1582" y="149"/>
                    <a:pt x="1582" y="149"/>
                    <a:pt x="1582" y="149"/>
                  </a:cubicBezTo>
                  <a:cubicBezTo>
                    <a:pt x="1501" y="66"/>
                    <a:pt x="1491" y="42"/>
                    <a:pt x="1443" y="19"/>
                  </a:cubicBezTo>
                  <a:cubicBezTo>
                    <a:pt x="1420" y="8"/>
                    <a:pt x="1391" y="0"/>
                    <a:pt x="1361" y="0"/>
                  </a:cubicBezTo>
                  <a:cubicBezTo>
                    <a:pt x="664" y="0"/>
                    <a:pt x="664" y="0"/>
                    <a:pt x="664" y="0"/>
                  </a:cubicBezTo>
                  <a:cubicBezTo>
                    <a:pt x="560" y="0"/>
                    <a:pt x="476" y="84"/>
                    <a:pt x="476" y="188"/>
                  </a:cubicBezTo>
                  <a:cubicBezTo>
                    <a:pt x="476" y="1203"/>
                    <a:pt x="476" y="1203"/>
                    <a:pt x="476" y="1203"/>
                  </a:cubicBezTo>
                  <a:cubicBezTo>
                    <a:pt x="436" y="1203"/>
                    <a:pt x="436" y="1203"/>
                    <a:pt x="436" y="1203"/>
                  </a:cubicBezTo>
                  <a:cubicBezTo>
                    <a:pt x="376" y="1203"/>
                    <a:pt x="328" y="1252"/>
                    <a:pt x="328" y="1312"/>
                  </a:cubicBezTo>
                  <a:cubicBezTo>
                    <a:pt x="328" y="1342"/>
                    <a:pt x="340" y="1369"/>
                    <a:pt x="359" y="1388"/>
                  </a:cubicBezTo>
                  <a:cubicBezTo>
                    <a:pt x="340" y="1408"/>
                    <a:pt x="328" y="1435"/>
                    <a:pt x="328" y="1465"/>
                  </a:cubicBezTo>
                  <a:cubicBezTo>
                    <a:pt x="328" y="1476"/>
                    <a:pt x="329" y="1482"/>
                    <a:pt x="330" y="1486"/>
                  </a:cubicBezTo>
                  <a:cubicBezTo>
                    <a:pt x="94" y="1510"/>
                    <a:pt x="0" y="1802"/>
                    <a:pt x="173" y="1960"/>
                  </a:cubicBezTo>
                  <a:cubicBezTo>
                    <a:pt x="225" y="2008"/>
                    <a:pt x="294" y="2035"/>
                    <a:pt x="369" y="2032"/>
                  </a:cubicBezTo>
                  <a:cubicBezTo>
                    <a:pt x="394" y="2032"/>
                    <a:pt x="904" y="2032"/>
                    <a:pt x="904" y="2032"/>
                  </a:cubicBezTo>
                  <a:cubicBezTo>
                    <a:pt x="964" y="2032"/>
                    <a:pt x="1013" y="1983"/>
                    <a:pt x="1013" y="1923"/>
                  </a:cubicBezTo>
                  <a:cubicBezTo>
                    <a:pt x="1013" y="1893"/>
                    <a:pt x="1001" y="1866"/>
                    <a:pt x="981" y="1847"/>
                  </a:cubicBezTo>
                  <a:cubicBezTo>
                    <a:pt x="1000" y="1828"/>
                    <a:pt x="1011" y="1803"/>
                    <a:pt x="1013" y="1776"/>
                  </a:cubicBezTo>
                  <a:cubicBezTo>
                    <a:pt x="1053" y="1776"/>
                    <a:pt x="1053" y="1776"/>
                    <a:pt x="1053" y="1776"/>
                  </a:cubicBezTo>
                  <a:cubicBezTo>
                    <a:pt x="1053" y="1797"/>
                    <a:pt x="1053" y="1797"/>
                    <a:pt x="1053" y="1797"/>
                  </a:cubicBezTo>
                  <a:cubicBezTo>
                    <a:pt x="1053" y="1936"/>
                    <a:pt x="1166" y="2048"/>
                    <a:pt x="1304" y="2048"/>
                  </a:cubicBezTo>
                  <a:cubicBezTo>
                    <a:pt x="1877" y="2048"/>
                    <a:pt x="1877" y="2048"/>
                    <a:pt x="1877" y="2048"/>
                  </a:cubicBezTo>
                  <a:cubicBezTo>
                    <a:pt x="2015" y="2048"/>
                    <a:pt x="2128" y="1936"/>
                    <a:pt x="2128" y="1797"/>
                  </a:cubicBezTo>
                  <a:cubicBezTo>
                    <a:pt x="2128" y="920"/>
                    <a:pt x="2128" y="920"/>
                    <a:pt x="2128" y="920"/>
                  </a:cubicBezTo>
                  <a:cubicBezTo>
                    <a:pt x="2128" y="782"/>
                    <a:pt x="2015" y="669"/>
                    <a:pt x="1877" y="669"/>
                  </a:cubicBezTo>
                  <a:close/>
                  <a:moveTo>
                    <a:pt x="1621" y="283"/>
                  </a:moveTo>
                  <a:cubicBezTo>
                    <a:pt x="1621" y="283"/>
                    <a:pt x="1621" y="283"/>
                    <a:pt x="1621" y="283"/>
                  </a:cubicBezTo>
                  <a:cubicBezTo>
                    <a:pt x="1621" y="283"/>
                    <a:pt x="1621" y="283"/>
                    <a:pt x="1621" y="283"/>
                  </a:cubicBezTo>
                  <a:cubicBezTo>
                    <a:pt x="1621" y="283"/>
                    <a:pt x="1621" y="283"/>
                    <a:pt x="1621" y="283"/>
                  </a:cubicBezTo>
                  <a:cubicBezTo>
                    <a:pt x="1621" y="283"/>
                    <a:pt x="1621" y="283"/>
                    <a:pt x="1621" y="283"/>
                  </a:cubicBezTo>
                  <a:cubicBezTo>
                    <a:pt x="1621" y="284"/>
                    <a:pt x="1621" y="284"/>
                    <a:pt x="1622" y="284"/>
                  </a:cubicBezTo>
                  <a:cubicBezTo>
                    <a:pt x="1622" y="284"/>
                    <a:pt x="1622" y="284"/>
                    <a:pt x="1622" y="284"/>
                  </a:cubicBezTo>
                  <a:cubicBezTo>
                    <a:pt x="1622" y="284"/>
                    <a:pt x="1622" y="284"/>
                    <a:pt x="1622" y="284"/>
                  </a:cubicBezTo>
                  <a:cubicBezTo>
                    <a:pt x="1622" y="284"/>
                    <a:pt x="1622" y="284"/>
                    <a:pt x="1622" y="284"/>
                  </a:cubicBezTo>
                  <a:cubicBezTo>
                    <a:pt x="1622" y="284"/>
                    <a:pt x="1622" y="284"/>
                    <a:pt x="1622" y="284"/>
                  </a:cubicBezTo>
                  <a:cubicBezTo>
                    <a:pt x="1461" y="284"/>
                    <a:pt x="1461" y="284"/>
                    <a:pt x="1461" y="284"/>
                  </a:cubicBezTo>
                  <a:cubicBezTo>
                    <a:pt x="1461" y="114"/>
                    <a:pt x="1461" y="114"/>
                    <a:pt x="1461" y="114"/>
                  </a:cubicBezTo>
                  <a:cubicBezTo>
                    <a:pt x="1587" y="247"/>
                    <a:pt x="1616" y="277"/>
                    <a:pt x="1621" y="283"/>
                  </a:cubicBezTo>
                  <a:close/>
                  <a:moveTo>
                    <a:pt x="436" y="1268"/>
                  </a:moveTo>
                  <a:cubicBezTo>
                    <a:pt x="904" y="1268"/>
                    <a:pt x="904" y="1268"/>
                    <a:pt x="904" y="1268"/>
                  </a:cubicBezTo>
                  <a:cubicBezTo>
                    <a:pt x="929" y="1268"/>
                    <a:pt x="949" y="1287"/>
                    <a:pt x="949" y="1312"/>
                  </a:cubicBezTo>
                  <a:cubicBezTo>
                    <a:pt x="949" y="1336"/>
                    <a:pt x="929" y="1356"/>
                    <a:pt x="904" y="1356"/>
                  </a:cubicBezTo>
                  <a:cubicBezTo>
                    <a:pt x="436" y="1356"/>
                    <a:pt x="436" y="1356"/>
                    <a:pt x="436" y="1356"/>
                  </a:cubicBezTo>
                  <a:cubicBezTo>
                    <a:pt x="412" y="1356"/>
                    <a:pt x="392" y="1336"/>
                    <a:pt x="392" y="1312"/>
                  </a:cubicBezTo>
                  <a:cubicBezTo>
                    <a:pt x="392" y="1287"/>
                    <a:pt x="412" y="1268"/>
                    <a:pt x="436" y="1268"/>
                  </a:cubicBezTo>
                  <a:close/>
                  <a:moveTo>
                    <a:pt x="436" y="1420"/>
                  </a:moveTo>
                  <a:cubicBezTo>
                    <a:pt x="904" y="1420"/>
                    <a:pt x="904" y="1420"/>
                    <a:pt x="904" y="1420"/>
                  </a:cubicBezTo>
                  <a:cubicBezTo>
                    <a:pt x="929" y="1420"/>
                    <a:pt x="949" y="1440"/>
                    <a:pt x="949" y="1465"/>
                  </a:cubicBezTo>
                  <a:cubicBezTo>
                    <a:pt x="949" y="1489"/>
                    <a:pt x="929" y="1509"/>
                    <a:pt x="904" y="1509"/>
                  </a:cubicBezTo>
                  <a:cubicBezTo>
                    <a:pt x="581" y="1509"/>
                    <a:pt x="581" y="1509"/>
                    <a:pt x="581" y="1509"/>
                  </a:cubicBezTo>
                  <a:cubicBezTo>
                    <a:pt x="568" y="1503"/>
                    <a:pt x="554" y="1498"/>
                    <a:pt x="540" y="1494"/>
                  </a:cubicBezTo>
                  <a:cubicBezTo>
                    <a:pt x="519" y="1488"/>
                    <a:pt x="498" y="1485"/>
                    <a:pt x="476" y="1485"/>
                  </a:cubicBezTo>
                  <a:cubicBezTo>
                    <a:pt x="470" y="1484"/>
                    <a:pt x="463" y="1484"/>
                    <a:pt x="457" y="1485"/>
                  </a:cubicBezTo>
                  <a:cubicBezTo>
                    <a:pt x="397" y="1485"/>
                    <a:pt x="397" y="1485"/>
                    <a:pt x="397" y="1485"/>
                  </a:cubicBezTo>
                  <a:cubicBezTo>
                    <a:pt x="394" y="1479"/>
                    <a:pt x="392" y="1472"/>
                    <a:pt x="392" y="1465"/>
                  </a:cubicBezTo>
                  <a:cubicBezTo>
                    <a:pt x="392" y="1440"/>
                    <a:pt x="412" y="1420"/>
                    <a:pt x="436" y="1420"/>
                  </a:cubicBezTo>
                  <a:close/>
                  <a:moveTo>
                    <a:pt x="949" y="1617"/>
                  </a:moveTo>
                  <a:cubicBezTo>
                    <a:pt x="949" y="1642"/>
                    <a:pt x="929" y="1662"/>
                    <a:pt x="904" y="1662"/>
                  </a:cubicBezTo>
                  <a:cubicBezTo>
                    <a:pt x="724" y="1662"/>
                    <a:pt x="724" y="1662"/>
                    <a:pt x="724" y="1662"/>
                  </a:cubicBezTo>
                  <a:cubicBezTo>
                    <a:pt x="712" y="1629"/>
                    <a:pt x="694" y="1599"/>
                    <a:pt x="670" y="1573"/>
                  </a:cubicBezTo>
                  <a:cubicBezTo>
                    <a:pt x="904" y="1573"/>
                    <a:pt x="904" y="1573"/>
                    <a:pt x="904" y="1573"/>
                  </a:cubicBezTo>
                  <a:cubicBezTo>
                    <a:pt x="929" y="1573"/>
                    <a:pt x="949" y="1593"/>
                    <a:pt x="949" y="1617"/>
                  </a:cubicBezTo>
                  <a:close/>
                  <a:moveTo>
                    <a:pt x="280" y="1560"/>
                  </a:moveTo>
                  <a:cubicBezTo>
                    <a:pt x="260" y="1578"/>
                    <a:pt x="243" y="1600"/>
                    <a:pt x="229" y="1625"/>
                  </a:cubicBezTo>
                  <a:cubicBezTo>
                    <a:pt x="192" y="1625"/>
                    <a:pt x="192" y="1625"/>
                    <a:pt x="192" y="1625"/>
                  </a:cubicBezTo>
                  <a:cubicBezTo>
                    <a:pt x="216" y="1594"/>
                    <a:pt x="246" y="1573"/>
                    <a:pt x="280" y="1560"/>
                  </a:cubicBezTo>
                  <a:close/>
                  <a:moveTo>
                    <a:pt x="157" y="1685"/>
                  </a:moveTo>
                  <a:cubicBezTo>
                    <a:pt x="204" y="1685"/>
                    <a:pt x="204" y="1685"/>
                    <a:pt x="204" y="1685"/>
                  </a:cubicBezTo>
                  <a:cubicBezTo>
                    <a:pt x="203" y="1689"/>
                    <a:pt x="198" y="1707"/>
                    <a:pt x="195" y="1733"/>
                  </a:cubicBezTo>
                  <a:cubicBezTo>
                    <a:pt x="146" y="1733"/>
                    <a:pt x="146" y="1733"/>
                    <a:pt x="146" y="1733"/>
                  </a:cubicBezTo>
                  <a:cubicBezTo>
                    <a:pt x="148" y="1717"/>
                    <a:pt x="152" y="1700"/>
                    <a:pt x="157" y="1685"/>
                  </a:cubicBezTo>
                  <a:close/>
                  <a:moveTo>
                    <a:pt x="163" y="1844"/>
                  </a:moveTo>
                  <a:cubicBezTo>
                    <a:pt x="155" y="1828"/>
                    <a:pt x="150" y="1811"/>
                    <a:pt x="147" y="1793"/>
                  </a:cubicBezTo>
                  <a:cubicBezTo>
                    <a:pt x="197" y="1793"/>
                    <a:pt x="197" y="1793"/>
                    <a:pt x="197" y="1793"/>
                  </a:cubicBezTo>
                  <a:cubicBezTo>
                    <a:pt x="205" y="1843"/>
                    <a:pt x="206" y="1835"/>
                    <a:pt x="208" y="1844"/>
                  </a:cubicBezTo>
                  <a:lnTo>
                    <a:pt x="163" y="1844"/>
                  </a:lnTo>
                  <a:close/>
                  <a:moveTo>
                    <a:pt x="203" y="1905"/>
                  </a:moveTo>
                  <a:cubicBezTo>
                    <a:pt x="222" y="1905"/>
                    <a:pt x="234" y="1905"/>
                    <a:pt x="237" y="1905"/>
                  </a:cubicBezTo>
                  <a:cubicBezTo>
                    <a:pt x="249" y="1924"/>
                    <a:pt x="263" y="1941"/>
                    <a:pt x="280" y="1957"/>
                  </a:cubicBezTo>
                  <a:cubicBezTo>
                    <a:pt x="251" y="1946"/>
                    <a:pt x="225" y="1928"/>
                    <a:pt x="203" y="1905"/>
                  </a:cubicBezTo>
                  <a:close/>
                  <a:moveTo>
                    <a:pt x="477" y="1972"/>
                  </a:moveTo>
                  <a:cubicBezTo>
                    <a:pt x="359" y="1977"/>
                    <a:pt x="260" y="1885"/>
                    <a:pt x="255" y="1767"/>
                  </a:cubicBezTo>
                  <a:cubicBezTo>
                    <a:pt x="247" y="1580"/>
                    <a:pt x="471" y="1471"/>
                    <a:pt x="612" y="1601"/>
                  </a:cubicBezTo>
                  <a:cubicBezTo>
                    <a:pt x="752" y="1729"/>
                    <a:pt x="667" y="1964"/>
                    <a:pt x="477" y="1972"/>
                  </a:cubicBezTo>
                  <a:close/>
                  <a:moveTo>
                    <a:pt x="904" y="1967"/>
                  </a:moveTo>
                  <a:cubicBezTo>
                    <a:pt x="645" y="1967"/>
                    <a:pt x="645" y="1967"/>
                    <a:pt x="645" y="1967"/>
                  </a:cubicBezTo>
                  <a:cubicBezTo>
                    <a:pt x="673" y="1943"/>
                    <a:pt x="697" y="1913"/>
                    <a:pt x="714" y="1879"/>
                  </a:cubicBezTo>
                  <a:cubicBezTo>
                    <a:pt x="904" y="1879"/>
                    <a:pt x="904" y="1879"/>
                    <a:pt x="904" y="1879"/>
                  </a:cubicBezTo>
                  <a:cubicBezTo>
                    <a:pt x="929" y="1879"/>
                    <a:pt x="949" y="1899"/>
                    <a:pt x="949" y="1923"/>
                  </a:cubicBezTo>
                  <a:cubicBezTo>
                    <a:pt x="949" y="1947"/>
                    <a:pt x="929" y="1967"/>
                    <a:pt x="904" y="1967"/>
                  </a:cubicBezTo>
                  <a:close/>
                  <a:moveTo>
                    <a:pt x="948" y="1776"/>
                  </a:moveTo>
                  <a:cubicBezTo>
                    <a:pt x="946" y="1797"/>
                    <a:pt x="927" y="1814"/>
                    <a:pt x="904" y="1814"/>
                  </a:cubicBezTo>
                  <a:cubicBezTo>
                    <a:pt x="736" y="1814"/>
                    <a:pt x="736" y="1814"/>
                    <a:pt x="736" y="1814"/>
                  </a:cubicBezTo>
                  <a:cubicBezTo>
                    <a:pt x="742" y="1787"/>
                    <a:pt x="743" y="1756"/>
                    <a:pt x="740" y="1726"/>
                  </a:cubicBezTo>
                  <a:cubicBezTo>
                    <a:pt x="904" y="1726"/>
                    <a:pt x="904" y="1726"/>
                    <a:pt x="904" y="1726"/>
                  </a:cubicBezTo>
                  <a:cubicBezTo>
                    <a:pt x="931" y="1726"/>
                    <a:pt x="952" y="1750"/>
                    <a:pt x="948" y="1776"/>
                  </a:cubicBezTo>
                  <a:close/>
                  <a:moveTo>
                    <a:pt x="1053" y="1711"/>
                  </a:moveTo>
                  <a:cubicBezTo>
                    <a:pt x="995" y="1711"/>
                    <a:pt x="995" y="1711"/>
                    <a:pt x="995" y="1711"/>
                  </a:cubicBezTo>
                  <a:cubicBezTo>
                    <a:pt x="991" y="1705"/>
                    <a:pt x="987" y="1699"/>
                    <a:pt x="981" y="1694"/>
                  </a:cubicBezTo>
                  <a:cubicBezTo>
                    <a:pt x="1023" y="1651"/>
                    <a:pt x="1023" y="1583"/>
                    <a:pt x="981" y="1541"/>
                  </a:cubicBezTo>
                  <a:cubicBezTo>
                    <a:pt x="1001" y="1521"/>
                    <a:pt x="1013" y="1494"/>
                    <a:pt x="1013" y="1465"/>
                  </a:cubicBezTo>
                  <a:cubicBezTo>
                    <a:pt x="1013" y="1435"/>
                    <a:pt x="1001" y="1408"/>
                    <a:pt x="981" y="1388"/>
                  </a:cubicBezTo>
                  <a:cubicBezTo>
                    <a:pt x="1049" y="1320"/>
                    <a:pt x="1001" y="1203"/>
                    <a:pt x="904" y="1203"/>
                  </a:cubicBezTo>
                  <a:cubicBezTo>
                    <a:pt x="540" y="1203"/>
                    <a:pt x="540" y="1203"/>
                    <a:pt x="540" y="1203"/>
                  </a:cubicBezTo>
                  <a:cubicBezTo>
                    <a:pt x="540" y="188"/>
                    <a:pt x="540" y="188"/>
                    <a:pt x="540" y="188"/>
                  </a:cubicBezTo>
                  <a:cubicBezTo>
                    <a:pt x="540" y="120"/>
                    <a:pt x="596" y="64"/>
                    <a:pt x="664" y="64"/>
                  </a:cubicBezTo>
                  <a:cubicBezTo>
                    <a:pt x="1396" y="64"/>
                    <a:pt x="1396" y="64"/>
                    <a:pt x="1396" y="64"/>
                  </a:cubicBezTo>
                  <a:cubicBezTo>
                    <a:pt x="1396" y="316"/>
                    <a:pt x="1396" y="316"/>
                    <a:pt x="1396" y="316"/>
                  </a:cubicBezTo>
                  <a:cubicBezTo>
                    <a:pt x="1396" y="334"/>
                    <a:pt x="1411" y="349"/>
                    <a:pt x="1429" y="349"/>
                  </a:cubicBezTo>
                  <a:cubicBezTo>
                    <a:pt x="1661" y="349"/>
                    <a:pt x="1661" y="349"/>
                    <a:pt x="1661" y="349"/>
                  </a:cubicBezTo>
                  <a:cubicBezTo>
                    <a:pt x="1668" y="375"/>
                    <a:pt x="1664" y="366"/>
                    <a:pt x="1665" y="669"/>
                  </a:cubicBezTo>
                  <a:cubicBezTo>
                    <a:pt x="1304" y="669"/>
                    <a:pt x="1304" y="669"/>
                    <a:pt x="1304" y="669"/>
                  </a:cubicBezTo>
                  <a:cubicBezTo>
                    <a:pt x="1166" y="669"/>
                    <a:pt x="1053" y="782"/>
                    <a:pt x="1053" y="920"/>
                  </a:cubicBezTo>
                  <a:cubicBezTo>
                    <a:pt x="1053" y="1711"/>
                    <a:pt x="1053" y="1711"/>
                    <a:pt x="1053" y="1711"/>
                  </a:cubicBezTo>
                  <a:close/>
                  <a:moveTo>
                    <a:pt x="2067" y="1797"/>
                  </a:moveTo>
                  <a:cubicBezTo>
                    <a:pt x="2067" y="1902"/>
                    <a:pt x="1982" y="1988"/>
                    <a:pt x="1877" y="1988"/>
                  </a:cubicBezTo>
                  <a:cubicBezTo>
                    <a:pt x="1304" y="1988"/>
                    <a:pt x="1304" y="1988"/>
                    <a:pt x="1304" y="1988"/>
                  </a:cubicBezTo>
                  <a:cubicBezTo>
                    <a:pt x="1199" y="1988"/>
                    <a:pt x="1114" y="1902"/>
                    <a:pt x="1114" y="1797"/>
                  </a:cubicBezTo>
                  <a:cubicBezTo>
                    <a:pt x="1114" y="920"/>
                    <a:pt x="1114" y="920"/>
                    <a:pt x="1114" y="920"/>
                  </a:cubicBezTo>
                  <a:cubicBezTo>
                    <a:pt x="1114" y="815"/>
                    <a:pt x="1199" y="730"/>
                    <a:pt x="1304" y="730"/>
                  </a:cubicBezTo>
                  <a:cubicBezTo>
                    <a:pt x="1877" y="730"/>
                    <a:pt x="1877" y="730"/>
                    <a:pt x="1877" y="730"/>
                  </a:cubicBezTo>
                  <a:cubicBezTo>
                    <a:pt x="1982" y="730"/>
                    <a:pt x="2067" y="815"/>
                    <a:pt x="2067" y="920"/>
                  </a:cubicBezTo>
                  <a:cubicBezTo>
                    <a:pt x="2067" y="1797"/>
                    <a:pt x="2067" y="1797"/>
                    <a:pt x="2067" y="17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2" name="Freeform 30">
              <a:extLst>
                <a:ext uri="{FF2B5EF4-FFF2-40B4-BE49-F238E27FC236}">
                  <a16:creationId xmlns:a16="http://schemas.microsoft.com/office/drawing/2014/main" id="{3C4C6AA1-5B9B-531F-70BC-C01CB6E87F07}"/>
                </a:ext>
              </a:extLst>
            </p:cNvPr>
            <p:cNvSpPr>
              <a:spLocks/>
            </p:cNvSpPr>
            <p:nvPr/>
          </p:nvSpPr>
          <p:spPr bwMode="auto">
            <a:xfrm>
              <a:off x="11199813" y="5683250"/>
              <a:ext cx="306388" cy="125413"/>
            </a:xfrm>
            <a:custGeom>
              <a:avLst/>
              <a:gdLst>
                <a:gd name="T0" fmla="*/ 670 w 771"/>
                <a:gd name="T1" fmla="*/ 0 h 313"/>
                <a:gd name="T2" fmla="*/ 101 w 771"/>
                <a:gd name="T3" fmla="*/ 0 h 313"/>
                <a:gd name="T4" fmla="*/ 0 w 771"/>
                <a:gd name="T5" fmla="*/ 101 h 313"/>
                <a:gd name="T6" fmla="*/ 0 w 771"/>
                <a:gd name="T7" fmla="*/ 212 h 313"/>
                <a:gd name="T8" fmla="*/ 101 w 771"/>
                <a:gd name="T9" fmla="*/ 313 h 313"/>
                <a:gd name="T10" fmla="*/ 211 w 771"/>
                <a:gd name="T11" fmla="*/ 313 h 313"/>
                <a:gd name="T12" fmla="*/ 241 w 771"/>
                <a:gd name="T13" fmla="*/ 283 h 313"/>
                <a:gd name="T14" fmla="*/ 211 w 771"/>
                <a:gd name="T15" fmla="*/ 253 h 313"/>
                <a:gd name="T16" fmla="*/ 101 w 771"/>
                <a:gd name="T17" fmla="*/ 253 h 313"/>
                <a:gd name="T18" fmla="*/ 60 w 771"/>
                <a:gd name="T19" fmla="*/ 212 h 313"/>
                <a:gd name="T20" fmla="*/ 60 w 771"/>
                <a:gd name="T21" fmla="*/ 101 h 313"/>
                <a:gd name="T22" fmla="*/ 101 w 771"/>
                <a:gd name="T23" fmla="*/ 60 h 313"/>
                <a:gd name="T24" fmla="*/ 670 w 771"/>
                <a:gd name="T25" fmla="*/ 60 h 313"/>
                <a:gd name="T26" fmla="*/ 711 w 771"/>
                <a:gd name="T27" fmla="*/ 101 h 313"/>
                <a:gd name="T28" fmla="*/ 711 w 771"/>
                <a:gd name="T29" fmla="*/ 212 h 313"/>
                <a:gd name="T30" fmla="*/ 670 w 771"/>
                <a:gd name="T31" fmla="*/ 253 h 313"/>
                <a:gd name="T32" fmla="*/ 341 w 771"/>
                <a:gd name="T33" fmla="*/ 253 h 313"/>
                <a:gd name="T34" fmla="*/ 311 w 771"/>
                <a:gd name="T35" fmla="*/ 283 h 313"/>
                <a:gd name="T36" fmla="*/ 341 w 771"/>
                <a:gd name="T37" fmla="*/ 313 h 313"/>
                <a:gd name="T38" fmla="*/ 670 w 771"/>
                <a:gd name="T39" fmla="*/ 313 h 313"/>
                <a:gd name="T40" fmla="*/ 771 w 771"/>
                <a:gd name="T41" fmla="*/ 212 h 313"/>
                <a:gd name="T42" fmla="*/ 771 w 771"/>
                <a:gd name="T43" fmla="*/ 101 h 313"/>
                <a:gd name="T44" fmla="*/ 670 w 771"/>
                <a:gd name="T4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71" h="313">
                  <a:moveTo>
                    <a:pt x="670" y="0"/>
                  </a:moveTo>
                  <a:cubicBezTo>
                    <a:pt x="101" y="0"/>
                    <a:pt x="101" y="0"/>
                    <a:pt x="101" y="0"/>
                  </a:cubicBezTo>
                  <a:cubicBezTo>
                    <a:pt x="45" y="0"/>
                    <a:pt x="0" y="45"/>
                    <a:pt x="0" y="101"/>
                  </a:cubicBezTo>
                  <a:cubicBezTo>
                    <a:pt x="0" y="212"/>
                    <a:pt x="0" y="212"/>
                    <a:pt x="0" y="212"/>
                  </a:cubicBezTo>
                  <a:cubicBezTo>
                    <a:pt x="0" y="268"/>
                    <a:pt x="45" y="313"/>
                    <a:pt x="101" y="313"/>
                  </a:cubicBezTo>
                  <a:cubicBezTo>
                    <a:pt x="211" y="313"/>
                    <a:pt x="211" y="313"/>
                    <a:pt x="211" y="313"/>
                  </a:cubicBezTo>
                  <a:cubicBezTo>
                    <a:pt x="227" y="313"/>
                    <a:pt x="241" y="300"/>
                    <a:pt x="241" y="283"/>
                  </a:cubicBezTo>
                  <a:cubicBezTo>
                    <a:pt x="241" y="266"/>
                    <a:pt x="227" y="253"/>
                    <a:pt x="211" y="253"/>
                  </a:cubicBezTo>
                  <a:cubicBezTo>
                    <a:pt x="101" y="253"/>
                    <a:pt x="101" y="253"/>
                    <a:pt x="101" y="253"/>
                  </a:cubicBezTo>
                  <a:cubicBezTo>
                    <a:pt x="79" y="253"/>
                    <a:pt x="60" y="234"/>
                    <a:pt x="60" y="212"/>
                  </a:cubicBezTo>
                  <a:cubicBezTo>
                    <a:pt x="60" y="101"/>
                    <a:pt x="60" y="101"/>
                    <a:pt x="60" y="101"/>
                  </a:cubicBezTo>
                  <a:cubicBezTo>
                    <a:pt x="60" y="79"/>
                    <a:pt x="79" y="60"/>
                    <a:pt x="101" y="60"/>
                  </a:cubicBezTo>
                  <a:cubicBezTo>
                    <a:pt x="670" y="60"/>
                    <a:pt x="670" y="60"/>
                    <a:pt x="670" y="60"/>
                  </a:cubicBezTo>
                  <a:cubicBezTo>
                    <a:pt x="693" y="60"/>
                    <a:pt x="711" y="79"/>
                    <a:pt x="711" y="101"/>
                  </a:cubicBezTo>
                  <a:cubicBezTo>
                    <a:pt x="711" y="212"/>
                    <a:pt x="711" y="212"/>
                    <a:pt x="711" y="212"/>
                  </a:cubicBezTo>
                  <a:cubicBezTo>
                    <a:pt x="711" y="234"/>
                    <a:pt x="693" y="253"/>
                    <a:pt x="670" y="253"/>
                  </a:cubicBezTo>
                  <a:cubicBezTo>
                    <a:pt x="341" y="253"/>
                    <a:pt x="341" y="253"/>
                    <a:pt x="341" y="253"/>
                  </a:cubicBezTo>
                  <a:cubicBezTo>
                    <a:pt x="324" y="253"/>
                    <a:pt x="311" y="266"/>
                    <a:pt x="311" y="283"/>
                  </a:cubicBezTo>
                  <a:cubicBezTo>
                    <a:pt x="311" y="300"/>
                    <a:pt x="324" y="313"/>
                    <a:pt x="341" y="313"/>
                  </a:cubicBezTo>
                  <a:cubicBezTo>
                    <a:pt x="670" y="313"/>
                    <a:pt x="670" y="313"/>
                    <a:pt x="670" y="313"/>
                  </a:cubicBezTo>
                  <a:cubicBezTo>
                    <a:pt x="726" y="313"/>
                    <a:pt x="771" y="268"/>
                    <a:pt x="771" y="212"/>
                  </a:cubicBezTo>
                  <a:cubicBezTo>
                    <a:pt x="771" y="101"/>
                    <a:pt x="771" y="101"/>
                    <a:pt x="771" y="101"/>
                  </a:cubicBezTo>
                  <a:cubicBezTo>
                    <a:pt x="771" y="46"/>
                    <a:pt x="726" y="0"/>
                    <a:pt x="67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3" name="Freeform 31">
              <a:extLst>
                <a:ext uri="{FF2B5EF4-FFF2-40B4-BE49-F238E27FC236}">
                  <a16:creationId xmlns:a16="http://schemas.microsoft.com/office/drawing/2014/main" id="{09993411-79B2-CE84-D7CB-46988F95B1F3}"/>
                </a:ext>
              </a:extLst>
            </p:cNvPr>
            <p:cNvSpPr>
              <a:spLocks noEditPoints="1"/>
            </p:cNvSpPr>
            <p:nvPr/>
          </p:nvSpPr>
          <p:spPr bwMode="auto">
            <a:xfrm>
              <a:off x="11199813" y="5937250"/>
              <a:ext cx="90488" cy="90488"/>
            </a:xfrm>
            <a:custGeom>
              <a:avLst/>
              <a:gdLst>
                <a:gd name="T0" fmla="*/ 166 w 229"/>
                <a:gd name="T1" fmla="*/ 0 h 229"/>
                <a:gd name="T2" fmla="*/ 63 w 229"/>
                <a:gd name="T3" fmla="*/ 0 h 229"/>
                <a:gd name="T4" fmla="*/ 0 w 229"/>
                <a:gd name="T5" fmla="*/ 63 h 229"/>
                <a:gd name="T6" fmla="*/ 0 w 229"/>
                <a:gd name="T7" fmla="*/ 166 h 229"/>
                <a:gd name="T8" fmla="*/ 63 w 229"/>
                <a:gd name="T9" fmla="*/ 229 h 229"/>
                <a:gd name="T10" fmla="*/ 166 w 229"/>
                <a:gd name="T11" fmla="*/ 229 h 229"/>
                <a:gd name="T12" fmla="*/ 229 w 229"/>
                <a:gd name="T13" fmla="*/ 166 h 229"/>
                <a:gd name="T14" fmla="*/ 229 w 229"/>
                <a:gd name="T15" fmla="*/ 63 h 229"/>
                <a:gd name="T16" fmla="*/ 166 w 229"/>
                <a:gd name="T17" fmla="*/ 0 h 229"/>
                <a:gd name="T18" fmla="*/ 169 w 229"/>
                <a:gd name="T19" fmla="*/ 166 h 229"/>
                <a:gd name="T20" fmla="*/ 166 w 229"/>
                <a:gd name="T21" fmla="*/ 169 h 229"/>
                <a:gd name="T22" fmla="*/ 63 w 229"/>
                <a:gd name="T23" fmla="*/ 169 h 229"/>
                <a:gd name="T24" fmla="*/ 60 w 229"/>
                <a:gd name="T25" fmla="*/ 166 h 229"/>
                <a:gd name="T26" fmla="*/ 60 w 229"/>
                <a:gd name="T27" fmla="*/ 63 h 229"/>
                <a:gd name="T28" fmla="*/ 63 w 229"/>
                <a:gd name="T29" fmla="*/ 60 h 229"/>
                <a:gd name="T30" fmla="*/ 166 w 229"/>
                <a:gd name="T31" fmla="*/ 60 h 229"/>
                <a:gd name="T32" fmla="*/ 169 w 229"/>
                <a:gd name="T33" fmla="*/ 63 h 229"/>
                <a:gd name="T34" fmla="*/ 169 w 229"/>
                <a:gd name="T35" fmla="*/ 16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229">
                  <a:moveTo>
                    <a:pt x="166" y="0"/>
                  </a:moveTo>
                  <a:cubicBezTo>
                    <a:pt x="63" y="0"/>
                    <a:pt x="63" y="0"/>
                    <a:pt x="63" y="0"/>
                  </a:cubicBezTo>
                  <a:cubicBezTo>
                    <a:pt x="28" y="0"/>
                    <a:pt x="0" y="28"/>
                    <a:pt x="0" y="63"/>
                  </a:cubicBezTo>
                  <a:cubicBezTo>
                    <a:pt x="0" y="166"/>
                    <a:pt x="0" y="166"/>
                    <a:pt x="0" y="166"/>
                  </a:cubicBezTo>
                  <a:cubicBezTo>
                    <a:pt x="0" y="201"/>
                    <a:pt x="28" y="229"/>
                    <a:pt x="63" y="229"/>
                  </a:cubicBezTo>
                  <a:cubicBezTo>
                    <a:pt x="166" y="229"/>
                    <a:pt x="166" y="229"/>
                    <a:pt x="166" y="229"/>
                  </a:cubicBezTo>
                  <a:cubicBezTo>
                    <a:pt x="201" y="229"/>
                    <a:pt x="229" y="201"/>
                    <a:pt x="229" y="166"/>
                  </a:cubicBezTo>
                  <a:cubicBezTo>
                    <a:pt x="229" y="63"/>
                    <a:pt x="229" y="63"/>
                    <a:pt x="229" y="63"/>
                  </a:cubicBezTo>
                  <a:cubicBezTo>
                    <a:pt x="229" y="28"/>
                    <a:pt x="201" y="0"/>
                    <a:pt x="166" y="0"/>
                  </a:cubicBezTo>
                  <a:close/>
                  <a:moveTo>
                    <a:pt x="169" y="166"/>
                  </a:moveTo>
                  <a:cubicBezTo>
                    <a:pt x="169" y="167"/>
                    <a:pt x="168" y="169"/>
                    <a:pt x="166" y="169"/>
                  </a:cubicBezTo>
                  <a:cubicBezTo>
                    <a:pt x="63" y="169"/>
                    <a:pt x="63" y="169"/>
                    <a:pt x="63" y="169"/>
                  </a:cubicBezTo>
                  <a:cubicBezTo>
                    <a:pt x="62" y="169"/>
                    <a:pt x="60" y="167"/>
                    <a:pt x="60" y="166"/>
                  </a:cubicBezTo>
                  <a:cubicBezTo>
                    <a:pt x="60" y="63"/>
                    <a:pt x="60" y="63"/>
                    <a:pt x="60" y="63"/>
                  </a:cubicBezTo>
                  <a:cubicBezTo>
                    <a:pt x="60" y="61"/>
                    <a:pt x="62" y="60"/>
                    <a:pt x="63" y="60"/>
                  </a:cubicBezTo>
                  <a:cubicBezTo>
                    <a:pt x="166" y="60"/>
                    <a:pt x="166" y="60"/>
                    <a:pt x="166" y="60"/>
                  </a:cubicBezTo>
                  <a:cubicBezTo>
                    <a:pt x="168" y="60"/>
                    <a:pt x="169" y="61"/>
                    <a:pt x="169" y="63"/>
                  </a:cubicBezTo>
                  <a:lnTo>
                    <a:pt x="169"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4" name="Freeform 32">
              <a:extLst>
                <a:ext uri="{FF2B5EF4-FFF2-40B4-BE49-F238E27FC236}">
                  <a16:creationId xmlns:a16="http://schemas.microsoft.com/office/drawing/2014/main" id="{EEB726A1-9A4F-8381-B682-3472A82EC1A4}"/>
                </a:ext>
              </a:extLst>
            </p:cNvPr>
            <p:cNvSpPr>
              <a:spLocks noEditPoints="1"/>
            </p:cNvSpPr>
            <p:nvPr/>
          </p:nvSpPr>
          <p:spPr bwMode="auto">
            <a:xfrm>
              <a:off x="11415713" y="5829300"/>
              <a:ext cx="92075" cy="92075"/>
            </a:xfrm>
            <a:custGeom>
              <a:avLst/>
              <a:gdLst>
                <a:gd name="T0" fmla="*/ 166 w 230"/>
                <a:gd name="T1" fmla="*/ 0 h 230"/>
                <a:gd name="T2" fmla="*/ 63 w 230"/>
                <a:gd name="T3" fmla="*/ 0 h 230"/>
                <a:gd name="T4" fmla="*/ 0 w 230"/>
                <a:gd name="T5" fmla="*/ 63 h 230"/>
                <a:gd name="T6" fmla="*/ 0 w 230"/>
                <a:gd name="T7" fmla="*/ 166 h 230"/>
                <a:gd name="T8" fmla="*/ 63 w 230"/>
                <a:gd name="T9" fmla="*/ 230 h 230"/>
                <a:gd name="T10" fmla="*/ 166 w 230"/>
                <a:gd name="T11" fmla="*/ 230 h 230"/>
                <a:gd name="T12" fmla="*/ 230 w 230"/>
                <a:gd name="T13" fmla="*/ 166 h 230"/>
                <a:gd name="T14" fmla="*/ 230 w 230"/>
                <a:gd name="T15" fmla="*/ 63 h 230"/>
                <a:gd name="T16" fmla="*/ 166 w 230"/>
                <a:gd name="T17" fmla="*/ 0 h 230"/>
                <a:gd name="T18" fmla="*/ 169 w 230"/>
                <a:gd name="T19" fmla="*/ 166 h 230"/>
                <a:gd name="T20" fmla="*/ 166 w 230"/>
                <a:gd name="T21" fmla="*/ 169 h 230"/>
                <a:gd name="T22" fmla="*/ 63 w 230"/>
                <a:gd name="T23" fmla="*/ 169 h 230"/>
                <a:gd name="T24" fmla="*/ 61 w 230"/>
                <a:gd name="T25" fmla="*/ 166 h 230"/>
                <a:gd name="T26" fmla="*/ 63 w 230"/>
                <a:gd name="T27" fmla="*/ 61 h 230"/>
                <a:gd name="T28" fmla="*/ 166 w 230"/>
                <a:gd name="T29" fmla="*/ 61 h 230"/>
                <a:gd name="T30" fmla="*/ 169 w 230"/>
                <a:gd name="T31" fmla="*/ 63 h 230"/>
                <a:gd name="T32" fmla="*/ 169 w 230"/>
                <a:gd name="T33" fmla="*/ 166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0" h="230">
                  <a:moveTo>
                    <a:pt x="166" y="0"/>
                  </a:moveTo>
                  <a:cubicBezTo>
                    <a:pt x="63" y="0"/>
                    <a:pt x="63" y="0"/>
                    <a:pt x="63" y="0"/>
                  </a:cubicBezTo>
                  <a:cubicBezTo>
                    <a:pt x="29" y="0"/>
                    <a:pt x="0" y="29"/>
                    <a:pt x="0" y="63"/>
                  </a:cubicBezTo>
                  <a:cubicBezTo>
                    <a:pt x="0" y="166"/>
                    <a:pt x="0" y="166"/>
                    <a:pt x="0" y="166"/>
                  </a:cubicBezTo>
                  <a:cubicBezTo>
                    <a:pt x="0" y="201"/>
                    <a:pt x="29" y="230"/>
                    <a:pt x="63" y="230"/>
                  </a:cubicBezTo>
                  <a:cubicBezTo>
                    <a:pt x="166" y="230"/>
                    <a:pt x="166" y="230"/>
                    <a:pt x="166" y="230"/>
                  </a:cubicBezTo>
                  <a:cubicBezTo>
                    <a:pt x="201" y="230"/>
                    <a:pt x="230" y="201"/>
                    <a:pt x="230" y="166"/>
                  </a:cubicBezTo>
                  <a:cubicBezTo>
                    <a:pt x="230" y="63"/>
                    <a:pt x="230" y="63"/>
                    <a:pt x="230" y="63"/>
                  </a:cubicBezTo>
                  <a:cubicBezTo>
                    <a:pt x="230" y="29"/>
                    <a:pt x="201" y="0"/>
                    <a:pt x="166" y="0"/>
                  </a:cubicBezTo>
                  <a:close/>
                  <a:moveTo>
                    <a:pt x="169" y="166"/>
                  </a:moveTo>
                  <a:cubicBezTo>
                    <a:pt x="169" y="168"/>
                    <a:pt x="168" y="169"/>
                    <a:pt x="166" y="169"/>
                  </a:cubicBezTo>
                  <a:cubicBezTo>
                    <a:pt x="63" y="169"/>
                    <a:pt x="63" y="169"/>
                    <a:pt x="63" y="169"/>
                  </a:cubicBezTo>
                  <a:cubicBezTo>
                    <a:pt x="62" y="169"/>
                    <a:pt x="61" y="168"/>
                    <a:pt x="61" y="166"/>
                  </a:cubicBezTo>
                  <a:cubicBezTo>
                    <a:pt x="62" y="64"/>
                    <a:pt x="58" y="61"/>
                    <a:pt x="63" y="61"/>
                  </a:cubicBezTo>
                  <a:cubicBezTo>
                    <a:pt x="166" y="61"/>
                    <a:pt x="166" y="61"/>
                    <a:pt x="166" y="61"/>
                  </a:cubicBezTo>
                  <a:cubicBezTo>
                    <a:pt x="168" y="61"/>
                    <a:pt x="169" y="62"/>
                    <a:pt x="169" y="63"/>
                  </a:cubicBezTo>
                  <a:lnTo>
                    <a:pt x="169"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5" name="Freeform 33">
              <a:extLst>
                <a:ext uri="{FF2B5EF4-FFF2-40B4-BE49-F238E27FC236}">
                  <a16:creationId xmlns:a16="http://schemas.microsoft.com/office/drawing/2014/main" id="{B796A6F7-3CA1-C40F-86BA-61F68BE719EF}"/>
                </a:ext>
              </a:extLst>
            </p:cNvPr>
            <p:cNvSpPr>
              <a:spLocks noEditPoints="1"/>
            </p:cNvSpPr>
            <p:nvPr/>
          </p:nvSpPr>
          <p:spPr bwMode="auto">
            <a:xfrm>
              <a:off x="11199813" y="5829300"/>
              <a:ext cx="90488" cy="92075"/>
            </a:xfrm>
            <a:custGeom>
              <a:avLst/>
              <a:gdLst>
                <a:gd name="T0" fmla="*/ 166 w 229"/>
                <a:gd name="T1" fmla="*/ 0 h 230"/>
                <a:gd name="T2" fmla="*/ 63 w 229"/>
                <a:gd name="T3" fmla="*/ 0 h 230"/>
                <a:gd name="T4" fmla="*/ 0 w 229"/>
                <a:gd name="T5" fmla="*/ 63 h 230"/>
                <a:gd name="T6" fmla="*/ 0 w 229"/>
                <a:gd name="T7" fmla="*/ 166 h 230"/>
                <a:gd name="T8" fmla="*/ 63 w 229"/>
                <a:gd name="T9" fmla="*/ 230 h 230"/>
                <a:gd name="T10" fmla="*/ 166 w 229"/>
                <a:gd name="T11" fmla="*/ 230 h 230"/>
                <a:gd name="T12" fmla="*/ 229 w 229"/>
                <a:gd name="T13" fmla="*/ 166 h 230"/>
                <a:gd name="T14" fmla="*/ 229 w 229"/>
                <a:gd name="T15" fmla="*/ 63 h 230"/>
                <a:gd name="T16" fmla="*/ 166 w 229"/>
                <a:gd name="T17" fmla="*/ 0 h 230"/>
                <a:gd name="T18" fmla="*/ 169 w 229"/>
                <a:gd name="T19" fmla="*/ 166 h 230"/>
                <a:gd name="T20" fmla="*/ 166 w 229"/>
                <a:gd name="T21" fmla="*/ 169 h 230"/>
                <a:gd name="T22" fmla="*/ 63 w 229"/>
                <a:gd name="T23" fmla="*/ 169 h 230"/>
                <a:gd name="T24" fmla="*/ 60 w 229"/>
                <a:gd name="T25" fmla="*/ 166 h 230"/>
                <a:gd name="T26" fmla="*/ 60 w 229"/>
                <a:gd name="T27" fmla="*/ 63 h 230"/>
                <a:gd name="T28" fmla="*/ 63 w 229"/>
                <a:gd name="T29" fmla="*/ 61 h 230"/>
                <a:gd name="T30" fmla="*/ 166 w 229"/>
                <a:gd name="T31" fmla="*/ 61 h 230"/>
                <a:gd name="T32" fmla="*/ 169 w 229"/>
                <a:gd name="T33" fmla="*/ 63 h 230"/>
                <a:gd name="T34" fmla="*/ 169 w 229"/>
                <a:gd name="T35" fmla="*/ 166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230">
                  <a:moveTo>
                    <a:pt x="166" y="0"/>
                  </a:moveTo>
                  <a:cubicBezTo>
                    <a:pt x="63" y="0"/>
                    <a:pt x="63" y="0"/>
                    <a:pt x="63" y="0"/>
                  </a:cubicBezTo>
                  <a:cubicBezTo>
                    <a:pt x="28" y="0"/>
                    <a:pt x="0" y="29"/>
                    <a:pt x="0" y="63"/>
                  </a:cubicBezTo>
                  <a:cubicBezTo>
                    <a:pt x="0" y="166"/>
                    <a:pt x="0" y="166"/>
                    <a:pt x="0" y="166"/>
                  </a:cubicBezTo>
                  <a:cubicBezTo>
                    <a:pt x="0" y="201"/>
                    <a:pt x="28" y="230"/>
                    <a:pt x="63" y="230"/>
                  </a:cubicBezTo>
                  <a:cubicBezTo>
                    <a:pt x="166" y="230"/>
                    <a:pt x="166" y="230"/>
                    <a:pt x="166" y="230"/>
                  </a:cubicBezTo>
                  <a:cubicBezTo>
                    <a:pt x="201" y="230"/>
                    <a:pt x="229" y="201"/>
                    <a:pt x="229" y="166"/>
                  </a:cubicBezTo>
                  <a:cubicBezTo>
                    <a:pt x="229" y="63"/>
                    <a:pt x="229" y="63"/>
                    <a:pt x="229" y="63"/>
                  </a:cubicBezTo>
                  <a:cubicBezTo>
                    <a:pt x="229" y="29"/>
                    <a:pt x="201" y="0"/>
                    <a:pt x="166" y="0"/>
                  </a:cubicBezTo>
                  <a:close/>
                  <a:moveTo>
                    <a:pt x="169" y="166"/>
                  </a:moveTo>
                  <a:cubicBezTo>
                    <a:pt x="169" y="168"/>
                    <a:pt x="168" y="169"/>
                    <a:pt x="166" y="169"/>
                  </a:cubicBezTo>
                  <a:cubicBezTo>
                    <a:pt x="63" y="169"/>
                    <a:pt x="63" y="169"/>
                    <a:pt x="63" y="169"/>
                  </a:cubicBezTo>
                  <a:cubicBezTo>
                    <a:pt x="62" y="169"/>
                    <a:pt x="60" y="168"/>
                    <a:pt x="60" y="166"/>
                  </a:cubicBezTo>
                  <a:cubicBezTo>
                    <a:pt x="60" y="63"/>
                    <a:pt x="60" y="63"/>
                    <a:pt x="60" y="63"/>
                  </a:cubicBezTo>
                  <a:cubicBezTo>
                    <a:pt x="60" y="62"/>
                    <a:pt x="62" y="61"/>
                    <a:pt x="63" y="61"/>
                  </a:cubicBezTo>
                  <a:cubicBezTo>
                    <a:pt x="166" y="61"/>
                    <a:pt x="166" y="61"/>
                    <a:pt x="166" y="61"/>
                  </a:cubicBezTo>
                  <a:cubicBezTo>
                    <a:pt x="168" y="61"/>
                    <a:pt x="169" y="62"/>
                    <a:pt x="169" y="63"/>
                  </a:cubicBezTo>
                  <a:lnTo>
                    <a:pt x="169"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6" name="Freeform 34">
              <a:extLst>
                <a:ext uri="{FF2B5EF4-FFF2-40B4-BE49-F238E27FC236}">
                  <a16:creationId xmlns:a16="http://schemas.microsoft.com/office/drawing/2014/main" id="{CDBF5346-74FE-5B60-9FEF-5BF82CCDD2DC}"/>
                </a:ext>
              </a:extLst>
            </p:cNvPr>
            <p:cNvSpPr>
              <a:spLocks noEditPoints="1"/>
            </p:cNvSpPr>
            <p:nvPr/>
          </p:nvSpPr>
          <p:spPr bwMode="auto">
            <a:xfrm>
              <a:off x="11196638" y="6038850"/>
              <a:ext cx="96838" cy="92075"/>
            </a:xfrm>
            <a:custGeom>
              <a:avLst/>
              <a:gdLst>
                <a:gd name="T0" fmla="*/ 219 w 241"/>
                <a:gd name="T1" fmla="*/ 21 h 229"/>
                <a:gd name="T2" fmla="*/ 172 w 241"/>
                <a:gd name="T3" fmla="*/ 0 h 229"/>
                <a:gd name="T4" fmla="*/ 69 w 241"/>
                <a:gd name="T5" fmla="*/ 0 h 229"/>
                <a:gd name="T6" fmla="*/ 22 w 241"/>
                <a:gd name="T7" fmla="*/ 21 h 229"/>
                <a:gd name="T8" fmla="*/ 6 w 241"/>
                <a:gd name="T9" fmla="*/ 86 h 229"/>
                <a:gd name="T10" fmla="*/ 6 w 241"/>
                <a:gd name="T11" fmla="*/ 166 h 229"/>
                <a:gd name="T12" fmla="*/ 69 w 241"/>
                <a:gd name="T13" fmla="*/ 229 h 229"/>
                <a:gd name="T14" fmla="*/ 172 w 241"/>
                <a:gd name="T15" fmla="*/ 229 h 229"/>
                <a:gd name="T16" fmla="*/ 235 w 241"/>
                <a:gd name="T17" fmla="*/ 166 h 229"/>
                <a:gd name="T18" fmla="*/ 235 w 241"/>
                <a:gd name="T19" fmla="*/ 86 h 229"/>
                <a:gd name="T20" fmla="*/ 219 w 241"/>
                <a:gd name="T21" fmla="*/ 21 h 229"/>
                <a:gd name="T22" fmla="*/ 172 w 241"/>
                <a:gd name="T23" fmla="*/ 169 h 229"/>
                <a:gd name="T24" fmla="*/ 66 w 241"/>
                <a:gd name="T25" fmla="*/ 166 h 229"/>
                <a:gd name="T26" fmla="*/ 69 w 241"/>
                <a:gd name="T27" fmla="*/ 60 h 229"/>
                <a:gd name="T28" fmla="*/ 172 w 241"/>
                <a:gd name="T29" fmla="*/ 60 h 229"/>
                <a:gd name="T30" fmla="*/ 175 w 241"/>
                <a:gd name="T31" fmla="*/ 86 h 229"/>
                <a:gd name="T32" fmla="*/ 172 w 241"/>
                <a:gd name="T33" fmla="*/ 16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1" h="229">
                  <a:moveTo>
                    <a:pt x="219" y="21"/>
                  </a:moveTo>
                  <a:cubicBezTo>
                    <a:pt x="208" y="8"/>
                    <a:pt x="191" y="0"/>
                    <a:pt x="172" y="0"/>
                  </a:cubicBezTo>
                  <a:cubicBezTo>
                    <a:pt x="69" y="0"/>
                    <a:pt x="69" y="0"/>
                    <a:pt x="69" y="0"/>
                  </a:cubicBezTo>
                  <a:cubicBezTo>
                    <a:pt x="50" y="0"/>
                    <a:pt x="33" y="8"/>
                    <a:pt x="22" y="21"/>
                  </a:cubicBezTo>
                  <a:cubicBezTo>
                    <a:pt x="0" y="46"/>
                    <a:pt x="7" y="73"/>
                    <a:pt x="6" y="86"/>
                  </a:cubicBezTo>
                  <a:cubicBezTo>
                    <a:pt x="6" y="166"/>
                    <a:pt x="6" y="166"/>
                    <a:pt x="6" y="166"/>
                  </a:cubicBezTo>
                  <a:cubicBezTo>
                    <a:pt x="6" y="201"/>
                    <a:pt x="34" y="229"/>
                    <a:pt x="69" y="229"/>
                  </a:cubicBezTo>
                  <a:cubicBezTo>
                    <a:pt x="172" y="229"/>
                    <a:pt x="172" y="229"/>
                    <a:pt x="172" y="229"/>
                  </a:cubicBezTo>
                  <a:cubicBezTo>
                    <a:pt x="207" y="229"/>
                    <a:pt x="235" y="201"/>
                    <a:pt x="235" y="166"/>
                  </a:cubicBezTo>
                  <a:cubicBezTo>
                    <a:pt x="235" y="86"/>
                    <a:pt x="235" y="86"/>
                    <a:pt x="235" y="86"/>
                  </a:cubicBezTo>
                  <a:cubicBezTo>
                    <a:pt x="234" y="73"/>
                    <a:pt x="241" y="46"/>
                    <a:pt x="219" y="21"/>
                  </a:cubicBezTo>
                  <a:close/>
                  <a:moveTo>
                    <a:pt x="172" y="169"/>
                  </a:moveTo>
                  <a:cubicBezTo>
                    <a:pt x="70" y="168"/>
                    <a:pt x="66" y="172"/>
                    <a:pt x="66" y="166"/>
                  </a:cubicBezTo>
                  <a:cubicBezTo>
                    <a:pt x="66" y="57"/>
                    <a:pt x="65" y="60"/>
                    <a:pt x="69" y="60"/>
                  </a:cubicBezTo>
                  <a:cubicBezTo>
                    <a:pt x="172" y="60"/>
                    <a:pt x="172" y="60"/>
                    <a:pt x="172" y="60"/>
                  </a:cubicBezTo>
                  <a:cubicBezTo>
                    <a:pt x="177" y="60"/>
                    <a:pt x="174" y="67"/>
                    <a:pt x="175" y="86"/>
                  </a:cubicBezTo>
                  <a:cubicBezTo>
                    <a:pt x="175" y="86"/>
                    <a:pt x="178" y="169"/>
                    <a:pt x="172"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7" name="Freeform 35">
              <a:extLst>
                <a:ext uri="{FF2B5EF4-FFF2-40B4-BE49-F238E27FC236}">
                  <a16:creationId xmlns:a16="http://schemas.microsoft.com/office/drawing/2014/main" id="{49D2AA6E-4F08-DA24-36BA-AD2E2A8C542D}"/>
                </a:ext>
              </a:extLst>
            </p:cNvPr>
            <p:cNvSpPr>
              <a:spLocks noEditPoints="1"/>
            </p:cNvSpPr>
            <p:nvPr/>
          </p:nvSpPr>
          <p:spPr bwMode="auto">
            <a:xfrm>
              <a:off x="11415713" y="5937250"/>
              <a:ext cx="92075" cy="193675"/>
            </a:xfrm>
            <a:custGeom>
              <a:avLst/>
              <a:gdLst>
                <a:gd name="T0" fmla="*/ 150 w 230"/>
                <a:gd name="T1" fmla="*/ 0 h 485"/>
                <a:gd name="T2" fmla="*/ 79 w 230"/>
                <a:gd name="T3" fmla="*/ 0 h 485"/>
                <a:gd name="T4" fmla="*/ 0 w 230"/>
                <a:gd name="T5" fmla="*/ 79 h 485"/>
                <a:gd name="T6" fmla="*/ 0 w 230"/>
                <a:gd name="T7" fmla="*/ 399 h 485"/>
                <a:gd name="T8" fmla="*/ 87 w 230"/>
                <a:gd name="T9" fmla="*/ 485 h 485"/>
                <a:gd name="T10" fmla="*/ 143 w 230"/>
                <a:gd name="T11" fmla="*/ 485 h 485"/>
                <a:gd name="T12" fmla="*/ 230 w 230"/>
                <a:gd name="T13" fmla="*/ 399 h 485"/>
                <a:gd name="T14" fmla="*/ 230 w 230"/>
                <a:gd name="T15" fmla="*/ 79 h 485"/>
                <a:gd name="T16" fmla="*/ 150 w 230"/>
                <a:gd name="T17" fmla="*/ 0 h 485"/>
                <a:gd name="T18" fmla="*/ 143 w 230"/>
                <a:gd name="T19" fmla="*/ 425 h 485"/>
                <a:gd name="T20" fmla="*/ 87 w 230"/>
                <a:gd name="T21" fmla="*/ 425 h 485"/>
                <a:gd name="T22" fmla="*/ 61 w 230"/>
                <a:gd name="T23" fmla="*/ 399 h 485"/>
                <a:gd name="T24" fmla="*/ 61 w 230"/>
                <a:gd name="T25" fmla="*/ 79 h 485"/>
                <a:gd name="T26" fmla="*/ 79 w 230"/>
                <a:gd name="T27" fmla="*/ 60 h 485"/>
                <a:gd name="T28" fmla="*/ 150 w 230"/>
                <a:gd name="T29" fmla="*/ 60 h 485"/>
                <a:gd name="T30" fmla="*/ 169 w 230"/>
                <a:gd name="T31" fmla="*/ 79 h 485"/>
                <a:gd name="T32" fmla="*/ 169 w 230"/>
                <a:gd name="T33" fmla="*/ 399 h 485"/>
                <a:gd name="T34" fmla="*/ 169 w 230"/>
                <a:gd name="T35" fmla="*/ 399 h 485"/>
                <a:gd name="T36" fmla="*/ 143 w 230"/>
                <a:gd name="T37" fmla="*/ 42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 h="485">
                  <a:moveTo>
                    <a:pt x="150" y="0"/>
                  </a:moveTo>
                  <a:cubicBezTo>
                    <a:pt x="79" y="0"/>
                    <a:pt x="79" y="0"/>
                    <a:pt x="79" y="0"/>
                  </a:cubicBezTo>
                  <a:cubicBezTo>
                    <a:pt x="36" y="0"/>
                    <a:pt x="0" y="35"/>
                    <a:pt x="0" y="79"/>
                  </a:cubicBezTo>
                  <a:cubicBezTo>
                    <a:pt x="0" y="399"/>
                    <a:pt x="0" y="399"/>
                    <a:pt x="0" y="399"/>
                  </a:cubicBezTo>
                  <a:cubicBezTo>
                    <a:pt x="0" y="447"/>
                    <a:pt x="39" y="485"/>
                    <a:pt x="87" y="485"/>
                  </a:cubicBezTo>
                  <a:cubicBezTo>
                    <a:pt x="143" y="485"/>
                    <a:pt x="143" y="485"/>
                    <a:pt x="143" y="485"/>
                  </a:cubicBezTo>
                  <a:cubicBezTo>
                    <a:pt x="191" y="485"/>
                    <a:pt x="230" y="447"/>
                    <a:pt x="230" y="399"/>
                  </a:cubicBezTo>
                  <a:cubicBezTo>
                    <a:pt x="230" y="79"/>
                    <a:pt x="230" y="79"/>
                    <a:pt x="230" y="79"/>
                  </a:cubicBezTo>
                  <a:cubicBezTo>
                    <a:pt x="230" y="35"/>
                    <a:pt x="194" y="0"/>
                    <a:pt x="150" y="0"/>
                  </a:cubicBezTo>
                  <a:close/>
                  <a:moveTo>
                    <a:pt x="143" y="425"/>
                  </a:moveTo>
                  <a:cubicBezTo>
                    <a:pt x="87" y="425"/>
                    <a:pt x="87" y="425"/>
                    <a:pt x="87" y="425"/>
                  </a:cubicBezTo>
                  <a:cubicBezTo>
                    <a:pt x="72" y="425"/>
                    <a:pt x="61" y="413"/>
                    <a:pt x="61" y="399"/>
                  </a:cubicBezTo>
                  <a:cubicBezTo>
                    <a:pt x="61" y="79"/>
                    <a:pt x="61" y="79"/>
                    <a:pt x="61" y="79"/>
                  </a:cubicBezTo>
                  <a:cubicBezTo>
                    <a:pt x="61" y="68"/>
                    <a:pt x="69" y="60"/>
                    <a:pt x="79" y="60"/>
                  </a:cubicBezTo>
                  <a:cubicBezTo>
                    <a:pt x="150" y="60"/>
                    <a:pt x="150" y="60"/>
                    <a:pt x="150" y="60"/>
                  </a:cubicBezTo>
                  <a:cubicBezTo>
                    <a:pt x="161" y="60"/>
                    <a:pt x="169" y="68"/>
                    <a:pt x="169" y="79"/>
                  </a:cubicBezTo>
                  <a:cubicBezTo>
                    <a:pt x="169" y="399"/>
                    <a:pt x="169" y="399"/>
                    <a:pt x="169" y="399"/>
                  </a:cubicBezTo>
                  <a:cubicBezTo>
                    <a:pt x="169" y="399"/>
                    <a:pt x="169" y="399"/>
                    <a:pt x="169" y="399"/>
                  </a:cubicBezTo>
                  <a:cubicBezTo>
                    <a:pt x="169" y="413"/>
                    <a:pt x="158" y="425"/>
                    <a:pt x="143" y="4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8" name="Freeform 36">
              <a:extLst>
                <a:ext uri="{FF2B5EF4-FFF2-40B4-BE49-F238E27FC236}">
                  <a16:creationId xmlns:a16="http://schemas.microsoft.com/office/drawing/2014/main" id="{B7FDB799-F093-6BC9-F607-51D36BAB991E}"/>
                </a:ext>
              </a:extLst>
            </p:cNvPr>
            <p:cNvSpPr>
              <a:spLocks/>
            </p:cNvSpPr>
            <p:nvPr/>
          </p:nvSpPr>
          <p:spPr bwMode="auto">
            <a:xfrm>
              <a:off x="11010900" y="5632450"/>
              <a:ext cx="92075" cy="195263"/>
            </a:xfrm>
            <a:custGeom>
              <a:avLst/>
              <a:gdLst>
                <a:gd name="T0" fmla="*/ 128 w 230"/>
                <a:gd name="T1" fmla="*/ 207 h 491"/>
                <a:gd name="T2" fmla="*/ 64 w 230"/>
                <a:gd name="T3" fmla="*/ 150 h 491"/>
                <a:gd name="T4" fmla="*/ 126 w 230"/>
                <a:gd name="T5" fmla="*/ 103 h 491"/>
                <a:gd name="T6" fmla="*/ 196 w 230"/>
                <a:gd name="T7" fmla="*/ 122 h 491"/>
                <a:gd name="T8" fmla="*/ 221 w 230"/>
                <a:gd name="T9" fmla="*/ 92 h 491"/>
                <a:gd name="T10" fmla="*/ 144 w 230"/>
                <a:gd name="T11" fmla="*/ 51 h 491"/>
                <a:gd name="T12" fmla="*/ 144 w 230"/>
                <a:gd name="T13" fmla="*/ 29 h 491"/>
                <a:gd name="T14" fmla="*/ 115 w 230"/>
                <a:gd name="T15" fmla="*/ 0 h 491"/>
                <a:gd name="T16" fmla="*/ 86 w 230"/>
                <a:gd name="T17" fmla="*/ 29 h 491"/>
                <a:gd name="T18" fmla="*/ 86 w 230"/>
                <a:gd name="T19" fmla="*/ 55 h 491"/>
                <a:gd name="T20" fmla="*/ 9 w 230"/>
                <a:gd name="T21" fmla="*/ 153 h 491"/>
                <a:gd name="T22" fmla="*/ 102 w 230"/>
                <a:gd name="T23" fmla="*/ 258 h 491"/>
                <a:gd name="T24" fmla="*/ 175 w 230"/>
                <a:gd name="T25" fmla="*/ 332 h 491"/>
                <a:gd name="T26" fmla="*/ 112 w 230"/>
                <a:gd name="T27" fmla="*/ 390 h 491"/>
                <a:gd name="T28" fmla="*/ 26 w 230"/>
                <a:gd name="T29" fmla="*/ 348 h 491"/>
                <a:gd name="T30" fmla="*/ 0 w 230"/>
                <a:gd name="T31" fmla="*/ 378 h 491"/>
                <a:gd name="T32" fmla="*/ 86 w 230"/>
                <a:gd name="T33" fmla="*/ 441 h 491"/>
                <a:gd name="T34" fmla="*/ 86 w 230"/>
                <a:gd name="T35" fmla="*/ 463 h 491"/>
                <a:gd name="T36" fmla="*/ 115 w 230"/>
                <a:gd name="T37" fmla="*/ 491 h 491"/>
                <a:gd name="T38" fmla="*/ 144 w 230"/>
                <a:gd name="T39" fmla="*/ 463 h 491"/>
                <a:gd name="T40" fmla="*/ 144 w 230"/>
                <a:gd name="T41" fmla="*/ 440 h 491"/>
                <a:gd name="T42" fmla="*/ 230 w 230"/>
                <a:gd name="T43" fmla="*/ 329 h 491"/>
                <a:gd name="T44" fmla="*/ 128 w 230"/>
                <a:gd name="T45" fmla="*/ 207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0" h="491">
                  <a:moveTo>
                    <a:pt x="128" y="207"/>
                  </a:moveTo>
                  <a:cubicBezTo>
                    <a:pt x="91" y="194"/>
                    <a:pt x="64" y="184"/>
                    <a:pt x="64" y="150"/>
                  </a:cubicBezTo>
                  <a:cubicBezTo>
                    <a:pt x="64" y="119"/>
                    <a:pt x="85" y="103"/>
                    <a:pt x="126" y="103"/>
                  </a:cubicBezTo>
                  <a:cubicBezTo>
                    <a:pt x="169" y="103"/>
                    <a:pt x="180" y="122"/>
                    <a:pt x="196" y="122"/>
                  </a:cubicBezTo>
                  <a:cubicBezTo>
                    <a:pt x="212" y="122"/>
                    <a:pt x="221" y="104"/>
                    <a:pt x="221" y="92"/>
                  </a:cubicBezTo>
                  <a:cubicBezTo>
                    <a:pt x="221" y="67"/>
                    <a:pt x="180" y="55"/>
                    <a:pt x="144" y="51"/>
                  </a:cubicBezTo>
                  <a:cubicBezTo>
                    <a:pt x="144" y="29"/>
                    <a:pt x="144" y="29"/>
                    <a:pt x="144" y="29"/>
                  </a:cubicBezTo>
                  <a:cubicBezTo>
                    <a:pt x="144" y="13"/>
                    <a:pt x="131" y="0"/>
                    <a:pt x="115" y="0"/>
                  </a:cubicBezTo>
                  <a:cubicBezTo>
                    <a:pt x="99" y="0"/>
                    <a:pt x="86" y="13"/>
                    <a:pt x="86" y="29"/>
                  </a:cubicBezTo>
                  <a:cubicBezTo>
                    <a:pt x="86" y="55"/>
                    <a:pt x="86" y="55"/>
                    <a:pt x="86" y="55"/>
                  </a:cubicBezTo>
                  <a:cubicBezTo>
                    <a:pt x="36" y="67"/>
                    <a:pt x="9" y="101"/>
                    <a:pt x="9" y="153"/>
                  </a:cubicBezTo>
                  <a:cubicBezTo>
                    <a:pt x="9" y="223"/>
                    <a:pt x="61" y="242"/>
                    <a:pt x="102" y="258"/>
                  </a:cubicBezTo>
                  <a:cubicBezTo>
                    <a:pt x="143" y="273"/>
                    <a:pt x="175" y="285"/>
                    <a:pt x="175" y="332"/>
                  </a:cubicBezTo>
                  <a:cubicBezTo>
                    <a:pt x="175" y="370"/>
                    <a:pt x="154" y="390"/>
                    <a:pt x="112" y="390"/>
                  </a:cubicBezTo>
                  <a:cubicBezTo>
                    <a:pt x="50" y="390"/>
                    <a:pt x="49" y="348"/>
                    <a:pt x="26" y="348"/>
                  </a:cubicBezTo>
                  <a:cubicBezTo>
                    <a:pt x="12" y="348"/>
                    <a:pt x="0" y="364"/>
                    <a:pt x="0" y="378"/>
                  </a:cubicBezTo>
                  <a:cubicBezTo>
                    <a:pt x="0" y="402"/>
                    <a:pt x="35" y="433"/>
                    <a:pt x="86" y="441"/>
                  </a:cubicBezTo>
                  <a:cubicBezTo>
                    <a:pt x="86" y="463"/>
                    <a:pt x="86" y="463"/>
                    <a:pt x="86" y="463"/>
                  </a:cubicBezTo>
                  <a:cubicBezTo>
                    <a:pt x="86" y="479"/>
                    <a:pt x="99" y="491"/>
                    <a:pt x="115" y="491"/>
                  </a:cubicBezTo>
                  <a:cubicBezTo>
                    <a:pt x="131" y="491"/>
                    <a:pt x="144" y="479"/>
                    <a:pt x="144" y="463"/>
                  </a:cubicBezTo>
                  <a:cubicBezTo>
                    <a:pt x="144" y="440"/>
                    <a:pt x="144" y="440"/>
                    <a:pt x="144" y="440"/>
                  </a:cubicBezTo>
                  <a:cubicBezTo>
                    <a:pt x="199" y="430"/>
                    <a:pt x="230" y="389"/>
                    <a:pt x="230" y="329"/>
                  </a:cubicBezTo>
                  <a:cubicBezTo>
                    <a:pt x="230" y="245"/>
                    <a:pt x="173" y="224"/>
                    <a:pt x="128" y="2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49" name="Freeform 37">
              <a:extLst>
                <a:ext uri="{FF2B5EF4-FFF2-40B4-BE49-F238E27FC236}">
                  <a16:creationId xmlns:a16="http://schemas.microsoft.com/office/drawing/2014/main" id="{2F13D1CD-6057-6665-E9AC-0987C8363658}"/>
                </a:ext>
              </a:extLst>
            </p:cNvPr>
            <p:cNvSpPr>
              <a:spLocks noEditPoints="1"/>
            </p:cNvSpPr>
            <p:nvPr/>
          </p:nvSpPr>
          <p:spPr bwMode="auto">
            <a:xfrm>
              <a:off x="11304588" y="6038850"/>
              <a:ext cx="93663" cy="92075"/>
            </a:xfrm>
            <a:custGeom>
              <a:avLst/>
              <a:gdLst>
                <a:gd name="T0" fmla="*/ 216 w 235"/>
                <a:gd name="T1" fmla="*/ 18 h 229"/>
                <a:gd name="T2" fmla="*/ 172 w 235"/>
                <a:gd name="T3" fmla="*/ 0 h 229"/>
                <a:gd name="T4" fmla="*/ 69 w 235"/>
                <a:gd name="T5" fmla="*/ 0 h 229"/>
                <a:gd name="T6" fmla="*/ 22 w 235"/>
                <a:gd name="T7" fmla="*/ 21 h 229"/>
                <a:gd name="T8" fmla="*/ 6 w 235"/>
                <a:gd name="T9" fmla="*/ 86 h 229"/>
                <a:gd name="T10" fmla="*/ 6 w 235"/>
                <a:gd name="T11" fmla="*/ 166 h 229"/>
                <a:gd name="T12" fmla="*/ 69 w 235"/>
                <a:gd name="T13" fmla="*/ 229 h 229"/>
                <a:gd name="T14" fmla="*/ 172 w 235"/>
                <a:gd name="T15" fmla="*/ 229 h 229"/>
                <a:gd name="T16" fmla="*/ 235 w 235"/>
                <a:gd name="T17" fmla="*/ 166 h 229"/>
                <a:gd name="T18" fmla="*/ 235 w 235"/>
                <a:gd name="T19" fmla="*/ 63 h 229"/>
                <a:gd name="T20" fmla="*/ 216 w 235"/>
                <a:gd name="T21" fmla="*/ 18 h 229"/>
                <a:gd name="T22" fmla="*/ 172 w 235"/>
                <a:gd name="T23" fmla="*/ 169 h 229"/>
                <a:gd name="T24" fmla="*/ 66 w 235"/>
                <a:gd name="T25" fmla="*/ 166 h 229"/>
                <a:gd name="T26" fmla="*/ 66 w 235"/>
                <a:gd name="T27" fmla="*/ 63 h 229"/>
                <a:gd name="T28" fmla="*/ 69 w 235"/>
                <a:gd name="T29" fmla="*/ 60 h 229"/>
                <a:gd name="T30" fmla="*/ 172 w 235"/>
                <a:gd name="T31" fmla="*/ 60 h 229"/>
                <a:gd name="T32" fmla="*/ 175 w 235"/>
                <a:gd name="T33" fmla="*/ 63 h 229"/>
                <a:gd name="T34" fmla="*/ 172 w 235"/>
                <a:gd name="T35" fmla="*/ 16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 h="229">
                  <a:moveTo>
                    <a:pt x="216" y="18"/>
                  </a:moveTo>
                  <a:cubicBezTo>
                    <a:pt x="205" y="7"/>
                    <a:pt x="189" y="0"/>
                    <a:pt x="172" y="0"/>
                  </a:cubicBezTo>
                  <a:cubicBezTo>
                    <a:pt x="69" y="0"/>
                    <a:pt x="69" y="0"/>
                    <a:pt x="69" y="0"/>
                  </a:cubicBezTo>
                  <a:cubicBezTo>
                    <a:pt x="50" y="0"/>
                    <a:pt x="33" y="8"/>
                    <a:pt x="22" y="21"/>
                  </a:cubicBezTo>
                  <a:cubicBezTo>
                    <a:pt x="0" y="46"/>
                    <a:pt x="7" y="73"/>
                    <a:pt x="6" y="86"/>
                  </a:cubicBezTo>
                  <a:cubicBezTo>
                    <a:pt x="6" y="166"/>
                    <a:pt x="6" y="166"/>
                    <a:pt x="6" y="166"/>
                  </a:cubicBezTo>
                  <a:cubicBezTo>
                    <a:pt x="6" y="201"/>
                    <a:pt x="34" y="229"/>
                    <a:pt x="69" y="229"/>
                  </a:cubicBezTo>
                  <a:cubicBezTo>
                    <a:pt x="172" y="229"/>
                    <a:pt x="172" y="229"/>
                    <a:pt x="172" y="229"/>
                  </a:cubicBezTo>
                  <a:cubicBezTo>
                    <a:pt x="207" y="229"/>
                    <a:pt x="235" y="201"/>
                    <a:pt x="235" y="166"/>
                  </a:cubicBezTo>
                  <a:cubicBezTo>
                    <a:pt x="235" y="63"/>
                    <a:pt x="235" y="63"/>
                    <a:pt x="235" y="63"/>
                  </a:cubicBezTo>
                  <a:cubicBezTo>
                    <a:pt x="235" y="45"/>
                    <a:pt x="228" y="29"/>
                    <a:pt x="216" y="18"/>
                  </a:cubicBezTo>
                  <a:close/>
                  <a:moveTo>
                    <a:pt x="172" y="169"/>
                  </a:moveTo>
                  <a:cubicBezTo>
                    <a:pt x="70" y="168"/>
                    <a:pt x="66" y="172"/>
                    <a:pt x="66" y="166"/>
                  </a:cubicBezTo>
                  <a:cubicBezTo>
                    <a:pt x="66" y="63"/>
                    <a:pt x="66" y="63"/>
                    <a:pt x="66" y="63"/>
                  </a:cubicBezTo>
                  <a:cubicBezTo>
                    <a:pt x="66" y="62"/>
                    <a:pt x="68" y="60"/>
                    <a:pt x="69" y="60"/>
                  </a:cubicBezTo>
                  <a:cubicBezTo>
                    <a:pt x="172" y="60"/>
                    <a:pt x="172" y="60"/>
                    <a:pt x="172" y="60"/>
                  </a:cubicBezTo>
                  <a:cubicBezTo>
                    <a:pt x="174" y="60"/>
                    <a:pt x="175" y="62"/>
                    <a:pt x="175" y="63"/>
                  </a:cubicBezTo>
                  <a:cubicBezTo>
                    <a:pt x="174" y="165"/>
                    <a:pt x="178" y="169"/>
                    <a:pt x="172"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0" name="Freeform 38">
              <a:extLst>
                <a:ext uri="{FF2B5EF4-FFF2-40B4-BE49-F238E27FC236}">
                  <a16:creationId xmlns:a16="http://schemas.microsoft.com/office/drawing/2014/main" id="{4F57A19A-A7FA-9988-A8CD-520BC4EBF909}"/>
                </a:ext>
              </a:extLst>
            </p:cNvPr>
            <p:cNvSpPr>
              <a:spLocks noEditPoints="1"/>
            </p:cNvSpPr>
            <p:nvPr/>
          </p:nvSpPr>
          <p:spPr bwMode="auto">
            <a:xfrm>
              <a:off x="11307763" y="5829300"/>
              <a:ext cx="90488" cy="92075"/>
            </a:xfrm>
            <a:custGeom>
              <a:avLst/>
              <a:gdLst>
                <a:gd name="T0" fmla="*/ 166 w 229"/>
                <a:gd name="T1" fmla="*/ 0 h 230"/>
                <a:gd name="T2" fmla="*/ 63 w 229"/>
                <a:gd name="T3" fmla="*/ 0 h 230"/>
                <a:gd name="T4" fmla="*/ 0 w 229"/>
                <a:gd name="T5" fmla="*/ 63 h 230"/>
                <a:gd name="T6" fmla="*/ 0 w 229"/>
                <a:gd name="T7" fmla="*/ 166 h 230"/>
                <a:gd name="T8" fmla="*/ 63 w 229"/>
                <a:gd name="T9" fmla="*/ 230 h 230"/>
                <a:gd name="T10" fmla="*/ 166 w 229"/>
                <a:gd name="T11" fmla="*/ 230 h 230"/>
                <a:gd name="T12" fmla="*/ 189 w 229"/>
                <a:gd name="T13" fmla="*/ 225 h 230"/>
                <a:gd name="T14" fmla="*/ 229 w 229"/>
                <a:gd name="T15" fmla="*/ 166 h 230"/>
                <a:gd name="T16" fmla="*/ 229 w 229"/>
                <a:gd name="T17" fmla="*/ 63 h 230"/>
                <a:gd name="T18" fmla="*/ 166 w 229"/>
                <a:gd name="T19" fmla="*/ 0 h 230"/>
                <a:gd name="T20" fmla="*/ 166 w 229"/>
                <a:gd name="T21" fmla="*/ 169 h 230"/>
                <a:gd name="T22" fmla="*/ 63 w 229"/>
                <a:gd name="T23" fmla="*/ 169 h 230"/>
                <a:gd name="T24" fmla="*/ 60 w 229"/>
                <a:gd name="T25" fmla="*/ 166 h 230"/>
                <a:gd name="T26" fmla="*/ 60 w 229"/>
                <a:gd name="T27" fmla="*/ 63 h 230"/>
                <a:gd name="T28" fmla="*/ 166 w 229"/>
                <a:gd name="T29" fmla="*/ 61 h 230"/>
                <a:gd name="T30" fmla="*/ 169 w 229"/>
                <a:gd name="T31" fmla="*/ 63 h 230"/>
                <a:gd name="T32" fmla="*/ 169 w 229"/>
                <a:gd name="T33" fmla="*/ 166 h 230"/>
                <a:gd name="T34" fmla="*/ 169 w 229"/>
                <a:gd name="T35" fmla="*/ 166 h 230"/>
                <a:gd name="T36" fmla="*/ 166 w 229"/>
                <a:gd name="T37" fmla="*/ 16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9" h="230">
                  <a:moveTo>
                    <a:pt x="166" y="0"/>
                  </a:moveTo>
                  <a:cubicBezTo>
                    <a:pt x="63" y="0"/>
                    <a:pt x="63" y="0"/>
                    <a:pt x="63" y="0"/>
                  </a:cubicBezTo>
                  <a:cubicBezTo>
                    <a:pt x="28" y="0"/>
                    <a:pt x="0" y="29"/>
                    <a:pt x="0" y="63"/>
                  </a:cubicBezTo>
                  <a:cubicBezTo>
                    <a:pt x="0" y="166"/>
                    <a:pt x="0" y="166"/>
                    <a:pt x="0" y="166"/>
                  </a:cubicBezTo>
                  <a:cubicBezTo>
                    <a:pt x="0" y="201"/>
                    <a:pt x="28" y="230"/>
                    <a:pt x="63" y="230"/>
                  </a:cubicBezTo>
                  <a:cubicBezTo>
                    <a:pt x="166" y="230"/>
                    <a:pt x="166" y="230"/>
                    <a:pt x="166" y="230"/>
                  </a:cubicBezTo>
                  <a:cubicBezTo>
                    <a:pt x="174" y="230"/>
                    <a:pt x="182" y="228"/>
                    <a:pt x="189" y="225"/>
                  </a:cubicBezTo>
                  <a:cubicBezTo>
                    <a:pt x="213" y="216"/>
                    <a:pt x="229" y="193"/>
                    <a:pt x="229" y="166"/>
                  </a:cubicBezTo>
                  <a:cubicBezTo>
                    <a:pt x="229" y="63"/>
                    <a:pt x="229" y="63"/>
                    <a:pt x="229" y="63"/>
                  </a:cubicBezTo>
                  <a:cubicBezTo>
                    <a:pt x="229" y="28"/>
                    <a:pt x="201" y="0"/>
                    <a:pt x="166" y="0"/>
                  </a:cubicBezTo>
                  <a:close/>
                  <a:moveTo>
                    <a:pt x="166" y="169"/>
                  </a:moveTo>
                  <a:cubicBezTo>
                    <a:pt x="63" y="169"/>
                    <a:pt x="63" y="169"/>
                    <a:pt x="63" y="169"/>
                  </a:cubicBezTo>
                  <a:cubicBezTo>
                    <a:pt x="62" y="169"/>
                    <a:pt x="60" y="168"/>
                    <a:pt x="60" y="166"/>
                  </a:cubicBezTo>
                  <a:cubicBezTo>
                    <a:pt x="60" y="63"/>
                    <a:pt x="60" y="63"/>
                    <a:pt x="60" y="63"/>
                  </a:cubicBezTo>
                  <a:cubicBezTo>
                    <a:pt x="60" y="58"/>
                    <a:pt x="64" y="62"/>
                    <a:pt x="166" y="61"/>
                  </a:cubicBezTo>
                  <a:cubicBezTo>
                    <a:pt x="168" y="61"/>
                    <a:pt x="169" y="62"/>
                    <a:pt x="169" y="63"/>
                  </a:cubicBezTo>
                  <a:cubicBezTo>
                    <a:pt x="169" y="166"/>
                    <a:pt x="169" y="166"/>
                    <a:pt x="169" y="166"/>
                  </a:cubicBezTo>
                  <a:cubicBezTo>
                    <a:pt x="169" y="166"/>
                    <a:pt x="169" y="166"/>
                    <a:pt x="169" y="166"/>
                  </a:cubicBezTo>
                  <a:cubicBezTo>
                    <a:pt x="169" y="168"/>
                    <a:pt x="168" y="169"/>
                    <a:pt x="166"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1" name="Freeform 39">
              <a:extLst>
                <a:ext uri="{FF2B5EF4-FFF2-40B4-BE49-F238E27FC236}">
                  <a16:creationId xmlns:a16="http://schemas.microsoft.com/office/drawing/2014/main" id="{4EB6AC2D-07F7-ACB1-A353-92B3AEFA9CF9}"/>
                </a:ext>
              </a:extLst>
            </p:cNvPr>
            <p:cNvSpPr>
              <a:spLocks noEditPoints="1"/>
            </p:cNvSpPr>
            <p:nvPr/>
          </p:nvSpPr>
          <p:spPr bwMode="auto">
            <a:xfrm>
              <a:off x="11307763" y="5937250"/>
              <a:ext cx="90488" cy="90488"/>
            </a:xfrm>
            <a:custGeom>
              <a:avLst/>
              <a:gdLst>
                <a:gd name="T0" fmla="*/ 189 w 229"/>
                <a:gd name="T1" fmla="*/ 4 h 229"/>
                <a:gd name="T2" fmla="*/ 166 w 229"/>
                <a:gd name="T3" fmla="*/ 0 h 229"/>
                <a:gd name="T4" fmla="*/ 63 w 229"/>
                <a:gd name="T5" fmla="*/ 0 h 229"/>
                <a:gd name="T6" fmla="*/ 0 w 229"/>
                <a:gd name="T7" fmla="*/ 63 h 229"/>
                <a:gd name="T8" fmla="*/ 0 w 229"/>
                <a:gd name="T9" fmla="*/ 166 h 229"/>
                <a:gd name="T10" fmla="*/ 63 w 229"/>
                <a:gd name="T11" fmla="*/ 229 h 229"/>
                <a:gd name="T12" fmla="*/ 166 w 229"/>
                <a:gd name="T13" fmla="*/ 229 h 229"/>
                <a:gd name="T14" fmla="*/ 229 w 229"/>
                <a:gd name="T15" fmla="*/ 166 h 229"/>
                <a:gd name="T16" fmla="*/ 229 w 229"/>
                <a:gd name="T17" fmla="*/ 63 h 229"/>
                <a:gd name="T18" fmla="*/ 189 w 229"/>
                <a:gd name="T19" fmla="*/ 4 h 229"/>
                <a:gd name="T20" fmla="*/ 169 w 229"/>
                <a:gd name="T21" fmla="*/ 166 h 229"/>
                <a:gd name="T22" fmla="*/ 166 w 229"/>
                <a:gd name="T23" fmla="*/ 169 h 229"/>
                <a:gd name="T24" fmla="*/ 63 w 229"/>
                <a:gd name="T25" fmla="*/ 169 h 229"/>
                <a:gd name="T26" fmla="*/ 60 w 229"/>
                <a:gd name="T27" fmla="*/ 166 h 229"/>
                <a:gd name="T28" fmla="*/ 60 w 229"/>
                <a:gd name="T29" fmla="*/ 63 h 229"/>
                <a:gd name="T30" fmla="*/ 63 w 229"/>
                <a:gd name="T31" fmla="*/ 60 h 229"/>
                <a:gd name="T32" fmla="*/ 166 w 229"/>
                <a:gd name="T33" fmla="*/ 60 h 229"/>
                <a:gd name="T34" fmla="*/ 169 w 229"/>
                <a:gd name="T35" fmla="*/ 63 h 229"/>
                <a:gd name="T36" fmla="*/ 169 w 229"/>
                <a:gd name="T37" fmla="*/ 16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9" h="229">
                  <a:moveTo>
                    <a:pt x="189" y="4"/>
                  </a:moveTo>
                  <a:cubicBezTo>
                    <a:pt x="182" y="1"/>
                    <a:pt x="174" y="0"/>
                    <a:pt x="166" y="0"/>
                  </a:cubicBezTo>
                  <a:cubicBezTo>
                    <a:pt x="63" y="0"/>
                    <a:pt x="63" y="0"/>
                    <a:pt x="63" y="0"/>
                  </a:cubicBezTo>
                  <a:cubicBezTo>
                    <a:pt x="28" y="0"/>
                    <a:pt x="0" y="28"/>
                    <a:pt x="0" y="63"/>
                  </a:cubicBezTo>
                  <a:cubicBezTo>
                    <a:pt x="0" y="166"/>
                    <a:pt x="0" y="166"/>
                    <a:pt x="0" y="166"/>
                  </a:cubicBezTo>
                  <a:cubicBezTo>
                    <a:pt x="0" y="201"/>
                    <a:pt x="28" y="229"/>
                    <a:pt x="63" y="229"/>
                  </a:cubicBezTo>
                  <a:cubicBezTo>
                    <a:pt x="166" y="229"/>
                    <a:pt x="166" y="229"/>
                    <a:pt x="166" y="229"/>
                  </a:cubicBezTo>
                  <a:cubicBezTo>
                    <a:pt x="201" y="229"/>
                    <a:pt x="229" y="201"/>
                    <a:pt x="229" y="166"/>
                  </a:cubicBezTo>
                  <a:cubicBezTo>
                    <a:pt x="229" y="63"/>
                    <a:pt x="229" y="63"/>
                    <a:pt x="229" y="63"/>
                  </a:cubicBezTo>
                  <a:cubicBezTo>
                    <a:pt x="229" y="36"/>
                    <a:pt x="213" y="13"/>
                    <a:pt x="189" y="4"/>
                  </a:cubicBezTo>
                  <a:close/>
                  <a:moveTo>
                    <a:pt x="169" y="166"/>
                  </a:moveTo>
                  <a:cubicBezTo>
                    <a:pt x="169" y="167"/>
                    <a:pt x="168" y="169"/>
                    <a:pt x="166" y="169"/>
                  </a:cubicBezTo>
                  <a:cubicBezTo>
                    <a:pt x="63" y="169"/>
                    <a:pt x="63" y="169"/>
                    <a:pt x="63" y="169"/>
                  </a:cubicBezTo>
                  <a:cubicBezTo>
                    <a:pt x="62" y="169"/>
                    <a:pt x="60" y="167"/>
                    <a:pt x="60" y="166"/>
                  </a:cubicBezTo>
                  <a:cubicBezTo>
                    <a:pt x="60" y="63"/>
                    <a:pt x="60" y="63"/>
                    <a:pt x="60" y="63"/>
                  </a:cubicBezTo>
                  <a:cubicBezTo>
                    <a:pt x="60" y="61"/>
                    <a:pt x="62" y="60"/>
                    <a:pt x="63" y="60"/>
                  </a:cubicBezTo>
                  <a:cubicBezTo>
                    <a:pt x="166" y="60"/>
                    <a:pt x="166" y="60"/>
                    <a:pt x="166" y="60"/>
                  </a:cubicBezTo>
                  <a:cubicBezTo>
                    <a:pt x="168" y="60"/>
                    <a:pt x="169" y="61"/>
                    <a:pt x="169" y="63"/>
                  </a:cubicBezTo>
                  <a:lnTo>
                    <a:pt x="169"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2" name="Freeform 40">
              <a:extLst>
                <a:ext uri="{FF2B5EF4-FFF2-40B4-BE49-F238E27FC236}">
                  <a16:creationId xmlns:a16="http://schemas.microsoft.com/office/drawing/2014/main" id="{6F614875-2C3D-E4CF-A1A1-E0C1AF2D4082}"/>
                </a:ext>
              </a:extLst>
            </p:cNvPr>
            <p:cNvSpPr>
              <a:spLocks/>
            </p:cNvSpPr>
            <p:nvPr/>
          </p:nvSpPr>
          <p:spPr bwMode="auto">
            <a:xfrm>
              <a:off x="11261725" y="5530850"/>
              <a:ext cx="53975" cy="23813"/>
            </a:xfrm>
            <a:custGeom>
              <a:avLst/>
              <a:gdLst>
                <a:gd name="T0" fmla="*/ 106 w 136"/>
                <a:gd name="T1" fmla="*/ 0 h 60"/>
                <a:gd name="T2" fmla="*/ 30 w 136"/>
                <a:gd name="T3" fmla="*/ 0 h 60"/>
                <a:gd name="T4" fmla="*/ 0 w 136"/>
                <a:gd name="T5" fmla="*/ 30 h 60"/>
                <a:gd name="T6" fmla="*/ 30 w 136"/>
                <a:gd name="T7" fmla="*/ 60 h 60"/>
                <a:gd name="T8" fmla="*/ 106 w 136"/>
                <a:gd name="T9" fmla="*/ 60 h 60"/>
                <a:gd name="T10" fmla="*/ 136 w 136"/>
                <a:gd name="T11" fmla="*/ 30 h 60"/>
                <a:gd name="T12" fmla="*/ 106 w 136"/>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136" h="60">
                  <a:moveTo>
                    <a:pt x="106" y="0"/>
                  </a:moveTo>
                  <a:cubicBezTo>
                    <a:pt x="30" y="0"/>
                    <a:pt x="30" y="0"/>
                    <a:pt x="30" y="0"/>
                  </a:cubicBezTo>
                  <a:cubicBezTo>
                    <a:pt x="14" y="0"/>
                    <a:pt x="0" y="14"/>
                    <a:pt x="0" y="30"/>
                  </a:cubicBezTo>
                  <a:cubicBezTo>
                    <a:pt x="0" y="47"/>
                    <a:pt x="14" y="60"/>
                    <a:pt x="30" y="60"/>
                  </a:cubicBezTo>
                  <a:cubicBezTo>
                    <a:pt x="106" y="60"/>
                    <a:pt x="106" y="60"/>
                    <a:pt x="106" y="60"/>
                  </a:cubicBezTo>
                  <a:cubicBezTo>
                    <a:pt x="123" y="60"/>
                    <a:pt x="136" y="47"/>
                    <a:pt x="136" y="30"/>
                  </a:cubicBezTo>
                  <a:cubicBezTo>
                    <a:pt x="136" y="14"/>
                    <a:pt x="123" y="0"/>
                    <a:pt x="10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3" name="Freeform 41">
              <a:extLst>
                <a:ext uri="{FF2B5EF4-FFF2-40B4-BE49-F238E27FC236}">
                  <a16:creationId xmlns:a16="http://schemas.microsoft.com/office/drawing/2014/main" id="{DE6D11F6-1D72-1CF4-CDB7-7FB51B6260A0}"/>
                </a:ext>
              </a:extLst>
            </p:cNvPr>
            <p:cNvSpPr>
              <a:spLocks/>
            </p:cNvSpPr>
            <p:nvPr/>
          </p:nvSpPr>
          <p:spPr bwMode="auto">
            <a:xfrm>
              <a:off x="11001375" y="5530850"/>
              <a:ext cx="236538" cy="23813"/>
            </a:xfrm>
            <a:custGeom>
              <a:avLst/>
              <a:gdLst>
                <a:gd name="T0" fmla="*/ 565 w 595"/>
                <a:gd name="T1" fmla="*/ 0 h 60"/>
                <a:gd name="T2" fmla="*/ 30 w 595"/>
                <a:gd name="T3" fmla="*/ 0 h 60"/>
                <a:gd name="T4" fmla="*/ 0 w 595"/>
                <a:gd name="T5" fmla="*/ 30 h 60"/>
                <a:gd name="T6" fmla="*/ 30 w 595"/>
                <a:gd name="T7" fmla="*/ 60 h 60"/>
                <a:gd name="T8" fmla="*/ 565 w 595"/>
                <a:gd name="T9" fmla="*/ 60 h 60"/>
                <a:gd name="T10" fmla="*/ 595 w 595"/>
                <a:gd name="T11" fmla="*/ 30 h 60"/>
                <a:gd name="T12" fmla="*/ 565 w 595"/>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595" h="60">
                  <a:moveTo>
                    <a:pt x="565" y="0"/>
                  </a:moveTo>
                  <a:cubicBezTo>
                    <a:pt x="30" y="0"/>
                    <a:pt x="30" y="0"/>
                    <a:pt x="30" y="0"/>
                  </a:cubicBezTo>
                  <a:cubicBezTo>
                    <a:pt x="13" y="0"/>
                    <a:pt x="0" y="14"/>
                    <a:pt x="0" y="30"/>
                  </a:cubicBezTo>
                  <a:cubicBezTo>
                    <a:pt x="0" y="47"/>
                    <a:pt x="13" y="60"/>
                    <a:pt x="30" y="60"/>
                  </a:cubicBezTo>
                  <a:cubicBezTo>
                    <a:pt x="565" y="60"/>
                    <a:pt x="565" y="60"/>
                    <a:pt x="565" y="60"/>
                  </a:cubicBezTo>
                  <a:cubicBezTo>
                    <a:pt x="581" y="60"/>
                    <a:pt x="595" y="47"/>
                    <a:pt x="595" y="30"/>
                  </a:cubicBezTo>
                  <a:cubicBezTo>
                    <a:pt x="595" y="14"/>
                    <a:pt x="581" y="0"/>
                    <a:pt x="56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4" name="Freeform 42">
              <a:extLst>
                <a:ext uri="{FF2B5EF4-FFF2-40B4-BE49-F238E27FC236}">
                  <a16:creationId xmlns:a16="http://schemas.microsoft.com/office/drawing/2014/main" id="{AB134FD1-6BCA-67C2-AA3C-4EC1378130BE}"/>
                </a:ext>
              </a:extLst>
            </p:cNvPr>
            <p:cNvSpPr>
              <a:spLocks/>
            </p:cNvSpPr>
            <p:nvPr/>
          </p:nvSpPr>
          <p:spPr bwMode="auto">
            <a:xfrm>
              <a:off x="11001375" y="5589588"/>
              <a:ext cx="61913" cy="23813"/>
            </a:xfrm>
            <a:custGeom>
              <a:avLst/>
              <a:gdLst>
                <a:gd name="T0" fmla="*/ 126 w 156"/>
                <a:gd name="T1" fmla="*/ 0 h 60"/>
                <a:gd name="T2" fmla="*/ 30 w 156"/>
                <a:gd name="T3" fmla="*/ 0 h 60"/>
                <a:gd name="T4" fmla="*/ 0 w 156"/>
                <a:gd name="T5" fmla="*/ 30 h 60"/>
                <a:gd name="T6" fmla="*/ 30 w 156"/>
                <a:gd name="T7" fmla="*/ 60 h 60"/>
                <a:gd name="T8" fmla="*/ 126 w 156"/>
                <a:gd name="T9" fmla="*/ 60 h 60"/>
                <a:gd name="T10" fmla="*/ 156 w 156"/>
                <a:gd name="T11" fmla="*/ 30 h 60"/>
                <a:gd name="T12" fmla="*/ 126 w 156"/>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156" h="60">
                  <a:moveTo>
                    <a:pt x="126" y="0"/>
                  </a:moveTo>
                  <a:cubicBezTo>
                    <a:pt x="30" y="0"/>
                    <a:pt x="30" y="0"/>
                    <a:pt x="30" y="0"/>
                  </a:cubicBezTo>
                  <a:cubicBezTo>
                    <a:pt x="13" y="0"/>
                    <a:pt x="0" y="13"/>
                    <a:pt x="0" y="30"/>
                  </a:cubicBezTo>
                  <a:cubicBezTo>
                    <a:pt x="0" y="47"/>
                    <a:pt x="13" y="60"/>
                    <a:pt x="30" y="60"/>
                  </a:cubicBezTo>
                  <a:cubicBezTo>
                    <a:pt x="126" y="60"/>
                    <a:pt x="126" y="60"/>
                    <a:pt x="126" y="60"/>
                  </a:cubicBezTo>
                  <a:cubicBezTo>
                    <a:pt x="142" y="60"/>
                    <a:pt x="156" y="47"/>
                    <a:pt x="156" y="30"/>
                  </a:cubicBezTo>
                  <a:cubicBezTo>
                    <a:pt x="156" y="13"/>
                    <a:pt x="142" y="0"/>
                    <a:pt x="1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5" name="Freeform 43">
              <a:extLst>
                <a:ext uri="{FF2B5EF4-FFF2-40B4-BE49-F238E27FC236}">
                  <a16:creationId xmlns:a16="http://schemas.microsoft.com/office/drawing/2014/main" id="{77C12430-FFB9-D28A-B61F-3BE1E1721BA0}"/>
                </a:ext>
              </a:extLst>
            </p:cNvPr>
            <p:cNvSpPr>
              <a:spLocks/>
            </p:cNvSpPr>
            <p:nvPr/>
          </p:nvSpPr>
          <p:spPr bwMode="auto">
            <a:xfrm>
              <a:off x="11087100" y="5589588"/>
              <a:ext cx="228600" cy="23813"/>
            </a:xfrm>
            <a:custGeom>
              <a:avLst/>
              <a:gdLst>
                <a:gd name="T0" fmla="*/ 545 w 575"/>
                <a:gd name="T1" fmla="*/ 0 h 60"/>
                <a:gd name="T2" fmla="*/ 30 w 575"/>
                <a:gd name="T3" fmla="*/ 0 h 60"/>
                <a:gd name="T4" fmla="*/ 0 w 575"/>
                <a:gd name="T5" fmla="*/ 30 h 60"/>
                <a:gd name="T6" fmla="*/ 30 w 575"/>
                <a:gd name="T7" fmla="*/ 60 h 60"/>
                <a:gd name="T8" fmla="*/ 545 w 575"/>
                <a:gd name="T9" fmla="*/ 60 h 60"/>
                <a:gd name="T10" fmla="*/ 575 w 575"/>
                <a:gd name="T11" fmla="*/ 30 h 60"/>
                <a:gd name="T12" fmla="*/ 545 w 575"/>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575" h="60">
                  <a:moveTo>
                    <a:pt x="545" y="0"/>
                  </a:moveTo>
                  <a:cubicBezTo>
                    <a:pt x="30" y="0"/>
                    <a:pt x="30" y="0"/>
                    <a:pt x="30" y="0"/>
                  </a:cubicBezTo>
                  <a:cubicBezTo>
                    <a:pt x="14" y="0"/>
                    <a:pt x="0" y="13"/>
                    <a:pt x="0" y="30"/>
                  </a:cubicBezTo>
                  <a:cubicBezTo>
                    <a:pt x="0" y="47"/>
                    <a:pt x="14" y="60"/>
                    <a:pt x="30" y="60"/>
                  </a:cubicBezTo>
                  <a:cubicBezTo>
                    <a:pt x="545" y="60"/>
                    <a:pt x="545" y="60"/>
                    <a:pt x="545" y="60"/>
                  </a:cubicBezTo>
                  <a:cubicBezTo>
                    <a:pt x="562" y="60"/>
                    <a:pt x="575" y="47"/>
                    <a:pt x="575" y="30"/>
                  </a:cubicBezTo>
                  <a:cubicBezTo>
                    <a:pt x="575" y="13"/>
                    <a:pt x="562" y="0"/>
                    <a:pt x="54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sp>
          <p:nvSpPr>
            <p:cNvPr id="156" name="Freeform 44">
              <a:extLst>
                <a:ext uri="{FF2B5EF4-FFF2-40B4-BE49-F238E27FC236}">
                  <a16:creationId xmlns:a16="http://schemas.microsoft.com/office/drawing/2014/main" id="{BC50C992-7BAC-9E42-A45B-3E335D5670B4}"/>
                </a:ext>
              </a:extLst>
            </p:cNvPr>
            <p:cNvSpPr>
              <a:spLocks/>
            </p:cNvSpPr>
            <p:nvPr/>
          </p:nvSpPr>
          <p:spPr bwMode="auto">
            <a:xfrm>
              <a:off x="10872788" y="6002338"/>
              <a:ext cx="74613" cy="128588"/>
            </a:xfrm>
            <a:custGeom>
              <a:avLst/>
              <a:gdLst>
                <a:gd name="T0" fmla="*/ 66 w 185"/>
                <a:gd name="T1" fmla="*/ 104 h 322"/>
                <a:gd name="T2" fmla="*/ 71 w 185"/>
                <a:gd name="T3" fmla="*/ 92 h 322"/>
                <a:gd name="T4" fmla="*/ 115 w 185"/>
                <a:gd name="T5" fmla="*/ 95 h 322"/>
                <a:gd name="T6" fmla="*/ 131 w 185"/>
                <a:gd name="T7" fmla="*/ 100 h 322"/>
                <a:gd name="T8" fmla="*/ 114 w 185"/>
                <a:gd name="T9" fmla="*/ 33 h 322"/>
                <a:gd name="T10" fmla="*/ 114 w 185"/>
                <a:gd name="T11" fmla="*/ 31 h 322"/>
                <a:gd name="T12" fmla="*/ 83 w 185"/>
                <a:gd name="T13" fmla="*/ 0 h 322"/>
                <a:gd name="T14" fmla="*/ 52 w 185"/>
                <a:gd name="T15" fmla="*/ 31 h 322"/>
                <a:gd name="T16" fmla="*/ 52 w 185"/>
                <a:gd name="T17" fmla="*/ 37 h 322"/>
                <a:gd name="T18" fmla="*/ 6 w 185"/>
                <a:gd name="T19" fmla="*/ 105 h 322"/>
                <a:gd name="T20" fmla="*/ 71 w 185"/>
                <a:gd name="T21" fmla="*/ 181 h 322"/>
                <a:gd name="T22" fmla="*/ 106 w 185"/>
                <a:gd name="T23" fmla="*/ 213 h 322"/>
                <a:gd name="T24" fmla="*/ 81 w 185"/>
                <a:gd name="T25" fmla="*/ 234 h 322"/>
                <a:gd name="T26" fmla="*/ 30 w 185"/>
                <a:gd name="T27" fmla="*/ 209 h 322"/>
                <a:gd name="T28" fmla="*/ 0 w 185"/>
                <a:gd name="T29" fmla="*/ 241 h 322"/>
                <a:gd name="T30" fmla="*/ 52 w 185"/>
                <a:gd name="T31" fmla="*/ 289 h 322"/>
                <a:gd name="T32" fmla="*/ 52 w 185"/>
                <a:gd name="T33" fmla="*/ 292 h 322"/>
                <a:gd name="T34" fmla="*/ 83 w 185"/>
                <a:gd name="T35" fmla="*/ 322 h 322"/>
                <a:gd name="T36" fmla="*/ 114 w 185"/>
                <a:gd name="T37" fmla="*/ 292 h 322"/>
                <a:gd name="T38" fmla="*/ 114 w 185"/>
                <a:gd name="T39" fmla="*/ 289 h 322"/>
                <a:gd name="T40" fmla="*/ 166 w 185"/>
                <a:gd name="T41" fmla="*/ 211 h 322"/>
                <a:gd name="T42" fmla="*/ 66 w 185"/>
                <a:gd name="T43" fmla="*/ 104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5" h="322">
                  <a:moveTo>
                    <a:pt x="66" y="104"/>
                  </a:moveTo>
                  <a:cubicBezTo>
                    <a:pt x="66" y="96"/>
                    <a:pt x="69" y="94"/>
                    <a:pt x="71" y="92"/>
                  </a:cubicBezTo>
                  <a:cubicBezTo>
                    <a:pt x="79" y="88"/>
                    <a:pt x="98" y="87"/>
                    <a:pt x="115" y="95"/>
                  </a:cubicBezTo>
                  <a:cubicBezTo>
                    <a:pt x="120" y="98"/>
                    <a:pt x="125" y="100"/>
                    <a:pt x="131" y="100"/>
                  </a:cubicBezTo>
                  <a:cubicBezTo>
                    <a:pt x="161" y="100"/>
                    <a:pt x="185" y="45"/>
                    <a:pt x="114" y="33"/>
                  </a:cubicBezTo>
                  <a:cubicBezTo>
                    <a:pt x="114" y="31"/>
                    <a:pt x="114" y="31"/>
                    <a:pt x="114" y="31"/>
                  </a:cubicBezTo>
                  <a:cubicBezTo>
                    <a:pt x="114" y="14"/>
                    <a:pt x="100" y="0"/>
                    <a:pt x="83" y="0"/>
                  </a:cubicBezTo>
                  <a:cubicBezTo>
                    <a:pt x="66" y="0"/>
                    <a:pt x="52" y="14"/>
                    <a:pt x="52" y="31"/>
                  </a:cubicBezTo>
                  <a:cubicBezTo>
                    <a:pt x="52" y="37"/>
                    <a:pt x="52" y="37"/>
                    <a:pt x="52" y="37"/>
                  </a:cubicBezTo>
                  <a:cubicBezTo>
                    <a:pt x="23" y="48"/>
                    <a:pt x="6" y="72"/>
                    <a:pt x="6" y="105"/>
                  </a:cubicBezTo>
                  <a:cubicBezTo>
                    <a:pt x="6" y="157"/>
                    <a:pt x="43" y="171"/>
                    <a:pt x="71" y="181"/>
                  </a:cubicBezTo>
                  <a:cubicBezTo>
                    <a:pt x="97" y="191"/>
                    <a:pt x="106" y="195"/>
                    <a:pt x="106" y="213"/>
                  </a:cubicBezTo>
                  <a:cubicBezTo>
                    <a:pt x="106" y="224"/>
                    <a:pt x="103" y="234"/>
                    <a:pt x="81" y="234"/>
                  </a:cubicBezTo>
                  <a:cubicBezTo>
                    <a:pt x="49" y="234"/>
                    <a:pt x="53" y="209"/>
                    <a:pt x="30" y="209"/>
                  </a:cubicBezTo>
                  <a:cubicBezTo>
                    <a:pt x="13" y="209"/>
                    <a:pt x="0" y="226"/>
                    <a:pt x="0" y="241"/>
                  </a:cubicBezTo>
                  <a:cubicBezTo>
                    <a:pt x="0" y="261"/>
                    <a:pt x="22" y="281"/>
                    <a:pt x="52" y="289"/>
                  </a:cubicBezTo>
                  <a:cubicBezTo>
                    <a:pt x="52" y="292"/>
                    <a:pt x="52" y="292"/>
                    <a:pt x="52" y="292"/>
                  </a:cubicBezTo>
                  <a:cubicBezTo>
                    <a:pt x="52" y="308"/>
                    <a:pt x="66" y="322"/>
                    <a:pt x="83" y="322"/>
                  </a:cubicBezTo>
                  <a:cubicBezTo>
                    <a:pt x="100" y="322"/>
                    <a:pt x="114" y="308"/>
                    <a:pt x="114" y="292"/>
                  </a:cubicBezTo>
                  <a:cubicBezTo>
                    <a:pt x="114" y="289"/>
                    <a:pt x="114" y="289"/>
                    <a:pt x="114" y="289"/>
                  </a:cubicBezTo>
                  <a:cubicBezTo>
                    <a:pt x="146" y="278"/>
                    <a:pt x="166" y="250"/>
                    <a:pt x="166" y="211"/>
                  </a:cubicBezTo>
                  <a:cubicBezTo>
                    <a:pt x="166" y="119"/>
                    <a:pt x="66" y="133"/>
                    <a:pt x="66"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Calibri" panose="020F0502020204030204" pitchFamily="34" charset="0"/>
              </a:endParaRPr>
            </a:p>
          </p:txBody>
        </p:sp>
      </p:grpSp>
      <p:grpSp>
        <p:nvGrpSpPr>
          <p:cNvPr id="13" name="Group 12">
            <a:extLst>
              <a:ext uri="{FF2B5EF4-FFF2-40B4-BE49-F238E27FC236}">
                <a16:creationId xmlns:a16="http://schemas.microsoft.com/office/drawing/2014/main" id="{19689240-1069-0E62-6410-52A546936660}"/>
              </a:ext>
            </a:extLst>
          </p:cNvPr>
          <p:cNvGrpSpPr/>
          <p:nvPr/>
        </p:nvGrpSpPr>
        <p:grpSpPr>
          <a:xfrm>
            <a:off x="627313" y="3351463"/>
            <a:ext cx="2395720" cy="2288609"/>
            <a:chOff x="481541" y="3351463"/>
            <a:chExt cx="2395720" cy="2288609"/>
          </a:xfrm>
        </p:grpSpPr>
        <p:sp>
          <p:nvSpPr>
            <p:cNvPr id="2" name="Rectangle 1">
              <a:extLst>
                <a:ext uri="{FF2B5EF4-FFF2-40B4-BE49-F238E27FC236}">
                  <a16:creationId xmlns:a16="http://schemas.microsoft.com/office/drawing/2014/main" id="{86162545-3F5E-9B47-2C09-7FF5D62558EE}"/>
                </a:ext>
              </a:extLst>
            </p:cNvPr>
            <p:cNvSpPr/>
            <p:nvPr/>
          </p:nvSpPr>
          <p:spPr>
            <a:xfrm>
              <a:off x="481541" y="3351463"/>
              <a:ext cx="2395719" cy="502079"/>
            </a:xfrm>
            <a:prstGeom prst="rect">
              <a:avLst/>
            </a:prstGeom>
            <a:solidFill>
              <a:schemeClr val="accent4"/>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sz="1200" b="1" dirty="0">
                  <a:solidFill>
                    <a:schemeClr val="bg1"/>
                  </a:solidFill>
                  <a:latin typeface="Manrope" pitchFamily="2" charset="0"/>
                  <a:ea typeface="+mj-ea"/>
                  <a:cs typeface="Segoe UI" panose="020B0502040204020203" pitchFamily="34" charset="0"/>
                </a:rPr>
                <a:t>Outcome-Based / Value realization Pricing</a:t>
              </a:r>
            </a:p>
          </p:txBody>
        </p:sp>
        <p:sp>
          <p:nvSpPr>
            <p:cNvPr id="3" name="Rectangle 2">
              <a:extLst>
                <a:ext uri="{FF2B5EF4-FFF2-40B4-BE49-F238E27FC236}">
                  <a16:creationId xmlns:a16="http://schemas.microsoft.com/office/drawing/2014/main" id="{1673CAE6-9B2F-B462-D5B8-97BC7C974174}"/>
                </a:ext>
              </a:extLst>
            </p:cNvPr>
            <p:cNvSpPr/>
            <p:nvPr/>
          </p:nvSpPr>
          <p:spPr>
            <a:xfrm>
              <a:off x="481541" y="3853542"/>
              <a:ext cx="2395720" cy="1786530"/>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2B8DD65-AB39-D04C-76CB-496BAB0A7D86}"/>
                </a:ext>
              </a:extLst>
            </p:cNvPr>
            <p:cNvSpPr/>
            <p:nvPr/>
          </p:nvSpPr>
          <p:spPr>
            <a:xfrm>
              <a:off x="643202" y="3957078"/>
              <a:ext cx="2008197" cy="1200329"/>
            </a:xfrm>
            <a:prstGeom prst="rect">
              <a:avLst/>
            </a:prstGeom>
          </p:spPr>
          <p:txBody>
            <a:bodyPr wrap="square" lIns="0" tIns="0" rIns="0" bIns="0">
              <a:spAutoFit/>
            </a:bodyPr>
            <a:lstStyle/>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Outcomes finalized</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Budget Certainty</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Detailed Scope Upfront</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Change Management</a:t>
              </a:r>
            </a:p>
          </p:txBody>
        </p:sp>
      </p:grpSp>
      <p:grpSp>
        <p:nvGrpSpPr>
          <p:cNvPr id="22" name="Group 21">
            <a:extLst>
              <a:ext uri="{FF2B5EF4-FFF2-40B4-BE49-F238E27FC236}">
                <a16:creationId xmlns:a16="http://schemas.microsoft.com/office/drawing/2014/main" id="{6E007591-0537-ADC5-93A1-97C5E030DBA4}"/>
              </a:ext>
            </a:extLst>
          </p:cNvPr>
          <p:cNvGrpSpPr/>
          <p:nvPr/>
        </p:nvGrpSpPr>
        <p:grpSpPr>
          <a:xfrm>
            <a:off x="9182837" y="3339919"/>
            <a:ext cx="2395720" cy="2288609"/>
            <a:chOff x="9156333" y="3339919"/>
            <a:chExt cx="2395720" cy="2288609"/>
          </a:xfrm>
        </p:grpSpPr>
        <p:sp>
          <p:nvSpPr>
            <p:cNvPr id="5" name="Rectangle 4">
              <a:extLst>
                <a:ext uri="{FF2B5EF4-FFF2-40B4-BE49-F238E27FC236}">
                  <a16:creationId xmlns:a16="http://schemas.microsoft.com/office/drawing/2014/main" id="{0B926830-7B9B-379B-6B8E-8521471A4C7B}"/>
                </a:ext>
              </a:extLst>
            </p:cNvPr>
            <p:cNvSpPr/>
            <p:nvPr/>
          </p:nvSpPr>
          <p:spPr>
            <a:xfrm>
              <a:off x="9156333" y="3339919"/>
              <a:ext cx="2395719" cy="502079"/>
            </a:xfrm>
            <a:prstGeom prst="rect">
              <a:avLst/>
            </a:prstGeom>
            <a:solidFill>
              <a:schemeClr val="accent4"/>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sz="1200" b="1" dirty="0">
                  <a:solidFill>
                    <a:schemeClr val="bg1"/>
                  </a:solidFill>
                  <a:latin typeface="Manrope" pitchFamily="2" charset="0"/>
                  <a:ea typeface="+mj-ea"/>
                  <a:cs typeface="Segoe UI" panose="020B0502040204020203" pitchFamily="34" charset="0"/>
                </a:rPr>
                <a:t>Shared Service</a:t>
              </a:r>
            </a:p>
          </p:txBody>
        </p:sp>
        <p:sp>
          <p:nvSpPr>
            <p:cNvPr id="7" name="Rectangle 6">
              <a:extLst>
                <a:ext uri="{FF2B5EF4-FFF2-40B4-BE49-F238E27FC236}">
                  <a16:creationId xmlns:a16="http://schemas.microsoft.com/office/drawing/2014/main" id="{FD048E60-3B01-E0C8-42A8-5F025968FD42}"/>
                </a:ext>
              </a:extLst>
            </p:cNvPr>
            <p:cNvSpPr/>
            <p:nvPr/>
          </p:nvSpPr>
          <p:spPr>
            <a:xfrm>
              <a:off x="9156333" y="3841998"/>
              <a:ext cx="2395720" cy="1786530"/>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BBBC19C-ABDD-73F6-C426-3E8C406BBD78}"/>
                </a:ext>
              </a:extLst>
            </p:cNvPr>
            <p:cNvSpPr/>
            <p:nvPr/>
          </p:nvSpPr>
          <p:spPr>
            <a:xfrm>
              <a:off x="9330694" y="3957078"/>
              <a:ext cx="2008197" cy="1384995"/>
            </a:xfrm>
            <a:prstGeom prst="rect">
              <a:avLst/>
            </a:prstGeom>
          </p:spPr>
          <p:txBody>
            <a:bodyPr wrap="square" lIns="0" tIns="0" rIns="0" bIns="0">
              <a:spAutoFit/>
            </a:bodyPr>
            <a:lstStyle/>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Finalized service scope &amp; Components</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Cost effective scaling</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Service levels &amp; SLA’s</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Security &amp; Compliance</a:t>
              </a:r>
            </a:p>
          </p:txBody>
        </p:sp>
      </p:grpSp>
      <p:grpSp>
        <p:nvGrpSpPr>
          <p:cNvPr id="20" name="Group 19">
            <a:extLst>
              <a:ext uri="{FF2B5EF4-FFF2-40B4-BE49-F238E27FC236}">
                <a16:creationId xmlns:a16="http://schemas.microsoft.com/office/drawing/2014/main" id="{FD411424-1687-47B8-14C4-CCAB8E7726C6}"/>
              </a:ext>
            </a:extLst>
          </p:cNvPr>
          <p:cNvGrpSpPr/>
          <p:nvPr/>
        </p:nvGrpSpPr>
        <p:grpSpPr>
          <a:xfrm>
            <a:off x="3479154" y="3351463"/>
            <a:ext cx="2395720" cy="2544607"/>
            <a:chOff x="3378049" y="3351463"/>
            <a:chExt cx="2395720" cy="2544607"/>
          </a:xfrm>
        </p:grpSpPr>
        <p:sp>
          <p:nvSpPr>
            <p:cNvPr id="9" name="Rectangle 8">
              <a:extLst>
                <a:ext uri="{FF2B5EF4-FFF2-40B4-BE49-F238E27FC236}">
                  <a16:creationId xmlns:a16="http://schemas.microsoft.com/office/drawing/2014/main" id="{417DA865-17AD-7A7B-5202-0C54DED5473D}"/>
                </a:ext>
              </a:extLst>
            </p:cNvPr>
            <p:cNvSpPr/>
            <p:nvPr/>
          </p:nvSpPr>
          <p:spPr>
            <a:xfrm>
              <a:off x="3378049" y="3351463"/>
              <a:ext cx="2395719" cy="502079"/>
            </a:xfrm>
            <a:prstGeom prst="rect">
              <a:avLst/>
            </a:prstGeom>
            <a:solidFill>
              <a:schemeClr val="accent4"/>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sz="1200" b="1" dirty="0">
                  <a:solidFill>
                    <a:schemeClr val="bg1"/>
                  </a:solidFill>
                  <a:latin typeface="Manrope" pitchFamily="2" charset="0"/>
                  <a:ea typeface="+mj-ea"/>
                  <a:cs typeface="Segoe UI" panose="020B0502040204020203" pitchFamily="34" charset="0"/>
                </a:rPr>
                <a:t>Fixed Capacity </a:t>
              </a:r>
              <a:r>
                <a:rPr lang="en-US" sz="1200" b="1" dirty="0" err="1">
                  <a:solidFill>
                    <a:schemeClr val="bg1"/>
                  </a:solidFill>
                  <a:latin typeface="Manrope" pitchFamily="2" charset="0"/>
                  <a:ea typeface="+mj-ea"/>
                  <a:cs typeface="Segoe UI" panose="020B0502040204020203" pitchFamily="34" charset="0"/>
                </a:rPr>
                <a:t>PoDs</a:t>
              </a:r>
              <a:endParaRPr lang="en-US" sz="1200" b="1" dirty="0">
                <a:solidFill>
                  <a:schemeClr val="bg1"/>
                </a:solidFill>
                <a:latin typeface="Manrope" pitchFamily="2" charset="0"/>
                <a:ea typeface="+mj-ea"/>
                <a:cs typeface="Segoe UI" panose="020B0502040204020203" pitchFamily="34" charset="0"/>
              </a:endParaRPr>
            </a:p>
          </p:txBody>
        </p:sp>
        <p:sp>
          <p:nvSpPr>
            <p:cNvPr id="15" name="Rectangle 14">
              <a:extLst>
                <a:ext uri="{FF2B5EF4-FFF2-40B4-BE49-F238E27FC236}">
                  <a16:creationId xmlns:a16="http://schemas.microsoft.com/office/drawing/2014/main" id="{82865D81-48DA-AB45-A7E8-A87E74FAC89C}"/>
                </a:ext>
              </a:extLst>
            </p:cNvPr>
            <p:cNvSpPr/>
            <p:nvPr/>
          </p:nvSpPr>
          <p:spPr>
            <a:xfrm>
              <a:off x="3378049" y="3853542"/>
              <a:ext cx="2395720" cy="1786530"/>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D11F69B-A8E8-3FB1-D494-B47340D1C86F}"/>
                </a:ext>
              </a:extLst>
            </p:cNvPr>
            <p:cNvSpPr/>
            <p:nvPr/>
          </p:nvSpPr>
          <p:spPr>
            <a:xfrm>
              <a:off x="3539710" y="3957078"/>
              <a:ext cx="2008197" cy="1938992"/>
            </a:xfrm>
            <a:prstGeom prst="rect">
              <a:avLst/>
            </a:prstGeom>
          </p:spPr>
          <p:txBody>
            <a:bodyPr wrap="square" lIns="0" tIns="0" rIns="0" bIns="0">
              <a:spAutoFit/>
            </a:bodyPr>
            <a:lstStyle/>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Fixed capacity PODs </a:t>
              </a:r>
              <a:br>
                <a:rPr lang="en-US" sz="1200" dirty="0">
                  <a:latin typeface="Manrope" pitchFamily="2" charset="0"/>
                  <a:cs typeface="Arial" panose="020B0604020202020204" pitchFamily="34" charset="0"/>
                </a:rPr>
              </a:br>
              <a:r>
                <a:rPr lang="en-US" sz="1200" dirty="0">
                  <a:latin typeface="Manrope" pitchFamily="2" charset="0"/>
                  <a:cs typeface="Arial" panose="020B0604020202020204" pitchFamily="34" charset="0"/>
                </a:rPr>
                <a:t>(Dev-only /  All-Roles) –</a:t>
              </a:r>
              <a:br>
                <a:rPr lang="en-US" sz="1200" dirty="0">
                  <a:latin typeface="Manrope" pitchFamily="2" charset="0"/>
                  <a:cs typeface="Arial" panose="020B0604020202020204" pitchFamily="34" charset="0"/>
                </a:rPr>
              </a:br>
              <a:r>
                <a:rPr lang="en-US" sz="1200" dirty="0">
                  <a:latin typeface="Manrope" pitchFamily="2" charset="0"/>
                  <a:cs typeface="Arial" panose="020B0604020202020204" pitchFamily="34" charset="0"/>
                </a:rPr>
                <a:t>6 Months/1 year</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Well-defined Process for Demand Management</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Focus on capacity Utilization</a:t>
              </a:r>
            </a:p>
            <a:p>
              <a:pPr marL="228600" lvl="1" indent="-228600" fontAlgn="base">
                <a:spcBef>
                  <a:spcPts val="600"/>
                </a:spcBef>
                <a:spcAft>
                  <a:spcPts val="600"/>
                </a:spcAft>
                <a:buClr>
                  <a:schemeClr val="accent4"/>
                </a:buClr>
                <a:buSzPct val="100000"/>
                <a:buFont typeface="Arial" panose="020B0604020202020204" pitchFamily="34" charset="0"/>
                <a:buChar char="•"/>
                <a:defRPr/>
              </a:pPr>
              <a:endParaRPr lang="en-US" sz="1200" dirty="0">
                <a:latin typeface="Manrope" pitchFamily="2" charset="0"/>
                <a:cs typeface="Arial" panose="020B0604020202020204" pitchFamily="34" charset="0"/>
              </a:endParaRPr>
            </a:p>
          </p:txBody>
        </p:sp>
      </p:grpSp>
      <p:grpSp>
        <p:nvGrpSpPr>
          <p:cNvPr id="21" name="Group 20">
            <a:extLst>
              <a:ext uri="{FF2B5EF4-FFF2-40B4-BE49-F238E27FC236}">
                <a16:creationId xmlns:a16="http://schemas.microsoft.com/office/drawing/2014/main" id="{D751CD72-FEE3-700C-8FE4-15E4812580ED}"/>
              </a:ext>
            </a:extLst>
          </p:cNvPr>
          <p:cNvGrpSpPr/>
          <p:nvPr/>
        </p:nvGrpSpPr>
        <p:grpSpPr>
          <a:xfrm>
            <a:off x="6330995" y="3351463"/>
            <a:ext cx="2395720" cy="2288609"/>
            <a:chOff x="6276295" y="3351463"/>
            <a:chExt cx="2395720" cy="2288609"/>
          </a:xfrm>
        </p:grpSpPr>
        <p:sp>
          <p:nvSpPr>
            <p:cNvPr id="17" name="Rectangle 16">
              <a:extLst>
                <a:ext uri="{FF2B5EF4-FFF2-40B4-BE49-F238E27FC236}">
                  <a16:creationId xmlns:a16="http://schemas.microsoft.com/office/drawing/2014/main" id="{DBEB107E-83C2-2238-5BAA-6881C928CF9E}"/>
                </a:ext>
              </a:extLst>
            </p:cNvPr>
            <p:cNvSpPr/>
            <p:nvPr/>
          </p:nvSpPr>
          <p:spPr>
            <a:xfrm>
              <a:off x="6276295" y="3351463"/>
              <a:ext cx="2395719" cy="502079"/>
            </a:xfrm>
            <a:prstGeom prst="rect">
              <a:avLst/>
            </a:prstGeom>
            <a:solidFill>
              <a:schemeClr val="accent4"/>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sz="1200" b="1" dirty="0">
                  <a:solidFill>
                    <a:schemeClr val="bg1"/>
                  </a:solidFill>
                  <a:latin typeface="Manrope" pitchFamily="2" charset="0"/>
                  <a:ea typeface="+mj-ea"/>
                  <a:cs typeface="Segoe UI" panose="020B0502040204020203" pitchFamily="34" charset="0"/>
                </a:rPr>
                <a:t>COE Based</a:t>
              </a:r>
            </a:p>
          </p:txBody>
        </p:sp>
        <p:sp>
          <p:nvSpPr>
            <p:cNvPr id="18" name="Rectangle 17">
              <a:extLst>
                <a:ext uri="{FF2B5EF4-FFF2-40B4-BE49-F238E27FC236}">
                  <a16:creationId xmlns:a16="http://schemas.microsoft.com/office/drawing/2014/main" id="{A4101AB1-C8AB-BD2B-88E1-504FE84CE966}"/>
                </a:ext>
              </a:extLst>
            </p:cNvPr>
            <p:cNvSpPr/>
            <p:nvPr/>
          </p:nvSpPr>
          <p:spPr>
            <a:xfrm>
              <a:off x="6276295" y="3853542"/>
              <a:ext cx="2395720" cy="1786530"/>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139FD6D-23DD-03B3-9DF1-1D9C92E71044}"/>
                </a:ext>
              </a:extLst>
            </p:cNvPr>
            <p:cNvSpPr/>
            <p:nvPr/>
          </p:nvSpPr>
          <p:spPr>
            <a:xfrm>
              <a:off x="6437956" y="3957078"/>
              <a:ext cx="2008197" cy="861774"/>
            </a:xfrm>
            <a:prstGeom prst="rect">
              <a:avLst/>
            </a:prstGeom>
          </p:spPr>
          <p:txBody>
            <a:bodyPr wrap="square" lIns="0" tIns="0" rIns="0" bIns="0">
              <a:spAutoFit/>
            </a:bodyPr>
            <a:lstStyle/>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Expert guidance</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Niche skills</a:t>
              </a:r>
            </a:p>
            <a:p>
              <a:pPr marL="228600" lvl="1" indent="-228600" fontAlgn="base">
                <a:spcBef>
                  <a:spcPts val="600"/>
                </a:spcBef>
                <a:spcAft>
                  <a:spcPts val="600"/>
                </a:spcAft>
                <a:buClr>
                  <a:schemeClr val="accent4"/>
                </a:buClr>
                <a:buSzPct val="100000"/>
                <a:buFont typeface="Arial" panose="020B0604020202020204" pitchFamily="34" charset="0"/>
                <a:buChar char="•"/>
                <a:defRPr/>
              </a:pPr>
              <a:r>
                <a:rPr lang="en-US" sz="1200" dirty="0">
                  <a:latin typeface="Manrope" pitchFamily="2" charset="0"/>
                  <a:cs typeface="Arial" panose="020B0604020202020204" pitchFamily="34" charset="0"/>
                </a:rPr>
                <a:t>On-Demand availability</a:t>
              </a:r>
            </a:p>
          </p:txBody>
        </p:sp>
      </p:grpSp>
    </p:spTree>
    <p:extLst>
      <p:ext uri="{BB962C8B-B14F-4D97-AF65-F5344CB8AC3E}">
        <p14:creationId xmlns:p14="http://schemas.microsoft.com/office/powerpoint/2010/main" val="3127352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Straight Connector 59">
            <a:extLst>
              <a:ext uri="{FF2B5EF4-FFF2-40B4-BE49-F238E27FC236}">
                <a16:creationId xmlns:a16="http://schemas.microsoft.com/office/drawing/2014/main" id="{2CFA754B-3D3E-4B8D-1DBA-A29E634A815C}"/>
              </a:ext>
            </a:extLst>
          </p:cNvPr>
          <p:cNvCxnSpPr>
            <a:cxnSpLocks/>
          </p:cNvCxnSpPr>
          <p:nvPr/>
        </p:nvCxnSpPr>
        <p:spPr>
          <a:xfrm flipH="1">
            <a:off x="6435114" y="3856678"/>
            <a:ext cx="1271766" cy="52587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9769F0B-269D-BAB5-3FEF-55613D460AC6}"/>
              </a:ext>
            </a:extLst>
          </p:cNvPr>
          <p:cNvCxnSpPr>
            <a:cxnSpLocks/>
          </p:cNvCxnSpPr>
          <p:nvPr/>
        </p:nvCxnSpPr>
        <p:spPr>
          <a:xfrm flipV="1">
            <a:off x="5996976" y="2712235"/>
            <a:ext cx="0" cy="626831"/>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6E93C9E-4EB9-1592-E988-D61D304EEDDF}"/>
              </a:ext>
            </a:extLst>
          </p:cNvPr>
          <p:cNvCxnSpPr>
            <a:cxnSpLocks/>
          </p:cNvCxnSpPr>
          <p:nvPr/>
        </p:nvCxnSpPr>
        <p:spPr>
          <a:xfrm flipH="1" flipV="1">
            <a:off x="5006273" y="2981650"/>
            <a:ext cx="500743" cy="62048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2034BE2-5A3B-F5E9-4E7B-D3FFA02B9693}"/>
              </a:ext>
            </a:extLst>
          </p:cNvPr>
          <p:cNvCxnSpPr>
            <a:cxnSpLocks/>
          </p:cNvCxnSpPr>
          <p:nvPr/>
        </p:nvCxnSpPr>
        <p:spPr>
          <a:xfrm flipV="1">
            <a:off x="6520543" y="3005467"/>
            <a:ext cx="500743" cy="62048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F0F3112-8680-6747-2699-22E907B141C8}"/>
              </a:ext>
            </a:extLst>
          </p:cNvPr>
          <p:cNvCxnSpPr>
            <a:cxnSpLocks/>
          </p:cNvCxnSpPr>
          <p:nvPr/>
        </p:nvCxnSpPr>
        <p:spPr>
          <a:xfrm>
            <a:off x="4296664" y="3862082"/>
            <a:ext cx="1271766" cy="52587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27CD8E-9E08-F7E4-89AA-74C295C42A43}"/>
              </a:ext>
            </a:extLst>
          </p:cNvPr>
          <p:cNvCxnSpPr/>
          <p:nvPr/>
        </p:nvCxnSpPr>
        <p:spPr>
          <a:xfrm>
            <a:off x="4202640" y="5030211"/>
            <a:ext cx="3602369"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AFA611EB-0BE0-18C7-C939-3DE93F4ECEDA}"/>
              </a:ext>
            </a:extLst>
          </p:cNvPr>
          <p:cNvSpPr/>
          <p:nvPr/>
        </p:nvSpPr>
        <p:spPr>
          <a:xfrm>
            <a:off x="4452426" y="2987140"/>
            <a:ext cx="3119120" cy="3119120"/>
          </a:xfrm>
          <a:prstGeom prst="ellipse">
            <a:avLst/>
          </a:prstGeom>
          <a:solidFill>
            <a:schemeClr val="bg1"/>
          </a:solidFill>
          <a:ln w="222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b="1">
              <a:solidFill>
                <a:schemeClr val="bg1"/>
              </a:solidFill>
            </a:endParaRPr>
          </a:p>
        </p:txBody>
      </p:sp>
      <p:sp>
        <p:nvSpPr>
          <p:cNvPr id="3" name="Title 1">
            <a:extLst>
              <a:ext uri="{FF2B5EF4-FFF2-40B4-BE49-F238E27FC236}">
                <a16:creationId xmlns:a16="http://schemas.microsoft.com/office/drawing/2014/main" id="{93985D59-6574-384F-3F29-9543EE22DC87}"/>
              </a:ext>
            </a:extLst>
          </p:cNvPr>
          <p:cNvSpPr txBox="1">
            <a:spLocks/>
          </p:cNvSpPr>
          <p:nvPr/>
        </p:nvSpPr>
        <p:spPr>
          <a:xfrm>
            <a:off x="279400" y="291371"/>
            <a:ext cx="9542694" cy="4524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
        <p:nvSpPr>
          <p:cNvPr id="5" name="Text Placeholder 4">
            <a:extLst>
              <a:ext uri="{FF2B5EF4-FFF2-40B4-BE49-F238E27FC236}">
                <a16:creationId xmlns:a16="http://schemas.microsoft.com/office/drawing/2014/main" id="{3F4CF35A-39F1-9148-C0F7-AB4E3EA939A2}"/>
              </a:ext>
            </a:extLst>
          </p:cNvPr>
          <p:cNvSpPr>
            <a:spLocks noGrp="1"/>
          </p:cNvSpPr>
          <p:nvPr>
            <p:ph type="body" sz="quarter" idx="15"/>
          </p:nvPr>
        </p:nvSpPr>
        <p:spPr/>
        <p:txBody>
          <a:bodyPr/>
          <a:lstStyle/>
          <a:p>
            <a:pPr>
              <a:tabLst>
                <a:tab pos="966788" algn="l"/>
              </a:tabLst>
            </a:pPr>
            <a:r>
              <a:rPr lang="en-US"/>
              <a:t>Our Quality Management Process</a:t>
            </a:r>
          </a:p>
        </p:txBody>
      </p:sp>
      <p:grpSp>
        <p:nvGrpSpPr>
          <p:cNvPr id="74" name="Group 73">
            <a:extLst>
              <a:ext uri="{FF2B5EF4-FFF2-40B4-BE49-F238E27FC236}">
                <a16:creationId xmlns:a16="http://schemas.microsoft.com/office/drawing/2014/main" id="{719C60C0-112E-3FCF-953B-87FA57C154F5}"/>
              </a:ext>
            </a:extLst>
          </p:cNvPr>
          <p:cNvGrpSpPr/>
          <p:nvPr/>
        </p:nvGrpSpPr>
        <p:grpSpPr>
          <a:xfrm>
            <a:off x="8184088" y="2157485"/>
            <a:ext cx="2585736" cy="511215"/>
            <a:chOff x="9390194" y="2209328"/>
            <a:chExt cx="2517705" cy="536478"/>
          </a:xfrm>
        </p:grpSpPr>
        <p:sp>
          <p:nvSpPr>
            <p:cNvPr id="75" name="TextBox 74">
              <a:extLst>
                <a:ext uri="{FF2B5EF4-FFF2-40B4-BE49-F238E27FC236}">
                  <a16:creationId xmlns:a16="http://schemas.microsoft.com/office/drawing/2014/main" id="{56774977-42BA-0855-D90D-AB2C18B46ED8}"/>
                </a:ext>
              </a:extLst>
            </p:cNvPr>
            <p:cNvSpPr txBox="1"/>
            <p:nvPr/>
          </p:nvSpPr>
          <p:spPr>
            <a:xfrm>
              <a:off x="9390194" y="2422819"/>
              <a:ext cx="2517705" cy="322987"/>
            </a:xfrm>
            <a:prstGeom prst="rect">
              <a:avLst/>
            </a:prstGeom>
            <a:noFill/>
          </p:spPr>
          <p:txBody>
            <a:bodyPr wrap="square" lIns="0" tIns="0" rIns="0" bIns="0" rtlCol="0">
              <a:spAutoFit/>
            </a:bodyPr>
            <a:lstStyle/>
            <a:p>
              <a:pPr defTabSz="1218987"/>
              <a:r>
                <a:rPr lang="en-US" sz="1000" kern="0">
                  <a:latin typeface="Manrope" pitchFamily="2" charset="0"/>
                  <a:cs typeface="Calibri Light"/>
                </a:rPr>
                <a:t>Awareness regarding quality and assurance is facilitated through training programs</a:t>
              </a:r>
            </a:p>
          </p:txBody>
        </p:sp>
        <p:sp>
          <p:nvSpPr>
            <p:cNvPr id="76" name="TextBox 75">
              <a:extLst>
                <a:ext uri="{FF2B5EF4-FFF2-40B4-BE49-F238E27FC236}">
                  <a16:creationId xmlns:a16="http://schemas.microsoft.com/office/drawing/2014/main" id="{69B1FC86-6DC4-B1F2-F98A-E21DF92602A6}"/>
                </a:ext>
              </a:extLst>
            </p:cNvPr>
            <p:cNvSpPr txBox="1"/>
            <p:nvPr/>
          </p:nvSpPr>
          <p:spPr>
            <a:xfrm>
              <a:off x="9390195" y="2209328"/>
              <a:ext cx="1976846" cy="193792"/>
            </a:xfrm>
            <a:prstGeom prst="rect">
              <a:avLst/>
            </a:prstGeom>
            <a:noFill/>
          </p:spPr>
          <p:txBody>
            <a:bodyPr wrap="square" lIns="0" tIns="0" rIns="0" bIns="0" rtlCol="0" anchor="b">
              <a:spAutoFit/>
            </a:bodyPr>
            <a:lstStyle/>
            <a:p>
              <a:pPr defTabSz="1218987"/>
              <a:r>
                <a:rPr lang="en-US" sz="1200" b="1" kern="0">
                  <a:latin typeface="Manrope" pitchFamily="2" charset="0"/>
                  <a:cs typeface="Calibri Light" charset="0"/>
                </a:rPr>
                <a:t>Process Awareness</a:t>
              </a:r>
            </a:p>
          </p:txBody>
        </p:sp>
      </p:grpSp>
      <p:grpSp>
        <p:nvGrpSpPr>
          <p:cNvPr id="78" name="Group 77">
            <a:extLst>
              <a:ext uri="{FF2B5EF4-FFF2-40B4-BE49-F238E27FC236}">
                <a16:creationId xmlns:a16="http://schemas.microsoft.com/office/drawing/2014/main" id="{6C92126B-B75E-2B79-257C-7E8F9BF2117B}"/>
              </a:ext>
            </a:extLst>
          </p:cNvPr>
          <p:cNvGrpSpPr/>
          <p:nvPr/>
        </p:nvGrpSpPr>
        <p:grpSpPr>
          <a:xfrm>
            <a:off x="9046368" y="4585746"/>
            <a:ext cx="2585736" cy="842002"/>
            <a:chOff x="9390194" y="2117087"/>
            <a:chExt cx="2207439" cy="874994"/>
          </a:xfrm>
        </p:grpSpPr>
        <p:sp>
          <p:nvSpPr>
            <p:cNvPr id="79" name="TextBox 78">
              <a:extLst>
                <a:ext uri="{FF2B5EF4-FFF2-40B4-BE49-F238E27FC236}">
                  <a16:creationId xmlns:a16="http://schemas.microsoft.com/office/drawing/2014/main" id="{3B9F299F-370D-7E8E-A238-8C085968C20C}"/>
                </a:ext>
              </a:extLst>
            </p:cNvPr>
            <p:cNvSpPr txBox="1"/>
            <p:nvPr/>
          </p:nvSpPr>
          <p:spPr>
            <a:xfrm>
              <a:off x="9390194" y="2352409"/>
              <a:ext cx="2207439" cy="639672"/>
            </a:xfrm>
            <a:prstGeom prst="rect">
              <a:avLst/>
            </a:prstGeom>
            <a:noFill/>
          </p:spPr>
          <p:txBody>
            <a:bodyPr wrap="square" lIns="0" tIns="0" rIns="0" bIns="0" rtlCol="0">
              <a:spAutoFit/>
            </a:bodyPr>
            <a:lstStyle/>
            <a:p>
              <a:pPr defTabSz="1218987"/>
              <a:r>
                <a:rPr lang="en-US" sz="1000" kern="0">
                  <a:latin typeface="Manrope" pitchFamily="2" charset="0"/>
                  <a:cs typeface="Calibri Light"/>
                </a:rPr>
                <a:t>This framework describes confidentiality, integrity and availability of information and services and is carried out through tests, assessments, scans, and audits</a:t>
              </a:r>
            </a:p>
          </p:txBody>
        </p:sp>
        <p:sp>
          <p:nvSpPr>
            <p:cNvPr id="80" name="TextBox 79">
              <a:extLst>
                <a:ext uri="{FF2B5EF4-FFF2-40B4-BE49-F238E27FC236}">
                  <a16:creationId xmlns:a16="http://schemas.microsoft.com/office/drawing/2014/main" id="{04CC1563-9F7E-2BF5-8E04-578D1A4B994E}"/>
                </a:ext>
              </a:extLst>
            </p:cNvPr>
            <p:cNvSpPr txBox="1"/>
            <p:nvPr/>
          </p:nvSpPr>
          <p:spPr>
            <a:xfrm>
              <a:off x="9390194" y="2117087"/>
              <a:ext cx="2114487" cy="191902"/>
            </a:xfrm>
            <a:prstGeom prst="rect">
              <a:avLst/>
            </a:prstGeom>
            <a:noFill/>
          </p:spPr>
          <p:txBody>
            <a:bodyPr wrap="square" lIns="0" tIns="0" rIns="0" bIns="0" rtlCol="0" anchor="b">
              <a:spAutoFit/>
            </a:bodyPr>
            <a:lstStyle/>
            <a:p>
              <a:pPr defTabSz="1218987"/>
              <a:r>
                <a:rPr lang="en-US" sz="1200" b="1" kern="0">
                  <a:latin typeface="Manrope" pitchFamily="2" charset="0"/>
                  <a:cs typeface="Calibri Light" charset="0"/>
                </a:rPr>
                <a:t>Security Assurance Framework</a:t>
              </a:r>
            </a:p>
          </p:txBody>
        </p:sp>
      </p:grpSp>
      <p:grpSp>
        <p:nvGrpSpPr>
          <p:cNvPr id="81" name="Group 80">
            <a:extLst>
              <a:ext uri="{FF2B5EF4-FFF2-40B4-BE49-F238E27FC236}">
                <a16:creationId xmlns:a16="http://schemas.microsoft.com/office/drawing/2014/main" id="{FDE9CCC9-0E40-A20F-CEA6-6F624DD1448D}"/>
              </a:ext>
            </a:extLst>
          </p:cNvPr>
          <p:cNvGrpSpPr/>
          <p:nvPr/>
        </p:nvGrpSpPr>
        <p:grpSpPr>
          <a:xfrm>
            <a:off x="848036" y="2130254"/>
            <a:ext cx="3166663" cy="516622"/>
            <a:chOff x="8999303" y="1957130"/>
            <a:chExt cx="2685170" cy="984363"/>
          </a:xfrm>
        </p:grpSpPr>
        <p:sp>
          <p:nvSpPr>
            <p:cNvPr id="82" name="TextBox 81">
              <a:extLst>
                <a:ext uri="{FF2B5EF4-FFF2-40B4-BE49-F238E27FC236}">
                  <a16:creationId xmlns:a16="http://schemas.microsoft.com/office/drawing/2014/main" id="{FADABF79-B6D2-1F5F-9BB2-AE664C0EC27C}"/>
                </a:ext>
              </a:extLst>
            </p:cNvPr>
            <p:cNvSpPr txBox="1"/>
            <p:nvPr/>
          </p:nvSpPr>
          <p:spPr>
            <a:xfrm>
              <a:off x="8999303" y="2355060"/>
              <a:ext cx="2505380" cy="586433"/>
            </a:xfrm>
            <a:prstGeom prst="rect">
              <a:avLst/>
            </a:prstGeom>
            <a:noFill/>
          </p:spPr>
          <p:txBody>
            <a:bodyPr wrap="square" lIns="0" tIns="0" rIns="0" bIns="0" rtlCol="0" anchor="t">
              <a:spAutoFit/>
            </a:bodyPr>
            <a:lstStyle/>
            <a:p>
              <a:pPr defTabSz="1218987"/>
              <a:r>
                <a:rPr lang="en-US" sz="1000" kern="0" dirty="0">
                  <a:latin typeface="Manrope" pitchFamily="2" charset="0"/>
                  <a:ea typeface="Calibri Light" charset="0"/>
                  <a:cs typeface="Calibri Light"/>
                </a:rPr>
                <a:t>Hexaware has an autonomous group dedicated to all quality and security management activities</a:t>
              </a:r>
              <a:endParaRPr lang="en-US" sz="1000" dirty="0">
                <a:latin typeface="Manrope" pitchFamily="2" charset="0"/>
                <a:ea typeface="Calibri Light" charset="0"/>
                <a:cs typeface="Calibri Light"/>
              </a:endParaRPr>
            </a:p>
          </p:txBody>
        </p:sp>
        <p:sp>
          <p:nvSpPr>
            <p:cNvPr id="83" name="TextBox 82">
              <a:extLst>
                <a:ext uri="{FF2B5EF4-FFF2-40B4-BE49-F238E27FC236}">
                  <a16:creationId xmlns:a16="http://schemas.microsoft.com/office/drawing/2014/main" id="{3913738A-5C95-4300-5CCA-CDE817F52986}"/>
                </a:ext>
              </a:extLst>
            </p:cNvPr>
            <p:cNvSpPr txBox="1"/>
            <p:nvPr/>
          </p:nvSpPr>
          <p:spPr>
            <a:xfrm>
              <a:off x="9002764" y="1957130"/>
              <a:ext cx="2681709" cy="351860"/>
            </a:xfrm>
            <a:prstGeom prst="rect">
              <a:avLst/>
            </a:prstGeom>
            <a:noFill/>
          </p:spPr>
          <p:txBody>
            <a:bodyPr wrap="square" lIns="0" tIns="0" rIns="0" bIns="0" rtlCol="0" anchor="b">
              <a:spAutoFit/>
            </a:bodyPr>
            <a:lstStyle/>
            <a:p>
              <a:pPr defTabSz="1218987"/>
              <a:r>
                <a:rPr lang="en-US" sz="1200" b="1" kern="0" dirty="0">
                  <a:latin typeface="Manrope" pitchFamily="2" charset="0"/>
                  <a:ea typeface="Calibri Light" charset="0"/>
                  <a:cs typeface="Calibri Light" charset="0"/>
                </a:rPr>
                <a:t>Autonomous Quality Management Group</a:t>
              </a:r>
              <a:endParaRPr lang="en-US" sz="1200" b="1" dirty="0">
                <a:latin typeface="Manrope" pitchFamily="2" charset="0"/>
                <a:ea typeface="Calibri Light" charset="0"/>
                <a:cs typeface="Calibri Light" charset="0"/>
              </a:endParaRPr>
            </a:p>
          </p:txBody>
        </p:sp>
      </p:grpSp>
      <p:grpSp>
        <p:nvGrpSpPr>
          <p:cNvPr id="84" name="Group 83">
            <a:extLst>
              <a:ext uri="{FF2B5EF4-FFF2-40B4-BE49-F238E27FC236}">
                <a16:creationId xmlns:a16="http://schemas.microsoft.com/office/drawing/2014/main" id="{33755F57-625D-8CC8-5708-57392362F8B7}"/>
              </a:ext>
            </a:extLst>
          </p:cNvPr>
          <p:cNvGrpSpPr/>
          <p:nvPr/>
        </p:nvGrpSpPr>
        <p:grpSpPr>
          <a:xfrm>
            <a:off x="848036" y="4675538"/>
            <a:ext cx="3078562" cy="999855"/>
            <a:chOff x="10164033" y="2033805"/>
            <a:chExt cx="1786743" cy="1489955"/>
          </a:xfrm>
        </p:grpSpPr>
        <p:sp>
          <p:nvSpPr>
            <p:cNvPr id="85" name="TextBox 84">
              <a:extLst>
                <a:ext uri="{FF2B5EF4-FFF2-40B4-BE49-F238E27FC236}">
                  <a16:creationId xmlns:a16="http://schemas.microsoft.com/office/drawing/2014/main" id="{2EB2CD98-3A13-08D4-196D-52C0C7339802}"/>
                </a:ext>
              </a:extLst>
            </p:cNvPr>
            <p:cNvSpPr txBox="1"/>
            <p:nvPr/>
          </p:nvSpPr>
          <p:spPr>
            <a:xfrm>
              <a:off x="10169035" y="2377161"/>
              <a:ext cx="1335647" cy="1146599"/>
            </a:xfrm>
            <a:prstGeom prst="rect">
              <a:avLst/>
            </a:prstGeom>
            <a:noFill/>
          </p:spPr>
          <p:txBody>
            <a:bodyPr wrap="square" lIns="0" tIns="0" rIns="0" bIns="0" rtlCol="0">
              <a:spAutoFit/>
            </a:bodyPr>
            <a:lstStyle/>
            <a:p>
              <a:pPr defTabSz="1218987"/>
              <a:r>
                <a:rPr lang="en-US" sz="1000" kern="0">
                  <a:latin typeface="Manrope" pitchFamily="2" charset="0"/>
                  <a:cs typeface="Calibri Light"/>
                </a:rPr>
                <a:t>Hexaware has a well-defined quality management system that addresses all management and technical processes through all the life cycle phases of project execution</a:t>
              </a:r>
            </a:p>
          </p:txBody>
        </p:sp>
        <p:sp>
          <p:nvSpPr>
            <p:cNvPr id="86" name="TextBox 85">
              <a:extLst>
                <a:ext uri="{FF2B5EF4-FFF2-40B4-BE49-F238E27FC236}">
                  <a16:creationId xmlns:a16="http://schemas.microsoft.com/office/drawing/2014/main" id="{CFB61726-DE4B-5EE6-ABF3-A2E86975157C}"/>
                </a:ext>
              </a:extLst>
            </p:cNvPr>
            <p:cNvSpPr txBox="1"/>
            <p:nvPr/>
          </p:nvSpPr>
          <p:spPr>
            <a:xfrm>
              <a:off x="10164033" y="2033805"/>
              <a:ext cx="1786743" cy="275184"/>
            </a:xfrm>
            <a:prstGeom prst="rect">
              <a:avLst/>
            </a:prstGeom>
            <a:noFill/>
          </p:spPr>
          <p:txBody>
            <a:bodyPr wrap="square" lIns="0" tIns="0" rIns="0" bIns="0" rtlCol="0" anchor="b">
              <a:spAutoFit/>
            </a:bodyPr>
            <a:lstStyle/>
            <a:p>
              <a:pPr defTabSz="1218987"/>
              <a:r>
                <a:rPr lang="en-US" sz="1200" b="1" kern="0" dirty="0">
                  <a:latin typeface="Manrope" pitchFamily="2" charset="0"/>
                  <a:cs typeface="Calibri Light" charset="0"/>
                </a:rPr>
                <a:t>Quality Management System</a:t>
              </a:r>
            </a:p>
          </p:txBody>
        </p:sp>
      </p:grpSp>
      <p:grpSp>
        <p:nvGrpSpPr>
          <p:cNvPr id="87" name="Group 86">
            <a:extLst>
              <a:ext uri="{FF2B5EF4-FFF2-40B4-BE49-F238E27FC236}">
                <a16:creationId xmlns:a16="http://schemas.microsoft.com/office/drawing/2014/main" id="{BD57FCA2-2C3C-A2B0-FE86-13906D95DB70}"/>
              </a:ext>
            </a:extLst>
          </p:cNvPr>
          <p:cNvGrpSpPr/>
          <p:nvPr/>
        </p:nvGrpSpPr>
        <p:grpSpPr>
          <a:xfrm>
            <a:off x="848036" y="3128300"/>
            <a:ext cx="2464888" cy="836342"/>
            <a:chOff x="9436436" y="2135500"/>
            <a:chExt cx="2066436" cy="877674"/>
          </a:xfrm>
        </p:grpSpPr>
        <p:sp>
          <p:nvSpPr>
            <p:cNvPr id="88" name="TextBox 87">
              <a:extLst>
                <a:ext uri="{FF2B5EF4-FFF2-40B4-BE49-F238E27FC236}">
                  <a16:creationId xmlns:a16="http://schemas.microsoft.com/office/drawing/2014/main" id="{CDF4EBAA-715F-43BD-189D-F4AFBE7EA9B2}"/>
                </a:ext>
              </a:extLst>
            </p:cNvPr>
            <p:cNvSpPr txBox="1"/>
            <p:nvPr/>
          </p:nvSpPr>
          <p:spPr>
            <a:xfrm>
              <a:off x="9439299" y="2367200"/>
              <a:ext cx="2063573" cy="645974"/>
            </a:xfrm>
            <a:prstGeom prst="rect">
              <a:avLst/>
            </a:prstGeom>
            <a:noFill/>
          </p:spPr>
          <p:txBody>
            <a:bodyPr wrap="square" lIns="0" tIns="0" rIns="0" bIns="0" rtlCol="0" anchor="ctr">
              <a:spAutoFit/>
            </a:bodyPr>
            <a:lstStyle/>
            <a:p>
              <a:pPr defTabSz="1218987"/>
              <a:r>
                <a:rPr lang="en-US" sz="1000" kern="0">
                  <a:latin typeface="Manrope" pitchFamily="2" charset="0"/>
                  <a:cs typeface="Calibri Light"/>
                </a:rPr>
                <a:t>Hexaware has adopted and achieved several international standards such as ISO 9001, 14001, 27001, 20000-1, SOC assessments, SEI CMM Level 5 </a:t>
              </a:r>
            </a:p>
          </p:txBody>
        </p:sp>
        <p:sp>
          <p:nvSpPr>
            <p:cNvPr id="89" name="TextBox 88">
              <a:extLst>
                <a:ext uri="{FF2B5EF4-FFF2-40B4-BE49-F238E27FC236}">
                  <a16:creationId xmlns:a16="http://schemas.microsoft.com/office/drawing/2014/main" id="{4B2E22B4-F5C4-505C-9326-5A1E32D7E82B}"/>
                </a:ext>
              </a:extLst>
            </p:cNvPr>
            <p:cNvSpPr txBox="1"/>
            <p:nvPr/>
          </p:nvSpPr>
          <p:spPr>
            <a:xfrm>
              <a:off x="9436436" y="2135500"/>
              <a:ext cx="2057100" cy="193792"/>
            </a:xfrm>
            <a:prstGeom prst="rect">
              <a:avLst/>
            </a:prstGeom>
            <a:noFill/>
          </p:spPr>
          <p:txBody>
            <a:bodyPr wrap="square" lIns="0" tIns="0" rIns="0" bIns="0" rtlCol="0" anchor="ctr">
              <a:spAutoFit/>
            </a:bodyPr>
            <a:lstStyle/>
            <a:p>
              <a:pPr defTabSz="1218987"/>
              <a:r>
                <a:rPr lang="en-US" sz="1200" b="1" kern="0" dirty="0">
                  <a:latin typeface="Manrope" pitchFamily="2" charset="0"/>
                  <a:cs typeface="Calibri Light" charset="0"/>
                </a:rPr>
                <a:t>International Standards</a:t>
              </a:r>
            </a:p>
          </p:txBody>
        </p:sp>
      </p:grpSp>
      <p:grpSp>
        <p:nvGrpSpPr>
          <p:cNvPr id="90" name="Group 89">
            <a:extLst>
              <a:ext uri="{FF2B5EF4-FFF2-40B4-BE49-F238E27FC236}">
                <a16:creationId xmlns:a16="http://schemas.microsoft.com/office/drawing/2014/main" id="{70630693-74F1-25E2-5E8B-89966B03F64C}"/>
              </a:ext>
            </a:extLst>
          </p:cNvPr>
          <p:cNvGrpSpPr/>
          <p:nvPr/>
        </p:nvGrpSpPr>
        <p:grpSpPr>
          <a:xfrm>
            <a:off x="9046368" y="3246720"/>
            <a:ext cx="2585737" cy="681312"/>
            <a:chOff x="9390194" y="2194917"/>
            <a:chExt cx="2114488" cy="557951"/>
          </a:xfrm>
        </p:grpSpPr>
        <p:sp>
          <p:nvSpPr>
            <p:cNvPr id="91" name="TextBox 90">
              <a:extLst>
                <a:ext uri="{FF2B5EF4-FFF2-40B4-BE49-F238E27FC236}">
                  <a16:creationId xmlns:a16="http://schemas.microsoft.com/office/drawing/2014/main" id="{72A84D8A-C13C-77CC-CFBC-83A457F8E18B}"/>
                </a:ext>
              </a:extLst>
            </p:cNvPr>
            <p:cNvSpPr txBox="1"/>
            <p:nvPr/>
          </p:nvSpPr>
          <p:spPr>
            <a:xfrm>
              <a:off x="9390195" y="2374795"/>
              <a:ext cx="2114487" cy="378073"/>
            </a:xfrm>
            <a:prstGeom prst="rect">
              <a:avLst/>
            </a:prstGeom>
            <a:noFill/>
          </p:spPr>
          <p:txBody>
            <a:bodyPr wrap="square" lIns="0" tIns="0" rIns="0" bIns="0" rtlCol="0" anchor="ctr">
              <a:spAutoFit/>
            </a:bodyPr>
            <a:lstStyle/>
            <a:p>
              <a:pPr defTabSz="1218987"/>
              <a:r>
                <a:rPr lang="en-US" sz="1000" kern="0">
                  <a:latin typeface="Manrope" pitchFamily="2" charset="0"/>
                  <a:cs typeface="Calibri Light"/>
                </a:rPr>
                <a:t>All Hexaware processes and policies are compliant with GDPR requirements in terms of all risks and privacy factors </a:t>
              </a:r>
            </a:p>
          </p:txBody>
        </p:sp>
        <p:sp>
          <p:nvSpPr>
            <p:cNvPr id="92" name="TextBox 91">
              <a:extLst>
                <a:ext uri="{FF2B5EF4-FFF2-40B4-BE49-F238E27FC236}">
                  <a16:creationId xmlns:a16="http://schemas.microsoft.com/office/drawing/2014/main" id="{2D4311E3-CB1E-96C4-18CC-B3F217EAA13A}"/>
                </a:ext>
              </a:extLst>
            </p:cNvPr>
            <p:cNvSpPr txBox="1"/>
            <p:nvPr/>
          </p:nvSpPr>
          <p:spPr>
            <a:xfrm>
              <a:off x="9390194" y="2194917"/>
              <a:ext cx="2114487" cy="151229"/>
            </a:xfrm>
            <a:prstGeom prst="rect">
              <a:avLst/>
            </a:prstGeom>
            <a:noFill/>
          </p:spPr>
          <p:txBody>
            <a:bodyPr wrap="square" lIns="0" tIns="0" rIns="0" bIns="0" rtlCol="0" anchor="ctr">
              <a:spAutoFit/>
            </a:bodyPr>
            <a:lstStyle/>
            <a:p>
              <a:pPr defTabSz="1218987"/>
              <a:r>
                <a:rPr lang="en-US" sz="1200" b="1" kern="0">
                  <a:latin typeface="Manrope" pitchFamily="2" charset="0"/>
                  <a:cs typeface="Calibri Light" charset="0"/>
                </a:rPr>
                <a:t>Data Privacy</a:t>
              </a:r>
            </a:p>
          </p:txBody>
        </p:sp>
      </p:grpSp>
      <p:grpSp>
        <p:nvGrpSpPr>
          <p:cNvPr id="143" name="Group 142">
            <a:extLst>
              <a:ext uri="{FF2B5EF4-FFF2-40B4-BE49-F238E27FC236}">
                <a16:creationId xmlns:a16="http://schemas.microsoft.com/office/drawing/2014/main" id="{BEC4B897-EF3A-716D-680A-CEC9C4CBE319}"/>
              </a:ext>
            </a:extLst>
          </p:cNvPr>
          <p:cNvGrpSpPr/>
          <p:nvPr/>
        </p:nvGrpSpPr>
        <p:grpSpPr>
          <a:xfrm>
            <a:off x="4159240" y="983013"/>
            <a:ext cx="3689168" cy="529627"/>
            <a:chOff x="8804238" y="2115198"/>
            <a:chExt cx="3290887" cy="555802"/>
          </a:xfrm>
        </p:grpSpPr>
        <p:sp>
          <p:nvSpPr>
            <p:cNvPr id="144" name="TextBox 143">
              <a:extLst>
                <a:ext uri="{FF2B5EF4-FFF2-40B4-BE49-F238E27FC236}">
                  <a16:creationId xmlns:a16="http://schemas.microsoft.com/office/drawing/2014/main" id="{16011A71-4E31-0D03-68CA-3F556CE4EFEE}"/>
                </a:ext>
              </a:extLst>
            </p:cNvPr>
            <p:cNvSpPr txBox="1"/>
            <p:nvPr/>
          </p:nvSpPr>
          <p:spPr>
            <a:xfrm>
              <a:off x="8804238" y="2348013"/>
              <a:ext cx="3290887" cy="322987"/>
            </a:xfrm>
            <a:prstGeom prst="rect">
              <a:avLst/>
            </a:prstGeom>
            <a:noFill/>
          </p:spPr>
          <p:txBody>
            <a:bodyPr wrap="square" lIns="0" tIns="0" rIns="0" bIns="0" rtlCol="0">
              <a:spAutoFit/>
            </a:bodyPr>
            <a:lstStyle/>
            <a:p>
              <a:pPr defTabSz="1218987"/>
              <a:r>
                <a:rPr lang="en-US" sz="1000" kern="0">
                  <a:latin typeface="Manrope" pitchFamily="2" charset="0"/>
                  <a:cs typeface="Calibri Light"/>
                </a:rPr>
                <a:t>This framework describes process quality and product quality which is followed through health checks, reviews, and audits</a:t>
              </a:r>
            </a:p>
          </p:txBody>
        </p:sp>
        <p:sp>
          <p:nvSpPr>
            <p:cNvPr id="145" name="TextBox 144">
              <a:extLst>
                <a:ext uri="{FF2B5EF4-FFF2-40B4-BE49-F238E27FC236}">
                  <a16:creationId xmlns:a16="http://schemas.microsoft.com/office/drawing/2014/main" id="{31B4DB6E-2338-86A3-B784-2A2B0BDB6BB8}"/>
                </a:ext>
              </a:extLst>
            </p:cNvPr>
            <p:cNvSpPr txBox="1"/>
            <p:nvPr/>
          </p:nvSpPr>
          <p:spPr>
            <a:xfrm>
              <a:off x="8810941" y="2115198"/>
              <a:ext cx="2114487" cy="193792"/>
            </a:xfrm>
            <a:prstGeom prst="rect">
              <a:avLst/>
            </a:prstGeom>
            <a:noFill/>
          </p:spPr>
          <p:txBody>
            <a:bodyPr wrap="square" lIns="0" tIns="0" rIns="0" bIns="0" rtlCol="0" anchor="b">
              <a:spAutoFit/>
            </a:bodyPr>
            <a:lstStyle/>
            <a:p>
              <a:pPr defTabSz="1218987"/>
              <a:r>
                <a:rPr lang="en-US" sz="1200" b="1" kern="0" dirty="0">
                  <a:latin typeface="Manrope" pitchFamily="2" charset="0"/>
                  <a:cs typeface="Calibri Light" charset="0"/>
                </a:rPr>
                <a:t>Quality Assurance Framework</a:t>
              </a:r>
            </a:p>
          </p:txBody>
        </p:sp>
      </p:grpSp>
      <p:grpSp>
        <p:nvGrpSpPr>
          <p:cNvPr id="32" name="Group 31">
            <a:extLst>
              <a:ext uri="{FF2B5EF4-FFF2-40B4-BE49-F238E27FC236}">
                <a16:creationId xmlns:a16="http://schemas.microsoft.com/office/drawing/2014/main" id="{B7A6E50B-E35A-5AAC-E2E4-EC28EA294E89}"/>
              </a:ext>
            </a:extLst>
          </p:cNvPr>
          <p:cNvGrpSpPr/>
          <p:nvPr/>
        </p:nvGrpSpPr>
        <p:grpSpPr>
          <a:xfrm>
            <a:off x="3193178" y="1699235"/>
            <a:ext cx="5637617" cy="3745707"/>
            <a:chOff x="3292201" y="1699265"/>
            <a:chExt cx="5637617" cy="3745707"/>
          </a:xfrm>
        </p:grpSpPr>
        <p:sp>
          <p:nvSpPr>
            <p:cNvPr id="23" name="Freeform 22">
              <a:extLst>
                <a:ext uri="{FF2B5EF4-FFF2-40B4-BE49-F238E27FC236}">
                  <a16:creationId xmlns:a16="http://schemas.microsoft.com/office/drawing/2014/main" id="{CE942ADE-B045-0B0A-8AC8-055BF8E778C6}"/>
                </a:ext>
              </a:extLst>
            </p:cNvPr>
            <p:cNvSpPr/>
            <p:nvPr/>
          </p:nvSpPr>
          <p:spPr>
            <a:xfrm>
              <a:off x="3292201" y="4585776"/>
              <a:ext cx="857406" cy="857668"/>
            </a:xfrm>
            <a:custGeom>
              <a:avLst/>
              <a:gdLst>
                <a:gd name="connsiteX0" fmla="*/ 658863 w 857406"/>
                <a:gd name="connsiteY0" fmla="*/ 67454 h 857668"/>
                <a:gd name="connsiteX1" fmla="*/ 429203 w 857406"/>
                <a:gd name="connsiteY1" fmla="*/ 0 h 857668"/>
                <a:gd name="connsiteX2" fmla="*/ 335926 w 857406"/>
                <a:gd name="connsiteY2" fmla="*/ 10283 h 857668"/>
                <a:gd name="connsiteX3" fmla="*/ 264435 w 857406"/>
                <a:gd name="connsiteY3" fmla="*/ 32813 h 857668"/>
                <a:gd name="connsiteX4" fmla="*/ 10263 w 857406"/>
                <a:gd name="connsiteY4" fmla="*/ 521682 h 857668"/>
                <a:gd name="connsiteX5" fmla="*/ 428657 w 857406"/>
                <a:gd name="connsiteY5" fmla="*/ 857669 h 857668"/>
                <a:gd name="connsiteX6" fmla="*/ 521470 w 857406"/>
                <a:gd name="connsiteY6" fmla="*/ 847468 h 857668"/>
                <a:gd name="connsiteX7" fmla="*/ 592961 w 857406"/>
                <a:gd name="connsiteY7" fmla="*/ 824938 h 857668"/>
                <a:gd name="connsiteX8" fmla="*/ 847133 w 857406"/>
                <a:gd name="connsiteY8" fmla="*/ 336068 h 857668"/>
                <a:gd name="connsiteX9" fmla="*/ 658863 w 857406"/>
                <a:gd name="connsiteY9" fmla="*/ 67454 h 857668"/>
                <a:gd name="connsiteX10" fmla="*/ 584918 w 857406"/>
                <a:gd name="connsiteY10" fmla="*/ 805572 h 857668"/>
                <a:gd name="connsiteX11" fmla="*/ 516917 w 857406"/>
                <a:gd name="connsiteY11" fmla="*/ 826983 h 857668"/>
                <a:gd name="connsiteX12" fmla="*/ 428630 w 857406"/>
                <a:gd name="connsiteY12" fmla="*/ 836694 h 857668"/>
                <a:gd name="connsiteX13" fmla="*/ 30740 w 857406"/>
                <a:gd name="connsiteY13" fmla="*/ 517154 h 857668"/>
                <a:gd name="connsiteX14" fmla="*/ 272479 w 857406"/>
                <a:gd name="connsiteY14" fmla="*/ 52234 h 857668"/>
                <a:gd name="connsiteX15" fmla="*/ 340480 w 857406"/>
                <a:gd name="connsiteY15" fmla="*/ 30822 h 857668"/>
                <a:gd name="connsiteX16" fmla="*/ 429230 w 857406"/>
                <a:gd name="connsiteY16" fmla="*/ 21030 h 857668"/>
                <a:gd name="connsiteX17" fmla="*/ 647602 w 857406"/>
                <a:gd name="connsiteY17" fmla="*/ 85183 h 857668"/>
                <a:gd name="connsiteX18" fmla="*/ 826656 w 857406"/>
                <a:gd name="connsiteY18" fmla="*/ 340651 h 857668"/>
                <a:gd name="connsiteX19" fmla="*/ 584918 w 857406"/>
                <a:gd name="connsiteY19" fmla="*/ 805572 h 85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7406" h="857668">
                  <a:moveTo>
                    <a:pt x="658863" y="67454"/>
                  </a:moveTo>
                  <a:cubicBezTo>
                    <a:pt x="589607" y="23321"/>
                    <a:pt x="510209" y="0"/>
                    <a:pt x="429203" y="0"/>
                  </a:cubicBezTo>
                  <a:cubicBezTo>
                    <a:pt x="398065" y="0"/>
                    <a:pt x="366682" y="3464"/>
                    <a:pt x="335926" y="10283"/>
                  </a:cubicBezTo>
                  <a:cubicBezTo>
                    <a:pt x="311469" y="15711"/>
                    <a:pt x="287420" y="23294"/>
                    <a:pt x="264435" y="32813"/>
                  </a:cubicBezTo>
                  <a:cubicBezTo>
                    <a:pt x="72075" y="112514"/>
                    <a:pt x="-34834" y="318121"/>
                    <a:pt x="10263" y="521682"/>
                  </a:cubicBezTo>
                  <a:cubicBezTo>
                    <a:pt x="53425" y="716379"/>
                    <a:pt x="229399" y="857669"/>
                    <a:pt x="428657" y="857669"/>
                  </a:cubicBezTo>
                  <a:cubicBezTo>
                    <a:pt x="459713" y="857669"/>
                    <a:pt x="490932" y="854232"/>
                    <a:pt x="521470" y="847468"/>
                  </a:cubicBezTo>
                  <a:cubicBezTo>
                    <a:pt x="545846" y="842067"/>
                    <a:pt x="569894" y="834484"/>
                    <a:pt x="592961" y="824938"/>
                  </a:cubicBezTo>
                  <a:cubicBezTo>
                    <a:pt x="785349" y="745237"/>
                    <a:pt x="892258" y="539630"/>
                    <a:pt x="847133" y="336068"/>
                  </a:cubicBezTo>
                  <a:cubicBezTo>
                    <a:pt x="822376" y="224455"/>
                    <a:pt x="755520" y="129043"/>
                    <a:pt x="658863" y="67454"/>
                  </a:cubicBezTo>
                  <a:close/>
                  <a:moveTo>
                    <a:pt x="584918" y="805572"/>
                  </a:moveTo>
                  <a:cubicBezTo>
                    <a:pt x="563023" y="814627"/>
                    <a:pt x="540147" y="821828"/>
                    <a:pt x="516917" y="826983"/>
                  </a:cubicBezTo>
                  <a:cubicBezTo>
                    <a:pt x="487851" y="833421"/>
                    <a:pt x="458159" y="836694"/>
                    <a:pt x="428630" y="836694"/>
                  </a:cubicBezTo>
                  <a:cubicBezTo>
                    <a:pt x="239133" y="836694"/>
                    <a:pt x="71775" y="702304"/>
                    <a:pt x="30740" y="517154"/>
                  </a:cubicBezTo>
                  <a:cubicBezTo>
                    <a:pt x="-12149" y="323576"/>
                    <a:pt x="89525" y="128034"/>
                    <a:pt x="272479" y="52234"/>
                  </a:cubicBezTo>
                  <a:cubicBezTo>
                    <a:pt x="294346" y="43178"/>
                    <a:pt x="317222" y="35977"/>
                    <a:pt x="340480" y="30822"/>
                  </a:cubicBezTo>
                  <a:cubicBezTo>
                    <a:pt x="369736" y="24330"/>
                    <a:pt x="399592" y="21030"/>
                    <a:pt x="429230" y="21030"/>
                  </a:cubicBezTo>
                  <a:cubicBezTo>
                    <a:pt x="506228" y="21030"/>
                    <a:pt x="581728" y="43233"/>
                    <a:pt x="647602" y="85183"/>
                  </a:cubicBezTo>
                  <a:cubicBezTo>
                    <a:pt x="739542" y="143772"/>
                    <a:pt x="803126" y="234492"/>
                    <a:pt x="826656" y="340651"/>
                  </a:cubicBezTo>
                  <a:cubicBezTo>
                    <a:pt x="869545" y="534229"/>
                    <a:pt x="767899" y="729771"/>
                    <a:pt x="584918" y="805572"/>
                  </a:cubicBezTo>
                  <a:close/>
                </a:path>
              </a:pathLst>
            </a:custGeom>
            <a:solidFill>
              <a:schemeClr val="bg1">
                <a:lumMod val="85000"/>
              </a:schemeClr>
            </a:solidFill>
            <a:ln w="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F0342420-402D-4659-F562-FD2B3905DF48}"/>
                </a:ext>
              </a:extLst>
            </p:cNvPr>
            <p:cNvSpPr/>
            <p:nvPr/>
          </p:nvSpPr>
          <p:spPr>
            <a:xfrm>
              <a:off x="3426722" y="3235833"/>
              <a:ext cx="857118" cy="857641"/>
            </a:xfrm>
            <a:custGeom>
              <a:avLst/>
              <a:gdLst>
                <a:gd name="connsiteX0" fmla="*/ 614880 w 857118"/>
                <a:gd name="connsiteY0" fmla="*/ 42660 h 857641"/>
                <a:gd name="connsiteX1" fmla="*/ 526375 w 857118"/>
                <a:gd name="connsiteY1" fmla="*/ 11429 h 857641"/>
                <a:gd name="connsiteX2" fmla="*/ 452185 w 857118"/>
                <a:gd name="connsiteY2" fmla="*/ 682 h 857641"/>
                <a:gd name="connsiteX3" fmla="*/ 427836 w 857118"/>
                <a:gd name="connsiteY3" fmla="*/ 0 h 857641"/>
                <a:gd name="connsiteX4" fmla="*/ 11160 w 857118"/>
                <a:gd name="connsiteY4" fmla="*/ 330804 h 857641"/>
                <a:gd name="connsiteX5" fmla="*/ 242374 w 857118"/>
                <a:gd name="connsiteY5" fmla="*/ 815146 h 857641"/>
                <a:gd name="connsiteX6" fmla="*/ 330443 w 857118"/>
                <a:gd name="connsiteY6" fmla="*/ 846213 h 857641"/>
                <a:gd name="connsiteX7" fmla="*/ 404606 w 857118"/>
                <a:gd name="connsiteY7" fmla="*/ 856960 h 857641"/>
                <a:gd name="connsiteX8" fmla="*/ 428954 w 857118"/>
                <a:gd name="connsiteY8" fmla="*/ 857642 h 857641"/>
                <a:gd name="connsiteX9" fmla="*/ 845658 w 857118"/>
                <a:gd name="connsiteY9" fmla="*/ 526810 h 857641"/>
                <a:gd name="connsiteX10" fmla="*/ 792544 w 857118"/>
                <a:gd name="connsiteY10" fmla="*/ 203070 h 857641"/>
                <a:gd name="connsiteX11" fmla="*/ 614880 w 857118"/>
                <a:gd name="connsiteY11" fmla="*/ 42633 h 857641"/>
                <a:gd name="connsiteX12" fmla="*/ 825208 w 857118"/>
                <a:gd name="connsiteY12" fmla="*/ 522037 h 857641"/>
                <a:gd name="connsiteX13" fmla="*/ 405778 w 857118"/>
                <a:gd name="connsiteY13" fmla="*/ 836012 h 857641"/>
                <a:gd name="connsiteX14" fmla="*/ 335242 w 857118"/>
                <a:gd name="connsiteY14" fmla="*/ 825783 h 857641"/>
                <a:gd name="connsiteX15" fmla="*/ 251481 w 857118"/>
                <a:gd name="connsiteY15" fmla="*/ 796216 h 857641"/>
                <a:gd name="connsiteX16" fmla="*/ 31582 w 857118"/>
                <a:gd name="connsiteY16" fmla="*/ 335605 h 857641"/>
                <a:gd name="connsiteX17" fmla="*/ 451012 w 857118"/>
                <a:gd name="connsiteY17" fmla="*/ 21630 h 857641"/>
                <a:gd name="connsiteX18" fmla="*/ 521576 w 857118"/>
                <a:gd name="connsiteY18" fmla="*/ 31859 h 857641"/>
                <a:gd name="connsiteX19" fmla="*/ 605773 w 857118"/>
                <a:gd name="connsiteY19" fmla="*/ 61562 h 857641"/>
                <a:gd name="connsiteX20" fmla="*/ 774685 w 857118"/>
                <a:gd name="connsiteY20" fmla="*/ 214145 h 857641"/>
                <a:gd name="connsiteX21" fmla="*/ 825208 w 857118"/>
                <a:gd name="connsiteY21" fmla="*/ 522037 h 85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118" h="857641">
                  <a:moveTo>
                    <a:pt x="614880" y="42660"/>
                  </a:moveTo>
                  <a:cubicBezTo>
                    <a:pt x="586823" y="29158"/>
                    <a:pt x="557049" y="18630"/>
                    <a:pt x="526375" y="11429"/>
                  </a:cubicBezTo>
                  <a:cubicBezTo>
                    <a:pt x="501999" y="5701"/>
                    <a:pt x="477024" y="2073"/>
                    <a:pt x="452185" y="682"/>
                  </a:cubicBezTo>
                  <a:cubicBezTo>
                    <a:pt x="444114" y="218"/>
                    <a:pt x="435907" y="0"/>
                    <a:pt x="427836" y="0"/>
                  </a:cubicBezTo>
                  <a:cubicBezTo>
                    <a:pt x="228251" y="0"/>
                    <a:pt x="56912" y="136026"/>
                    <a:pt x="11160" y="330804"/>
                  </a:cubicBezTo>
                  <a:cubicBezTo>
                    <a:pt x="-34401" y="524955"/>
                    <a:pt x="62856" y="728653"/>
                    <a:pt x="242374" y="815146"/>
                  </a:cubicBezTo>
                  <a:cubicBezTo>
                    <a:pt x="270349" y="828620"/>
                    <a:pt x="299987" y="839067"/>
                    <a:pt x="330443" y="846213"/>
                  </a:cubicBezTo>
                  <a:cubicBezTo>
                    <a:pt x="354764" y="851941"/>
                    <a:pt x="379712" y="855542"/>
                    <a:pt x="404606" y="856960"/>
                  </a:cubicBezTo>
                  <a:cubicBezTo>
                    <a:pt x="412677" y="857424"/>
                    <a:pt x="420884" y="857642"/>
                    <a:pt x="428954" y="857642"/>
                  </a:cubicBezTo>
                  <a:cubicBezTo>
                    <a:pt x="628567" y="857642"/>
                    <a:pt x="799906" y="721589"/>
                    <a:pt x="845658" y="526810"/>
                  </a:cubicBezTo>
                  <a:cubicBezTo>
                    <a:pt x="871778" y="415497"/>
                    <a:pt x="852910" y="300528"/>
                    <a:pt x="792544" y="203070"/>
                  </a:cubicBezTo>
                  <a:cubicBezTo>
                    <a:pt x="749300" y="133271"/>
                    <a:pt x="687870" y="77791"/>
                    <a:pt x="614880" y="42633"/>
                  </a:cubicBezTo>
                  <a:close/>
                  <a:moveTo>
                    <a:pt x="825208" y="522037"/>
                  </a:moveTo>
                  <a:cubicBezTo>
                    <a:pt x="779893" y="715070"/>
                    <a:pt x="603483" y="847113"/>
                    <a:pt x="405778" y="836012"/>
                  </a:cubicBezTo>
                  <a:cubicBezTo>
                    <a:pt x="382139" y="834675"/>
                    <a:pt x="358390" y="831239"/>
                    <a:pt x="335242" y="825783"/>
                  </a:cubicBezTo>
                  <a:cubicBezTo>
                    <a:pt x="306258" y="818964"/>
                    <a:pt x="278065" y="809036"/>
                    <a:pt x="251481" y="796216"/>
                  </a:cubicBezTo>
                  <a:cubicBezTo>
                    <a:pt x="80743" y="713951"/>
                    <a:pt x="-11743" y="520264"/>
                    <a:pt x="31582" y="335605"/>
                  </a:cubicBezTo>
                  <a:cubicBezTo>
                    <a:pt x="76925" y="142572"/>
                    <a:pt x="253308" y="10529"/>
                    <a:pt x="451012" y="21630"/>
                  </a:cubicBezTo>
                  <a:cubicBezTo>
                    <a:pt x="474624" y="22966"/>
                    <a:pt x="498373" y="26403"/>
                    <a:pt x="521576" y="31859"/>
                  </a:cubicBezTo>
                  <a:cubicBezTo>
                    <a:pt x="550751" y="38705"/>
                    <a:pt x="579080" y="48715"/>
                    <a:pt x="605773" y="61562"/>
                  </a:cubicBezTo>
                  <a:cubicBezTo>
                    <a:pt x="675137" y="94975"/>
                    <a:pt x="733568" y="147727"/>
                    <a:pt x="774685" y="214145"/>
                  </a:cubicBezTo>
                  <a:cubicBezTo>
                    <a:pt x="832107" y="306829"/>
                    <a:pt x="850048" y="416178"/>
                    <a:pt x="825208" y="522037"/>
                  </a:cubicBezTo>
                  <a:close/>
                </a:path>
              </a:pathLst>
            </a:custGeom>
            <a:solidFill>
              <a:schemeClr val="bg1">
                <a:lumMod val="85000"/>
              </a:schemeClr>
            </a:solidFill>
            <a:ln w="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EA330B08-F182-EFBE-4D49-DFD6DC05CA06}"/>
                </a:ext>
              </a:extLst>
            </p:cNvPr>
            <p:cNvSpPr/>
            <p:nvPr/>
          </p:nvSpPr>
          <p:spPr>
            <a:xfrm>
              <a:off x="4301663" y="2124175"/>
              <a:ext cx="856265" cy="857996"/>
            </a:xfrm>
            <a:custGeom>
              <a:avLst/>
              <a:gdLst>
                <a:gd name="connsiteX0" fmla="*/ 763329 w 856265"/>
                <a:gd name="connsiteY0" fmla="*/ 162020 h 857996"/>
                <a:gd name="connsiteX1" fmla="*/ 697128 w 856265"/>
                <a:gd name="connsiteY1" fmla="*/ 95466 h 857996"/>
                <a:gd name="connsiteX2" fmla="*/ 634962 w 856265"/>
                <a:gd name="connsiteY2" fmla="*/ 53597 h 857996"/>
                <a:gd name="connsiteX3" fmla="*/ 427851 w 856265"/>
                <a:gd name="connsiteY3" fmla="*/ 0 h 857996"/>
                <a:gd name="connsiteX4" fmla="*/ 94417 w 856265"/>
                <a:gd name="connsiteY4" fmla="*/ 159592 h 857996"/>
                <a:gd name="connsiteX5" fmla="*/ 92699 w 856265"/>
                <a:gd name="connsiteY5" fmla="*/ 696304 h 857996"/>
                <a:gd name="connsiteX6" fmla="*/ 158546 w 856265"/>
                <a:gd name="connsiteY6" fmla="*/ 762530 h 857996"/>
                <a:gd name="connsiteX7" fmla="*/ 220712 w 856265"/>
                <a:gd name="connsiteY7" fmla="*/ 804399 h 857996"/>
                <a:gd name="connsiteX8" fmla="*/ 427823 w 856265"/>
                <a:gd name="connsiteY8" fmla="*/ 857996 h 857996"/>
                <a:gd name="connsiteX9" fmla="*/ 761257 w 856265"/>
                <a:gd name="connsiteY9" fmla="*/ 698377 h 857996"/>
                <a:gd name="connsiteX10" fmla="*/ 853797 w 856265"/>
                <a:gd name="connsiteY10" fmla="*/ 383638 h 857996"/>
                <a:gd name="connsiteX11" fmla="*/ 763329 w 856265"/>
                <a:gd name="connsiteY11" fmla="*/ 161965 h 857996"/>
                <a:gd name="connsiteX12" fmla="*/ 744925 w 856265"/>
                <a:gd name="connsiteY12" fmla="*/ 685202 h 857996"/>
                <a:gd name="connsiteX13" fmla="*/ 230855 w 856265"/>
                <a:gd name="connsiteY13" fmla="*/ 786015 h 857996"/>
                <a:gd name="connsiteX14" fmla="*/ 171716 w 856265"/>
                <a:gd name="connsiteY14" fmla="*/ 746192 h 857996"/>
                <a:gd name="connsiteX15" fmla="*/ 109086 w 856265"/>
                <a:gd name="connsiteY15" fmla="*/ 683211 h 857996"/>
                <a:gd name="connsiteX16" fmla="*/ 110722 w 856265"/>
                <a:gd name="connsiteY16" fmla="*/ 172767 h 857996"/>
                <a:gd name="connsiteX17" fmla="*/ 624792 w 856265"/>
                <a:gd name="connsiteY17" fmla="*/ 71954 h 857996"/>
                <a:gd name="connsiteX18" fmla="*/ 683931 w 856265"/>
                <a:gd name="connsiteY18" fmla="*/ 111777 h 857996"/>
                <a:gd name="connsiteX19" fmla="*/ 746915 w 856265"/>
                <a:gd name="connsiteY19" fmla="*/ 175085 h 857996"/>
                <a:gd name="connsiteX20" fmla="*/ 832911 w 856265"/>
                <a:gd name="connsiteY20" fmla="*/ 385875 h 857996"/>
                <a:gd name="connsiteX21" fmla="*/ 744898 w 856265"/>
                <a:gd name="connsiteY21" fmla="*/ 685202 h 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6265" h="857996">
                  <a:moveTo>
                    <a:pt x="763329" y="162020"/>
                  </a:moveTo>
                  <a:cubicBezTo>
                    <a:pt x="743889" y="137662"/>
                    <a:pt x="721640" y="115269"/>
                    <a:pt x="697128" y="95466"/>
                  </a:cubicBezTo>
                  <a:cubicBezTo>
                    <a:pt x="677660" y="79728"/>
                    <a:pt x="656720" y="65626"/>
                    <a:pt x="634962" y="53597"/>
                  </a:cubicBezTo>
                  <a:cubicBezTo>
                    <a:pt x="571541" y="18520"/>
                    <a:pt x="499914" y="0"/>
                    <a:pt x="427851" y="0"/>
                  </a:cubicBezTo>
                  <a:cubicBezTo>
                    <a:pt x="297874" y="0"/>
                    <a:pt x="176324" y="58180"/>
                    <a:pt x="94417" y="159592"/>
                  </a:cubicBezTo>
                  <a:cubicBezTo>
                    <a:pt x="-30815" y="314739"/>
                    <a:pt x="-31551" y="540475"/>
                    <a:pt x="92699" y="696304"/>
                  </a:cubicBezTo>
                  <a:cubicBezTo>
                    <a:pt x="112058" y="720607"/>
                    <a:pt x="134225" y="742864"/>
                    <a:pt x="158546" y="762530"/>
                  </a:cubicBezTo>
                  <a:cubicBezTo>
                    <a:pt x="177987" y="778241"/>
                    <a:pt x="198900" y="792316"/>
                    <a:pt x="220712" y="804399"/>
                  </a:cubicBezTo>
                  <a:cubicBezTo>
                    <a:pt x="284132" y="839476"/>
                    <a:pt x="355760" y="857996"/>
                    <a:pt x="427823" y="857996"/>
                  </a:cubicBezTo>
                  <a:cubicBezTo>
                    <a:pt x="557800" y="857996"/>
                    <a:pt x="679350" y="799816"/>
                    <a:pt x="761257" y="698377"/>
                  </a:cubicBezTo>
                  <a:cubicBezTo>
                    <a:pt x="833048" y="609429"/>
                    <a:pt x="865931" y="497652"/>
                    <a:pt x="853797" y="383638"/>
                  </a:cubicBezTo>
                  <a:cubicBezTo>
                    <a:pt x="845099" y="301973"/>
                    <a:pt x="813825" y="225328"/>
                    <a:pt x="763329" y="161965"/>
                  </a:cubicBezTo>
                  <a:close/>
                  <a:moveTo>
                    <a:pt x="744925" y="685202"/>
                  </a:moveTo>
                  <a:cubicBezTo>
                    <a:pt x="620375" y="839449"/>
                    <a:pt x="404184" y="881863"/>
                    <a:pt x="230855" y="786015"/>
                  </a:cubicBezTo>
                  <a:cubicBezTo>
                    <a:pt x="210133" y="774532"/>
                    <a:pt x="190229" y="761139"/>
                    <a:pt x="171716" y="746192"/>
                  </a:cubicBezTo>
                  <a:cubicBezTo>
                    <a:pt x="148540" y="727480"/>
                    <a:pt x="127490" y="706287"/>
                    <a:pt x="109086" y="683211"/>
                  </a:cubicBezTo>
                  <a:cubicBezTo>
                    <a:pt x="-9057" y="534993"/>
                    <a:pt x="-8375" y="320330"/>
                    <a:pt x="110722" y="172767"/>
                  </a:cubicBezTo>
                  <a:cubicBezTo>
                    <a:pt x="235299" y="18520"/>
                    <a:pt x="451490" y="-23867"/>
                    <a:pt x="624792" y="71954"/>
                  </a:cubicBezTo>
                  <a:cubicBezTo>
                    <a:pt x="645486" y="83410"/>
                    <a:pt x="665390" y="96803"/>
                    <a:pt x="683931" y="111777"/>
                  </a:cubicBezTo>
                  <a:cubicBezTo>
                    <a:pt x="707243" y="130598"/>
                    <a:pt x="728429" y="151928"/>
                    <a:pt x="746915" y="175085"/>
                  </a:cubicBezTo>
                  <a:cubicBezTo>
                    <a:pt x="794903" y="235283"/>
                    <a:pt x="824650" y="308192"/>
                    <a:pt x="832911" y="385875"/>
                  </a:cubicBezTo>
                  <a:cubicBezTo>
                    <a:pt x="844445" y="494297"/>
                    <a:pt x="813198" y="600619"/>
                    <a:pt x="744898" y="685202"/>
                  </a:cubicBezTo>
                  <a:close/>
                </a:path>
              </a:pathLst>
            </a:custGeom>
            <a:solidFill>
              <a:schemeClr val="bg1">
                <a:lumMod val="85000"/>
              </a:schemeClr>
            </a:solidFill>
            <a:ln w="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F684C3CB-0210-6B24-D2BF-CAF0A1AE6425}"/>
                </a:ext>
              </a:extLst>
            </p:cNvPr>
            <p:cNvSpPr/>
            <p:nvPr/>
          </p:nvSpPr>
          <p:spPr>
            <a:xfrm>
              <a:off x="5667453" y="1699265"/>
              <a:ext cx="857093" cy="857859"/>
            </a:xfrm>
            <a:custGeom>
              <a:avLst/>
              <a:gdLst>
                <a:gd name="connsiteX0" fmla="*/ 815755 w 857093"/>
                <a:gd name="connsiteY0" fmla="*/ 245321 h 857859"/>
                <a:gd name="connsiteX1" fmla="*/ 777910 w 857093"/>
                <a:gd name="connsiteY1" fmla="*/ 180622 h 857859"/>
                <a:gd name="connsiteX2" fmla="*/ 428717 w 857093"/>
                <a:gd name="connsiteY2" fmla="*/ 0 h 857859"/>
                <a:gd name="connsiteX3" fmla="*/ 244891 w 857093"/>
                <a:gd name="connsiteY3" fmla="*/ 41487 h 857859"/>
                <a:gd name="connsiteX4" fmla="*/ 10568 w 857093"/>
                <a:gd name="connsiteY4" fmla="*/ 524301 h 857859"/>
                <a:gd name="connsiteX5" fmla="*/ 41160 w 857093"/>
                <a:gd name="connsiteY5" fmla="*/ 612539 h 857859"/>
                <a:gd name="connsiteX6" fmla="*/ 79005 w 857093"/>
                <a:gd name="connsiteY6" fmla="*/ 677238 h 857859"/>
                <a:gd name="connsiteX7" fmla="*/ 428171 w 857093"/>
                <a:gd name="connsiteY7" fmla="*/ 857860 h 857859"/>
                <a:gd name="connsiteX8" fmla="*/ 611998 w 857093"/>
                <a:gd name="connsiteY8" fmla="*/ 816346 h 857859"/>
                <a:gd name="connsiteX9" fmla="*/ 831869 w 857093"/>
                <a:gd name="connsiteY9" fmla="*/ 572934 h 857859"/>
                <a:gd name="connsiteX10" fmla="*/ 846511 w 857093"/>
                <a:gd name="connsiteY10" fmla="*/ 333941 h 857859"/>
                <a:gd name="connsiteX11" fmla="*/ 815728 w 857093"/>
                <a:gd name="connsiteY11" fmla="*/ 245266 h 857859"/>
                <a:gd name="connsiteX12" fmla="*/ 812156 w 857093"/>
                <a:gd name="connsiteY12" fmla="*/ 565924 h 857859"/>
                <a:gd name="connsiteX13" fmla="*/ 603054 w 857093"/>
                <a:gd name="connsiteY13" fmla="*/ 797416 h 857859"/>
                <a:gd name="connsiteX14" fmla="*/ 96156 w 857093"/>
                <a:gd name="connsiteY14" fmla="*/ 665127 h 857859"/>
                <a:gd name="connsiteX15" fmla="*/ 60165 w 857093"/>
                <a:gd name="connsiteY15" fmla="*/ 603565 h 857859"/>
                <a:gd name="connsiteX16" fmla="*/ 31045 w 857093"/>
                <a:gd name="connsiteY16" fmla="*/ 519637 h 857859"/>
                <a:gd name="connsiteX17" fmla="*/ 253916 w 857093"/>
                <a:gd name="connsiteY17" fmla="*/ 60444 h 857859"/>
                <a:gd name="connsiteX18" fmla="*/ 760814 w 857093"/>
                <a:gd name="connsiteY18" fmla="*/ 192733 h 857859"/>
                <a:gd name="connsiteX19" fmla="*/ 796833 w 857093"/>
                <a:gd name="connsiteY19" fmla="*/ 254295 h 857859"/>
                <a:gd name="connsiteX20" fmla="*/ 826116 w 857093"/>
                <a:gd name="connsiteY20" fmla="*/ 338660 h 857859"/>
                <a:gd name="connsiteX21" fmla="*/ 812183 w 857093"/>
                <a:gd name="connsiteY21" fmla="*/ 565924 h 85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093" h="857859">
                  <a:moveTo>
                    <a:pt x="815755" y="245321"/>
                  </a:moveTo>
                  <a:cubicBezTo>
                    <a:pt x="805039" y="222682"/>
                    <a:pt x="792306" y="200916"/>
                    <a:pt x="777910" y="180622"/>
                  </a:cubicBezTo>
                  <a:cubicBezTo>
                    <a:pt x="697694" y="67508"/>
                    <a:pt x="567145" y="0"/>
                    <a:pt x="428717" y="0"/>
                  </a:cubicBezTo>
                  <a:cubicBezTo>
                    <a:pt x="364860" y="0"/>
                    <a:pt x="303021" y="13965"/>
                    <a:pt x="244891" y="41487"/>
                  </a:cubicBezTo>
                  <a:cubicBezTo>
                    <a:pt x="64773" y="126916"/>
                    <a:pt x="-33793" y="329959"/>
                    <a:pt x="10568" y="524301"/>
                  </a:cubicBezTo>
                  <a:cubicBezTo>
                    <a:pt x="17466" y="554605"/>
                    <a:pt x="27773" y="584281"/>
                    <a:pt x="41160" y="612539"/>
                  </a:cubicBezTo>
                  <a:cubicBezTo>
                    <a:pt x="51876" y="635124"/>
                    <a:pt x="64582" y="656890"/>
                    <a:pt x="79005" y="677238"/>
                  </a:cubicBezTo>
                  <a:cubicBezTo>
                    <a:pt x="159221" y="790324"/>
                    <a:pt x="289743" y="857860"/>
                    <a:pt x="428171" y="857860"/>
                  </a:cubicBezTo>
                  <a:cubicBezTo>
                    <a:pt x="492055" y="857860"/>
                    <a:pt x="553894" y="843895"/>
                    <a:pt x="611998" y="816346"/>
                  </a:cubicBezTo>
                  <a:cubicBezTo>
                    <a:pt x="715280" y="767358"/>
                    <a:pt x="793343" y="680920"/>
                    <a:pt x="831869" y="572934"/>
                  </a:cubicBezTo>
                  <a:cubicBezTo>
                    <a:pt x="859462" y="495579"/>
                    <a:pt x="864534" y="412933"/>
                    <a:pt x="846511" y="333941"/>
                  </a:cubicBezTo>
                  <a:cubicBezTo>
                    <a:pt x="839585" y="303555"/>
                    <a:pt x="829224" y="273715"/>
                    <a:pt x="815728" y="245266"/>
                  </a:cubicBezTo>
                  <a:close/>
                  <a:moveTo>
                    <a:pt x="812156" y="565924"/>
                  </a:moveTo>
                  <a:cubicBezTo>
                    <a:pt x="775511" y="668619"/>
                    <a:pt x="701266" y="750829"/>
                    <a:pt x="603054" y="797416"/>
                  </a:cubicBezTo>
                  <a:cubicBezTo>
                    <a:pt x="423945" y="882327"/>
                    <a:pt x="210754" y="826683"/>
                    <a:pt x="96156" y="665127"/>
                  </a:cubicBezTo>
                  <a:cubicBezTo>
                    <a:pt x="82468" y="645788"/>
                    <a:pt x="70335" y="625086"/>
                    <a:pt x="60165" y="603565"/>
                  </a:cubicBezTo>
                  <a:cubicBezTo>
                    <a:pt x="47404" y="576671"/>
                    <a:pt x="37616" y="548413"/>
                    <a:pt x="31045" y="519637"/>
                  </a:cubicBezTo>
                  <a:cubicBezTo>
                    <a:pt x="-11135" y="334814"/>
                    <a:pt x="82605" y="141699"/>
                    <a:pt x="253916" y="60444"/>
                  </a:cubicBezTo>
                  <a:cubicBezTo>
                    <a:pt x="433052" y="-24467"/>
                    <a:pt x="646216" y="31177"/>
                    <a:pt x="760814" y="192733"/>
                  </a:cubicBezTo>
                  <a:cubicBezTo>
                    <a:pt x="774502" y="212017"/>
                    <a:pt x="786635" y="232747"/>
                    <a:pt x="796833" y="254295"/>
                  </a:cubicBezTo>
                  <a:cubicBezTo>
                    <a:pt x="809675" y="281380"/>
                    <a:pt x="819518" y="309774"/>
                    <a:pt x="826116" y="338660"/>
                  </a:cubicBezTo>
                  <a:cubicBezTo>
                    <a:pt x="843266" y="413751"/>
                    <a:pt x="838440" y="492333"/>
                    <a:pt x="812183" y="565924"/>
                  </a:cubicBezTo>
                  <a:close/>
                </a:path>
              </a:pathLst>
            </a:custGeom>
            <a:solidFill>
              <a:schemeClr val="bg1">
                <a:lumMod val="85000"/>
              </a:schemeClr>
            </a:solidFill>
            <a:ln w="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E84326D7-B195-83FC-B829-6BC3BDB8D625}"/>
                </a:ext>
              </a:extLst>
            </p:cNvPr>
            <p:cNvSpPr/>
            <p:nvPr/>
          </p:nvSpPr>
          <p:spPr>
            <a:xfrm>
              <a:off x="7034071" y="2124175"/>
              <a:ext cx="857119" cy="857505"/>
            </a:xfrm>
            <a:custGeom>
              <a:avLst/>
              <a:gdLst>
                <a:gd name="connsiteX0" fmla="*/ 846367 w 857119"/>
                <a:gd name="connsiteY0" fmla="*/ 524683 h 857505"/>
                <a:gd name="connsiteX1" fmla="*/ 857110 w 857119"/>
                <a:gd name="connsiteY1" fmla="*/ 431426 h 857505"/>
                <a:gd name="connsiteX2" fmla="*/ 851084 w 857119"/>
                <a:gd name="connsiteY2" fmla="*/ 356689 h 857505"/>
                <a:gd name="connsiteX3" fmla="*/ 431218 w 857119"/>
                <a:gd name="connsiteY3" fmla="*/ 0 h 857505"/>
                <a:gd name="connsiteX4" fmla="*/ 428628 w 857119"/>
                <a:gd name="connsiteY4" fmla="*/ 0 h 857505"/>
                <a:gd name="connsiteX5" fmla="*/ 10697 w 857119"/>
                <a:gd name="connsiteY5" fmla="*/ 333286 h 857505"/>
                <a:gd name="connsiteX6" fmla="*/ 9 w 857119"/>
                <a:gd name="connsiteY6" fmla="*/ 426080 h 857505"/>
                <a:gd name="connsiteX7" fmla="*/ 6035 w 857119"/>
                <a:gd name="connsiteY7" fmla="*/ 500816 h 857505"/>
                <a:gd name="connsiteX8" fmla="*/ 425901 w 857119"/>
                <a:gd name="connsiteY8" fmla="*/ 857505 h 857505"/>
                <a:gd name="connsiteX9" fmla="*/ 428573 w 857119"/>
                <a:gd name="connsiteY9" fmla="*/ 857505 h 857505"/>
                <a:gd name="connsiteX10" fmla="*/ 729588 w 857119"/>
                <a:gd name="connsiteY10" fmla="*/ 733645 h 857505"/>
                <a:gd name="connsiteX11" fmla="*/ 846394 w 857119"/>
                <a:gd name="connsiteY11" fmla="*/ 524683 h 857505"/>
                <a:gd name="connsiteX12" fmla="*/ 426010 w 857119"/>
                <a:gd name="connsiteY12" fmla="*/ 836530 h 857505"/>
                <a:gd name="connsiteX13" fmla="*/ 26702 w 857119"/>
                <a:gd name="connsiteY13" fmla="*/ 497325 h 857505"/>
                <a:gd name="connsiteX14" fmla="*/ 20949 w 857119"/>
                <a:gd name="connsiteY14" fmla="*/ 426243 h 857505"/>
                <a:gd name="connsiteX15" fmla="*/ 31119 w 857119"/>
                <a:gd name="connsiteY15" fmla="*/ 337978 h 857505"/>
                <a:gd name="connsiteX16" fmla="*/ 431082 w 857119"/>
                <a:gd name="connsiteY16" fmla="*/ 21003 h 857505"/>
                <a:gd name="connsiteX17" fmla="*/ 830389 w 857119"/>
                <a:gd name="connsiteY17" fmla="*/ 360208 h 857505"/>
                <a:gd name="connsiteX18" fmla="*/ 836142 w 857119"/>
                <a:gd name="connsiteY18" fmla="*/ 431289 h 857505"/>
                <a:gd name="connsiteX19" fmla="*/ 825918 w 857119"/>
                <a:gd name="connsiteY19" fmla="*/ 520018 h 857505"/>
                <a:gd name="connsiteX20" fmla="*/ 714809 w 857119"/>
                <a:gd name="connsiteY20" fmla="*/ 718725 h 857505"/>
                <a:gd name="connsiteX21" fmla="*/ 426010 w 857119"/>
                <a:gd name="connsiteY21" fmla="*/ 836530 h 857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119" h="857505">
                  <a:moveTo>
                    <a:pt x="846367" y="524683"/>
                  </a:moveTo>
                  <a:cubicBezTo>
                    <a:pt x="853293" y="494297"/>
                    <a:pt x="856919" y="462930"/>
                    <a:pt x="857110" y="431426"/>
                  </a:cubicBezTo>
                  <a:cubicBezTo>
                    <a:pt x="857273" y="406414"/>
                    <a:pt x="855256" y="381265"/>
                    <a:pt x="851084" y="356689"/>
                  </a:cubicBezTo>
                  <a:cubicBezTo>
                    <a:pt x="816211" y="151328"/>
                    <a:pt x="639638" y="1337"/>
                    <a:pt x="431218" y="0"/>
                  </a:cubicBezTo>
                  <a:lnTo>
                    <a:pt x="428628" y="0"/>
                  </a:lnTo>
                  <a:cubicBezTo>
                    <a:pt x="230514" y="0"/>
                    <a:pt x="54731" y="140172"/>
                    <a:pt x="10697" y="333286"/>
                  </a:cubicBezTo>
                  <a:cubicBezTo>
                    <a:pt x="3799" y="363590"/>
                    <a:pt x="200" y="394821"/>
                    <a:pt x="9" y="426080"/>
                  </a:cubicBezTo>
                  <a:cubicBezTo>
                    <a:pt x="-155" y="451092"/>
                    <a:pt x="1890" y="476213"/>
                    <a:pt x="6035" y="500816"/>
                  </a:cubicBezTo>
                  <a:cubicBezTo>
                    <a:pt x="40908" y="706178"/>
                    <a:pt x="217509" y="856196"/>
                    <a:pt x="425901" y="857505"/>
                  </a:cubicBezTo>
                  <a:lnTo>
                    <a:pt x="428573" y="857505"/>
                  </a:lnTo>
                  <a:cubicBezTo>
                    <a:pt x="541835" y="857505"/>
                    <a:pt x="648744" y="813509"/>
                    <a:pt x="729588" y="733645"/>
                  </a:cubicBezTo>
                  <a:cubicBezTo>
                    <a:pt x="787991" y="675929"/>
                    <a:pt x="828399" y="603674"/>
                    <a:pt x="846394" y="524683"/>
                  </a:cubicBezTo>
                  <a:close/>
                  <a:moveTo>
                    <a:pt x="426010" y="836530"/>
                  </a:moveTo>
                  <a:cubicBezTo>
                    <a:pt x="227815" y="835275"/>
                    <a:pt x="59857" y="692621"/>
                    <a:pt x="26702" y="497325"/>
                  </a:cubicBezTo>
                  <a:cubicBezTo>
                    <a:pt x="22749" y="473976"/>
                    <a:pt x="20813" y="450028"/>
                    <a:pt x="20949" y="426243"/>
                  </a:cubicBezTo>
                  <a:cubicBezTo>
                    <a:pt x="21140" y="396458"/>
                    <a:pt x="24576" y="366781"/>
                    <a:pt x="31119" y="337978"/>
                  </a:cubicBezTo>
                  <a:cubicBezTo>
                    <a:pt x="73272" y="153155"/>
                    <a:pt x="241475" y="19857"/>
                    <a:pt x="431082" y="21003"/>
                  </a:cubicBezTo>
                  <a:cubicBezTo>
                    <a:pt x="629304" y="22257"/>
                    <a:pt x="797234" y="164911"/>
                    <a:pt x="830389" y="360208"/>
                  </a:cubicBezTo>
                  <a:cubicBezTo>
                    <a:pt x="834343" y="383529"/>
                    <a:pt x="836306" y="407450"/>
                    <a:pt x="836142" y="431289"/>
                  </a:cubicBezTo>
                  <a:cubicBezTo>
                    <a:pt x="835952" y="461266"/>
                    <a:pt x="832516" y="491106"/>
                    <a:pt x="825918" y="520018"/>
                  </a:cubicBezTo>
                  <a:cubicBezTo>
                    <a:pt x="808795" y="595109"/>
                    <a:pt x="770377" y="663818"/>
                    <a:pt x="714809" y="718725"/>
                  </a:cubicBezTo>
                  <a:cubicBezTo>
                    <a:pt x="637266" y="795343"/>
                    <a:pt x="534692" y="837185"/>
                    <a:pt x="426010" y="836530"/>
                  </a:cubicBezTo>
                  <a:close/>
                </a:path>
              </a:pathLst>
            </a:custGeom>
            <a:solidFill>
              <a:schemeClr val="bg1">
                <a:lumMod val="85000"/>
              </a:schemeClr>
            </a:solid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373B94A5-8850-E026-BB63-CCFB21054FE1}"/>
                </a:ext>
              </a:extLst>
            </p:cNvPr>
            <p:cNvSpPr/>
            <p:nvPr/>
          </p:nvSpPr>
          <p:spPr>
            <a:xfrm>
              <a:off x="7886209" y="3236406"/>
              <a:ext cx="857597" cy="857068"/>
            </a:xfrm>
            <a:custGeom>
              <a:avLst/>
              <a:gdLst>
                <a:gd name="connsiteX0" fmla="*/ 567786 w 857597"/>
                <a:gd name="connsiteY0" fmla="*/ 833557 h 857068"/>
                <a:gd name="connsiteX1" fmla="*/ 763664 w 857597"/>
                <a:gd name="connsiteY1" fmla="*/ 696004 h 857068"/>
                <a:gd name="connsiteX2" fmla="*/ 813779 w 857597"/>
                <a:gd name="connsiteY2" fmla="*/ 616630 h 857068"/>
                <a:gd name="connsiteX3" fmla="*/ 840744 w 857597"/>
                <a:gd name="connsiteY3" fmla="*/ 546667 h 857068"/>
                <a:gd name="connsiteX4" fmla="*/ 617138 w 857597"/>
                <a:gd name="connsiteY4" fmla="*/ 43069 h 857068"/>
                <a:gd name="connsiteX5" fmla="*/ 430230 w 857597"/>
                <a:gd name="connsiteY5" fmla="*/ 0 h 857068"/>
                <a:gd name="connsiteX6" fmla="*/ 93688 w 857597"/>
                <a:gd name="connsiteY6" fmla="*/ 160847 h 857068"/>
                <a:gd name="connsiteX7" fmla="*/ 43819 w 857597"/>
                <a:gd name="connsiteY7" fmla="*/ 239811 h 857068"/>
                <a:gd name="connsiteX8" fmla="*/ 16853 w 857597"/>
                <a:gd name="connsiteY8" fmla="*/ 309774 h 857068"/>
                <a:gd name="connsiteX9" fmla="*/ 240433 w 857597"/>
                <a:gd name="connsiteY9" fmla="*/ 813373 h 857068"/>
                <a:gd name="connsiteX10" fmla="*/ 428022 w 857597"/>
                <a:gd name="connsiteY10" fmla="*/ 857069 h 857068"/>
                <a:gd name="connsiteX11" fmla="*/ 567759 w 857597"/>
                <a:gd name="connsiteY11" fmla="*/ 833612 h 857068"/>
                <a:gd name="connsiteX12" fmla="*/ 249676 w 857597"/>
                <a:gd name="connsiteY12" fmla="*/ 794498 h 857068"/>
                <a:gd name="connsiteX13" fmla="*/ 37030 w 857597"/>
                <a:gd name="connsiteY13" fmla="*/ 315557 h 857068"/>
                <a:gd name="connsiteX14" fmla="*/ 62687 w 857597"/>
                <a:gd name="connsiteY14" fmla="*/ 249031 h 857068"/>
                <a:gd name="connsiteX15" fmla="*/ 110130 w 857597"/>
                <a:gd name="connsiteY15" fmla="*/ 173940 h 857068"/>
                <a:gd name="connsiteX16" fmla="*/ 607949 w 857597"/>
                <a:gd name="connsiteY16" fmla="*/ 61944 h 857068"/>
                <a:gd name="connsiteX17" fmla="*/ 820595 w 857597"/>
                <a:gd name="connsiteY17" fmla="*/ 540885 h 857068"/>
                <a:gd name="connsiteX18" fmla="*/ 794938 w 857597"/>
                <a:gd name="connsiteY18" fmla="*/ 607438 h 857068"/>
                <a:gd name="connsiteX19" fmla="*/ 747250 w 857597"/>
                <a:gd name="connsiteY19" fmla="*/ 682939 h 857068"/>
                <a:gd name="connsiteX20" fmla="*/ 560943 w 857597"/>
                <a:gd name="connsiteY20" fmla="*/ 813727 h 857068"/>
                <a:gd name="connsiteX21" fmla="*/ 249649 w 857597"/>
                <a:gd name="connsiteY21" fmla="*/ 794498 h 85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597" h="857068">
                  <a:moveTo>
                    <a:pt x="567786" y="833557"/>
                  </a:moveTo>
                  <a:cubicBezTo>
                    <a:pt x="645439" y="806908"/>
                    <a:pt x="713195" y="759339"/>
                    <a:pt x="763664" y="696004"/>
                  </a:cubicBezTo>
                  <a:cubicBezTo>
                    <a:pt x="783077" y="671646"/>
                    <a:pt x="799955" y="644943"/>
                    <a:pt x="813779" y="616630"/>
                  </a:cubicBezTo>
                  <a:cubicBezTo>
                    <a:pt x="824767" y="594155"/>
                    <a:pt x="833846" y="570616"/>
                    <a:pt x="840744" y="546667"/>
                  </a:cubicBezTo>
                  <a:cubicBezTo>
                    <a:pt x="898384" y="346515"/>
                    <a:pt x="804345" y="134717"/>
                    <a:pt x="617138" y="43069"/>
                  </a:cubicBezTo>
                  <a:cubicBezTo>
                    <a:pt x="559552" y="14893"/>
                    <a:pt x="494905" y="0"/>
                    <a:pt x="430230" y="0"/>
                  </a:cubicBezTo>
                  <a:cubicBezTo>
                    <a:pt x="299763" y="0"/>
                    <a:pt x="173959" y="60144"/>
                    <a:pt x="93688" y="160847"/>
                  </a:cubicBezTo>
                  <a:cubicBezTo>
                    <a:pt x="74303" y="185150"/>
                    <a:pt x="57534" y="211717"/>
                    <a:pt x="43819" y="239811"/>
                  </a:cubicBezTo>
                  <a:cubicBezTo>
                    <a:pt x="32831" y="262287"/>
                    <a:pt x="23752" y="285799"/>
                    <a:pt x="16853" y="309774"/>
                  </a:cubicBezTo>
                  <a:cubicBezTo>
                    <a:pt x="-40787" y="509954"/>
                    <a:pt x="53253" y="721752"/>
                    <a:pt x="240433" y="813373"/>
                  </a:cubicBezTo>
                  <a:cubicBezTo>
                    <a:pt x="299681" y="842367"/>
                    <a:pt x="362802" y="857069"/>
                    <a:pt x="428022" y="857069"/>
                  </a:cubicBezTo>
                  <a:cubicBezTo>
                    <a:pt x="475355" y="857069"/>
                    <a:pt x="522334" y="849159"/>
                    <a:pt x="567759" y="833612"/>
                  </a:cubicBezTo>
                  <a:close/>
                  <a:moveTo>
                    <a:pt x="249676" y="794498"/>
                  </a:moveTo>
                  <a:cubicBezTo>
                    <a:pt x="71631" y="707351"/>
                    <a:pt x="-17801" y="505917"/>
                    <a:pt x="37030" y="315557"/>
                  </a:cubicBezTo>
                  <a:cubicBezTo>
                    <a:pt x="43601" y="292781"/>
                    <a:pt x="52217" y="270415"/>
                    <a:pt x="62687" y="249031"/>
                  </a:cubicBezTo>
                  <a:cubicBezTo>
                    <a:pt x="75748" y="222273"/>
                    <a:pt x="91725" y="197015"/>
                    <a:pt x="110130" y="173940"/>
                  </a:cubicBezTo>
                  <a:cubicBezTo>
                    <a:pt x="228272" y="25694"/>
                    <a:pt x="437647" y="-21384"/>
                    <a:pt x="607949" y="61944"/>
                  </a:cubicBezTo>
                  <a:cubicBezTo>
                    <a:pt x="785995" y="149118"/>
                    <a:pt x="875427" y="350525"/>
                    <a:pt x="820595" y="540885"/>
                  </a:cubicBezTo>
                  <a:cubicBezTo>
                    <a:pt x="814051" y="563633"/>
                    <a:pt x="805408" y="586027"/>
                    <a:pt x="794938" y="607438"/>
                  </a:cubicBezTo>
                  <a:cubicBezTo>
                    <a:pt x="781769" y="634360"/>
                    <a:pt x="765736" y="659754"/>
                    <a:pt x="747250" y="682939"/>
                  </a:cubicBezTo>
                  <a:cubicBezTo>
                    <a:pt x="699262" y="743164"/>
                    <a:pt x="634833" y="788388"/>
                    <a:pt x="560943" y="813727"/>
                  </a:cubicBezTo>
                  <a:cubicBezTo>
                    <a:pt x="457851" y="849104"/>
                    <a:pt x="347288" y="842285"/>
                    <a:pt x="249649" y="794498"/>
                  </a:cubicBezTo>
                  <a:close/>
                </a:path>
              </a:pathLst>
            </a:custGeom>
            <a:solidFill>
              <a:schemeClr val="bg1">
                <a:lumMod val="85000"/>
              </a:schemeClr>
            </a:solidFill>
            <a:ln w="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BF774947-8428-F487-4855-CF39ED597386}"/>
                </a:ext>
              </a:extLst>
            </p:cNvPr>
            <p:cNvSpPr/>
            <p:nvPr/>
          </p:nvSpPr>
          <p:spPr>
            <a:xfrm>
              <a:off x="8072154" y="4588149"/>
              <a:ext cx="857664" cy="856823"/>
            </a:xfrm>
            <a:custGeom>
              <a:avLst/>
              <a:gdLst>
                <a:gd name="connsiteX0" fmla="*/ 765602 w 857664"/>
                <a:gd name="connsiteY0" fmla="*/ 163002 h 856823"/>
                <a:gd name="connsiteX1" fmla="*/ 427261 w 857664"/>
                <a:gd name="connsiteY1" fmla="*/ 0 h 856823"/>
                <a:gd name="connsiteX2" fmla="*/ 242890 w 857664"/>
                <a:gd name="connsiteY2" fmla="*/ 41923 h 856823"/>
                <a:gd name="connsiteX3" fmla="*/ 163710 w 857664"/>
                <a:gd name="connsiteY3" fmla="*/ 91402 h 856823"/>
                <a:gd name="connsiteX4" fmla="*/ 109069 w 857664"/>
                <a:gd name="connsiteY4" fmla="*/ 142708 h 856823"/>
                <a:gd name="connsiteX5" fmla="*/ 92109 w 857664"/>
                <a:gd name="connsiteY5" fmla="*/ 693494 h 856823"/>
                <a:gd name="connsiteX6" fmla="*/ 378237 w 857664"/>
                <a:gd name="connsiteY6" fmla="*/ 853769 h 856823"/>
                <a:gd name="connsiteX7" fmla="*/ 429715 w 857664"/>
                <a:gd name="connsiteY7" fmla="*/ 856823 h 856823"/>
                <a:gd name="connsiteX8" fmla="*/ 614386 w 857664"/>
                <a:gd name="connsiteY8" fmla="*/ 814846 h 856823"/>
                <a:gd name="connsiteX9" fmla="*/ 693948 w 857664"/>
                <a:gd name="connsiteY9" fmla="*/ 765094 h 856823"/>
                <a:gd name="connsiteX10" fmla="*/ 748616 w 857664"/>
                <a:gd name="connsiteY10" fmla="*/ 713760 h 856823"/>
                <a:gd name="connsiteX11" fmla="*/ 765575 w 857664"/>
                <a:gd name="connsiteY11" fmla="*/ 162975 h 856823"/>
                <a:gd name="connsiteX12" fmla="*/ 732993 w 857664"/>
                <a:gd name="connsiteY12" fmla="*/ 699822 h 856823"/>
                <a:gd name="connsiteX13" fmla="*/ 681024 w 857664"/>
                <a:gd name="connsiteY13" fmla="*/ 748646 h 856823"/>
                <a:gd name="connsiteX14" fmla="*/ 605307 w 857664"/>
                <a:gd name="connsiteY14" fmla="*/ 795971 h 856823"/>
                <a:gd name="connsiteX15" fmla="*/ 380746 w 857664"/>
                <a:gd name="connsiteY15" fmla="*/ 832957 h 856823"/>
                <a:gd name="connsiteX16" fmla="*/ 108605 w 857664"/>
                <a:gd name="connsiteY16" fmla="*/ 680538 h 856823"/>
                <a:gd name="connsiteX17" fmla="*/ 124720 w 857664"/>
                <a:gd name="connsiteY17" fmla="*/ 156728 h 856823"/>
                <a:gd name="connsiteX18" fmla="*/ 176688 w 857664"/>
                <a:gd name="connsiteY18" fmla="*/ 107931 h 856823"/>
                <a:gd name="connsiteX19" fmla="*/ 251996 w 857664"/>
                <a:gd name="connsiteY19" fmla="*/ 60880 h 856823"/>
                <a:gd name="connsiteX20" fmla="*/ 749079 w 857664"/>
                <a:gd name="connsiteY20" fmla="*/ 176067 h 856823"/>
                <a:gd name="connsiteX21" fmla="*/ 732965 w 857664"/>
                <a:gd name="connsiteY21" fmla="*/ 699877 h 85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664" h="856823">
                  <a:moveTo>
                    <a:pt x="765602" y="163002"/>
                  </a:moveTo>
                  <a:cubicBezTo>
                    <a:pt x="685250" y="60935"/>
                    <a:pt x="558764" y="0"/>
                    <a:pt x="427261" y="0"/>
                  </a:cubicBezTo>
                  <a:cubicBezTo>
                    <a:pt x="362641" y="0"/>
                    <a:pt x="300611" y="14102"/>
                    <a:pt x="242890" y="41923"/>
                  </a:cubicBezTo>
                  <a:cubicBezTo>
                    <a:pt x="214888" y="55425"/>
                    <a:pt x="188249" y="72063"/>
                    <a:pt x="163710" y="91402"/>
                  </a:cubicBezTo>
                  <a:cubicBezTo>
                    <a:pt x="144078" y="106840"/>
                    <a:pt x="125701" y="124106"/>
                    <a:pt x="109069" y="142708"/>
                  </a:cubicBezTo>
                  <a:cubicBezTo>
                    <a:pt x="-29687" y="298046"/>
                    <a:pt x="-36830" y="529674"/>
                    <a:pt x="92109" y="693494"/>
                  </a:cubicBezTo>
                  <a:cubicBezTo>
                    <a:pt x="162810" y="783314"/>
                    <a:pt x="264430" y="840240"/>
                    <a:pt x="378237" y="853769"/>
                  </a:cubicBezTo>
                  <a:cubicBezTo>
                    <a:pt x="395306" y="855814"/>
                    <a:pt x="412619" y="856823"/>
                    <a:pt x="429715" y="856823"/>
                  </a:cubicBezTo>
                  <a:cubicBezTo>
                    <a:pt x="493517" y="856823"/>
                    <a:pt x="557401" y="842313"/>
                    <a:pt x="614386" y="814846"/>
                  </a:cubicBezTo>
                  <a:cubicBezTo>
                    <a:pt x="642443" y="801317"/>
                    <a:pt x="669218" y="784596"/>
                    <a:pt x="693948" y="765094"/>
                  </a:cubicBezTo>
                  <a:cubicBezTo>
                    <a:pt x="713607" y="749629"/>
                    <a:pt x="731984" y="732363"/>
                    <a:pt x="748616" y="713760"/>
                  </a:cubicBezTo>
                  <a:cubicBezTo>
                    <a:pt x="887344" y="558450"/>
                    <a:pt x="894488" y="326822"/>
                    <a:pt x="765575" y="162975"/>
                  </a:cubicBezTo>
                  <a:close/>
                  <a:moveTo>
                    <a:pt x="732993" y="699822"/>
                  </a:moveTo>
                  <a:cubicBezTo>
                    <a:pt x="717233" y="717470"/>
                    <a:pt x="699728" y="733890"/>
                    <a:pt x="681024" y="748646"/>
                  </a:cubicBezTo>
                  <a:cubicBezTo>
                    <a:pt x="657466" y="767194"/>
                    <a:pt x="632000" y="783123"/>
                    <a:pt x="605307" y="795971"/>
                  </a:cubicBezTo>
                  <a:cubicBezTo>
                    <a:pt x="535942" y="829384"/>
                    <a:pt x="458289" y="842176"/>
                    <a:pt x="380746" y="832957"/>
                  </a:cubicBezTo>
                  <a:cubicBezTo>
                    <a:pt x="272500" y="820083"/>
                    <a:pt x="175870" y="765940"/>
                    <a:pt x="108605" y="680538"/>
                  </a:cubicBezTo>
                  <a:cubicBezTo>
                    <a:pt x="-14009" y="524737"/>
                    <a:pt x="-7220" y="304456"/>
                    <a:pt x="124720" y="156728"/>
                  </a:cubicBezTo>
                  <a:cubicBezTo>
                    <a:pt x="140506" y="139081"/>
                    <a:pt x="158011" y="122633"/>
                    <a:pt x="176688" y="107931"/>
                  </a:cubicBezTo>
                  <a:cubicBezTo>
                    <a:pt x="200082" y="89493"/>
                    <a:pt x="225412" y="73673"/>
                    <a:pt x="251996" y="60880"/>
                  </a:cubicBezTo>
                  <a:cubicBezTo>
                    <a:pt x="422735" y="-21385"/>
                    <a:pt x="631782" y="27058"/>
                    <a:pt x="749079" y="176067"/>
                  </a:cubicBezTo>
                  <a:cubicBezTo>
                    <a:pt x="871694" y="331868"/>
                    <a:pt x="864905" y="552177"/>
                    <a:pt x="732965" y="699877"/>
                  </a:cubicBezTo>
                  <a:close/>
                </a:path>
              </a:pathLst>
            </a:custGeom>
            <a:solidFill>
              <a:schemeClr val="bg1">
                <a:lumMod val="85000"/>
              </a:schemeClr>
            </a:solidFill>
            <a:ln w="0"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2639B8A3-962C-1656-ADD5-F68B377BABB7}"/>
              </a:ext>
            </a:extLst>
          </p:cNvPr>
          <p:cNvSpPr/>
          <p:nvPr/>
        </p:nvSpPr>
        <p:spPr>
          <a:xfrm>
            <a:off x="4723094" y="3257808"/>
            <a:ext cx="2577785" cy="257778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bg1"/>
                </a:solidFill>
                <a:latin typeface="Manrope SemiBold" pitchFamily="2" charset="0"/>
              </a:rPr>
              <a:t>Quality Management</a:t>
            </a:r>
            <a:endParaRPr lang="en-IN" sz="1800" b="1" dirty="0">
              <a:solidFill>
                <a:schemeClr val="bg1"/>
              </a:solidFill>
              <a:latin typeface="Manrope SemiBold" pitchFamily="2" charset="0"/>
            </a:endParaRPr>
          </a:p>
        </p:txBody>
      </p:sp>
      <p:pic>
        <p:nvPicPr>
          <p:cNvPr id="35" name="Graphic 34">
            <a:extLst>
              <a:ext uri="{FF2B5EF4-FFF2-40B4-BE49-F238E27FC236}">
                <a16:creationId xmlns:a16="http://schemas.microsoft.com/office/drawing/2014/main" id="{FC5D0E74-A83A-7CB0-C2AD-A49A5689E2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69932" y="1877791"/>
            <a:ext cx="538015" cy="492708"/>
          </a:xfrm>
          <a:prstGeom prst="rect">
            <a:avLst/>
          </a:prstGeom>
        </p:spPr>
      </p:pic>
      <p:pic>
        <p:nvPicPr>
          <p:cNvPr id="37" name="Graphic 36">
            <a:extLst>
              <a:ext uri="{FF2B5EF4-FFF2-40B4-BE49-F238E27FC236}">
                <a16:creationId xmlns:a16="http://schemas.microsoft.com/office/drawing/2014/main" id="{99B8DF16-2DB1-DF12-94E4-FA83EAC898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86451" y="2274526"/>
            <a:ext cx="470055" cy="524801"/>
          </a:xfrm>
          <a:prstGeom prst="rect">
            <a:avLst/>
          </a:prstGeom>
        </p:spPr>
      </p:pic>
      <p:pic>
        <p:nvPicPr>
          <p:cNvPr id="39" name="Graphic 38">
            <a:extLst>
              <a:ext uri="{FF2B5EF4-FFF2-40B4-BE49-F238E27FC236}">
                <a16:creationId xmlns:a16="http://schemas.microsoft.com/office/drawing/2014/main" id="{6D835092-B90D-0839-6A31-D16AED3BD4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24577" y="3409604"/>
            <a:ext cx="463363" cy="463363"/>
          </a:xfrm>
          <a:prstGeom prst="rect">
            <a:avLst/>
          </a:prstGeom>
        </p:spPr>
      </p:pic>
      <p:pic>
        <p:nvPicPr>
          <p:cNvPr id="41" name="Graphic 40">
            <a:extLst>
              <a:ext uri="{FF2B5EF4-FFF2-40B4-BE49-F238E27FC236}">
                <a16:creationId xmlns:a16="http://schemas.microsoft.com/office/drawing/2014/main" id="{CDA816DE-87BD-4941-8F4A-703A7308A2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50985" y="4732732"/>
            <a:ext cx="541790" cy="541790"/>
          </a:xfrm>
          <a:prstGeom prst="rect">
            <a:avLst/>
          </a:prstGeom>
        </p:spPr>
      </p:pic>
      <p:pic>
        <p:nvPicPr>
          <p:cNvPr id="43" name="Graphic 42">
            <a:extLst>
              <a:ext uri="{FF2B5EF4-FFF2-40B4-BE49-F238E27FC236}">
                <a16:creationId xmlns:a16="http://schemas.microsoft.com/office/drawing/2014/main" id="{D4320881-3F1D-BF63-5794-FD8900E389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3844" y="2257976"/>
            <a:ext cx="524801" cy="530465"/>
          </a:xfrm>
          <a:prstGeom prst="rect">
            <a:avLst/>
          </a:prstGeom>
        </p:spPr>
      </p:pic>
      <p:pic>
        <p:nvPicPr>
          <p:cNvPr id="45" name="Graphic 44">
            <a:extLst>
              <a:ext uri="{FF2B5EF4-FFF2-40B4-BE49-F238E27FC236}">
                <a16:creationId xmlns:a16="http://schemas.microsoft.com/office/drawing/2014/main" id="{7EEFC694-593C-33FE-308B-230B5C4DE5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84926" y="3407469"/>
            <a:ext cx="492536" cy="492536"/>
          </a:xfrm>
          <a:prstGeom prst="rect">
            <a:avLst/>
          </a:prstGeom>
        </p:spPr>
      </p:pic>
      <p:pic>
        <p:nvPicPr>
          <p:cNvPr id="47" name="Graphic 46">
            <a:extLst>
              <a:ext uri="{FF2B5EF4-FFF2-40B4-BE49-F238E27FC236}">
                <a16:creationId xmlns:a16="http://schemas.microsoft.com/office/drawing/2014/main" id="{84BCBA58-A1D2-1D52-5ADA-EEC64E7A3E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15399" y="4710293"/>
            <a:ext cx="573128" cy="575205"/>
          </a:xfrm>
          <a:prstGeom prst="rect">
            <a:avLst/>
          </a:prstGeom>
        </p:spPr>
      </p:pic>
    </p:spTree>
    <p:extLst>
      <p:ext uri="{BB962C8B-B14F-4D97-AF65-F5344CB8AC3E}">
        <p14:creationId xmlns:p14="http://schemas.microsoft.com/office/powerpoint/2010/main" val="3724190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E3F04A8-0FD3-1B3E-0647-DC26CC288867}"/>
              </a:ext>
            </a:extLst>
          </p:cNvPr>
          <p:cNvSpPr/>
          <p:nvPr/>
        </p:nvSpPr>
        <p:spPr>
          <a:xfrm>
            <a:off x="2882096" y="1564929"/>
            <a:ext cx="8686016" cy="4231738"/>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2" name="Text Placeholder 1">
            <a:extLst>
              <a:ext uri="{FF2B5EF4-FFF2-40B4-BE49-F238E27FC236}">
                <a16:creationId xmlns:a16="http://schemas.microsoft.com/office/drawing/2014/main" id="{504FEE55-5D5B-D9C2-A442-4471E7D826E0}"/>
              </a:ext>
            </a:extLst>
          </p:cNvPr>
          <p:cNvSpPr>
            <a:spLocks noGrp="1"/>
          </p:cNvSpPr>
          <p:nvPr>
            <p:ph type="body" sz="quarter" idx="15"/>
          </p:nvPr>
        </p:nvSpPr>
        <p:spPr>
          <a:xfrm flipH="1">
            <a:off x="623888" y="457200"/>
            <a:ext cx="8172450" cy="244101"/>
          </a:xfrm>
        </p:spPr>
        <p:txBody>
          <a:bodyPr/>
          <a:lstStyle/>
          <a:p>
            <a:r>
              <a:rPr lang="en-US"/>
              <a:t>Process &amp; Architecture Governance</a:t>
            </a:r>
          </a:p>
        </p:txBody>
      </p:sp>
      <p:sp>
        <p:nvSpPr>
          <p:cNvPr id="4" name="Rectangle 3">
            <a:extLst>
              <a:ext uri="{FF2B5EF4-FFF2-40B4-BE49-F238E27FC236}">
                <a16:creationId xmlns:a16="http://schemas.microsoft.com/office/drawing/2014/main" id="{5056CDC1-CCA0-4261-98FD-8F0DCBEACB4C}"/>
              </a:ext>
            </a:extLst>
          </p:cNvPr>
          <p:cNvSpPr/>
          <p:nvPr/>
        </p:nvSpPr>
        <p:spPr>
          <a:xfrm>
            <a:off x="623888" y="1564928"/>
            <a:ext cx="2258208" cy="1410581"/>
          </a:xfrm>
          <a:prstGeom prst="rect">
            <a:avLst/>
          </a:prstGeom>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Manrope" pitchFamily="2" charset="0"/>
                <a:ea typeface="+mj-ea"/>
                <a:cs typeface="Segoe UI" panose="020B0502040204020203" pitchFamily="34" charset="0"/>
              </a:rPr>
              <a:t>Implementation Governance</a:t>
            </a:r>
          </a:p>
        </p:txBody>
      </p:sp>
      <p:sp>
        <p:nvSpPr>
          <p:cNvPr id="5" name="TextBox 22">
            <a:extLst>
              <a:ext uri="{FF2B5EF4-FFF2-40B4-BE49-F238E27FC236}">
                <a16:creationId xmlns:a16="http://schemas.microsoft.com/office/drawing/2014/main" id="{F9DA5AF8-6F96-FCF5-2351-FE1A40F5F20B}"/>
              </a:ext>
            </a:extLst>
          </p:cNvPr>
          <p:cNvSpPr txBox="1">
            <a:spLocks/>
          </p:cNvSpPr>
          <p:nvPr/>
        </p:nvSpPr>
        <p:spPr>
          <a:xfrm>
            <a:off x="3059783" y="2039386"/>
            <a:ext cx="2188009" cy="461665"/>
          </a:xfrm>
          <a:prstGeom prst="rect">
            <a:avLst/>
          </a:prstGeom>
        </p:spPr>
        <p:txBody>
          <a:bodyPr wrap="square" lIns="0" tIns="0" rIns="0" bIns="0" rtlCol="0" anchor="ctr">
            <a:spAutoFit/>
          </a:bodyPr>
          <a:lstStyle/>
          <a:p>
            <a:pPr algn="ctr"/>
            <a:r>
              <a:rPr lang="en-US" sz="1500">
                <a:latin typeface="Manrope" pitchFamily="2" charset="0"/>
              </a:rPr>
              <a:t>Business, Program Manager</a:t>
            </a:r>
          </a:p>
        </p:txBody>
      </p:sp>
      <p:grpSp>
        <p:nvGrpSpPr>
          <p:cNvPr id="9" name="Group 8">
            <a:extLst>
              <a:ext uri="{FF2B5EF4-FFF2-40B4-BE49-F238E27FC236}">
                <a16:creationId xmlns:a16="http://schemas.microsoft.com/office/drawing/2014/main" id="{C60B63FC-7591-8534-89BF-AB400EC2B7F9}"/>
              </a:ext>
            </a:extLst>
          </p:cNvPr>
          <p:cNvGrpSpPr/>
          <p:nvPr/>
        </p:nvGrpSpPr>
        <p:grpSpPr>
          <a:xfrm>
            <a:off x="5518078" y="1980936"/>
            <a:ext cx="578564" cy="578564"/>
            <a:chOff x="5999716" y="1853785"/>
            <a:chExt cx="578564" cy="578564"/>
          </a:xfrm>
        </p:grpSpPr>
        <p:sp>
          <p:nvSpPr>
            <p:cNvPr id="7" name="Oval 6">
              <a:extLst>
                <a:ext uri="{FF2B5EF4-FFF2-40B4-BE49-F238E27FC236}">
                  <a16:creationId xmlns:a16="http://schemas.microsoft.com/office/drawing/2014/main" id="{337ACB28-F098-EA37-181C-085F26FF6102}"/>
                </a:ext>
              </a:extLst>
            </p:cNvPr>
            <p:cNvSpPr/>
            <p:nvPr/>
          </p:nvSpPr>
          <p:spPr>
            <a:xfrm>
              <a:off x="5999716" y="1853785"/>
              <a:ext cx="578564" cy="5785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8" name="Picture 7">
              <a:extLst>
                <a:ext uri="{FF2B5EF4-FFF2-40B4-BE49-F238E27FC236}">
                  <a16:creationId xmlns:a16="http://schemas.microsoft.com/office/drawing/2014/main" id="{5B1B4AF0-2435-157B-E598-C95771C929D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131742" y="1985811"/>
              <a:ext cx="314512" cy="314512"/>
            </a:xfrm>
            <a:prstGeom prst="rect">
              <a:avLst/>
            </a:prstGeom>
          </p:spPr>
        </p:pic>
      </p:grpSp>
      <p:sp>
        <p:nvSpPr>
          <p:cNvPr id="10" name="TextBox 23">
            <a:extLst>
              <a:ext uri="{FF2B5EF4-FFF2-40B4-BE49-F238E27FC236}">
                <a16:creationId xmlns:a16="http://schemas.microsoft.com/office/drawing/2014/main" id="{EF669333-413A-2C05-B3D2-50F4A315DB1E}"/>
              </a:ext>
            </a:extLst>
          </p:cNvPr>
          <p:cNvSpPr txBox="1"/>
          <p:nvPr/>
        </p:nvSpPr>
        <p:spPr>
          <a:xfrm>
            <a:off x="6228668" y="2154803"/>
            <a:ext cx="2188009" cy="230832"/>
          </a:xfrm>
          <a:prstGeom prst="rect">
            <a:avLst/>
          </a:prstGeom>
        </p:spPr>
        <p:txBody>
          <a:bodyPr wrap="square" lIns="0" tIns="0" rIns="0" bIns="0" rtlCol="0" anchor="ctr">
            <a:spAutoFit/>
          </a:bodyPr>
          <a:lstStyle>
            <a:defPPr>
              <a:defRPr lang="en-US"/>
            </a:defPPr>
            <a:lvl1pPr>
              <a:defRPr b="1"/>
            </a:lvl1pPr>
          </a:lstStyle>
          <a:p>
            <a:pPr algn="ctr"/>
            <a:r>
              <a:rPr lang="en-US" sz="1500" b="0">
                <a:latin typeface="Manrope" pitchFamily="2" charset="0"/>
              </a:rPr>
              <a:t>Hexaware PMO</a:t>
            </a:r>
          </a:p>
        </p:txBody>
      </p:sp>
      <p:sp>
        <p:nvSpPr>
          <p:cNvPr id="13" name="TextBox 27">
            <a:extLst>
              <a:ext uri="{FF2B5EF4-FFF2-40B4-BE49-F238E27FC236}">
                <a16:creationId xmlns:a16="http://schemas.microsoft.com/office/drawing/2014/main" id="{7EFAB397-3C56-CC8B-813C-B3EA5E8CDC5C}"/>
              </a:ext>
            </a:extLst>
          </p:cNvPr>
          <p:cNvSpPr txBox="1">
            <a:spLocks/>
          </p:cNvSpPr>
          <p:nvPr/>
        </p:nvSpPr>
        <p:spPr>
          <a:xfrm>
            <a:off x="8548703" y="1701729"/>
            <a:ext cx="2942030" cy="1257267"/>
          </a:xfrm>
          <a:prstGeom prst="rect">
            <a:avLst/>
          </a:prstGeom>
        </p:spPr>
        <p:txBody>
          <a:bodyPr wrap="square" lIns="0" tIns="0" rIns="0" bIns="0" rtlCol="0" anchor="t">
            <a:spAutoFit/>
          </a:bodyPr>
          <a:lstStyle/>
          <a:p>
            <a:pPr marL="227013" lvl="1" indent="-169863">
              <a:lnSpc>
                <a:spcPct val="90000"/>
              </a:lnSpc>
              <a:spcAft>
                <a:spcPts val="6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SDLC governance</a:t>
            </a:r>
          </a:p>
          <a:p>
            <a:pPr marL="227013" lvl="1" indent="-169863">
              <a:lnSpc>
                <a:spcPct val="90000"/>
              </a:lnSpc>
              <a:spcAft>
                <a:spcPts val="6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Standard &amp; guidelines review</a:t>
            </a:r>
          </a:p>
          <a:p>
            <a:pPr marL="227013" lvl="1" indent="-169863">
              <a:lnSpc>
                <a:spcPct val="90000"/>
              </a:lnSpc>
              <a:spcAft>
                <a:spcPts val="6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Review deviation from design</a:t>
            </a:r>
          </a:p>
          <a:p>
            <a:pPr marL="227013" marR="0" lvl="1" indent="-169863" fontAlgn="auto">
              <a:lnSpc>
                <a:spcPct val="90000"/>
              </a:lnSpc>
              <a:spcAft>
                <a:spcPts val="600"/>
              </a:spcAft>
              <a:buClr>
                <a:schemeClr val="accent1"/>
              </a:buClr>
              <a:buSzTx/>
              <a:buFont typeface="Arial" panose="020B0604020202020204" pitchFamily="34" charset="0"/>
              <a:buChar char="•"/>
              <a:tabLst/>
              <a:defRPr/>
            </a:pPr>
            <a:r>
              <a:rPr lang="en-US" sz="900">
                <a:latin typeface="Manrope" pitchFamily="2" charset="0"/>
                <a:ea typeface="Lato" panose="020F0502020204030203" pitchFamily="34" charset="0"/>
                <a:cs typeface="Segoe UI" panose="020B0502040204020203" pitchFamily="34" charset="0"/>
              </a:rPr>
              <a:t>Client value adds</a:t>
            </a:r>
          </a:p>
          <a:p>
            <a:pPr marL="227013" marR="0" lvl="1" indent="-169863" fontAlgn="auto">
              <a:lnSpc>
                <a:spcPct val="90000"/>
              </a:lnSpc>
              <a:spcAft>
                <a:spcPts val="600"/>
              </a:spcAft>
              <a:buClr>
                <a:schemeClr val="accent1"/>
              </a:buClr>
              <a:buSzTx/>
              <a:buFont typeface="Arial" panose="020B0604020202020204" pitchFamily="34" charset="0"/>
              <a:buChar char="•"/>
              <a:tabLst/>
              <a:defRPr/>
            </a:pPr>
            <a:r>
              <a:rPr lang="en-US" sz="900">
                <a:latin typeface="Manrope" pitchFamily="2" charset="0"/>
                <a:ea typeface="Lato" panose="020F0502020204030203" pitchFamily="34" charset="0"/>
                <a:cs typeface="Segoe UI" panose="020B0502040204020203" pitchFamily="34" charset="0"/>
              </a:rPr>
              <a:t>Strategic direction inputs</a:t>
            </a:r>
          </a:p>
          <a:p>
            <a:pPr marL="227013" lvl="1" indent="-169863">
              <a:lnSpc>
                <a:spcPct val="90000"/>
              </a:lnSpc>
              <a:spcAft>
                <a:spcPts val="600"/>
              </a:spcAft>
              <a:buClr>
                <a:schemeClr val="accent1"/>
              </a:buClr>
              <a:buFont typeface="Arial" panose="020B0604020202020204" pitchFamily="34" charset="0"/>
              <a:buChar char="•"/>
              <a:defRPr/>
            </a:pPr>
            <a:r>
              <a:rPr lang="en-US" sz="900">
                <a:latin typeface="Manrope" pitchFamily="2" charset="0"/>
                <a:ea typeface="Lato" panose="020F0502020204030203" pitchFamily="34" charset="0"/>
                <a:cs typeface="Segoe UI" panose="020B0502040204020203" pitchFamily="34" charset="0"/>
              </a:rPr>
              <a:t>Establish program success with executive attention</a:t>
            </a:r>
          </a:p>
        </p:txBody>
      </p:sp>
      <p:sp>
        <p:nvSpPr>
          <p:cNvPr id="14" name="AutoShape 14">
            <a:extLst>
              <a:ext uri="{FF2B5EF4-FFF2-40B4-BE49-F238E27FC236}">
                <a16:creationId xmlns:a16="http://schemas.microsoft.com/office/drawing/2014/main" id="{902A8BD0-270C-3630-6505-0B3FD6D73BB6}"/>
              </a:ext>
            </a:extLst>
          </p:cNvPr>
          <p:cNvSpPr>
            <a:spLocks/>
          </p:cNvSpPr>
          <p:nvPr/>
        </p:nvSpPr>
        <p:spPr>
          <a:xfrm flipV="1">
            <a:off x="2882096" y="2975507"/>
            <a:ext cx="868601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15" name="Rectangle 14">
            <a:extLst>
              <a:ext uri="{FF2B5EF4-FFF2-40B4-BE49-F238E27FC236}">
                <a16:creationId xmlns:a16="http://schemas.microsoft.com/office/drawing/2014/main" id="{95513478-E5C6-0515-0953-0D679A662D54}"/>
              </a:ext>
            </a:extLst>
          </p:cNvPr>
          <p:cNvSpPr/>
          <p:nvPr/>
        </p:nvSpPr>
        <p:spPr>
          <a:xfrm>
            <a:off x="623888" y="2975507"/>
            <a:ext cx="2258208" cy="1410581"/>
          </a:xfrm>
          <a:prstGeom prst="rect">
            <a:avLst/>
          </a:prstGeom>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Manrope" pitchFamily="2" charset="0"/>
                <a:ea typeface="+mj-ea"/>
                <a:cs typeface="Segoe UI" panose="020B0502040204020203" pitchFamily="34" charset="0"/>
              </a:rPr>
              <a:t>Architecture Governance</a:t>
            </a:r>
          </a:p>
        </p:txBody>
      </p:sp>
      <p:sp>
        <p:nvSpPr>
          <p:cNvPr id="23" name="TextBox 22">
            <a:extLst>
              <a:ext uri="{FF2B5EF4-FFF2-40B4-BE49-F238E27FC236}">
                <a16:creationId xmlns:a16="http://schemas.microsoft.com/office/drawing/2014/main" id="{41476A05-163E-E951-8F85-BCD1438ADA0B}"/>
              </a:ext>
            </a:extLst>
          </p:cNvPr>
          <p:cNvSpPr txBox="1">
            <a:spLocks/>
          </p:cNvSpPr>
          <p:nvPr/>
        </p:nvSpPr>
        <p:spPr>
          <a:xfrm>
            <a:off x="3059783" y="3565381"/>
            <a:ext cx="2188009" cy="230832"/>
          </a:xfrm>
          <a:prstGeom prst="rect">
            <a:avLst/>
          </a:prstGeom>
        </p:spPr>
        <p:txBody>
          <a:bodyPr wrap="square" lIns="0" tIns="0" rIns="0" bIns="0" rtlCol="0" anchor="ctr">
            <a:spAutoFit/>
          </a:bodyPr>
          <a:lstStyle/>
          <a:p>
            <a:pPr algn="ctr"/>
            <a:r>
              <a:rPr lang="en-US" sz="1500">
                <a:latin typeface="Manrope" pitchFamily="2" charset="0"/>
              </a:rPr>
              <a:t>Enterprise Architect</a:t>
            </a:r>
          </a:p>
        </p:txBody>
      </p:sp>
      <p:grpSp>
        <p:nvGrpSpPr>
          <p:cNvPr id="25" name="Group 24">
            <a:extLst>
              <a:ext uri="{FF2B5EF4-FFF2-40B4-BE49-F238E27FC236}">
                <a16:creationId xmlns:a16="http://schemas.microsoft.com/office/drawing/2014/main" id="{194FB027-9FB9-F2B7-9E26-3B2B60A05378}"/>
              </a:ext>
            </a:extLst>
          </p:cNvPr>
          <p:cNvGrpSpPr/>
          <p:nvPr/>
        </p:nvGrpSpPr>
        <p:grpSpPr>
          <a:xfrm>
            <a:off x="5518078" y="3391515"/>
            <a:ext cx="578564" cy="578564"/>
            <a:chOff x="5999716" y="1853785"/>
            <a:chExt cx="578564" cy="578564"/>
          </a:xfrm>
        </p:grpSpPr>
        <p:sp>
          <p:nvSpPr>
            <p:cNvPr id="33" name="Oval 32">
              <a:extLst>
                <a:ext uri="{FF2B5EF4-FFF2-40B4-BE49-F238E27FC236}">
                  <a16:creationId xmlns:a16="http://schemas.microsoft.com/office/drawing/2014/main" id="{3FB9695A-026E-E2E9-3A90-A3F8DB4AE3FD}"/>
                </a:ext>
              </a:extLst>
            </p:cNvPr>
            <p:cNvSpPr/>
            <p:nvPr/>
          </p:nvSpPr>
          <p:spPr>
            <a:xfrm>
              <a:off x="5999716" y="1853785"/>
              <a:ext cx="578564" cy="5785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36" name="Picture 35">
              <a:extLst>
                <a:ext uri="{FF2B5EF4-FFF2-40B4-BE49-F238E27FC236}">
                  <a16:creationId xmlns:a16="http://schemas.microsoft.com/office/drawing/2014/main" id="{063B68AD-349A-F2BE-93D2-7A44E577725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131742" y="1985811"/>
              <a:ext cx="314512" cy="314512"/>
            </a:xfrm>
            <a:prstGeom prst="rect">
              <a:avLst/>
            </a:prstGeom>
          </p:spPr>
        </p:pic>
      </p:grpSp>
      <p:sp>
        <p:nvSpPr>
          <p:cNvPr id="47" name="TextBox 23">
            <a:extLst>
              <a:ext uri="{FF2B5EF4-FFF2-40B4-BE49-F238E27FC236}">
                <a16:creationId xmlns:a16="http://schemas.microsoft.com/office/drawing/2014/main" id="{3F30553E-19C4-8733-22A3-D210B59ED3D8}"/>
              </a:ext>
            </a:extLst>
          </p:cNvPr>
          <p:cNvSpPr txBox="1"/>
          <p:nvPr/>
        </p:nvSpPr>
        <p:spPr>
          <a:xfrm>
            <a:off x="6228668" y="3449966"/>
            <a:ext cx="2188009" cy="461665"/>
          </a:xfrm>
          <a:prstGeom prst="rect">
            <a:avLst/>
          </a:prstGeom>
        </p:spPr>
        <p:txBody>
          <a:bodyPr wrap="square" lIns="0" tIns="0" rIns="0" bIns="0" rtlCol="0" anchor="ctr">
            <a:spAutoFit/>
          </a:bodyPr>
          <a:lstStyle>
            <a:defPPr>
              <a:defRPr lang="en-US"/>
            </a:defPPr>
            <a:lvl1pPr>
              <a:defRPr b="1"/>
            </a:lvl1pPr>
          </a:lstStyle>
          <a:p>
            <a:pPr algn="ctr"/>
            <a:r>
              <a:rPr lang="en-US" sz="1500" b="0">
                <a:latin typeface="Manrope" pitchFamily="2" charset="0"/>
              </a:rPr>
              <a:t>Hexaware</a:t>
            </a:r>
          </a:p>
          <a:p>
            <a:pPr algn="ctr"/>
            <a:r>
              <a:rPr lang="en-US" sz="1500" b="0">
                <a:latin typeface="Manrope" pitchFamily="2" charset="0"/>
              </a:rPr>
              <a:t>Architect</a:t>
            </a:r>
          </a:p>
        </p:txBody>
      </p:sp>
      <p:sp>
        <p:nvSpPr>
          <p:cNvPr id="48" name="TextBox 27">
            <a:extLst>
              <a:ext uri="{FF2B5EF4-FFF2-40B4-BE49-F238E27FC236}">
                <a16:creationId xmlns:a16="http://schemas.microsoft.com/office/drawing/2014/main" id="{40F9B8C3-EE1C-B653-696A-6CF8D71E2CA3}"/>
              </a:ext>
            </a:extLst>
          </p:cNvPr>
          <p:cNvSpPr txBox="1">
            <a:spLocks/>
          </p:cNvSpPr>
          <p:nvPr/>
        </p:nvSpPr>
        <p:spPr>
          <a:xfrm>
            <a:off x="8533483" y="3391231"/>
            <a:ext cx="2942030" cy="579133"/>
          </a:xfrm>
          <a:prstGeom prst="rect">
            <a:avLst/>
          </a:prstGeom>
        </p:spPr>
        <p:txBody>
          <a:bodyPr wrap="square" lIns="0" tIns="0" rIns="0" bIns="0" rtlCol="0" anchor="t">
            <a:spAutoFit/>
          </a:bodyPr>
          <a:lstStyle/>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Architecture review</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Data model review</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Technical design review</a:t>
            </a:r>
          </a:p>
        </p:txBody>
      </p:sp>
      <p:sp>
        <p:nvSpPr>
          <p:cNvPr id="49" name="AutoShape 14">
            <a:extLst>
              <a:ext uri="{FF2B5EF4-FFF2-40B4-BE49-F238E27FC236}">
                <a16:creationId xmlns:a16="http://schemas.microsoft.com/office/drawing/2014/main" id="{3656507A-14FB-37D5-F8EC-34484E703AAF}"/>
              </a:ext>
            </a:extLst>
          </p:cNvPr>
          <p:cNvSpPr>
            <a:spLocks/>
          </p:cNvSpPr>
          <p:nvPr/>
        </p:nvSpPr>
        <p:spPr>
          <a:xfrm flipV="1">
            <a:off x="623888" y="4386086"/>
            <a:ext cx="10944224" cy="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51" name="AutoShape 14">
            <a:extLst>
              <a:ext uri="{FF2B5EF4-FFF2-40B4-BE49-F238E27FC236}">
                <a16:creationId xmlns:a16="http://schemas.microsoft.com/office/drawing/2014/main" id="{6469855F-4641-6F5E-C154-658BF1DFEAFB}"/>
              </a:ext>
            </a:extLst>
          </p:cNvPr>
          <p:cNvSpPr>
            <a:spLocks/>
          </p:cNvSpPr>
          <p:nvPr/>
        </p:nvSpPr>
        <p:spPr>
          <a:xfrm flipV="1">
            <a:off x="623888" y="4386076"/>
            <a:ext cx="10944224" cy="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52" name="Rectangle 51">
            <a:extLst>
              <a:ext uri="{FF2B5EF4-FFF2-40B4-BE49-F238E27FC236}">
                <a16:creationId xmlns:a16="http://schemas.microsoft.com/office/drawing/2014/main" id="{94797D3F-0A87-6540-E33D-25B1B6A50CE3}"/>
              </a:ext>
            </a:extLst>
          </p:cNvPr>
          <p:cNvSpPr/>
          <p:nvPr/>
        </p:nvSpPr>
        <p:spPr>
          <a:xfrm>
            <a:off x="623888" y="4386076"/>
            <a:ext cx="2258208" cy="1410581"/>
          </a:xfrm>
          <a:prstGeom prst="rect">
            <a:avLst/>
          </a:prstGeom>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Manrope" pitchFamily="2" charset="0"/>
                <a:ea typeface="+mj-ea"/>
                <a:cs typeface="Segoe UI" panose="020B0502040204020203" pitchFamily="34" charset="0"/>
              </a:rPr>
              <a:t>Process</a:t>
            </a:r>
          </a:p>
          <a:p>
            <a:pPr algn="ctr"/>
            <a:r>
              <a:rPr lang="en-US" sz="1600" b="1">
                <a:solidFill>
                  <a:schemeClr val="bg1"/>
                </a:solidFill>
                <a:latin typeface="Manrope" pitchFamily="2" charset="0"/>
                <a:ea typeface="+mj-ea"/>
                <a:cs typeface="Segoe UI" panose="020B0502040204020203" pitchFamily="34" charset="0"/>
              </a:rPr>
              <a:t> Governance</a:t>
            </a:r>
          </a:p>
        </p:txBody>
      </p:sp>
      <p:sp>
        <p:nvSpPr>
          <p:cNvPr id="53" name="TextBox 52">
            <a:extLst>
              <a:ext uri="{FF2B5EF4-FFF2-40B4-BE49-F238E27FC236}">
                <a16:creationId xmlns:a16="http://schemas.microsoft.com/office/drawing/2014/main" id="{6E2C9441-4664-49FC-DA9B-2DFD8990C6BC}"/>
              </a:ext>
            </a:extLst>
          </p:cNvPr>
          <p:cNvSpPr txBox="1">
            <a:spLocks/>
          </p:cNvSpPr>
          <p:nvPr/>
        </p:nvSpPr>
        <p:spPr>
          <a:xfrm>
            <a:off x="3059783" y="4745118"/>
            <a:ext cx="2188009" cy="692497"/>
          </a:xfrm>
          <a:prstGeom prst="rect">
            <a:avLst/>
          </a:prstGeom>
        </p:spPr>
        <p:txBody>
          <a:bodyPr wrap="square" lIns="0" tIns="0" rIns="0" bIns="0" rtlCol="0" anchor="ctr">
            <a:spAutoFit/>
          </a:bodyPr>
          <a:lstStyle/>
          <a:p>
            <a:pPr algn="ctr"/>
            <a:r>
              <a:rPr lang="en-US" sz="1500">
                <a:latin typeface="Manrope" pitchFamily="2" charset="0"/>
              </a:rPr>
              <a:t>Business Stake</a:t>
            </a:r>
          </a:p>
          <a:p>
            <a:pPr algn="ctr"/>
            <a:r>
              <a:rPr lang="en-US" sz="1500">
                <a:latin typeface="Manrope" pitchFamily="2" charset="0"/>
              </a:rPr>
              <a:t>Holders, Process</a:t>
            </a:r>
          </a:p>
          <a:p>
            <a:pPr algn="ctr"/>
            <a:r>
              <a:rPr lang="en-US" sz="1500">
                <a:latin typeface="Manrope" pitchFamily="2" charset="0"/>
              </a:rPr>
              <a:t>Leads</a:t>
            </a:r>
          </a:p>
        </p:txBody>
      </p:sp>
      <p:grpSp>
        <p:nvGrpSpPr>
          <p:cNvPr id="54" name="Group 53">
            <a:extLst>
              <a:ext uri="{FF2B5EF4-FFF2-40B4-BE49-F238E27FC236}">
                <a16:creationId xmlns:a16="http://schemas.microsoft.com/office/drawing/2014/main" id="{F07374CC-C11A-3C97-21F3-B27CB9580CA3}"/>
              </a:ext>
            </a:extLst>
          </p:cNvPr>
          <p:cNvGrpSpPr/>
          <p:nvPr/>
        </p:nvGrpSpPr>
        <p:grpSpPr>
          <a:xfrm>
            <a:off x="5518078" y="4802084"/>
            <a:ext cx="578564" cy="578564"/>
            <a:chOff x="5999716" y="1853785"/>
            <a:chExt cx="578564" cy="578564"/>
          </a:xfrm>
        </p:grpSpPr>
        <p:sp>
          <p:nvSpPr>
            <p:cNvPr id="55" name="Oval 54">
              <a:extLst>
                <a:ext uri="{FF2B5EF4-FFF2-40B4-BE49-F238E27FC236}">
                  <a16:creationId xmlns:a16="http://schemas.microsoft.com/office/drawing/2014/main" id="{1234E751-9B2B-38AB-5887-E8C226066073}"/>
                </a:ext>
              </a:extLst>
            </p:cNvPr>
            <p:cNvSpPr/>
            <p:nvPr/>
          </p:nvSpPr>
          <p:spPr>
            <a:xfrm>
              <a:off x="5999716" y="1853785"/>
              <a:ext cx="578564" cy="5785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56" name="Picture 55">
              <a:extLst>
                <a:ext uri="{FF2B5EF4-FFF2-40B4-BE49-F238E27FC236}">
                  <a16:creationId xmlns:a16="http://schemas.microsoft.com/office/drawing/2014/main" id="{5202308E-AA98-3233-2C32-B2AEEE5200A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131742" y="1985811"/>
              <a:ext cx="314512" cy="314512"/>
            </a:xfrm>
            <a:prstGeom prst="rect">
              <a:avLst/>
            </a:prstGeom>
          </p:spPr>
        </p:pic>
      </p:grpSp>
      <p:sp>
        <p:nvSpPr>
          <p:cNvPr id="57" name="TextBox 23">
            <a:extLst>
              <a:ext uri="{FF2B5EF4-FFF2-40B4-BE49-F238E27FC236}">
                <a16:creationId xmlns:a16="http://schemas.microsoft.com/office/drawing/2014/main" id="{885DA583-06F6-DCA8-1635-7B9371AFAB62}"/>
              </a:ext>
            </a:extLst>
          </p:cNvPr>
          <p:cNvSpPr txBox="1"/>
          <p:nvPr/>
        </p:nvSpPr>
        <p:spPr>
          <a:xfrm>
            <a:off x="6228668" y="4745119"/>
            <a:ext cx="2188009" cy="692497"/>
          </a:xfrm>
          <a:prstGeom prst="rect">
            <a:avLst/>
          </a:prstGeom>
        </p:spPr>
        <p:txBody>
          <a:bodyPr wrap="square" lIns="0" tIns="0" rIns="0" bIns="0" rtlCol="0" anchor="ctr">
            <a:spAutoFit/>
          </a:bodyPr>
          <a:lstStyle>
            <a:defPPr>
              <a:defRPr lang="en-US"/>
            </a:defPPr>
            <a:lvl1pPr>
              <a:defRPr b="1"/>
            </a:lvl1pPr>
          </a:lstStyle>
          <a:p>
            <a:pPr algn="ctr"/>
            <a:r>
              <a:rPr lang="en-US" sz="1500" b="0">
                <a:latin typeface="Manrope" pitchFamily="2" charset="0"/>
              </a:rPr>
              <a:t>Hexaware</a:t>
            </a:r>
          </a:p>
          <a:p>
            <a:pPr algn="ctr"/>
            <a:r>
              <a:rPr lang="en-US" sz="1500" b="0">
                <a:latin typeface="Manrope" pitchFamily="2" charset="0"/>
              </a:rPr>
              <a:t>Architect,</a:t>
            </a:r>
          </a:p>
          <a:p>
            <a:pPr algn="ctr"/>
            <a:r>
              <a:rPr lang="en-US" sz="1500" b="0">
                <a:latin typeface="Manrope" pitchFamily="2" charset="0"/>
              </a:rPr>
              <a:t>Business Analyst</a:t>
            </a:r>
          </a:p>
        </p:txBody>
      </p:sp>
      <p:sp>
        <p:nvSpPr>
          <p:cNvPr id="58" name="TextBox 27">
            <a:extLst>
              <a:ext uri="{FF2B5EF4-FFF2-40B4-BE49-F238E27FC236}">
                <a16:creationId xmlns:a16="http://schemas.microsoft.com/office/drawing/2014/main" id="{00423A73-5AA3-9BCA-F038-2E47CE146716}"/>
              </a:ext>
            </a:extLst>
          </p:cNvPr>
          <p:cNvSpPr txBox="1">
            <a:spLocks/>
          </p:cNvSpPr>
          <p:nvPr/>
        </p:nvSpPr>
        <p:spPr>
          <a:xfrm>
            <a:off x="8533483" y="4801800"/>
            <a:ext cx="2942030" cy="579133"/>
          </a:xfrm>
          <a:prstGeom prst="rect">
            <a:avLst/>
          </a:prstGeom>
        </p:spPr>
        <p:txBody>
          <a:bodyPr wrap="square" lIns="0" tIns="0" rIns="0" bIns="0" rtlCol="0" anchor="t">
            <a:spAutoFit/>
          </a:bodyPr>
          <a:lstStyle/>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Process design review</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Global design, localization</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a:latin typeface="Manrope" pitchFamily="2" charset="0"/>
                <a:ea typeface="Lato" panose="020F0502020204030203" pitchFamily="34" charset="0"/>
                <a:cs typeface="Segoe UI" panose="020B0502040204020203" pitchFamily="34" charset="0"/>
              </a:rPr>
              <a:t>Standards and guidelines</a:t>
            </a:r>
          </a:p>
        </p:txBody>
      </p:sp>
      <p:cxnSp>
        <p:nvCxnSpPr>
          <p:cNvPr id="60" name="Straight Connector 59">
            <a:extLst>
              <a:ext uri="{FF2B5EF4-FFF2-40B4-BE49-F238E27FC236}">
                <a16:creationId xmlns:a16="http://schemas.microsoft.com/office/drawing/2014/main" id="{2F47A69E-3591-F41D-29AB-73D4C95E7E70}"/>
              </a:ext>
            </a:extLst>
          </p:cNvPr>
          <p:cNvCxnSpPr>
            <a:cxnSpLocks/>
          </p:cNvCxnSpPr>
          <p:nvPr/>
        </p:nvCxnSpPr>
        <p:spPr>
          <a:xfrm>
            <a:off x="8282036" y="1823943"/>
            <a:ext cx="0" cy="89255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54EE673-1850-4000-63A2-DFC52590DA16}"/>
              </a:ext>
            </a:extLst>
          </p:cNvPr>
          <p:cNvCxnSpPr>
            <a:cxnSpLocks/>
          </p:cNvCxnSpPr>
          <p:nvPr/>
        </p:nvCxnSpPr>
        <p:spPr>
          <a:xfrm>
            <a:off x="8282036" y="3234521"/>
            <a:ext cx="0" cy="89255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66EA01D-A6E4-0D72-235C-1A78EB052893}"/>
              </a:ext>
            </a:extLst>
          </p:cNvPr>
          <p:cNvCxnSpPr>
            <a:cxnSpLocks/>
          </p:cNvCxnSpPr>
          <p:nvPr/>
        </p:nvCxnSpPr>
        <p:spPr>
          <a:xfrm>
            <a:off x="8282036" y="4645090"/>
            <a:ext cx="0" cy="89255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1393C3A1-F277-EBAC-199A-C435DE6FA9E0}"/>
              </a:ext>
            </a:extLst>
          </p:cNvPr>
          <p:cNvSpPr txBox="1"/>
          <p:nvPr/>
        </p:nvSpPr>
        <p:spPr>
          <a:xfrm>
            <a:off x="3059783" y="1078424"/>
            <a:ext cx="2188009" cy="338554"/>
          </a:xfrm>
          <a:prstGeom prst="rect">
            <a:avLst/>
          </a:prstGeom>
          <a:noFill/>
        </p:spPr>
        <p:txBody>
          <a:bodyPr wrap="square" rtlCol="0">
            <a:spAutoFit/>
          </a:bodyPr>
          <a:lstStyle/>
          <a:p>
            <a:pPr algn="ctr"/>
            <a:r>
              <a:rPr lang="en-US" sz="1600" b="1">
                <a:latin typeface="Manrope" pitchFamily="2" charset="0"/>
              </a:rPr>
              <a:t>Our Customers</a:t>
            </a:r>
          </a:p>
        </p:txBody>
      </p:sp>
      <p:pic>
        <p:nvPicPr>
          <p:cNvPr id="64" name="Graphic 63">
            <a:extLst>
              <a:ext uri="{FF2B5EF4-FFF2-40B4-BE49-F238E27FC236}">
                <a16:creationId xmlns:a16="http://schemas.microsoft.com/office/drawing/2014/main" id="{26EEA18E-2D99-8B7D-EA7E-646315050F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64620" y="1145948"/>
            <a:ext cx="1516104" cy="203506"/>
          </a:xfrm>
          <a:prstGeom prst="rect">
            <a:avLst/>
          </a:prstGeom>
        </p:spPr>
      </p:pic>
      <p:sp>
        <p:nvSpPr>
          <p:cNvPr id="3" name="AutoShape 14">
            <a:extLst>
              <a:ext uri="{FF2B5EF4-FFF2-40B4-BE49-F238E27FC236}">
                <a16:creationId xmlns:a16="http://schemas.microsoft.com/office/drawing/2014/main" id="{DC78205F-7E43-59A9-A4CA-40AAEC09551E}"/>
              </a:ext>
            </a:extLst>
          </p:cNvPr>
          <p:cNvSpPr>
            <a:spLocks/>
          </p:cNvSpPr>
          <p:nvPr/>
        </p:nvSpPr>
        <p:spPr>
          <a:xfrm flipV="1">
            <a:off x="623888" y="2975507"/>
            <a:ext cx="22582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11" name="AutoShape 14">
            <a:extLst>
              <a:ext uri="{FF2B5EF4-FFF2-40B4-BE49-F238E27FC236}">
                <a16:creationId xmlns:a16="http://schemas.microsoft.com/office/drawing/2014/main" id="{BC464E05-D3B0-40DE-FFD5-CF8A72246AB7}"/>
              </a:ext>
            </a:extLst>
          </p:cNvPr>
          <p:cNvSpPr>
            <a:spLocks/>
          </p:cNvSpPr>
          <p:nvPr/>
        </p:nvSpPr>
        <p:spPr>
          <a:xfrm flipV="1">
            <a:off x="623888" y="4386076"/>
            <a:ext cx="22582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Tree>
    <p:extLst>
      <p:ext uri="{BB962C8B-B14F-4D97-AF65-F5344CB8AC3E}">
        <p14:creationId xmlns:p14="http://schemas.microsoft.com/office/powerpoint/2010/main" val="4240977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4709B8F-EBAF-A8EC-D100-A7EA4BBD447E}"/>
              </a:ext>
            </a:extLst>
          </p:cNvPr>
          <p:cNvSpPr>
            <a:spLocks noGrp="1"/>
          </p:cNvSpPr>
          <p:nvPr>
            <p:ph type="body" sz="quarter" idx="15"/>
          </p:nvPr>
        </p:nvSpPr>
        <p:spPr/>
        <p:txBody>
          <a:bodyPr/>
          <a:lstStyle/>
          <a:p>
            <a:r>
              <a:rPr lang="en-US"/>
              <a:t>Program Governance</a:t>
            </a:r>
          </a:p>
        </p:txBody>
      </p:sp>
      <p:grpSp>
        <p:nvGrpSpPr>
          <p:cNvPr id="4" name="Group 3">
            <a:extLst>
              <a:ext uri="{FF2B5EF4-FFF2-40B4-BE49-F238E27FC236}">
                <a16:creationId xmlns:a16="http://schemas.microsoft.com/office/drawing/2014/main" id="{FD861890-A422-F994-DF7A-6E3252647FC4}"/>
              </a:ext>
            </a:extLst>
          </p:cNvPr>
          <p:cNvGrpSpPr/>
          <p:nvPr/>
        </p:nvGrpSpPr>
        <p:grpSpPr>
          <a:xfrm>
            <a:off x="1377388" y="926993"/>
            <a:ext cx="9437225" cy="5083527"/>
            <a:chOff x="1377388" y="855305"/>
            <a:chExt cx="9437225" cy="5083527"/>
          </a:xfrm>
        </p:grpSpPr>
        <p:pic>
          <p:nvPicPr>
            <p:cNvPr id="8" name="Picture 7">
              <a:extLst>
                <a:ext uri="{FF2B5EF4-FFF2-40B4-BE49-F238E27FC236}">
                  <a16:creationId xmlns:a16="http://schemas.microsoft.com/office/drawing/2014/main" id="{BC0BC5CF-EC43-030C-8671-C3251D9E93CD}"/>
                </a:ext>
              </a:extLst>
            </p:cNvPr>
            <p:cNvPicPr>
              <a:picLocks noChangeAspect="1"/>
            </p:cNvPicPr>
            <p:nvPr/>
          </p:nvPicPr>
          <p:blipFill>
            <a:blip r:embed="rId3"/>
            <a:stretch>
              <a:fillRect/>
            </a:stretch>
          </p:blipFill>
          <p:spPr>
            <a:xfrm>
              <a:off x="2978461" y="919167"/>
              <a:ext cx="5839519" cy="5019665"/>
            </a:xfrm>
            <a:prstGeom prst="rect">
              <a:avLst/>
            </a:prstGeom>
          </p:spPr>
        </p:pic>
        <p:sp>
          <p:nvSpPr>
            <p:cNvPr id="10" name="TextBox 9">
              <a:extLst>
                <a:ext uri="{FF2B5EF4-FFF2-40B4-BE49-F238E27FC236}">
                  <a16:creationId xmlns:a16="http://schemas.microsoft.com/office/drawing/2014/main" id="{43F7CF17-2575-33D0-AF04-168F9C039D64}"/>
                </a:ext>
              </a:extLst>
            </p:cNvPr>
            <p:cNvSpPr txBox="1"/>
            <p:nvPr/>
          </p:nvSpPr>
          <p:spPr>
            <a:xfrm>
              <a:off x="4689676" y="4683282"/>
              <a:ext cx="2307681" cy="1015663"/>
            </a:xfrm>
            <a:prstGeom prst="rect">
              <a:avLst/>
            </a:prstGeom>
            <a:noFill/>
          </p:spPr>
          <p:txBody>
            <a:bodyPr wrap="square">
              <a:spAutoFit/>
            </a:bodyPr>
            <a:lstStyle/>
            <a:p>
              <a:pPr lvl="0" algn="ctr"/>
              <a:r>
                <a:rPr lang="en-US" sz="1600" b="1">
                  <a:solidFill>
                    <a:schemeClr val="bg1"/>
                  </a:solidFill>
                  <a:latin typeface="Manrope" pitchFamily="2" charset="0"/>
                </a:rPr>
                <a:t>Delivery</a:t>
              </a:r>
              <a:br>
                <a:rPr lang="en-US" sz="1600">
                  <a:solidFill>
                    <a:schemeClr val="bg1"/>
                  </a:solidFill>
                  <a:latin typeface="Manrope" pitchFamily="2" charset="0"/>
                </a:rPr>
              </a:br>
              <a:endParaRPr lang="en-US" sz="1600">
                <a:solidFill>
                  <a:schemeClr val="bg1"/>
                </a:solidFill>
                <a:latin typeface="Manrope" pitchFamily="2" charset="0"/>
              </a:endParaRPr>
            </a:p>
            <a:p>
              <a:pPr lvl="0" algn="ctr"/>
              <a:r>
                <a:rPr lang="en-US" sz="1600">
                  <a:solidFill>
                    <a:schemeClr val="bg1"/>
                  </a:solidFill>
                  <a:latin typeface="Manrope" pitchFamily="2" charset="0"/>
                </a:rPr>
                <a:t>Delivery Team</a:t>
              </a:r>
            </a:p>
            <a:p>
              <a:pPr lvl="0" algn="ctr"/>
              <a:r>
                <a:rPr lang="en-US" sz="1200">
                  <a:solidFill>
                    <a:schemeClr val="bg1"/>
                  </a:solidFill>
                  <a:latin typeface="Manrope" pitchFamily="2" charset="0"/>
                </a:rPr>
                <a:t>Daily</a:t>
              </a:r>
              <a:endParaRPr lang="en-US" sz="1600">
                <a:solidFill>
                  <a:schemeClr val="bg1"/>
                </a:solidFill>
                <a:latin typeface="Manrope" pitchFamily="2" charset="0"/>
              </a:endParaRPr>
            </a:p>
          </p:txBody>
        </p:sp>
        <p:sp>
          <p:nvSpPr>
            <p:cNvPr id="12" name="TextBox 11">
              <a:extLst>
                <a:ext uri="{FF2B5EF4-FFF2-40B4-BE49-F238E27FC236}">
                  <a16:creationId xmlns:a16="http://schemas.microsoft.com/office/drawing/2014/main" id="{FA85A647-F8A3-10BB-2CE0-E808E7563C8E}"/>
                </a:ext>
              </a:extLst>
            </p:cNvPr>
            <p:cNvSpPr txBox="1"/>
            <p:nvPr/>
          </p:nvSpPr>
          <p:spPr>
            <a:xfrm>
              <a:off x="8841129" y="4439045"/>
              <a:ext cx="1973484" cy="1061829"/>
            </a:xfrm>
            <a:prstGeom prst="rect">
              <a:avLst/>
            </a:prstGeom>
            <a:noFill/>
          </p:spPr>
          <p:txBody>
            <a:bodyPr wrap="square">
              <a:spAutoFit/>
            </a:bodyPr>
            <a:lstStyle/>
            <a:p>
              <a:pPr marL="171450" indent="-171450"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Daily scrum</a:t>
              </a:r>
            </a:p>
            <a:p>
              <a:pPr marL="171450" indent="-171450"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Daily progress status</a:t>
              </a:r>
            </a:p>
            <a:p>
              <a:pPr marL="171450" indent="-171450"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Queries resolution</a:t>
              </a:r>
            </a:p>
            <a:p>
              <a:pPr marL="171450" indent="-171450"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Delivery management</a:t>
              </a:r>
            </a:p>
          </p:txBody>
        </p:sp>
        <p:sp>
          <p:nvSpPr>
            <p:cNvPr id="13" name="Rounded Rectangle 12">
              <a:extLst>
                <a:ext uri="{FF2B5EF4-FFF2-40B4-BE49-F238E27FC236}">
                  <a16:creationId xmlns:a16="http://schemas.microsoft.com/office/drawing/2014/main" id="{59BC1655-AE98-116A-53BD-DA63B8FFE8D8}"/>
                </a:ext>
              </a:extLst>
            </p:cNvPr>
            <p:cNvSpPr/>
            <p:nvPr/>
          </p:nvSpPr>
          <p:spPr>
            <a:xfrm>
              <a:off x="8817980" y="4405019"/>
              <a:ext cx="1973484" cy="1131031"/>
            </a:xfrm>
            <a:prstGeom prst="roundRect">
              <a:avLst>
                <a:gd name="adj" fmla="val 0"/>
              </a:avLst>
            </a:prstGeom>
            <a:no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828A2BF-AFAB-841B-22E1-D6E72A1B284E}"/>
                </a:ext>
              </a:extLst>
            </p:cNvPr>
            <p:cNvSpPr txBox="1"/>
            <p:nvPr/>
          </p:nvSpPr>
          <p:spPr>
            <a:xfrm>
              <a:off x="1400537" y="3005034"/>
              <a:ext cx="1973484" cy="1508105"/>
            </a:xfrm>
            <a:prstGeom prst="rect">
              <a:avLst/>
            </a:prstGeom>
            <a:noFill/>
          </p:spPr>
          <p:txBody>
            <a:bodyPr wrap="square">
              <a:spAutoFit/>
            </a:bodyPr>
            <a:lstStyle/>
            <a:p>
              <a:pPr marL="121807" indent="-121807"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Project reporting</a:t>
              </a:r>
            </a:p>
            <a:p>
              <a:pPr marL="121807" indent="-121807"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Issue/risk management</a:t>
              </a:r>
            </a:p>
            <a:p>
              <a:pPr marL="121807" indent="-121807"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Financial management</a:t>
              </a:r>
            </a:p>
            <a:p>
              <a:pPr marL="121807" indent="-121807"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Escalation management</a:t>
              </a:r>
            </a:p>
            <a:p>
              <a:pPr marL="121807" indent="-121807" eaLnBrk="0" fontAlgn="base" hangingPunct="0">
                <a:spcBef>
                  <a:spcPct val="0"/>
                </a:spcBef>
                <a:spcAft>
                  <a:spcPts val="600"/>
                </a:spcAft>
                <a:buClr>
                  <a:schemeClr val="tx1"/>
                </a:buClr>
                <a:buFont typeface="Arial" panose="020B0604020202020204" pitchFamily="34" charset="0"/>
                <a:buChar char="•"/>
              </a:pPr>
              <a:r>
                <a:rPr lang="en-US" sz="1200">
                  <a:latin typeface="Manrope" pitchFamily="2" charset="0"/>
                  <a:ea typeface="Malgun Gothic" panose="020B0503020000020004" pitchFamily="34" charset="-127"/>
                  <a:cs typeface="Arial" pitchFamily="34" charset="0"/>
                </a:rPr>
                <a:t>Change management</a:t>
              </a:r>
            </a:p>
          </p:txBody>
        </p:sp>
        <p:sp>
          <p:nvSpPr>
            <p:cNvPr id="15" name="Rounded Rectangle 14">
              <a:extLst>
                <a:ext uri="{FF2B5EF4-FFF2-40B4-BE49-F238E27FC236}">
                  <a16:creationId xmlns:a16="http://schemas.microsoft.com/office/drawing/2014/main" id="{ABE6B63E-8B97-232A-3A03-FDDA342C7945}"/>
                </a:ext>
              </a:extLst>
            </p:cNvPr>
            <p:cNvSpPr/>
            <p:nvPr/>
          </p:nvSpPr>
          <p:spPr>
            <a:xfrm>
              <a:off x="1377388" y="2891354"/>
              <a:ext cx="1973484" cy="1920132"/>
            </a:xfrm>
            <a:prstGeom prst="roundRect">
              <a:avLst>
                <a:gd name="adj" fmla="val 0"/>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797F33E-50C2-9372-E973-6916A5398C19}"/>
                </a:ext>
              </a:extLst>
            </p:cNvPr>
            <p:cNvSpPr txBox="1"/>
            <p:nvPr/>
          </p:nvSpPr>
          <p:spPr>
            <a:xfrm>
              <a:off x="7681591" y="971944"/>
              <a:ext cx="2476961" cy="1846659"/>
            </a:xfrm>
            <a:prstGeom prst="rect">
              <a:avLst/>
            </a:prstGeom>
            <a:noFill/>
          </p:spPr>
          <p:txBody>
            <a:bodyPr wrap="square" lIns="91440" tIns="45720" rIns="91440" bIns="45720" anchor="t">
              <a:spAutoFit/>
            </a:bodyPr>
            <a:lstStyle/>
            <a:p>
              <a:pPr marL="171450" indent="-171450" eaLnBrk="0" fontAlgn="base" hangingPunct="0">
                <a:spcBef>
                  <a:spcPct val="0"/>
                </a:spcBef>
                <a:spcAft>
                  <a:spcPts val="600"/>
                </a:spcAft>
                <a:buClr>
                  <a:schemeClr val="tx1"/>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Set engagement directives</a:t>
              </a:r>
            </a:p>
            <a:p>
              <a:pPr marL="171450" indent="-171450" eaLnBrk="0" fontAlgn="base" hangingPunct="0">
                <a:spcBef>
                  <a:spcPct val="0"/>
                </a:spcBef>
                <a:spcAft>
                  <a:spcPts val="600"/>
                </a:spcAft>
                <a:buClr>
                  <a:schemeClr val="tx1"/>
                </a:buClr>
                <a:buFont typeface="Arial" panose="020B0604020202020204" pitchFamily="34" charset="0"/>
                <a:buChar char="•"/>
              </a:pPr>
              <a:r>
                <a:rPr lang="en-US" sz="1200" dirty="0">
                  <a:latin typeface="Manrope"/>
                  <a:ea typeface="Malgun Gothic"/>
                  <a:cs typeface="Arial"/>
                </a:rPr>
                <a:t>Govern: steering committee </a:t>
              </a:r>
              <a:endParaRPr lang="en-US" sz="1200" dirty="0">
                <a:latin typeface="Manrope" pitchFamily="2" charset="0"/>
                <a:ea typeface="Malgun Gothic" panose="020B0503020000020004" pitchFamily="34" charset="-127"/>
                <a:cs typeface="Arial" pitchFamily="34" charset="0"/>
              </a:endParaRPr>
            </a:p>
            <a:p>
              <a:pPr marL="171450" indent="-171450" eaLnBrk="0" fontAlgn="base" hangingPunct="0">
                <a:spcBef>
                  <a:spcPct val="0"/>
                </a:spcBef>
                <a:spcAft>
                  <a:spcPts val="1200"/>
                </a:spcAft>
                <a:buClr>
                  <a:schemeClr val="tx1"/>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Establish program success with executive attention</a:t>
              </a:r>
            </a:p>
            <a:p>
              <a:pPr marL="0" marR="0" lvl="0" indent="0" algn="l" defTabSz="914400" rtl="0" eaLnBrk="1" fontAlgn="auto" latinLnBrk="0" hangingPunct="1">
                <a:lnSpc>
                  <a:spcPct val="100000"/>
                </a:lnSpc>
                <a:spcAft>
                  <a:spcPts val="600"/>
                </a:spcAft>
                <a:buClr>
                  <a:schemeClr val="tx1"/>
                </a:buClr>
                <a:buSzTx/>
                <a:buFontTx/>
                <a:buNone/>
                <a:tabLst/>
                <a:defRPr/>
              </a:pPr>
              <a:r>
                <a:rPr kumimoji="0" lang="en-US" sz="1200" b="1" i="0" u="sng" strike="noStrike" kern="1200" cap="none" spc="0" normalizeH="0" baseline="0" noProof="0" dirty="0">
                  <a:ln>
                    <a:noFill/>
                  </a:ln>
                  <a:effectLst/>
                  <a:uLnTx/>
                  <a:uFillTx/>
                  <a:latin typeface="Manrope" pitchFamily="2" charset="0"/>
                  <a:cs typeface="Calibri" panose="020F0502020204030204" pitchFamily="34" charset="0"/>
                </a:rPr>
                <a:t>Advisory Council</a:t>
              </a:r>
            </a:p>
            <a:p>
              <a:pPr marL="171450" marR="0" lvl="0" indent="-171450" algn="l" defTabSz="914400" rtl="0" eaLnBrk="1" fontAlgn="auto" latinLnBrk="0" hangingPunct="1">
                <a:lnSpc>
                  <a:spcPct val="100000"/>
                </a:lnSpc>
                <a:spcAft>
                  <a:spcPts val="600"/>
                </a:spcAft>
                <a:buClr>
                  <a:schemeClr val="tx1"/>
                </a:buClr>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Manrope" pitchFamily="2" charset="0"/>
                  <a:cs typeface="Calibri" panose="020F0502020204030204" pitchFamily="34" charset="0"/>
                </a:rPr>
                <a:t>Client value adds</a:t>
              </a:r>
            </a:p>
            <a:p>
              <a:pPr marL="171450" marR="0" lvl="0" indent="-171450" algn="l" defTabSz="914400" rtl="0" eaLnBrk="1" fontAlgn="auto" latinLnBrk="0" hangingPunct="1">
                <a:lnSpc>
                  <a:spcPct val="100000"/>
                </a:lnSpc>
                <a:spcAft>
                  <a:spcPts val="600"/>
                </a:spcAft>
                <a:buClr>
                  <a:schemeClr val="tx1"/>
                </a:buClr>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Manrope" pitchFamily="2" charset="0"/>
                  <a:cs typeface="Calibri" panose="020F0502020204030204" pitchFamily="34" charset="0"/>
                </a:rPr>
                <a:t>Strategic direction inputs</a:t>
              </a:r>
            </a:p>
          </p:txBody>
        </p:sp>
        <p:sp>
          <p:nvSpPr>
            <p:cNvPr id="17" name="Rounded Rectangle 16">
              <a:extLst>
                <a:ext uri="{FF2B5EF4-FFF2-40B4-BE49-F238E27FC236}">
                  <a16:creationId xmlns:a16="http://schemas.microsoft.com/office/drawing/2014/main" id="{90C5C7E9-AF6D-EDF7-83CB-FF4BF3DF40F3}"/>
                </a:ext>
              </a:extLst>
            </p:cNvPr>
            <p:cNvSpPr/>
            <p:nvPr/>
          </p:nvSpPr>
          <p:spPr>
            <a:xfrm>
              <a:off x="7664368" y="855305"/>
              <a:ext cx="2494183" cy="2100289"/>
            </a:xfrm>
            <a:prstGeom prst="roundRect">
              <a:avLst>
                <a:gd name="adj" fmla="val 0"/>
              </a:avLst>
            </a:prstGeom>
            <a:noFill/>
            <a:ln w="158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34B3E36-17CC-ADB5-9182-B536A24C7C9A}"/>
                </a:ext>
              </a:extLst>
            </p:cNvPr>
            <p:cNvSpPr txBox="1"/>
            <p:nvPr/>
          </p:nvSpPr>
          <p:spPr>
            <a:xfrm>
              <a:off x="4324960" y="1702084"/>
              <a:ext cx="3037113" cy="1215717"/>
            </a:xfrm>
            <a:prstGeom prst="rect">
              <a:avLst/>
            </a:prstGeom>
            <a:noFill/>
          </p:spPr>
          <p:txBody>
            <a:bodyPr wrap="square">
              <a:spAutoFit/>
            </a:bodyPr>
            <a:lstStyle/>
            <a:p>
              <a:pPr lvl="0" algn="ctr"/>
              <a:endParaRPr lang="en-US" sz="1400">
                <a:solidFill>
                  <a:schemeClr val="bg1"/>
                </a:solidFill>
                <a:latin typeface="Manrope" pitchFamily="2" charset="0"/>
              </a:endParaRPr>
            </a:p>
            <a:p>
              <a:pPr lvl="0" algn="ctr"/>
              <a:r>
                <a:rPr lang="en-US" sz="1400" b="1">
                  <a:solidFill>
                    <a:schemeClr val="bg1"/>
                  </a:solidFill>
                  <a:latin typeface="Manrope" pitchFamily="2" charset="0"/>
                </a:rPr>
                <a:t>Strategic</a:t>
              </a:r>
            </a:p>
            <a:p>
              <a:pPr lvl="0" algn="ctr"/>
              <a:r>
                <a:rPr lang="en-US" sz="600" b="1">
                  <a:solidFill>
                    <a:schemeClr val="accent3"/>
                  </a:solidFill>
                  <a:latin typeface="Manrope" pitchFamily="2" charset="0"/>
                </a:rPr>
                <a:t>.</a:t>
              </a:r>
              <a:endParaRPr lang="en-US" sz="1200" b="1">
                <a:solidFill>
                  <a:schemeClr val="accent3"/>
                </a:solidFill>
                <a:latin typeface="Manrope" pitchFamily="2" charset="0"/>
              </a:endParaRPr>
            </a:p>
            <a:p>
              <a:pPr lvl="0" algn="ctr"/>
              <a:r>
                <a:rPr lang="en-US" sz="1400">
                  <a:solidFill>
                    <a:schemeClr val="bg1"/>
                  </a:solidFill>
                  <a:latin typeface="Manrope" pitchFamily="2" charset="0"/>
                </a:rPr>
                <a:t>Executive</a:t>
              </a:r>
            </a:p>
            <a:p>
              <a:pPr lvl="0" algn="ctr"/>
              <a:r>
                <a:rPr lang="en-US" sz="1400">
                  <a:solidFill>
                    <a:schemeClr val="bg1"/>
                  </a:solidFill>
                  <a:latin typeface="Manrope" pitchFamily="2" charset="0"/>
                </a:rPr>
                <a:t>Sponsors</a:t>
              </a:r>
            </a:p>
            <a:p>
              <a:pPr lvl="0" algn="ctr"/>
              <a:r>
                <a:rPr lang="en-US" sz="1100">
                  <a:solidFill>
                    <a:schemeClr val="bg1"/>
                  </a:solidFill>
                  <a:latin typeface="Manrope" pitchFamily="2" charset="0"/>
                </a:rPr>
                <a:t>Monthly</a:t>
              </a:r>
            </a:p>
          </p:txBody>
        </p:sp>
        <p:sp>
          <p:nvSpPr>
            <p:cNvPr id="3" name="TextBox 2">
              <a:extLst>
                <a:ext uri="{FF2B5EF4-FFF2-40B4-BE49-F238E27FC236}">
                  <a16:creationId xmlns:a16="http://schemas.microsoft.com/office/drawing/2014/main" id="{CF81BDC5-90CC-8A5A-B3D0-4BBC4BA6ED28}"/>
                </a:ext>
              </a:extLst>
            </p:cNvPr>
            <p:cNvSpPr txBox="1"/>
            <p:nvPr/>
          </p:nvSpPr>
          <p:spPr>
            <a:xfrm>
              <a:off x="4324960" y="3193616"/>
              <a:ext cx="3037113" cy="1015663"/>
            </a:xfrm>
            <a:prstGeom prst="rect">
              <a:avLst/>
            </a:prstGeom>
            <a:noFill/>
          </p:spPr>
          <p:txBody>
            <a:bodyPr wrap="square">
              <a:spAutoFit/>
            </a:bodyPr>
            <a:lstStyle/>
            <a:p>
              <a:pPr lvl="0" algn="ctr"/>
              <a:r>
                <a:rPr lang="en-US" sz="1600" b="1">
                  <a:solidFill>
                    <a:schemeClr val="bg1"/>
                  </a:solidFill>
                  <a:latin typeface="Manrope" pitchFamily="2" charset="0"/>
                </a:rPr>
                <a:t>Operational</a:t>
              </a:r>
              <a:br>
                <a:rPr lang="en-US" sz="1600">
                  <a:solidFill>
                    <a:schemeClr val="bg1"/>
                  </a:solidFill>
                  <a:latin typeface="Manrope" pitchFamily="2" charset="0"/>
                </a:rPr>
              </a:br>
              <a:endParaRPr lang="en-US" sz="1600">
                <a:solidFill>
                  <a:schemeClr val="bg1"/>
                </a:solidFill>
                <a:latin typeface="Manrope" pitchFamily="2" charset="0"/>
              </a:endParaRPr>
            </a:p>
            <a:p>
              <a:pPr lvl="0" algn="ctr"/>
              <a:r>
                <a:rPr lang="en-US" sz="1600">
                  <a:solidFill>
                    <a:schemeClr val="bg1"/>
                  </a:solidFill>
                  <a:latin typeface="Manrope" pitchFamily="2" charset="0"/>
                </a:rPr>
                <a:t>Program/Project Managers</a:t>
              </a:r>
            </a:p>
            <a:p>
              <a:pPr lvl="0" algn="ctr"/>
              <a:r>
                <a:rPr lang="en-US" sz="1200">
                  <a:solidFill>
                    <a:schemeClr val="bg1"/>
                  </a:solidFill>
                  <a:latin typeface="Manrope" pitchFamily="2" charset="0"/>
                </a:rPr>
                <a:t>Weekly</a:t>
              </a:r>
              <a:endParaRPr lang="en-US" sz="1600">
                <a:solidFill>
                  <a:schemeClr val="bg1"/>
                </a:solidFill>
                <a:latin typeface="Manrope" pitchFamily="2" charset="0"/>
              </a:endParaRPr>
            </a:p>
          </p:txBody>
        </p:sp>
      </p:grpSp>
    </p:spTree>
    <p:extLst>
      <p:ext uri="{BB962C8B-B14F-4D97-AF65-F5344CB8AC3E}">
        <p14:creationId xmlns:p14="http://schemas.microsoft.com/office/powerpoint/2010/main" val="1000621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in a suit sitting at a table with a computer&#10;&#10;Description automatically generated">
            <a:extLst>
              <a:ext uri="{FF2B5EF4-FFF2-40B4-BE49-F238E27FC236}">
                <a16:creationId xmlns:a16="http://schemas.microsoft.com/office/drawing/2014/main" id="{995ACB2E-4CC2-DB45-47B4-BA6A5A08C9C2}"/>
              </a:ext>
            </a:extLst>
          </p:cNvPr>
          <p:cNvPicPr>
            <a:picLocks noChangeAspect="1"/>
          </p:cNvPicPr>
          <p:nvPr/>
        </p:nvPicPr>
        <p:blipFill rotWithShape="1">
          <a:blip r:embed="rId2">
            <a:extLst>
              <a:ext uri="{28A0092B-C50C-407E-A947-70E740481C1C}">
                <a14:useLocalDpi xmlns:a14="http://schemas.microsoft.com/office/drawing/2010/main" val="0"/>
              </a:ext>
            </a:extLst>
          </a:blip>
          <a:srcRect b="15663"/>
          <a:stretch/>
        </p:blipFill>
        <p:spPr>
          <a:xfrm>
            <a:off x="-5444" y="-1"/>
            <a:ext cx="12197443" cy="6858001"/>
          </a:xfrm>
          <a:prstGeom prst="rect">
            <a:avLst/>
          </a:prstGeo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590300" y="3180292"/>
            <a:ext cx="8180649" cy="623248"/>
          </a:xfrm>
        </p:spPr>
        <p:txBody>
          <a:bodyPr/>
          <a:lstStyle/>
          <a:p>
            <a:r>
              <a:rPr lang="en-US"/>
              <a:t>Our Work</a:t>
            </a:r>
          </a:p>
        </p:txBody>
      </p:sp>
    </p:spTree>
    <p:extLst>
      <p:ext uri="{BB962C8B-B14F-4D97-AF65-F5344CB8AC3E}">
        <p14:creationId xmlns:p14="http://schemas.microsoft.com/office/powerpoint/2010/main" val="2562485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8958A3-AA03-BB63-A696-3206F2434A39}"/>
              </a:ext>
            </a:extLst>
          </p:cNvPr>
          <p:cNvSpPr/>
          <p:nvPr/>
        </p:nvSpPr>
        <p:spPr>
          <a:xfrm>
            <a:off x="8932779" y="4132168"/>
            <a:ext cx="2553456"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Immersive Virtual Showroom Experiences For Luxury Fashion Brands, powered by Adobe </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283D40"/>
                </a:solidFill>
                <a:effectLst/>
                <a:uLnTx/>
                <a:uFillTx/>
                <a:latin typeface="Manrope" pitchFamily="2" charset="0"/>
                <a:cs typeface="Calibri Light" panose="020F0302020204030204" pitchFamily="34" charset="0"/>
              </a:rPr>
              <a:t>Engineered a multi-tenant platform that facilitates the deployment of brand-specific virtual showrooms, empowering brands to deliver personalized and on-brand digital experiences.</a:t>
            </a:r>
          </a:p>
          <a:p>
            <a:pPr marL="0" marR="0" lvl="1" indent="0" algn="l" defTabSz="914400" rtl="0" eaLnBrk="1" fontAlgn="base" latinLnBrk="0" hangingPunct="1">
              <a:lnSpc>
                <a:spcPct val="110000"/>
              </a:lnSpc>
              <a:spcBef>
                <a:spcPts val="300"/>
              </a:spcBef>
              <a:spcAft>
                <a:spcPct val="0"/>
              </a:spcAft>
              <a:buClr>
                <a:srgbClr val="3C2DDA"/>
              </a:buClr>
              <a:buSzPct val="100000"/>
              <a:buFontTx/>
              <a:buNone/>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p:txBody>
      </p:sp>
      <p:sp>
        <p:nvSpPr>
          <p:cNvPr id="4" name="Rectangle 3">
            <a:extLst>
              <a:ext uri="{FF2B5EF4-FFF2-40B4-BE49-F238E27FC236}">
                <a16:creationId xmlns:a16="http://schemas.microsoft.com/office/drawing/2014/main" id="{457E05C2-F249-0B0E-BD11-D1770FD121D8}"/>
              </a:ext>
            </a:extLst>
          </p:cNvPr>
          <p:cNvSpPr/>
          <p:nvPr/>
        </p:nvSpPr>
        <p:spPr>
          <a:xfrm>
            <a:off x="3408723" y="1373064"/>
            <a:ext cx="2627311" cy="408531"/>
          </a:xfrm>
          <a:prstGeom prst="rect">
            <a:avLst/>
          </a:prstGeom>
          <a:noFill/>
          <a:ln w="12700" cap="flat" cmpd="sng" algn="ctr">
            <a:noFill/>
            <a:prstDash val="solid"/>
            <a:miter lim="800000"/>
          </a:ln>
          <a:effectLst/>
        </p:spPr>
        <p:txBody>
          <a:bodyPr lIns="0" tIns="0" rIns="0" bIns="0" rtlCol="0" anchor="t">
            <a:noAutofit/>
          </a:bodyPr>
          <a:lstStyle/>
          <a:p>
            <a:pPr marL="171450" marR="0" lvl="1" indent="-17145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Strategizing and delivering platform consolidation to Sitecore. .</a:t>
            </a:r>
          </a:p>
          <a:p>
            <a:pPr marL="171450" marR="0" lvl="1" indent="-17145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Enhancing product information, content, and online interaction and transactions with real-time dashboards that enable effective decision making by advisers. </a:t>
            </a:r>
          </a:p>
          <a:p>
            <a:pPr marL="171450" marR="0" lvl="1" indent="-17145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policy journey to enable improved insights for business stakeholders. </a:t>
            </a:r>
          </a:p>
          <a:p>
            <a:pPr marL="0" marR="0" lvl="1" indent="0" algn="l" defTabSz="914400" rtl="0" eaLnBrk="1" fontAlgn="base" latinLnBrk="0" hangingPunct="1">
              <a:lnSpc>
                <a:spcPct val="110000"/>
              </a:lnSpc>
              <a:spcBef>
                <a:spcPts val="300"/>
              </a:spcBef>
              <a:spcAft>
                <a:spcPct val="0"/>
              </a:spcAft>
              <a:buClr>
                <a:srgbClr val="3C2DDA"/>
              </a:buClr>
              <a:buSzPct val="100000"/>
              <a:buFontTx/>
              <a:buNone/>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a:p>
            <a:pPr marL="685800" marR="0" lvl="2"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p:txBody>
      </p:sp>
      <p:sp>
        <p:nvSpPr>
          <p:cNvPr id="5" name="Rectangle 4">
            <a:extLst>
              <a:ext uri="{FF2B5EF4-FFF2-40B4-BE49-F238E27FC236}">
                <a16:creationId xmlns:a16="http://schemas.microsoft.com/office/drawing/2014/main" id="{16798041-D435-44BD-C0BE-81D4A4530A0B}"/>
              </a:ext>
            </a:extLst>
          </p:cNvPr>
          <p:cNvSpPr/>
          <p:nvPr/>
        </p:nvSpPr>
        <p:spPr>
          <a:xfrm>
            <a:off x="634398" y="935073"/>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6" name="Rectangle 5">
            <a:extLst>
              <a:ext uri="{FF2B5EF4-FFF2-40B4-BE49-F238E27FC236}">
                <a16:creationId xmlns:a16="http://schemas.microsoft.com/office/drawing/2014/main" id="{C792738C-17EA-A05C-D380-FFFC585EA62A}"/>
              </a:ext>
            </a:extLst>
          </p:cNvPr>
          <p:cNvSpPr/>
          <p:nvPr/>
        </p:nvSpPr>
        <p:spPr>
          <a:xfrm>
            <a:off x="725457" y="1461928"/>
            <a:ext cx="2535445"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Strategically integrated sub-brands into a unified platform, fostering consistent cross-brand experiences and strengthening relationships with the parent brand, augmented by analytics for optimized consumer journeys.</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Partner experience portal </a:t>
            </a:r>
            <a:r>
              <a:rPr kumimoji="0" lang="en-US" sz="1000" b="0" i="0" u="none" strike="noStrike" kern="1200" cap="none" spc="0" normalizeH="0" baseline="0" noProof="0">
                <a:ln>
                  <a:noFill/>
                </a:ln>
                <a:solidFill>
                  <a:srgbClr val="283D40"/>
                </a:solidFill>
                <a:effectLst/>
                <a:uLnTx/>
                <a:uFillTx/>
                <a:latin typeface="Manrope" pitchFamily="2" charset="0"/>
                <a:cs typeface="Calibri Light" panose="020F0302020204030204" pitchFamily="34" charset="0"/>
              </a:rPr>
              <a:t>to create opportunities and link them to policies.</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p:txBody>
      </p:sp>
      <p:sp>
        <p:nvSpPr>
          <p:cNvPr id="7" name="Rectangle 6">
            <a:extLst>
              <a:ext uri="{FF2B5EF4-FFF2-40B4-BE49-F238E27FC236}">
                <a16:creationId xmlns:a16="http://schemas.microsoft.com/office/drawing/2014/main" id="{90B375DB-A4D2-D6B5-9903-BD66A3B80F2F}"/>
              </a:ext>
            </a:extLst>
          </p:cNvPr>
          <p:cNvSpPr/>
          <p:nvPr/>
        </p:nvSpPr>
        <p:spPr>
          <a:xfrm>
            <a:off x="634398" y="3112698"/>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8" name="TextBox 7">
            <a:extLst>
              <a:ext uri="{FF2B5EF4-FFF2-40B4-BE49-F238E27FC236}">
                <a16:creationId xmlns:a16="http://schemas.microsoft.com/office/drawing/2014/main" id="{77F539AF-A7B2-9AB8-A420-3C7332598F7C}"/>
              </a:ext>
            </a:extLst>
          </p:cNvPr>
          <p:cNvSpPr txBox="1"/>
          <p:nvPr/>
        </p:nvSpPr>
        <p:spPr>
          <a:xfrm>
            <a:off x="725456" y="3207924"/>
            <a:ext cx="2471403"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Manrope"/>
              </a:rPr>
              <a:t>Adobe Experience Manager, Analytics. React, Boomi Integrations</a:t>
            </a:r>
          </a:p>
        </p:txBody>
      </p:sp>
      <p:sp>
        <p:nvSpPr>
          <p:cNvPr id="9" name="Rectangle 8">
            <a:extLst>
              <a:ext uri="{FF2B5EF4-FFF2-40B4-BE49-F238E27FC236}">
                <a16:creationId xmlns:a16="http://schemas.microsoft.com/office/drawing/2014/main" id="{6C4A902C-B695-60FD-F9A2-1AE88C463DD7}"/>
              </a:ext>
            </a:extLst>
          </p:cNvPr>
          <p:cNvSpPr/>
          <p:nvPr/>
        </p:nvSpPr>
        <p:spPr>
          <a:xfrm>
            <a:off x="3373446" y="944393"/>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0" name="Rectangle 9">
            <a:extLst>
              <a:ext uri="{FF2B5EF4-FFF2-40B4-BE49-F238E27FC236}">
                <a16:creationId xmlns:a16="http://schemas.microsoft.com/office/drawing/2014/main" id="{61E6A88D-C9BF-EA41-8438-7BC74B214DAD}"/>
              </a:ext>
            </a:extLst>
          </p:cNvPr>
          <p:cNvSpPr/>
          <p:nvPr/>
        </p:nvSpPr>
        <p:spPr>
          <a:xfrm>
            <a:off x="6157647" y="4109578"/>
            <a:ext cx="2553456"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Created globalized unified platform to accelerate collaboration among users and improve the user experience and adoption of MPG services, thus leading to increased client engagement and higher market presence</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1200" cap="none" spc="10" normalizeH="0" baseline="0" noProof="0">
                <a:ln>
                  <a:noFill/>
                </a:ln>
                <a:solidFill>
                  <a:srgbClr val="02051C"/>
                </a:solidFill>
                <a:effectLst/>
                <a:uLnTx/>
                <a:uFillTx/>
                <a:latin typeface="Manrope"/>
              </a:rPr>
              <a:t>Developed  persona-based content hierarchy to tailor content exposure in React application according to user personas</a:t>
            </a: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p:txBody>
      </p:sp>
      <p:sp>
        <p:nvSpPr>
          <p:cNvPr id="11" name="Rectangle 10">
            <a:extLst>
              <a:ext uri="{FF2B5EF4-FFF2-40B4-BE49-F238E27FC236}">
                <a16:creationId xmlns:a16="http://schemas.microsoft.com/office/drawing/2014/main" id="{FA13F434-97CA-E1D2-E559-84F2CBA2D991}"/>
              </a:ext>
            </a:extLst>
          </p:cNvPr>
          <p:cNvSpPr/>
          <p:nvPr/>
        </p:nvSpPr>
        <p:spPr>
          <a:xfrm>
            <a:off x="3400525" y="3112698"/>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2" name="Rectangle 11">
            <a:extLst>
              <a:ext uri="{FF2B5EF4-FFF2-40B4-BE49-F238E27FC236}">
                <a16:creationId xmlns:a16="http://schemas.microsoft.com/office/drawing/2014/main" id="{3AEC9262-5B59-BB8F-9759-4E63B320A91E}"/>
              </a:ext>
            </a:extLst>
          </p:cNvPr>
          <p:cNvSpPr/>
          <p:nvPr/>
        </p:nvSpPr>
        <p:spPr>
          <a:xfrm>
            <a:off x="6166652" y="935073"/>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3" name="Rectangle 12">
            <a:extLst>
              <a:ext uri="{FF2B5EF4-FFF2-40B4-BE49-F238E27FC236}">
                <a16:creationId xmlns:a16="http://schemas.microsoft.com/office/drawing/2014/main" id="{42981144-5BBE-298A-E62A-4129BF2E7E2C}"/>
              </a:ext>
            </a:extLst>
          </p:cNvPr>
          <p:cNvSpPr/>
          <p:nvPr/>
        </p:nvSpPr>
        <p:spPr>
          <a:xfrm>
            <a:off x="6166652" y="3112698"/>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4" name="TextBox 13">
            <a:extLst>
              <a:ext uri="{FF2B5EF4-FFF2-40B4-BE49-F238E27FC236}">
                <a16:creationId xmlns:a16="http://schemas.microsoft.com/office/drawing/2014/main" id="{2AD45262-C29B-AEFB-D46C-1BCA50B89738}"/>
              </a:ext>
            </a:extLst>
          </p:cNvPr>
          <p:cNvSpPr txBox="1"/>
          <p:nvPr/>
        </p:nvSpPr>
        <p:spPr>
          <a:xfrm>
            <a:off x="6257710" y="3207924"/>
            <a:ext cx="2471403"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Manrope"/>
              </a:rPr>
              <a:t>AEM, Adobe Guides, Analytics,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Manrope"/>
              </a:rPr>
              <a:t>Repots</a:t>
            </a:r>
          </a:p>
        </p:txBody>
      </p:sp>
      <p:sp>
        <p:nvSpPr>
          <p:cNvPr id="15" name="Rectangle 14">
            <a:extLst>
              <a:ext uri="{FF2B5EF4-FFF2-40B4-BE49-F238E27FC236}">
                <a16:creationId xmlns:a16="http://schemas.microsoft.com/office/drawing/2014/main" id="{D3AE93CC-5094-11B2-B656-40F663B010AB}"/>
              </a:ext>
            </a:extLst>
          </p:cNvPr>
          <p:cNvSpPr/>
          <p:nvPr/>
        </p:nvSpPr>
        <p:spPr>
          <a:xfrm>
            <a:off x="8941784" y="932819"/>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6" name="Rectangle 15">
            <a:extLst>
              <a:ext uri="{FF2B5EF4-FFF2-40B4-BE49-F238E27FC236}">
                <a16:creationId xmlns:a16="http://schemas.microsoft.com/office/drawing/2014/main" id="{DB80FC03-A4B5-7C9E-C6C7-C8391EADEFA2}"/>
              </a:ext>
            </a:extLst>
          </p:cNvPr>
          <p:cNvSpPr/>
          <p:nvPr/>
        </p:nvSpPr>
        <p:spPr>
          <a:xfrm>
            <a:off x="8941784" y="3110444"/>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7" name="Rectangle 16">
            <a:extLst>
              <a:ext uri="{FF2B5EF4-FFF2-40B4-BE49-F238E27FC236}">
                <a16:creationId xmlns:a16="http://schemas.microsoft.com/office/drawing/2014/main" id="{4A76C11F-355F-7DA1-1FC4-5E33A165096A}"/>
              </a:ext>
            </a:extLst>
          </p:cNvPr>
          <p:cNvSpPr/>
          <p:nvPr/>
        </p:nvSpPr>
        <p:spPr>
          <a:xfrm>
            <a:off x="634398" y="3705060"/>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8" name="Rectangle 17">
            <a:extLst>
              <a:ext uri="{FF2B5EF4-FFF2-40B4-BE49-F238E27FC236}">
                <a16:creationId xmlns:a16="http://schemas.microsoft.com/office/drawing/2014/main" id="{C8534179-3492-A870-6426-4E9B8114F948}"/>
              </a:ext>
            </a:extLst>
          </p:cNvPr>
          <p:cNvSpPr/>
          <p:nvPr/>
        </p:nvSpPr>
        <p:spPr>
          <a:xfrm>
            <a:off x="634398" y="5882685"/>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9" name="TextBox 18">
            <a:extLst>
              <a:ext uri="{FF2B5EF4-FFF2-40B4-BE49-F238E27FC236}">
                <a16:creationId xmlns:a16="http://schemas.microsoft.com/office/drawing/2014/main" id="{A50E3DA1-1D07-00B8-4FB4-E245CA11C798}"/>
              </a:ext>
            </a:extLst>
          </p:cNvPr>
          <p:cNvSpPr txBox="1"/>
          <p:nvPr/>
        </p:nvSpPr>
        <p:spPr>
          <a:xfrm>
            <a:off x="3468310" y="3207924"/>
            <a:ext cx="2471403"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anrope"/>
              </a:rPr>
              <a:t>Sitecore, React, </a:t>
            </a:r>
            <a:r>
              <a:rPr kumimoji="0" lang="en-US" sz="1100" b="0" i="0" u="none" strike="noStrike" kern="1200" cap="none" spc="0" normalizeH="0" baseline="0" noProof="0" err="1">
                <a:ln>
                  <a:noFill/>
                </a:ln>
                <a:solidFill>
                  <a:srgbClr val="FFFFFF"/>
                </a:solidFill>
                <a:effectLst/>
                <a:uLnTx/>
                <a:uFillTx/>
                <a:latin typeface="Manrope"/>
              </a:rPr>
              <a:t>unipass</a:t>
            </a:r>
            <a:r>
              <a:rPr kumimoji="0" lang="en-US" sz="1100" b="0" i="0" u="none" strike="noStrike" kern="1200" cap="none" spc="0" normalizeH="0" baseline="0" noProof="0">
                <a:ln>
                  <a:noFill/>
                </a:ln>
                <a:solidFill>
                  <a:srgbClr val="FFFFFF"/>
                </a:solidFill>
                <a:effectLst/>
                <a:uLnTx/>
                <a:uFillTx/>
                <a:latin typeface="Manrope"/>
              </a:rPr>
              <a:t> Integration</a:t>
            </a:r>
          </a:p>
        </p:txBody>
      </p:sp>
      <p:sp>
        <p:nvSpPr>
          <p:cNvPr id="20" name="Rectangle 19">
            <a:extLst>
              <a:ext uri="{FF2B5EF4-FFF2-40B4-BE49-F238E27FC236}">
                <a16:creationId xmlns:a16="http://schemas.microsoft.com/office/drawing/2014/main" id="{C076C73E-F88E-C3CB-9F5E-CE67E49A0C3B}"/>
              </a:ext>
            </a:extLst>
          </p:cNvPr>
          <p:cNvSpPr/>
          <p:nvPr/>
        </p:nvSpPr>
        <p:spPr>
          <a:xfrm>
            <a:off x="3400525" y="3705060"/>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21" name="Rectangle 20">
            <a:extLst>
              <a:ext uri="{FF2B5EF4-FFF2-40B4-BE49-F238E27FC236}">
                <a16:creationId xmlns:a16="http://schemas.microsoft.com/office/drawing/2014/main" id="{A70C3DD7-ED1A-A961-0BB1-2A8D05098935}"/>
              </a:ext>
            </a:extLst>
          </p:cNvPr>
          <p:cNvSpPr/>
          <p:nvPr/>
        </p:nvSpPr>
        <p:spPr>
          <a:xfrm>
            <a:off x="3432545" y="4144145"/>
            <a:ext cx="2586286"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A Digital Experience Platform for Students, Researchers, Faculty and Alumni, powered by Adobe</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Design and implementation of an E2E DXP portal from the grounds up with UX consulting, experience design, tech architecture and enablement leveraging AEM Sites. </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1200" cap="none" spc="10" normalizeH="0" baseline="0" noProof="0">
                <a:ln>
                  <a:noFill/>
                </a:ln>
                <a:solidFill>
                  <a:srgbClr val="02051C"/>
                </a:solidFill>
                <a:effectLst/>
                <a:uLnTx/>
                <a:uFillTx/>
                <a:latin typeface="Manrope"/>
              </a:rPr>
              <a:t>Integration with Identity Management and other core applications within the university ecosystem.</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p:txBody>
      </p:sp>
      <p:sp>
        <p:nvSpPr>
          <p:cNvPr id="22" name="Rectangle 21">
            <a:extLst>
              <a:ext uri="{FF2B5EF4-FFF2-40B4-BE49-F238E27FC236}">
                <a16:creationId xmlns:a16="http://schemas.microsoft.com/office/drawing/2014/main" id="{C14E6CBA-143B-A524-A7F6-F90DD661BF8A}"/>
              </a:ext>
            </a:extLst>
          </p:cNvPr>
          <p:cNvSpPr/>
          <p:nvPr/>
        </p:nvSpPr>
        <p:spPr>
          <a:xfrm>
            <a:off x="3400525" y="5882685"/>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23" name="TextBox 22">
            <a:extLst>
              <a:ext uri="{FF2B5EF4-FFF2-40B4-BE49-F238E27FC236}">
                <a16:creationId xmlns:a16="http://schemas.microsoft.com/office/drawing/2014/main" id="{C57CE7DD-45A1-5FB4-8B24-FAB7F9E48980}"/>
              </a:ext>
            </a:extLst>
          </p:cNvPr>
          <p:cNvSpPr txBox="1"/>
          <p:nvPr/>
        </p:nvSpPr>
        <p:spPr>
          <a:xfrm>
            <a:off x="3491584" y="5959943"/>
            <a:ext cx="2471403" cy="3046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anrope"/>
              </a:rPr>
              <a:t>Adobe AEM, Adobe Analytics, Adobe Target</a:t>
            </a:r>
          </a:p>
        </p:txBody>
      </p:sp>
      <p:sp>
        <p:nvSpPr>
          <p:cNvPr id="24" name="Rectangle 23">
            <a:extLst>
              <a:ext uri="{FF2B5EF4-FFF2-40B4-BE49-F238E27FC236}">
                <a16:creationId xmlns:a16="http://schemas.microsoft.com/office/drawing/2014/main" id="{FA35935D-5E4B-BEB3-325E-4DDC5070E4A2}"/>
              </a:ext>
            </a:extLst>
          </p:cNvPr>
          <p:cNvSpPr/>
          <p:nvPr/>
        </p:nvSpPr>
        <p:spPr>
          <a:xfrm>
            <a:off x="6166652" y="3705060"/>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25" name="Rectangle 24">
            <a:extLst>
              <a:ext uri="{FF2B5EF4-FFF2-40B4-BE49-F238E27FC236}">
                <a16:creationId xmlns:a16="http://schemas.microsoft.com/office/drawing/2014/main" id="{9481B614-FDD6-FD79-9659-E4330F68452A}"/>
              </a:ext>
            </a:extLst>
          </p:cNvPr>
          <p:cNvSpPr/>
          <p:nvPr/>
        </p:nvSpPr>
        <p:spPr>
          <a:xfrm>
            <a:off x="725455" y="4158382"/>
            <a:ext cx="2675069"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0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Implemented Medline’s B2B eCommerce system towards a flexible, modular architecture, designed to enhance user engagement, streamline customer acquisition, and rapidly adapt to shifting consumer behaviors, ensuring sustained market competitiveness.</a:t>
            </a:r>
          </a:p>
          <a:p>
            <a:pPr marL="228600" marR="0" lvl="1" indent="-228600" algn="l" defTabSz="914400" rtl="0" eaLnBrk="1" fontAlgn="base" latinLnBrk="0" hangingPunct="1">
              <a:lnSpc>
                <a:spcPct val="10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Atomic design principles and composable architecture tenets to enable business agility and consumer delight</a:t>
            </a:r>
          </a:p>
        </p:txBody>
      </p:sp>
      <p:sp>
        <p:nvSpPr>
          <p:cNvPr id="26" name="Rectangle 25">
            <a:extLst>
              <a:ext uri="{FF2B5EF4-FFF2-40B4-BE49-F238E27FC236}">
                <a16:creationId xmlns:a16="http://schemas.microsoft.com/office/drawing/2014/main" id="{3DBBDB96-8786-DF04-40E2-32E9E90F8FBE}"/>
              </a:ext>
            </a:extLst>
          </p:cNvPr>
          <p:cNvSpPr/>
          <p:nvPr/>
        </p:nvSpPr>
        <p:spPr>
          <a:xfrm>
            <a:off x="6166652" y="5882685"/>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27" name="TextBox 26">
            <a:extLst>
              <a:ext uri="{FF2B5EF4-FFF2-40B4-BE49-F238E27FC236}">
                <a16:creationId xmlns:a16="http://schemas.microsoft.com/office/drawing/2014/main" id="{B51598E9-95B4-A53A-A838-B9CA21A78CFA}"/>
              </a:ext>
            </a:extLst>
          </p:cNvPr>
          <p:cNvSpPr txBox="1"/>
          <p:nvPr/>
        </p:nvSpPr>
        <p:spPr>
          <a:xfrm>
            <a:off x="6257710" y="5959943"/>
            <a:ext cx="2471403"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anrope"/>
              </a:rPr>
              <a:t>Sitecore with React implementation</a:t>
            </a:r>
          </a:p>
        </p:txBody>
      </p:sp>
      <p:sp>
        <p:nvSpPr>
          <p:cNvPr id="28" name="Rectangle 27">
            <a:extLst>
              <a:ext uri="{FF2B5EF4-FFF2-40B4-BE49-F238E27FC236}">
                <a16:creationId xmlns:a16="http://schemas.microsoft.com/office/drawing/2014/main" id="{FAC512A5-9698-8A94-7FB8-17427A98F1BC}"/>
              </a:ext>
            </a:extLst>
          </p:cNvPr>
          <p:cNvSpPr/>
          <p:nvPr/>
        </p:nvSpPr>
        <p:spPr>
          <a:xfrm>
            <a:off x="8941784" y="3702806"/>
            <a:ext cx="2627311" cy="2673350"/>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29" name="Rectangle 28">
            <a:extLst>
              <a:ext uri="{FF2B5EF4-FFF2-40B4-BE49-F238E27FC236}">
                <a16:creationId xmlns:a16="http://schemas.microsoft.com/office/drawing/2014/main" id="{3E0C8B40-5C6C-A3A3-831E-A0DF3A95A351}"/>
              </a:ext>
            </a:extLst>
          </p:cNvPr>
          <p:cNvSpPr/>
          <p:nvPr/>
        </p:nvSpPr>
        <p:spPr>
          <a:xfrm>
            <a:off x="8941784" y="5880431"/>
            <a:ext cx="2627311" cy="4957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30" name="TextBox 29">
            <a:extLst>
              <a:ext uri="{FF2B5EF4-FFF2-40B4-BE49-F238E27FC236}">
                <a16:creationId xmlns:a16="http://schemas.microsoft.com/office/drawing/2014/main" id="{29F512C8-2E4C-EFEE-8CF6-901AB9091B38}"/>
              </a:ext>
            </a:extLst>
          </p:cNvPr>
          <p:cNvSpPr txBox="1"/>
          <p:nvPr/>
        </p:nvSpPr>
        <p:spPr>
          <a:xfrm>
            <a:off x="9032842" y="5959943"/>
            <a:ext cx="2342375"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Manrope"/>
              </a:rPr>
              <a:t>Adobe AEM, commerce, </a:t>
            </a:r>
            <a:r>
              <a:rPr kumimoji="0" lang="en-US" sz="1100" b="0" i="0" u="none" strike="noStrike" kern="1200" cap="none" spc="0" normalizeH="0" baseline="0" noProof="0" dirty="0" err="1">
                <a:ln>
                  <a:noFill/>
                </a:ln>
                <a:solidFill>
                  <a:srgbClr val="FFFFFF"/>
                </a:solidFill>
                <a:effectLst/>
                <a:uLnTx/>
                <a:uFillTx/>
                <a:latin typeface="Manrope"/>
              </a:rPr>
              <a:t>vydyo.io</a:t>
            </a:r>
            <a:r>
              <a:rPr kumimoji="0" lang="en-US" sz="1100" b="0" i="0" u="none" strike="noStrike" kern="1200" cap="none" spc="0" normalizeH="0" baseline="0" noProof="0" dirty="0">
                <a:ln>
                  <a:noFill/>
                </a:ln>
                <a:solidFill>
                  <a:srgbClr val="FFFFFF"/>
                </a:solidFill>
                <a:effectLst/>
                <a:uLnTx/>
                <a:uFillTx/>
                <a:latin typeface="Manrope"/>
              </a:rPr>
              <a:t> , Joor integration</a:t>
            </a:r>
          </a:p>
        </p:txBody>
      </p:sp>
      <p:sp>
        <p:nvSpPr>
          <p:cNvPr id="31" name="TextBox 30">
            <a:extLst>
              <a:ext uri="{FF2B5EF4-FFF2-40B4-BE49-F238E27FC236}">
                <a16:creationId xmlns:a16="http://schemas.microsoft.com/office/drawing/2014/main" id="{3FE26113-5A57-8221-75E4-27BB636B34E6}"/>
              </a:ext>
            </a:extLst>
          </p:cNvPr>
          <p:cNvSpPr txBox="1"/>
          <p:nvPr/>
        </p:nvSpPr>
        <p:spPr>
          <a:xfrm>
            <a:off x="753379" y="5959943"/>
            <a:ext cx="2471403"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Manrope"/>
              </a:rPr>
              <a:t>Commerce tools, react , Google </a:t>
            </a:r>
            <a:r>
              <a:rPr kumimoji="0" lang="en-US" sz="1100" b="0" i="0" u="none" strike="noStrike" kern="1200" cap="none" spc="0" normalizeH="0" baseline="0" noProof="0" dirty="0" err="1">
                <a:ln>
                  <a:noFill/>
                </a:ln>
                <a:solidFill>
                  <a:srgbClr val="FFFFFF"/>
                </a:solidFill>
                <a:effectLst/>
                <a:uLnTx/>
                <a:uFillTx/>
                <a:latin typeface="Manrope"/>
              </a:rPr>
              <a:t>Anlytics</a:t>
            </a:r>
            <a:r>
              <a:rPr kumimoji="0" lang="en-US" sz="1100" b="0" i="0" u="none" strike="noStrike" kern="1200" cap="none" spc="0" normalizeH="0" baseline="0" noProof="0" dirty="0">
                <a:ln>
                  <a:noFill/>
                </a:ln>
                <a:solidFill>
                  <a:srgbClr val="FFFFFF"/>
                </a:solidFill>
                <a:effectLst/>
                <a:uLnTx/>
                <a:uFillTx/>
                <a:latin typeface="Manrope"/>
              </a:rPr>
              <a:t> on Azure</a:t>
            </a:r>
          </a:p>
        </p:txBody>
      </p:sp>
      <p:sp>
        <p:nvSpPr>
          <p:cNvPr id="32" name="TextBox 31">
            <a:extLst>
              <a:ext uri="{FF2B5EF4-FFF2-40B4-BE49-F238E27FC236}">
                <a16:creationId xmlns:a16="http://schemas.microsoft.com/office/drawing/2014/main" id="{25B0F401-E181-3302-F2E6-7519A289A9B0}"/>
              </a:ext>
            </a:extLst>
          </p:cNvPr>
          <p:cNvSpPr txBox="1"/>
          <p:nvPr/>
        </p:nvSpPr>
        <p:spPr>
          <a:xfrm>
            <a:off x="9032843" y="3207924"/>
            <a:ext cx="2433702" cy="29084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anrope"/>
              </a:rPr>
              <a:t>Adobe Commerce (Magento) with elastic search </a:t>
            </a:r>
          </a:p>
        </p:txBody>
      </p:sp>
      <p:sp>
        <p:nvSpPr>
          <p:cNvPr id="33" name="Rectangle 32">
            <a:extLst>
              <a:ext uri="{FF2B5EF4-FFF2-40B4-BE49-F238E27FC236}">
                <a16:creationId xmlns:a16="http://schemas.microsoft.com/office/drawing/2014/main" id="{B471DC2F-AD38-C048-F9BD-D6F06B959AB6}"/>
              </a:ext>
            </a:extLst>
          </p:cNvPr>
          <p:cNvSpPr/>
          <p:nvPr/>
        </p:nvSpPr>
        <p:spPr>
          <a:xfrm>
            <a:off x="6216743" y="1376852"/>
            <a:ext cx="2553456"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dirty="0">
                <a:ln>
                  <a:noFill/>
                </a:ln>
                <a:solidFill>
                  <a:srgbClr val="02051C"/>
                </a:solidFill>
                <a:effectLst/>
                <a:uLnTx/>
                <a:uFillTx/>
                <a:latin typeface="Manrope"/>
                <a:cs typeface="Calibri" panose="020F0502020204030204" pitchFamily="34" charset="0"/>
              </a:rPr>
              <a:t>Unify insights across multiple EY digital properties for internal and external audiences to Adobe Analytics and Customer Journey Analytics.</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dirty="0">
                <a:ln>
                  <a:noFill/>
                </a:ln>
                <a:solidFill>
                  <a:srgbClr val="02051C"/>
                </a:solidFill>
                <a:effectLst/>
                <a:uLnTx/>
                <a:uFillTx/>
                <a:latin typeface="Manrope"/>
                <a:cs typeface="Calibri" panose="020F0502020204030204" pitchFamily="34" charset="0"/>
              </a:rPr>
              <a:t>Atlas, knowledge management system </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dirty="0" err="1">
                <a:ln>
                  <a:noFill/>
                </a:ln>
                <a:solidFill>
                  <a:srgbClr val="02051C"/>
                </a:solidFill>
                <a:effectLst/>
                <a:uLnTx/>
                <a:uFillTx/>
                <a:latin typeface="Manrope"/>
                <a:cs typeface="Calibri" panose="020F0502020204030204" pitchFamily="34" charset="0"/>
              </a:rPr>
              <a:t>EY.ai</a:t>
            </a:r>
            <a:r>
              <a:rPr kumimoji="0" lang="en-US" sz="1000" b="0" i="0" u="none" strike="noStrike" kern="0" cap="none" spc="0" normalizeH="0" baseline="0" noProof="0" dirty="0">
                <a:ln>
                  <a:noFill/>
                </a:ln>
                <a:solidFill>
                  <a:srgbClr val="02051C"/>
                </a:solidFill>
                <a:effectLst/>
                <a:uLnTx/>
                <a:uFillTx/>
                <a:latin typeface="Manrope"/>
                <a:cs typeface="Calibri" panose="020F0502020204030204" pitchFamily="34" charset="0"/>
              </a:rPr>
              <a:t> </a:t>
            </a:r>
            <a:r>
              <a:rPr kumimoji="0" lang="en-US" sz="1000" b="0" i="0" u="none" strike="noStrike" kern="0" cap="none" spc="0" normalizeH="0" baseline="0" noProof="0" dirty="0" err="1">
                <a:ln>
                  <a:noFill/>
                </a:ln>
                <a:solidFill>
                  <a:srgbClr val="02051C"/>
                </a:solidFill>
                <a:effectLst/>
                <a:uLnTx/>
                <a:uFillTx/>
                <a:latin typeface="Manrope"/>
                <a:cs typeface="Calibri" panose="020F0502020204030204" pitchFamily="34" charset="0"/>
              </a:rPr>
              <a:t>Potal</a:t>
            </a:r>
            <a:r>
              <a:rPr kumimoji="0" lang="en-US" sz="1000" b="0" i="0" u="none" strike="noStrike" kern="0" cap="none" spc="0" normalizeH="0" baseline="0" noProof="0" dirty="0">
                <a:ln>
                  <a:noFill/>
                </a:ln>
                <a:solidFill>
                  <a:srgbClr val="02051C"/>
                </a:solidFill>
                <a:effectLst/>
                <a:uLnTx/>
                <a:uFillTx/>
                <a:latin typeface="Manrope"/>
                <a:cs typeface="Calibri" panose="020F0502020204030204" pitchFamily="34" charset="0"/>
              </a:rPr>
              <a:t> implementation for hosting all the AI solutions across EY</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dirty="0">
                <a:ln>
                  <a:noFill/>
                </a:ln>
                <a:solidFill>
                  <a:srgbClr val="02051C"/>
                </a:solidFill>
                <a:effectLst/>
                <a:uLnTx/>
                <a:uFillTx/>
                <a:latin typeface="Manrope"/>
                <a:cs typeface="Calibri" panose="020F0502020204030204" pitchFamily="34" charset="0"/>
              </a:rPr>
              <a:t>Documents and Reports - download and view tracking</a:t>
            </a:r>
          </a:p>
        </p:txBody>
      </p:sp>
      <p:sp>
        <p:nvSpPr>
          <p:cNvPr id="34" name="Rectangle 33">
            <a:extLst>
              <a:ext uri="{FF2B5EF4-FFF2-40B4-BE49-F238E27FC236}">
                <a16:creationId xmlns:a16="http://schemas.microsoft.com/office/drawing/2014/main" id="{0CECE63E-8501-B494-792B-174D583BD8AD}"/>
              </a:ext>
            </a:extLst>
          </p:cNvPr>
          <p:cNvSpPr/>
          <p:nvPr/>
        </p:nvSpPr>
        <p:spPr>
          <a:xfrm>
            <a:off x="8941784" y="1428096"/>
            <a:ext cx="2627311" cy="1076840"/>
          </a:xfrm>
          <a:prstGeom prst="rect">
            <a:avLst/>
          </a:prstGeom>
          <a:noFill/>
          <a:ln w="12700" cap="flat" cmpd="sng" algn="ctr">
            <a:noFill/>
            <a:prstDash val="solid"/>
            <a:miter lim="800000"/>
          </a:ln>
          <a:effectLst/>
        </p:spPr>
        <p:txBody>
          <a:bodyPr lIns="0" tIns="0" rIns="0" bIns="0" rtlCol="0" anchor="t">
            <a:noAutofit/>
          </a:bodyPr>
          <a:lstStyle/>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rPr>
              <a:t>Comprehensive eCommerce enablement (D2C &amp; B2B2C) for a leading multi-brand global office  furnishings manufacturer</a:t>
            </a:r>
          </a:p>
          <a:p>
            <a:pPr marL="228600" marR="0" lvl="1" indent="-228600" algn="l" defTabSz="914400" rtl="0" eaLnBrk="1" fontAlgn="base" latinLnBrk="0" hangingPunct="1">
              <a:lnSpc>
                <a:spcPct val="110000"/>
              </a:lnSpc>
              <a:spcBef>
                <a:spcPts val="300"/>
              </a:spcBef>
              <a:spcAft>
                <a:spcPct val="0"/>
              </a:spcAft>
              <a:buClr>
                <a:srgbClr val="3C2DDA"/>
              </a:buClr>
              <a:buSzPct val="100000"/>
              <a:buFont typeface="Arial" panose="020B0604020202020204" pitchFamily="34" charset="0"/>
              <a:buChar char="•"/>
              <a:tabLst/>
              <a:defRPr/>
            </a:pPr>
            <a:r>
              <a:rPr kumimoji="0" lang="en-US" sz="1000" b="0" i="0" u="none" strike="noStrike" kern="1200" cap="none" spc="10" normalizeH="0" baseline="0" noProof="0">
                <a:ln>
                  <a:noFill/>
                </a:ln>
                <a:solidFill>
                  <a:srgbClr val="02051C"/>
                </a:solidFill>
                <a:effectLst/>
                <a:uLnTx/>
                <a:uFillTx/>
                <a:latin typeface="Manrope"/>
              </a:rPr>
              <a:t>Implemented a cloud-based, enterprise-grade commerce platform, Magento, ensuring future scalability and extensibility</a:t>
            </a:r>
            <a:endParaRPr kumimoji="0" lang="en-US" sz="1000" b="0" i="0" u="none" strike="noStrike" kern="0" cap="none" spc="0" normalizeH="0" baseline="0" noProof="0">
              <a:ln>
                <a:noFill/>
              </a:ln>
              <a:solidFill>
                <a:srgbClr val="02051C"/>
              </a:solidFill>
              <a:effectLst/>
              <a:uLnTx/>
              <a:uFillTx/>
              <a:latin typeface="Manrope"/>
              <a:cs typeface="Calibri" panose="020F0502020204030204" pitchFamily="34" charset="0"/>
            </a:endParaRPr>
          </a:p>
        </p:txBody>
      </p:sp>
      <p:pic>
        <p:nvPicPr>
          <p:cNvPr id="35" name="Picture 34">
            <a:extLst>
              <a:ext uri="{FF2B5EF4-FFF2-40B4-BE49-F238E27FC236}">
                <a16:creationId xmlns:a16="http://schemas.microsoft.com/office/drawing/2014/main" id="{E16B09E2-2ADB-1D62-7F5E-3B19CAFA0F9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032842" y="944393"/>
            <a:ext cx="697726" cy="398210"/>
          </a:xfrm>
          <a:prstGeom prst="rect">
            <a:avLst/>
          </a:prstGeom>
        </p:spPr>
      </p:pic>
      <p:pic>
        <p:nvPicPr>
          <p:cNvPr id="36" name="Picture 2">
            <a:extLst>
              <a:ext uri="{FF2B5EF4-FFF2-40B4-BE49-F238E27FC236}">
                <a16:creationId xmlns:a16="http://schemas.microsoft.com/office/drawing/2014/main" id="{586154E2-9747-452E-B5EF-8F150786D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533" y="1053864"/>
            <a:ext cx="868167" cy="22687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Logo, company name&#10;&#10;Description automatically generated">
            <a:extLst>
              <a:ext uri="{FF2B5EF4-FFF2-40B4-BE49-F238E27FC236}">
                <a16:creationId xmlns:a16="http://schemas.microsoft.com/office/drawing/2014/main" id="{A24F3B54-BFE6-3FCF-B35C-672EDEB6B5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2699" y="3777269"/>
            <a:ext cx="1320403" cy="253724"/>
          </a:xfrm>
          <a:prstGeom prst="rect">
            <a:avLst/>
          </a:prstGeom>
        </p:spPr>
      </p:pic>
      <p:pic>
        <p:nvPicPr>
          <p:cNvPr id="38" name="Picture 37">
            <a:extLst>
              <a:ext uri="{FF2B5EF4-FFF2-40B4-BE49-F238E27FC236}">
                <a16:creationId xmlns:a16="http://schemas.microsoft.com/office/drawing/2014/main" id="{BB601733-EC33-F831-F91A-7A8EE8709B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4523" y="952661"/>
            <a:ext cx="352657" cy="352657"/>
          </a:xfrm>
          <a:prstGeom prst="rect">
            <a:avLst/>
          </a:prstGeom>
        </p:spPr>
      </p:pic>
      <p:pic>
        <p:nvPicPr>
          <p:cNvPr id="39" name="Picture 38" descr="Image result for ADobe">
            <a:extLst>
              <a:ext uri="{FF2B5EF4-FFF2-40B4-BE49-F238E27FC236}">
                <a16:creationId xmlns:a16="http://schemas.microsoft.com/office/drawing/2014/main" id="{4D6E595C-B8C4-2E71-06D6-A6EB694EFF1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328691" y="1039340"/>
            <a:ext cx="868167" cy="22631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Lv= Home Insurance - Liverpool Victoria Logo Transparent PNG - 1000x1000 -  Free Download on NicePNG">
            <a:extLst>
              <a:ext uri="{FF2B5EF4-FFF2-40B4-BE49-F238E27FC236}">
                <a16:creationId xmlns:a16="http://schemas.microsoft.com/office/drawing/2014/main" id="{9F54314B-1254-9805-1064-12AF7C19EFB9}"/>
              </a:ext>
            </a:extLst>
          </p:cNvPr>
          <p:cNvPicPr>
            <a:picLocks noChangeAspect="1" noChangeArrowheads="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t="8905" b="27991"/>
          <a:stretch/>
        </p:blipFill>
        <p:spPr bwMode="auto">
          <a:xfrm>
            <a:off x="3419454" y="1004627"/>
            <a:ext cx="784042" cy="2718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Picturepark Connector for Sitecore">
            <a:extLst>
              <a:ext uri="{FF2B5EF4-FFF2-40B4-BE49-F238E27FC236}">
                <a16:creationId xmlns:a16="http://schemas.microsoft.com/office/drawing/2014/main" id="{CC11C551-7C1A-9C79-8279-ACFA5CC57A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3621" y="978803"/>
            <a:ext cx="1195127" cy="33702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Picturepark Connector for Sitecore">
            <a:extLst>
              <a:ext uri="{FF2B5EF4-FFF2-40B4-BE49-F238E27FC236}">
                <a16:creationId xmlns:a16="http://schemas.microsoft.com/office/drawing/2014/main" id="{AD25EB33-8E7C-E966-4E3C-BE9FD7D9C5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99149" y="3755534"/>
            <a:ext cx="1043177" cy="29417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Image result for ADobe">
            <a:extLst>
              <a:ext uri="{FF2B5EF4-FFF2-40B4-BE49-F238E27FC236}">
                <a16:creationId xmlns:a16="http://schemas.microsoft.com/office/drawing/2014/main" id="{14AE05EB-08CE-B93E-4A6F-16BF66D08B5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786653" y="1027371"/>
            <a:ext cx="868167" cy="2263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2BAF90C6-FA9E-1EBF-B5B3-92E4CF397EE5}"/>
              </a:ext>
            </a:extLst>
          </p:cNvPr>
          <p:cNvPicPr>
            <a:picLocks noChangeAspect="1"/>
          </p:cNvPicPr>
          <p:nvPr/>
        </p:nvPicPr>
        <p:blipFill>
          <a:blip r:embed="rId9"/>
          <a:stretch>
            <a:fillRect/>
          </a:stretch>
        </p:blipFill>
        <p:spPr>
          <a:xfrm>
            <a:off x="9032842" y="3794389"/>
            <a:ext cx="924093" cy="272438"/>
          </a:xfrm>
          <a:prstGeom prst="rect">
            <a:avLst/>
          </a:prstGeom>
        </p:spPr>
      </p:pic>
      <p:pic>
        <p:nvPicPr>
          <p:cNvPr id="45" name="Picture 44" descr="A logo of a university&#10;&#10;Description automatically generated">
            <a:extLst>
              <a:ext uri="{FF2B5EF4-FFF2-40B4-BE49-F238E27FC236}">
                <a16:creationId xmlns:a16="http://schemas.microsoft.com/office/drawing/2014/main" id="{CAB678EC-A0AE-19E4-4B2E-F0AB648F2B0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70294" y="3762640"/>
            <a:ext cx="482361" cy="387835"/>
          </a:xfrm>
          <a:prstGeom prst="rect">
            <a:avLst/>
          </a:prstGeom>
        </p:spPr>
      </p:pic>
      <p:pic>
        <p:nvPicPr>
          <p:cNvPr id="46" name="Picture 2" descr="Adobe launches its Commerce Cloud, based on its Magento acquisition |  TechCrunch">
            <a:extLst>
              <a:ext uri="{FF2B5EF4-FFF2-40B4-BE49-F238E27FC236}">
                <a16:creationId xmlns:a16="http://schemas.microsoft.com/office/drawing/2014/main" id="{1EEEA5E0-2B5D-087F-EA0B-4B5AA7142802}"/>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581776" y="971160"/>
            <a:ext cx="934240" cy="38881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Image result for ADobe">
            <a:extLst>
              <a:ext uri="{FF2B5EF4-FFF2-40B4-BE49-F238E27FC236}">
                <a16:creationId xmlns:a16="http://schemas.microsoft.com/office/drawing/2014/main" id="{2C2E4D0F-838F-9673-8E17-9ACC9A5975E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94820" y="3795950"/>
            <a:ext cx="868167" cy="22631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Image result for ADobe">
            <a:extLst>
              <a:ext uri="{FF2B5EF4-FFF2-40B4-BE49-F238E27FC236}">
                <a16:creationId xmlns:a16="http://schemas.microsoft.com/office/drawing/2014/main" id="{49A5FE9C-D945-4993-26EB-FFED53A9E3DC}"/>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0507050" y="3794389"/>
            <a:ext cx="868167" cy="22631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Logo, company name&#10;&#10;Description automatically generated">
            <a:extLst>
              <a:ext uri="{FF2B5EF4-FFF2-40B4-BE49-F238E27FC236}">
                <a16:creationId xmlns:a16="http://schemas.microsoft.com/office/drawing/2014/main" id="{6ED4343D-00B8-964E-F761-791D7C69124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25455" y="3751433"/>
            <a:ext cx="676050" cy="380735"/>
          </a:xfrm>
          <a:prstGeom prst="rect">
            <a:avLst/>
          </a:prstGeom>
        </p:spPr>
      </p:pic>
      <p:pic>
        <p:nvPicPr>
          <p:cNvPr id="50" name="Picture 2" descr="AWS Marketplace: commercetools">
            <a:extLst>
              <a:ext uri="{FF2B5EF4-FFF2-40B4-BE49-F238E27FC236}">
                <a16:creationId xmlns:a16="http://schemas.microsoft.com/office/drawing/2014/main" id="{7FAA169D-6934-600E-ECEF-8D71491C0EF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5497" y="3798812"/>
            <a:ext cx="709285" cy="397629"/>
          </a:xfrm>
          <a:prstGeom prst="rect">
            <a:avLst/>
          </a:prstGeom>
          <a:noFill/>
          <a:extLst>
            <a:ext uri="{909E8E84-426E-40DD-AFC4-6F175D3DCCD1}">
              <a14:hiddenFill xmlns:a14="http://schemas.microsoft.com/office/drawing/2010/main">
                <a:solidFill>
                  <a:srgbClr val="FFFFFF"/>
                </a:solidFill>
              </a14:hiddenFill>
            </a:ext>
          </a:extLst>
        </p:spPr>
      </p:pic>
      <p:sp>
        <p:nvSpPr>
          <p:cNvPr id="54" name="Text Placeholder 1">
            <a:extLst>
              <a:ext uri="{FF2B5EF4-FFF2-40B4-BE49-F238E27FC236}">
                <a16:creationId xmlns:a16="http://schemas.microsoft.com/office/drawing/2014/main" id="{A682C3CD-E35E-9295-DE2D-057F6C911BE1}"/>
              </a:ext>
            </a:extLst>
          </p:cNvPr>
          <p:cNvSpPr txBox="1">
            <a:spLocks noGrp="1"/>
          </p:cNvSpPr>
          <p:nvPr>
            <p:ph type="body" sz="quarter" idx="15"/>
          </p:nvPr>
        </p:nvSpPr>
        <p:spPr>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a:t>Success Stories – Content &amp; Commerce</a:t>
            </a:r>
          </a:p>
        </p:txBody>
      </p:sp>
    </p:spTree>
    <p:extLst>
      <p:ext uri="{BB962C8B-B14F-4D97-AF65-F5344CB8AC3E}">
        <p14:creationId xmlns:p14="http://schemas.microsoft.com/office/powerpoint/2010/main" val="577323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58B4-EBE4-57C6-3657-82F312C5E5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74D3885-5ACD-4B3B-E175-C5EBDD382D5E}"/>
              </a:ext>
            </a:extLst>
          </p:cNvPr>
          <p:cNvSpPr>
            <a:spLocks noGrp="1"/>
          </p:cNvSpPr>
          <p:nvPr>
            <p:ph type="body" sz="quarter" idx="18"/>
          </p:nvPr>
        </p:nvSpPr>
        <p:spPr>
          <a:xfrm>
            <a:off x="623888" y="5309240"/>
            <a:ext cx="961822" cy="428625"/>
          </a:xfrm>
        </p:spPr>
        <p:txBody>
          <a:bodyPr lIns="0" tIns="0" rIns="0" bIns="0" anchor="t">
            <a:normAutofit/>
          </a:bodyPr>
          <a:lstStyle/>
          <a:p>
            <a:pPr>
              <a:lnSpc>
                <a:spcPct val="100000"/>
              </a:lnSpc>
            </a:pPr>
            <a:r>
              <a:rPr lang="en-US">
                <a:solidFill>
                  <a:schemeClr val="tx1"/>
                </a:solidFill>
                <a:latin typeface="Manrope" pitchFamily="2" charset="0"/>
              </a:rPr>
              <a:t>Luxury brands onboarded</a:t>
            </a:r>
          </a:p>
        </p:txBody>
      </p:sp>
      <p:sp>
        <p:nvSpPr>
          <p:cNvPr id="3" name="Text Placeholder 2">
            <a:extLst>
              <a:ext uri="{FF2B5EF4-FFF2-40B4-BE49-F238E27FC236}">
                <a16:creationId xmlns:a16="http://schemas.microsoft.com/office/drawing/2014/main" id="{F16157D8-256B-F8C1-3EF8-25B530372C5D}"/>
              </a:ext>
            </a:extLst>
          </p:cNvPr>
          <p:cNvSpPr>
            <a:spLocks noGrp="1"/>
          </p:cNvSpPr>
          <p:nvPr>
            <p:ph type="body" sz="quarter" idx="19"/>
          </p:nvPr>
        </p:nvSpPr>
        <p:spPr>
          <a:xfrm>
            <a:off x="623888" y="4853354"/>
            <a:ext cx="1234991" cy="415498"/>
          </a:xfrm>
        </p:spPr>
        <p:txBody>
          <a:bodyPr wrap="square" lIns="0" tIns="0" rIns="0" bIns="0" rtlCol="0" anchor="t">
            <a:spAutoFit/>
          </a:bodyPr>
          <a:lstStyle/>
          <a:p>
            <a:r>
              <a:rPr lang="en-US">
                <a:latin typeface="Manrope" pitchFamily="2" charset="0"/>
              </a:rPr>
              <a:t>40+</a:t>
            </a:r>
          </a:p>
        </p:txBody>
      </p:sp>
      <p:sp>
        <p:nvSpPr>
          <p:cNvPr id="4" name="Text Placeholder 3">
            <a:extLst>
              <a:ext uri="{FF2B5EF4-FFF2-40B4-BE49-F238E27FC236}">
                <a16:creationId xmlns:a16="http://schemas.microsoft.com/office/drawing/2014/main" id="{49613E09-1DB9-EC17-1204-8ADB8659056F}"/>
              </a:ext>
            </a:extLst>
          </p:cNvPr>
          <p:cNvSpPr>
            <a:spLocks noGrp="1"/>
          </p:cNvSpPr>
          <p:nvPr>
            <p:ph type="body" sz="quarter" idx="20"/>
          </p:nvPr>
        </p:nvSpPr>
        <p:spPr>
          <a:xfrm>
            <a:off x="623887" y="1696923"/>
            <a:ext cx="5476145" cy="2471659"/>
          </a:xfrm>
        </p:spPr>
        <p:txBody>
          <a:bodyPr lIns="0" tIns="0" rIns="0" bIns="0" anchor="t">
            <a:normAutofit/>
          </a:bodyPr>
          <a:lstStyle/>
          <a:p>
            <a:pPr>
              <a:lnSpc>
                <a:spcPct val="100000"/>
              </a:lnSpc>
              <a:spcBef>
                <a:spcPts val="0"/>
              </a:spcBef>
              <a:spcAft>
                <a:spcPts val="600"/>
              </a:spcAft>
            </a:pPr>
            <a:r>
              <a:rPr lang="en-IN" sz="1000" dirty="0">
                <a:latin typeface="Manrope" pitchFamily="2" charset="0"/>
              </a:rPr>
              <a:t>Hexaware partnered with Ordre Group to d</a:t>
            </a:r>
            <a:r>
              <a:rPr lang="en-US" sz="1000" dirty="0" err="1">
                <a:latin typeface="Manrope" pitchFamily="2" charset="0"/>
              </a:rPr>
              <a:t>esign</a:t>
            </a:r>
            <a:r>
              <a:rPr lang="en-US" sz="1000" dirty="0">
                <a:latin typeface="Manrope" pitchFamily="2" charset="0"/>
              </a:rPr>
              <a:t> experiences and implement the Ordre Meta Digital Experience Platform. Ordre Meta, a multi-tenant immersive digitally native experience enables luxury designer brands launch customizable virtual showrooms in a few simple guided clicks that enable unique brand interaction journeys, on-brand experience, intuitive</a:t>
            </a:r>
            <a:r>
              <a:rPr lang="en-US" sz="1000" dirty="0">
                <a:latin typeface="Manrope" pitchFamily="2" charset="0"/>
                <a:cs typeface="Arial"/>
              </a:rPr>
              <a:t> administration and themes to a URL of their choice. </a:t>
            </a:r>
            <a:endParaRPr lang="en-IN" sz="1000" dirty="0">
              <a:latin typeface="Manrope" pitchFamily="2" charset="0"/>
              <a:cs typeface="Arial"/>
            </a:endParaRPr>
          </a:p>
          <a:p>
            <a:pPr>
              <a:lnSpc>
                <a:spcPct val="100000"/>
              </a:lnSpc>
              <a:spcBef>
                <a:spcPts val="0"/>
              </a:spcBef>
              <a:spcAft>
                <a:spcPts val="300"/>
              </a:spcAft>
            </a:pPr>
            <a:r>
              <a:rPr lang="en-US" sz="1000" dirty="0">
                <a:latin typeface="Manrope" pitchFamily="2" charset="0"/>
                <a:cs typeface="Arial"/>
              </a:rPr>
              <a:t>The platform powers the following features.</a:t>
            </a:r>
            <a:endParaRPr lang="en-IN" sz="1000" dirty="0">
              <a:latin typeface="Manrope" pitchFamily="2" charset="0"/>
              <a:cs typeface="Arial"/>
            </a:endParaRPr>
          </a:p>
          <a:p>
            <a:pPr marL="314325" lvl="1" indent="-173038">
              <a:lnSpc>
                <a:spcPct val="100000"/>
              </a:lnSpc>
              <a:spcBef>
                <a:spcPts val="0"/>
              </a:spcBef>
              <a:spcAft>
                <a:spcPts val="300"/>
              </a:spcAft>
              <a:buClr>
                <a:schemeClr val="tx1"/>
              </a:buClr>
            </a:pPr>
            <a:r>
              <a:rPr lang="en-US" sz="1000" spc="10" dirty="0">
                <a:latin typeface="Manrope" pitchFamily="2" charset="0"/>
                <a:cs typeface="Arial"/>
              </a:rPr>
              <a:t>360-degree</a:t>
            </a:r>
            <a:r>
              <a:rPr lang="en-US" sz="1000" spc="10" dirty="0">
                <a:latin typeface="Manrope" pitchFamily="2" charset="0"/>
              </a:rPr>
              <a:t> virtual tours &amp; looks collections.</a:t>
            </a:r>
            <a:endParaRPr lang="en-IN" sz="1000" spc="10" dirty="0">
              <a:latin typeface="Manrope" pitchFamily="2" charset="0"/>
            </a:endParaRPr>
          </a:p>
          <a:p>
            <a:pPr marL="314325" lvl="1" indent="-173038">
              <a:lnSpc>
                <a:spcPct val="100000"/>
              </a:lnSpc>
              <a:spcBef>
                <a:spcPts val="0"/>
              </a:spcBef>
              <a:spcAft>
                <a:spcPts val="300"/>
              </a:spcAft>
              <a:buClr>
                <a:schemeClr val="tx1"/>
              </a:buClr>
            </a:pPr>
            <a:r>
              <a:rPr lang="en-US" sz="1000" spc="10" dirty="0">
                <a:latin typeface="Manrope" pitchFamily="2" charset="0"/>
              </a:rPr>
              <a:t>Cross-platform customizations and templates to power purposeful on-brand gravity.</a:t>
            </a:r>
            <a:endParaRPr lang="en-IN" sz="1000" spc="10" dirty="0">
              <a:latin typeface="Manrope" pitchFamily="2" charset="0"/>
            </a:endParaRPr>
          </a:p>
          <a:p>
            <a:pPr marL="314325" lvl="1" indent="-173038">
              <a:lnSpc>
                <a:spcPct val="100000"/>
              </a:lnSpc>
              <a:spcBef>
                <a:spcPts val="0"/>
              </a:spcBef>
              <a:spcAft>
                <a:spcPts val="300"/>
              </a:spcAft>
              <a:buClr>
                <a:schemeClr val="tx1"/>
              </a:buClr>
            </a:pPr>
            <a:r>
              <a:rPr lang="en-US" sz="1000" spc="10" dirty="0">
                <a:latin typeface="Manrope" pitchFamily="2" charset="0"/>
              </a:rPr>
              <a:t>Synchronized virtual and physical orders.</a:t>
            </a:r>
            <a:endParaRPr lang="en-IN" sz="1000" spc="10" dirty="0">
              <a:latin typeface="Manrope" pitchFamily="2" charset="0"/>
            </a:endParaRPr>
          </a:p>
          <a:p>
            <a:pPr marL="314325" lvl="1" indent="-173038">
              <a:lnSpc>
                <a:spcPct val="100000"/>
              </a:lnSpc>
              <a:spcBef>
                <a:spcPts val="0"/>
              </a:spcBef>
              <a:spcAft>
                <a:spcPts val="300"/>
              </a:spcAft>
              <a:buClr>
                <a:schemeClr val="tx1"/>
              </a:buClr>
            </a:pPr>
            <a:r>
              <a:rPr lang="en-US" sz="1000" spc="10" dirty="0">
                <a:latin typeface="Manrope" pitchFamily="2" charset="0"/>
              </a:rPr>
              <a:t>Sophisticated navigation and user pathways.</a:t>
            </a:r>
            <a:endParaRPr lang="en-IN" sz="1000" spc="10" dirty="0">
              <a:latin typeface="Manrope" pitchFamily="2" charset="0"/>
            </a:endParaRPr>
          </a:p>
          <a:p>
            <a:pPr marL="314325" lvl="1" indent="-173038">
              <a:lnSpc>
                <a:spcPct val="100000"/>
              </a:lnSpc>
              <a:spcBef>
                <a:spcPts val="0"/>
              </a:spcBef>
              <a:spcAft>
                <a:spcPts val="300"/>
              </a:spcAft>
              <a:buClr>
                <a:schemeClr val="tx1"/>
              </a:buClr>
            </a:pPr>
            <a:r>
              <a:rPr lang="en-US" sz="1000" spc="10" dirty="0">
                <a:latin typeface="Manrope" pitchFamily="2" charset="0"/>
              </a:rPr>
              <a:t>Multiple currencies and regionalization.</a:t>
            </a:r>
            <a:endParaRPr lang="en-IN" sz="1000" spc="10" dirty="0">
              <a:latin typeface="Manrope" pitchFamily="2" charset="0"/>
            </a:endParaRPr>
          </a:p>
          <a:p>
            <a:pPr marL="314325" lvl="1" indent="-173038">
              <a:lnSpc>
                <a:spcPct val="100000"/>
              </a:lnSpc>
              <a:spcBef>
                <a:spcPts val="0"/>
              </a:spcBef>
              <a:spcAft>
                <a:spcPts val="300"/>
              </a:spcAft>
              <a:buClr>
                <a:schemeClr val="tx1"/>
              </a:buClr>
            </a:pPr>
            <a:r>
              <a:rPr lang="en-US" sz="1000" spc="10" dirty="0">
                <a:latin typeface="Manrope" pitchFamily="2" charset="0"/>
              </a:rPr>
              <a:t>AR and 3D rendering.</a:t>
            </a:r>
            <a:endParaRPr lang="en-IN" sz="1000" spc="10" dirty="0">
              <a:latin typeface="Manrope" pitchFamily="2" charset="0"/>
            </a:endParaRPr>
          </a:p>
          <a:p>
            <a:pPr marL="314325" lvl="1" indent="-173038">
              <a:lnSpc>
                <a:spcPct val="100000"/>
              </a:lnSpc>
              <a:spcBef>
                <a:spcPts val="0"/>
              </a:spcBef>
              <a:spcAft>
                <a:spcPts val="300"/>
              </a:spcAft>
              <a:buClr>
                <a:schemeClr val="tx1"/>
              </a:buClr>
            </a:pPr>
            <a:r>
              <a:rPr lang="en-US" sz="1000" spc="10" dirty="0">
                <a:latin typeface="Manrope" pitchFamily="2" charset="0"/>
              </a:rPr>
              <a:t>VR immersive showrooms.</a:t>
            </a:r>
            <a:endParaRPr lang="en-IN" sz="1000" spc="10" dirty="0">
              <a:latin typeface="Manrope" pitchFamily="2" charset="0"/>
            </a:endParaRPr>
          </a:p>
        </p:txBody>
      </p:sp>
      <p:sp>
        <p:nvSpPr>
          <p:cNvPr id="6" name="Text Placeholder 5">
            <a:extLst>
              <a:ext uri="{FF2B5EF4-FFF2-40B4-BE49-F238E27FC236}">
                <a16:creationId xmlns:a16="http://schemas.microsoft.com/office/drawing/2014/main" id="{80470AF6-22A1-3B5D-BB2D-DFF68154E829}"/>
              </a:ext>
            </a:extLst>
          </p:cNvPr>
          <p:cNvSpPr>
            <a:spLocks noGrp="1"/>
          </p:cNvSpPr>
          <p:nvPr>
            <p:ph type="body" sz="quarter" idx="24"/>
          </p:nvPr>
        </p:nvSpPr>
        <p:spPr>
          <a:xfrm>
            <a:off x="1811271" y="5309240"/>
            <a:ext cx="1206651" cy="781977"/>
          </a:xfrm>
        </p:spPr>
        <p:txBody>
          <a:bodyPr lIns="0" tIns="0" rIns="0" bIns="0" anchor="t">
            <a:normAutofit/>
          </a:bodyPr>
          <a:lstStyle/>
          <a:p>
            <a:pPr>
              <a:lnSpc>
                <a:spcPct val="100000"/>
              </a:lnSpc>
            </a:pPr>
            <a:r>
              <a:rPr lang="en-US">
                <a:solidFill>
                  <a:schemeClr val="tx1"/>
                </a:solidFill>
                <a:latin typeface="Manrope" pitchFamily="2" charset="0"/>
              </a:rPr>
              <a:t>revenue generated in the 1st year</a:t>
            </a:r>
          </a:p>
        </p:txBody>
      </p:sp>
      <p:sp>
        <p:nvSpPr>
          <p:cNvPr id="7" name="Text Placeholder 6">
            <a:extLst>
              <a:ext uri="{FF2B5EF4-FFF2-40B4-BE49-F238E27FC236}">
                <a16:creationId xmlns:a16="http://schemas.microsoft.com/office/drawing/2014/main" id="{484E4BC5-6688-6FC9-35CF-5C1E05ACE0D7}"/>
              </a:ext>
            </a:extLst>
          </p:cNvPr>
          <p:cNvSpPr>
            <a:spLocks noGrp="1"/>
          </p:cNvSpPr>
          <p:nvPr>
            <p:ph type="body" sz="quarter" idx="25"/>
          </p:nvPr>
        </p:nvSpPr>
        <p:spPr>
          <a:xfrm>
            <a:off x="1811547" y="4853354"/>
            <a:ext cx="1234991" cy="415498"/>
          </a:xfrm>
        </p:spPr>
        <p:txBody>
          <a:bodyPr wrap="square" lIns="0" tIns="0" rIns="0" bIns="0" rtlCol="0" anchor="t">
            <a:spAutoFit/>
          </a:bodyPr>
          <a:lstStyle/>
          <a:p>
            <a:r>
              <a:rPr lang="en-US">
                <a:latin typeface="Manrope" pitchFamily="2" charset="0"/>
              </a:rPr>
              <a:t>$14Mn</a:t>
            </a:r>
          </a:p>
        </p:txBody>
      </p:sp>
      <p:sp>
        <p:nvSpPr>
          <p:cNvPr id="8" name="Text Placeholder 7">
            <a:extLst>
              <a:ext uri="{FF2B5EF4-FFF2-40B4-BE49-F238E27FC236}">
                <a16:creationId xmlns:a16="http://schemas.microsoft.com/office/drawing/2014/main" id="{CA5BA45E-91C6-E819-D0CC-56EE2B9085AF}"/>
              </a:ext>
            </a:extLst>
          </p:cNvPr>
          <p:cNvSpPr>
            <a:spLocks noGrp="1"/>
          </p:cNvSpPr>
          <p:nvPr>
            <p:ph type="body" sz="quarter" idx="26"/>
          </p:nvPr>
        </p:nvSpPr>
        <p:spPr>
          <a:xfrm>
            <a:off x="3335002" y="5309240"/>
            <a:ext cx="1234991" cy="574744"/>
          </a:xfrm>
        </p:spPr>
        <p:txBody>
          <a:bodyPr lIns="0" tIns="0" rIns="0" bIns="0" anchor="t">
            <a:normAutofit/>
          </a:bodyPr>
          <a:lstStyle/>
          <a:p>
            <a:pPr>
              <a:lnSpc>
                <a:spcPct val="100000"/>
              </a:lnSpc>
            </a:pPr>
            <a:r>
              <a:rPr lang="en-US">
                <a:solidFill>
                  <a:schemeClr val="tx1"/>
                </a:solidFill>
                <a:latin typeface="Manrope" pitchFamily="2" charset="0"/>
              </a:rPr>
              <a:t>Year two projected revenue</a:t>
            </a:r>
          </a:p>
        </p:txBody>
      </p:sp>
      <p:sp>
        <p:nvSpPr>
          <p:cNvPr id="9" name="Text Placeholder 8">
            <a:extLst>
              <a:ext uri="{FF2B5EF4-FFF2-40B4-BE49-F238E27FC236}">
                <a16:creationId xmlns:a16="http://schemas.microsoft.com/office/drawing/2014/main" id="{37FF3002-59D5-83DB-CC4B-195F803F4377}"/>
              </a:ext>
            </a:extLst>
          </p:cNvPr>
          <p:cNvSpPr>
            <a:spLocks noGrp="1"/>
          </p:cNvSpPr>
          <p:nvPr>
            <p:ph type="body" sz="quarter" idx="27"/>
          </p:nvPr>
        </p:nvSpPr>
        <p:spPr>
          <a:xfrm>
            <a:off x="3313021" y="4853354"/>
            <a:ext cx="1234991" cy="415498"/>
          </a:xfrm>
        </p:spPr>
        <p:txBody>
          <a:bodyPr wrap="square" lIns="0" tIns="0" rIns="0" bIns="0" rtlCol="0" anchor="t">
            <a:spAutoFit/>
          </a:bodyPr>
          <a:lstStyle/>
          <a:p>
            <a:r>
              <a:rPr lang="en-US">
                <a:latin typeface="Manrope" pitchFamily="2" charset="0"/>
              </a:rPr>
              <a:t>$50Mn</a:t>
            </a:r>
          </a:p>
        </p:txBody>
      </p:sp>
      <p:sp>
        <p:nvSpPr>
          <p:cNvPr id="13" name="Title 12">
            <a:extLst>
              <a:ext uri="{FF2B5EF4-FFF2-40B4-BE49-F238E27FC236}">
                <a16:creationId xmlns:a16="http://schemas.microsoft.com/office/drawing/2014/main" id="{819431DA-B193-0035-6218-F80A9D3D1CE8}"/>
              </a:ext>
            </a:extLst>
          </p:cNvPr>
          <p:cNvSpPr>
            <a:spLocks noGrp="1"/>
          </p:cNvSpPr>
          <p:nvPr>
            <p:ph type="title"/>
          </p:nvPr>
        </p:nvSpPr>
        <p:spPr>
          <a:xfrm>
            <a:off x="623888" y="873036"/>
            <a:ext cx="5400676" cy="738664"/>
          </a:xfrm>
        </p:spPr>
        <p:txBody>
          <a:bodyPr wrap="square" lIns="0" tIns="0" rIns="0" bIns="0" rtlCol="0" anchor="t">
            <a:spAutoFit/>
          </a:bodyPr>
          <a:lstStyle/>
          <a:p>
            <a:r>
              <a:rPr lang="en-US" sz="1600">
                <a:latin typeface="Manrope" pitchFamily="2" charset="0"/>
              </a:rPr>
              <a:t>The World’s First-of-a-kind, Fully Customizable Luxury Fashion Showroom Experience for Luxury Buyers, Media and VIP’s</a:t>
            </a:r>
            <a:endParaRPr lang="en-IN" sz="1600" dirty="0">
              <a:effectLst/>
              <a:latin typeface="Manrope" pitchFamily="2" charset="0"/>
              <a:ea typeface="Times New Roman" panose="02020603050405020304" pitchFamily="18" charset="0"/>
            </a:endParaRPr>
          </a:p>
        </p:txBody>
      </p:sp>
      <p:sp>
        <p:nvSpPr>
          <p:cNvPr id="14" name="Text Placeholder 13">
            <a:extLst>
              <a:ext uri="{FF2B5EF4-FFF2-40B4-BE49-F238E27FC236}">
                <a16:creationId xmlns:a16="http://schemas.microsoft.com/office/drawing/2014/main" id="{A881851F-084C-F377-443D-3138B0D492A6}"/>
              </a:ext>
            </a:extLst>
          </p:cNvPr>
          <p:cNvSpPr>
            <a:spLocks noGrp="1"/>
          </p:cNvSpPr>
          <p:nvPr>
            <p:ph type="body" sz="quarter" idx="21"/>
          </p:nvPr>
        </p:nvSpPr>
        <p:spPr>
          <a:xfrm flipH="1">
            <a:off x="623888" y="457200"/>
            <a:ext cx="5300664" cy="216401"/>
          </a:xfrm>
        </p:spPr>
        <p:txBody>
          <a:bodyPr/>
          <a:lstStyle/>
          <a:p>
            <a:r>
              <a:rPr lang="en-US"/>
              <a:t>Fashion – A </a:t>
            </a:r>
            <a:r>
              <a:rPr lang="en-US" sz="1600"/>
              <a:t>Fashion-Tech startup</a:t>
            </a:r>
            <a:endParaRPr lang="en-US"/>
          </a:p>
        </p:txBody>
      </p:sp>
      <p:pic>
        <p:nvPicPr>
          <p:cNvPr id="20" name="Picture Placeholder 19">
            <a:extLst>
              <a:ext uri="{FF2B5EF4-FFF2-40B4-BE49-F238E27FC236}">
                <a16:creationId xmlns:a16="http://schemas.microsoft.com/office/drawing/2014/main" id="{E843431D-32B7-CBF9-BDE5-189BA6788520}"/>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t="883" b="883"/>
          <a:stretch/>
        </p:blipFill>
        <p:spPr>
          <a:xfrm>
            <a:off x="6438900" y="914488"/>
            <a:ext cx="5753100" cy="4856163"/>
          </a:xfrm>
          <a:prstGeom prst="rect">
            <a:avLst/>
          </a:prstGeom>
        </p:spPr>
      </p:pic>
      <p:grpSp>
        <p:nvGrpSpPr>
          <p:cNvPr id="21" name="Group 20">
            <a:extLst>
              <a:ext uri="{FF2B5EF4-FFF2-40B4-BE49-F238E27FC236}">
                <a16:creationId xmlns:a16="http://schemas.microsoft.com/office/drawing/2014/main" id="{C4902F5D-587D-F412-9C8C-71C41C124019}"/>
              </a:ext>
            </a:extLst>
          </p:cNvPr>
          <p:cNvGrpSpPr/>
          <p:nvPr/>
        </p:nvGrpSpPr>
        <p:grpSpPr>
          <a:xfrm>
            <a:off x="6714769" y="4285482"/>
            <a:ext cx="2435245" cy="1222318"/>
            <a:chOff x="1020405" y="4373410"/>
            <a:chExt cx="2435245" cy="1222318"/>
          </a:xfrm>
        </p:grpSpPr>
        <p:sp>
          <p:nvSpPr>
            <p:cNvPr id="22" name="Rectangle 21">
              <a:extLst>
                <a:ext uri="{FF2B5EF4-FFF2-40B4-BE49-F238E27FC236}">
                  <a16:creationId xmlns:a16="http://schemas.microsoft.com/office/drawing/2014/main" id="{ECB13247-FEDA-BCA6-5AD1-47976D2CC209}"/>
                </a:ext>
              </a:extLst>
            </p:cNvPr>
            <p:cNvSpPr/>
            <p:nvPr/>
          </p:nvSpPr>
          <p:spPr>
            <a:xfrm>
              <a:off x="1020405" y="4373410"/>
              <a:ext cx="2142344" cy="1222318"/>
            </a:xfrm>
            <a:prstGeom prst="rect">
              <a:avLst/>
            </a:pr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23" name="Picture 22">
              <a:extLst>
                <a:ext uri="{FF2B5EF4-FFF2-40B4-BE49-F238E27FC236}">
                  <a16:creationId xmlns:a16="http://schemas.microsoft.com/office/drawing/2014/main" id="{67319573-51B0-AFDD-DB2A-651ED76080E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5820" y="4984569"/>
              <a:ext cx="1736095" cy="552071"/>
            </a:xfrm>
            <a:prstGeom prst="rect">
              <a:avLst/>
            </a:prstGeom>
          </p:spPr>
        </p:pic>
        <p:sp>
          <p:nvSpPr>
            <p:cNvPr id="24" name="TextBox 23">
              <a:extLst>
                <a:ext uri="{FF2B5EF4-FFF2-40B4-BE49-F238E27FC236}">
                  <a16:creationId xmlns:a16="http://schemas.microsoft.com/office/drawing/2014/main" id="{2454E05D-67C2-2C37-E876-1543DA71B4E0}"/>
                </a:ext>
              </a:extLst>
            </p:cNvPr>
            <p:cNvSpPr txBox="1"/>
            <p:nvPr/>
          </p:nvSpPr>
          <p:spPr>
            <a:xfrm>
              <a:off x="1135820" y="4503314"/>
              <a:ext cx="2319830" cy="369332"/>
            </a:xfrm>
            <a:prstGeom prst="rect">
              <a:avLst/>
            </a:prstGeom>
            <a:noFill/>
          </p:spPr>
          <p:txBody>
            <a:bodyPr wrap="square" lIns="0" tIns="0" rIns="0" bIns="0" rtlCol="0">
              <a:spAutoFit/>
            </a:bodyPr>
            <a:lstStyle/>
            <a:p>
              <a:r>
                <a:rPr lang="en-US" sz="1200" noProof="0">
                  <a:latin typeface="Manrope" pitchFamily="2" charset="0"/>
                </a:rPr>
                <a:t>Winner in the </a:t>
              </a:r>
            </a:p>
            <a:p>
              <a:r>
                <a:rPr lang="en-US" sz="1200" noProof="0">
                  <a:latin typeface="Manrope" pitchFamily="2" charset="0"/>
                </a:rPr>
                <a:t>Transformation category</a:t>
              </a:r>
              <a:endParaRPr lang="en-US" sz="1200">
                <a:latin typeface="Manrope" pitchFamily="2" charset="0"/>
              </a:endParaRPr>
            </a:p>
          </p:txBody>
        </p:sp>
      </p:grpSp>
      <p:grpSp>
        <p:nvGrpSpPr>
          <p:cNvPr id="26" name="Group 25">
            <a:extLst>
              <a:ext uri="{FF2B5EF4-FFF2-40B4-BE49-F238E27FC236}">
                <a16:creationId xmlns:a16="http://schemas.microsoft.com/office/drawing/2014/main" id="{00835B5E-FA5B-E621-C811-93154F39FBF2}"/>
              </a:ext>
            </a:extLst>
          </p:cNvPr>
          <p:cNvGrpSpPr/>
          <p:nvPr/>
        </p:nvGrpSpPr>
        <p:grpSpPr>
          <a:xfrm>
            <a:off x="9632234" y="255181"/>
            <a:ext cx="1149180" cy="310219"/>
            <a:chOff x="9632234" y="255181"/>
            <a:chExt cx="1149180" cy="310219"/>
          </a:xfrm>
        </p:grpSpPr>
        <p:grpSp>
          <p:nvGrpSpPr>
            <p:cNvPr id="18" name="Group 17">
              <a:extLst>
                <a:ext uri="{FF2B5EF4-FFF2-40B4-BE49-F238E27FC236}">
                  <a16:creationId xmlns:a16="http://schemas.microsoft.com/office/drawing/2014/main" id="{A5947FA8-6A1B-79A5-6DF2-B6D88A303699}"/>
                </a:ext>
              </a:extLst>
            </p:cNvPr>
            <p:cNvGrpSpPr/>
            <p:nvPr/>
          </p:nvGrpSpPr>
          <p:grpSpPr>
            <a:xfrm>
              <a:off x="9632234" y="259479"/>
              <a:ext cx="980845" cy="305921"/>
              <a:chOff x="9738560" y="291539"/>
              <a:chExt cx="980845" cy="305921"/>
            </a:xfrm>
          </p:grpSpPr>
          <p:sp>
            <p:nvSpPr>
              <p:cNvPr id="11" name="Rectangle 10">
                <a:extLst>
                  <a:ext uri="{FF2B5EF4-FFF2-40B4-BE49-F238E27FC236}">
                    <a16:creationId xmlns:a16="http://schemas.microsoft.com/office/drawing/2014/main" id="{E316032D-0D4C-6BE1-14E8-8EF44C6A8BA5}"/>
                  </a:ext>
                </a:extLst>
              </p:cNvPr>
              <p:cNvSpPr/>
              <p:nvPr/>
            </p:nvSpPr>
            <p:spPr>
              <a:xfrm>
                <a:off x="9738560" y="291539"/>
                <a:ext cx="980845" cy="30592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anrope" pitchFamily="2" charset="0"/>
                </a:endParaRPr>
              </a:p>
            </p:txBody>
          </p:sp>
          <p:pic>
            <p:nvPicPr>
              <p:cNvPr id="16" name="Google Shape;1257;p133">
                <a:extLst>
                  <a:ext uri="{FF2B5EF4-FFF2-40B4-BE49-F238E27FC236}">
                    <a16:creationId xmlns:a16="http://schemas.microsoft.com/office/drawing/2014/main" id="{50608A2F-BA38-6157-23F6-33A5904EA83F}"/>
                  </a:ext>
                </a:extLst>
              </p:cNvPr>
              <p:cNvPicPr preferRelativeResize="0"/>
              <p:nvPr/>
            </p:nvPicPr>
            <p:blipFill>
              <a:blip r:embed="rId4" cstate="screen">
                <a:alphaModFix/>
                <a:duotone>
                  <a:prstClr val="black"/>
                  <a:schemeClr val="tx1">
                    <a:lumMod val="95000"/>
                    <a:lumOff val="5000"/>
                    <a:tint val="45000"/>
                    <a:satMod val="400000"/>
                  </a:schemeClr>
                </a:duotone>
                <a:extLst>
                  <a:ext uri="{BEBA8EAE-BF5A-486C-A8C5-ECC9F3942E4B}">
                    <a14:imgProps xmlns:a14="http://schemas.microsoft.com/office/drawing/2010/main">
                      <a14:imgLayer r:embed="rId5">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9823884" y="375403"/>
                <a:ext cx="810196" cy="138191"/>
              </a:xfrm>
              <a:prstGeom prst="rect">
                <a:avLst/>
              </a:prstGeom>
              <a:noFill/>
              <a:ln>
                <a:noFill/>
              </a:ln>
            </p:spPr>
          </p:pic>
        </p:grpSp>
        <p:cxnSp>
          <p:nvCxnSpPr>
            <p:cNvPr id="25" name="Straight Connector 24">
              <a:extLst>
                <a:ext uri="{FF2B5EF4-FFF2-40B4-BE49-F238E27FC236}">
                  <a16:creationId xmlns:a16="http://schemas.microsoft.com/office/drawing/2014/main" id="{28C84B04-A764-62F5-D758-33AC51351DED}"/>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3646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58B4-EBE4-57C6-3657-82F312C5E5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74D3885-5ACD-4B3B-E175-C5EBDD382D5E}"/>
              </a:ext>
            </a:extLst>
          </p:cNvPr>
          <p:cNvSpPr>
            <a:spLocks noGrp="1"/>
          </p:cNvSpPr>
          <p:nvPr>
            <p:ph type="body" sz="quarter" idx="18"/>
          </p:nvPr>
        </p:nvSpPr>
        <p:spPr>
          <a:xfrm>
            <a:off x="623886" y="5309240"/>
            <a:ext cx="1234991" cy="534101"/>
          </a:xfrm>
        </p:spPr>
        <p:txBody>
          <a:bodyPr lIns="0" tIns="0" rIns="0" bIns="0" anchor="t">
            <a:normAutofit/>
          </a:bodyPr>
          <a:lstStyle/>
          <a:p>
            <a:pPr>
              <a:lnSpc>
                <a:spcPct val="100000"/>
              </a:lnSpc>
            </a:pPr>
            <a:r>
              <a:rPr lang="en-US">
                <a:solidFill>
                  <a:schemeClr val="tx1"/>
                </a:solidFill>
                <a:latin typeface="Manrope" pitchFamily="2" charset="0"/>
              </a:rPr>
              <a:t>Streamlined number of pages on site (from 6000+ to 170)</a:t>
            </a:r>
          </a:p>
        </p:txBody>
      </p:sp>
      <p:sp>
        <p:nvSpPr>
          <p:cNvPr id="3" name="Text Placeholder 2">
            <a:extLst>
              <a:ext uri="{FF2B5EF4-FFF2-40B4-BE49-F238E27FC236}">
                <a16:creationId xmlns:a16="http://schemas.microsoft.com/office/drawing/2014/main" id="{F16157D8-256B-F8C1-3EF8-25B530372C5D}"/>
              </a:ext>
            </a:extLst>
          </p:cNvPr>
          <p:cNvSpPr>
            <a:spLocks noGrp="1"/>
          </p:cNvSpPr>
          <p:nvPr>
            <p:ph type="body" sz="quarter" idx="19"/>
          </p:nvPr>
        </p:nvSpPr>
        <p:spPr>
          <a:xfrm>
            <a:off x="623887" y="4853354"/>
            <a:ext cx="1234991" cy="415498"/>
          </a:xfrm>
        </p:spPr>
        <p:txBody>
          <a:bodyPr wrap="square" lIns="0" tIns="0" rIns="0" bIns="0" rtlCol="0" anchor="t">
            <a:spAutoFit/>
          </a:bodyPr>
          <a:lstStyle/>
          <a:p>
            <a:r>
              <a:rPr lang="en-US" dirty="0">
                <a:solidFill>
                  <a:srgbClr val="3C2CDA"/>
                </a:solidFill>
                <a:latin typeface="Manrope" pitchFamily="2" charset="0"/>
              </a:rPr>
              <a:t>97% </a:t>
            </a:r>
          </a:p>
        </p:txBody>
      </p:sp>
      <p:sp>
        <p:nvSpPr>
          <p:cNvPr id="4" name="Text Placeholder 3">
            <a:extLst>
              <a:ext uri="{FF2B5EF4-FFF2-40B4-BE49-F238E27FC236}">
                <a16:creationId xmlns:a16="http://schemas.microsoft.com/office/drawing/2014/main" id="{49613E09-1DB9-EC17-1204-8ADB8659056F}"/>
              </a:ext>
            </a:extLst>
          </p:cNvPr>
          <p:cNvSpPr>
            <a:spLocks noGrp="1"/>
          </p:cNvSpPr>
          <p:nvPr>
            <p:ph type="body" sz="quarter" idx="20"/>
          </p:nvPr>
        </p:nvSpPr>
        <p:spPr>
          <a:xfrm>
            <a:off x="623887" y="1424287"/>
            <a:ext cx="5476145" cy="3609555"/>
          </a:xfrm>
        </p:spPr>
        <p:txBody>
          <a:bodyPr lIns="0" tIns="0" rIns="0" bIns="0" anchor="t">
            <a:normAutofit/>
          </a:bodyPr>
          <a:lstStyle/>
          <a:p>
            <a:pPr>
              <a:lnSpc>
                <a:spcPct val="100000"/>
              </a:lnSpc>
              <a:spcBef>
                <a:spcPts val="0"/>
              </a:spcBef>
              <a:spcAft>
                <a:spcPts val="600"/>
              </a:spcAft>
            </a:pPr>
            <a:r>
              <a:rPr lang="en-US" sz="1000" dirty="0">
                <a:latin typeface="Manrope" pitchFamily="2" charset="0"/>
              </a:rPr>
              <a:t>Our team is engaged in transforming the end-to-end user experience of all group websites by aligning with the organizational digital strategy. </a:t>
            </a:r>
          </a:p>
          <a:p>
            <a:pPr>
              <a:lnSpc>
                <a:spcPct val="100000"/>
              </a:lnSpc>
              <a:spcBef>
                <a:spcPts val="0"/>
              </a:spcBef>
              <a:spcAft>
                <a:spcPts val="600"/>
              </a:spcAft>
            </a:pPr>
            <a:r>
              <a:rPr lang="en-US" sz="1000" dirty="0">
                <a:latin typeface="Manrope" pitchFamily="2" charset="0"/>
              </a:rPr>
              <a:t>In this journey, our consultants are involved in:</a:t>
            </a:r>
          </a:p>
          <a:p>
            <a:pPr lvl="1">
              <a:lnSpc>
                <a:spcPct val="100000"/>
              </a:lnSpc>
              <a:spcBef>
                <a:spcPts val="0"/>
              </a:spcBef>
              <a:spcAft>
                <a:spcPts val="600"/>
              </a:spcAft>
              <a:buClr>
                <a:schemeClr val="tx1"/>
              </a:buClr>
            </a:pPr>
            <a:r>
              <a:rPr lang="en-US" sz="1000" dirty="0">
                <a:latin typeface="Manrope" pitchFamily="2" charset="0"/>
              </a:rPr>
              <a:t>Providing end-to-end solutions from design, architecture, business analysis, and Development to QA</a:t>
            </a:r>
          </a:p>
          <a:p>
            <a:pPr lvl="1">
              <a:lnSpc>
                <a:spcPct val="100000"/>
              </a:lnSpc>
              <a:spcBef>
                <a:spcPts val="0"/>
              </a:spcBef>
              <a:spcAft>
                <a:spcPts val="600"/>
              </a:spcAft>
              <a:buClr>
                <a:schemeClr val="tx1"/>
              </a:buClr>
            </a:pPr>
            <a:r>
              <a:rPr lang="en-US" sz="1000" dirty="0">
                <a:latin typeface="Manrope" pitchFamily="2" charset="0"/>
              </a:rPr>
              <a:t>Handling complex integrations </a:t>
            </a:r>
          </a:p>
          <a:p>
            <a:pPr lvl="1">
              <a:lnSpc>
                <a:spcPct val="100000"/>
              </a:lnSpc>
              <a:spcBef>
                <a:spcPts val="0"/>
              </a:spcBef>
              <a:spcAft>
                <a:spcPts val="600"/>
              </a:spcAft>
              <a:buClr>
                <a:schemeClr val="tx1"/>
              </a:buClr>
            </a:pPr>
            <a:r>
              <a:rPr lang="en-US" sz="1000" dirty="0">
                <a:latin typeface="Manrope" pitchFamily="2" charset="0"/>
              </a:rPr>
              <a:t>Evaluation and building search capability</a:t>
            </a:r>
          </a:p>
          <a:p>
            <a:pPr lvl="1">
              <a:lnSpc>
                <a:spcPct val="100000"/>
              </a:lnSpc>
              <a:spcBef>
                <a:spcPts val="0"/>
              </a:spcBef>
              <a:spcAft>
                <a:spcPts val="600"/>
              </a:spcAft>
              <a:buClr>
                <a:schemeClr val="tx1"/>
              </a:buClr>
            </a:pPr>
            <a:r>
              <a:rPr lang="en-US" sz="1000" dirty="0">
                <a:latin typeface="Manrope" pitchFamily="2" charset="0"/>
              </a:rPr>
              <a:t>Refining content strategy</a:t>
            </a:r>
          </a:p>
          <a:p>
            <a:pPr lvl="1">
              <a:lnSpc>
                <a:spcPct val="100000"/>
              </a:lnSpc>
              <a:spcBef>
                <a:spcPts val="0"/>
              </a:spcBef>
              <a:spcAft>
                <a:spcPts val="600"/>
              </a:spcAft>
              <a:buClr>
                <a:schemeClr val="tx1"/>
              </a:buClr>
            </a:pPr>
            <a:r>
              <a:rPr lang="en-US" sz="1000" dirty="0">
                <a:latin typeface="Manrope" pitchFamily="2" charset="0"/>
              </a:rPr>
              <a:t>Reimagining significant pages</a:t>
            </a:r>
          </a:p>
          <a:p>
            <a:pPr lvl="1">
              <a:lnSpc>
                <a:spcPct val="100000"/>
              </a:lnSpc>
              <a:spcBef>
                <a:spcPts val="0"/>
              </a:spcBef>
              <a:spcAft>
                <a:spcPts val="600"/>
              </a:spcAft>
              <a:buClr>
                <a:schemeClr val="tx1"/>
              </a:buClr>
            </a:pPr>
            <a:r>
              <a:rPr lang="en-US" sz="1000" dirty="0">
                <a:latin typeface="Manrope" pitchFamily="2" charset="0"/>
              </a:rPr>
              <a:t>Migration of close to 6000 publicly accessible pages</a:t>
            </a:r>
          </a:p>
          <a:p>
            <a:pPr lvl="1">
              <a:lnSpc>
                <a:spcPct val="100000"/>
              </a:lnSpc>
              <a:spcBef>
                <a:spcPts val="0"/>
              </a:spcBef>
              <a:spcAft>
                <a:spcPts val="600"/>
              </a:spcAft>
              <a:buClr>
                <a:schemeClr val="tx1"/>
              </a:buClr>
            </a:pPr>
            <a:r>
              <a:rPr lang="en-US" sz="1000" dirty="0">
                <a:latin typeface="Manrope" pitchFamily="2" charset="0"/>
              </a:rPr>
              <a:t>Analytics integration</a:t>
            </a:r>
          </a:p>
          <a:p>
            <a:pPr>
              <a:lnSpc>
                <a:spcPct val="100000"/>
              </a:lnSpc>
              <a:spcBef>
                <a:spcPts val="0"/>
              </a:spcBef>
              <a:spcAft>
                <a:spcPts val="600"/>
              </a:spcAft>
            </a:pPr>
            <a:r>
              <a:rPr lang="en-US" sz="1000" dirty="0">
                <a:latin typeface="Manrope" pitchFamily="2" charset="0"/>
              </a:rPr>
              <a:t>The solution led to enhanced navigation, </a:t>
            </a:r>
            <a:r>
              <a:rPr lang="en-US" sz="1000" spc="10" dirty="0">
                <a:latin typeface="Manrope" pitchFamily="2" charset="0"/>
              </a:rPr>
              <a:t>improved search functionality, easier connection to sub brand sites, well integrated tools such as RNS, </a:t>
            </a:r>
            <a:r>
              <a:rPr lang="en-US" sz="1000" spc="10" dirty="0" err="1">
                <a:latin typeface="Manrope" pitchFamily="2" charset="0"/>
              </a:rPr>
              <a:t>Unavista</a:t>
            </a:r>
            <a:r>
              <a:rPr lang="en-US" sz="1000" spc="10" dirty="0">
                <a:latin typeface="Manrope" pitchFamily="2" charset="0"/>
              </a:rPr>
              <a:t>, and share price tacker, seamless form submission experience with enhanced security, and accessibility compliance and additional accessibility features.</a:t>
            </a:r>
          </a:p>
          <a:p>
            <a:pPr>
              <a:lnSpc>
                <a:spcPct val="100000"/>
              </a:lnSpc>
              <a:spcBef>
                <a:spcPts val="0"/>
              </a:spcBef>
              <a:spcAft>
                <a:spcPts val="600"/>
              </a:spcAft>
            </a:pPr>
            <a:endParaRPr lang="en-US" sz="800" dirty="0">
              <a:latin typeface="Manrope" pitchFamily="2" charset="0"/>
            </a:endParaRPr>
          </a:p>
        </p:txBody>
      </p:sp>
      <p:sp>
        <p:nvSpPr>
          <p:cNvPr id="13" name="Title 12">
            <a:extLst>
              <a:ext uri="{FF2B5EF4-FFF2-40B4-BE49-F238E27FC236}">
                <a16:creationId xmlns:a16="http://schemas.microsoft.com/office/drawing/2014/main" id="{819431DA-B193-0035-6218-F80A9D3D1CE8}"/>
              </a:ext>
            </a:extLst>
          </p:cNvPr>
          <p:cNvSpPr>
            <a:spLocks noGrp="1"/>
          </p:cNvSpPr>
          <p:nvPr>
            <p:ph type="title"/>
          </p:nvPr>
        </p:nvSpPr>
        <p:spPr>
          <a:xfrm>
            <a:off x="623887" y="873036"/>
            <a:ext cx="5733369" cy="246221"/>
          </a:xfrm>
        </p:spPr>
        <p:txBody>
          <a:bodyPr wrap="square" lIns="0" tIns="0" rIns="0" bIns="0" rtlCol="0" anchor="t">
            <a:spAutoFit/>
          </a:bodyPr>
          <a:lstStyle/>
          <a:p>
            <a:r>
              <a:rPr lang="en-US" sz="1600" dirty="0">
                <a:latin typeface="Manrope" pitchFamily="2" charset="0"/>
              </a:rPr>
              <a:t>Transforming End-to-End User Experience</a:t>
            </a:r>
            <a:endParaRPr lang="en-IN" sz="1600" dirty="0">
              <a:effectLst/>
              <a:latin typeface="Manrope" pitchFamily="2" charset="0"/>
              <a:ea typeface="Times New Roman" panose="02020603050405020304" pitchFamily="18" charset="0"/>
            </a:endParaRPr>
          </a:p>
        </p:txBody>
      </p:sp>
      <p:sp>
        <p:nvSpPr>
          <p:cNvPr id="14" name="Text Placeholder 13">
            <a:extLst>
              <a:ext uri="{FF2B5EF4-FFF2-40B4-BE49-F238E27FC236}">
                <a16:creationId xmlns:a16="http://schemas.microsoft.com/office/drawing/2014/main" id="{A881851F-084C-F377-443D-3138B0D492A6}"/>
              </a:ext>
            </a:extLst>
          </p:cNvPr>
          <p:cNvSpPr>
            <a:spLocks noGrp="1"/>
          </p:cNvSpPr>
          <p:nvPr>
            <p:ph type="body" sz="quarter" idx="21"/>
          </p:nvPr>
        </p:nvSpPr>
        <p:spPr>
          <a:xfrm flipH="1">
            <a:off x="623888" y="457200"/>
            <a:ext cx="6310312" cy="203139"/>
          </a:xfrm>
        </p:spPr>
        <p:txBody>
          <a:bodyPr/>
          <a:lstStyle/>
          <a:p>
            <a:r>
              <a:rPr lang="en-US"/>
              <a:t>Finance – World’s leading Financial Markets Infrastructure Provider</a:t>
            </a:r>
          </a:p>
        </p:txBody>
      </p:sp>
      <p:pic>
        <p:nvPicPr>
          <p:cNvPr id="6" name="Picture Placeholder 5" descr="A person and person looking at a computer&#10;&#10;Description automatically generated">
            <a:extLst>
              <a:ext uri="{FF2B5EF4-FFF2-40B4-BE49-F238E27FC236}">
                <a16:creationId xmlns:a16="http://schemas.microsoft.com/office/drawing/2014/main" id="{9E0E066E-3398-2D51-DC4F-196D4C2ACAEE}"/>
              </a:ext>
            </a:extLst>
          </p:cNvPr>
          <p:cNvPicPr>
            <a:picLocks noGrp="1" noChangeAspect="1"/>
          </p:cNvPicPr>
          <p:nvPr>
            <p:ph type="pic" sz="quarter" idx="17"/>
          </p:nvPr>
        </p:nvPicPr>
        <p:blipFill rotWithShape="1">
          <a:blip r:embed="rId2">
            <a:extLst>
              <a:ext uri="{28A0092B-C50C-407E-A947-70E740481C1C}">
                <a14:useLocalDpi xmlns:a14="http://schemas.microsoft.com/office/drawing/2010/main" val="0"/>
              </a:ext>
            </a:extLst>
          </a:blip>
          <a:srcRect l="6715" r="23820"/>
          <a:stretch/>
        </p:blipFill>
        <p:spPr>
          <a:xfrm>
            <a:off x="6438900" y="914401"/>
            <a:ext cx="5753100" cy="4856084"/>
          </a:xfrm>
        </p:spPr>
      </p:pic>
      <p:pic>
        <p:nvPicPr>
          <p:cNvPr id="12" name="Picture 3">
            <a:extLst>
              <a:ext uri="{FF2B5EF4-FFF2-40B4-BE49-F238E27FC236}">
                <a16:creationId xmlns:a16="http://schemas.microsoft.com/office/drawing/2014/main" id="{E8014F53-2113-E100-C5F8-12AD16949CAE}"/>
              </a:ext>
            </a:extLst>
          </p:cNvPr>
          <p:cNvPicPr>
            <a:picLocks noChangeAspect="1"/>
          </p:cNvPicPr>
          <p:nvPr/>
        </p:nvPicPr>
        <p:blipFill>
          <a:blip r:embed="rId3"/>
          <a:stretch>
            <a:fillRect/>
          </a:stretch>
        </p:blipFill>
        <p:spPr>
          <a:xfrm>
            <a:off x="9674416" y="187209"/>
            <a:ext cx="1098109" cy="462497"/>
          </a:xfrm>
          <a:prstGeom prst="rect">
            <a:avLst/>
          </a:prstGeom>
        </p:spPr>
      </p:pic>
      <p:cxnSp>
        <p:nvCxnSpPr>
          <p:cNvPr id="15" name="Straight Connector 14">
            <a:extLst>
              <a:ext uri="{FF2B5EF4-FFF2-40B4-BE49-F238E27FC236}">
                <a16:creationId xmlns:a16="http://schemas.microsoft.com/office/drawing/2014/main" id="{4DE5ED33-CC98-30EB-EEC7-4C96A2B702BD}"/>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8587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58B4-EBE4-57C6-3657-82F312C5E5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74D3885-5ACD-4B3B-E175-C5EBDD382D5E}"/>
              </a:ext>
            </a:extLst>
          </p:cNvPr>
          <p:cNvSpPr>
            <a:spLocks noGrp="1"/>
          </p:cNvSpPr>
          <p:nvPr>
            <p:ph type="body" sz="quarter" idx="18"/>
          </p:nvPr>
        </p:nvSpPr>
        <p:spPr>
          <a:xfrm>
            <a:off x="623888" y="5309240"/>
            <a:ext cx="849312" cy="290903"/>
          </a:xfrm>
        </p:spPr>
        <p:txBody>
          <a:bodyPr lIns="0" tIns="0" rIns="0" bIns="0" anchor="t">
            <a:normAutofit/>
          </a:bodyPr>
          <a:lstStyle/>
          <a:p>
            <a:r>
              <a:rPr lang="en-US">
                <a:solidFill>
                  <a:schemeClr val="tx1"/>
                </a:solidFill>
                <a:latin typeface="Manrope" pitchFamily="2" charset="0"/>
              </a:rPr>
              <a:t>CSAT score</a:t>
            </a:r>
          </a:p>
        </p:txBody>
      </p:sp>
      <p:sp>
        <p:nvSpPr>
          <p:cNvPr id="3" name="Text Placeholder 2">
            <a:extLst>
              <a:ext uri="{FF2B5EF4-FFF2-40B4-BE49-F238E27FC236}">
                <a16:creationId xmlns:a16="http://schemas.microsoft.com/office/drawing/2014/main" id="{F16157D8-256B-F8C1-3EF8-25B530372C5D}"/>
              </a:ext>
            </a:extLst>
          </p:cNvPr>
          <p:cNvSpPr>
            <a:spLocks noGrp="1"/>
          </p:cNvSpPr>
          <p:nvPr>
            <p:ph type="body" sz="quarter" idx="19"/>
          </p:nvPr>
        </p:nvSpPr>
        <p:spPr>
          <a:xfrm>
            <a:off x="623888" y="4853354"/>
            <a:ext cx="1234991" cy="415498"/>
          </a:xfrm>
        </p:spPr>
        <p:txBody>
          <a:bodyPr wrap="square" lIns="0" tIns="0" rIns="0" bIns="0" rtlCol="0" anchor="t">
            <a:spAutoFit/>
          </a:bodyPr>
          <a:lstStyle/>
          <a:p>
            <a:r>
              <a:rPr lang="en-US">
                <a:latin typeface="Manrope" pitchFamily="2" charset="0"/>
              </a:rPr>
              <a:t>95% </a:t>
            </a:r>
          </a:p>
        </p:txBody>
      </p:sp>
      <p:sp>
        <p:nvSpPr>
          <p:cNvPr id="4" name="Text Placeholder 3">
            <a:extLst>
              <a:ext uri="{FF2B5EF4-FFF2-40B4-BE49-F238E27FC236}">
                <a16:creationId xmlns:a16="http://schemas.microsoft.com/office/drawing/2014/main" id="{49613E09-1DB9-EC17-1204-8ADB8659056F}"/>
              </a:ext>
            </a:extLst>
          </p:cNvPr>
          <p:cNvSpPr>
            <a:spLocks noGrp="1"/>
          </p:cNvSpPr>
          <p:nvPr>
            <p:ph type="body" sz="quarter" idx="20"/>
          </p:nvPr>
        </p:nvSpPr>
        <p:spPr>
          <a:xfrm>
            <a:off x="619855" y="2018462"/>
            <a:ext cx="5476145" cy="1807669"/>
          </a:xfrm>
        </p:spPr>
        <p:txBody>
          <a:bodyPr lIns="0" tIns="0" rIns="0" bIns="0" anchor="t">
            <a:normAutofit lnSpcReduction="10000"/>
          </a:bodyPr>
          <a:lstStyle/>
          <a:p>
            <a:pPr>
              <a:lnSpc>
                <a:spcPct val="100000"/>
              </a:lnSpc>
              <a:spcBef>
                <a:spcPts val="0"/>
              </a:spcBef>
              <a:spcAft>
                <a:spcPts val="600"/>
              </a:spcAft>
            </a:pPr>
            <a:r>
              <a:rPr lang="en-US" sz="1000" dirty="0">
                <a:latin typeface="Manrope" pitchFamily="2" charset="0"/>
              </a:rPr>
              <a:t>Optimized customer experience across every touchpoint with Analytics, Customer Journey Analytics and AEM Sites Optimization.</a:t>
            </a:r>
          </a:p>
          <a:p>
            <a:pPr>
              <a:lnSpc>
                <a:spcPct val="100000"/>
              </a:lnSpc>
              <a:spcBef>
                <a:spcPts val="0"/>
              </a:spcBef>
              <a:spcAft>
                <a:spcPts val="600"/>
              </a:spcAft>
            </a:pPr>
            <a:r>
              <a:rPr lang="en-US" sz="1000" dirty="0">
                <a:latin typeface="Manrope" pitchFamily="2" charset="0"/>
              </a:rPr>
              <a:t>Unified analytics across EY's digital properties to Adobe Analytics for a holistic view of audience engagement.</a:t>
            </a:r>
          </a:p>
          <a:p>
            <a:pPr>
              <a:lnSpc>
                <a:spcPct val="100000"/>
              </a:lnSpc>
              <a:spcBef>
                <a:spcPts val="0"/>
              </a:spcBef>
              <a:spcAft>
                <a:spcPts val="600"/>
              </a:spcAft>
            </a:pPr>
            <a:r>
              <a:rPr lang="en-US" sz="1000" dirty="0">
                <a:latin typeface="Manrope" pitchFamily="2" charset="0"/>
              </a:rPr>
              <a:t>Deployed Customer Journey Analytics to understand and map user interaction journeys across digital platforms.</a:t>
            </a:r>
          </a:p>
          <a:p>
            <a:pPr>
              <a:lnSpc>
                <a:spcPct val="100000"/>
              </a:lnSpc>
              <a:spcBef>
                <a:spcPts val="0"/>
              </a:spcBef>
              <a:spcAft>
                <a:spcPts val="600"/>
              </a:spcAft>
            </a:pPr>
            <a:r>
              <a:rPr lang="en-US" sz="1000" dirty="0">
                <a:latin typeface="Manrope" pitchFamily="2" charset="0"/>
              </a:rPr>
              <a:t>Applied analytical insights to tailor consumer pathways to enhance consumer experience and content relevance.</a:t>
            </a:r>
          </a:p>
          <a:p>
            <a:pPr>
              <a:lnSpc>
                <a:spcPct val="100000"/>
              </a:lnSpc>
              <a:spcBef>
                <a:spcPts val="0"/>
              </a:spcBef>
              <a:spcAft>
                <a:spcPts val="600"/>
              </a:spcAft>
            </a:pPr>
            <a:r>
              <a:rPr lang="en-US" sz="1000" dirty="0">
                <a:latin typeface="Manrope" pitchFamily="2" charset="0"/>
              </a:rPr>
              <a:t>Elevated digital performance by strategically optimizing website content and user journeys based on data-driven insights.</a:t>
            </a:r>
          </a:p>
        </p:txBody>
      </p:sp>
      <p:sp>
        <p:nvSpPr>
          <p:cNvPr id="13" name="Title 12">
            <a:extLst>
              <a:ext uri="{FF2B5EF4-FFF2-40B4-BE49-F238E27FC236}">
                <a16:creationId xmlns:a16="http://schemas.microsoft.com/office/drawing/2014/main" id="{819431DA-B193-0035-6218-F80A9D3D1CE8}"/>
              </a:ext>
            </a:extLst>
          </p:cNvPr>
          <p:cNvSpPr>
            <a:spLocks noGrp="1"/>
          </p:cNvSpPr>
          <p:nvPr>
            <p:ph type="title"/>
          </p:nvPr>
        </p:nvSpPr>
        <p:spPr>
          <a:xfrm>
            <a:off x="623887" y="914401"/>
            <a:ext cx="5539846" cy="615553"/>
          </a:xfrm>
        </p:spPr>
        <p:txBody>
          <a:bodyPr wrap="square" lIns="0" tIns="0" rIns="0" bIns="0" rtlCol="0" anchor="t">
            <a:spAutoFit/>
          </a:bodyPr>
          <a:lstStyle/>
          <a:p>
            <a:r>
              <a:rPr lang="en-US" sz="2000" dirty="0">
                <a:latin typeface="Manrope" pitchFamily="2" charset="0"/>
                <a:cs typeface="Poppins Light"/>
              </a:rPr>
              <a:t>Optimizing Customer Experience with Experience Analytics and AEM Implementation</a:t>
            </a:r>
            <a:endParaRPr lang="en-US" dirty="0">
              <a:latin typeface="Manrope" pitchFamily="2" charset="0"/>
            </a:endParaRPr>
          </a:p>
        </p:txBody>
      </p:sp>
      <p:sp>
        <p:nvSpPr>
          <p:cNvPr id="14" name="Text Placeholder 13">
            <a:extLst>
              <a:ext uri="{FF2B5EF4-FFF2-40B4-BE49-F238E27FC236}">
                <a16:creationId xmlns:a16="http://schemas.microsoft.com/office/drawing/2014/main" id="{A881851F-084C-F377-443D-3138B0D492A6}"/>
              </a:ext>
            </a:extLst>
          </p:cNvPr>
          <p:cNvSpPr>
            <a:spLocks noGrp="1"/>
          </p:cNvSpPr>
          <p:nvPr>
            <p:ph type="body" sz="quarter" idx="21"/>
          </p:nvPr>
        </p:nvSpPr>
        <p:spPr>
          <a:xfrm flipH="1">
            <a:off x="623888" y="457200"/>
            <a:ext cx="6310312" cy="203139"/>
          </a:xfrm>
        </p:spPr>
        <p:txBody>
          <a:bodyPr/>
          <a:lstStyle/>
          <a:p>
            <a:r>
              <a:rPr lang="en-US"/>
              <a:t>Professional Services – One of the Big Four Professional Services Firm </a:t>
            </a:r>
          </a:p>
        </p:txBody>
      </p:sp>
      <p:pic>
        <p:nvPicPr>
          <p:cNvPr id="12" name="Picture Placeholder 11">
            <a:extLst>
              <a:ext uri="{FF2B5EF4-FFF2-40B4-BE49-F238E27FC236}">
                <a16:creationId xmlns:a16="http://schemas.microsoft.com/office/drawing/2014/main" id="{55060970-81E3-8525-FF46-F124621C247E}"/>
              </a:ext>
            </a:extLst>
          </p:cNvPr>
          <p:cNvPicPr>
            <a:picLocks noGrp="1" noChangeAspect="1"/>
          </p:cNvPicPr>
          <p:nvPr>
            <p:ph type="pic" sz="quarter" idx="17"/>
          </p:nvPr>
        </p:nvPicPr>
        <p:blipFill rotWithShape="1">
          <a:blip r:embed="rId2">
            <a:extLst>
              <a:ext uri="{28A0092B-C50C-407E-A947-70E740481C1C}">
                <a14:useLocalDpi xmlns:a14="http://schemas.microsoft.com/office/drawing/2010/main" val="0"/>
              </a:ext>
            </a:extLst>
          </a:blip>
          <a:srcRect l="31352" t="1167" r="5485" b="3402"/>
          <a:stretch/>
        </p:blipFill>
        <p:spPr>
          <a:xfrm>
            <a:off x="6438900" y="914401"/>
            <a:ext cx="5753100" cy="4856084"/>
          </a:xfrm>
        </p:spPr>
      </p:pic>
      <p:pic>
        <p:nvPicPr>
          <p:cNvPr id="5" name="Picture 4" descr="EY">
            <a:extLst>
              <a:ext uri="{FF2B5EF4-FFF2-40B4-BE49-F238E27FC236}">
                <a16:creationId xmlns:a16="http://schemas.microsoft.com/office/drawing/2014/main" id="{02B7C688-EAC6-6C83-4728-0677B768C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2660" y="256972"/>
            <a:ext cx="338554" cy="33855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1">
            <a:extLst>
              <a:ext uri="{FF2B5EF4-FFF2-40B4-BE49-F238E27FC236}">
                <a16:creationId xmlns:a16="http://schemas.microsoft.com/office/drawing/2014/main" id="{72C2031B-6A35-9A72-620C-A43CD5766274}"/>
              </a:ext>
            </a:extLst>
          </p:cNvPr>
          <p:cNvSpPr txBox="1">
            <a:spLocks/>
          </p:cNvSpPr>
          <p:nvPr/>
        </p:nvSpPr>
        <p:spPr>
          <a:xfrm>
            <a:off x="1910724" y="5309240"/>
            <a:ext cx="849312" cy="415498"/>
          </a:xfrm>
          <a:prstGeom prst="rect">
            <a:avLst/>
          </a:prstGeom>
        </p:spPr>
        <p:txBody>
          <a:bodyPr lIns="0" tIns="0" rIns="0" bIns="0" anchor="t">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solidFill>
                  <a:schemeClr val="tx1"/>
                </a:solidFill>
                <a:latin typeface="Manrope" pitchFamily="2" charset="0"/>
              </a:rPr>
              <a:t>Increased traffic</a:t>
            </a:r>
          </a:p>
        </p:txBody>
      </p:sp>
      <p:sp>
        <p:nvSpPr>
          <p:cNvPr id="7" name="Text Placeholder 2">
            <a:extLst>
              <a:ext uri="{FF2B5EF4-FFF2-40B4-BE49-F238E27FC236}">
                <a16:creationId xmlns:a16="http://schemas.microsoft.com/office/drawing/2014/main" id="{80ACDA81-B937-5B89-2FD7-687A677DE3F2}"/>
              </a:ext>
            </a:extLst>
          </p:cNvPr>
          <p:cNvSpPr txBox="1">
            <a:spLocks/>
          </p:cNvSpPr>
          <p:nvPr/>
        </p:nvSpPr>
        <p:spPr>
          <a:xfrm>
            <a:off x="1910724" y="4853354"/>
            <a:ext cx="1234991" cy="415498"/>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anrope" pitchFamily="2" charset="0"/>
              </a:rPr>
              <a:t>10% </a:t>
            </a:r>
          </a:p>
        </p:txBody>
      </p:sp>
      <p:sp>
        <p:nvSpPr>
          <p:cNvPr id="8" name="Text Placeholder 1">
            <a:extLst>
              <a:ext uri="{FF2B5EF4-FFF2-40B4-BE49-F238E27FC236}">
                <a16:creationId xmlns:a16="http://schemas.microsoft.com/office/drawing/2014/main" id="{9716FD2C-57F6-9605-63C9-B40D17EF16BD}"/>
              </a:ext>
            </a:extLst>
          </p:cNvPr>
          <p:cNvSpPr txBox="1">
            <a:spLocks/>
          </p:cNvSpPr>
          <p:nvPr/>
        </p:nvSpPr>
        <p:spPr>
          <a:xfrm>
            <a:off x="3197559" y="5309240"/>
            <a:ext cx="1086573" cy="656844"/>
          </a:xfrm>
          <a:prstGeom prst="rect">
            <a:avLst/>
          </a:prstGeom>
        </p:spPr>
        <p:txBody>
          <a:bodyPr lIns="0" tIns="0" rIns="0" bIns="0" anchor="t">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solidFill>
                  <a:schemeClr val="tx1"/>
                </a:solidFill>
                <a:latin typeface="Manrope" pitchFamily="2" charset="0"/>
              </a:rPr>
              <a:t>Digital engagement growth</a:t>
            </a:r>
          </a:p>
        </p:txBody>
      </p:sp>
      <p:sp>
        <p:nvSpPr>
          <p:cNvPr id="9" name="Text Placeholder 2">
            <a:extLst>
              <a:ext uri="{FF2B5EF4-FFF2-40B4-BE49-F238E27FC236}">
                <a16:creationId xmlns:a16="http://schemas.microsoft.com/office/drawing/2014/main" id="{10550E9B-589C-BC20-8F82-0F819B64B2BE}"/>
              </a:ext>
            </a:extLst>
          </p:cNvPr>
          <p:cNvSpPr txBox="1">
            <a:spLocks/>
          </p:cNvSpPr>
          <p:nvPr/>
        </p:nvSpPr>
        <p:spPr>
          <a:xfrm>
            <a:off x="3197559" y="4902535"/>
            <a:ext cx="1234991" cy="415498"/>
          </a:xfrm>
          <a:prstGeom prst="rect">
            <a:avLst/>
          </a:prstGeom>
          <a:noFill/>
        </p:spPr>
        <p:txBody>
          <a:bodyPr wrap="square" lIns="0" tIns="0" rIns="0" bIns="0" rtlCol="0" anchor="t">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anrope" pitchFamily="2" charset="0"/>
              </a:rPr>
              <a:t>30% </a:t>
            </a:r>
          </a:p>
        </p:txBody>
      </p:sp>
      <p:cxnSp>
        <p:nvCxnSpPr>
          <p:cNvPr id="16" name="Straight Connector 15">
            <a:extLst>
              <a:ext uri="{FF2B5EF4-FFF2-40B4-BE49-F238E27FC236}">
                <a16:creationId xmlns:a16="http://schemas.microsoft.com/office/drawing/2014/main" id="{18D81101-6249-8B15-417D-4EC5800AA93B}"/>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0993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exaware Named Winner of 2022 ISG Star of Excellence™ Award for the Global Region and Universal Industry Categories…">
            <a:extLst>
              <a:ext uri="{FF2B5EF4-FFF2-40B4-BE49-F238E27FC236}">
                <a16:creationId xmlns:a16="http://schemas.microsoft.com/office/drawing/2014/main" id="{39E890BB-F5CF-3210-50FD-C204A482004D}"/>
              </a:ext>
            </a:extLst>
          </p:cNvPr>
          <p:cNvSpPr txBox="1"/>
          <p:nvPr/>
        </p:nvSpPr>
        <p:spPr>
          <a:xfrm>
            <a:off x="619414" y="1840794"/>
            <a:ext cx="5705185" cy="4238789"/>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chor="t">
            <a:spAutoFit/>
          </a:bodyPr>
          <a:lstStyle>
            <a:defPPr>
              <a:defRPr lang="en-US"/>
            </a:defPPr>
            <a:lvl1pPr>
              <a:defRPr/>
            </a:lvl1pPr>
          </a:lstStyle>
          <a:p>
            <a:r>
              <a:rPr lang="en-US" sz="1000" dirty="0" err="1">
                <a:latin typeface="Manrope" pitchFamily="2" charset="0"/>
                <a:cs typeface="Poppins Light"/>
              </a:rPr>
              <a:t>Patelco</a:t>
            </a:r>
            <a:r>
              <a:rPr lang="en-US" sz="1000" dirty="0">
                <a:latin typeface="Manrope" pitchFamily="2" charset="0"/>
                <a:cs typeface="Poppins Light"/>
              </a:rPr>
              <a:t> Credit Union is a full-service, not-for-profit financial cooperative dedicated to helping communities and its over 450,000 members across USA, </a:t>
            </a:r>
            <a:r>
              <a:rPr lang="en-US" sz="1000" dirty="0" err="1">
                <a:latin typeface="Manrope" pitchFamily="2" charset="0"/>
                <a:cs typeface="Poppins Light"/>
              </a:rPr>
              <a:t>Patelco</a:t>
            </a:r>
            <a:r>
              <a:rPr lang="en-US" sz="1000" dirty="0">
                <a:latin typeface="Manrope" pitchFamily="2" charset="0"/>
                <a:cs typeface="Poppins Light"/>
              </a:rPr>
              <a:t> is one of the largest credit unions in the nation.</a:t>
            </a:r>
          </a:p>
          <a:p>
            <a:r>
              <a:rPr lang="en-US" sz="1000" dirty="0">
                <a:latin typeface="Manrope" pitchFamily="2" charset="0"/>
                <a:cs typeface="Poppins Light"/>
              </a:rPr>
              <a:t> </a:t>
            </a:r>
          </a:p>
          <a:p>
            <a:r>
              <a:rPr lang="en-US" sz="1000" dirty="0">
                <a:latin typeface="Manrope" pitchFamily="2" charset="0"/>
                <a:cs typeface="Poppins Light"/>
              </a:rPr>
              <a:t>Hexaware partnered with </a:t>
            </a:r>
            <a:r>
              <a:rPr lang="en-US" sz="1000" dirty="0" err="1">
                <a:latin typeface="Manrope" pitchFamily="2" charset="0"/>
                <a:cs typeface="Poppins Light"/>
              </a:rPr>
              <a:t>Patelco</a:t>
            </a:r>
            <a:r>
              <a:rPr lang="en-US" sz="1000" dirty="0">
                <a:latin typeface="Manrope" pitchFamily="2" charset="0"/>
                <a:cs typeface="Poppins Light"/>
              </a:rPr>
              <a:t> to transition their production site from Sitecore to a cost-effective WordPress VIP platform. The project spanned 30 weeks that included Design, Development, QA, User acceptance, and Cutover, followed by 5 weeks of Hypercare support. </a:t>
            </a:r>
          </a:p>
          <a:p>
            <a:endParaRPr lang="en-US" sz="1000" dirty="0">
              <a:latin typeface="Manrope" pitchFamily="2" charset="0"/>
              <a:cs typeface="Poppins Light"/>
            </a:endParaRPr>
          </a:p>
          <a:p>
            <a:r>
              <a:rPr lang="en-US" sz="1000" dirty="0">
                <a:latin typeface="Manrope" pitchFamily="2" charset="0"/>
                <a:cs typeface="Poppins Light"/>
              </a:rPr>
              <a:t>This project showcased Hexaware's dedication to delivering quality and cost-effective solutions.</a:t>
            </a:r>
          </a:p>
          <a:p>
            <a:endParaRPr lang="en-US" sz="1000" dirty="0">
              <a:latin typeface="Manrope" pitchFamily="2" charset="0"/>
              <a:cs typeface="Poppins Light"/>
            </a:endParaRPr>
          </a:p>
          <a:p>
            <a:r>
              <a:rPr lang="en-US" sz="1000" b="1" dirty="0">
                <a:latin typeface="Manrope" pitchFamily="2" charset="0"/>
                <a:cs typeface="Poppins Light"/>
              </a:rPr>
              <a:t>Benefits: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b="1" dirty="0">
                <a:latin typeface="Manrope" pitchFamily="2" charset="0"/>
                <a:cs typeface="Poppins Light"/>
              </a:rPr>
              <a:t>Significant Cost Savings: </a:t>
            </a:r>
            <a:r>
              <a:rPr lang="en-US" altLang="en-US" sz="1000" dirty="0">
                <a:latin typeface="Manrope" pitchFamily="2" charset="0"/>
                <a:cs typeface="Poppins Light"/>
              </a:rPr>
              <a:t>By migrating to WordPress VIP, </a:t>
            </a:r>
            <a:r>
              <a:rPr lang="en-US" altLang="en-US" sz="1000" dirty="0" err="1">
                <a:latin typeface="Manrope" pitchFamily="2" charset="0"/>
                <a:cs typeface="Poppins Light"/>
              </a:rPr>
              <a:t>Patelco</a:t>
            </a:r>
            <a:r>
              <a:rPr lang="en-US" altLang="en-US" sz="1000" dirty="0">
                <a:latin typeface="Manrope" pitchFamily="2" charset="0"/>
                <a:cs typeface="Poppins Light"/>
              </a:rPr>
              <a:t> achieved a substantial reduction in its TCO, freeing up resources for other strategic initiatives..</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b="1" dirty="0">
                <a:latin typeface="Manrope" pitchFamily="2" charset="0"/>
                <a:cs typeface="Poppins Light"/>
              </a:rPr>
              <a:t>Enhanced Agility and Content Management: </a:t>
            </a:r>
            <a:r>
              <a:rPr lang="en-US" altLang="en-US" sz="1000" dirty="0">
                <a:latin typeface="Manrope" pitchFamily="2" charset="0"/>
                <a:cs typeface="Poppins Light"/>
              </a:rPr>
              <a:t>WordPress VIP's intuitive content management system empowers </a:t>
            </a:r>
            <a:r>
              <a:rPr lang="en-US" altLang="en-US" sz="1000" dirty="0" err="1">
                <a:latin typeface="Manrope" pitchFamily="2" charset="0"/>
                <a:cs typeface="Poppins Light"/>
              </a:rPr>
              <a:t>Patelco’s</a:t>
            </a:r>
            <a:r>
              <a:rPr lang="en-US" altLang="en-US" sz="1000" dirty="0">
                <a:latin typeface="Manrope" pitchFamily="2" charset="0"/>
                <a:cs typeface="Poppins Light"/>
              </a:rPr>
              <a:t> marketing and communications teams to easily update website content, publish new information, and respond quickly to member needs.</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b="1" dirty="0">
                <a:latin typeface="Manrope" pitchFamily="2" charset="0"/>
                <a:cs typeface="Poppins Light"/>
              </a:rPr>
              <a:t>Enhanced Security: </a:t>
            </a:r>
            <a:r>
              <a:rPr lang="en-US" altLang="en-US" sz="1000" dirty="0">
                <a:latin typeface="Manrope" pitchFamily="2" charset="0"/>
                <a:cs typeface="Poppins Light"/>
              </a:rPr>
              <a:t>WordPress VIP's enterprise-grade security features provide a secure online environment for </a:t>
            </a:r>
            <a:r>
              <a:rPr lang="en-US" altLang="en-US" sz="1000" dirty="0" err="1">
                <a:latin typeface="Manrope" pitchFamily="2" charset="0"/>
                <a:cs typeface="Poppins Light"/>
              </a:rPr>
              <a:t>Patelco</a:t>
            </a:r>
            <a:r>
              <a:rPr lang="en-US" altLang="en-US" sz="1000" dirty="0">
                <a:latin typeface="Manrope" pitchFamily="2" charset="0"/>
                <a:cs typeface="Poppins Light"/>
              </a:rPr>
              <a:t> and its members</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b="1" dirty="0">
                <a:latin typeface="Manrope" pitchFamily="2" charset="0"/>
                <a:cs typeface="Poppins Light"/>
              </a:rPr>
              <a:t>Customer Experience</a:t>
            </a:r>
            <a:r>
              <a:rPr lang="en-US" altLang="en-US" sz="1000" dirty="0">
                <a:latin typeface="Manrope" pitchFamily="2" charset="0"/>
                <a:cs typeface="Poppins Light"/>
              </a:rPr>
              <a:t>: Improved services for existing members and greater potential to attract new business. </a:t>
            </a:r>
          </a:p>
          <a:p>
            <a:pPr lvl="0" eaLnBrk="0" fontAlgn="base" hangingPunct="0">
              <a:spcBef>
                <a:spcPct val="0"/>
              </a:spcBef>
              <a:spcAft>
                <a:spcPct val="0"/>
              </a:spcAft>
              <a:buFontTx/>
              <a:buChar char="•"/>
            </a:pPr>
            <a:endParaRPr lang="en-US" altLang="en-US" sz="1000" dirty="0">
              <a:latin typeface="Manrope" pitchFamily="2" charset="0"/>
            </a:endParaRPr>
          </a:p>
          <a:p>
            <a:endParaRPr lang="en-US" sz="1000" dirty="0">
              <a:latin typeface="Manrope" pitchFamily="2" charset="0"/>
              <a:cs typeface="Poppins Light"/>
            </a:endParaRPr>
          </a:p>
          <a:p>
            <a:pPr marL="171450" indent="-171450">
              <a:lnSpc>
                <a:spcPct val="110000"/>
              </a:lnSpc>
              <a:spcAft>
                <a:spcPts val="1800"/>
              </a:spcAft>
              <a:buFont typeface="Arial" panose="020B0604020202020204" pitchFamily="34" charset="0"/>
              <a:buChar char="•"/>
            </a:pPr>
            <a:endParaRPr lang="en-US" sz="1000" dirty="0">
              <a:latin typeface="Manrope" pitchFamily="2" charset="0"/>
              <a:cs typeface="Poppins Light"/>
            </a:endParaRPr>
          </a:p>
        </p:txBody>
      </p:sp>
      <p:sp>
        <p:nvSpPr>
          <p:cNvPr id="33" name="Title 32">
            <a:extLst>
              <a:ext uri="{FF2B5EF4-FFF2-40B4-BE49-F238E27FC236}">
                <a16:creationId xmlns:a16="http://schemas.microsoft.com/office/drawing/2014/main" id="{0C887501-D449-CE3E-DF80-DDB1B3207327}"/>
              </a:ext>
            </a:extLst>
          </p:cNvPr>
          <p:cNvSpPr>
            <a:spLocks noGrp="1"/>
          </p:cNvSpPr>
          <p:nvPr>
            <p:ph type="title"/>
          </p:nvPr>
        </p:nvSpPr>
        <p:spPr>
          <a:xfrm>
            <a:off x="619415" y="967839"/>
            <a:ext cx="5307012" cy="664797"/>
          </a:xfrm>
          <a:noFill/>
        </p:spPr>
        <p:txBody>
          <a:bodyPr wrap="square" lIns="0" tIns="0" rIns="0" bIns="0" rtlCol="0" anchor="t">
            <a:spAutoFit/>
          </a:bodyPr>
          <a:lstStyle/>
          <a:p>
            <a:pPr>
              <a:lnSpc>
                <a:spcPct val="100000"/>
              </a:lnSpc>
            </a:pPr>
            <a:r>
              <a:rPr lang="en-US" sz="2000">
                <a:latin typeface="Manrope" pitchFamily="2" charset="0"/>
                <a:cs typeface="Poppins Light"/>
              </a:rPr>
              <a:t>Digital Transformation through Sitecore to WordPress Migration </a:t>
            </a:r>
          </a:p>
        </p:txBody>
      </p:sp>
      <p:sp>
        <p:nvSpPr>
          <p:cNvPr id="41" name="Text Placeholder 40">
            <a:extLst>
              <a:ext uri="{FF2B5EF4-FFF2-40B4-BE49-F238E27FC236}">
                <a16:creationId xmlns:a16="http://schemas.microsoft.com/office/drawing/2014/main" id="{A6C4D296-7566-5330-AFD1-B90F32762584}"/>
              </a:ext>
            </a:extLst>
          </p:cNvPr>
          <p:cNvSpPr>
            <a:spLocks noGrp="1"/>
          </p:cNvSpPr>
          <p:nvPr>
            <p:ph type="body" sz="quarter" idx="15"/>
          </p:nvPr>
        </p:nvSpPr>
        <p:spPr>
          <a:xfrm flipH="1">
            <a:off x="623888" y="457200"/>
            <a:ext cx="8172450" cy="244101"/>
          </a:xfrm>
        </p:spPr>
        <p:txBody>
          <a:bodyPr wrap="square" lIns="0" tIns="36000" rIns="0" bIns="0" anchor="t" anchorCtr="0">
            <a:noAutofit/>
          </a:bodyPr>
          <a:lstStyle/>
          <a:p>
            <a:r>
              <a:rPr lang="en-US"/>
              <a:t>Patelco Credit Union</a:t>
            </a:r>
          </a:p>
        </p:txBody>
      </p:sp>
      <p:sp>
        <p:nvSpPr>
          <p:cNvPr id="6" name="Google Shape;1255;p133">
            <a:extLst>
              <a:ext uri="{FF2B5EF4-FFF2-40B4-BE49-F238E27FC236}">
                <a16:creationId xmlns:a16="http://schemas.microsoft.com/office/drawing/2014/main" id="{7A0D4FD6-A558-D9BA-6B58-9A4C427A217E}"/>
              </a:ext>
            </a:extLst>
          </p:cNvPr>
          <p:cNvSpPr txBox="1">
            <a:spLocks/>
          </p:cNvSpPr>
          <p:nvPr/>
        </p:nvSpPr>
        <p:spPr>
          <a:xfrm>
            <a:off x="6753345" y="4481320"/>
            <a:ext cx="3753308" cy="199142"/>
          </a:xfrm>
          <a:prstGeom prst="rect">
            <a:avLst/>
          </a:prstGeom>
          <a:noFill/>
          <a:ln>
            <a:noFill/>
          </a:ln>
        </p:spPr>
        <p:txBody>
          <a:bodyPr spcFirstLastPara="1"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
                <a:srgbClr val="10204F"/>
              </a:buClr>
              <a:buSzPts val="2600"/>
            </a:pPr>
            <a:r>
              <a:rPr lang="en-US" sz="1200">
                <a:ea typeface="+mn-ea"/>
                <a:cs typeface="Poppins Light"/>
              </a:rPr>
              <a:t>Technology</a:t>
            </a:r>
            <a:r>
              <a:rPr lang="en-US" sz="1400">
                <a:solidFill>
                  <a:schemeClr val="tx1">
                    <a:lumMod val="65000"/>
                    <a:lumOff val="35000"/>
                  </a:schemeClr>
                </a:solidFill>
                <a:latin typeface="Poppins Light" panose="00000400000000000000" pitchFamily="2" charset="0"/>
                <a:cs typeface="Poppins Light" panose="00000400000000000000" pitchFamily="2" charset="0"/>
              </a:rPr>
              <a:t> </a:t>
            </a:r>
            <a:r>
              <a:rPr lang="en-US" sz="1200">
                <a:ea typeface="+mn-ea"/>
                <a:cs typeface="Poppins Light"/>
              </a:rPr>
              <a:t>Stack</a:t>
            </a:r>
            <a:endParaRPr lang="en-IN" sz="1200">
              <a:ea typeface="+mn-ea"/>
              <a:cs typeface="Poppins Light"/>
              <a:sym typeface="Poppins Black"/>
            </a:endParaRPr>
          </a:p>
        </p:txBody>
      </p:sp>
      <p:pic>
        <p:nvPicPr>
          <p:cNvPr id="8" name="Picture 7">
            <a:extLst>
              <a:ext uri="{FF2B5EF4-FFF2-40B4-BE49-F238E27FC236}">
                <a16:creationId xmlns:a16="http://schemas.microsoft.com/office/drawing/2014/main" id="{6B7C9962-0CC9-B10F-4A13-4AAE1AB87514}"/>
              </a:ext>
            </a:extLst>
          </p:cNvPr>
          <p:cNvPicPr>
            <a:picLocks noChangeAspect="1"/>
          </p:cNvPicPr>
          <p:nvPr/>
        </p:nvPicPr>
        <p:blipFill>
          <a:blip r:embed="rId2"/>
          <a:stretch>
            <a:fillRect/>
          </a:stretch>
        </p:blipFill>
        <p:spPr>
          <a:xfrm>
            <a:off x="7801164" y="4740154"/>
            <a:ext cx="617628" cy="617628"/>
          </a:xfrm>
          <a:prstGeom prst="rect">
            <a:avLst/>
          </a:prstGeom>
        </p:spPr>
      </p:pic>
      <p:pic>
        <p:nvPicPr>
          <p:cNvPr id="4" name="Picture 3"/>
          <p:cNvPicPr>
            <a:picLocks noChangeAspect="1"/>
          </p:cNvPicPr>
          <p:nvPr/>
        </p:nvPicPr>
        <p:blipFill>
          <a:blip r:embed="rId3"/>
          <a:stretch>
            <a:fillRect/>
          </a:stretch>
        </p:blipFill>
        <p:spPr>
          <a:xfrm>
            <a:off x="6589510" y="1300236"/>
            <a:ext cx="5391596" cy="2663221"/>
          </a:xfrm>
          <a:prstGeom prst="rect">
            <a:avLst/>
          </a:prstGeom>
        </p:spPr>
      </p:pic>
      <p:pic>
        <p:nvPicPr>
          <p:cNvPr id="1030" name="Picture 6" descr="Wordpress VIP - The Leader in Digital Asset Management Software - Aprimo">
            <a:extLst>
              <a:ext uri="{FF2B5EF4-FFF2-40B4-BE49-F238E27FC236}">
                <a16:creationId xmlns:a16="http://schemas.microsoft.com/office/drawing/2014/main" id="{92ADCC22-04DB-0311-F69D-B4F38C971B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89510" y="4740154"/>
            <a:ext cx="1079901" cy="617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9641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79">
            <a:extLst>
              <a:ext uri="{FF2B5EF4-FFF2-40B4-BE49-F238E27FC236}">
                <a16:creationId xmlns:a16="http://schemas.microsoft.com/office/drawing/2014/main" id="{04A8BA85-C436-483F-B350-95A2A0B916E9}"/>
              </a:ext>
            </a:extLst>
          </p:cNvPr>
          <p:cNvSpPr txBox="1"/>
          <p:nvPr/>
        </p:nvSpPr>
        <p:spPr>
          <a:xfrm>
            <a:off x="549543" y="1211831"/>
            <a:ext cx="586582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j-lt"/>
              </a:rPr>
              <a:t>A Digital Experience Platform for Students, Researchers, Faculty and Alumni, powered by Adobe</a:t>
            </a:r>
          </a:p>
        </p:txBody>
      </p:sp>
      <p:sp>
        <p:nvSpPr>
          <p:cNvPr id="21" name="TextBox 20">
            <a:extLst>
              <a:ext uri="{FF2B5EF4-FFF2-40B4-BE49-F238E27FC236}">
                <a16:creationId xmlns:a16="http://schemas.microsoft.com/office/drawing/2014/main" id="{37DBB9EF-32D7-4C9E-8C4C-97D66DB44AAA}"/>
              </a:ext>
            </a:extLst>
          </p:cNvPr>
          <p:cNvSpPr txBox="1"/>
          <p:nvPr/>
        </p:nvSpPr>
        <p:spPr>
          <a:xfrm>
            <a:off x="1771255" y="468389"/>
            <a:ext cx="2591187" cy="276999"/>
          </a:xfrm>
          <a:prstGeom prst="rect">
            <a:avLst/>
          </a:prstGeom>
          <a:noFill/>
        </p:spPr>
        <p:txBody>
          <a:bodyPr wrap="square">
            <a:spAutoFit/>
          </a:bodyPr>
          <a:lstStyle/>
          <a:p>
            <a:r>
              <a:rPr lang="en-US" sz="1200">
                <a:solidFill>
                  <a:schemeClr val="accent1"/>
                </a:solidFill>
              </a:rPr>
              <a:t>Industry :Education </a:t>
            </a:r>
            <a:endParaRPr lang="en-US" sz="1200">
              <a:solidFill>
                <a:srgbClr val="FF0000"/>
              </a:solidFill>
            </a:endParaRPr>
          </a:p>
        </p:txBody>
      </p:sp>
      <p:sp>
        <p:nvSpPr>
          <p:cNvPr id="23" name="TextBox 22">
            <a:extLst>
              <a:ext uri="{FF2B5EF4-FFF2-40B4-BE49-F238E27FC236}">
                <a16:creationId xmlns:a16="http://schemas.microsoft.com/office/drawing/2014/main" id="{7A89D238-604F-4186-9276-6CC7C60B7D1F}"/>
              </a:ext>
            </a:extLst>
          </p:cNvPr>
          <p:cNvSpPr txBox="1"/>
          <p:nvPr/>
        </p:nvSpPr>
        <p:spPr>
          <a:xfrm>
            <a:off x="1771255" y="732861"/>
            <a:ext cx="1340898" cy="246221"/>
          </a:xfrm>
          <a:prstGeom prst="rect">
            <a:avLst/>
          </a:prstGeom>
          <a:noFill/>
        </p:spPr>
        <p:txBody>
          <a:bodyPr wrap="square">
            <a:spAutoFit/>
          </a:bodyPr>
          <a:lstStyle/>
          <a:p>
            <a:r>
              <a:rPr lang="en-US" sz="1000"/>
              <a:t>Type : Case study</a:t>
            </a:r>
          </a:p>
        </p:txBody>
      </p:sp>
      <p:cxnSp>
        <p:nvCxnSpPr>
          <p:cNvPr id="10" name="Straight Connector 9">
            <a:extLst>
              <a:ext uri="{FF2B5EF4-FFF2-40B4-BE49-F238E27FC236}">
                <a16:creationId xmlns:a16="http://schemas.microsoft.com/office/drawing/2014/main" id="{09D59749-5A43-4187-8DF2-AB514B81E31E}"/>
              </a:ext>
            </a:extLst>
          </p:cNvPr>
          <p:cNvCxnSpPr>
            <a:cxnSpLocks/>
          </p:cNvCxnSpPr>
          <p:nvPr/>
        </p:nvCxnSpPr>
        <p:spPr>
          <a:xfrm>
            <a:off x="1686247" y="494806"/>
            <a:ext cx="0" cy="406193"/>
          </a:xfrm>
          <a:prstGeom prst="line">
            <a:avLst/>
          </a:prstGeom>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B0887717-9B3E-4704-9045-14C8BDF95C7F}"/>
              </a:ext>
            </a:extLst>
          </p:cNvPr>
          <p:cNvGrpSpPr/>
          <p:nvPr/>
        </p:nvGrpSpPr>
        <p:grpSpPr>
          <a:xfrm>
            <a:off x="6996191" y="5165715"/>
            <a:ext cx="3379171" cy="1000973"/>
            <a:chOff x="623526" y="5275276"/>
            <a:chExt cx="3379171" cy="1000973"/>
          </a:xfrm>
        </p:grpSpPr>
        <p:grpSp>
          <p:nvGrpSpPr>
            <p:cNvPr id="81" name="Group 33">
              <a:extLst>
                <a:ext uri="{FF2B5EF4-FFF2-40B4-BE49-F238E27FC236}">
                  <a16:creationId xmlns:a16="http://schemas.microsoft.com/office/drawing/2014/main" id="{0253A7D1-B713-4D80-A84D-B7523DAD5217}"/>
                </a:ext>
              </a:extLst>
            </p:cNvPr>
            <p:cNvGrpSpPr>
              <a:grpSpLocks noChangeAspect="1"/>
            </p:cNvGrpSpPr>
            <p:nvPr/>
          </p:nvGrpSpPr>
          <p:grpSpPr bwMode="auto">
            <a:xfrm flipV="1">
              <a:off x="623526" y="5275276"/>
              <a:ext cx="446876" cy="275890"/>
              <a:chOff x="733" y="3166"/>
              <a:chExt cx="541" cy="334"/>
            </a:xfrm>
            <a:solidFill>
              <a:sysClr val="windowText" lastClr="000000">
                <a:lumMod val="50000"/>
                <a:lumOff val="50000"/>
              </a:sysClr>
            </a:solidFill>
          </p:grpSpPr>
          <p:sp>
            <p:nvSpPr>
              <p:cNvPr id="82" name="Freeform 35">
                <a:extLst>
                  <a:ext uri="{FF2B5EF4-FFF2-40B4-BE49-F238E27FC236}">
                    <a16:creationId xmlns:a16="http://schemas.microsoft.com/office/drawing/2014/main" id="{928B64BB-E46A-4785-AABC-B1645D6CDC93}"/>
                  </a:ext>
                </a:extLst>
              </p:cNvPr>
              <p:cNvSpPr>
                <a:spLocks noEditPoints="1"/>
              </p:cNvSpPr>
              <p:nvPr/>
            </p:nvSpPr>
            <p:spPr bwMode="auto">
              <a:xfrm>
                <a:off x="733" y="3166"/>
                <a:ext cx="335" cy="334"/>
              </a:xfrm>
              <a:custGeom>
                <a:avLst/>
                <a:gdLst>
                  <a:gd name="T0" fmla="*/ 703 w 1676"/>
                  <a:gd name="T1" fmla="*/ 434 h 1671"/>
                  <a:gd name="T2" fmla="*/ 541 w 1676"/>
                  <a:gd name="T3" fmla="*/ 533 h 1671"/>
                  <a:gd name="T4" fmla="*/ 440 w 1676"/>
                  <a:gd name="T5" fmla="*/ 689 h 1671"/>
                  <a:gd name="T6" fmla="*/ 415 w 1676"/>
                  <a:gd name="T7" fmla="*/ 873 h 1671"/>
                  <a:gd name="T8" fmla="*/ 475 w 1676"/>
                  <a:gd name="T9" fmla="*/ 1057 h 1671"/>
                  <a:gd name="T10" fmla="*/ 609 w 1676"/>
                  <a:gd name="T11" fmla="*/ 1192 h 1671"/>
                  <a:gd name="T12" fmla="*/ 789 w 1676"/>
                  <a:gd name="T13" fmla="*/ 1256 h 1671"/>
                  <a:gd name="T14" fmla="*/ 973 w 1676"/>
                  <a:gd name="T15" fmla="*/ 1237 h 1671"/>
                  <a:gd name="T16" fmla="*/ 1136 w 1676"/>
                  <a:gd name="T17" fmla="*/ 1138 h 1671"/>
                  <a:gd name="T18" fmla="*/ 1236 w 1676"/>
                  <a:gd name="T19" fmla="*/ 982 h 1671"/>
                  <a:gd name="T20" fmla="*/ 1261 w 1676"/>
                  <a:gd name="T21" fmla="*/ 799 h 1671"/>
                  <a:gd name="T22" fmla="*/ 1201 w 1676"/>
                  <a:gd name="T23" fmla="*/ 615 h 1671"/>
                  <a:gd name="T24" fmla="*/ 1067 w 1676"/>
                  <a:gd name="T25" fmla="*/ 479 h 1671"/>
                  <a:gd name="T26" fmla="*/ 887 w 1676"/>
                  <a:gd name="T27" fmla="*/ 414 h 1671"/>
                  <a:gd name="T28" fmla="*/ 1194 w 1676"/>
                  <a:gd name="T29" fmla="*/ 47 h 1671"/>
                  <a:gd name="T30" fmla="*/ 1259 w 1676"/>
                  <a:gd name="T31" fmla="*/ 114 h 1671"/>
                  <a:gd name="T32" fmla="*/ 1225 w 1676"/>
                  <a:gd name="T33" fmla="*/ 274 h 1671"/>
                  <a:gd name="T34" fmla="*/ 1456 w 1676"/>
                  <a:gd name="T35" fmla="*/ 368 h 1671"/>
                  <a:gd name="T36" fmla="*/ 1549 w 1676"/>
                  <a:gd name="T37" fmla="*/ 369 h 1671"/>
                  <a:gd name="T38" fmla="*/ 1649 w 1676"/>
                  <a:gd name="T39" fmla="*/ 530 h 1671"/>
                  <a:gd name="T40" fmla="*/ 1647 w 1676"/>
                  <a:gd name="T41" fmla="*/ 622 h 1671"/>
                  <a:gd name="T42" fmla="*/ 1510 w 1676"/>
                  <a:gd name="T43" fmla="*/ 711 h 1671"/>
                  <a:gd name="T44" fmla="*/ 1606 w 1676"/>
                  <a:gd name="T45" fmla="*/ 940 h 1671"/>
                  <a:gd name="T46" fmla="*/ 1671 w 1676"/>
                  <a:gd name="T47" fmla="*/ 1007 h 1671"/>
                  <a:gd name="T48" fmla="*/ 1628 w 1676"/>
                  <a:gd name="T49" fmla="*/ 1191 h 1671"/>
                  <a:gd name="T50" fmla="*/ 1573 w 1676"/>
                  <a:gd name="T51" fmla="*/ 1251 h 1671"/>
                  <a:gd name="T52" fmla="*/ 1402 w 1676"/>
                  <a:gd name="T53" fmla="*/ 1221 h 1671"/>
                  <a:gd name="T54" fmla="*/ 1307 w 1676"/>
                  <a:gd name="T55" fmla="*/ 1452 h 1671"/>
                  <a:gd name="T56" fmla="*/ 1306 w 1676"/>
                  <a:gd name="T57" fmla="*/ 1544 h 1671"/>
                  <a:gd name="T58" fmla="*/ 1146 w 1676"/>
                  <a:gd name="T59" fmla="*/ 1644 h 1671"/>
                  <a:gd name="T60" fmla="*/ 1053 w 1676"/>
                  <a:gd name="T61" fmla="*/ 1642 h 1671"/>
                  <a:gd name="T62" fmla="*/ 963 w 1676"/>
                  <a:gd name="T63" fmla="*/ 1506 h 1671"/>
                  <a:gd name="T64" fmla="*/ 733 w 1676"/>
                  <a:gd name="T65" fmla="*/ 1602 h 1671"/>
                  <a:gd name="T66" fmla="*/ 677 w 1676"/>
                  <a:gd name="T67" fmla="*/ 1663 h 1671"/>
                  <a:gd name="T68" fmla="*/ 483 w 1676"/>
                  <a:gd name="T69" fmla="*/ 1624 h 1671"/>
                  <a:gd name="T70" fmla="*/ 422 w 1676"/>
                  <a:gd name="T71" fmla="*/ 1568 h 1671"/>
                  <a:gd name="T72" fmla="*/ 451 w 1676"/>
                  <a:gd name="T73" fmla="*/ 1398 h 1671"/>
                  <a:gd name="T74" fmla="*/ 220 w 1676"/>
                  <a:gd name="T75" fmla="*/ 1303 h 1671"/>
                  <a:gd name="T76" fmla="*/ 128 w 1676"/>
                  <a:gd name="T77" fmla="*/ 1301 h 1671"/>
                  <a:gd name="T78" fmla="*/ 28 w 1676"/>
                  <a:gd name="T79" fmla="*/ 1142 h 1671"/>
                  <a:gd name="T80" fmla="*/ 29 w 1676"/>
                  <a:gd name="T81" fmla="*/ 1049 h 1671"/>
                  <a:gd name="T82" fmla="*/ 166 w 1676"/>
                  <a:gd name="T83" fmla="*/ 961 h 1671"/>
                  <a:gd name="T84" fmla="*/ 70 w 1676"/>
                  <a:gd name="T85" fmla="*/ 730 h 1671"/>
                  <a:gd name="T86" fmla="*/ 10 w 1676"/>
                  <a:gd name="T87" fmla="*/ 675 h 1671"/>
                  <a:gd name="T88" fmla="*/ 48 w 1676"/>
                  <a:gd name="T89" fmla="*/ 480 h 1671"/>
                  <a:gd name="T90" fmla="*/ 116 w 1676"/>
                  <a:gd name="T91" fmla="*/ 417 h 1671"/>
                  <a:gd name="T92" fmla="*/ 274 w 1676"/>
                  <a:gd name="T93" fmla="*/ 450 h 1671"/>
                  <a:gd name="T94" fmla="*/ 369 w 1676"/>
                  <a:gd name="T95" fmla="*/ 219 h 1671"/>
                  <a:gd name="T96" fmla="*/ 371 w 1676"/>
                  <a:gd name="T97" fmla="*/ 126 h 1671"/>
                  <a:gd name="T98" fmla="*/ 531 w 1676"/>
                  <a:gd name="T99" fmla="*/ 27 h 1671"/>
                  <a:gd name="T100" fmla="*/ 625 w 1676"/>
                  <a:gd name="T101" fmla="*/ 29 h 1671"/>
                  <a:gd name="T102" fmla="*/ 714 w 1676"/>
                  <a:gd name="T103" fmla="*/ 166 h 1671"/>
                  <a:gd name="T104" fmla="*/ 943 w 1676"/>
                  <a:gd name="T105" fmla="*/ 69 h 1671"/>
                  <a:gd name="T106" fmla="*/ 1011 w 1676"/>
                  <a:gd name="T107" fmla="*/ 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76" h="1671">
                    <a:moveTo>
                      <a:pt x="838" y="412"/>
                    </a:moveTo>
                    <a:lnTo>
                      <a:pt x="792" y="414"/>
                    </a:lnTo>
                    <a:lnTo>
                      <a:pt x="747" y="422"/>
                    </a:lnTo>
                    <a:lnTo>
                      <a:pt x="703" y="434"/>
                    </a:lnTo>
                    <a:lnTo>
                      <a:pt x="661" y="450"/>
                    </a:lnTo>
                    <a:lnTo>
                      <a:pt x="617" y="474"/>
                    </a:lnTo>
                    <a:lnTo>
                      <a:pt x="576" y="502"/>
                    </a:lnTo>
                    <a:lnTo>
                      <a:pt x="541" y="533"/>
                    </a:lnTo>
                    <a:lnTo>
                      <a:pt x="509" y="568"/>
                    </a:lnTo>
                    <a:lnTo>
                      <a:pt x="481" y="605"/>
                    </a:lnTo>
                    <a:lnTo>
                      <a:pt x="458" y="646"/>
                    </a:lnTo>
                    <a:lnTo>
                      <a:pt x="440" y="689"/>
                    </a:lnTo>
                    <a:lnTo>
                      <a:pt x="426" y="734"/>
                    </a:lnTo>
                    <a:lnTo>
                      <a:pt x="418" y="779"/>
                    </a:lnTo>
                    <a:lnTo>
                      <a:pt x="414" y="826"/>
                    </a:lnTo>
                    <a:lnTo>
                      <a:pt x="415" y="873"/>
                    </a:lnTo>
                    <a:lnTo>
                      <a:pt x="422" y="920"/>
                    </a:lnTo>
                    <a:lnTo>
                      <a:pt x="434" y="967"/>
                    </a:lnTo>
                    <a:lnTo>
                      <a:pt x="452" y="1013"/>
                    </a:lnTo>
                    <a:lnTo>
                      <a:pt x="475" y="1057"/>
                    </a:lnTo>
                    <a:lnTo>
                      <a:pt x="503" y="1096"/>
                    </a:lnTo>
                    <a:lnTo>
                      <a:pt x="535" y="1132"/>
                    </a:lnTo>
                    <a:lnTo>
                      <a:pt x="570" y="1165"/>
                    </a:lnTo>
                    <a:lnTo>
                      <a:pt x="609" y="1192"/>
                    </a:lnTo>
                    <a:lnTo>
                      <a:pt x="651" y="1215"/>
                    </a:lnTo>
                    <a:lnTo>
                      <a:pt x="696" y="1234"/>
                    </a:lnTo>
                    <a:lnTo>
                      <a:pt x="741" y="1247"/>
                    </a:lnTo>
                    <a:lnTo>
                      <a:pt x="789" y="1256"/>
                    </a:lnTo>
                    <a:lnTo>
                      <a:pt x="839" y="1259"/>
                    </a:lnTo>
                    <a:lnTo>
                      <a:pt x="884" y="1257"/>
                    </a:lnTo>
                    <a:lnTo>
                      <a:pt x="929" y="1250"/>
                    </a:lnTo>
                    <a:lnTo>
                      <a:pt x="973" y="1237"/>
                    </a:lnTo>
                    <a:lnTo>
                      <a:pt x="1016" y="1220"/>
                    </a:lnTo>
                    <a:lnTo>
                      <a:pt x="1060" y="1197"/>
                    </a:lnTo>
                    <a:lnTo>
                      <a:pt x="1100" y="1169"/>
                    </a:lnTo>
                    <a:lnTo>
                      <a:pt x="1136" y="1138"/>
                    </a:lnTo>
                    <a:lnTo>
                      <a:pt x="1167" y="1103"/>
                    </a:lnTo>
                    <a:lnTo>
                      <a:pt x="1195" y="1065"/>
                    </a:lnTo>
                    <a:lnTo>
                      <a:pt x="1218" y="1025"/>
                    </a:lnTo>
                    <a:lnTo>
                      <a:pt x="1236" y="982"/>
                    </a:lnTo>
                    <a:lnTo>
                      <a:pt x="1250" y="938"/>
                    </a:lnTo>
                    <a:lnTo>
                      <a:pt x="1259" y="892"/>
                    </a:lnTo>
                    <a:lnTo>
                      <a:pt x="1262" y="845"/>
                    </a:lnTo>
                    <a:lnTo>
                      <a:pt x="1261" y="799"/>
                    </a:lnTo>
                    <a:lnTo>
                      <a:pt x="1254" y="751"/>
                    </a:lnTo>
                    <a:lnTo>
                      <a:pt x="1242" y="704"/>
                    </a:lnTo>
                    <a:lnTo>
                      <a:pt x="1224" y="658"/>
                    </a:lnTo>
                    <a:lnTo>
                      <a:pt x="1201" y="615"/>
                    </a:lnTo>
                    <a:lnTo>
                      <a:pt x="1173" y="575"/>
                    </a:lnTo>
                    <a:lnTo>
                      <a:pt x="1141" y="539"/>
                    </a:lnTo>
                    <a:lnTo>
                      <a:pt x="1106" y="507"/>
                    </a:lnTo>
                    <a:lnTo>
                      <a:pt x="1067" y="479"/>
                    </a:lnTo>
                    <a:lnTo>
                      <a:pt x="1025" y="455"/>
                    </a:lnTo>
                    <a:lnTo>
                      <a:pt x="981" y="437"/>
                    </a:lnTo>
                    <a:lnTo>
                      <a:pt x="935" y="423"/>
                    </a:lnTo>
                    <a:lnTo>
                      <a:pt x="887" y="414"/>
                    </a:lnTo>
                    <a:lnTo>
                      <a:pt x="838" y="412"/>
                    </a:lnTo>
                    <a:close/>
                    <a:moveTo>
                      <a:pt x="1058" y="0"/>
                    </a:moveTo>
                    <a:lnTo>
                      <a:pt x="1082" y="5"/>
                    </a:lnTo>
                    <a:lnTo>
                      <a:pt x="1194" y="47"/>
                    </a:lnTo>
                    <a:lnTo>
                      <a:pt x="1217" y="58"/>
                    </a:lnTo>
                    <a:lnTo>
                      <a:pt x="1235" y="74"/>
                    </a:lnTo>
                    <a:lnTo>
                      <a:pt x="1249" y="93"/>
                    </a:lnTo>
                    <a:lnTo>
                      <a:pt x="1259" y="114"/>
                    </a:lnTo>
                    <a:lnTo>
                      <a:pt x="1263" y="137"/>
                    </a:lnTo>
                    <a:lnTo>
                      <a:pt x="1263" y="161"/>
                    </a:lnTo>
                    <a:lnTo>
                      <a:pt x="1257" y="185"/>
                    </a:lnTo>
                    <a:lnTo>
                      <a:pt x="1225" y="274"/>
                    </a:lnTo>
                    <a:lnTo>
                      <a:pt x="1277" y="314"/>
                    </a:lnTo>
                    <a:lnTo>
                      <a:pt x="1325" y="358"/>
                    </a:lnTo>
                    <a:lnTo>
                      <a:pt x="1369" y="407"/>
                    </a:lnTo>
                    <a:lnTo>
                      <a:pt x="1456" y="368"/>
                    </a:lnTo>
                    <a:lnTo>
                      <a:pt x="1479" y="360"/>
                    </a:lnTo>
                    <a:lnTo>
                      <a:pt x="1503" y="358"/>
                    </a:lnTo>
                    <a:lnTo>
                      <a:pt x="1527" y="362"/>
                    </a:lnTo>
                    <a:lnTo>
                      <a:pt x="1549" y="369"/>
                    </a:lnTo>
                    <a:lnTo>
                      <a:pt x="1569" y="382"/>
                    </a:lnTo>
                    <a:lnTo>
                      <a:pt x="1585" y="399"/>
                    </a:lnTo>
                    <a:lnTo>
                      <a:pt x="1598" y="420"/>
                    </a:lnTo>
                    <a:lnTo>
                      <a:pt x="1649" y="530"/>
                    </a:lnTo>
                    <a:lnTo>
                      <a:pt x="1656" y="552"/>
                    </a:lnTo>
                    <a:lnTo>
                      <a:pt x="1658" y="576"/>
                    </a:lnTo>
                    <a:lnTo>
                      <a:pt x="1656" y="599"/>
                    </a:lnTo>
                    <a:lnTo>
                      <a:pt x="1647" y="622"/>
                    </a:lnTo>
                    <a:lnTo>
                      <a:pt x="1634" y="641"/>
                    </a:lnTo>
                    <a:lnTo>
                      <a:pt x="1617" y="658"/>
                    </a:lnTo>
                    <a:lnTo>
                      <a:pt x="1596" y="671"/>
                    </a:lnTo>
                    <a:lnTo>
                      <a:pt x="1510" y="711"/>
                    </a:lnTo>
                    <a:lnTo>
                      <a:pt x="1519" y="777"/>
                    </a:lnTo>
                    <a:lnTo>
                      <a:pt x="1521" y="843"/>
                    </a:lnTo>
                    <a:lnTo>
                      <a:pt x="1517" y="908"/>
                    </a:lnTo>
                    <a:lnTo>
                      <a:pt x="1606" y="940"/>
                    </a:lnTo>
                    <a:lnTo>
                      <a:pt x="1628" y="952"/>
                    </a:lnTo>
                    <a:lnTo>
                      <a:pt x="1647" y="967"/>
                    </a:lnTo>
                    <a:lnTo>
                      <a:pt x="1662" y="986"/>
                    </a:lnTo>
                    <a:lnTo>
                      <a:pt x="1671" y="1007"/>
                    </a:lnTo>
                    <a:lnTo>
                      <a:pt x="1676" y="1030"/>
                    </a:lnTo>
                    <a:lnTo>
                      <a:pt x="1676" y="1054"/>
                    </a:lnTo>
                    <a:lnTo>
                      <a:pt x="1670" y="1078"/>
                    </a:lnTo>
                    <a:lnTo>
                      <a:pt x="1628" y="1191"/>
                    </a:lnTo>
                    <a:lnTo>
                      <a:pt x="1620" y="1209"/>
                    </a:lnTo>
                    <a:lnTo>
                      <a:pt x="1606" y="1226"/>
                    </a:lnTo>
                    <a:lnTo>
                      <a:pt x="1591" y="1240"/>
                    </a:lnTo>
                    <a:lnTo>
                      <a:pt x="1573" y="1251"/>
                    </a:lnTo>
                    <a:lnTo>
                      <a:pt x="1546" y="1259"/>
                    </a:lnTo>
                    <a:lnTo>
                      <a:pt x="1517" y="1261"/>
                    </a:lnTo>
                    <a:lnTo>
                      <a:pt x="1491" y="1253"/>
                    </a:lnTo>
                    <a:lnTo>
                      <a:pt x="1402" y="1221"/>
                    </a:lnTo>
                    <a:lnTo>
                      <a:pt x="1362" y="1273"/>
                    </a:lnTo>
                    <a:lnTo>
                      <a:pt x="1316" y="1322"/>
                    </a:lnTo>
                    <a:lnTo>
                      <a:pt x="1267" y="1366"/>
                    </a:lnTo>
                    <a:lnTo>
                      <a:pt x="1307" y="1452"/>
                    </a:lnTo>
                    <a:lnTo>
                      <a:pt x="1315" y="1476"/>
                    </a:lnTo>
                    <a:lnTo>
                      <a:pt x="1316" y="1500"/>
                    </a:lnTo>
                    <a:lnTo>
                      <a:pt x="1314" y="1522"/>
                    </a:lnTo>
                    <a:lnTo>
                      <a:pt x="1306" y="1544"/>
                    </a:lnTo>
                    <a:lnTo>
                      <a:pt x="1292" y="1564"/>
                    </a:lnTo>
                    <a:lnTo>
                      <a:pt x="1276" y="1581"/>
                    </a:lnTo>
                    <a:lnTo>
                      <a:pt x="1255" y="1594"/>
                    </a:lnTo>
                    <a:lnTo>
                      <a:pt x="1146" y="1644"/>
                    </a:lnTo>
                    <a:lnTo>
                      <a:pt x="1121" y="1652"/>
                    </a:lnTo>
                    <a:lnTo>
                      <a:pt x="1097" y="1653"/>
                    </a:lnTo>
                    <a:lnTo>
                      <a:pt x="1075" y="1651"/>
                    </a:lnTo>
                    <a:lnTo>
                      <a:pt x="1053" y="1642"/>
                    </a:lnTo>
                    <a:lnTo>
                      <a:pt x="1032" y="1629"/>
                    </a:lnTo>
                    <a:lnTo>
                      <a:pt x="1016" y="1612"/>
                    </a:lnTo>
                    <a:lnTo>
                      <a:pt x="1002" y="1592"/>
                    </a:lnTo>
                    <a:lnTo>
                      <a:pt x="963" y="1506"/>
                    </a:lnTo>
                    <a:lnTo>
                      <a:pt x="898" y="1514"/>
                    </a:lnTo>
                    <a:lnTo>
                      <a:pt x="831" y="1516"/>
                    </a:lnTo>
                    <a:lnTo>
                      <a:pt x="767" y="1513"/>
                    </a:lnTo>
                    <a:lnTo>
                      <a:pt x="733" y="1602"/>
                    </a:lnTo>
                    <a:lnTo>
                      <a:pt x="723" y="1621"/>
                    </a:lnTo>
                    <a:lnTo>
                      <a:pt x="711" y="1638"/>
                    </a:lnTo>
                    <a:lnTo>
                      <a:pt x="696" y="1652"/>
                    </a:lnTo>
                    <a:lnTo>
                      <a:pt x="677" y="1663"/>
                    </a:lnTo>
                    <a:lnTo>
                      <a:pt x="650" y="1670"/>
                    </a:lnTo>
                    <a:lnTo>
                      <a:pt x="622" y="1671"/>
                    </a:lnTo>
                    <a:lnTo>
                      <a:pt x="596" y="1665"/>
                    </a:lnTo>
                    <a:lnTo>
                      <a:pt x="483" y="1624"/>
                    </a:lnTo>
                    <a:lnTo>
                      <a:pt x="463" y="1615"/>
                    </a:lnTo>
                    <a:lnTo>
                      <a:pt x="446" y="1602"/>
                    </a:lnTo>
                    <a:lnTo>
                      <a:pt x="433" y="1586"/>
                    </a:lnTo>
                    <a:lnTo>
                      <a:pt x="422" y="1568"/>
                    </a:lnTo>
                    <a:lnTo>
                      <a:pt x="414" y="1542"/>
                    </a:lnTo>
                    <a:lnTo>
                      <a:pt x="413" y="1514"/>
                    </a:lnTo>
                    <a:lnTo>
                      <a:pt x="419" y="1486"/>
                    </a:lnTo>
                    <a:lnTo>
                      <a:pt x="451" y="1398"/>
                    </a:lnTo>
                    <a:lnTo>
                      <a:pt x="399" y="1358"/>
                    </a:lnTo>
                    <a:lnTo>
                      <a:pt x="351" y="1313"/>
                    </a:lnTo>
                    <a:lnTo>
                      <a:pt x="307" y="1264"/>
                    </a:lnTo>
                    <a:lnTo>
                      <a:pt x="220" y="1303"/>
                    </a:lnTo>
                    <a:lnTo>
                      <a:pt x="197" y="1311"/>
                    </a:lnTo>
                    <a:lnTo>
                      <a:pt x="173" y="1313"/>
                    </a:lnTo>
                    <a:lnTo>
                      <a:pt x="149" y="1310"/>
                    </a:lnTo>
                    <a:lnTo>
                      <a:pt x="128" y="1301"/>
                    </a:lnTo>
                    <a:lnTo>
                      <a:pt x="108" y="1289"/>
                    </a:lnTo>
                    <a:lnTo>
                      <a:pt x="91" y="1271"/>
                    </a:lnTo>
                    <a:lnTo>
                      <a:pt x="78" y="1251"/>
                    </a:lnTo>
                    <a:lnTo>
                      <a:pt x="28" y="1142"/>
                    </a:lnTo>
                    <a:lnTo>
                      <a:pt x="20" y="1118"/>
                    </a:lnTo>
                    <a:lnTo>
                      <a:pt x="18" y="1095"/>
                    </a:lnTo>
                    <a:lnTo>
                      <a:pt x="22" y="1071"/>
                    </a:lnTo>
                    <a:lnTo>
                      <a:pt x="29" y="1049"/>
                    </a:lnTo>
                    <a:lnTo>
                      <a:pt x="42" y="1029"/>
                    </a:lnTo>
                    <a:lnTo>
                      <a:pt x="59" y="1012"/>
                    </a:lnTo>
                    <a:lnTo>
                      <a:pt x="81" y="1000"/>
                    </a:lnTo>
                    <a:lnTo>
                      <a:pt x="166" y="961"/>
                    </a:lnTo>
                    <a:lnTo>
                      <a:pt x="158" y="895"/>
                    </a:lnTo>
                    <a:lnTo>
                      <a:pt x="155" y="829"/>
                    </a:lnTo>
                    <a:lnTo>
                      <a:pt x="159" y="764"/>
                    </a:lnTo>
                    <a:lnTo>
                      <a:pt x="70" y="730"/>
                    </a:lnTo>
                    <a:lnTo>
                      <a:pt x="51" y="722"/>
                    </a:lnTo>
                    <a:lnTo>
                      <a:pt x="34" y="708"/>
                    </a:lnTo>
                    <a:lnTo>
                      <a:pt x="20" y="693"/>
                    </a:lnTo>
                    <a:lnTo>
                      <a:pt x="10" y="675"/>
                    </a:lnTo>
                    <a:lnTo>
                      <a:pt x="1" y="648"/>
                    </a:lnTo>
                    <a:lnTo>
                      <a:pt x="0" y="621"/>
                    </a:lnTo>
                    <a:lnTo>
                      <a:pt x="6" y="593"/>
                    </a:lnTo>
                    <a:lnTo>
                      <a:pt x="48" y="480"/>
                    </a:lnTo>
                    <a:lnTo>
                      <a:pt x="59" y="459"/>
                    </a:lnTo>
                    <a:lnTo>
                      <a:pt x="75" y="441"/>
                    </a:lnTo>
                    <a:lnTo>
                      <a:pt x="94" y="426"/>
                    </a:lnTo>
                    <a:lnTo>
                      <a:pt x="116" y="417"/>
                    </a:lnTo>
                    <a:lnTo>
                      <a:pt x="138" y="412"/>
                    </a:lnTo>
                    <a:lnTo>
                      <a:pt x="162" y="412"/>
                    </a:lnTo>
                    <a:lnTo>
                      <a:pt x="187" y="417"/>
                    </a:lnTo>
                    <a:lnTo>
                      <a:pt x="274" y="450"/>
                    </a:lnTo>
                    <a:lnTo>
                      <a:pt x="314" y="398"/>
                    </a:lnTo>
                    <a:lnTo>
                      <a:pt x="360" y="350"/>
                    </a:lnTo>
                    <a:lnTo>
                      <a:pt x="409" y="305"/>
                    </a:lnTo>
                    <a:lnTo>
                      <a:pt x="369" y="219"/>
                    </a:lnTo>
                    <a:lnTo>
                      <a:pt x="361" y="196"/>
                    </a:lnTo>
                    <a:lnTo>
                      <a:pt x="360" y="172"/>
                    </a:lnTo>
                    <a:lnTo>
                      <a:pt x="362" y="149"/>
                    </a:lnTo>
                    <a:lnTo>
                      <a:pt x="371" y="126"/>
                    </a:lnTo>
                    <a:lnTo>
                      <a:pt x="384" y="107"/>
                    </a:lnTo>
                    <a:lnTo>
                      <a:pt x="401" y="90"/>
                    </a:lnTo>
                    <a:lnTo>
                      <a:pt x="422" y="77"/>
                    </a:lnTo>
                    <a:lnTo>
                      <a:pt x="531" y="27"/>
                    </a:lnTo>
                    <a:lnTo>
                      <a:pt x="555" y="19"/>
                    </a:lnTo>
                    <a:lnTo>
                      <a:pt x="579" y="17"/>
                    </a:lnTo>
                    <a:lnTo>
                      <a:pt x="602" y="21"/>
                    </a:lnTo>
                    <a:lnTo>
                      <a:pt x="625" y="29"/>
                    </a:lnTo>
                    <a:lnTo>
                      <a:pt x="644" y="41"/>
                    </a:lnTo>
                    <a:lnTo>
                      <a:pt x="661" y="58"/>
                    </a:lnTo>
                    <a:lnTo>
                      <a:pt x="674" y="80"/>
                    </a:lnTo>
                    <a:lnTo>
                      <a:pt x="714" y="166"/>
                    </a:lnTo>
                    <a:lnTo>
                      <a:pt x="779" y="156"/>
                    </a:lnTo>
                    <a:lnTo>
                      <a:pt x="845" y="154"/>
                    </a:lnTo>
                    <a:lnTo>
                      <a:pt x="911" y="158"/>
                    </a:lnTo>
                    <a:lnTo>
                      <a:pt x="943" y="69"/>
                    </a:lnTo>
                    <a:lnTo>
                      <a:pt x="954" y="47"/>
                    </a:lnTo>
                    <a:lnTo>
                      <a:pt x="970" y="29"/>
                    </a:lnTo>
                    <a:lnTo>
                      <a:pt x="989" y="16"/>
                    </a:lnTo>
                    <a:lnTo>
                      <a:pt x="1011" y="5"/>
                    </a:lnTo>
                    <a:lnTo>
                      <a:pt x="1034" y="0"/>
                    </a:lnTo>
                    <a:lnTo>
                      <a:pt x="105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83" name="Freeform 36">
                <a:extLst>
                  <a:ext uri="{FF2B5EF4-FFF2-40B4-BE49-F238E27FC236}">
                    <a16:creationId xmlns:a16="http://schemas.microsoft.com/office/drawing/2014/main" id="{41AEB928-D71A-4043-A9F8-2F7620EB94A5}"/>
                  </a:ext>
                </a:extLst>
              </p:cNvPr>
              <p:cNvSpPr>
                <a:spLocks noEditPoints="1"/>
              </p:cNvSpPr>
              <p:nvPr/>
            </p:nvSpPr>
            <p:spPr bwMode="auto">
              <a:xfrm>
                <a:off x="1088" y="3310"/>
                <a:ext cx="186" cy="186"/>
              </a:xfrm>
              <a:custGeom>
                <a:avLst/>
                <a:gdLst>
                  <a:gd name="T0" fmla="*/ 400 w 933"/>
                  <a:gd name="T1" fmla="*/ 240 h 931"/>
                  <a:gd name="T2" fmla="*/ 305 w 933"/>
                  <a:gd name="T3" fmla="*/ 294 h 931"/>
                  <a:gd name="T4" fmla="*/ 245 w 933"/>
                  <a:gd name="T5" fmla="*/ 384 h 931"/>
                  <a:gd name="T6" fmla="*/ 232 w 933"/>
                  <a:gd name="T7" fmla="*/ 492 h 931"/>
                  <a:gd name="T8" fmla="*/ 272 w 933"/>
                  <a:gd name="T9" fmla="*/ 598 h 931"/>
                  <a:gd name="T10" fmla="*/ 356 w 933"/>
                  <a:gd name="T11" fmla="*/ 673 h 931"/>
                  <a:gd name="T12" fmla="*/ 467 w 933"/>
                  <a:gd name="T13" fmla="*/ 702 h 931"/>
                  <a:gd name="T14" fmla="*/ 565 w 933"/>
                  <a:gd name="T15" fmla="*/ 681 h 931"/>
                  <a:gd name="T16" fmla="*/ 653 w 933"/>
                  <a:gd name="T17" fmla="*/ 611 h 931"/>
                  <a:gd name="T18" fmla="*/ 699 w 933"/>
                  <a:gd name="T19" fmla="*/ 512 h 931"/>
                  <a:gd name="T20" fmla="*/ 695 w 933"/>
                  <a:gd name="T21" fmla="*/ 403 h 931"/>
                  <a:gd name="T22" fmla="*/ 639 w 933"/>
                  <a:gd name="T23" fmla="*/ 304 h 931"/>
                  <a:gd name="T24" fmla="*/ 542 w 933"/>
                  <a:gd name="T25" fmla="*/ 242 h 931"/>
                  <a:gd name="T26" fmla="*/ 583 w 933"/>
                  <a:gd name="T27" fmla="*/ 0 h 931"/>
                  <a:gd name="T28" fmla="*/ 682 w 933"/>
                  <a:gd name="T29" fmla="*/ 36 h 931"/>
                  <a:gd name="T30" fmla="*/ 704 w 933"/>
                  <a:gd name="T31" fmla="*/ 85 h 931"/>
                  <a:gd name="T32" fmla="*/ 711 w 933"/>
                  <a:gd name="T33" fmla="*/ 175 h 931"/>
                  <a:gd name="T34" fmla="*/ 811 w 933"/>
                  <a:gd name="T35" fmla="*/ 205 h 931"/>
                  <a:gd name="T36" fmla="*/ 865 w 933"/>
                  <a:gd name="T37" fmla="*/ 208 h 931"/>
                  <a:gd name="T38" fmla="*/ 918 w 933"/>
                  <a:gd name="T39" fmla="*/ 295 h 931"/>
                  <a:gd name="T40" fmla="*/ 917 w 933"/>
                  <a:gd name="T41" fmla="*/ 349 h 931"/>
                  <a:gd name="T42" fmla="*/ 841 w 933"/>
                  <a:gd name="T43" fmla="*/ 396 h 931"/>
                  <a:gd name="T44" fmla="*/ 895 w 933"/>
                  <a:gd name="T45" fmla="*/ 524 h 931"/>
                  <a:gd name="T46" fmla="*/ 931 w 933"/>
                  <a:gd name="T47" fmla="*/ 564 h 931"/>
                  <a:gd name="T48" fmla="*/ 907 w 933"/>
                  <a:gd name="T49" fmla="*/ 664 h 931"/>
                  <a:gd name="T50" fmla="*/ 876 w 933"/>
                  <a:gd name="T51" fmla="*/ 697 h 931"/>
                  <a:gd name="T52" fmla="*/ 830 w 933"/>
                  <a:gd name="T53" fmla="*/ 699 h 931"/>
                  <a:gd name="T54" fmla="*/ 734 w 933"/>
                  <a:gd name="T55" fmla="*/ 736 h 931"/>
                  <a:gd name="T56" fmla="*/ 732 w 933"/>
                  <a:gd name="T57" fmla="*/ 827 h 931"/>
                  <a:gd name="T58" fmla="*/ 714 w 933"/>
                  <a:gd name="T59" fmla="*/ 877 h 931"/>
                  <a:gd name="T60" fmla="*/ 619 w 933"/>
                  <a:gd name="T61" fmla="*/ 921 h 931"/>
                  <a:gd name="T62" fmla="*/ 569 w 933"/>
                  <a:gd name="T63" fmla="*/ 903 h 931"/>
                  <a:gd name="T64" fmla="*/ 481 w 933"/>
                  <a:gd name="T65" fmla="*/ 845 h 931"/>
                  <a:gd name="T66" fmla="*/ 402 w 933"/>
                  <a:gd name="T67" fmla="*/ 906 h 931"/>
                  <a:gd name="T68" fmla="*/ 362 w 933"/>
                  <a:gd name="T69" fmla="*/ 930 h 931"/>
                  <a:gd name="T70" fmla="*/ 269 w 933"/>
                  <a:gd name="T71" fmla="*/ 905 h 931"/>
                  <a:gd name="T72" fmla="*/ 236 w 933"/>
                  <a:gd name="T73" fmla="*/ 874 h 931"/>
                  <a:gd name="T74" fmla="*/ 233 w 933"/>
                  <a:gd name="T75" fmla="*/ 828 h 931"/>
                  <a:gd name="T76" fmla="*/ 196 w 933"/>
                  <a:gd name="T77" fmla="*/ 732 h 931"/>
                  <a:gd name="T78" fmla="*/ 104 w 933"/>
                  <a:gd name="T79" fmla="*/ 731 h 931"/>
                  <a:gd name="T80" fmla="*/ 54 w 933"/>
                  <a:gd name="T81" fmla="*/ 713 h 931"/>
                  <a:gd name="T82" fmla="*/ 11 w 933"/>
                  <a:gd name="T83" fmla="*/ 618 h 931"/>
                  <a:gd name="T84" fmla="*/ 29 w 933"/>
                  <a:gd name="T85" fmla="*/ 568 h 931"/>
                  <a:gd name="T86" fmla="*/ 86 w 933"/>
                  <a:gd name="T87" fmla="*/ 480 h 931"/>
                  <a:gd name="T88" fmla="*/ 25 w 933"/>
                  <a:gd name="T89" fmla="*/ 400 h 931"/>
                  <a:gd name="T90" fmla="*/ 1 w 933"/>
                  <a:gd name="T91" fmla="*/ 361 h 931"/>
                  <a:gd name="T92" fmla="*/ 27 w 933"/>
                  <a:gd name="T93" fmla="*/ 268 h 931"/>
                  <a:gd name="T94" fmla="*/ 67 w 933"/>
                  <a:gd name="T95" fmla="*/ 232 h 931"/>
                  <a:gd name="T96" fmla="*/ 154 w 933"/>
                  <a:gd name="T97" fmla="*/ 251 h 931"/>
                  <a:gd name="T98" fmla="*/ 228 w 933"/>
                  <a:gd name="T99" fmla="*/ 170 h 931"/>
                  <a:gd name="T100" fmla="*/ 202 w 933"/>
                  <a:gd name="T101" fmla="*/ 86 h 931"/>
                  <a:gd name="T102" fmla="*/ 236 w 933"/>
                  <a:gd name="T103" fmla="*/ 43 h 931"/>
                  <a:gd name="T104" fmla="*/ 333 w 933"/>
                  <a:gd name="T105" fmla="*/ 11 h 931"/>
                  <a:gd name="T106" fmla="*/ 375 w 933"/>
                  <a:gd name="T107" fmla="*/ 44 h 931"/>
                  <a:gd name="T108" fmla="*/ 507 w 933"/>
                  <a:gd name="T109" fmla="*/ 89 h 931"/>
                  <a:gd name="T110" fmla="*/ 548 w 933"/>
                  <a:gd name="T111" fmla="*/ 11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33" h="931">
                    <a:moveTo>
                      <a:pt x="467" y="229"/>
                    </a:moveTo>
                    <a:lnTo>
                      <a:pt x="433" y="233"/>
                    </a:lnTo>
                    <a:lnTo>
                      <a:pt x="400" y="240"/>
                    </a:lnTo>
                    <a:lnTo>
                      <a:pt x="368" y="252"/>
                    </a:lnTo>
                    <a:lnTo>
                      <a:pt x="334" y="270"/>
                    </a:lnTo>
                    <a:lnTo>
                      <a:pt x="305" y="294"/>
                    </a:lnTo>
                    <a:lnTo>
                      <a:pt x="280" y="320"/>
                    </a:lnTo>
                    <a:lnTo>
                      <a:pt x="261" y="352"/>
                    </a:lnTo>
                    <a:lnTo>
                      <a:pt x="245" y="384"/>
                    </a:lnTo>
                    <a:lnTo>
                      <a:pt x="236" y="419"/>
                    </a:lnTo>
                    <a:lnTo>
                      <a:pt x="231" y="455"/>
                    </a:lnTo>
                    <a:lnTo>
                      <a:pt x="232" y="492"/>
                    </a:lnTo>
                    <a:lnTo>
                      <a:pt x="239" y="528"/>
                    </a:lnTo>
                    <a:lnTo>
                      <a:pt x="252" y="564"/>
                    </a:lnTo>
                    <a:lnTo>
                      <a:pt x="272" y="598"/>
                    </a:lnTo>
                    <a:lnTo>
                      <a:pt x="296" y="628"/>
                    </a:lnTo>
                    <a:lnTo>
                      <a:pt x="323" y="653"/>
                    </a:lnTo>
                    <a:lnTo>
                      <a:pt x="356" y="673"/>
                    </a:lnTo>
                    <a:lnTo>
                      <a:pt x="391" y="689"/>
                    </a:lnTo>
                    <a:lnTo>
                      <a:pt x="428" y="699"/>
                    </a:lnTo>
                    <a:lnTo>
                      <a:pt x="467" y="702"/>
                    </a:lnTo>
                    <a:lnTo>
                      <a:pt x="500" y="700"/>
                    </a:lnTo>
                    <a:lnTo>
                      <a:pt x="534" y="693"/>
                    </a:lnTo>
                    <a:lnTo>
                      <a:pt x="565" y="681"/>
                    </a:lnTo>
                    <a:lnTo>
                      <a:pt x="599" y="661"/>
                    </a:lnTo>
                    <a:lnTo>
                      <a:pt x="629" y="637"/>
                    </a:lnTo>
                    <a:lnTo>
                      <a:pt x="653" y="611"/>
                    </a:lnTo>
                    <a:lnTo>
                      <a:pt x="674" y="581"/>
                    </a:lnTo>
                    <a:lnTo>
                      <a:pt x="688" y="547"/>
                    </a:lnTo>
                    <a:lnTo>
                      <a:pt x="699" y="512"/>
                    </a:lnTo>
                    <a:lnTo>
                      <a:pt x="702" y="476"/>
                    </a:lnTo>
                    <a:lnTo>
                      <a:pt x="702" y="439"/>
                    </a:lnTo>
                    <a:lnTo>
                      <a:pt x="695" y="403"/>
                    </a:lnTo>
                    <a:lnTo>
                      <a:pt x="682" y="367"/>
                    </a:lnTo>
                    <a:lnTo>
                      <a:pt x="663" y="334"/>
                    </a:lnTo>
                    <a:lnTo>
                      <a:pt x="639" y="304"/>
                    </a:lnTo>
                    <a:lnTo>
                      <a:pt x="610" y="278"/>
                    </a:lnTo>
                    <a:lnTo>
                      <a:pt x="577" y="258"/>
                    </a:lnTo>
                    <a:lnTo>
                      <a:pt x="542" y="242"/>
                    </a:lnTo>
                    <a:lnTo>
                      <a:pt x="505" y="233"/>
                    </a:lnTo>
                    <a:lnTo>
                      <a:pt x="467" y="229"/>
                    </a:lnTo>
                    <a:close/>
                    <a:moveTo>
                      <a:pt x="583" y="0"/>
                    </a:moveTo>
                    <a:lnTo>
                      <a:pt x="603" y="4"/>
                    </a:lnTo>
                    <a:lnTo>
                      <a:pt x="665" y="26"/>
                    </a:lnTo>
                    <a:lnTo>
                      <a:pt x="682" y="36"/>
                    </a:lnTo>
                    <a:lnTo>
                      <a:pt x="694" y="50"/>
                    </a:lnTo>
                    <a:lnTo>
                      <a:pt x="701" y="66"/>
                    </a:lnTo>
                    <a:lnTo>
                      <a:pt x="704" y="85"/>
                    </a:lnTo>
                    <a:lnTo>
                      <a:pt x="700" y="103"/>
                    </a:lnTo>
                    <a:lnTo>
                      <a:pt x="682" y="152"/>
                    </a:lnTo>
                    <a:lnTo>
                      <a:pt x="711" y="175"/>
                    </a:lnTo>
                    <a:lnTo>
                      <a:pt x="739" y="199"/>
                    </a:lnTo>
                    <a:lnTo>
                      <a:pt x="763" y="227"/>
                    </a:lnTo>
                    <a:lnTo>
                      <a:pt x="811" y="205"/>
                    </a:lnTo>
                    <a:lnTo>
                      <a:pt x="829" y="200"/>
                    </a:lnTo>
                    <a:lnTo>
                      <a:pt x="848" y="200"/>
                    </a:lnTo>
                    <a:lnTo>
                      <a:pt x="865" y="208"/>
                    </a:lnTo>
                    <a:lnTo>
                      <a:pt x="879" y="218"/>
                    </a:lnTo>
                    <a:lnTo>
                      <a:pt x="890" y="234"/>
                    </a:lnTo>
                    <a:lnTo>
                      <a:pt x="918" y="295"/>
                    </a:lnTo>
                    <a:lnTo>
                      <a:pt x="923" y="313"/>
                    </a:lnTo>
                    <a:lnTo>
                      <a:pt x="923" y="332"/>
                    </a:lnTo>
                    <a:lnTo>
                      <a:pt x="917" y="349"/>
                    </a:lnTo>
                    <a:lnTo>
                      <a:pt x="905" y="364"/>
                    </a:lnTo>
                    <a:lnTo>
                      <a:pt x="889" y="374"/>
                    </a:lnTo>
                    <a:lnTo>
                      <a:pt x="841" y="396"/>
                    </a:lnTo>
                    <a:lnTo>
                      <a:pt x="847" y="451"/>
                    </a:lnTo>
                    <a:lnTo>
                      <a:pt x="846" y="505"/>
                    </a:lnTo>
                    <a:lnTo>
                      <a:pt x="895" y="524"/>
                    </a:lnTo>
                    <a:lnTo>
                      <a:pt x="912" y="534"/>
                    </a:lnTo>
                    <a:lnTo>
                      <a:pt x="924" y="547"/>
                    </a:lnTo>
                    <a:lnTo>
                      <a:pt x="931" y="564"/>
                    </a:lnTo>
                    <a:lnTo>
                      <a:pt x="933" y="582"/>
                    </a:lnTo>
                    <a:lnTo>
                      <a:pt x="930" y="601"/>
                    </a:lnTo>
                    <a:lnTo>
                      <a:pt x="907" y="664"/>
                    </a:lnTo>
                    <a:lnTo>
                      <a:pt x="900" y="677"/>
                    </a:lnTo>
                    <a:lnTo>
                      <a:pt x="889" y="689"/>
                    </a:lnTo>
                    <a:lnTo>
                      <a:pt x="876" y="697"/>
                    </a:lnTo>
                    <a:lnTo>
                      <a:pt x="861" y="702"/>
                    </a:lnTo>
                    <a:lnTo>
                      <a:pt x="846" y="702"/>
                    </a:lnTo>
                    <a:lnTo>
                      <a:pt x="830" y="699"/>
                    </a:lnTo>
                    <a:lnTo>
                      <a:pt x="781" y="681"/>
                    </a:lnTo>
                    <a:lnTo>
                      <a:pt x="758" y="709"/>
                    </a:lnTo>
                    <a:lnTo>
                      <a:pt x="734" y="736"/>
                    </a:lnTo>
                    <a:lnTo>
                      <a:pt x="706" y="761"/>
                    </a:lnTo>
                    <a:lnTo>
                      <a:pt x="728" y="809"/>
                    </a:lnTo>
                    <a:lnTo>
                      <a:pt x="732" y="827"/>
                    </a:lnTo>
                    <a:lnTo>
                      <a:pt x="732" y="846"/>
                    </a:lnTo>
                    <a:lnTo>
                      <a:pt x="725" y="863"/>
                    </a:lnTo>
                    <a:lnTo>
                      <a:pt x="714" y="877"/>
                    </a:lnTo>
                    <a:lnTo>
                      <a:pt x="699" y="888"/>
                    </a:lnTo>
                    <a:lnTo>
                      <a:pt x="637" y="916"/>
                    </a:lnTo>
                    <a:lnTo>
                      <a:pt x="619" y="921"/>
                    </a:lnTo>
                    <a:lnTo>
                      <a:pt x="601" y="921"/>
                    </a:lnTo>
                    <a:lnTo>
                      <a:pt x="583" y="913"/>
                    </a:lnTo>
                    <a:lnTo>
                      <a:pt x="569" y="903"/>
                    </a:lnTo>
                    <a:lnTo>
                      <a:pt x="558" y="887"/>
                    </a:lnTo>
                    <a:lnTo>
                      <a:pt x="536" y="839"/>
                    </a:lnTo>
                    <a:lnTo>
                      <a:pt x="481" y="845"/>
                    </a:lnTo>
                    <a:lnTo>
                      <a:pt x="427" y="843"/>
                    </a:lnTo>
                    <a:lnTo>
                      <a:pt x="409" y="893"/>
                    </a:lnTo>
                    <a:lnTo>
                      <a:pt x="402" y="906"/>
                    </a:lnTo>
                    <a:lnTo>
                      <a:pt x="391" y="918"/>
                    </a:lnTo>
                    <a:lnTo>
                      <a:pt x="378" y="927"/>
                    </a:lnTo>
                    <a:lnTo>
                      <a:pt x="362" y="930"/>
                    </a:lnTo>
                    <a:lnTo>
                      <a:pt x="346" y="931"/>
                    </a:lnTo>
                    <a:lnTo>
                      <a:pt x="332" y="928"/>
                    </a:lnTo>
                    <a:lnTo>
                      <a:pt x="269" y="905"/>
                    </a:lnTo>
                    <a:lnTo>
                      <a:pt x="255" y="898"/>
                    </a:lnTo>
                    <a:lnTo>
                      <a:pt x="244" y="887"/>
                    </a:lnTo>
                    <a:lnTo>
                      <a:pt x="236" y="874"/>
                    </a:lnTo>
                    <a:lnTo>
                      <a:pt x="231" y="858"/>
                    </a:lnTo>
                    <a:lnTo>
                      <a:pt x="230" y="844"/>
                    </a:lnTo>
                    <a:lnTo>
                      <a:pt x="233" y="828"/>
                    </a:lnTo>
                    <a:lnTo>
                      <a:pt x="251" y="779"/>
                    </a:lnTo>
                    <a:lnTo>
                      <a:pt x="222" y="756"/>
                    </a:lnTo>
                    <a:lnTo>
                      <a:pt x="196" y="732"/>
                    </a:lnTo>
                    <a:lnTo>
                      <a:pt x="171" y="705"/>
                    </a:lnTo>
                    <a:lnTo>
                      <a:pt x="122" y="726"/>
                    </a:lnTo>
                    <a:lnTo>
                      <a:pt x="104" y="731"/>
                    </a:lnTo>
                    <a:lnTo>
                      <a:pt x="86" y="731"/>
                    </a:lnTo>
                    <a:lnTo>
                      <a:pt x="68" y="724"/>
                    </a:lnTo>
                    <a:lnTo>
                      <a:pt x="54" y="713"/>
                    </a:lnTo>
                    <a:lnTo>
                      <a:pt x="43" y="697"/>
                    </a:lnTo>
                    <a:lnTo>
                      <a:pt x="15" y="636"/>
                    </a:lnTo>
                    <a:lnTo>
                      <a:pt x="11" y="618"/>
                    </a:lnTo>
                    <a:lnTo>
                      <a:pt x="12" y="600"/>
                    </a:lnTo>
                    <a:lnTo>
                      <a:pt x="18" y="582"/>
                    </a:lnTo>
                    <a:lnTo>
                      <a:pt x="29" y="568"/>
                    </a:lnTo>
                    <a:lnTo>
                      <a:pt x="45" y="557"/>
                    </a:lnTo>
                    <a:lnTo>
                      <a:pt x="92" y="535"/>
                    </a:lnTo>
                    <a:lnTo>
                      <a:pt x="86" y="480"/>
                    </a:lnTo>
                    <a:lnTo>
                      <a:pt x="89" y="426"/>
                    </a:lnTo>
                    <a:lnTo>
                      <a:pt x="39" y="407"/>
                    </a:lnTo>
                    <a:lnTo>
                      <a:pt x="25" y="400"/>
                    </a:lnTo>
                    <a:lnTo>
                      <a:pt x="14" y="390"/>
                    </a:lnTo>
                    <a:lnTo>
                      <a:pt x="6" y="377"/>
                    </a:lnTo>
                    <a:lnTo>
                      <a:pt x="1" y="361"/>
                    </a:lnTo>
                    <a:lnTo>
                      <a:pt x="0" y="346"/>
                    </a:lnTo>
                    <a:lnTo>
                      <a:pt x="3" y="331"/>
                    </a:lnTo>
                    <a:lnTo>
                      <a:pt x="27" y="268"/>
                    </a:lnTo>
                    <a:lnTo>
                      <a:pt x="36" y="252"/>
                    </a:lnTo>
                    <a:lnTo>
                      <a:pt x="50" y="240"/>
                    </a:lnTo>
                    <a:lnTo>
                      <a:pt x="67" y="232"/>
                    </a:lnTo>
                    <a:lnTo>
                      <a:pt x="85" y="229"/>
                    </a:lnTo>
                    <a:lnTo>
                      <a:pt x="103" y="233"/>
                    </a:lnTo>
                    <a:lnTo>
                      <a:pt x="154" y="251"/>
                    </a:lnTo>
                    <a:lnTo>
                      <a:pt x="175" y="222"/>
                    </a:lnTo>
                    <a:lnTo>
                      <a:pt x="201" y="196"/>
                    </a:lnTo>
                    <a:lnTo>
                      <a:pt x="228" y="170"/>
                    </a:lnTo>
                    <a:lnTo>
                      <a:pt x="205" y="122"/>
                    </a:lnTo>
                    <a:lnTo>
                      <a:pt x="201" y="104"/>
                    </a:lnTo>
                    <a:lnTo>
                      <a:pt x="202" y="86"/>
                    </a:lnTo>
                    <a:lnTo>
                      <a:pt x="208" y="68"/>
                    </a:lnTo>
                    <a:lnTo>
                      <a:pt x="219" y="54"/>
                    </a:lnTo>
                    <a:lnTo>
                      <a:pt x="236" y="43"/>
                    </a:lnTo>
                    <a:lnTo>
                      <a:pt x="296" y="16"/>
                    </a:lnTo>
                    <a:lnTo>
                      <a:pt x="314" y="11"/>
                    </a:lnTo>
                    <a:lnTo>
                      <a:pt x="333" y="11"/>
                    </a:lnTo>
                    <a:lnTo>
                      <a:pt x="350" y="18"/>
                    </a:lnTo>
                    <a:lnTo>
                      <a:pt x="364" y="29"/>
                    </a:lnTo>
                    <a:lnTo>
                      <a:pt x="375" y="44"/>
                    </a:lnTo>
                    <a:lnTo>
                      <a:pt x="397" y="92"/>
                    </a:lnTo>
                    <a:lnTo>
                      <a:pt x="452" y="86"/>
                    </a:lnTo>
                    <a:lnTo>
                      <a:pt x="507" y="89"/>
                    </a:lnTo>
                    <a:lnTo>
                      <a:pt x="526" y="38"/>
                    </a:lnTo>
                    <a:lnTo>
                      <a:pt x="535" y="23"/>
                    </a:lnTo>
                    <a:lnTo>
                      <a:pt x="548" y="11"/>
                    </a:lnTo>
                    <a:lnTo>
                      <a:pt x="565" y="2"/>
                    </a:lnTo>
                    <a:lnTo>
                      <a:pt x="58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grpSp>
        <p:sp>
          <p:nvSpPr>
            <p:cNvPr id="85" name="TextBox 84">
              <a:extLst>
                <a:ext uri="{FF2B5EF4-FFF2-40B4-BE49-F238E27FC236}">
                  <a16:creationId xmlns:a16="http://schemas.microsoft.com/office/drawing/2014/main" id="{3C78FDE1-7833-43A0-9683-D0246A037DB7}"/>
                </a:ext>
              </a:extLst>
            </p:cNvPr>
            <p:cNvSpPr txBox="1"/>
            <p:nvPr/>
          </p:nvSpPr>
          <p:spPr>
            <a:xfrm>
              <a:off x="1070402" y="5292634"/>
              <a:ext cx="2075992" cy="286232"/>
            </a:xfrm>
            <a:prstGeom prst="rect">
              <a:avLst/>
            </a:prstGeom>
            <a:noFill/>
          </p:spPr>
          <p:txBody>
            <a:bodyPr wrap="square">
              <a:spAutoFit/>
            </a:bodyPr>
            <a:lstStyle/>
            <a:p>
              <a:pPr marR="0" lvl="0" indent="0" fontAlgn="base">
                <a:lnSpc>
                  <a:spcPct val="90000"/>
                </a:lnSpc>
                <a:spcBef>
                  <a:spcPct val="0"/>
                </a:spcBef>
                <a:spcAft>
                  <a:spcPts val="0"/>
                </a:spcAft>
                <a:buClr>
                  <a:srgbClr val="10204F"/>
                </a:buClr>
                <a:buSzPts val="2600"/>
                <a:buFontTx/>
                <a:buNone/>
                <a:tabLst/>
                <a:defRPr/>
              </a:pPr>
              <a:r>
                <a:rPr lang="en-US" sz="1400" spc="10" dirty="0"/>
                <a:t>Technology Stack</a:t>
              </a:r>
              <a:endParaRPr lang="en-IN" sz="1400" spc="10" dirty="0">
                <a:sym typeface="Poppins Black"/>
              </a:endParaRPr>
            </a:p>
          </p:txBody>
        </p:sp>
        <p:pic>
          <p:nvPicPr>
            <p:cNvPr id="38" name="Picture 4" descr="See the source image">
              <a:extLst>
                <a:ext uri="{FF2B5EF4-FFF2-40B4-BE49-F238E27FC236}">
                  <a16:creationId xmlns:a16="http://schemas.microsoft.com/office/drawing/2014/main" id="{2BE3B3EE-B6B8-4024-B369-DFA48CBCDC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6891" y="5770287"/>
              <a:ext cx="965140" cy="37647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A picture containing text, clipart&#10;&#10;Description automatically generated">
              <a:extLst>
                <a:ext uri="{FF2B5EF4-FFF2-40B4-BE49-F238E27FC236}">
                  <a16:creationId xmlns:a16="http://schemas.microsoft.com/office/drawing/2014/main" id="{CCC22862-94CA-4E7B-85E7-3042BC58A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9213" y="5751687"/>
              <a:ext cx="999705" cy="413671"/>
            </a:xfrm>
            <a:prstGeom prst="rect">
              <a:avLst/>
            </a:prstGeom>
          </p:spPr>
        </p:pic>
        <p:grpSp>
          <p:nvGrpSpPr>
            <p:cNvPr id="25" name="Group 24">
              <a:extLst>
                <a:ext uri="{FF2B5EF4-FFF2-40B4-BE49-F238E27FC236}">
                  <a16:creationId xmlns:a16="http://schemas.microsoft.com/office/drawing/2014/main" id="{34945DF3-D82C-474D-A923-80474C405F66}"/>
                </a:ext>
              </a:extLst>
            </p:cNvPr>
            <p:cNvGrpSpPr/>
            <p:nvPr/>
          </p:nvGrpSpPr>
          <p:grpSpPr>
            <a:xfrm>
              <a:off x="3561884" y="5729037"/>
              <a:ext cx="440813" cy="524167"/>
              <a:chOff x="3556093" y="5770287"/>
              <a:chExt cx="420786" cy="505567"/>
            </a:xfrm>
          </p:grpSpPr>
          <p:pic>
            <p:nvPicPr>
              <p:cNvPr id="19" name="Picture 18" descr="A black background with a black square&#10;&#10;Description automatically generated with medium confidence">
                <a:extLst>
                  <a:ext uri="{FF2B5EF4-FFF2-40B4-BE49-F238E27FC236}">
                    <a16:creationId xmlns:a16="http://schemas.microsoft.com/office/drawing/2014/main" id="{058152BD-F7A8-44FA-A174-B4CF3ABD7556}"/>
                  </a:ext>
                </a:extLst>
              </p:cNvPr>
              <p:cNvPicPr>
                <a:picLocks noChangeAspect="1"/>
              </p:cNvPicPr>
              <p:nvPr/>
            </p:nvPicPr>
            <p:blipFill rotWithShape="1">
              <a:blip r:embed="rId4">
                <a:extLst>
                  <a:ext uri="{28A0092B-C50C-407E-A947-70E740481C1C}">
                    <a14:useLocalDpi xmlns:a14="http://schemas.microsoft.com/office/drawing/2010/main" val="0"/>
                  </a:ext>
                </a:extLst>
              </a:blip>
              <a:srcRect l="28107" r="39905"/>
              <a:stretch/>
            </p:blipFill>
            <p:spPr>
              <a:xfrm>
                <a:off x="3572818" y="5770287"/>
                <a:ext cx="404061" cy="347369"/>
              </a:xfrm>
              <a:prstGeom prst="rect">
                <a:avLst/>
              </a:prstGeom>
            </p:spPr>
          </p:pic>
          <p:pic>
            <p:nvPicPr>
              <p:cNvPr id="41" name="Picture 40" descr="A black background with a black square&#10;&#10;Description automatically generated with medium confidence">
                <a:extLst>
                  <a:ext uri="{FF2B5EF4-FFF2-40B4-BE49-F238E27FC236}">
                    <a16:creationId xmlns:a16="http://schemas.microsoft.com/office/drawing/2014/main" id="{7A97C758-6CDB-48E7-9B73-7DDDC3189867}"/>
                  </a:ext>
                </a:extLst>
              </p:cNvPr>
              <p:cNvPicPr>
                <a:picLocks noChangeAspect="1"/>
              </p:cNvPicPr>
              <p:nvPr/>
            </p:nvPicPr>
            <p:blipFill rotWithShape="1">
              <a:blip r:embed="rId4">
                <a:extLst>
                  <a:ext uri="{28A0092B-C50C-407E-A947-70E740481C1C}">
                    <a14:useLocalDpi xmlns:a14="http://schemas.microsoft.com/office/drawing/2010/main" val="0"/>
                  </a:ext>
                </a:extLst>
              </a:blip>
              <a:srcRect l="58569" r="8117"/>
              <a:stretch/>
            </p:blipFill>
            <p:spPr>
              <a:xfrm>
                <a:off x="3556093" y="5928484"/>
                <a:ext cx="420786" cy="347370"/>
              </a:xfrm>
              <a:prstGeom prst="rect">
                <a:avLst/>
              </a:prstGeom>
            </p:spPr>
          </p:pic>
        </p:grpSp>
        <p:pic>
          <p:nvPicPr>
            <p:cNvPr id="28" name="Picture 27" descr="A black background with a black square&#10;&#10;Description automatically generated with medium confidence">
              <a:extLst>
                <a:ext uri="{FF2B5EF4-FFF2-40B4-BE49-F238E27FC236}">
                  <a16:creationId xmlns:a16="http://schemas.microsoft.com/office/drawing/2014/main" id="{406B8C3C-CF8B-4F4B-AA52-5CA89B4D49EA}"/>
                </a:ext>
              </a:extLst>
            </p:cNvPr>
            <p:cNvPicPr>
              <a:picLocks noChangeAspect="1"/>
            </p:cNvPicPr>
            <p:nvPr/>
          </p:nvPicPr>
          <p:blipFill rotWithShape="1">
            <a:blip r:embed="rId4">
              <a:extLst>
                <a:ext uri="{28A0092B-C50C-407E-A947-70E740481C1C}">
                  <a14:useLocalDpi xmlns:a14="http://schemas.microsoft.com/office/drawing/2010/main" val="0"/>
                </a:ext>
              </a:extLst>
            </a:blip>
            <a:srcRect l="10246" t="16823" r="73838" b="22973"/>
            <a:stretch/>
          </p:blipFill>
          <p:spPr>
            <a:xfrm>
              <a:off x="2942571" y="5592920"/>
              <a:ext cx="656891" cy="683329"/>
            </a:xfrm>
            <a:prstGeom prst="rect">
              <a:avLst/>
            </a:prstGeom>
          </p:spPr>
        </p:pic>
      </p:grpSp>
      <p:grpSp>
        <p:nvGrpSpPr>
          <p:cNvPr id="3" name="Group 2">
            <a:extLst>
              <a:ext uri="{FF2B5EF4-FFF2-40B4-BE49-F238E27FC236}">
                <a16:creationId xmlns:a16="http://schemas.microsoft.com/office/drawing/2014/main" id="{159580ED-C94E-F596-32C7-2B71E1BCEAC1}"/>
              </a:ext>
            </a:extLst>
          </p:cNvPr>
          <p:cNvGrpSpPr/>
          <p:nvPr/>
        </p:nvGrpSpPr>
        <p:grpSpPr>
          <a:xfrm>
            <a:off x="6834260" y="1801533"/>
            <a:ext cx="4580362" cy="2881196"/>
            <a:chOff x="6834260" y="1801533"/>
            <a:chExt cx="4580362" cy="2881196"/>
          </a:xfrm>
        </p:grpSpPr>
        <p:pic>
          <p:nvPicPr>
            <p:cNvPr id="58" name="Picture 57">
              <a:extLst>
                <a:ext uri="{FF2B5EF4-FFF2-40B4-BE49-F238E27FC236}">
                  <a16:creationId xmlns:a16="http://schemas.microsoft.com/office/drawing/2014/main" id="{92541077-4325-4437-A70F-BC8770CCBBE5}"/>
                </a:ext>
              </a:extLst>
            </p:cNvPr>
            <p:cNvPicPr>
              <a:picLocks noChangeAspect="1"/>
            </p:cNvPicPr>
            <p:nvPr/>
          </p:nvPicPr>
          <p:blipFill>
            <a:blip r:embed="rId5"/>
            <a:stretch>
              <a:fillRect/>
            </a:stretch>
          </p:blipFill>
          <p:spPr>
            <a:xfrm>
              <a:off x="6834260" y="1801533"/>
              <a:ext cx="4580362" cy="2881196"/>
            </a:xfrm>
            <a:prstGeom prst="rect">
              <a:avLst/>
            </a:prstGeom>
          </p:spPr>
        </p:pic>
        <p:pic>
          <p:nvPicPr>
            <p:cNvPr id="2" name="Picture 1">
              <a:extLst>
                <a:ext uri="{FF2B5EF4-FFF2-40B4-BE49-F238E27FC236}">
                  <a16:creationId xmlns:a16="http://schemas.microsoft.com/office/drawing/2014/main" id="{A5A48630-AD1D-4DC0-9835-AE03B4CD16D1}"/>
                </a:ext>
              </a:extLst>
            </p:cNvPr>
            <p:cNvPicPr>
              <a:picLocks noChangeAspect="1"/>
            </p:cNvPicPr>
            <p:nvPr/>
          </p:nvPicPr>
          <p:blipFill>
            <a:blip r:embed="rId6"/>
            <a:stretch>
              <a:fillRect/>
            </a:stretch>
          </p:blipFill>
          <p:spPr>
            <a:xfrm>
              <a:off x="7179114" y="1955409"/>
              <a:ext cx="3890653" cy="2363374"/>
            </a:xfrm>
            <a:prstGeom prst="rect">
              <a:avLst/>
            </a:prstGeom>
          </p:spPr>
        </p:pic>
      </p:grpSp>
      <p:pic>
        <p:nvPicPr>
          <p:cNvPr id="24" name="Picture 23" descr="A logo of a university&#10;&#10;Description automatically generated">
            <a:extLst>
              <a:ext uri="{FF2B5EF4-FFF2-40B4-BE49-F238E27FC236}">
                <a16:creationId xmlns:a16="http://schemas.microsoft.com/office/drawing/2014/main" id="{A9F466C6-E1FB-4E6C-B76B-F4F59E97DB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5618" y="284557"/>
            <a:ext cx="1017165" cy="817836"/>
          </a:xfrm>
          <a:prstGeom prst="rect">
            <a:avLst/>
          </a:prstGeom>
        </p:spPr>
      </p:pic>
      <p:grpSp>
        <p:nvGrpSpPr>
          <p:cNvPr id="26" name="Group 25">
            <a:extLst>
              <a:ext uri="{FF2B5EF4-FFF2-40B4-BE49-F238E27FC236}">
                <a16:creationId xmlns:a16="http://schemas.microsoft.com/office/drawing/2014/main" id="{D614229A-F780-4AB9-B4D7-22CECF6B52EB}"/>
              </a:ext>
            </a:extLst>
          </p:cNvPr>
          <p:cNvGrpSpPr/>
          <p:nvPr/>
        </p:nvGrpSpPr>
        <p:grpSpPr>
          <a:xfrm>
            <a:off x="532073" y="4961226"/>
            <a:ext cx="6094602" cy="1170239"/>
            <a:chOff x="532073" y="4961226"/>
            <a:chExt cx="6094602" cy="1170239"/>
          </a:xfrm>
        </p:grpSpPr>
        <p:sp>
          <p:nvSpPr>
            <p:cNvPr id="27" name="Text Placeholder 164">
              <a:extLst>
                <a:ext uri="{FF2B5EF4-FFF2-40B4-BE49-F238E27FC236}">
                  <a16:creationId xmlns:a16="http://schemas.microsoft.com/office/drawing/2014/main" id="{2F68AC3E-627E-4D30-A9F2-616B834C0B92}"/>
                </a:ext>
              </a:extLst>
            </p:cNvPr>
            <p:cNvSpPr txBox="1">
              <a:spLocks/>
            </p:cNvSpPr>
            <p:nvPr/>
          </p:nvSpPr>
          <p:spPr>
            <a:xfrm>
              <a:off x="1968577" y="5842619"/>
              <a:ext cx="1175026" cy="288846"/>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a:solidFill>
                    <a:srgbClr val="3C2DDA"/>
                  </a:solidFill>
                  <a:latin typeface="Manrope"/>
                </a:rPr>
                <a:t>Improvement in course planning</a:t>
              </a:r>
            </a:p>
          </p:txBody>
        </p:sp>
        <p:sp>
          <p:nvSpPr>
            <p:cNvPr id="29" name="Text Placeholder 70">
              <a:extLst>
                <a:ext uri="{FF2B5EF4-FFF2-40B4-BE49-F238E27FC236}">
                  <a16:creationId xmlns:a16="http://schemas.microsoft.com/office/drawing/2014/main" id="{787CC308-B305-42CC-9444-6A2A7027DBDD}"/>
                </a:ext>
              </a:extLst>
            </p:cNvPr>
            <p:cNvSpPr txBox="1">
              <a:spLocks/>
            </p:cNvSpPr>
            <p:nvPr/>
          </p:nvSpPr>
          <p:spPr>
            <a:xfrm>
              <a:off x="1934628" y="5460059"/>
              <a:ext cx="1286170" cy="332399"/>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3C2DDA"/>
                  </a:solidFill>
                  <a:effectLst/>
                  <a:uLnTx/>
                  <a:uFillTx/>
                  <a:latin typeface="Manrope Light"/>
                </a:rPr>
                <a:t>50%</a:t>
              </a:r>
            </a:p>
          </p:txBody>
        </p:sp>
        <p:sp>
          <p:nvSpPr>
            <p:cNvPr id="30" name="Text Placeholder 164">
              <a:extLst>
                <a:ext uri="{FF2B5EF4-FFF2-40B4-BE49-F238E27FC236}">
                  <a16:creationId xmlns:a16="http://schemas.microsoft.com/office/drawing/2014/main" id="{B640DB52-547A-455B-AB3F-94FA3DF8B3AA}"/>
                </a:ext>
              </a:extLst>
            </p:cNvPr>
            <p:cNvSpPr txBox="1">
              <a:spLocks/>
            </p:cNvSpPr>
            <p:nvPr/>
          </p:nvSpPr>
          <p:spPr>
            <a:xfrm>
              <a:off x="3378345" y="5831584"/>
              <a:ext cx="1159321" cy="288846"/>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3C2DDA"/>
                  </a:solidFill>
                  <a:effectLst/>
                  <a:uLnTx/>
                  <a:uFillTx/>
                  <a:latin typeface="Manrope"/>
                </a:rPr>
                <a:t>Growth in Alumni participation</a:t>
              </a:r>
            </a:p>
          </p:txBody>
        </p:sp>
        <p:sp>
          <p:nvSpPr>
            <p:cNvPr id="31" name="Text Placeholder 70">
              <a:extLst>
                <a:ext uri="{FF2B5EF4-FFF2-40B4-BE49-F238E27FC236}">
                  <a16:creationId xmlns:a16="http://schemas.microsoft.com/office/drawing/2014/main" id="{5C30C28A-30D7-4F8E-8F83-7EE1718D8B6A}"/>
                </a:ext>
              </a:extLst>
            </p:cNvPr>
            <p:cNvSpPr txBox="1">
              <a:spLocks/>
            </p:cNvSpPr>
            <p:nvPr/>
          </p:nvSpPr>
          <p:spPr>
            <a:xfrm>
              <a:off x="3325010" y="5460496"/>
              <a:ext cx="1460513" cy="332399"/>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a:solidFill>
                    <a:srgbClr val="3C2DDA"/>
                  </a:solidFill>
                  <a:latin typeface="Manrope Light"/>
                </a:rPr>
                <a:t>30%</a:t>
              </a:r>
            </a:p>
          </p:txBody>
        </p:sp>
        <p:sp>
          <p:nvSpPr>
            <p:cNvPr id="32" name="TextBox 31">
              <a:extLst>
                <a:ext uri="{FF2B5EF4-FFF2-40B4-BE49-F238E27FC236}">
                  <a16:creationId xmlns:a16="http://schemas.microsoft.com/office/drawing/2014/main" id="{4EF5AECE-53EA-447E-AC65-99A2600A5842}"/>
                </a:ext>
              </a:extLst>
            </p:cNvPr>
            <p:cNvSpPr txBox="1"/>
            <p:nvPr/>
          </p:nvSpPr>
          <p:spPr>
            <a:xfrm>
              <a:off x="532073" y="4961226"/>
              <a:ext cx="6094602" cy="369332"/>
            </a:xfrm>
            <a:prstGeom prst="rect">
              <a:avLst/>
            </a:prstGeom>
            <a:noFill/>
          </p:spPr>
          <p:txBody>
            <a:bodyPr wrap="square">
              <a:spAutoFit/>
            </a:bodyPr>
            <a:lstStyle/>
            <a:p>
              <a:pPr algn="l" rtl="0" fontAlgn="base"/>
              <a:r>
                <a:rPr lang="en-US" sz="1200" b="1" spc="10">
                  <a:latin typeface="+mj-lt"/>
                </a:rPr>
                <a:t>Impact</a:t>
              </a:r>
              <a:r>
                <a:rPr lang="en-US" sz="1800" b="1" spc="10">
                  <a:latin typeface="+mj-lt"/>
                </a:rPr>
                <a:t>​</a:t>
              </a:r>
            </a:p>
          </p:txBody>
        </p:sp>
        <p:sp>
          <p:nvSpPr>
            <p:cNvPr id="33" name="Text Placeholder 164">
              <a:extLst>
                <a:ext uri="{FF2B5EF4-FFF2-40B4-BE49-F238E27FC236}">
                  <a16:creationId xmlns:a16="http://schemas.microsoft.com/office/drawing/2014/main" id="{81FE1FE6-B5EE-4080-826C-6DF648FE0B50}"/>
                </a:ext>
              </a:extLst>
            </p:cNvPr>
            <p:cNvSpPr txBox="1">
              <a:spLocks/>
            </p:cNvSpPr>
            <p:nvPr/>
          </p:nvSpPr>
          <p:spPr>
            <a:xfrm>
              <a:off x="735815" y="5842212"/>
              <a:ext cx="1060537" cy="288846"/>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900">
                  <a:solidFill>
                    <a:srgbClr val="3C2DDA"/>
                  </a:solidFill>
                  <a:latin typeface="Manrope"/>
                </a:rPr>
                <a:t>Growth in Engagement</a:t>
              </a:r>
              <a:endParaRPr kumimoji="0" lang="en-US" sz="900" b="0" i="0" u="none" strike="noStrike" kern="1200" cap="none" spc="0" normalizeH="0" baseline="0" noProof="0">
                <a:ln>
                  <a:noFill/>
                </a:ln>
                <a:solidFill>
                  <a:srgbClr val="3C2DDA"/>
                </a:solidFill>
                <a:effectLst/>
                <a:uLnTx/>
                <a:uFillTx/>
                <a:latin typeface="Manrope"/>
              </a:endParaRPr>
            </a:p>
          </p:txBody>
        </p:sp>
        <p:sp>
          <p:nvSpPr>
            <p:cNvPr id="34" name="Text Placeholder 70">
              <a:extLst>
                <a:ext uri="{FF2B5EF4-FFF2-40B4-BE49-F238E27FC236}">
                  <a16:creationId xmlns:a16="http://schemas.microsoft.com/office/drawing/2014/main" id="{0C6D18C8-1AC5-4C9F-92A9-444FC134DCC3}"/>
                </a:ext>
              </a:extLst>
            </p:cNvPr>
            <p:cNvSpPr txBox="1">
              <a:spLocks/>
            </p:cNvSpPr>
            <p:nvPr/>
          </p:nvSpPr>
          <p:spPr>
            <a:xfrm>
              <a:off x="734841" y="5430726"/>
              <a:ext cx="787438"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rgbClr val="3C2DDA"/>
                  </a:solidFill>
                  <a:latin typeface="Manrope Light"/>
                </a:rPr>
                <a:t>80%</a:t>
              </a:r>
              <a:endParaRPr kumimoji="0" lang="en-US" sz="3000" b="0" i="0" u="none" strike="noStrike" kern="1200" cap="none" spc="0" normalizeH="0" baseline="0" noProof="0">
                <a:ln>
                  <a:noFill/>
                </a:ln>
                <a:solidFill>
                  <a:srgbClr val="3C2DDA"/>
                </a:solidFill>
                <a:effectLst/>
                <a:uLnTx/>
                <a:uFillTx/>
                <a:latin typeface="Manrope Light"/>
              </a:endParaRPr>
            </a:p>
          </p:txBody>
        </p:sp>
      </p:grpSp>
      <p:sp>
        <p:nvSpPr>
          <p:cNvPr id="35" name="TextBox 34">
            <a:extLst>
              <a:ext uri="{FF2B5EF4-FFF2-40B4-BE49-F238E27FC236}">
                <a16:creationId xmlns:a16="http://schemas.microsoft.com/office/drawing/2014/main" id="{E5CA68A7-B414-4E8F-9ED2-822062E6AA83}"/>
              </a:ext>
            </a:extLst>
          </p:cNvPr>
          <p:cNvSpPr txBox="1"/>
          <p:nvPr/>
        </p:nvSpPr>
        <p:spPr>
          <a:xfrm>
            <a:off x="549543" y="1949295"/>
            <a:ext cx="5865822" cy="861774"/>
          </a:xfrm>
          <a:prstGeom prst="rect">
            <a:avLst/>
          </a:prstGeom>
          <a:noFill/>
        </p:spPr>
        <p:txBody>
          <a:bodyPr wrap="square">
            <a:spAutoFit/>
          </a:bodyPr>
          <a:lstStyle/>
          <a:p>
            <a:pPr algn="l" rtl="0" fontAlgn="base"/>
            <a:r>
              <a:rPr lang="en-US" sz="1200" b="1" spc="10" dirty="0">
                <a:latin typeface="Manrope SemiBold" pitchFamily="2" charset="0"/>
              </a:rPr>
              <a:t>Objectives​</a:t>
            </a:r>
          </a:p>
          <a:p>
            <a:pPr algn="l" rtl="0" fontAlgn="base"/>
            <a:endParaRPr lang="en-US" sz="500" spc="10" dirty="0">
              <a:latin typeface="Manrope" pitchFamily="2" charset="0"/>
            </a:endParaRPr>
          </a:p>
          <a:p>
            <a:pPr marL="171450" indent="-171450" algn="l" rtl="0" fontAlgn="base">
              <a:buFont typeface="Arial" panose="020B0604020202020204" pitchFamily="34" charset="0"/>
              <a:buChar char="•"/>
            </a:pPr>
            <a:r>
              <a:rPr lang="en-US" sz="1100" spc="10" dirty="0">
                <a:latin typeface="Manrope" pitchFamily="2" charset="0"/>
              </a:rPr>
              <a:t>To architect, design and enable a modern, scalable and personalized Digital Experience Platform for students, researchers, faculty and alumni, powered by Adobe</a:t>
            </a:r>
          </a:p>
        </p:txBody>
      </p:sp>
      <p:sp>
        <p:nvSpPr>
          <p:cNvPr id="36" name="TextBox 35">
            <a:extLst>
              <a:ext uri="{FF2B5EF4-FFF2-40B4-BE49-F238E27FC236}">
                <a16:creationId xmlns:a16="http://schemas.microsoft.com/office/drawing/2014/main" id="{DFF2AE9B-374C-40FC-935B-CBA754D7CB77}"/>
              </a:ext>
            </a:extLst>
          </p:cNvPr>
          <p:cNvSpPr txBox="1"/>
          <p:nvPr/>
        </p:nvSpPr>
        <p:spPr>
          <a:xfrm>
            <a:off x="549543" y="2838278"/>
            <a:ext cx="5816777" cy="1738938"/>
          </a:xfrm>
          <a:prstGeom prst="rect">
            <a:avLst/>
          </a:prstGeom>
          <a:noFill/>
        </p:spPr>
        <p:txBody>
          <a:bodyPr wrap="square">
            <a:spAutoFit/>
          </a:bodyPr>
          <a:lstStyle/>
          <a:p>
            <a:pPr algn="l" rtl="0" fontAlgn="base"/>
            <a:r>
              <a:rPr lang="en-US" sz="1200" b="1" spc="10" dirty="0">
                <a:latin typeface="Manrope SemiBold" pitchFamily="2" charset="0"/>
              </a:rPr>
              <a:t>Solution​</a:t>
            </a:r>
          </a:p>
          <a:p>
            <a:pPr algn="l" rtl="0" fontAlgn="base"/>
            <a:endParaRPr lang="en-US" sz="500" spc="10" dirty="0">
              <a:latin typeface="Manrope" pitchFamily="2" charset="0"/>
            </a:endParaRPr>
          </a:p>
          <a:p>
            <a:pPr algn="l" rtl="0" fontAlgn="base"/>
            <a:endParaRPr lang="en-US" sz="100" spc="10" dirty="0">
              <a:latin typeface="Manrope" pitchFamily="2" charset="0"/>
            </a:endParaRPr>
          </a:p>
          <a:p>
            <a:pPr marL="171450" indent="-171450" fontAlgn="base">
              <a:buFont typeface="Arial" panose="020B0604020202020204" pitchFamily="34" charset="0"/>
              <a:buChar char="•"/>
            </a:pPr>
            <a:r>
              <a:rPr lang="en-US" sz="1100" spc="10" dirty="0">
                <a:latin typeface="Manrope" pitchFamily="2" charset="0"/>
              </a:rPr>
              <a:t>Design and implementation of an E2E DXP portal from the grounds up with UX consulting, experience design, tech architecture and enablement leveraging AEM Sites. </a:t>
            </a:r>
          </a:p>
          <a:p>
            <a:pPr fontAlgn="base"/>
            <a:endParaRPr lang="en-US" sz="400" spc="10" dirty="0">
              <a:latin typeface="Manrope" pitchFamily="2" charset="0"/>
            </a:endParaRPr>
          </a:p>
          <a:p>
            <a:pPr marL="171450" indent="-171450" fontAlgn="base">
              <a:buFont typeface="Arial" panose="020B0604020202020204" pitchFamily="34" charset="0"/>
              <a:buChar char="•"/>
            </a:pPr>
            <a:r>
              <a:rPr lang="en-US" sz="1100" spc="10" dirty="0">
                <a:latin typeface="Manrope" pitchFamily="2" charset="0"/>
              </a:rPr>
              <a:t>Marketing Automation.</a:t>
            </a:r>
          </a:p>
          <a:p>
            <a:pPr fontAlgn="base"/>
            <a:endParaRPr lang="en-US" sz="400" spc="10" dirty="0">
              <a:latin typeface="Manrope" pitchFamily="2" charset="0"/>
            </a:endParaRPr>
          </a:p>
          <a:p>
            <a:pPr marL="171450" indent="-171450" fontAlgn="base">
              <a:buFont typeface="Arial" panose="020B0604020202020204" pitchFamily="34" charset="0"/>
              <a:buChar char="•"/>
            </a:pPr>
            <a:r>
              <a:rPr lang="en-US" sz="1100" spc="10" dirty="0">
                <a:latin typeface="Manrope" pitchFamily="2" charset="0"/>
              </a:rPr>
              <a:t>Integration with Identity Management and other core applications within the university ecosystem.</a:t>
            </a:r>
          </a:p>
          <a:p>
            <a:pPr fontAlgn="base"/>
            <a:endParaRPr lang="en-US" sz="400" spc="10" dirty="0">
              <a:latin typeface="Manrope" pitchFamily="2" charset="0"/>
            </a:endParaRPr>
          </a:p>
          <a:p>
            <a:pPr marL="171450" indent="-171450" fontAlgn="base">
              <a:buFont typeface="Arial" panose="020B0604020202020204" pitchFamily="34" charset="0"/>
              <a:buChar char="•"/>
            </a:pPr>
            <a:r>
              <a:rPr lang="en-US" sz="1100" spc="10" dirty="0">
                <a:latin typeface="Manrope" pitchFamily="2" charset="0"/>
              </a:rPr>
              <a:t>DevOps automation across the digital application portfolio.</a:t>
            </a:r>
          </a:p>
        </p:txBody>
      </p:sp>
    </p:spTree>
    <p:extLst>
      <p:ext uri="{BB962C8B-B14F-4D97-AF65-F5344CB8AC3E}">
        <p14:creationId xmlns:p14="http://schemas.microsoft.com/office/powerpoint/2010/main" val="1091493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6313-4CE3-1FDD-12A3-812BE44B0D39}"/>
              </a:ext>
            </a:extLst>
          </p:cNvPr>
          <p:cNvSpPr>
            <a:spLocks noGrp="1"/>
          </p:cNvSpPr>
          <p:nvPr>
            <p:ph type="title"/>
          </p:nvPr>
        </p:nvSpPr>
        <p:spPr>
          <a:xfrm>
            <a:off x="822960" y="2805752"/>
            <a:ext cx="4884999" cy="623248"/>
          </a:xfrm>
        </p:spPr>
        <p:txBody>
          <a:bodyPr/>
          <a:lstStyle/>
          <a:p>
            <a:r>
              <a:rPr lang="en-US"/>
              <a:t>Thank You</a:t>
            </a:r>
          </a:p>
        </p:txBody>
      </p:sp>
      <p:sp>
        <p:nvSpPr>
          <p:cNvPr id="5" name="Hexaware Named Winner of 2022 ISG Star of Excellence™ Award for the Global Region and Universal Industry Categories…">
            <a:extLst>
              <a:ext uri="{FF2B5EF4-FFF2-40B4-BE49-F238E27FC236}">
                <a16:creationId xmlns:a16="http://schemas.microsoft.com/office/drawing/2014/main" id="{62C09BAE-1497-52C9-22D0-914545EB9CEE}"/>
              </a:ext>
            </a:extLst>
          </p:cNvPr>
          <p:cNvSpPr txBox="1"/>
          <p:nvPr/>
        </p:nvSpPr>
        <p:spPr>
          <a:xfrm>
            <a:off x="842416" y="3547536"/>
            <a:ext cx="3671219" cy="160750"/>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lnSpc>
                <a:spcPct val="110000"/>
              </a:lnSpc>
              <a:spcAft>
                <a:spcPts val="1800"/>
              </a:spcAft>
            </a:pPr>
            <a:r>
              <a:rPr lang="en-US" sz="1000" spc="20">
                <a:solidFill>
                  <a:schemeClr val="bg2"/>
                </a:solidFill>
                <a:latin typeface="+mj-lt"/>
              </a:rPr>
              <a:t>Please direct all inquiries to </a:t>
            </a:r>
            <a:r>
              <a:rPr lang="en-US" sz="1000" spc="20" err="1">
                <a:solidFill>
                  <a:schemeClr val="bg2"/>
                </a:solidFill>
                <a:latin typeface="+mj-lt"/>
              </a:rPr>
              <a:t>marketing@hexaware.com</a:t>
            </a:r>
            <a:endParaRPr lang="en-US" sz="1000" spc="20">
              <a:solidFill>
                <a:schemeClr val="bg2"/>
              </a:solidFill>
              <a:latin typeface="+mj-lt"/>
            </a:endParaRPr>
          </a:p>
        </p:txBody>
      </p:sp>
    </p:spTree>
    <p:extLst>
      <p:ext uri="{BB962C8B-B14F-4D97-AF65-F5344CB8AC3E}">
        <p14:creationId xmlns:p14="http://schemas.microsoft.com/office/powerpoint/2010/main" val="932454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B8B53-C0B1-07FA-5E6A-EF3B87D3ADCD}"/>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012CDDAB-7E2B-162F-E0D6-B5195BC98DBC}"/>
              </a:ext>
            </a:extLst>
          </p:cNvPr>
          <p:cNvSpPr/>
          <p:nvPr/>
        </p:nvSpPr>
        <p:spPr>
          <a:xfrm>
            <a:off x="4025436" y="4399788"/>
            <a:ext cx="7562567" cy="786048"/>
          </a:xfrm>
          <a:prstGeom prst="roundRect">
            <a:avLst/>
          </a:prstGeom>
          <a:solidFill>
            <a:srgbClr val="EEEF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6DC7A604-ED51-CE74-1716-46CCD4826C41}"/>
              </a:ext>
            </a:extLst>
          </p:cNvPr>
          <p:cNvSpPr>
            <a:spLocks noGrp="1"/>
          </p:cNvSpPr>
          <p:nvPr>
            <p:ph type="body" sz="quarter" idx="15"/>
          </p:nvPr>
        </p:nvSpPr>
        <p:spPr/>
        <p:txBody>
          <a:bodyPr/>
          <a:lstStyle/>
          <a:p>
            <a:r>
              <a:rPr lang="en-IN" dirty="0">
                <a:latin typeface="Manrope" pitchFamily="2" charset="0"/>
              </a:rPr>
              <a:t>Content Management Systems (CMS)?</a:t>
            </a:r>
          </a:p>
        </p:txBody>
      </p:sp>
      <p:grpSp>
        <p:nvGrpSpPr>
          <p:cNvPr id="55" name="Group 54">
            <a:extLst>
              <a:ext uri="{FF2B5EF4-FFF2-40B4-BE49-F238E27FC236}">
                <a16:creationId xmlns:a16="http://schemas.microsoft.com/office/drawing/2014/main" id="{7D74C0F4-9526-3BE2-CD32-A2B2E0DCA508}"/>
              </a:ext>
            </a:extLst>
          </p:cNvPr>
          <p:cNvGrpSpPr/>
          <p:nvPr/>
        </p:nvGrpSpPr>
        <p:grpSpPr>
          <a:xfrm>
            <a:off x="628486" y="5368437"/>
            <a:ext cx="8808344" cy="592870"/>
            <a:chOff x="623888" y="5688673"/>
            <a:chExt cx="8808344" cy="592870"/>
          </a:xfrm>
        </p:grpSpPr>
        <p:pic>
          <p:nvPicPr>
            <p:cNvPr id="3" name="Picture 2">
              <a:extLst>
                <a:ext uri="{FF2B5EF4-FFF2-40B4-BE49-F238E27FC236}">
                  <a16:creationId xmlns:a16="http://schemas.microsoft.com/office/drawing/2014/main" id="{23C24D92-9397-E09D-41F8-1A41AC6295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33794" y="5870792"/>
              <a:ext cx="814501" cy="228632"/>
            </a:xfrm>
            <a:prstGeom prst="rect">
              <a:avLst/>
            </a:prstGeom>
          </p:spPr>
        </p:pic>
        <p:pic>
          <p:nvPicPr>
            <p:cNvPr id="4" name="Picture 3" descr="Image result for ADobe">
              <a:extLst>
                <a:ext uri="{FF2B5EF4-FFF2-40B4-BE49-F238E27FC236}">
                  <a16:creationId xmlns:a16="http://schemas.microsoft.com/office/drawing/2014/main" id="{0DE033AF-DE4A-57A4-4682-0EFDFFC80CC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3888" y="5849485"/>
              <a:ext cx="1040548" cy="2712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File:Liferay-logo-full-color-2x.png - Wikimedia Commons">
              <a:extLst>
                <a:ext uri="{FF2B5EF4-FFF2-40B4-BE49-F238E27FC236}">
                  <a16:creationId xmlns:a16="http://schemas.microsoft.com/office/drawing/2014/main" id="{001C2FE2-92C0-0C23-E273-B400A5F9809B}"/>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031576" y="5832074"/>
              <a:ext cx="964992" cy="3060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File:Contentful.png - Wikimedia Commons">
              <a:extLst>
                <a:ext uri="{FF2B5EF4-FFF2-40B4-BE49-F238E27FC236}">
                  <a16:creationId xmlns:a16="http://schemas.microsoft.com/office/drawing/2014/main" id="{27F82CB6-D51F-EE5C-798A-F8E13DA6B166}"/>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248164" y="5864278"/>
              <a:ext cx="1184068" cy="24166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Logo and Wordmark Usage Guidelines | Drupal.org">
              <a:extLst>
                <a:ext uri="{FF2B5EF4-FFF2-40B4-BE49-F238E27FC236}">
                  <a16:creationId xmlns:a16="http://schemas.microsoft.com/office/drawing/2014/main" id="{E3FE52B3-87B4-5063-26D1-884F13BD73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9120" y="5746185"/>
              <a:ext cx="625268" cy="47784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Graphics &amp; Logos – WordPress.org">
              <a:extLst>
                <a:ext uri="{FF2B5EF4-FFF2-40B4-BE49-F238E27FC236}">
                  <a16:creationId xmlns:a16="http://schemas.microsoft.com/office/drawing/2014/main" id="{9D2A5A52-D68D-CAA5-FD8D-9866E44DAC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9056" y="5688673"/>
              <a:ext cx="1097961" cy="59287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Picturepark Connector for Sitecore">
              <a:extLst>
                <a:ext uri="{FF2B5EF4-FFF2-40B4-BE49-F238E27FC236}">
                  <a16:creationId xmlns:a16="http://schemas.microsoft.com/office/drawing/2014/main" id="{637EFA0C-A4F5-F1E4-A871-0E0F9ADB0B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6539" y="5806722"/>
              <a:ext cx="1265152" cy="356773"/>
            </a:xfrm>
            <a:prstGeom prst="rect">
              <a:avLst/>
            </a:prstGeom>
            <a:noFill/>
            <a:extLst>
              <a:ext uri="{909E8E84-426E-40DD-AFC4-6F175D3DCCD1}">
                <a14:hiddenFill xmlns:a14="http://schemas.microsoft.com/office/drawing/2010/main">
                  <a:solidFill>
                    <a:srgbClr val="FFFFFF"/>
                  </a:solidFill>
                </a14:hiddenFill>
              </a:ext>
            </a:extLst>
          </p:spPr>
        </p:pic>
      </p:grpSp>
      <p:sp>
        <p:nvSpPr>
          <p:cNvPr id="56" name="TextBox 55">
            <a:extLst>
              <a:ext uri="{FF2B5EF4-FFF2-40B4-BE49-F238E27FC236}">
                <a16:creationId xmlns:a16="http://schemas.microsoft.com/office/drawing/2014/main" id="{FB67E158-02BA-5B96-E8B5-9697F1C93F20}"/>
              </a:ext>
            </a:extLst>
          </p:cNvPr>
          <p:cNvSpPr txBox="1"/>
          <p:nvPr/>
        </p:nvSpPr>
        <p:spPr>
          <a:xfrm>
            <a:off x="623887" y="903513"/>
            <a:ext cx="10964117" cy="430887"/>
          </a:xfrm>
          <a:prstGeom prst="rect">
            <a:avLst/>
          </a:prstGeom>
          <a:noFill/>
        </p:spPr>
        <p:txBody>
          <a:bodyPr wrap="square" lIns="0" tIns="0" rIns="0" bIns="0" rtlCol="0">
            <a:spAutoFit/>
          </a:bodyPr>
          <a:lstStyle/>
          <a:p>
            <a:pPr algn="l"/>
            <a:r>
              <a:rPr lang="en-US" sz="1400" dirty="0"/>
              <a:t>A CMS platform, or </a:t>
            </a:r>
            <a:r>
              <a:rPr lang="en-US" sz="1400" b="1" dirty="0"/>
              <a:t>Content Management System</a:t>
            </a:r>
            <a:r>
              <a:rPr lang="en-US" sz="1400" dirty="0"/>
              <a:t>, is a software application that allows users to create, manage, and modify digital content for </a:t>
            </a:r>
            <a:r>
              <a:rPr lang="en-US" sz="1400" b="1" dirty="0"/>
              <a:t>websites</a:t>
            </a:r>
            <a:r>
              <a:rPr lang="en-US" sz="1400" dirty="0"/>
              <a:t> and other digital platforms without needing to know how to code. Its part of </a:t>
            </a:r>
            <a:r>
              <a:rPr lang="en-US" sz="1400" b="1" dirty="0"/>
              <a:t>Digital Experience Platforms (DXP)</a:t>
            </a:r>
          </a:p>
        </p:txBody>
      </p:sp>
      <p:sp>
        <p:nvSpPr>
          <p:cNvPr id="67" name="Rectangle: Rounded Corners 66">
            <a:extLst>
              <a:ext uri="{FF2B5EF4-FFF2-40B4-BE49-F238E27FC236}">
                <a16:creationId xmlns:a16="http://schemas.microsoft.com/office/drawing/2014/main" id="{9E5C5562-D256-4233-27FA-41B995DF9FFA}"/>
              </a:ext>
            </a:extLst>
          </p:cNvPr>
          <p:cNvSpPr/>
          <p:nvPr/>
        </p:nvSpPr>
        <p:spPr>
          <a:xfrm>
            <a:off x="4285354" y="1593909"/>
            <a:ext cx="1590868" cy="33577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Internet/ Intranet</a:t>
            </a:r>
          </a:p>
        </p:txBody>
      </p:sp>
      <p:sp>
        <p:nvSpPr>
          <p:cNvPr id="68" name="Rectangle: Rounded Corners 67">
            <a:extLst>
              <a:ext uri="{FF2B5EF4-FFF2-40B4-BE49-F238E27FC236}">
                <a16:creationId xmlns:a16="http://schemas.microsoft.com/office/drawing/2014/main" id="{1295AE86-13DF-D54A-1D1E-36277CA7CF5A}"/>
              </a:ext>
            </a:extLst>
          </p:cNvPr>
          <p:cNvSpPr/>
          <p:nvPr/>
        </p:nvSpPr>
        <p:spPr>
          <a:xfrm>
            <a:off x="6070564" y="2588246"/>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Personalization</a:t>
            </a:r>
          </a:p>
        </p:txBody>
      </p:sp>
      <p:sp>
        <p:nvSpPr>
          <p:cNvPr id="69" name="Rectangle: Rounded Corners 68">
            <a:extLst>
              <a:ext uri="{FF2B5EF4-FFF2-40B4-BE49-F238E27FC236}">
                <a16:creationId xmlns:a16="http://schemas.microsoft.com/office/drawing/2014/main" id="{A26D696F-0E42-4D40-5ABA-A2996610467C}"/>
              </a:ext>
            </a:extLst>
          </p:cNvPr>
          <p:cNvSpPr/>
          <p:nvPr/>
        </p:nvSpPr>
        <p:spPr>
          <a:xfrm>
            <a:off x="4285354" y="3105097"/>
            <a:ext cx="1590868" cy="33577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Integrations</a:t>
            </a:r>
          </a:p>
        </p:txBody>
      </p:sp>
      <p:sp>
        <p:nvSpPr>
          <p:cNvPr id="70" name="Rectangle: Rounded Corners 69">
            <a:extLst>
              <a:ext uri="{FF2B5EF4-FFF2-40B4-BE49-F238E27FC236}">
                <a16:creationId xmlns:a16="http://schemas.microsoft.com/office/drawing/2014/main" id="{0920151E-7A71-C9F6-4141-3EEEB3F6664E}"/>
              </a:ext>
            </a:extLst>
          </p:cNvPr>
          <p:cNvSpPr/>
          <p:nvPr/>
        </p:nvSpPr>
        <p:spPr>
          <a:xfrm>
            <a:off x="4285353" y="2085313"/>
            <a:ext cx="1590868" cy="33577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Analytics</a:t>
            </a:r>
          </a:p>
        </p:txBody>
      </p:sp>
      <p:sp>
        <p:nvSpPr>
          <p:cNvPr id="71" name="Rectangle: Rounded Corners 70">
            <a:extLst>
              <a:ext uri="{FF2B5EF4-FFF2-40B4-BE49-F238E27FC236}">
                <a16:creationId xmlns:a16="http://schemas.microsoft.com/office/drawing/2014/main" id="{3BCA07FD-9967-C164-EA39-765BC2059480}"/>
              </a:ext>
            </a:extLst>
          </p:cNvPr>
          <p:cNvSpPr/>
          <p:nvPr/>
        </p:nvSpPr>
        <p:spPr>
          <a:xfrm>
            <a:off x="7937964" y="1636901"/>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Commerce</a:t>
            </a:r>
          </a:p>
        </p:txBody>
      </p:sp>
      <p:sp>
        <p:nvSpPr>
          <p:cNvPr id="72" name="Rectangle: Rounded Corners 71">
            <a:extLst>
              <a:ext uri="{FF2B5EF4-FFF2-40B4-BE49-F238E27FC236}">
                <a16:creationId xmlns:a16="http://schemas.microsoft.com/office/drawing/2014/main" id="{A10E4052-29A7-E2B3-F327-B0DD10EC6AB1}"/>
              </a:ext>
            </a:extLst>
          </p:cNvPr>
          <p:cNvSpPr/>
          <p:nvPr/>
        </p:nvSpPr>
        <p:spPr>
          <a:xfrm>
            <a:off x="4280550" y="2593220"/>
            <a:ext cx="1590868" cy="33577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CDP</a:t>
            </a:r>
          </a:p>
        </p:txBody>
      </p:sp>
      <p:sp>
        <p:nvSpPr>
          <p:cNvPr id="73" name="Rectangle: Rounded Corners 72">
            <a:extLst>
              <a:ext uri="{FF2B5EF4-FFF2-40B4-BE49-F238E27FC236}">
                <a16:creationId xmlns:a16="http://schemas.microsoft.com/office/drawing/2014/main" id="{DFA62168-3B89-9517-DF6D-88B7A88A4991}"/>
              </a:ext>
            </a:extLst>
          </p:cNvPr>
          <p:cNvSpPr/>
          <p:nvPr/>
        </p:nvSpPr>
        <p:spPr>
          <a:xfrm>
            <a:off x="6070564" y="1629448"/>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Search</a:t>
            </a:r>
          </a:p>
        </p:txBody>
      </p:sp>
      <p:sp>
        <p:nvSpPr>
          <p:cNvPr id="74" name="Rectangle: Rounded Corners 73">
            <a:extLst>
              <a:ext uri="{FF2B5EF4-FFF2-40B4-BE49-F238E27FC236}">
                <a16:creationId xmlns:a16="http://schemas.microsoft.com/office/drawing/2014/main" id="{26DD6F71-47F5-6B67-A344-B2A61A5CFE6A}"/>
              </a:ext>
            </a:extLst>
          </p:cNvPr>
          <p:cNvSpPr/>
          <p:nvPr/>
        </p:nvSpPr>
        <p:spPr>
          <a:xfrm>
            <a:off x="9697171" y="1629518"/>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Omnichannel</a:t>
            </a:r>
          </a:p>
        </p:txBody>
      </p:sp>
      <p:sp>
        <p:nvSpPr>
          <p:cNvPr id="75" name="Rectangle: Rounded Corners 74">
            <a:extLst>
              <a:ext uri="{FF2B5EF4-FFF2-40B4-BE49-F238E27FC236}">
                <a16:creationId xmlns:a16="http://schemas.microsoft.com/office/drawing/2014/main" id="{93F7123F-D49A-DCD0-482B-8357CD977ACA}"/>
              </a:ext>
            </a:extLst>
          </p:cNvPr>
          <p:cNvSpPr/>
          <p:nvPr/>
        </p:nvSpPr>
        <p:spPr>
          <a:xfrm>
            <a:off x="9697171" y="2588246"/>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Social Media</a:t>
            </a:r>
          </a:p>
        </p:txBody>
      </p:sp>
      <p:sp>
        <p:nvSpPr>
          <p:cNvPr id="76" name="Rectangle: Rounded Corners 75">
            <a:extLst>
              <a:ext uri="{FF2B5EF4-FFF2-40B4-BE49-F238E27FC236}">
                <a16:creationId xmlns:a16="http://schemas.microsoft.com/office/drawing/2014/main" id="{D606854D-EA39-8918-1016-F67B3A768DEA}"/>
              </a:ext>
            </a:extLst>
          </p:cNvPr>
          <p:cNvSpPr/>
          <p:nvPr/>
        </p:nvSpPr>
        <p:spPr>
          <a:xfrm>
            <a:off x="9697171" y="3102797"/>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Themes</a:t>
            </a:r>
          </a:p>
        </p:txBody>
      </p:sp>
      <p:sp>
        <p:nvSpPr>
          <p:cNvPr id="77" name="Rectangle: Rounded Corners 76">
            <a:extLst>
              <a:ext uri="{FF2B5EF4-FFF2-40B4-BE49-F238E27FC236}">
                <a16:creationId xmlns:a16="http://schemas.microsoft.com/office/drawing/2014/main" id="{01D87577-429C-1981-B09D-17321B46B686}"/>
              </a:ext>
            </a:extLst>
          </p:cNvPr>
          <p:cNvSpPr/>
          <p:nvPr/>
        </p:nvSpPr>
        <p:spPr>
          <a:xfrm>
            <a:off x="7937964" y="3105097"/>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SEO/ GEO</a:t>
            </a:r>
          </a:p>
        </p:txBody>
      </p:sp>
      <p:sp>
        <p:nvSpPr>
          <p:cNvPr id="78" name="Rectangle: Rounded Corners 77">
            <a:extLst>
              <a:ext uri="{FF2B5EF4-FFF2-40B4-BE49-F238E27FC236}">
                <a16:creationId xmlns:a16="http://schemas.microsoft.com/office/drawing/2014/main" id="{934FD889-F470-D159-8609-3F6735A4C08D}"/>
              </a:ext>
            </a:extLst>
          </p:cNvPr>
          <p:cNvSpPr/>
          <p:nvPr/>
        </p:nvSpPr>
        <p:spPr>
          <a:xfrm>
            <a:off x="6070564" y="3105097"/>
            <a:ext cx="1590868" cy="335771"/>
          </a:xfrm>
          <a:prstGeom prst="roundRect">
            <a:avLst>
              <a:gd name="adj" fmla="val 50000"/>
            </a:avLst>
          </a:prstGeom>
          <a:solidFill>
            <a:schemeClr val="accent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Reports</a:t>
            </a:r>
          </a:p>
        </p:txBody>
      </p:sp>
      <p:sp>
        <p:nvSpPr>
          <p:cNvPr id="81" name="Rectangle: Rounded Corners 80">
            <a:extLst>
              <a:ext uri="{FF2B5EF4-FFF2-40B4-BE49-F238E27FC236}">
                <a16:creationId xmlns:a16="http://schemas.microsoft.com/office/drawing/2014/main" id="{1964C429-2013-9AD1-9BEB-DF730F531337}"/>
              </a:ext>
            </a:extLst>
          </p:cNvPr>
          <p:cNvSpPr/>
          <p:nvPr/>
        </p:nvSpPr>
        <p:spPr>
          <a:xfrm>
            <a:off x="7937964" y="2588246"/>
            <a:ext cx="1590868" cy="335771"/>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Campaign</a:t>
            </a:r>
          </a:p>
        </p:txBody>
      </p:sp>
      <p:cxnSp>
        <p:nvCxnSpPr>
          <p:cNvPr id="85" name="Straight Connector 84">
            <a:extLst>
              <a:ext uri="{FF2B5EF4-FFF2-40B4-BE49-F238E27FC236}">
                <a16:creationId xmlns:a16="http://schemas.microsoft.com/office/drawing/2014/main" id="{AEFEEEBA-B3AA-1337-4534-F48CD8202C63}"/>
              </a:ext>
            </a:extLst>
          </p:cNvPr>
          <p:cNvCxnSpPr/>
          <p:nvPr/>
        </p:nvCxnSpPr>
        <p:spPr>
          <a:xfrm>
            <a:off x="4040430" y="3589458"/>
            <a:ext cx="748665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6" name="Frame 85">
            <a:extLst>
              <a:ext uri="{FF2B5EF4-FFF2-40B4-BE49-F238E27FC236}">
                <a16:creationId xmlns:a16="http://schemas.microsoft.com/office/drawing/2014/main" id="{16D18198-7059-B4A7-2C91-A4470B27DC34}"/>
              </a:ext>
            </a:extLst>
          </p:cNvPr>
          <p:cNvSpPr/>
          <p:nvPr/>
        </p:nvSpPr>
        <p:spPr>
          <a:xfrm>
            <a:off x="4025437" y="3770476"/>
            <a:ext cx="1845981" cy="381602"/>
          </a:xfrm>
          <a:prstGeom prst="frame">
            <a:avLst>
              <a:gd name="adj1" fmla="val 99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Implementation</a:t>
            </a:r>
          </a:p>
        </p:txBody>
      </p:sp>
      <p:sp>
        <p:nvSpPr>
          <p:cNvPr id="87" name="Frame 86">
            <a:extLst>
              <a:ext uri="{FF2B5EF4-FFF2-40B4-BE49-F238E27FC236}">
                <a16:creationId xmlns:a16="http://schemas.microsoft.com/office/drawing/2014/main" id="{6A4C4037-991C-CFB0-6250-79DBF39E081D}"/>
              </a:ext>
            </a:extLst>
          </p:cNvPr>
          <p:cNvSpPr/>
          <p:nvPr/>
        </p:nvSpPr>
        <p:spPr>
          <a:xfrm>
            <a:off x="5945203" y="3770476"/>
            <a:ext cx="1845981" cy="381602"/>
          </a:xfrm>
          <a:prstGeom prst="frame">
            <a:avLst>
              <a:gd name="adj1" fmla="val 99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Re-design</a:t>
            </a:r>
          </a:p>
        </p:txBody>
      </p:sp>
      <p:sp>
        <p:nvSpPr>
          <p:cNvPr id="88" name="Frame 87">
            <a:extLst>
              <a:ext uri="{FF2B5EF4-FFF2-40B4-BE49-F238E27FC236}">
                <a16:creationId xmlns:a16="http://schemas.microsoft.com/office/drawing/2014/main" id="{F00EB9FE-306C-DE1A-02FD-32E0875A6F99}"/>
              </a:ext>
            </a:extLst>
          </p:cNvPr>
          <p:cNvSpPr/>
          <p:nvPr/>
        </p:nvSpPr>
        <p:spPr>
          <a:xfrm>
            <a:off x="7888732" y="3770476"/>
            <a:ext cx="1845981" cy="381602"/>
          </a:xfrm>
          <a:prstGeom prst="frame">
            <a:avLst>
              <a:gd name="adj1" fmla="val 99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20">
                <a:solidFill>
                  <a:schemeClr val="tx1"/>
                </a:solidFill>
              </a:rPr>
              <a:t>Migration/Upgrade</a:t>
            </a:r>
          </a:p>
        </p:txBody>
      </p:sp>
      <p:sp>
        <p:nvSpPr>
          <p:cNvPr id="92" name="Frame 91">
            <a:extLst>
              <a:ext uri="{FF2B5EF4-FFF2-40B4-BE49-F238E27FC236}">
                <a16:creationId xmlns:a16="http://schemas.microsoft.com/office/drawing/2014/main" id="{45CD8AC0-9819-3815-6A03-1393718AC14E}"/>
              </a:ext>
            </a:extLst>
          </p:cNvPr>
          <p:cNvSpPr/>
          <p:nvPr/>
        </p:nvSpPr>
        <p:spPr>
          <a:xfrm>
            <a:off x="9799526" y="3772156"/>
            <a:ext cx="1768588" cy="381602"/>
          </a:xfrm>
          <a:prstGeom prst="frame">
            <a:avLst>
              <a:gd name="adj1" fmla="val 99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Marketing Operations</a:t>
            </a:r>
          </a:p>
        </p:txBody>
      </p:sp>
      <p:cxnSp>
        <p:nvCxnSpPr>
          <p:cNvPr id="93" name="Straight Connector 92">
            <a:extLst>
              <a:ext uri="{FF2B5EF4-FFF2-40B4-BE49-F238E27FC236}">
                <a16:creationId xmlns:a16="http://schemas.microsoft.com/office/drawing/2014/main" id="{C00B35F0-D487-8670-01B4-2BB805F76364}"/>
              </a:ext>
            </a:extLst>
          </p:cNvPr>
          <p:cNvCxnSpPr/>
          <p:nvPr/>
        </p:nvCxnSpPr>
        <p:spPr>
          <a:xfrm>
            <a:off x="4054033" y="4335834"/>
            <a:ext cx="748665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99" name="Picture 98">
            <a:extLst>
              <a:ext uri="{FF2B5EF4-FFF2-40B4-BE49-F238E27FC236}">
                <a16:creationId xmlns:a16="http://schemas.microsoft.com/office/drawing/2014/main" id="{4538A052-05B7-4A4D-58DD-0B1818200D93}"/>
              </a:ext>
            </a:extLst>
          </p:cNvPr>
          <p:cNvPicPr>
            <a:picLocks noChangeAspect="1"/>
          </p:cNvPicPr>
          <p:nvPr/>
        </p:nvPicPr>
        <p:blipFill>
          <a:blip r:embed="rId10"/>
          <a:srcRect l="3989" r="69567"/>
          <a:stretch>
            <a:fillRect/>
          </a:stretch>
        </p:blipFill>
        <p:spPr>
          <a:xfrm>
            <a:off x="938151" y="5891458"/>
            <a:ext cx="474317" cy="516765"/>
          </a:xfrm>
          <a:prstGeom prst="rect">
            <a:avLst/>
          </a:prstGeom>
        </p:spPr>
      </p:pic>
      <p:pic>
        <p:nvPicPr>
          <p:cNvPr id="100" name="Picture 99">
            <a:extLst>
              <a:ext uri="{FF2B5EF4-FFF2-40B4-BE49-F238E27FC236}">
                <a16:creationId xmlns:a16="http://schemas.microsoft.com/office/drawing/2014/main" id="{3163EC34-A448-3DED-53E6-1CAFC7D1D2AC}"/>
              </a:ext>
            </a:extLst>
          </p:cNvPr>
          <p:cNvPicPr>
            <a:picLocks noChangeAspect="1"/>
          </p:cNvPicPr>
          <p:nvPr/>
        </p:nvPicPr>
        <p:blipFill>
          <a:blip r:embed="rId10"/>
          <a:srcRect l="35261" r="37020"/>
          <a:stretch>
            <a:fillRect/>
          </a:stretch>
        </p:blipFill>
        <p:spPr>
          <a:xfrm>
            <a:off x="2300552" y="5891458"/>
            <a:ext cx="497189" cy="516765"/>
          </a:xfrm>
          <a:prstGeom prst="rect">
            <a:avLst/>
          </a:prstGeom>
        </p:spPr>
      </p:pic>
      <p:pic>
        <p:nvPicPr>
          <p:cNvPr id="101" name="Picture 100">
            <a:extLst>
              <a:ext uri="{FF2B5EF4-FFF2-40B4-BE49-F238E27FC236}">
                <a16:creationId xmlns:a16="http://schemas.microsoft.com/office/drawing/2014/main" id="{06551FE6-DDFC-4101-A2F5-DEBFA8BEAD7B}"/>
              </a:ext>
            </a:extLst>
          </p:cNvPr>
          <p:cNvPicPr>
            <a:picLocks noChangeAspect="1"/>
          </p:cNvPicPr>
          <p:nvPr/>
        </p:nvPicPr>
        <p:blipFill>
          <a:blip r:embed="rId10"/>
          <a:srcRect l="66467" r="6508"/>
          <a:stretch>
            <a:fillRect/>
          </a:stretch>
        </p:blipFill>
        <p:spPr>
          <a:xfrm>
            <a:off x="3685825" y="5891458"/>
            <a:ext cx="484741" cy="516765"/>
          </a:xfrm>
          <a:prstGeom prst="rect">
            <a:avLst/>
          </a:prstGeom>
        </p:spPr>
      </p:pic>
      <p:sp>
        <p:nvSpPr>
          <p:cNvPr id="5" name="AutoShape 2" descr="DXP Capabilities">
            <a:extLst>
              <a:ext uri="{FF2B5EF4-FFF2-40B4-BE49-F238E27FC236}">
                <a16:creationId xmlns:a16="http://schemas.microsoft.com/office/drawing/2014/main" id="{425D8328-852E-654D-E69B-EB8B6FBF0192}"/>
              </a:ext>
            </a:extLst>
          </p:cNvPr>
          <p:cNvSpPr>
            <a:spLocks noChangeAspect="1" noChangeArrowheads="1"/>
          </p:cNvSpPr>
          <p:nvPr/>
        </p:nvSpPr>
        <p:spPr bwMode="auto">
          <a:xfrm>
            <a:off x="6189136" y="3149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DXP Capabilities">
            <a:extLst>
              <a:ext uri="{FF2B5EF4-FFF2-40B4-BE49-F238E27FC236}">
                <a16:creationId xmlns:a16="http://schemas.microsoft.com/office/drawing/2014/main" id="{95C35F2F-5FAB-D877-5D40-E8FA634860F6}"/>
              </a:ext>
            </a:extLst>
          </p:cNvPr>
          <p:cNvSpPr>
            <a:spLocks noChangeAspect="1" noChangeArrowheads="1"/>
          </p:cNvSpPr>
          <p:nvPr/>
        </p:nvSpPr>
        <p:spPr bwMode="auto">
          <a:xfrm>
            <a:off x="6341536" y="330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9" name="Group 18">
            <a:extLst>
              <a:ext uri="{FF2B5EF4-FFF2-40B4-BE49-F238E27FC236}">
                <a16:creationId xmlns:a16="http://schemas.microsoft.com/office/drawing/2014/main" id="{87371865-0BED-C721-F698-5BB7F352A8C1}"/>
              </a:ext>
            </a:extLst>
          </p:cNvPr>
          <p:cNvGrpSpPr/>
          <p:nvPr/>
        </p:nvGrpSpPr>
        <p:grpSpPr>
          <a:xfrm>
            <a:off x="4228210" y="4475276"/>
            <a:ext cx="7157539" cy="607180"/>
            <a:chOff x="4228210" y="4449876"/>
            <a:chExt cx="7157539" cy="607180"/>
          </a:xfrm>
        </p:grpSpPr>
        <p:pic>
          <p:nvPicPr>
            <p:cNvPr id="13" name="Picture 2" descr="Lv= Home Insurance - Liverpool Victoria Logo Transparent PNG - 1000x1000 -  Free Download on NicePNG">
              <a:extLst>
                <a:ext uri="{FF2B5EF4-FFF2-40B4-BE49-F238E27FC236}">
                  <a16:creationId xmlns:a16="http://schemas.microsoft.com/office/drawing/2014/main" id="{11CFB981-CD47-B9F5-CB78-BB6757644E03}"/>
                </a:ext>
              </a:extLst>
            </p:cNvPr>
            <p:cNvPicPr>
              <a:picLocks noChangeAspect="1" noChangeArrowheads="1"/>
            </p:cNvPicPr>
            <p:nvPr/>
          </p:nvPicPr>
          <p:blipFill rotWithShape="1">
            <a:blip r:embed="rId11" cstate="print">
              <a:clrChange>
                <a:clrFrom>
                  <a:srgbClr val="FEFEFE"/>
                </a:clrFrom>
                <a:clrTo>
                  <a:srgbClr val="FEFEFE">
                    <a:alpha val="0"/>
                  </a:srgbClr>
                </a:clrTo>
              </a:clrChange>
              <a:extLst>
                <a:ext uri="{28A0092B-C50C-407E-A947-70E740481C1C}">
                  <a14:useLocalDpi xmlns:a14="http://schemas.microsoft.com/office/drawing/2010/main" val="0"/>
                </a:ext>
              </a:extLst>
            </a:blip>
            <a:srcRect t="8905" b="27991"/>
            <a:stretch/>
          </p:blipFill>
          <p:spPr bwMode="auto">
            <a:xfrm>
              <a:off x="5547412" y="4603857"/>
              <a:ext cx="863132" cy="2992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The University of Adelaide - Course Seeker">
              <a:extLst>
                <a:ext uri="{FF2B5EF4-FFF2-40B4-BE49-F238E27FC236}">
                  <a16:creationId xmlns:a16="http://schemas.microsoft.com/office/drawing/2014/main" id="{CA984520-604E-ED22-C9B1-84BAD4819B3F}"/>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6721533" y="4518742"/>
              <a:ext cx="640602" cy="469449"/>
            </a:xfrm>
            <a:prstGeom prst="rect">
              <a:avLst/>
            </a:prstGeom>
            <a:noFill/>
            <a:extLst>
              <a:ext uri="{909E8E84-426E-40DD-AFC4-6F175D3DCCD1}">
                <a14:hiddenFill xmlns:a14="http://schemas.microsoft.com/office/drawing/2010/main">
                  <a:solidFill>
                    <a:srgbClr val="FFFFFF"/>
                  </a:solidFill>
                </a14:hiddenFill>
              </a:ext>
            </a:extLst>
          </p:spPr>
        </p:pic>
        <p:pic>
          <p:nvPicPr>
            <p:cNvPr id="17" name="Google Shape;454;p4" descr="A picture containing person&#10;&#10;Description automatically generated">
              <a:extLst>
                <a:ext uri="{FF2B5EF4-FFF2-40B4-BE49-F238E27FC236}">
                  <a16:creationId xmlns:a16="http://schemas.microsoft.com/office/drawing/2014/main" id="{E1692FFD-1F9E-3603-B404-48425EA89C0B}"/>
                </a:ext>
              </a:extLst>
            </p:cNvPr>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4932334" y="4519075"/>
              <a:ext cx="468782" cy="468782"/>
            </a:xfrm>
            <a:prstGeom prst="rect">
              <a:avLst/>
            </a:prstGeom>
            <a:noFill/>
            <a:ln>
              <a:noFill/>
            </a:ln>
          </p:spPr>
        </p:pic>
        <p:pic>
          <p:nvPicPr>
            <p:cNvPr id="1034" name="Picture 10" descr="brown-brothers-Harriman-logo | mac-group">
              <a:extLst>
                <a:ext uri="{FF2B5EF4-FFF2-40B4-BE49-F238E27FC236}">
                  <a16:creationId xmlns:a16="http://schemas.microsoft.com/office/drawing/2014/main" id="{C540576D-04BC-C234-02C8-428AA9BAE68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51905" y="4574623"/>
              <a:ext cx="519498" cy="35768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telco Credit Union, 1790 S Bascom Ave, Ste 110, Campbell, CA 95008, US -  MapQuest">
              <a:extLst>
                <a:ext uri="{FF2B5EF4-FFF2-40B4-BE49-F238E27FC236}">
                  <a16:creationId xmlns:a16="http://schemas.microsoft.com/office/drawing/2014/main" id="{9077793A-1D5E-4A27-3125-702D0BAD2ACA}"/>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3094" t="27048" r="8786" b="29698"/>
            <a:stretch>
              <a:fillRect/>
            </a:stretch>
          </p:blipFill>
          <p:spPr bwMode="auto">
            <a:xfrm>
              <a:off x="8338915" y="4491677"/>
              <a:ext cx="945614" cy="52357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LSEG - Data scientist">
              <a:extLst>
                <a:ext uri="{FF2B5EF4-FFF2-40B4-BE49-F238E27FC236}">
                  <a16:creationId xmlns:a16="http://schemas.microsoft.com/office/drawing/2014/main" id="{B9E37592-6825-6D55-100D-C39BBBF1259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28210" y="4509119"/>
              <a:ext cx="488695" cy="488695"/>
            </a:xfrm>
            <a:prstGeom prst="rect">
              <a:avLst/>
            </a:prstGeom>
            <a:noFill/>
            <a:extLst>
              <a:ext uri="{909E8E84-426E-40DD-AFC4-6F175D3DCCD1}">
                <a14:hiddenFill xmlns:a14="http://schemas.microsoft.com/office/drawing/2010/main">
                  <a:solidFill>
                    <a:srgbClr val="FFFFFF"/>
                  </a:solidFill>
                </a14:hiddenFill>
              </a:ext>
            </a:extLst>
          </p:spPr>
        </p:pic>
        <p:pic>
          <p:nvPicPr>
            <p:cNvPr id="12" name="Google Shape;447;p4" descr="A picture containing table&#10;&#10;Description automatically generated">
              <a:extLst>
                <a:ext uri="{FF2B5EF4-FFF2-40B4-BE49-F238E27FC236}">
                  <a16:creationId xmlns:a16="http://schemas.microsoft.com/office/drawing/2014/main" id="{648796B2-3068-3E59-EDD3-1E0D7AEAC84F}"/>
                </a:ext>
              </a:extLst>
            </p:cNvPr>
            <p:cNvPicPr preferRelativeResize="0"/>
            <p:nvPr/>
          </p:nvPicPr>
          <p:blipFill rotWithShape="1">
            <a:blip r:embed="rId17" cstate="screen">
              <a:alphaModFix/>
              <a:extLst>
                <a:ext uri="{28A0092B-C50C-407E-A947-70E740481C1C}">
                  <a14:useLocalDpi xmlns:a14="http://schemas.microsoft.com/office/drawing/2010/main"/>
                </a:ext>
              </a:extLst>
            </a:blip>
            <a:srcRect/>
            <a:stretch/>
          </p:blipFill>
          <p:spPr>
            <a:xfrm>
              <a:off x="9366763" y="4644403"/>
              <a:ext cx="1292500" cy="218126"/>
            </a:xfrm>
            <a:prstGeom prst="rect">
              <a:avLst/>
            </a:prstGeom>
            <a:noFill/>
            <a:ln>
              <a:noFill/>
            </a:ln>
          </p:spPr>
        </p:pic>
        <p:pic>
          <p:nvPicPr>
            <p:cNvPr id="15" name="Picture 14" descr="A logo with horses and a crown&#10;&#10;Description automatically generated">
              <a:extLst>
                <a:ext uri="{FF2B5EF4-FFF2-40B4-BE49-F238E27FC236}">
                  <a16:creationId xmlns:a16="http://schemas.microsoft.com/office/drawing/2014/main" id="{C6428331-95AC-A3A2-9C29-92E6690A8DF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745146" y="4449876"/>
              <a:ext cx="640603" cy="607180"/>
            </a:xfrm>
            <a:prstGeom prst="rect">
              <a:avLst/>
            </a:prstGeom>
          </p:spPr>
        </p:pic>
      </p:grpSp>
      <p:pic>
        <p:nvPicPr>
          <p:cNvPr id="18" name="Picture 17" descr="A diagram of a company's company&#10;&#10;AI-generated content may be incorrect.">
            <a:extLst>
              <a:ext uri="{FF2B5EF4-FFF2-40B4-BE49-F238E27FC236}">
                <a16:creationId xmlns:a16="http://schemas.microsoft.com/office/drawing/2014/main" id="{AB7EEF6F-E6FE-D3B0-9FFD-0BB3AA7BE5EC}"/>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01237" y="1788307"/>
            <a:ext cx="3433939" cy="3218749"/>
          </a:xfrm>
          <a:prstGeom prst="rect">
            <a:avLst/>
          </a:prstGeom>
        </p:spPr>
      </p:pic>
    </p:spTree>
    <p:extLst>
      <p:ext uri="{BB962C8B-B14F-4D97-AF65-F5344CB8AC3E}">
        <p14:creationId xmlns:p14="http://schemas.microsoft.com/office/powerpoint/2010/main" val="2679297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2F3A-D8AA-25BD-56A4-74B7E51E31F3}"/>
            </a:ext>
          </a:extLst>
        </p:cNvPr>
        <p:cNvGrpSpPr/>
        <p:nvPr/>
      </p:nvGrpSpPr>
      <p:grpSpPr>
        <a:xfrm>
          <a:off x="0" y="0"/>
          <a:ext cx="0" cy="0"/>
          <a:chOff x="0" y="0"/>
          <a:chExt cx="0" cy="0"/>
        </a:xfrm>
      </p:grpSpPr>
      <p:pic>
        <p:nvPicPr>
          <p:cNvPr id="3" name="Picture 2" descr="A person in a suit sitting at a table with a computer&#10;&#10;Description automatically generated">
            <a:extLst>
              <a:ext uri="{FF2B5EF4-FFF2-40B4-BE49-F238E27FC236}">
                <a16:creationId xmlns:a16="http://schemas.microsoft.com/office/drawing/2014/main" id="{2E59D39C-007E-8DBB-0F0B-A9B224C2F7D4}"/>
              </a:ext>
            </a:extLst>
          </p:cNvPr>
          <p:cNvPicPr>
            <a:picLocks noChangeAspect="1"/>
          </p:cNvPicPr>
          <p:nvPr/>
        </p:nvPicPr>
        <p:blipFill rotWithShape="1">
          <a:blip r:embed="rId2">
            <a:extLst>
              <a:ext uri="{28A0092B-C50C-407E-A947-70E740481C1C}">
                <a14:useLocalDpi xmlns:a14="http://schemas.microsoft.com/office/drawing/2010/main" val="0"/>
              </a:ext>
            </a:extLst>
          </a:blip>
          <a:srcRect b="15663"/>
          <a:stretch/>
        </p:blipFill>
        <p:spPr>
          <a:xfrm>
            <a:off x="-5444" y="-1"/>
            <a:ext cx="12197443" cy="6858001"/>
          </a:xfrm>
          <a:prstGeom prst="rect">
            <a:avLst/>
          </a:prstGeom>
        </p:spPr>
      </p:pic>
      <p:pic>
        <p:nvPicPr>
          <p:cNvPr id="16" name="Picture 15">
            <a:extLst>
              <a:ext uri="{FF2B5EF4-FFF2-40B4-BE49-F238E27FC236}">
                <a16:creationId xmlns:a16="http://schemas.microsoft.com/office/drawing/2014/main" id="{9C987C0F-151C-FE56-DF0F-D5465EF4E0C1}"/>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5C176311-2E4F-05B3-69D1-DD1CF8C6F871}"/>
              </a:ext>
            </a:extLst>
          </p:cNvPr>
          <p:cNvSpPr>
            <a:spLocks noGrp="1"/>
          </p:cNvSpPr>
          <p:nvPr>
            <p:ph type="title"/>
          </p:nvPr>
        </p:nvSpPr>
        <p:spPr>
          <a:xfrm>
            <a:off x="590300" y="3180292"/>
            <a:ext cx="8180649" cy="623248"/>
          </a:xfrm>
        </p:spPr>
        <p:txBody>
          <a:bodyPr/>
          <a:lstStyle/>
          <a:p>
            <a:r>
              <a:rPr lang="en-US"/>
              <a:t>Sitecore Specific Case Studies</a:t>
            </a:r>
          </a:p>
        </p:txBody>
      </p:sp>
    </p:spTree>
    <p:extLst>
      <p:ext uri="{BB962C8B-B14F-4D97-AF65-F5344CB8AC3E}">
        <p14:creationId xmlns:p14="http://schemas.microsoft.com/office/powerpoint/2010/main" val="1604667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DF97B-3116-CB56-8250-77202B2D3F81}"/>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C7B0F7E0-B19F-5F5C-FF26-0B788B0195A0}"/>
              </a:ext>
            </a:extLst>
          </p:cNvPr>
          <p:cNvSpPr>
            <a:spLocks noGrp="1"/>
          </p:cNvSpPr>
          <p:nvPr>
            <p:ph type="body" sz="quarter" idx="15"/>
          </p:nvPr>
        </p:nvSpPr>
        <p:spPr>
          <a:xfrm flipH="1">
            <a:off x="623888" y="457200"/>
            <a:ext cx="8172450" cy="244101"/>
          </a:xfrm>
        </p:spPr>
        <p:txBody>
          <a:bodyPr wrap="square" lIns="0" tIns="36000" rIns="0" bIns="0" anchor="t" anchorCtr="0">
            <a:noAutofit/>
          </a:bodyPr>
          <a:lstStyle/>
          <a:p>
            <a:r>
              <a:rPr lang="en-US" dirty="0"/>
              <a:t>Case Study : Transforming advisers and end users digital experience </a:t>
            </a:r>
          </a:p>
        </p:txBody>
      </p:sp>
      <p:sp>
        <p:nvSpPr>
          <p:cNvPr id="5" name="Title 1">
            <a:extLst>
              <a:ext uri="{FF2B5EF4-FFF2-40B4-BE49-F238E27FC236}">
                <a16:creationId xmlns:a16="http://schemas.microsoft.com/office/drawing/2014/main" id="{326DA035-405D-30BC-11CE-080E4C87DCBF}"/>
              </a:ext>
            </a:extLst>
          </p:cNvPr>
          <p:cNvSpPr txBox="1">
            <a:spLocks/>
          </p:cNvSpPr>
          <p:nvPr/>
        </p:nvSpPr>
        <p:spPr>
          <a:xfrm>
            <a:off x="623888" y="926236"/>
            <a:ext cx="1645920" cy="365760"/>
          </a:xfrm>
          <a:prstGeom prst="rect">
            <a:avLst/>
          </a:prstGeom>
          <a:solidFill>
            <a:schemeClr val="tx2"/>
          </a:solid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pitchFamily="2" charset="0"/>
                <a:ea typeface="Lato" panose="020B0604020202020204" charset="0"/>
                <a:cs typeface="Lato" panose="020B0604020202020204" charset="0"/>
              </a:rPr>
              <a:t>About The Client</a:t>
            </a:r>
          </a:p>
        </p:txBody>
      </p:sp>
      <p:sp>
        <p:nvSpPr>
          <p:cNvPr id="7" name="Title 1">
            <a:extLst>
              <a:ext uri="{FF2B5EF4-FFF2-40B4-BE49-F238E27FC236}">
                <a16:creationId xmlns:a16="http://schemas.microsoft.com/office/drawing/2014/main" id="{55A1B4CF-D216-9CEC-1BE1-37DE47C2D536}"/>
              </a:ext>
            </a:extLst>
          </p:cNvPr>
          <p:cNvSpPr txBox="1">
            <a:spLocks/>
          </p:cNvSpPr>
          <p:nvPr/>
        </p:nvSpPr>
        <p:spPr>
          <a:xfrm>
            <a:off x="2298556" y="926236"/>
            <a:ext cx="9159055" cy="365760"/>
          </a:xfrm>
          <a:prstGeom prst="rect">
            <a:avLst/>
          </a:prstGeom>
          <a:solidFill>
            <a:schemeClr val="accent1"/>
          </a:solidFill>
        </p:spPr>
        <p:txBody>
          <a:bodyPr wrap="square" lIns="18000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rPr>
              <a:t>One of the United Kingdom's largest insurance companies - </a:t>
            </a:r>
            <a:r>
              <a:rPr lang="en-US" dirty="0">
                <a:solidFill>
                  <a:schemeClr val="bg2"/>
                </a:solidFill>
                <a:latin typeface="Manrope" pitchFamily="2" charset="0"/>
                <a:cs typeface="Calibri" panose="020F0502020204030204" pitchFamily="34" charset="0"/>
              </a:rPr>
              <a:t>LVFS</a:t>
            </a:r>
            <a:r>
              <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rPr>
              <a:t> </a:t>
            </a:r>
          </a:p>
        </p:txBody>
      </p:sp>
      <p:cxnSp>
        <p:nvCxnSpPr>
          <p:cNvPr id="9" name="Straight Connector 280">
            <a:extLst>
              <a:ext uri="{FF2B5EF4-FFF2-40B4-BE49-F238E27FC236}">
                <a16:creationId xmlns:a16="http://schemas.microsoft.com/office/drawing/2014/main" id="{E47D7873-02F9-8782-798C-E9796E40466D}"/>
              </a:ext>
            </a:extLst>
          </p:cNvPr>
          <p:cNvCxnSpPr>
            <a:cxnSpLocks/>
          </p:cNvCxnSpPr>
          <p:nvPr/>
        </p:nvCxnSpPr>
        <p:spPr bwMode="auto">
          <a:xfrm flipH="1">
            <a:off x="-54124" y="1754013"/>
            <a:ext cx="12192001" cy="0"/>
          </a:xfrm>
          <a:prstGeom prst="line">
            <a:avLst/>
          </a:prstGeom>
          <a:solidFill>
            <a:schemeClr val="accent1"/>
          </a:solidFill>
          <a:ln w="12700" cap="flat" cmpd="sng" algn="ctr">
            <a:gradFill flip="none" rotWithShape="1">
              <a:gsLst>
                <a:gs pos="0">
                  <a:schemeClr val="bg2">
                    <a:alpha val="0"/>
                  </a:schemeClr>
                </a:gs>
                <a:gs pos="100000">
                  <a:schemeClr val="bg2">
                    <a:alpha val="0"/>
                  </a:schemeClr>
                </a:gs>
                <a:gs pos="67000">
                  <a:schemeClr val="bg2"/>
                </a:gs>
                <a:gs pos="32000">
                  <a:schemeClr val="bg2"/>
                </a:gs>
              </a:gsLst>
              <a:lin ang="0" scaled="0"/>
              <a:tileRect/>
            </a:gradFill>
            <a:prstDash val="solid"/>
            <a:round/>
            <a:headEnd type="none" w="med" len="med"/>
            <a:tailEnd type="none" w="med" len="med"/>
          </a:ln>
          <a:effectLst/>
        </p:spPr>
      </p:cxnSp>
      <p:sp>
        <p:nvSpPr>
          <p:cNvPr id="10" name="Rectangle 9">
            <a:extLst>
              <a:ext uri="{FF2B5EF4-FFF2-40B4-BE49-F238E27FC236}">
                <a16:creationId xmlns:a16="http://schemas.microsoft.com/office/drawing/2014/main" id="{96D12757-0462-E59A-E396-1580C8E8062D}"/>
              </a:ext>
            </a:extLst>
          </p:cNvPr>
          <p:cNvSpPr>
            <a:spLocks/>
          </p:cNvSpPr>
          <p:nvPr/>
        </p:nvSpPr>
        <p:spPr>
          <a:xfrm>
            <a:off x="4284729" y="1939066"/>
            <a:ext cx="3854227"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Our Solution</a:t>
            </a:r>
          </a:p>
        </p:txBody>
      </p:sp>
      <p:sp>
        <p:nvSpPr>
          <p:cNvPr id="11" name="Rectangle 10">
            <a:extLst>
              <a:ext uri="{FF2B5EF4-FFF2-40B4-BE49-F238E27FC236}">
                <a16:creationId xmlns:a16="http://schemas.microsoft.com/office/drawing/2014/main" id="{9D83D310-C420-0507-F78D-51C1B6A36E2D}"/>
              </a:ext>
            </a:extLst>
          </p:cNvPr>
          <p:cNvSpPr>
            <a:spLocks/>
          </p:cNvSpPr>
          <p:nvPr/>
        </p:nvSpPr>
        <p:spPr>
          <a:xfrm>
            <a:off x="610087" y="1939066"/>
            <a:ext cx="3569314"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Business Objectives</a:t>
            </a:r>
          </a:p>
        </p:txBody>
      </p:sp>
      <p:sp>
        <p:nvSpPr>
          <p:cNvPr id="12" name="Rectangle 11">
            <a:extLst>
              <a:ext uri="{FF2B5EF4-FFF2-40B4-BE49-F238E27FC236}">
                <a16:creationId xmlns:a16="http://schemas.microsoft.com/office/drawing/2014/main" id="{243FEA61-CE43-0C12-278B-1A71297A0BB5}"/>
              </a:ext>
            </a:extLst>
          </p:cNvPr>
          <p:cNvSpPr>
            <a:spLocks/>
          </p:cNvSpPr>
          <p:nvPr/>
        </p:nvSpPr>
        <p:spPr>
          <a:xfrm>
            <a:off x="8282386" y="1939066"/>
            <a:ext cx="3714469" cy="215444"/>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accent1"/>
                </a:solidFill>
                <a:effectLst/>
                <a:uLnTx/>
                <a:uFillTx/>
                <a:latin typeface="Manrope" pitchFamily="2" charset="0"/>
                <a:ea typeface="Lato" panose="020B0604020202020204" charset="0"/>
                <a:cs typeface="Lato" panose="020B0604020202020204" charset="0"/>
              </a:rPr>
              <a:t>Business Impact</a:t>
            </a:r>
          </a:p>
        </p:txBody>
      </p:sp>
      <p:sp>
        <p:nvSpPr>
          <p:cNvPr id="14" name="Text Placeholder 15">
            <a:extLst>
              <a:ext uri="{FF2B5EF4-FFF2-40B4-BE49-F238E27FC236}">
                <a16:creationId xmlns:a16="http://schemas.microsoft.com/office/drawing/2014/main" id="{1208AE05-0048-411B-1958-88170F48B720}"/>
              </a:ext>
            </a:extLst>
          </p:cNvPr>
          <p:cNvSpPr txBox="1">
            <a:spLocks/>
          </p:cNvSpPr>
          <p:nvPr/>
        </p:nvSpPr>
        <p:spPr>
          <a:xfrm>
            <a:off x="4310232" y="2314923"/>
            <a:ext cx="3392106" cy="2856787"/>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marL="285750" indent="-285750">
              <a:buFont typeface="Arial" panose="020B0604020202020204" pitchFamily="34" charset="0"/>
              <a:buChar char="•"/>
              <a:defRPr sz="1400">
                <a:solidFill>
                  <a:schemeClr val="bg2">
                    <a:lumMod val="75000"/>
                  </a:schemeClr>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Provided Experience First design to enhance the Adviser’s and Customers engagement</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Strategized and delivered Platform consolidation on Sitecore with React for experience layer</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Created &amp; delivered Transformation roadmap to enhance product information, content and online transactions with relevant dashboards for effective decision making</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Depicted the different phases of a policy journey to give better insights to the business stakeholders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Created a CMS portal for end users to track their pension valuation details, account details and current status snapshot using Sitecore and microservices </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sp>
        <p:nvSpPr>
          <p:cNvPr id="15" name="Text Placeholder 16">
            <a:extLst>
              <a:ext uri="{FF2B5EF4-FFF2-40B4-BE49-F238E27FC236}">
                <a16:creationId xmlns:a16="http://schemas.microsoft.com/office/drawing/2014/main" id="{4DFB8FEA-EC1E-D91E-D55F-65067810517D}"/>
              </a:ext>
            </a:extLst>
          </p:cNvPr>
          <p:cNvSpPr txBox="1">
            <a:spLocks/>
          </p:cNvSpPr>
          <p:nvPr/>
        </p:nvSpPr>
        <p:spPr>
          <a:xfrm>
            <a:off x="8431002" y="2569244"/>
            <a:ext cx="3137111" cy="2519715"/>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marL="285750" indent="-285750">
              <a:buFont typeface="Arial" panose="020B0604020202020204" pitchFamily="34" charset="0"/>
              <a:buChar char="•"/>
              <a:defRPr sz="1400">
                <a:solidFill>
                  <a:schemeClr val="bg2">
                    <a:lumMod val="75000"/>
                  </a:schemeClr>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Consolidated real time view of the Protection Policy business processes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Reduced calls to customer care and streamlined business process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Manage lead time for advisors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IN"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Reduced customer and adviser service cost</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IN"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Single Source of Truth for policies and documents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IN"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Effective management of customer information by Advisers for seamless communication</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IN"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Enhanced end user experience with seamless self-service customer portal</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IN"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Increased Site traffic by 60% resulting in improved customer adoption for the client portal</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0" marR="0" lvl="0" indent="0" algn="l" defTabSz="914400" rtl="0" eaLnBrk="0" fontAlgn="auto" latinLnBrk="0" hangingPunct="0">
              <a:lnSpc>
                <a:spcPct val="100000"/>
              </a:lnSpc>
              <a:spcBef>
                <a:spcPts val="300"/>
              </a:spcBef>
              <a:spcAft>
                <a:spcPts val="300"/>
              </a:spcAft>
              <a:buClrTx/>
              <a:buSzTx/>
              <a:buFont typeface="Arial" panose="020B0604020202020204" pitchFamily="34" charset="0"/>
              <a:buNone/>
              <a:tabLst/>
              <a:defRPr/>
            </a:pPr>
            <a:endParaRPr kumimoji="0" lang="en-IN"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cxnSp>
        <p:nvCxnSpPr>
          <p:cNvPr id="16" name="Straight Connector 15">
            <a:extLst>
              <a:ext uri="{FF2B5EF4-FFF2-40B4-BE49-F238E27FC236}">
                <a16:creationId xmlns:a16="http://schemas.microsoft.com/office/drawing/2014/main" id="{9DA6AD5D-0A02-7C76-46BF-32257E9A64CC}"/>
              </a:ext>
            </a:extLst>
          </p:cNvPr>
          <p:cNvCxnSpPr/>
          <p:nvPr/>
        </p:nvCxnSpPr>
        <p:spPr bwMode="auto">
          <a:xfrm>
            <a:off x="4296290"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34EA7044-D060-AF9A-286F-6D3699EA286E}"/>
              </a:ext>
            </a:extLst>
          </p:cNvPr>
          <p:cNvCxnSpPr>
            <a:cxnSpLocks/>
          </p:cNvCxnSpPr>
          <p:nvPr/>
        </p:nvCxnSpPr>
        <p:spPr bwMode="auto">
          <a:xfrm>
            <a:off x="4296290" y="2236308"/>
            <a:ext cx="3501510"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C7FF9DF2-2D04-A6B3-0B37-B42693036058}"/>
              </a:ext>
            </a:extLst>
          </p:cNvPr>
          <p:cNvCxnSpPr/>
          <p:nvPr/>
        </p:nvCxnSpPr>
        <p:spPr bwMode="auto">
          <a:xfrm>
            <a:off x="622787"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F65613F3-E42A-BE94-B5F3-15535EC4F814}"/>
              </a:ext>
            </a:extLst>
          </p:cNvPr>
          <p:cNvCxnSpPr>
            <a:cxnSpLocks/>
          </p:cNvCxnSpPr>
          <p:nvPr/>
        </p:nvCxnSpPr>
        <p:spPr bwMode="auto">
          <a:xfrm>
            <a:off x="622787" y="2236308"/>
            <a:ext cx="319990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36FE982B-CF6D-94E4-E18C-2B4D6C9437DF}"/>
              </a:ext>
            </a:extLst>
          </p:cNvPr>
          <p:cNvCxnSpPr/>
          <p:nvPr/>
        </p:nvCxnSpPr>
        <p:spPr bwMode="auto">
          <a:xfrm>
            <a:off x="8295086"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F390414E-AE17-4B7F-C246-5B7092EEACA0}"/>
              </a:ext>
            </a:extLst>
          </p:cNvPr>
          <p:cNvCxnSpPr>
            <a:cxnSpLocks/>
          </p:cNvCxnSpPr>
          <p:nvPr/>
        </p:nvCxnSpPr>
        <p:spPr bwMode="auto">
          <a:xfrm>
            <a:off x="8295086" y="2236308"/>
            <a:ext cx="327302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sp>
        <p:nvSpPr>
          <p:cNvPr id="22" name="Text Placeholder 14">
            <a:extLst>
              <a:ext uri="{FF2B5EF4-FFF2-40B4-BE49-F238E27FC236}">
                <a16:creationId xmlns:a16="http://schemas.microsoft.com/office/drawing/2014/main" id="{1B87009C-21DC-00C8-C24F-2FA9D23BC5D3}"/>
              </a:ext>
            </a:extLst>
          </p:cNvPr>
          <p:cNvSpPr txBox="1">
            <a:spLocks/>
          </p:cNvSpPr>
          <p:nvPr/>
        </p:nvSpPr>
        <p:spPr>
          <a:xfrm>
            <a:off x="620653" y="2552184"/>
            <a:ext cx="2840618" cy="2578612"/>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a:defRPr>
                <a:solidFill>
                  <a:schemeClr val="dk1"/>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Creation of dashboard for LV advisers and business stakeholders to improve the decision-making process and reduce their lead time.</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Improve the Advisers digital experience and increase the opportunities created for them by visibility of quality protection, savings, investment &amp; retirement products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Create reliable, scalable &amp; sustainably profitable digital resource, whilst remaining cost effective and flexible for business agility</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Needed a reliable channel and knowledge source for end users in pension and retirements BU </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grpSp>
        <p:nvGrpSpPr>
          <p:cNvPr id="32" name="Group 31">
            <a:extLst>
              <a:ext uri="{FF2B5EF4-FFF2-40B4-BE49-F238E27FC236}">
                <a16:creationId xmlns:a16="http://schemas.microsoft.com/office/drawing/2014/main" id="{000C8709-F11B-D18E-5471-941C95EE7BFE}"/>
              </a:ext>
            </a:extLst>
          </p:cNvPr>
          <p:cNvGrpSpPr/>
          <p:nvPr/>
        </p:nvGrpSpPr>
        <p:grpSpPr>
          <a:xfrm>
            <a:off x="8250125" y="1462693"/>
            <a:ext cx="361753" cy="412093"/>
            <a:chOff x="2988054" y="3031020"/>
            <a:chExt cx="1468389" cy="1672720"/>
          </a:xfrm>
          <a:noFill/>
        </p:grpSpPr>
        <p:sp>
          <p:nvSpPr>
            <p:cNvPr id="34" name="Freeform: Shape 38">
              <a:extLst>
                <a:ext uri="{FF2B5EF4-FFF2-40B4-BE49-F238E27FC236}">
                  <a16:creationId xmlns:a16="http://schemas.microsoft.com/office/drawing/2014/main" id="{2215ED74-A1B3-7938-E0B4-5F0D2FF99385}"/>
                </a:ext>
              </a:extLst>
            </p:cNvPr>
            <p:cNvSpPr>
              <a:spLocks/>
            </p:cNvSpPr>
            <p:nvPr/>
          </p:nvSpPr>
          <p:spPr bwMode="auto">
            <a:xfrm>
              <a:off x="3137550" y="3758889"/>
              <a:ext cx="1318893" cy="908616"/>
            </a:xfrm>
            <a:custGeom>
              <a:avLst/>
              <a:gdLst>
                <a:gd name="connsiteX0" fmla="*/ 990006 w 1318889"/>
                <a:gd name="connsiteY0" fmla="*/ 0 h 908614"/>
                <a:gd name="connsiteX1" fmla="*/ 1268292 w 1318889"/>
                <a:gd name="connsiteY1" fmla="*/ 0 h 908614"/>
                <a:gd name="connsiteX2" fmla="*/ 1270592 w 1318889"/>
                <a:gd name="connsiteY2" fmla="*/ 0 h 908614"/>
                <a:gd name="connsiteX3" fmla="*/ 1305090 w 1318889"/>
                <a:gd name="connsiteY3" fmla="*/ 13766 h 908614"/>
                <a:gd name="connsiteX4" fmla="*/ 1318889 w 1318889"/>
                <a:gd name="connsiteY4" fmla="*/ 48181 h 908614"/>
                <a:gd name="connsiteX5" fmla="*/ 1318889 w 1318889"/>
                <a:gd name="connsiteY5" fmla="*/ 50475 h 908614"/>
                <a:gd name="connsiteX6" fmla="*/ 1318889 w 1318889"/>
                <a:gd name="connsiteY6" fmla="*/ 312028 h 908614"/>
                <a:gd name="connsiteX7" fmla="*/ 1272892 w 1318889"/>
                <a:gd name="connsiteY7" fmla="*/ 357915 h 908614"/>
                <a:gd name="connsiteX8" fmla="*/ 1226894 w 1318889"/>
                <a:gd name="connsiteY8" fmla="*/ 312028 h 908614"/>
                <a:gd name="connsiteX9" fmla="*/ 1226894 w 1318889"/>
                <a:gd name="connsiteY9" fmla="*/ 157161 h 908614"/>
                <a:gd name="connsiteX10" fmla="*/ 739319 w 1318889"/>
                <a:gd name="connsiteY10" fmla="*/ 642411 h 908614"/>
                <a:gd name="connsiteX11" fmla="*/ 674923 w 1318889"/>
                <a:gd name="connsiteY11" fmla="*/ 642411 h 908614"/>
                <a:gd name="connsiteX12" fmla="*/ 502432 w 1318889"/>
                <a:gd name="connsiteY12" fmla="*/ 471484 h 908614"/>
                <a:gd name="connsiteX13" fmla="*/ 76839 w 1318889"/>
                <a:gd name="connsiteY13" fmla="*/ 896664 h 908614"/>
                <a:gd name="connsiteX14" fmla="*/ 64877 w 1318889"/>
                <a:gd name="connsiteY14" fmla="*/ 908614 h 908614"/>
                <a:gd name="connsiteX15" fmla="*/ 0 w 1318889"/>
                <a:gd name="connsiteY15" fmla="*/ 843071 h 908614"/>
                <a:gd name="connsiteX16" fmla="*/ 86906 w 1318889"/>
                <a:gd name="connsiteY16" fmla="*/ 756376 h 908614"/>
                <a:gd name="connsiteX17" fmla="*/ 470233 w 1318889"/>
                <a:gd name="connsiteY17" fmla="*/ 373975 h 908614"/>
                <a:gd name="connsiteX18" fmla="*/ 502432 w 1318889"/>
                <a:gd name="connsiteY18" fmla="*/ 361356 h 908614"/>
                <a:gd name="connsiteX19" fmla="*/ 535780 w 1318889"/>
                <a:gd name="connsiteY19" fmla="*/ 373975 h 908614"/>
                <a:gd name="connsiteX20" fmla="*/ 707121 w 1318889"/>
                <a:gd name="connsiteY20" fmla="*/ 544902 h 908614"/>
                <a:gd name="connsiteX21" fmla="*/ 1161347 w 1318889"/>
                <a:gd name="connsiteY21" fmla="*/ 91773 h 908614"/>
                <a:gd name="connsiteX22" fmla="*/ 990006 w 1318889"/>
                <a:gd name="connsiteY22" fmla="*/ 91773 h 908614"/>
                <a:gd name="connsiteX23" fmla="*/ 944009 w 1318889"/>
                <a:gd name="connsiteY23" fmla="*/ 45887 h 908614"/>
                <a:gd name="connsiteX24" fmla="*/ 990006 w 1318889"/>
                <a:gd name="connsiteY24" fmla="*/ 0 h 90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18889" h="908614">
                  <a:moveTo>
                    <a:pt x="990006" y="0"/>
                  </a:moveTo>
                  <a:cubicBezTo>
                    <a:pt x="990006" y="0"/>
                    <a:pt x="990006" y="0"/>
                    <a:pt x="1268292" y="0"/>
                  </a:cubicBezTo>
                  <a:cubicBezTo>
                    <a:pt x="1269442" y="0"/>
                    <a:pt x="1269442" y="0"/>
                    <a:pt x="1270592" y="0"/>
                  </a:cubicBezTo>
                  <a:cubicBezTo>
                    <a:pt x="1283241" y="0"/>
                    <a:pt x="1295890" y="3442"/>
                    <a:pt x="1305090" y="13766"/>
                  </a:cubicBezTo>
                  <a:cubicBezTo>
                    <a:pt x="1314289" y="22943"/>
                    <a:pt x="1318889" y="35562"/>
                    <a:pt x="1318889" y="48181"/>
                  </a:cubicBezTo>
                  <a:cubicBezTo>
                    <a:pt x="1318889" y="49328"/>
                    <a:pt x="1318889" y="49328"/>
                    <a:pt x="1318889" y="50475"/>
                  </a:cubicBezTo>
                  <a:cubicBezTo>
                    <a:pt x="1318889" y="50475"/>
                    <a:pt x="1318889" y="50475"/>
                    <a:pt x="1318889" y="312028"/>
                  </a:cubicBezTo>
                  <a:cubicBezTo>
                    <a:pt x="1318889" y="337266"/>
                    <a:pt x="1298190" y="357915"/>
                    <a:pt x="1272892" y="357915"/>
                  </a:cubicBezTo>
                  <a:cubicBezTo>
                    <a:pt x="1247593" y="357915"/>
                    <a:pt x="1226894" y="337266"/>
                    <a:pt x="1226894" y="312028"/>
                  </a:cubicBezTo>
                  <a:cubicBezTo>
                    <a:pt x="1226894" y="312028"/>
                    <a:pt x="1226894" y="312028"/>
                    <a:pt x="1226894" y="157161"/>
                  </a:cubicBezTo>
                  <a:cubicBezTo>
                    <a:pt x="1226894" y="157161"/>
                    <a:pt x="1226894" y="157161"/>
                    <a:pt x="739319" y="642411"/>
                  </a:cubicBezTo>
                  <a:cubicBezTo>
                    <a:pt x="722070" y="660765"/>
                    <a:pt x="692172" y="660765"/>
                    <a:pt x="674923" y="642411"/>
                  </a:cubicBezTo>
                  <a:cubicBezTo>
                    <a:pt x="674923" y="642411"/>
                    <a:pt x="674923" y="642411"/>
                    <a:pt x="502432" y="471484"/>
                  </a:cubicBezTo>
                  <a:cubicBezTo>
                    <a:pt x="502432" y="471484"/>
                    <a:pt x="502432" y="471484"/>
                    <a:pt x="76839" y="896664"/>
                  </a:cubicBezTo>
                  <a:lnTo>
                    <a:pt x="64877" y="908614"/>
                  </a:lnTo>
                  <a:lnTo>
                    <a:pt x="0" y="843071"/>
                  </a:lnTo>
                  <a:lnTo>
                    <a:pt x="86906" y="756376"/>
                  </a:lnTo>
                  <a:cubicBezTo>
                    <a:pt x="189248" y="654281"/>
                    <a:pt x="315207" y="528627"/>
                    <a:pt x="470233" y="373975"/>
                  </a:cubicBezTo>
                  <a:cubicBezTo>
                    <a:pt x="479433" y="365945"/>
                    <a:pt x="490932" y="361356"/>
                    <a:pt x="502432" y="361356"/>
                  </a:cubicBezTo>
                  <a:cubicBezTo>
                    <a:pt x="515081" y="361356"/>
                    <a:pt x="526580" y="365945"/>
                    <a:pt x="535780" y="373975"/>
                  </a:cubicBezTo>
                  <a:cubicBezTo>
                    <a:pt x="535780" y="373975"/>
                    <a:pt x="535780" y="373975"/>
                    <a:pt x="707121" y="544902"/>
                  </a:cubicBezTo>
                  <a:cubicBezTo>
                    <a:pt x="707121" y="544902"/>
                    <a:pt x="707121" y="544902"/>
                    <a:pt x="1161347" y="91773"/>
                  </a:cubicBezTo>
                  <a:cubicBezTo>
                    <a:pt x="1161347" y="91773"/>
                    <a:pt x="1161347" y="91773"/>
                    <a:pt x="990006" y="91773"/>
                  </a:cubicBezTo>
                  <a:cubicBezTo>
                    <a:pt x="964708" y="91773"/>
                    <a:pt x="944009" y="71124"/>
                    <a:pt x="944009" y="45887"/>
                  </a:cubicBezTo>
                  <a:cubicBezTo>
                    <a:pt x="944009" y="20649"/>
                    <a:pt x="964708" y="0"/>
                    <a:pt x="99000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5" name="Freeform 52">
              <a:extLst>
                <a:ext uri="{FF2B5EF4-FFF2-40B4-BE49-F238E27FC236}">
                  <a16:creationId xmlns:a16="http://schemas.microsoft.com/office/drawing/2014/main" id="{4351B033-0364-C3EC-44C3-FD731C09365C}"/>
                </a:ext>
              </a:extLst>
            </p:cNvPr>
            <p:cNvSpPr>
              <a:spLocks/>
            </p:cNvSpPr>
            <p:nvPr/>
          </p:nvSpPr>
          <p:spPr bwMode="auto">
            <a:xfrm>
              <a:off x="3571839" y="4324566"/>
              <a:ext cx="139793" cy="280514"/>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nvGrpSpPr>
            <p:cNvPr id="36" name="Group 35">
              <a:extLst>
                <a:ext uri="{FF2B5EF4-FFF2-40B4-BE49-F238E27FC236}">
                  <a16:creationId xmlns:a16="http://schemas.microsoft.com/office/drawing/2014/main" id="{DF090B94-90FA-0CAD-29EA-438B30E74FD6}"/>
                </a:ext>
              </a:extLst>
            </p:cNvPr>
            <p:cNvGrpSpPr/>
            <p:nvPr/>
          </p:nvGrpSpPr>
          <p:grpSpPr>
            <a:xfrm>
              <a:off x="2988054" y="3031020"/>
              <a:ext cx="1103900" cy="1308733"/>
              <a:chOff x="1598613" y="2660650"/>
              <a:chExt cx="1616214" cy="1916112"/>
            </a:xfrm>
            <a:grpFill/>
          </p:grpSpPr>
          <p:sp>
            <p:nvSpPr>
              <p:cNvPr id="39" name="Freeform 5">
                <a:extLst>
                  <a:ext uri="{FF2B5EF4-FFF2-40B4-BE49-F238E27FC236}">
                    <a16:creationId xmlns:a16="http://schemas.microsoft.com/office/drawing/2014/main" id="{97E5F0EE-D85B-2BEF-A160-3CA86FC0DFEA}"/>
                  </a:ext>
                </a:extLst>
              </p:cNvPr>
              <p:cNvSpPr>
                <a:spLocks/>
              </p:cNvSpPr>
              <p:nvPr/>
            </p:nvSpPr>
            <p:spPr bwMode="auto">
              <a:xfrm>
                <a:off x="2716214" y="3876675"/>
                <a:ext cx="498613" cy="531146"/>
              </a:xfrm>
              <a:custGeom>
                <a:avLst/>
                <a:gdLst>
                  <a:gd name="T0" fmla="*/ 107 w 488"/>
                  <a:gd name="T1" fmla="*/ 0 h 517"/>
                  <a:gd name="T2" fmla="*/ 185 w 488"/>
                  <a:gd name="T3" fmla="*/ 229 h 517"/>
                  <a:gd name="T4" fmla="*/ 76 w 488"/>
                  <a:gd name="T5" fmla="*/ 221 h 517"/>
                  <a:gd name="T6" fmla="*/ 0 w 488"/>
                  <a:gd name="T7" fmla="*/ 315 h 517"/>
                  <a:gd name="T8" fmla="*/ 17 w 488"/>
                  <a:gd name="T9" fmla="*/ 332 h 517"/>
                  <a:gd name="T10" fmla="*/ 202 w 488"/>
                  <a:gd name="T11" fmla="*/ 517 h 517"/>
                  <a:gd name="T12" fmla="*/ 334 w 488"/>
                  <a:gd name="T13" fmla="*/ 384 h 517"/>
                  <a:gd name="T14" fmla="*/ 387 w 488"/>
                  <a:gd name="T15" fmla="*/ 332 h 517"/>
                  <a:gd name="T16" fmla="*/ 408 w 488"/>
                  <a:gd name="T17" fmla="*/ 311 h 517"/>
                  <a:gd name="T18" fmla="*/ 488 w 488"/>
                  <a:gd name="T19" fmla="*/ 231 h 517"/>
                  <a:gd name="T20" fmla="*/ 394 w 488"/>
                  <a:gd name="T21" fmla="*/ 144 h 517"/>
                  <a:gd name="T22" fmla="*/ 149 w 488"/>
                  <a:gd name="T23" fmla="*/ 23 h 517"/>
                  <a:gd name="T24" fmla="*/ 107 w 488"/>
                  <a:gd name="T25" fmla="*/ 0 h 517"/>
                  <a:gd name="connsiteX0" fmla="*/ 2193 w 8361"/>
                  <a:gd name="connsiteY0" fmla="*/ 0 h 10000"/>
                  <a:gd name="connsiteX1" fmla="*/ 3791 w 8361"/>
                  <a:gd name="connsiteY1" fmla="*/ 4429 h 10000"/>
                  <a:gd name="connsiteX2" fmla="*/ 1557 w 8361"/>
                  <a:gd name="connsiteY2" fmla="*/ 4275 h 10000"/>
                  <a:gd name="connsiteX3" fmla="*/ 0 w 8361"/>
                  <a:gd name="connsiteY3" fmla="*/ 6093 h 10000"/>
                  <a:gd name="connsiteX4" fmla="*/ 348 w 8361"/>
                  <a:gd name="connsiteY4" fmla="*/ 6422 h 10000"/>
                  <a:gd name="connsiteX5" fmla="*/ 4139 w 8361"/>
                  <a:gd name="connsiteY5" fmla="*/ 10000 h 10000"/>
                  <a:gd name="connsiteX6" fmla="*/ 6844 w 8361"/>
                  <a:gd name="connsiteY6" fmla="*/ 7427 h 10000"/>
                  <a:gd name="connsiteX7" fmla="*/ 7930 w 8361"/>
                  <a:gd name="connsiteY7" fmla="*/ 6422 h 10000"/>
                  <a:gd name="connsiteX8" fmla="*/ 8361 w 8361"/>
                  <a:gd name="connsiteY8" fmla="*/ 6015 h 10000"/>
                  <a:gd name="connsiteX9" fmla="*/ 8074 w 8361"/>
                  <a:gd name="connsiteY9" fmla="*/ 2785 h 10000"/>
                  <a:gd name="connsiteX10" fmla="*/ 3053 w 8361"/>
                  <a:gd name="connsiteY10" fmla="*/ 445 h 10000"/>
                  <a:gd name="connsiteX11" fmla="*/ 2193 w 8361"/>
                  <a:gd name="connsiteY11" fmla="*/ 0 h 10000"/>
                  <a:gd name="connsiteX0" fmla="*/ 2623 w 9657"/>
                  <a:gd name="connsiteY0" fmla="*/ 0 h 10000"/>
                  <a:gd name="connsiteX1" fmla="*/ 4534 w 9657"/>
                  <a:gd name="connsiteY1" fmla="*/ 4429 h 10000"/>
                  <a:gd name="connsiteX2" fmla="*/ 1862 w 9657"/>
                  <a:gd name="connsiteY2" fmla="*/ 4275 h 10000"/>
                  <a:gd name="connsiteX3" fmla="*/ 0 w 9657"/>
                  <a:gd name="connsiteY3" fmla="*/ 6093 h 10000"/>
                  <a:gd name="connsiteX4" fmla="*/ 416 w 9657"/>
                  <a:gd name="connsiteY4" fmla="*/ 6422 h 10000"/>
                  <a:gd name="connsiteX5" fmla="*/ 4950 w 9657"/>
                  <a:gd name="connsiteY5" fmla="*/ 10000 h 10000"/>
                  <a:gd name="connsiteX6" fmla="*/ 8186 w 9657"/>
                  <a:gd name="connsiteY6" fmla="*/ 7427 h 10000"/>
                  <a:gd name="connsiteX7" fmla="*/ 9485 w 9657"/>
                  <a:gd name="connsiteY7" fmla="*/ 6422 h 10000"/>
                  <a:gd name="connsiteX8" fmla="*/ 9657 w 9657"/>
                  <a:gd name="connsiteY8" fmla="*/ 2785 h 10000"/>
                  <a:gd name="connsiteX9" fmla="*/ 3651 w 9657"/>
                  <a:gd name="connsiteY9" fmla="*/ 445 h 10000"/>
                  <a:gd name="connsiteX10" fmla="*/ 2623 w 9657"/>
                  <a:gd name="connsiteY10"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8477 w 10000"/>
                  <a:gd name="connsiteY6" fmla="*/ 7427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10000 w 10000"/>
                  <a:gd name="connsiteY6" fmla="*/ 2785 h 10000"/>
                  <a:gd name="connsiteX7" fmla="*/ 3781 w 10000"/>
                  <a:gd name="connsiteY7" fmla="*/ 445 h 10000"/>
                  <a:gd name="connsiteX8" fmla="*/ 2716 w 10000"/>
                  <a:gd name="connsiteY8"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3399 w 10000"/>
                  <a:gd name="connsiteY5" fmla="*/ 8675 h 10000"/>
                  <a:gd name="connsiteX6" fmla="*/ 5126 w 10000"/>
                  <a:gd name="connsiteY6" fmla="*/ 10000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8675"/>
                  <a:gd name="connsiteX1" fmla="*/ 4695 w 10000"/>
                  <a:gd name="connsiteY1" fmla="*/ 4429 h 8675"/>
                  <a:gd name="connsiteX2" fmla="*/ 1928 w 10000"/>
                  <a:gd name="connsiteY2" fmla="*/ 4275 h 8675"/>
                  <a:gd name="connsiteX3" fmla="*/ 0 w 10000"/>
                  <a:gd name="connsiteY3" fmla="*/ 6093 h 8675"/>
                  <a:gd name="connsiteX4" fmla="*/ 431 w 10000"/>
                  <a:gd name="connsiteY4" fmla="*/ 6422 h 8675"/>
                  <a:gd name="connsiteX5" fmla="*/ 3399 w 10000"/>
                  <a:gd name="connsiteY5" fmla="*/ 8675 h 8675"/>
                  <a:gd name="connsiteX6" fmla="*/ 10000 w 10000"/>
                  <a:gd name="connsiteY6" fmla="*/ 2785 h 8675"/>
                  <a:gd name="connsiteX7" fmla="*/ 3781 w 10000"/>
                  <a:gd name="connsiteY7" fmla="*/ 445 h 8675"/>
                  <a:gd name="connsiteX8" fmla="*/ 2716 w 10000"/>
                  <a:gd name="connsiteY8" fmla="*/ 0 h 8675"/>
                  <a:gd name="connsiteX0" fmla="*/ 2716 w 10000"/>
                  <a:gd name="connsiteY0" fmla="*/ 0 h 9384"/>
                  <a:gd name="connsiteX1" fmla="*/ 4695 w 10000"/>
                  <a:gd name="connsiteY1" fmla="*/ 5105 h 9384"/>
                  <a:gd name="connsiteX2" fmla="*/ 1928 w 10000"/>
                  <a:gd name="connsiteY2" fmla="*/ 4928 h 9384"/>
                  <a:gd name="connsiteX3" fmla="*/ 0 w 10000"/>
                  <a:gd name="connsiteY3" fmla="*/ 7024 h 9384"/>
                  <a:gd name="connsiteX4" fmla="*/ 431 w 10000"/>
                  <a:gd name="connsiteY4" fmla="*/ 7403 h 9384"/>
                  <a:gd name="connsiteX5" fmla="*/ 2979 w 10000"/>
                  <a:gd name="connsiteY5" fmla="*/ 9384 h 9384"/>
                  <a:gd name="connsiteX6" fmla="*/ 10000 w 10000"/>
                  <a:gd name="connsiteY6" fmla="*/ 3210 h 9384"/>
                  <a:gd name="connsiteX7" fmla="*/ 3781 w 10000"/>
                  <a:gd name="connsiteY7" fmla="*/ 513 h 9384"/>
                  <a:gd name="connsiteX8" fmla="*/ 2716 w 10000"/>
                  <a:gd name="connsiteY8" fmla="*/ 0 h 9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9384">
                    <a:moveTo>
                      <a:pt x="2716" y="0"/>
                    </a:moveTo>
                    <a:lnTo>
                      <a:pt x="4695" y="5105"/>
                    </a:lnTo>
                    <a:lnTo>
                      <a:pt x="1928" y="4928"/>
                    </a:lnTo>
                    <a:lnTo>
                      <a:pt x="0" y="7024"/>
                    </a:lnTo>
                    <a:cubicBezTo>
                      <a:pt x="144" y="7150"/>
                      <a:pt x="-65" y="7010"/>
                      <a:pt x="431" y="7403"/>
                    </a:cubicBezTo>
                    <a:cubicBezTo>
                      <a:pt x="927" y="7796"/>
                      <a:pt x="2130" y="8724"/>
                      <a:pt x="2979" y="9384"/>
                    </a:cubicBezTo>
                    <a:lnTo>
                      <a:pt x="10000" y="3210"/>
                    </a:lnTo>
                    <a:lnTo>
                      <a:pt x="3781" y="513"/>
                    </a:lnTo>
                    <a:cubicBezTo>
                      <a:pt x="3425" y="356"/>
                      <a:pt x="3071" y="179"/>
                      <a:pt x="271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0" name="Freeform 6">
                <a:extLst>
                  <a:ext uri="{FF2B5EF4-FFF2-40B4-BE49-F238E27FC236}">
                    <a16:creationId xmlns:a16="http://schemas.microsoft.com/office/drawing/2014/main" id="{DF91DDFD-8588-02A7-6B50-8CCC6AEB0938}"/>
                  </a:ext>
                </a:extLst>
              </p:cNvPr>
              <p:cNvSpPr>
                <a:spLocks/>
              </p:cNvSpPr>
              <p:nvPr/>
            </p:nvSpPr>
            <p:spPr bwMode="auto">
              <a:xfrm>
                <a:off x="1598613" y="3876675"/>
                <a:ext cx="704850" cy="700087"/>
              </a:xfrm>
              <a:custGeom>
                <a:avLst/>
                <a:gdLst>
                  <a:gd name="T0" fmla="*/ 483 w 557"/>
                  <a:gd name="T1" fmla="*/ 221 h 554"/>
                  <a:gd name="T2" fmla="*/ 374 w 557"/>
                  <a:gd name="T3" fmla="*/ 229 h 554"/>
                  <a:gd name="T4" fmla="*/ 453 w 557"/>
                  <a:gd name="T5" fmla="*/ 0 h 554"/>
                  <a:gd name="T6" fmla="*/ 404 w 557"/>
                  <a:gd name="T7" fmla="*/ 26 h 554"/>
                  <a:gd name="T8" fmla="*/ 165 w 557"/>
                  <a:gd name="T9" fmla="*/ 144 h 554"/>
                  <a:gd name="T10" fmla="*/ 42 w 557"/>
                  <a:gd name="T11" fmla="*/ 306 h 554"/>
                  <a:gd name="T12" fmla="*/ 3 w 557"/>
                  <a:gd name="T13" fmla="*/ 523 h 554"/>
                  <a:gd name="T14" fmla="*/ 29 w 557"/>
                  <a:gd name="T15" fmla="*/ 554 h 554"/>
                  <a:gd name="T16" fmla="*/ 316 w 557"/>
                  <a:gd name="T17" fmla="*/ 554 h 554"/>
                  <a:gd name="T18" fmla="*/ 557 w 557"/>
                  <a:gd name="T19" fmla="*/ 312 h 554"/>
                  <a:gd name="T20" fmla="*/ 483 w 557"/>
                  <a:gd name="T21" fmla="*/ 221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7" h="554">
                    <a:moveTo>
                      <a:pt x="483" y="221"/>
                    </a:moveTo>
                    <a:cubicBezTo>
                      <a:pt x="374" y="229"/>
                      <a:pt x="374" y="229"/>
                      <a:pt x="374" y="229"/>
                    </a:cubicBezTo>
                    <a:cubicBezTo>
                      <a:pt x="453" y="0"/>
                      <a:pt x="453" y="0"/>
                      <a:pt x="453" y="0"/>
                    </a:cubicBezTo>
                    <a:cubicBezTo>
                      <a:pt x="404" y="26"/>
                      <a:pt x="404" y="26"/>
                      <a:pt x="404" y="26"/>
                    </a:cubicBezTo>
                    <a:cubicBezTo>
                      <a:pt x="165" y="144"/>
                      <a:pt x="165" y="144"/>
                      <a:pt x="165" y="144"/>
                    </a:cubicBezTo>
                    <a:cubicBezTo>
                      <a:pt x="101" y="176"/>
                      <a:pt x="55" y="236"/>
                      <a:pt x="42" y="306"/>
                    </a:cubicBezTo>
                    <a:cubicBezTo>
                      <a:pt x="3" y="523"/>
                      <a:pt x="3" y="523"/>
                      <a:pt x="3" y="523"/>
                    </a:cubicBezTo>
                    <a:cubicBezTo>
                      <a:pt x="0" y="539"/>
                      <a:pt x="12" y="554"/>
                      <a:pt x="29" y="554"/>
                    </a:cubicBezTo>
                    <a:cubicBezTo>
                      <a:pt x="316" y="554"/>
                      <a:pt x="316" y="554"/>
                      <a:pt x="316" y="554"/>
                    </a:cubicBezTo>
                    <a:cubicBezTo>
                      <a:pt x="557" y="312"/>
                      <a:pt x="557" y="312"/>
                      <a:pt x="557" y="312"/>
                    </a:cubicBezTo>
                    <a:lnTo>
                      <a:pt x="483" y="221"/>
                    </a:ln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2" name="Freeform 7">
                <a:extLst>
                  <a:ext uri="{FF2B5EF4-FFF2-40B4-BE49-F238E27FC236}">
                    <a16:creationId xmlns:a16="http://schemas.microsoft.com/office/drawing/2014/main" id="{984836C7-DCD7-EAD3-442D-67FCF1CB2D4E}"/>
                  </a:ext>
                </a:extLst>
              </p:cNvPr>
              <p:cNvSpPr>
                <a:spLocks/>
              </p:cNvSpPr>
              <p:nvPr/>
            </p:nvSpPr>
            <p:spPr bwMode="auto">
              <a:xfrm>
                <a:off x="2016267" y="3050097"/>
                <a:ext cx="996526" cy="1140903"/>
              </a:xfrm>
              <a:custGeom>
                <a:avLst/>
                <a:gdLst>
                  <a:gd name="T0" fmla="*/ 332 w 1050"/>
                  <a:gd name="T1" fmla="*/ 1047 h 1422"/>
                  <a:gd name="T2" fmla="*/ 332 w 1050"/>
                  <a:gd name="T3" fmla="*/ 1119 h 1422"/>
                  <a:gd name="T4" fmla="*/ 435 w 1050"/>
                  <a:gd name="T5" fmla="*/ 1419 h 1422"/>
                  <a:gd name="T6" fmla="*/ 525 w 1050"/>
                  <a:gd name="T7" fmla="*/ 1392 h 1422"/>
                  <a:gd name="T8" fmla="*/ 619 w 1050"/>
                  <a:gd name="T9" fmla="*/ 1422 h 1422"/>
                  <a:gd name="T10" fmla="*/ 722 w 1050"/>
                  <a:gd name="T11" fmla="*/ 1121 h 1422"/>
                  <a:gd name="T12" fmla="*/ 722 w 1050"/>
                  <a:gd name="T13" fmla="*/ 1116 h 1422"/>
                  <a:gd name="T14" fmla="*/ 722 w 1050"/>
                  <a:gd name="T15" fmla="*/ 1116 h 1422"/>
                  <a:gd name="T16" fmla="*/ 722 w 1050"/>
                  <a:gd name="T17" fmla="*/ 1045 h 1422"/>
                  <a:gd name="T18" fmla="*/ 1050 w 1050"/>
                  <a:gd name="T19" fmla="*/ 944 h 1422"/>
                  <a:gd name="T20" fmla="*/ 924 w 1050"/>
                  <a:gd name="T21" fmla="*/ 621 h 1422"/>
                  <a:gd name="T22" fmla="*/ 665 w 1050"/>
                  <a:gd name="T23" fmla="*/ 117 h 1422"/>
                  <a:gd name="T24" fmla="*/ 373 w 1050"/>
                  <a:gd name="T25" fmla="*/ 74 h 1422"/>
                  <a:gd name="T26" fmla="*/ 137 w 1050"/>
                  <a:gd name="T27" fmla="*/ 550 h 1422"/>
                  <a:gd name="T28" fmla="*/ 0 w 1050"/>
                  <a:gd name="T29" fmla="*/ 940 h 1422"/>
                  <a:gd name="T30" fmla="*/ 332 w 1050"/>
                  <a:gd name="T31" fmla="*/ 1047 h 1422"/>
                  <a:gd name="connsiteX0" fmla="*/ 3162 w 8856"/>
                  <a:gd name="connsiteY0" fmla="*/ 7016 h 9653"/>
                  <a:gd name="connsiteX1" fmla="*/ 3162 w 8856"/>
                  <a:gd name="connsiteY1" fmla="*/ 7522 h 9653"/>
                  <a:gd name="connsiteX2" fmla="*/ 4143 w 8856"/>
                  <a:gd name="connsiteY2" fmla="*/ 9632 h 9653"/>
                  <a:gd name="connsiteX3" fmla="*/ 5000 w 8856"/>
                  <a:gd name="connsiteY3" fmla="*/ 9442 h 9653"/>
                  <a:gd name="connsiteX4" fmla="*/ 5895 w 8856"/>
                  <a:gd name="connsiteY4" fmla="*/ 9653 h 9653"/>
                  <a:gd name="connsiteX5" fmla="*/ 6876 w 8856"/>
                  <a:gd name="connsiteY5" fmla="*/ 7536 h 9653"/>
                  <a:gd name="connsiteX6" fmla="*/ 6876 w 8856"/>
                  <a:gd name="connsiteY6" fmla="*/ 7501 h 9653"/>
                  <a:gd name="connsiteX7" fmla="*/ 6876 w 8856"/>
                  <a:gd name="connsiteY7" fmla="*/ 7501 h 9653"/>
                  <a:gd name="connsiteX8" fmla="*/ 6876 w 8856"/>
                  <a:gd name="connsiteY8" fmla="*/ 7002 h 9653"/>
                  <a:gd name="connsiteX9" fmla="*/ 8800 w 8856"/>
                  <a:gd name="connsiteY9" fmla="*/ 4020 h 9653"/>
                  <a:gd name="connsiteX10" fmla="*/ 6333 w 8856"/>
                  <a:gd name="connsiteY10" fmla="*/ 476 h 9653"/>
                  <a:gd name="connsiteX11" fmla="*/ 3552 w 8856"/>
                  <a:gd name="connsiteY11" fmla="*/ 173 h 9653"/>
                  <a:gd name="connsiteX12" fmla="*/ 1305 w 8856"/>
                  <a:gd name="connsiteY12" fmla="*/ 3521 h 9653"/>
                  <a:gd name="connsiteX13" fmla="*/ 0 w 8856"/>
                  <a:gd name="connsiteY13" fmla="*/ 6263 h 9653"/>
                  <a:gd name="connsiteX14" fmla="*/ 3162 w 8856"/>
                  <a:gd name="connsiteY14" fmla="*/ 7016 h 9653"/>
                  <a:gd name="connsiteX0" fmla="*/ 2100 w 8530"/>
                  <a:gd name="connsiteY0" fmla="*/ 7268 h 10000"/>
                  <a:gd name="connsiteX1" fmla="*/ 2100 w 8530"/>
                  <a:gd name="connsiteY1" fmla="*/ 7792 h 10000"/>
                  <a:gd name="connsiteX2" fmla="*/ 3208 w 8530"/>
                  <a:gd name="connsiteY2" fmla="*/ 9978 h 10000"/>
                  <a:gd name="connsiteX3" fmla="*/ 4176 w 8530"/>
                  <a:gd name="connsiteY3" fmla="*/ 9781 h 10000"/>
                  <a:gd name="connsiteX4" fmla="*/ 5187 w 8530"/>
                  <a:gd name="connsiteY4" fmla="*/ 10000 h 10000"/>
                  <a:gd name="connsiteX5" fmla="*/ 6294 w 8530"/>
                  <a:gd name="connsiteY5" fmla="*/ 7807 h 10000"/>
                  <a:gd name="connsiteX6" fmla="*/ 6294 w 8530"/>
                  <a:gd name="connsiteY6" fmla="*/ 7771 h 10000"/>
                  <a:gd name="connsiteX7" fmla="*/ 6294 w 8530"/>
                  <a:gd name="connsiteY7" fmla="*/ 7771 h 10000"/>
                  <a:gd name="connsiteX8" fmla="*/ 6294 w 8530"/>
                  <a:gd name="connsiteY8" fmla="*/ 7254 h 10000"/>
                  <a:gd name="connsiteX9" fmla="*/ 8467 w 8530"/>
                  <a:gd name="connsiteY9" fmla="*/ 4165 h 10000"/>
                  <a:gd name="connsiteX10" fmla="*/ 5681 w 8530"/>
                  <a:gd name="connsiteY10" fmla="*/ 493 h 10000"/>
                  <a:gd name="connsiteX11" fmla="*/ 2541 w 8530"/>
                  <a:gd name="connsiteY11" fmla="*/ 179 h 10000"/>
                  <a:gd name="connsiteX12" fmla="*/ 4 w 8530"/>
                  <a:gd name="connsiteY12" fmla="*/ 3648 h 10000"/>
                  <a:gd name="connsiteX13" fmla="*/ 2100 w 8530"/>
                  <a:gd name="connsiteY13" fmla="*/ 7268 h 10000"/>
                  <a:gd name="connsiteX0" fmla="*/ 2463 w 9931"/>
                  <a:gd name="connsiteY0" fmla="*/ 7096 h 9828"/>
                  <a:gd name="connsiteX1" fmla="*/ 2463 w 9931"/>
                  <a:gd name="connsiteY1" fmla="*/ 7620 h 9828"/>
                  <a:gd name="connsiteX2" fmla="*/ 3762 w 9931"/>
                  <a:gd name="connsiteY2" fmla="*/ 9806 h 9828"/>
                  <a:gd name="connsiteX3" fmla="*/ 4897 w 9931"/>
                  <a:gd name="connsiteY3" fmla="*/ 9609 h 9828"/>
                  <a:gd name="connsiteX4" fmla="*/ 6082 w 9931"/>
                  <a:gd name="connsiteY4" fmla="*/ 9828 h 9828"/>
                  <a:gd name="connsiteX5" fmla="*/ 7380 w 9931"/>
                  <a:gd name="connsiteY5" fmla="*/ 7635 h 9828"/>
                  <a:gd name="connsiteX6" fmla="*/ 7380 w 9931"/>
                  <a:gd name="connsiteY6" fmla="*/ 7599 h 9828"/>
                  <a:gd name="connsiteX7" fmla="*/ 7380 w 9931"/>
                  <a:gd name="connsiteY7" fmla="*/ 7599 h 9828"/>
                  <a:gd name="connsiteX8" fmla="*/ 7380 w 9931"/>
                  <a:gd name="connsiteY8" fmla="*/ 7082 h 9828"/>
                  <a:gd name="connsiteX9" fmla="*/ 9927 w 9931"/>
                  <a:gd name="connsiteY9" fmla="*/ 3993 h 9828"/>
                  <a:gd name="connsiteX10" fmla="*/ 2980 w 9931"/>
                  <a:gd name="connsiteY10" fmla="*/ 7 h 9828"/>
                  <a:gd name="connsiteX11" fmla="*/ 6 w 9931"/>
                  <a:gd name="connsiteY11" fmla="*/ 3476 h 9828"/>
                  <a:gd name="connsiteX12" fmla="*/ 2463 w 9931"/>
                  <a:gd name="connsiteY12" fmla="*/ 7096 h 9828"/>
                  <a:gd name="connsiteX0" fmla="*/ 2477 w 9997"/>
                  <a:gd name="connsiteY0" fmla="*/ 3918 h 6698"/>
                  <a:gd name="connsiteX1" fmla="*/ 2477 w 9997"/>
                  <a:gd name="connsiteY1" fmla="*/ 4451 h 6698"/>
                  <a:gd name="connsiteX2" fmla="*/ 3785 w 9997"/>
                  <a:gd name="connsiteY2" fmla="*/ 6676 h 6698"/>
                  <a:gd name="connsiteX3" fmla="*/ 4928 w 9997"/>
                  <a:gd name="connsiteY3" fmla="*/ 6475 h 6698"/>
                  <a:gd name="connsiteX4" fmla="*/ 6121 w 9997"/>
                  <a:gd name="connsiteY4" fmla="*/ 6698 h 6698"/>
                  <a:gd name="connsiteX5" fmla="*/ 7428 w 9997"/>
                  <a:gd name="connsiteY5" fmla="*/ 4467 h 6698"/>
                  <a:gd name="connsiteX6" fmla="*/ 7428 w 9997"/>
                  <a:gd name="connsiteY6" fmla="*/ 4430 h 6698"/>
                  <a:gd name="connsiteX7" fmla="*/ 7428 w 9997"/>
                  <a:gd name="connsiteY7" fmla="*/ 4430 h 6698"/>
                  <a:gd name="connsiteX8" fmla="*/ 7428 w 9997"/>
                  <a:gd name="connsiteY8" fmla="*/ 3904 h 6698"/>
                  <a:gd name="connsiteX9" fmla="*/ 9993 w 9997"/>
                  <a:gd name="connsiteY9" fmla="*/ 761 h 6698"/>
                  <a:gd name="connsiteX10" fmla="*/ 3 w 9997"/>
                  <a:gd name="connsiteY10" fmla="*/ 235 h 6698"/>
                  <a:gd name="connsiteX11" fmla="*/ 2477 w 9997"/>
                  <a:gd name="connsiteY11" fmla="*/ 3918 h 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7" h="6698">
                    <a:moveTo>
                      <a:pt x="2477" y="3918"/>
                    </a:moveTo>
                    <a:lnTo>
                      <a:pt x="2477" y="4451"/>
                    </a:lnTo>
                    <a:lnTo>
                      <a:pt x="3785" y="6676"/>
                    </a:lnTo>
                    <a:cubicBezTo>
                      <a:pt x="4114" y="6549"/>
                      <a:pt x="4520" y="6475"/>
                      <a:pt x="4928" y="6475"/>
                    </a:cubicBezTo>
                    <a:cubicBezTo>
                      <a:pt x="5360" y="6475"/>
                      <a:pt x="5778" y="6549"/>
                      <a:pt x="6121" y="6698"/>
                    </a:cubicBezTo>
                    <a:lnTo>
                      <a:pt x="7428" y="4467"/>
                    </a:lnTo>
                    <a:lnTo>
                      <a:pt x="7428" y="4430"/>
                    </a:lnTo>
                    <a:lnTo>
                      <a:pt x="7428" y="4430"/>
                    </a:lnTo>
                    <a:cubicBezTo>
                      <a:pt x="7428" y="3904"/>
                      <a:pt x="7000" y="4515"/>
                      <a:pt x="7428" y="3904"/>
                    </a:cubicBezTo>
                    <a:cubicBezTo>
                      <a:pt x="7856" y="3292"/>
                      <a:pt x="10115" y="1908"/>
                      <a:pt x="9993" y="761"/>
                    </a:cubicBezTo>
                    <a:cubicBezTo>
                      <a:pt x="8755" y="149"/>
                      <a:pt x="1256" y="-291"/>
                      <a:pt x="3" y="235"/>
                    </a:cubicBezTo>
                    <a:cubicBezTo>
                      <a:pt x="-84" y="1437"/>
                      <a:pt x="2065" y="3215"/>
                      <a:pt x="2477" y="3918"/>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3" name="Oval 42">
                <a:extLst>
                  <a:ext uri="{FF2B5EF4-FFF2-40B4-BE49-F238E27FC236}">
                    <a16:creationId xmlns:a16="http://schemas.microsoft.com/office/drawing/2014/main" id="{252540FC-7BE8-25E9-5027-75CFE7BFBBA0}"/>
                  </a:ext>
                </a:extLst>
              </p:cNvPr>
              <p:cNvSpPr>
                <a:spLocks noChangeArrowheads="1"/>
              </p:cNvSpPr>
              <p:nvPr/>
            </p:nvSpPr>
            <p:spPr bwMode="auto">
              <a:xfrm>
                <a:off x="1998663" y="2660650"/>
                <a:ext cx="1023029" cy="1025525"/>
              </a:xfrm>
              <a:prstGeom prst="ellips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37" name="Freeform 52">
              <a:extLst>
                <a:ext uri="{FF2B5EF4-FFF2-40B4-BE49-F238E27FC236}">
                  <a16:creationId xmlns:a16="http://schemas.microsoft.com/office/drawing/2014/main" id="{0EBDBB90-CB86-FD18-66CF-59CC25264F69}"/>
                </a:ext>
              </a:extLst>
            </p:cNvPr>
            <p:cNvSpPr>
              <a:spLocks/>
            </p:cNvSpPr>
            <p:nvPr/>
          </p:nvSpPr>
          <p:spPr bwMode="auto">
            <a:xfrm>
              <a:off x="4173128" y="4107704"/>
              <a:ext cx="204669" cy="410698"/>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8" name="Freeform 52">
              <a:extLst>
                <a:ext uri="{FF2B5EF4-FFF2-40B4-BE49-F238E27FC236}">
                  <a16:creationId xmlns:a16="http://schemas.microsoft.com/office/drawing/2014/main" id="{4E80F183-5C57-6DE3-3065-83BFE3BA368B}"/>
                </a:ext>
              </a:extLst>
            </p:cNvPr>
            <p:cNvSpPr>
              <a:spLocks/>
            </p:cNvSpPr>
            <p:nvPr/>
          </p:nvSpPr>
          <p:spPr bwMode="auto">
            <a:xfrm>
              <a:off x="3912751" y="4364320"/>
              <a:ext cx="169149" cy="339420"/>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44" name="Group 43">
            <a:extLst>
              <a:ext uri="{FF2B5EF4-FFF2-40B4-BE49-F238E27FC236}">
                <a16:creationId xmlns:a16="http://schemas.microsoft.com/office/drawing/2014/main" id="{FE50015A-7C7B-3CF5-FC2C-AE417E3CE641}"/>
              </a:ext>
            </a:extLst>
          </p:cNvPr>
          <p:cNvGrpSpPr/>
          <p:nvPr/>
        </p:nvGrpSpPr>
        <p:grpSpPr>
          <a:xfrm>
            <a:off x="4242326" y="1447249"/>
            <a:ext cx="466096" cy="368677"/>
            <a:chOff x="9818688" y="2243138"/>
            <a:chExt cx="1279525" cy="1012089"/>
          </a:xfrm>
          <a:solidFill>
            <a:schemeClr val="tx1">
              <a:lumMod val="90000"/>
              <a:lumOff val="10000"/>
            </a:schemeClr>
          </a:solidFill>
        </p:grpSpPr>
        <p:sp>
          <p:nvSpPr>
            <p:cNvPr id="45" name="Freeform 11">
              <a:extLst>
                <a:ext uri="{FF2B5EF4-FFF2-40B4-BE49-F238E27FC236}">
                  <a16:creationId xmlns:a16="http://schemas.microsoft.com/office/drawing/2014/main" id="{D16D1782-1695-665B-3D33-8FE43B25DD47}"/>
                </a:ext>
              </a:extLst>
            </p:cNvPr>
            <p:cNvSpPr>
              <a:spLocks noEditPoints="1"/>
            </p:cNvSpPr>
            <p:nvPr/>
          </p:nvSpPr>
          <p:spPr bwMode="auto">
            <a:xfrm>
              <a:off x="10325101" y="2314576"/>
              <a:ext cx="434975" cy="627063"/>
            </a:xfrm>
            <a:custGeom>
              <a:avLst/>
              <a:gdLst>
                <a:gd name="T0" fmla="*/ 343 w 343"/>
                <a:gd name="T1" fmla="*/ 172 h 496"/>
                <a:gd name="T2" fmla="*/ 171 w 343"/>
                <a:gd name="T3" fmla="*/ 0 h 496"/>
                <a:gd name="T4" fmla="*/ 0 w 343"/>
                <a:gd name="T5" fmla="*/ 172 h 496"/>
                <a:gd name="T6" fmla="*/ 76 w 343"/>
                <a:gd name="T7" fmla="*/ 314 h 496"/>
                <a:gd name="T8" fmla="*/ 76 w 343"/>
                <a:gd name="T9" fmla="*/ 344 h 496"/>
                <a:gd name="T10" fmla="*/ 38 w 343"/>
                <a:gd name="T11" fmla="*/ 391 h 496"/>
                <a:gd name="T12" fmla="*/ 60 w 343"/>
                <a:gd name="T13" fmla="*/ 431 h 496"/>
                <a:gd name="T14" fmla="*/ 57 w 343"/>
                <a:gd name="T15" fmla="*/ 448 h 496"/>
                <a:gd name="T16" fmla="*/ 105 w 343"/>
                <a:gd name="T17" fmla="*/ 496 h 496"/>
                <a:gd name="T18" fmla="*/ 238 w 343"/>
                <a:gd name="T19" fmla="*/ 496 h 496"/>
                <a:gd name="T20" fmla="*/ 286 w 343"/>
                <a:gd name="T21" fmla="*/ 448 h 496"/>
                <a:gd name="T22" fmla="*/ 282 w 343"/>
                <a:gd name="T23" fmla="*/ 431 h 496"/>
                <a:gd name="T24" fmla="*/ 305 w 343"/>
                <a:gd name="T25" fmla="*/ 391 h 496"/>
                <a:gd name="T26" fmla="*/ 267 w 343"/>
                <a:gd name="T27" fmla="*/ 344 h 496"/>
                <a:gd name="T28" fmla="*/ 267 w 343"/>
                <a:gd name="T29" fmla="*/ 314 h 496"/>
                <a:gd name="T30" fmla="*/ 343 w 343"/>
                <a:gd name="T31" fmla="*/ 172 h 496"/>
                <a:gd name="T32" fmla="*/ 238 w 343"/>
                <a:gd name="T33" fmla="*/ 457 h 496"/>
                <a:gd name="T34" fmla="*/ 105 w 343"/>
                <a:gd name="T35" fmla="*/ 457 h 496"/>
                <a:gd name="T36" fmla="*/ 95 w 343"/>
                <a:gd name="T37" fmla="*/ 448 h 496"/>
                <a:gd name="T38" fmla="*/ 105 w 343"/>
                <a:gd name="T39" fmla="*/ 438 h 496"/>
                <a:gd name="T40" fmla="*/ 238 w 343"/>
                <a:gd name="T41" fmla="*/ 438 h 496"/>
                <a:gd name="T42" fmla="*/ 248 w 343"/>
                <a:gd name="T43" fmla="*/ 448 h 496"/>
                <a:gd name="T44" fmla="*/ 238 w 343"/>
                <a:gd name="T45" fmla="*/ 457 h 496"/>
                <a:gd name="T46" fmla="*/ 257 w 343"/>
                <a:gd name="T47" fmla="*/ 400 h 496"/>
                <a:gd name="T48" fmla="*/ 238 w 343"/>
                <a:gd name="T49" fmla="*/ 400 h 496"/>
                <a:gd name="T50" fmla="*/ 105 w 343"/>
                <a:gd name="T51" fmla="*/ 400 h 496"/>
                <a:gd name="T52" fmla="*/ 86 w 343"/>
                <a:gd name="T53" fmla="*/ 400 h 496"/>
                <a:gd name="T54" fmla="*/ 76 w 343"/>
                <a:gd name="T55" fmla="*/ 391 h 496"/>
                <a:gd name="T56" fmla="*/ 86 w 343"/>
                <a:gd name="T57" fmla="*/ 381 h 496"/>
                <a:gd name="T58" fmla="*/ 257 w 343"/>
                <a:gd name="T59" fmla="*/ 381 h 496"/>
                <a:gd name="T60" fmla="*/ 267 w 343"/>
                <a:gd name="T61" fmla="*/ 391 h 496"/>
                <a:gd name="T62" fmla="*/ 257 w 343"/>
                <a:gd name="T63" fmla="*/ 400 h 496"/>
                <a:gd name="T64" fmla="*/ 152 w 343"/>
                <a:gd name="T65" fmla="*/ 172 h 496"/>
                <a:gd name="T66" fmla="*/ 171 w 343"/>
                <a:gd name="T67" fmla="*/ 153 h 496"/>
                <a:gd name="T68" fmla="*/ 190 w 343"/>
                <a:gd name="T69" fmla="*/ 172 h 496"/>
                <a:gd name="T70" fmla="*/ 171 w 343"/>
                <a:gd name="T71" fmla="*/ 191 h 496"/>
                <a:gd name="T72" fmla="*/ 152 w 343"/>
                <a:gd name="T73" fmla="*/ 172 h 496"/>
                <a:gd name="T74" fmla="*/ 238 w 343"/>
                <a:gd name="T75" fmla="*/ 287 h 496"/>
                <a:gd name="T76" fmla="*/ 229 w 343"/>
                <a:gd name="T77" fmla="*/ 293 h 496"/>
                <a:gd name="T78" fmla="*/ 229 w 343"/>
                <a:gd name="T79" fmla="*/ 343 h 496"/>
                <a:gd name="T80" fmla="*/ 190 w 343"/>
                <a:gd name="T81" fmla="*/ 343 h 496"/>
                <a:gd name="T82" fmla="*/ 190 w 343"/>
                <a:gd name="T83" fmla="*/ 225 h 496"/>
                <a:gd name="T84" fmla="*/ 229 w 343"/>
                <a:gd name="T85" fmla="*/ 172 h 496"/>
                <a:gd name="T86" fmla="*/ 171 w 343"/>
                <a:gd name="T87" fmla="*/ 115 h 496"/>
                <a:gd name="T88" fmla="*/ 114 w 343"/>
                <a:gd name="T89" fmla="*/ 172 h 496"/>
                <a:gd name="T90" fmla="*/ 152 w 343"/>
                <a:gd name="T91" fmla="*/ 225 h 496"/>
                <a:gd name="T92" fmla="*/ 152 w 343"/>
                <a:gd name="T93" fmla="*/ 343 h 496"/>
                <a:gd name="T94" fmla="*/ 114 w 343"/>
                <a:gd name="T95" fmla="*/ 343 h 496"/>
                <a:gd name="T96" fmla="*/ 114 w 343"/>
                <a:gd name="T97" fmla="*/ 293 h 496"/>
                <a:gd name="T98" fmla="*/ 105 w 343"/>
                <a:gd name="T99" fmla="*/ 287 h 496"/>
                <a:gd name="T100" fmla="*/ 38 w 343"/>
                <a:gd name="T101" fmla="*/ 172 h 496"/>
                <a:gd name="T102" fmla="*/ 171 w 343"/>
                <a:gd name="T103" fmla="*/ 38 h 496"/>
                <a:gd name="T104" fmla="*/ 305 w 343"/>
                <a:gd name="T105" fmla="*/ 172 h 496"/>
                <a:gd name="T106" fmla="*/ 238 w 343"/>
                <a:gd name="T107" fmla="*/ 28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3" h="496">
                  <a:moveTo>
                    <a:pt x="343" y="172"/>
                  </a:moveTo>
                  <a:cubicBezTo>
                    <a:pt x="343" y="77"/>
                    <a:pt x="266" y="0"/>
                    <a:pt x="171" y="0"/>
                  </a:cubicBezTo>
                  <a:cubicBezTo>
                    <a:pt x="77" y="0"/>
                    <a:pt x="0" y="77"/>
                    <a:pt x="0" y="172"/>
                  </a:cubicBezTo>
                  <a:cubicBezTo>
                    <a:pt x="0" y="229"/>
                    <a:pt x="29" y="282"/>
                    <a:pt x="76" y="314"/>
                  </a:cubicBezTo>
                  <a:cubicBezTo>
                    <a:pt x="76" y="344"/>
                    <a:pt x="76" y="344"/>
                    <a:pt x="76" y="344"/>
                  </a:cubicBezTo>
                  <a:cubicBezTo>
                    <a:pt x="54" y="349"/>
                    <a:pt x="38" y="368"/>
                    <a:pt x="38" y="391"/>
                  </a:cubicBezTo>
                  <a:cubicBezTo>
                    <a:pt x="38" y="408"/>
                    <a:pt x="47" y="422"/>
                    <a:pt x="60" y="431"/>
                  </a:cubicBezTo>
                  <a:cubicBezTo>
                    <a:pt x="58" y="436"/>
                    <a:pt x="57" y="442"/>
                    <a:pt x="57" y="448"/>
                  </a:cubicBezTo>
                  <a:cubicBezTo>
                    <a:pt x="57" y="474"/>
                    <a:pt x="78" y="496"/>
                    <a:pt x="105" y="496"/>
                  </a:cubicBezTo>
                  <a:cubicBezTo>
                    <a:pt x="238" y="496"/>
                    <a:pt x="238" y="496"/>
                    <a:pt x="238" y="496"/>
                  </a:cubicBezTo>
                  <a:cubicBezTo>
                    <a:pt x="264" y="496"/>
                    <a:pt x="286" y="474"/>
                    <a:pt x="286" y="448"/>
                  </a:cubicBezTo>
                  <a:cubicBezTo>
                    <a:pt x="286" y="442"/>
                    <a:pt x="284" y="436"/>
                    <a:pt x="282" y="431"/>
                  </a:cubicBezTo>
                  <a:cubicBezTo>
                    <a:pt x="296" y="423"/>
                    <a:pt x="305" y="408"/>
                    <a:pt x="305" y="391"/>
                  </a:cubicBezTo>
                  <a:cubicBezTo>
                    <a:pt x="305" y="368"/>
                    <a:pt x="288" y="349"/>
                    <a:pt x="267" y="344"/>
                  </a:cubicBezTo>
                  <a:cubicBezTo>
                    <a:pt x="267" y="314"/>
                    <a:pt x="267" y="314"/>
                    <a:pt x="267" y="314"/>
                  </a:cubicBezTo>
                  <a:cubicBezTo>
                    <a:pt x="314" y="282"/>
                    <a:pt x="343" y="229"/>
                    <a:pt x="343" y="172"/>
                  </a:cubicBezTo>
                  <a:close/>
                  <a:moveTo>
                    <a:pt x="238" y="457"/>
                  </a:moveTo>
                  <a:cubicBezTo>
                    <a:pt x="105" y="457"/>
                    <a:pt x="105" y="457"/>
                    <a:pt x="105" y="457"/>
                  </a:cubicBezTo>
                  <a:cubicBezTo>
                    <a:pt x="100" y="457"/>
                    <a:pt x="95" y="453"/>
                    <a:pt x="95" y="448"/>
                  </a:cubicBezTo>
                  <a:cubicBezTo>
                    <a:pt x="95" y="443"/>
                    <a:pt x="100" y="438"/>
                    <a:pt x="105" y="438"/>
                  </a:cubicBezTo>
                  <a:cubicBezTo>
                    <a:pt x="238" y="438"/>
                    <a:pt x="238" y="438"/>
                    <a:pt x="238" y="438"/>
                  </a:cubicBezTo>
                  <a:cubicBezTo>
                    <a:pt x="243" y="438"/>
                    <a:pt x="248" y="443"/>
                    <a:pt x="248" y="448"/>
                  </a:cubicBezTo>
                  <a:cubicBezTo>
                    <a:pt x="248" y="453"/>
                    <a:pt x="243" y="457"/>
                    <a:pt x="238" y="457"/>
                  </a:cubicBezTo>
                  <a:close/>
                  <a:moveTo>
                    <a:pt x="257" y="400"/>
                  </a:moveTo>
                  <a:cubicBezTo>
                    <a:pt x="238" y="400"/>
                    <a:pt x="238" y="400"/>
                    <a:pt x="238" y="400"/>
                  </a:cubicBezTo>
                  <a:cubicBezTo>
                    <a:pt x="105" y="400"/>
                    <a:pt x="105" y="400"/>
                    <a:pt x="105" y="400"/>
                  </a:cubicBezTo>
                  <a:cubicBezTo>
                    <a:pt x="86" y="400"/>
                    <a:pt x="86" y="400"/>
                    <a:pt x="86" y="400"/>
                  </a:cubicBezTo>
                  <a:cubicBezTo>
                    <a:pt x="80" y="400"/>
                    <a:pt x="76" y="396"/>
                    <a:pt x="76" y="391"/>
                  </a:cubicBezTo>
                  <a:cubicBezTo>
                    <a:pt x="76" y="386"/>
                    <a:pt x="80" y="381"/>
                    <a:pt x="86" y="381"/>
                  </a:cubicBezTo>
                  <a:cubicBezTo>
                    <a:pt x="257" y="381"/>
                    <a:pt x="257" y="381"/>
                    <a:pt x="257" y="381"/>
                  </a:cubicBezTo>
                  <a:cubicBezTo>
                    <a:pt x="262" y="381"/>
                    <a:pt x="267" y="386"/>
                    <a:pt x="267" y="391"/>
                  </a:cubicBezTo>
                  <a:cubicBezTo>
                    <a:pt x="267" y="396"/>
                    <a:pt x="262" y="400"/>
                    <a:pt x="257" y="400"/>
                  </a:cubicBezTo>
                  <a:close/>
                  <a:moveTo>
                    <a:pt x="152" y="172"/>
                  </a:moveTo>
                  <a:cubicBezTo>
                    <a:pt x="152" y="161"/>
                    <a:pt x="161" y="153"/>
                    <a:pt x="171" y="153"/>
                  </a:cubicBezTo>
                  <a:cubicBezTo>
                    <a:pt x="182" y="153"/>
                    <a:pt x="190" y="161"/>
                    <a:pt x="190" y="172"/>
                  </a:cubicBezTo>
                  <a:cubicBezTo>
                    <a:pt x="190" y="182"/>
                    <a:pt x="182" y="191"/>
                    <a:pt x="171" y="191"/>
                  </a:cubicBezTo>
                  <a:cubicBezTo>
                    <a:pt x="161" y="191"/>
                    <a:pt x="152" y="182"/>
                    <a:pt x="152" y="172"/>
                  </a:cubicBezTo>
                  <a:close/>
                  <a:moveTo>
                    <a:pt x="238" y="287"/>
                  </a:moveTo>
                  <a:cubicBezTo>
                    <a:pt x="229" y="293"/>
                    <a:pt x="229" y="293"/>
                    <a:pt x="229" y="293"/>
                  </a:cubicBezTo>
                  <a:cubicBezTo>
                    <a:pt x="229" y="343"/>
                    <a:pt x="229" y="343"/>
                    <a:pt x="229" y="343"/>
                  </a:cubicBezTo>
                  <a:cubicBezTo>
                    <a:pt x="190" y="343"/>
                    <a:pt x="190" y="343"/>
                    <a:pt x="190" y="343"/>
                  </a:cubicBezTo>
                  <a:cubicBezTo>
                    <a:pt x="190" y="225"/>
                    <a:pt x="190" y="225"/>
                    <a:pt x="190" y="225"/>
                  </a:cubicBezTo>
                  <a:cubicBezTo>
                    <a:pt x="213" y="217"/>
                    <a:pt x="229" y="197"/>
                    <a:pt x="229" y="172"/>
                  </a:cubicBezTo>
                  <a:cubicBezTo>
                    <a:pt x="229" y="140"/>
                    <a:pt x="203" y="115"/>
                    <a:pt x="171" y="115"/>
                  </a:cubicBezTo>
                  <a:cubicBezTo>
                    <a:pt x="140" y="115"/>
                    <a:pt x="114" y="140"/>
                    <a:pt x="114" y="172"/>
                  </a:cubicBezTo>
                  <a:cubicBezTo>
                    <a:pt x="114" y="197"/>
                    <a:pt x="130" y="217"/>
                    <a:pt x="152" y="225"/>
                  </a:cubicBezTo>
                  <a:cubicBezTo>
                    <a:pt x="152" y="343"/>
                    <a:pt x="152" y="343"/>
                    <a:pt x="152" y="343"/>
                  </a:cubicBezTo>
                  <a:cubicBezTo>
                    <a:pt x="114" y="343"/>
                    <a:pt x="114" y="343"/>
                    <a:pt x="114" y="343"/>
                  </a:cubicBezTo>
                  <a:cubicBezTo>
                    <a:pt x="114" y="293"/>
                    <a:pt x="114" y="293"/>
                    <a:pt x="114" y="293"/>
                  </a:cubicBezTo>
                  <a:cubicBezTo>
                    <a:pt x="105" y="287"/>
                    <a:pt x="105" y="287"/>
                    <a:pt x="105" y="287"/>
                  </a:cubicBezTo>
                  <a:cubicBezTo>
                    <a:pt x="64" y="263"/>
                    <a:pt x="38" y="219"/>
                    <a:pt x="38" y="172"/>
                  </a:cubicBezTo>
                  <a:cubicBezTo>
                    <a:pt x="38" y="98"/>
                    <a:pt x="98" y="38"/>
                    <a:pt x="171" y="38"/>
                  </a:cubicBezTo>
                  <a:cubicBezTo>
                    <a:pt x="245" y="38"/>
                    <a:pt x="305" y="98"/>
                    <a:pt x="305" y="172"/>
                  </a:cubicBezTo>
                  <a:cubicBezTo>
                    <a:pt x="305" y="219"/>
                    <a:pt x="279" y="263"/>
                    <a:pt x="238" y="2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6" name="Rectangle 13">
              <a:extLst>
                <a:ext uri="{FF2B5EF4-FFF2-40B4-BE49-F238E27FC236}">
                  <a16:creationId xmlns:a16="http://schemas.microsoft.com/office/drawing/2014/main" id="{5A8BA1F9-2238-0888-B4F2-AE584FB9D1F4}"/>
                </a:ext>
              </a:extLst>
            </p:cNvPr>
            <p:cNvSpPr>
              <a:spLocks noChangeArrowheads="1"/>
            </p:cNvSpPr>
            <p:nvPr/>
          </p:nvSpPr>
          <p:spPr bwMode="auto">
            <a:xfrm>
              <a:off x="10517188" y="2243138"/>
              <a:ext cx="4921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7" name="Freeform 14">
              <a:extLst>
                <a:ext uri="{FF2B5EF4-FFF2-40B4-BE49-F238E27FC236}">
                  <a16:creationId xmlns:a16="http://schemas.microsoft.com/office/drawing/2014/main" id="{E61907CE-C210-8FA2-982F-1C25751C61B0}"/>
                </a:ext>
              </a:extLst>
            </p:cNvPr>
            <p:cNvSpPr>
              <a:spLocks/>
            </p:cNvSpPr>
            <p:nvPr/>
          </p:nvSpPr>
          <p:spPr bwMode="auto">
            <a:xfrm>
              <a:off x="10377488" y="2270126"/>
              <a:ext cx="65088" cy="65088"/>
            </a:xfrm>
            <a:custGeom>
              <a:avLst/>
              <a:gdLst>
                <a:gd name="T0" fmla="*/ 26 w 41"/>
                <a:gd name="T1" fmla="*/ 0 h 41"/>
                <a:gd name="T2" fmla="*/ 41 w 41"/>
                <a:gd name="T3" fmla="*/ 26 h 41"/>
                <a:gd name="T4" fmla="*/ 15 w 41"/>
                <a:gd name="T5" fmla="*/ 41 h 41"/>
                <a:gd name="T6" fmla="*/ 0 w 41"/>
                <a:gd name="T7" fmla="*/ 15 h 41"/>
                <a:gd name="T8" fmla="*/ 26 w 41"/>
                <a:gd name="T9" fmla="*/ 0 h 41"/>
              </a:gdLst>
              <a:ahLst/>
              <a:cxnLst>
                <a:cxn ang="0">
                  <a:pos x="T0" y="T1"/>
                </a:cxn>
                <a:cxn ang="0">
                  <a:pos x="T2" y="T3"/>
                </a:cxn>
                <a:cxn ang="0">
                  <a:pos x="T4" y="T5"/>
                </a:cxn>
                <a:cxn ang="0">
                  <a:pos x="T6" y="T7"/>
                </a:cxn>
                <a:cxn ang="0">
                  <a:pos x="T8" y="T9"/>
                </a:cxn>
              </a:cxnLst>
              <a:rect l="0" t="0" r="r" b="b"/>
              <a:pathLst>
                <a:path w="41" h="41">
                  <a:moveTo>
                    <a:pt x="26" y="0"/>
                  </a:moveTo>
                  <a:lnTo>
                    <a:pt x="41"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8" name="Freeform 15">
              <a:extLst>
                <a:ext uri="{FF2B5EF4-FFF2-40B4-BE49-F238E27FC236}">
                  <a16:creationId xmlns:a16="http://schemas.microsoft.com/office/drawing/2014/main" id="{DEFE43E2-1132-7E40-824D-8AEC0E0521CA}"/>
                </a:ext>
              </a:extLst>
            </p:cNvPr>
            <p:cNvSpPr>
              <a:spLocks/>
            </p:cNvSpPr>
            <p:nvPr/>
          </p:nvSpPr>
          <p:spPr bwMode="auto">
            <a:xfrm>
              <a:off x="10279063" y="2366963"/>
              <a:ext cx="66675" cy="65088"/>
            </a:xfrm>
            <a:custGeom>
              <a:avLst/>
              <a:gdLst>
                <a:gd name="T0" fmla="*/ 16 w 42"/>
                <a:gd name="T1" fmla="*/ 0 h 41"/>
                <a:gd name="T2" fmla="*/ 42 w 42"/>
                <a:gd name="T3" fmla="*/ 15 h 41"/>
                <a:gd name="T4" fmla="*/ 27 w 42"/>
                <a:gd name="T5" fmla="*/ 41 h 41"/>
                <a:gd name="T6" fmla="*/ 0 w 42"/>
                <a:gd name="T7" fmla="*/ 26 h 41"/>
                <a:gd name="T8" fmla="*/ 16 w 42"/>
                <a:gd name="T9" fmla="*/ 0 h 41"/>
              </a:gdLst>
              <a:ahLst/>
              <a:cxnLst>
                <a:cxn ang="0">
                  <a:pos x="T0" y="T1"/>
                </a:cxn>
                <a:cxn ang="0">
                  <a:pos x="T2" y="T3"/>
                </a:cxn>
                <a:cxn ang="0">
                  <a:pos x="T4" y="T5"/>
                </a:cxn>
                <a:cxn ang="0">
                  <a:pos x="T6" y="T7"/>
                </a:cxn>
                <a:cxn ang="0">
                  <a:pos x="T8" y="T9"/>
                </a:cxn>
              </a:cxnLst>
              <a:rect l="0" t="0" r="r" b="b"/>
              <a:pathLst>
                <a:path w="42" h="41">
                  <a:moveTo>
                    <a:pt x="16" y="0"/>
                  </a:moveTo>
                  <a:lnTo>
                    <a:pt x="42" y="15"/>
                  </a:lnTo>
                  <a:lnTo>
                    <a:pt x="27" y="41"/>
                  </a:lnTo>
                  <a:lnTo>
                    <a:pt x="0" y="26"/>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9" name="Rectangle 16">
              <a:extLst>
                <a:ext uri="{FF2B5EF4-FFF2-40B4-BE49-F238E27FC236}">
                  <a16:creationId xmlns:a16="http://schemas.microsoft.com/office/drawing/2014/main" id="{4B39E1F9-69A4-4CB5-BEC8-2CD812C466FF}"/>
                </a:ext>
              </a:extLst>
            </p:cNvPr>
            <p:cNvSpPr>
              <a:spLocks noChangeArrowheads="1"/>
            </p:cNvSpPr>
            <p:nvPr/>
          </p:nvSpPr>
          <p:spPr bwMode="auto">
            <a:xfrm>
              <a:off x="10253663"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0" name="Freeform 17">
              <a:extLst>
                <a:ext uri="{FF2B5EF4-FFF2-40B4-BE49-F238E27FC236}">
                  <a16:creationId xmlns:a16="http://schemas.microsoft.com/office/drawing/2014/main" id="{0C0F7A16-0835-3885-BFFB-A6EC092A5CF1}"/>
                </a:ext>
              </a:extLst>
            </p:cNvPr>
            <p:cNvSpPr>
              <a:spLocks/>
            </p:cNvSpPr>
            <p:nvPr/>
          </p:nvSpPr>
          <p:spPr bwMode="auto">
            <a:xfrm>
              <a:off x="10279063" y="2630488"/>
              <a:ext cx="66675" cy="68263"/>
            </a:xfrm>
            <a:custGeom>
              <a:avLst/>
              <a:gdLst>
                <a:gd name="T0" fmla="*/ 16 w 42"/>
                <a:gd name="T1" fmla="*/ 43 h 43"/>
                <a:gd name="T2" fmla="*/ 0 w 42"/>
                <a:gd name="T3" fmla="*/ 16 h 43"/>
                <a:gd name="T4" fmla="*/ 27 w 42"/>
                <a:gd name="T5" fmla="*/ 0 h 43"/>
                <a:gd name="T6" fmla="*/ 42 w 42"/>
                <a:gd name="T7" fmla="*/ 27 h 43"/>
                <a:gd name="T8" fmla="*/ 16 w 42"/>
                <a:gd name="T9" fmla="*/ 43 h 43"/>
              </a:gdLst>
              <a:ahLst/>
              <a:cxnLst>
                <a:cxn ang="0">
                  <a:pos x="T0" y="T1"/>
                </a:cxn>
                <a:cxn ang="0">
                  <a:pos x="T2" y="T3"/>
                </a:cxn>
                <a:cxn ang="0">
                  <a:pos x="T4" y="T5"/>
                </a:cxn>
                <a:cxn ang="0">
                  <a:pos x="T6" y="T7"/>
                </a:cxn>
                <a:cxn ang="0">
                  <a:pos x="T8" y="T9"/>
                </a:cxn>
              </a:cxnLst>
              <a:rect l="0" t="0" r="r" b="b"/>
              <a:pathLst>
                <a:path w="42" h="43">
                  <a:moveTo>
                    <a:pt x="16" y="43"/>
                  </a:moveTo>
                  <a:lnTo>
                    <a:pt x="0" y="16"/>
                  </a:lnTo>
                  <a:lnTo>
                    <a:pt x="27" y="0"/>
                  </a:lnTo>
                  <a:lnTo>
                    <a:pt x="42" y="27"/>
                  </a:lnTo>
                  <a:lnTo>
                    <a:pt x="1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1" name="Freeform 18">
              <a:extLst>
                <a:ext uri="{FF2B5EF4-FFF2-40B4-BE49-F238E27FC236}">
                  <a16:creationId xmlns:a16="http://schemas.microsoft.com/office/drawing/2014/main" id="{8B0890F3-51D6-2BB2-6F44-8F9B36A0B8E2}"/>
                </a:ext>
              </a:extLst>
            </p:cNvPr>
            <p:cNvSpPr>
              <a:spLocks/>
            </p:cNvSpPr>
            <p:nvPr/>
          </p:nvSpPr>
          <p:spPr bwMode="auto">
            <a:xfrm>
              <a:off x="10739438" y="2630488"/>
              <a:ext cx="66675" cy="66675"/>
            </a:xfrm>
            <a:custGeom>
              <a:avLst/>
              <a:gdLst>
                <a:gd name="T0" fmla="*/ 26 w 42"/>
                <a:gd name="T1" fmla="*/ 42 h 42"/>
                <a:gd name="T2" fmla="*/ 0 w 42"/>
                <a:gd name="T3" fmla="*/ 27 h 42"/>
                <a:gd name="T4" fmla="*/ 15 w 42"/>
                <a:gd name="T5" fmla="*/ 0 h 42"/>
                <a:gd name="T6" fmla="*/ 42 w 42"/>
                <a:gd name="T7" fmla="*/ 16 h 42"/>
                <a:gd name="T8" fmla="*/ 26 w 42"/>
                <a:gd name="T9" fmla="*/ 42 h 42"/>
              </a:gdLst>
              <a:ahLst/>
              <a:cxnLst>
                <a:cxn ang="0">
                  <a:pos x="T0" y="T1"/>
                </a:cxn>
                <a:cxn ang="0">
                  <a:pos x="T2" y="T3"/>
                </a:cxn>
                <a:cxn ang="0">
                  <a:pos x="T4" y="T5"/>
                </a:cxn>
                <a:cxn ang="0">
                  <a:pos x="T6" y="T7"/>
                </a:cxn>
                <a:cxn ang="0">
                  <a:pos x="T8" y="T9"/>
                </a:cxn>
              </a:cxnLst>
              <a:rect l="0" t="0" r="r" b="b"/>
              <a:pathLst>
                <a:path w="42" h="42">
                  <a:moveTo>
                    <a:pt x="26" y="42"/>
                  </a:moveTo>
                  <a:lnTo>
                    <a:pt x="0" y="27"/>
                  </a:lnTo>
                  <a:lnTo>
                    <a:pt x="15" y="0"/>
                  </a:lnTo>
                  <a:lnTo>
                    <a:pt x="42" y="16"/>
                  </a:lnTo>
                  <a:lnTo>
                    <a:pt x="2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2" name="Rectangle 19">
              <a:extLst>
                <a:ext uri="{FF2B5EF4-FFF2-40B4-BE49-F238E27FC236}">
                  <a16:creationId xmlns:a16="http://schemas.microsoft.com/office/drawing/2014/main" id="{760884A5-99B5-8A66-86E8-31843C5E41DE}"/>
                </a:ext>
              </a:extLst>
            </p:cNvPr>
            <p:cNvSpPr>
              <a:spLocks noChangeArrowheads="1"/>
            </p:cNvSpPr>
            <p:nvPr/>
          </p:nvSpPr>
          <p:spPr bwMode="auto">
            <a:xfrm>
              <a:off x="10783888"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3" name="Freeform 20">
              <a:extLst>
                <a:ext uri="{FF2B5EF4-FFF2-40B4-BE49-F238E27FC236}">
                  <a16:creationId xmlns:a16="http://schemas.microsoft.com/office/drawing/2014/main" id="{E1897A08-3DC6-15E7-4918-76663D6033D8}"/>
                </a:ext>
              </a:extLst>
            </p:cNvPr>
            <p:cNvSpPr>
              <a:spLocks/>
            </p:cNvSpPr>
            <p:nvPr/>
          </p:nvSpPr>
          <p:spPr bwMode="auto">
            <a:xfrm>
              <a:off x="10739438" y="2366963"/>
              <a:ext cx="66675" cy="65088"/>
            </a:xfrm>
            <a:custGeom>
              <a:avLst/>
              <a:gdLst>
                <a:gd name="T0" fmla="*/ 26 w 42"/>
                <a:gd name="T1" fmla="*/ 0 h 41"/>
                <a:gd name="T2" fmla="*/ 42 w 42"/>
                <a:gd name="T3" fmla="*/ 26 h 41"/>
                <a:gd name="T4" fmla="*/ 15 w 42"/>
                <a:gd name="T5" fmla="*/ 41 h 41"/>
                <a:gd name="T6" fmla="*/ 0 w 42"/>
                <a:gd name="T7" fmla="*/ 15 h 41"/>
                <a:gd name="T8" fmla="*/ 26 w 42"/>
                <a:gd name="T9" fmla="*/ 0 h 41"/>
              </a:gdLst>
              <a:ahLst/>
              <a:cxnLst>
                <a:cxn ang="0">
                  <a:pos x="T0" y="T1"/>
                </a:cxn>
                <a:cxn ang="0">
                  <a:pos x="T2" y="T3"/>
                </a:cxn>
                <a:cxn ang="0">
                  <a:pos x="T4" y="T5"/>
                </a:cxn>
                <a:cxn ang="0">
                  <a:pos x="T6" y="T7"/>
                </a:cxn>
                <a:cxn ang="0">
                  <a:pos x="T8" y="T9"/>
                </a:cxn>
              </a:cxnLst>
              <a:rect l="0" t="0" r="r" b="b"/>
              <a:pathLst>
                <a:path w="42" h="41">
                  <a:moveTo>
                    <a:pt x="26" y="0"/>
                  </a:moveTo>
                  <a:lnTo>
                    <a:pt x="42"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4" name="Freeform 21">
              <a:extLst>
                <a:ext uri="{FF2B5EF4-FFF2-40B4-BE49-F238E27FC236}">
                  <a16:creationId xmlns:a16="http://schemas.microsoft.com/office/drawing/2014/main" id="{4468468C-679D-C9AA-B824-57BA51BBE5DB}"/>
                </a:ext>
              </a:extLst>
            </p:cNvPr>
            <p:cNvSpPr>
              <a:spLocks/>
            </p:cNvSpPr>
            <p:nvPr/>
          </p:nvSpPr>
          <p:spPr bwMode="auto">
            <a:xfrm>
              <a:off x="10642601" y="2270126"/>
              <a:ext cx="65088" cy="65088"/>
            </a:xfrm>
            <a:custGeom>
              <a:avLst/>
              <a:gdLst>
                <a:gd name="T0" fmla="*/ 15 w 41"/>
                <a:gd name="T1" fmla="*/ 0 h 41"/>
                <a:gd name="T2" fmla="*/ 41 w 41"/>
                <a:gd name="T3" fmla="*/ 15 h 41"/>
                <a:gd name="T4" fmla="*/ 26 w 41"/>
                <a:gd name="T5" fmla="*/ 41 h 41"/>
                <a:gd name="T6" fmla="*/ 0 w 41"/>
                <a:gd name="T7" fmla="*/ 26 h 41"/>
                <a:gd name="T8" fmla="*/ 15 w 41"/>
                <a:gd name="T9" fmla="*/ 0 h 41"/>
              </a:gdLst>
              <a:ahLst/>
              <a:cxnLst>
                <a:cxn ang="0">
                  <a:pos x="T0" y="T1"/>
                </a:cxn>
                <a:cxn ang="0">
                  <a:pos x="T2" y="T3"/>
                </a:cxn>
                <a:cxn ang="0">
                  <a:pos x="T4" y="T5"/>
                </a:cxn>
                <a:cxn ang="0">
                  <a:pos x="T6" y="T7"/>
                </a:cxn>
                <a:cxn ang="0">
                  <a:pos x="T8" y="T9"/>
                </a:cxn>
              </a:cxnLst>
              <a:rect l="0" t="0" r="r" b="b"/>
              <a:pathLst>
                <a:path w="41" h="41">
                  <a:moveTo>
                    <a:pt x="15" y="0"/>
                  </a:moveTo>
                  <a:lnTo>
                    <a:pt x="41" y="15"/>
                  </a:lnTo>
                  <a:lnTo>
                    <a:pt x="26" y="41"/>
                  </a:lnTo>
                  <a:lnTo>
                    <a:pt x="0" y="26"/>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5" name="Freeform 22">
              <a:extLst>
                <a:ext uri="{FF2B5EF4-FFF2-40B4-BE49-F238E27FC236}">
                  <a16:creationId xmlns:a16="http://schemas.microsoft.com/office/drawing/2014/main" id="{DB335AC6-272C-D5A7-DA9C-4264BF493EB2}"/>
                </a:ext>
              </a:extLst>
            </p:cNvPr>
            <p:cNvSpPr>
              <a:spLocks/>
            </p:cNvSpPr>
            <p:nvPr/>
          </p:nvSpPr>
          <p:spPr bwMode="auto">
            <a:xfrm>
              <a:off x="10712826" y="3110764"/>
              <a:ext cx="144463" cy="144463"/>
            </a:xfrm>
            <a:custGeom>
              <a:avLst/>
              <a:gdLst>
                <a:gd name="T0" fmla="*/ 61 w 91"/>
                <a:gd name="T1" fmla="*/ 30 h 91"/>
                <a:gd name="T2" fmla="*/ 61 w 91"/>
                <a:gd name="T3" fmla="*/ 0 h 91"/>
                <a:gd name="T4" fmla="*/ 30 w 91"/>
                <a:gd name="T5" fmla="*/ 0 h 91"/>
                <a:gd name="T6" fmla="*/ 30 w 91"/>
                <a:gd name="T7" fmla="*/ 30 h 91"/>
                <a:gd name="T8" fmla="*/ 0 w 91"/>
                <a:gd name="T9" fmla="*/ 30 h 91"/>
                <a:gd name="T10" fmla="*/ 0 w 91"/>
                <a:gd name="T11" fmla="*/ 61 h 91"/>
                <a:gd name="T12" fmla="*/ 30 w 91"/>
                <a:gd name="T13" fmla="*/ 61 h 91"/>
                <a:gd name="T14" fmla="*/ 30 w 91"/>
                <a:gd name="T15" fmla="*/ 91 h 91"/>
                <a:gd name="T16" fmla="*/ 61 w 91"/>
                <a:gd name="T17" fmla="*/ 91 h 91"/>
                <a:gd name="T18" fmla="*/ 61 w 91"/>
                <a:gd name="T19" fmla="*/ 61 h 91"/>
                <a:gd name="T20" fmla="*/ 91 w 91"/>
                <a:gd name="T21" fmla="*/ 61 h 91"/>
                <a:gd name="T22" fmla="*/ 91 w 91"/>
                <a:gd name="T23" fmla="*/ 30 h 91"/>
                <a:gd name="T24" fmla="*/ 61 w 91"/>
                <a:gd name="T25"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30"/>
                  </a:moveTo>
                  <a:lnTo>
                    <a:pt x="61" y="0"/>
                  </a:lnTo>
                  <a:lnTo>
                    <a:pt x="30" y="0"/>
                  </a:lnTo>
                  <a:lnTo>
                    <a:pt x="30" y="30"/>
                  </a:lnTo>
                  <a:lnTo>
                    <a:pt x="0" y="30"/>
                  </a:lnTo>
                  <a:lnTo>
                    <a:pt x="0" y="61"/>
                  </a:lnTo>
                  <a:lnTo>
                    <a:pt x="30" y="61"/>
                  </a:lnTo>
                  <a:lnTo>
                    <a:pt x="30" y="91"/>
                  </a:lnTo>
                  <a:lnTo>
                    <a:pt x="61" y="91"/>
                  </a:lnTo>
                  <a:lnTo>
                    <a:pt x="61" y="61"/>
                  </a:lnTo>
                  <a:lnTo>
                    <a:pt x="91" y="61"/>
                  </a:lnTo>
                  <a:lnTo>
                    <a:pt x="91" y="30"/>
                  </a:lnTo>
                  <a:lnTo>
                    <a:pt x="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6" name="Freeform 23">
              <a:extLst>
                <a:ext uri="{FF2B5EF4-FFF2-40B4-BE49-F238E27FC236}">
                  <a16:creationId xmlns:a16="http://schemas.microsoft.com/office/drawing/2014/main" id="{5E9ED37F-17EE-5E66-D1E8-92CFB9C8ED18}"/>
                </a:ext>
              </a:extLst>
            </p:cNvPr>
            <p:cNvSpPr>
              <a:spLocks/>
            </p:cNvSpPr>
            <p:nvPr/>
          </p:nvSpPr>
          <p:spPr bwMode="auto">
            <a:xfrm>
              <a:off x="10928351" y="2243138"/>
              <a:ext cx="144463" cy="144463"/>
            </a:xfrm>
            <a:custGeom>
              <a:avLst/>
              <a:gdLst>
                <a:gd name="T0" fmla="*/ 30 w 91"/>
                <a:gd name="T1" fmla="*/ 91 h 91"/>
                <a:gd name="T2" fmla="*/ 61 w 91"/>
                <a:gd name="T3" fmla="*/ 91 h 91"/>
                <a:gd name="T4" fmla="*/ 61 w 91"/>
                <a:gd name="T5" fmla="*/ 61 h 91"/>
                <a:gd name="T6" fmla="*/ 91 w 91"/>
                <a:gd name="T7" fmla="*/ 61 h 91"/>
                <a:gd name="T8" fmla="*/ 91 w 91"/>
                <a:gd name="T9" fmla="*/ 30 h 91"/>
                <a:gd name="T10" fmla="*/ 61 w 91"/>
                <a:gd name="T11" fmla="*/ 30 h 91"/>
                <a:gd name="T12" fmla="*/ 61 w 91"/>
                <a:gd name="T13" fmla="*/ 0 h 91"/>
                <a:gd name="T14" fmla="*/ 30 w 91"/>
                <a:gd name="T15" fmla="*/ 0 h 91"/>
                <a:gd name="T16" fmla="*/ 30 w 91"/>
                <a:gd name="T17" fmla="*/ 30 h 91"/>
                <a:gd name="T18" fmla="*/ 0 w 91"/>
                <a:gd name="T19" fmla="*/ 30 h 91"/>
                <a:gd name="T20" fmla="*/ 0 w 91"/>
                <a:gd name="T21" fmla="*/ 61 h 91"/>
                <a:gd name="T22" fmla="*/ 30 w 91"/>
                <a:gd name="T23" fmla="*/ 61 h 91"/>
                <a:gd name="T24" fmla="*/ 30 w 91"/>
                <a:gd name="T25"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30" y="91"/>
                  </a:moveTo>
                  <a:lnTo>
                    <a:pt x="61" y="91"/>
                  </a:lnTo>
                  <a:lnTo>
                    <a:pt x="61" y="61"/>
                  </a:lnTo>
                  <a:lnTo>
                    <a:pt x="91" y="61"/>
                  </a:lnTo>
                  <a:lnTo>
                    <a:pt x="91" y="30"/>
                  </a:lnTo>
                  <a:lnTo>
                    <a:pt x="61" y="30"/>
                  </a:lnTo>
                  <a:lnTo>
                    <a:pt x="61" y="0"/>
                  </a:lnTo>
                  <a:lnTo>
                    <a:pt x="30" y="0"/>
                  </a:lnTo>
                  <a:lnTo>
                    <a:pt x="30" y="30"/>
                  </a:lnTo>
                  <a:lnTo>
                    <a:pt x="0" y="30"/>
                  </a:lnTo>
                  <a:lnTo>
                    <a:pt x="0" y="61"/>
                  </a:lnTo>
                  <a:lnTo>
                    <a:pt x="30" y="6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7" name="Freeform 24">
              <a:extLst>
                <a:ext uri="{FF2B5EF4-FFF2-40B4-BE49-F238E27FC236}">
                  <a16:creationId xmlns:a16="http://schemas.microsoft.com/office/drawing/2014/main" id="{7D040815-F67E-ECFC-8C44-07A2AA641677}"/>
                </a:ext>
              </a:extLst>
            </p:cNvPr>
            <p:cNvSpPr>
              <a:spLocks/>
            </p:cNvSpPr>
            <p:nvPr/>
          </p:nvSpPr>
          <p:spPr bwMode="auto">
            <a:xfrm>
              <a:off x="9818688" y="2628901"/>
              <a:ext cx="144463" cy="144463"/>
            </a:xfrm>
            <a:custGeom>
              <a:avLst/>
              <a:gdLst>
                <a:gd name="T0" fmla="*/ 61 w 91"/>
                <a:gd name="T1" fmla="*/ 0 h 91"/>
                <a:gd name="T2" fmla="*/ 30 w 91"/>
                <a:gd name="T3" fmla="*/ 0 h 91"/>
                <a:gd name="T4" fmla="*/ 30 w 91"/>
                <a:gd name="T5" fmla="*/ 30 h 91"/>
                <a:gd name="T6" fmla="*/ 0 w 91"/>
                <a:gd name="T7" fmla="*/ 30 h 91"/>
                <a:gd name="T8" fmla="*/ 0 w 91"/>
                <a:gd name="T9" fmla="*/ 60 h 91"/>
                <a:gd name="T10" fmla="*/ 30 w 91"/>
                <a:gd name="T11" fmla="*/ 60 h 91"/>
                <a:gd name="T12" fmla="*/ 30 w 91"/>
                <a:gd name="T13" fmla="*/ 91 h 91"/>
                <a:gd name="T14" fmla="*/ 61 w 91"/>
                <a:gd name="T15" fmla="*/ 91 h 91"/>
                <a:gd name="T16" fmla="*/ 61 w 91"/>
                <a:gd name="T17" fmla="*/ 60 h 91"/>
                <a:gd name="T18" fmla="*/ 91 w 91"/>
                <a:gd name="T19" fmla="*/ 60 h 91"/>
                <a:gd name="T20" fmla="*/ 91 w 91"/>
                <a:gd name="T21" fmla="*/ 30 h 91"/>
                <a:gd name="T22" fmla="*/ 61 w 91"/>
                <a:gd name="T23" fmla="*/ 30 h 91"/>
                <a:gd name="T24" fmla="*/ 61 w 91"/>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0"/>
                  </a:moveTo>
                  <a:lnTo>
                    <a:pt x="30" y="0"/>
                  </a:lnTo>
                  <a:lnTo>
                    <a:pt x="30" y="30"/>
                  </a:lnTo>
                  <a:lnTo>
                    <a:pt x="0" y="30"/>
                  </a:lnTo>
                  <a:lnTo>
                    <a:pt x="0" y="60"/>
                  </a:lnTo>
                  <a:lnTo>
                    <a:pt x="30" y="60"/>
                  </a:lnTo>
                  <a:lnTo>
                    <a:pt x="30" y="91"/>
                  </a:lnTo>
                  <a:lnTo>
                    <a:pt x="61" y="91"/>
                  </a:lnTo>
                  <a:lnTo>
                    <a:pt x="61" y="60"/>
                  </a:lnTo>
                  <a:lnTo>
                    <a:pt x="91" y="60"/>
                  </a:lnTo>
                  <a:lnTo>
                    <a:pt x="91" y="30"/>
                  </a:lnTo>
                  <a:lnTo>
                    <a:pt x="61" y="30"/>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8" name="Freeform 25">
              <a:extLst>
                <a:ext uri="{FF2B5EF4-FFF2-40B4-BE49-F238E27FC236}">
                  <a16:creationId xmlns:a16="http://schemas.microsoft.com/office/drawing/2014/main" id="{B9794A91-1DD0-3AE3-EA56-843B2660949A}"/>
                </a:ext>
              </a:extLst>
            </p:cNvPr>
            <p:cNvSpPr>
              <a:spLocks/>
            </p:cNvSpPr>
            <p:nvPr/>
          </p:nvSpPr>
          <p:spPr bwMode="auto">
            <a:xfrm>
              <a:off x="9986963" y="2387601"/>
              <a:ext cx="146050" cy="144463"/>
            </a:xfrm>
            <a:custGeom>
              <a:avLst/>
              <a:gdLst>
                <a:gd name="T0" fmla="*/ 92 w 92"/>
                <a:gd name="T1" fmla="*/ 31 h 91"/>
                <a:gd name="T2" fmla="*/ 62 w 92"/>
                <a:gd name="T3" fmla="*/ 31 h 91"/>
                <a:gd name="T4" fmla="*/ 62 w 92"/>
                <a:gd name="T5" fmla="*/ 0 h 91"/>
                <a:gd name="T6" fmla="*/ 30 w 92"/>
                <a:gd name="T7" fmla="*/ 0 h 91"/>
                <a:gd name="T8" fmla="*/ 30 w 92"/>
                <a:gd name="T9" fmla="*/ 31 h 91"/>
                <a:gd name="T10" fmla="*/ 0 w 92"/>
                <a:gd name="T11" fmla="*/ 31 h 91"/>
                <a:gd name="T12" fmla="*/ 0 w 92"/>
                <a:gd name="T13" fmla="*/ 61 h 91"/>
                <a:gd name="T14" fmla="*/ 30 w 92"/>
                <a:gd name="T15" fmla="*/ 61 h 91"/>
                <a:gd name="T16" fmla="*/ 30 w 92"/>
                <a:gd name="T17" fmla="*/ 91 h 91"/>
                <a:gd name="T18" fmla="*/ 62 w 92"/>
                <a:gd name="T19" fmla="*/ 91 h 91"/>
                <a:gd name="T20" fmla="*/ 62 w 92"/>
                <a:gd name="T21" fmla="*/ 61 h 91"/>
                <a:gd name="T22" fmla="*/ 92 w 92"/>
                <a:gd name="T23" fmla="*/ 61 h 91"/>
                <a:gd name="T24" fmla="*/ 92 w 92"/>
                <a:gd name="T25" fmla="*/ 3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92" y="31"/>
                  </a:moveTo>
                  <a:lnTo>
                    <a:pt x="62" y="31"/>
                  </a:lnTo>
                  <a:lnTo>
                    <a:pt x="62" y="0"/>
                  </a:lnTo>
                  <a:lnTo>
                    <a:pt x="30" y="0"/>
                  </a:lnTo>
                  <a:lnTo>
                    <a:pt x="30" y="31"/>
                  </a:lnTo>
                  <a:lnTo>
                    <a:pt x="0" y="31"/>
                  </a:lnTo>
                  <a:lnTo>
                    <a:pt x="0" y="61"/>
                  </a:lnTo>
                  <a:lnTo>
                    <a:pt x="30" y="61"/>
                  </a:lnTo>
                  <a:lnTo>
                    <a:pt x="30" y="91"/>
                  </a:lnTo>
                  <a:lnTo>
                    <a:pt x="62" y="91"/>
                  </a:lnTo>
                  <a:lnTo>
                    <a:pt x="62" y="61"/>
                  </a:lnTo>
                  <a:lnTo>
                    <a:pt x="92" y="61"/>
                  </a:lnTo>
                  <a:lnTo>
                    <a:pt x="9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9" name="Freeform 26">
              <a:extLst>
                <a:ext uri="{FF2B5EF4-FFF2-40B4-BE49-F238E27FC236}">
                  <a16:creationId xmlns:a16="http://schemas.microsoft.com/office/drawing/2014/main" id="{1B2343D6-98F9-D0EB-AF6C-F9EDD1B601FE}"/>
                </a:ext>
              </a:extLst>
            </p:cNvPr>
            <p:cNvSpPr>
              <a:spLocks/>
            </p:cNvSpPr>
            <p:nvPr/>
          </p:nvSpPr>
          <p:spPr bwMode="auto">
            <a:xfrm>
              <a:off x="10109201" y="2868613"/>
              <a:ext cx="144463" cy="146050"/>
            </a:xfrm>
            <a:custGeom>
              <a:avLst/>
              <a:gdLst>
                <a:gd name="T0" fmla="*/ 60 w 91"/>
                <a:gd name="T1" fmla="*/ 92 h 92"/>
                <a:gd name="T2" fmla="*/ 60 w 91"/>
                <a:gd name="T3" fmla="*/ 61 h 92"/>
                <a:gd name="T4" fmla="*/ 91 w 91"/>
                <a:gd name="T5" fmla="*/ 61 h 92"/>
                <a:gd name="T6" fmla="*/ 91 w 91"/>
                <a:gd name="T7" fmla="*/ 30 h 92"/>
                <a:gd name="T8" fmla="*/ 60 w 91"/>
                <a:gd name="T9" fmla="*/ 30 h 92"/>
                <a:gd name="T10" fmla="*/ 60 w 91"/>
                <a:gd name="T11" fmla="*/ 0 h 92"/>
                <a:gd name="T12" fmla="*/ 30 w 91"/>
                <a:gd name="T13" fmla="*/ 0 h 92"/>
                <a:gd name="T14" fmla="*/ 30 w 91"/>
                <a:gd name="T15" fmla="*/ 30 h 92"/>
                <a:gd name="T16" fmla="*/ 0 w 91"/>
                <a:gd name="T17" fmla="*/ 30 h 92"/>
                <a:gd name="T18" fmla="*/ 0 w 91"/>
                <a:gd name="T19" fmla="*/ 61 h 92"/>
                <a:gd name="T20" fmla="*/ 30 w 91"/>
                <a:gd name="T21" fmla="*/ 61 h 92"/>
                <a:gd name="T22" fmla="*/ 30 w 91"/>
                <a:gd name="T23" fmla="*/ 92 h 92"/>
                <a:gd name="T24" fmla="*/ 60 w 91"/>
                <a:gd name="T25"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2">
                  <a:moveTo>
                    <a:pt x="60" y="92"/>
                  </a:moveTo>
                  <a:lnTo>
                    <a:pt x="60" y="61"/>
                  </a:lnTo>
                  <a:lnTo>
                    <a:pt x="91" y="61"/>
                  </a:lnTo>
                  <a:lnTo>
                    <a:pt x="91" y="30"/>
                  </a:lnTo>
                  <a:lnTo>
                    <a:pt x="60" y="30"/>
                  </a:lnTo>
                  <a:lnTo>
                    <a:pt x="60" y="0"/>
                  </a:lnTo>
                  <a:lnTo>
                    <a:pt x="30" y="0"/>
                  </a:lnTo>
                  <a:lnTo>
                    <a:pt x="30" y="30"/>
                  </a:lnTo>
                  <a:lnTo>
                    <a:pt x="0" y="30"/>
                  </a:lnTo>
                  <a:lnTo>
                    <a:pt x="0" y="61"/>
                  </a:lnTo>
                  <a:lnTo>
                    <a:pt x="30" y="61"/>
                  </a:lnTo>
                  <a:lnTo>
                    <a:pt x="30" y="92"/>
                  </a:lnTo>
                  <a:lnTo>
                    <a:pt x="60"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0" name="Freeform 27">
              <a:extLst>
                <a:ext uri="{FF2B5EF4-FFF2-40B4-BE49-F238E27FC236}">
                  <a16:creationId xmlns:a16="http://schemas.microsoft.com/office/drawing/2014/main" id="{1FA372E8-49DD-EEB1-C599-C045E1340DB7}"/>
                </a:ext>
              </a:extLst>
            </p:cNvPr>
            <p:cNvSpPr>
              <a:spLocks/>
            </p:cNvSpPr>
            <p:nvPr/>
          </p:nvSpPr>
          <p:spPr bwMode="auto">
            <a:xfrm>
              <a:off x="10952163" y="2747963"/>
              <a:ext cx="146050" cy="144463"/>
            </a:xfrm>
            <a:custGeom>
              <a:avLst/>
              <a:gdLst>
                <a:gd name="T0" fmla="*/ 61 w 92"/>
                <a:gd name="T1" fmla="*/ 0 h 91"/>
                <a:gd name="T2" fmla="*/ 30 w 92"/>
                <a:gd name="T3" fmla="*/ 0 h 91"/>
                <a:gd name="T4" fmla="*/ 30 w 92"/>
                <a:gd name="T5" fmla="*/ 31 h 91"/>
                <a:gd name="T6" fmla="*/ 0 w 92"/>
                <a:gd name="T7" fmla="*/ 31 h 91"/>
                <a:gd name="T8" fmla="*/ 0 w 92"/>
                <a:gd name="T9" fmla="*/ 61 h 91"/>
                <a:gd name="T10" fmla="*/ 30 w 92"/>
                <a:gd name="T11" fmla="*/ 61 h 91"/>
                <a:gd name="T12" fmla="*/ 30 w 92"/>
                <a:gd name="T13" fmla="*/ 91 h 91"/>
                <a:gd name="T14" fmla="*/ 61 w 92"/>
                <a:gd name="T15" fmla="*/ 91 h 91"/>
                <a:gd name="T16" fmla="*/ 61 w 92"/>
                <a:gd name="T17" fmla="*/ 61 h 91"/>
                <a:gd name="T18" fmla="*/ 92 w 92"/>
                <a:gd name="T19" fmla="*/ 61 h 91"/>
                <a:gd name="T20" fmla="*/ 92 w 92"/>
                <a:gd name="T21" fmla="*/ 31 h 91"/>
                <a:gd name="T22" fmla="*/ 61 w 92"/>
                <a:gd name="T23" fmla="*/ 31 h 91"/>
                <a:gd name="T24" fmla="*/ 61 w 92"/>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61" y="0"/>
                  </a:moveTo>
                  <a:lnTo>
                    <a:pt x="30" y="0"/>
                  </a:lnTo>
                  <a:lnTo>
                    <a:pt x="30" y="31"/>
                  </a:lnTo>
                  <a:lnTo>
                    <a:pt x="0" y="31"/>
                  </a:lnTo>
                  <a:lnTo>
                    <a:pt x="0" y="61"/>
                  </a:lnTo>
                  <a:lnTo>
                    <a:pt x="30" y="61"/>
                  </a:lnTo>
                  <a:lnTo>
                    <a:pt x="30" y="91"/>
                  </a:lnTo>
                  <a:lnTo>
                    <a:pt x="61" y="91"/>
                  </a:lnTo>
                  <a:lnTo>
                    <a:pt x="61" y="61"/>
                  </a:lnTo>
                  <a:lnTo>
                    <a:pt x="92" y="61"/>
                  </a:lnTo>
                  <a:lnTo>
                    <a:pt x="92" y="31"/>
                  </a:lnTo>
                  <a:lnTo>
                    <a:pt x="61" y="31"/>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61" name="Group 60">
            <a:extLst>
              <a:ext uri="{FF2B5EF4-FFF2-40B4-BE49-F238E27FC236}">
                <a16:creationId xmlns:a16="http://schemas.microsoft.com/office/drawing/2014/main" id="{EF556333-D104-E7ED-F73B-CEB17B3FC4F1}"/>
              </a:ext>
            </a:extLst>
          </p:cNvPr>
          <p:cNvGrpSpPr/>
          <p:nvPr/>
        </p:nvGrpSpPr>
        <p:grpSpPr>
          <a:xfrm>
            <a:off x="613951" y="1458494"/>
            <a:ext cx="349688" cy="349688"/>
            <a:chOff x="8089901" y="3478213"/>
            <a:chExt cx="1125538" cy="1125537"/>
          </a:xfrm>
          <a:solidFill>
            <a:schemeClr val="tx1">
              <a:lumMod val="90000"/>
              <a:lumOff val="10000"/>
            </a:schemeClr>
          </a:solidFill>
        </p:grpSpPr>
        <p:sp>
          <p:nvSpPr>
            <p:cNvPr id="62" name="Freeform 31">
              <a:extLst>
                <a:ext uri="{FF2B5EF4-FFF2-40B4-BE49-F238E27FC236}">
                  <a16:creationId xmlns:a16="http://schemas.microsoft.com/office/drawing/2014/main" id="{A2B08611-D421-F01C-DB51-FFE17C264EB5}"/>
                </a:ext>
              </a:extLst>
            </p:cNvPr>
            <p:cNvSpPr>
              <a:spLocks noEditPoints="1"/>
            </p:cNvSpPr>
            <p:nvPr/>
          </p:nvSpPr>
          <p:spPr bwMode="auto">
            <a:xfrm>
              <a:off x="8089901" y="3478213"/>
              <a:ext cx="936625" cy="1125537"/>
            </a:xfrm>
            <a:custGeom>
              <a:avLst/>
              <a:gdLst>
                <a:gd name="T0" fmla="*/ 1623 w 1708"/>
                <a:gd name="T1" fmla="*/ 1952 h 2059"/>
                <a:gd name="T2" fmla="*/ 1602 w 1708"/>
                <a:gd name="T3" fmla="*/ 1973 h 2059"/>
                <a:gd name="T4" fmla="*/ 280 w 1708"/>
                <a:gd name="T5" fmla="*/ 1973 h 2059"/>
                <a:gd name="T6" fmla="*/ 257 w 1708"/>
                <a:gd name="T7" fmla="*/ 1954 h 2059"/>
                <a:gd name="T8" fmla="*/ 257 w 1708"/>
                <a:gd name="T9" fmla="*/ 1952 h 2059"/>
                <a:gd name="T10" fmla="*/ 257 w 1708"/>
                <a:gd name="T11" fmla="*/ 142 h 2059"/>
                <a:gd name="T12" fmla="*/ 250 w 1708"/>
                <a:gd name="T13" fmla="*/ 95 h 2059"/>
                <a:gd name="T14" fmla="*/ 1566 w 1708"/>
                <a:gd name="T15" fmla="*/ 95 h 2059"/>
                <a:gd name="T16" fmla="*/ 1623 w 1708"/>
                <a:gd name="T17" fmla="*/ 153 h 2059"/>
                <a:gd name="T18" fmla="*/ 1623 w 1708"/>
                <a:gd name="T19" fmla="*/ 153 h 2059"/>
                <a:gd name="T20" fmla="*/ 1623 w 1708"/>
                <a:gd name="T21" fmla="*/ 906 h 2059"/>
                <a:gd name="T22" fmla="*/ 1708 w 1708"/>
                <a:gd name="T23" fmla="*/ 906 h 2059"/>
                <a:gd name="T24" fmla="*/ 1708 w 1708"/>
                <a:gd name="T25" fmla="*/ 153 h 2059"/>
                <a:gd name="T26" fmla="*/ 1566 w 1708"/>
                <a:gd name="T27" fmla="*/ 10 h 2059"/>
                <a:gd name="T28" fmla="*/ 162 w 1708"/>
                <a:gd name="T29" fmla="*/ 10 h 2059"/>
                <a:gd name="T30" fmla="*/ 64 w 1708"/>
                <a:gd name="T31" fmla="*/ 25 h 2059"/>
                <a:gd name="T32" fmla="*/ 1 w 1708"/>
                <a:gd name="T33" fmla="*/ 147 h 2059"/>
                <a:gd name="T34" fmla="*/ 1 w 1708"/>
                <a:gd name="T35" fmla="*/ 458 h 2059"/>
                <a:gd name="T36" fmla="*/ 101 w 1708"/>
                <a:gd name="T37" fmla="*/ 565 h 2059"/>
                <a:gd name="T38" fmla="*/ 101 w 1708"/>
                <a:gd name="T39" fmla="*/ 565 h 2059"/>
                <a:gd name="T40" fmla="*/ 172 w 1708"/>
                <a:gd name="T41" fmla="*/ 565 h 2059"/>
                <a:gd name="T42" fmla="*/ 172 w 1708"/>
                <a:gd name="T43" fmla="*/ 1952 h 2059"/>
                <a:gd name="T44" fmla="*/ 278 w 1708"/>
                <a:gd name="T45" fmla="*/ 2058 h 2059"/>
                <a:gd name="T46" fmla="*/ 1601 w 1708"/>
                <a:gd name="T47" fmla="*/ 2058 h 2059"/>
                <a:gd name="T48" fmla="*/ 1708 w 1708"/>
                <a:gd name="T49" fmla="*/ 1954 h 2059"/>
                <a:gd name="T50" fmla="*/ 1708 w 1708"/>
                <a:gd name="T51" fmla="*/ 1952 h 2059"/>
                <a:gd name="T52" fmla="*/ 1708 w 1708"/>
                <a:gd name="T53" fmla="*/ 1589 h 2059"/>
                <a:gd name="T54" fmla="*/ 1623 w 1708"/>
                <a:gd name="T55" fmla="*/ 1589 h 2059"/>
                <a:gd name="T56" fmla="*/ 1623 w 1708"/>
                <a:gd name="T57" fmla="*/ 1952 h 2059"/>
                <a:gd name="T58" fmla="*/ 172 w 1708"/>
                <a:gd name="T59" fmla="*/ 479 h 2059"/>
                <a:gd name="T60" fmla="*/ 101 w 1708"/>
                <a:gd name="T61" fmla="*/ 479 h 2059"/>
                <a:gd name="T62" fmla="*/ 87 w 1708"/>
                <a:gd name="T63" fmla="*/ 459 h 2059"/>
                <a:gd name="T64" fmla="*/ 87 w 1708"/>
                <a:gd name="T65" fmla="*/ 147 h 2059"/>
                <a:gd name="T66" fmla="*/ 111 w 1708"/>
                <a:gd name="T67" fmla="*/ 95 h 2059"/>
                <a:gd name="T68" fmla="*/ 129 w 1708"/>
                <a:gd name="T69" fmla="*/ 90 h 2059"/>
                <a:gd name="T70" fmla="*/ 129 w 1708"/>
                <a:gd name="T71" fmla="*/ 95 h 2059"/>
                <a:gd name="T72" fmla="*/ 147 w 1708"/>
                <a:gd name="T73" fmla="*/ 95 h 2059"/>
                <a:gd name="T74" fmla="*/ 172 w 1708"/>
                <a:gd name="T75" fmla="*/ 142 h 2059"/>
                <a:gd name="T76" fmla="*/ 172 w 1708"/>
                <a:gd name="T77" fmla="*/ 479 h 2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08" h="2059">
                  <a:moveTo>
                    <a:pt x="1623" y="1952"/>
                  </a:moveTo>
                  <a:cubicBezTo>
                    <a:pt x="1623" y="1963"/>
                    <a:pt x="1614" y="1973"/>
                    <a:pt x="1602" y="1973"/>
                  </a:cubicBezTo>
                  <a:cubicBezTo>
                    <a:pt x="280" y="1973"/>
                    <a:pt x="280" y="1973"/>
                    <a:pt x="280" y="1973"/>
                  </a:cubicBezTo>
                  <a:cubicBezTo>
                    <a:pt x="268" y="1974"/>
                    <a:pt x="258" y="1965"/>
                    <a:pt x="257" y="1954"/>
                  </a:cubicBezTo>
                  <a:cubicBezTo>
                    <a:pt x="257" y="1953"/>
                    <a:pt x="257" y="1953"/>
                    <a:pt x="257" y="1952"/>
                  </a:cubicBezTo>
                  <a:cubicBezTo>
                    <a:pt x="257" y="142"/>
                    <a:pt x="257" y="142"/>
                    <a:pt x="257" y="142"/>
                  </a:cubicBezTo>
                  <a:cubicBezTo>
                    <a:pt x="257" y="126"/>
                    <a:pt x="255" y="110"/>
                    <a:pt x="250" y="95"/>
                  </a:cubicBezTo>
                  <a:cubicBezTo>
                    <a:pt x="1566" y="95"/>
                    <a:pt x="1566" y="95"/>
                    <a:pt x="1566" y="95"/>
                  </a:cubicBezTo>
                  <a:cubicBezTo>
                    <a:pt x="1598" y="96"/>
                    <a:pt x="1623" y="121"/>
                    <a:pt x="1623" y="153"/>
                  </a:cubicBezTo>
                  <a:cubicBezTo>
                    <a:pt x="1623" y="153"/>
                    <a:pt x="1623" y="153"/>
                    <a:pt x="1623" y="153"/>
                  </a:cubicBezTo>
                  <a:cubicBezTo>
                    <a:pt x="1623" y="906"/>
                    <a:pt x="1623" y="906"/>
                    <a:pt x="1623" y="906"/>
                  </a:cubicBezTo>
                  <a:cubicBezTo>
                    <a:pt x="1708" y="906"/>
                    <a:pt x="1708" y="906"/>
                    <a:pt x="1708" y="906"/>
                  </a:cubicBezTo>
                  <a:cubicBezTo>
                    <a:pt x="1708" y="153"/>
                    <a:pt x="1708" y="153"/>
                    <a:pt x="1708" y="153"/>
                  </a:cubicBezTo>
                  <a:cubicBezTo>
                    <a:pt x="1708" y="75"/>
                    <a:pt x="1645" y="10"/>
                    <a:pt x="1566" y="10"/>
                  </a:cubicBezTo>
                  <a:cubicBezTo>
                    <a:pt x="162" y="10"/>
                    <a:pt x="162" y="10"/>
                    <a:pt x="162" y="10"/>
                  </a:cubicBezTo>
                  <a:cubicBezTo>
                    <a:pt x="129" y="0"/>
                    <a:pt x="93" y="6"/>
                    <a:pt x="64" y="25"/>
                  </a:cubicBezTo>
                  <a:cubicBezTo>
                    <a:pt x="24" y="53"/>
                    <a:pt x="1" y="99"/>
                    <a:pt x="1" y="147"/>
                  </a:cubicBezTo>
                  <a:cubicBezTo>
                    <a:pt x="1" y="458"/>
                    <a:pt x="1" y="458"/>
                    <a:pt x="1" y="458"/>
                  </a:cubicBezTo>
                  <a:cubicBezTo>
                    <a:pt x="0" y="515"/>
                    <a:pt x="44" y="563"/>
                    <a:pt x="101" y="565"/>
                  </a:cubicBezTo>
                  <a:cubicBezTo>
                    <a:pt x="101" y="565"/>
                    <a:pt x="101" y="565"/>
                    <a:pt x="101" y="565"/>
                  </a:cubicBezTo>
                  <a:cubicBezTo>
                    <a:pt x="172" y="565"/>
                    <a:pt x="172" y="565"/>
                    <a:pt x="172" y="565"/>
                  </a:cubicBezTo>
                  <a:cubicBezTo>
                    <a:pt x="172" y="1952"/>
                    <a:pt x="172" y="1952"/>
                    <a:pt x="172" y="1952"/>
                  </a:cubicBezTo>
                  <a:cubicBezTo>
                    <a:pt x="172" y="2011"/>
                    <a:pt x="219" y="2058"/>
                    <a:pt x="278" y="2058"/>
                  </a:cubicBezTo>
                  <a:cubicBezTo>
                    <a:pt x="1601" y="2058"/>
                    <a:pt x="1601" y="2058"/>
                    <a:pt x="1601" y="2058"/>
                  </a:cubicBezTo>
                  <a:cubicBezTo>
                    <a:pt x="1659" y="2059"/>
                    <a:pt x="1707" y="2012"/>
                    <a:pt x="1708" y="1954"/>
                  </a:cubicBezTo>
                  <a:cubicBezTo>
                    <a:pt x="1708" y="1953"/>
                    <a:pt x="1708" y="1953"/>
                    <a:pt x="1708" y="1952"/>
                  </a:cubicBezTo>
                  <a:cubicBezTo>
                    <a:pt x="1708" y="1589"/>
                    <a:pt x="1708" y="1589"/>
                    <a:pt x="1708" y="1589"/>
                  </a:cubicBezTo>
                  <a:cubicBezTo>
                    <a:pt x="1623" y="1589"/>
                    <a:pt x="1623" y="1589"/>
                    <a:pt x="1623" y="1589"/>
                  </a:cubicBezTo>
                  <a:lnTo>
                    <a:pt x="1623" y="1952"/>
                  </a:lnTo>
                  <a:close/>
                  <a:moveTo>
                    <a:pt x="172" y="479"/>
                  </a:moveTo>
                  <a:cubicBezTo>
                    <a:pt x="101" y="479"/>
                    <a:pt x="101" y="479"/>
                    <a:pt x="101" y="479"/>
                  </a:cubicBezTo>
                  <a:cubicBezTo>
                    <a:pt x="94" y="479"/>
                    <a:pt x="87" y="471"/>
                    <a:pt x="87" y="459"/>
                  </a:cubicBezTo>
                  <a:cubicBezTo>
                    <a:pt x="87" y="147"/>
                    <a:pt x="87" y="147"/>
                    <a:pt x="87" y="147"/>
                  </a:cubicBezTo>
                  <a:cubicBezTo>
                    <a:pt x="86" y="127"/>
                    <a:pt x="95" y="108"/>
                    <a:pt x="111" y="95"/>
                  </a:cubicBezTo>
                  <a:cubicBezTo>
                    <a:pt x="116" y="92"/>
                    <a:pt x="123" y="90"/>
                    <a:pt x="129" y="90"/>
                  </a:cubicBezTo>
                  <a:cubicBezTo>
                    <a:pt x="129" y="95"/>
                    <a:pt x="129" y="95"/>
                    <a:pt x="129" y="95"/>
                  </a:cubicBezTo>
                  <a:cubicBezTo>
                    <a:pt x="147" y="95"/>
                    <a:pt x="147" y="95"/>
                    <a:pt x="147" y="95"/>
                  </a:cubicBezTo>
                  <a:cubicBezTo>
                    <a:pt x="163" y="105"/>
                    <a:pt x="173" y="123"/>
                    <a:pt x="172" y="142"/>
                  </a:cubicBezTo>
                  <a:cubicBezTo>
                    <a:pt x="172" y="479"/>
                    <a:pt x="172" y="479"/>
                    <a:pt x="172" y="4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3" name="Freeform 32">
              <a:extLst>
                <a:ext uri="{FF2B5EF4-FFF2-40B4-BE49-F238E27FC236}">
                  <a16:creationId xmlns:a16="http://schemas.microsoft.com/office/drawing/2014/main" id="{6D2DF355-CFB7-802F-09E8-0F524274BB3B}"/>
                </a:ext>
              </a:extLst>
            </p:cNvPr>
            <p:cNvSpPr>
              <a:spLocks noEditPoints="1"/>
            </p:cNvSpPr>
            <p:nvPr/>
          </p:nvSpPr>
          <p:spPr bwMode="auto">
            <a:xfrm>
              <a:off x="8667751" y="3948113"/>
              <a:ext cx="547688" cy="544512"/>
            </a:xfrm>
            <a:custGeom>
              <a:avLst/>
              <a:gdLst>
                <a:gd name="T0" fmla="*/ 984 w 1001"/>
                <a:gd name="T1" fmla="*/ 149 h 996"/>
                <a:gd name="T2" fmla="*/ 851 w 1001"/>
                <a:gd name="T3" fmla="*/ 16 h 996"/>
                <a:gd name="T4" fmla="*/ 791 w 1001"/>
                <a:gd name="T5" fmla="*/ 16 h 996"/>
                <a:gd name="T6" fmla="*/ 129 w 1001"/>
                <a:gd name="T7" fmla="*/ 679 h 996"/>
                <a:gd name="T8" fmla="*/ 120 w 1001"/>
                <a:gd name="T9" fmla="*/ 692 h 996"/>
                <a:gd name="T10" fmla="*/ 10 w 1001"/>
                <a:gd name="T11" fmla="*/ 935 h 996"/>
                <a:gd name="T12" fmla="*/ 31 w 1001"/>
                <a:gd name="T13" fmla="*/ 991 h 996"/>
                <a:gd name="T14" fmla="*/ 66 w 1001"/>
                <a:gd name="T15" fmla="*/ 991 h 996"/>
                <a:gd name="T16" fmla="*/ 309 w 1001"/>
                <a:gd name="T17" fmla="*/ 880 h 996"/>
                <a:gd name="T18" fmla="*/ 321 w 1001"/>
                <a:gd name="T19" fmla="*/ 872 h 996"/>
                <a:gd name="T20" fmla="*/ 984 w 1001"/>
                <a:gd name="T21" fmla="*/ 209 h 996"/>
                <a:gd name="T22" fmla="*/ 984 w 1001"/>
                <a:gd name="T23" fmla="*/ 149 h 996"/>
                <a:gd name="T24" fmla="*/ 134 w 1001"/>
                <a:gd name="T25" fmla="*/ 866 h 996"/>
                <a:gd name="T26" fmla="*/ 172 w 1001"/>
                <a:gd name="T27" fmla="*/ 781 h 996"/>
                <a:gd name="T28" fmla="*/ 218 w 1001"/>
                <a:gd name="T29" fmla="*/ 827 h 996"/>
                <a:gd name="T30" fmla="*/ 134 w 1001"/>
                <a:gd name="T31" fmla="*/ 866 h 996"/>
                <a:gd name="T32" fmla="*/ 291 w 1001"/>
                <a:gd name="T33" fmla="*/ 781 h 996"/>
                <a:gd name="T34" fmla="*/ 219 w 1001"/>
                <a:gd name="T35" fmla="*/ 709 h 996"/>
                <a:gd name="T36" fmla="*/ 667 w 1001"/>
                <a:gd name="T37" fmla="*/ 261 h 996"/>
                <a:gd name="T38" fmla="*/ 740 w 1001"/>
                <a:gd name="T39" fmla="*/ 334 h 996"/>
                <a:gd name="T40" fmla="*/ 291 w 1001"/>
                <a:gd name="T41" fmla="*/ 781 h 996"/>
                <a:gd name="T42" fmla="*/ 799 w 1001"/>
                <a:gd name="T43" fmla="*/ 273 h 996"/>
                <a:gd name="T44" fmla="*/ 727 w 1001"/>
                <a:gd name="T45" fmla="*/ 201 h 996"/>
                <a:gd name="T46" fmla="*/ 821 w 1001"/>
                <a:gd name="T47" fmla="*/ 107 h 996"/>
                <a:gd name="T48" fmla="*/ 894 w 1001"/>
                <a:gd name="T49" fmla="*/ 179 h 996"/>
                <a:gd name="T50" fmla="*/ 799 w 1001"/>
                <a:gd name="T51" fmla="*/ 27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01" h="996">
                  <a:moveTo>
                    <a:pt x="984" y="149"/>
                  </a:moveTo>
                  <a:cubicBezTo>
                    <a:pt x="851" y="16"/>
                    <a:pt x="851" y="16"/>
                    <a:pt x="851" y="16"/>
                  </a:cubicBezTo>
                  <a:cubicBezTo>
                    <a:pt x="835" y="0"/>
                    <a:pt x="808" y="0"/>
                    <a:pt x="791" y="16"/>
                  </a:cubicBezTo>
                  <a:cubicBezTo>
                    <a:pt x="129" y="679"/>
                    <a:pt x="129" y="679"/>
                    <a:pt x="129" y="679"/>
                  </a:cubicBezTo>
                  <a:cubicBezTo>
                    <a:pt x="125" y="683"/>
                    <a:pt x="122" y="687"/>
                    <a:pt x="120" y="692"/>
                  </a:cubicBezTo>
                  <a:cubicBezTo>
                    <a:pt x="10" y="935"/>
                    <a:pt x="10" y="935"/>
                    <a:pt x="10" y="935"/>
                  </a:cubicBezTo>
                  <a:cubicBezTo>
                    <a:pt x="0" y="956"/>
                    <a:pt x="10" y="981"/>
                    <a:pt x="31" y="991"/>
                  </a:cubicBezTo>
                  <a:cubicBezTo>
                    <a:pt x="42" y="996"/>
                    <a:pt x="55" y="996"/>
                    <a:pt x="66" y="991"/>
                  </a:cubicBezTo>
                  <a:cubicBezTo>
                    <a:pt x="309" y="880"/>
                    <a:pt x="309" y="880"/>
                    <a:pt x="309" y="880"/>
                  </a:cubicBezTo>
                  <a:cubicBezTo>
                    <a:pt x="313" y="878"/>
                    <a:pt x="318" y="875"/>
                    <a:pt x="321" y="872"/>
                  </a:cubicBezTo>
                  <a:cubicBezTo>
                    <a:pt x="984" y="209"/>
                    <a:pt x="984" y="209"/>
                    <a:pt x="984" y="209"/>
                  </a:cubicBezTo>
                  <a:cubicBezTo>
                    <a:pt x="1001" y="193"/>
                    <a:pt x="1001" y="166"/>
                    <a:pt x="984" y="149"/>
                  </a:cubicBezTo>
                  <a:close/>
                  <a:moveTo>
                    <a:pt x="134" y="866"/>
                  </a:moveTo>
                  <a:cubicBezTo>
                    <a:pt x="172" y="781"/>
                    <a:pt x="172" y="781"/>
                    <a:pt x="172" y="781"/>
                  </a:cubicBezTo>
                  <a:cubicBezTo>
                    <a:pt x="218" y="827"/>
                    <a:pt x="218" y="827"/>
                    <a:pt x="218" y="827"/>
                  </a:cubicBezTo>
                  <a:lnTo>
                    <a:pt x="134" y="866"/>
                  </a:lnTo>
                  <a:close/>
                  <a:moveTo>
                    <a:pt x="291" y="781"/>
                  </a:moveTo>
                  <a:cubicBezTo>
                    <a:pt x="219" y="709"/>
                    <a:pt x="219" y="709"/>
                    <a:pt x="219" y="709"/>
                  </a:cubicBezTo>
                  <a:cubicBezTo>
                    <a:pt x="667" y="261"/>
                    <a:pt x="667" y="261"/>
                    <a:pt x="667" y="261"/>
                  </a:cubicBezTo>
                  <a:cubicBezTo>
                    <a:pt x="740" y="334"/>
                    <a:pt x="740" y="334"/>
                    <a:pt x="740" y="334"/>
                  </a:cubicBezTo>
                  <a:lnTo>
                    <a:pt x="291" y="781"/>
                  </a:lnTo>
                  <a:close/>
                  <a:moveTo>
                    <a:pt x="799" y="273"/>
                  </a:moveTo>
                  <a:cubicBezTo>
                    <a:pt x="727" y="201"/>
                    <a:pt x="727" y="201"/>
                    <a:pt x="727" y="201"/>
                  </a:cubicBezTo>
                  <a:cubicBezTo>
                    <a:pt x="821" y="107"/>
                    <a:pt x="821" y="107"/>
                    <a:pt x="821" y="107"/>
                  </a:cubicBezTo>
                  <a:cubicBezTo>
                    <a:pt x="894" y="179"/>
                    <a:pt x="894" y="179"/>
                    <a:pt x="894" y="179"/>
                  </a:cubicBezTo>
                  <a:lnTo>
                    <a:pt x="799" y="2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4" name="Rectangle 33">
              <a:extLst>
                <a:ext uri="{FF2B5EF4-FFF2-40B4-BE49-F238E27FC236}">
                  <a16:creationId xmlns:a16="http://schemas.microsoft.com/office/drawing/2014/main" id="{DB56B5CE-C98B-A603-7763-1922EB326F42}"/>
                </a:ext>
              </a:extLst>
            </p:cNvPr>
            <p:cNvSpPr>
              <a:spLocks noChangeArrowheads="1"/>
            </p:cNvSpPr>
            <p:nvPr/>
          </p:nvSpPr>
          <p:spPr bwMode="auto">
            <a:xfrm>
              <a:off x="8394701" y="3646488"/>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5" name="Rectangle 34">
              <a:extLst>
                <a:ext uri="{FF2B5EF4-FFF2-40B4-BE49-F238E27FC236}">
                  <a16:creationId xmlns:a16="http://schemas.microsoft.com/office/drawing/2014/main" id="{3A6428EE-4751-4B32-1CE7-266068C7FF7A}"/>
                </a:ext>
              </a:extLst>
            </p:cNvPr>
            <p:cNvSpPr>
              <a:spLocks noChangeArrowheads="1"/>
            </p:cNvSpPr>
            <p:nvPr/>
          </p:nvSpPr>
          <p:spPr bwMode="auto">
            <a:xfrm>
              <a:off x="8394701" y="3810000"/>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6" name="Rectangle 35">
              <a:extLst>
                <a:ext uri="{FF2B5EF4-FFF2-40B4-BE49-F238E27FC236}">
                  <a16:creationId xmlns:a16="http://schemas.microsoft.com/office/drawing/2014/main" id="{F41EAB22-EE84-EEA4-597B-1894E9BED964}"/>
                </a:ext>
              </a:extLst>
            </p:cNvPr>
            <p:cNvSpPr>
              <a:spLocks noChangeArrowheads="1"/>
            </p:cNvSpPr>
            <p:nvPr/>
          </p:nvSpPr>
          <p:spPr bwMode="auto">
            <a:xfrm>
              <a:off x="8394701" y="3973513"/>
              <a:ext cx="42068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7" name="Rectangle 36">
              <a:extLst>
                <a:ext uri="{FF2B5EF4-FFF2-40B4-BE49-F238E27FC236}">
                  <a16:creationId xmlns:a16="http://schemas.microsoft.com/office/drawing/2014/main" id="{8197D69B-324F-D02B-C344-30B9329B641E}"/>
                </a:ext>
              </a:extLst>
            </p:cNvPr>
            <p:cNvSpPr>
              <a:spLocks noChangeArrowheads="1"/>
            </p:cNvSpPr>
            <p:nvPr/>
          </p:nvSpPr>
          <p:spPr bwMode="auto">
            <a:xfrm>
              <a:off x="8394701" y="4137025"/>
              <a:ext cx="1873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8" name="Rectangle 37">
              <a:extLst>
                <a:ext uri="{FF2B5EF4-FFF2-40B4-BE49-F238E27FC236}">
                  <a16:creationId xmlns:a16="http://schemas.microsoft.com/office/drawing/2014/main" id="{6452AFCC-3FBC-EB23-EB64-F9224C7E4793}"/>
                </a:ext>
              </a:extLst>
            </p:cNvPr>
            <p:cNvSpPr>
              <a:spLocks noChangeArrowheads="1"/>
            </p:cNvSpPr>
            <p:nvPr/>
          </p:nvSpPr>
          <p:spPr bwMode="auto">
            <a:xfrm>
              <a:off x="8651876" y="4137025"/>
              <a:ext cx="476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9" name="Rectangle 38">
              <a:extLst>
                <a:ext uri="{FF2B5EF4-FFF2-40B4-BE49-F238E27FC236}">
                  <a16:creationId xmlns:a16="http://schemas.microsoft.com/office/drawing/2014/main" id="{7F948573-E2A2-6317-7D83-715C4A7CBAE1}"/>
                </a:ext>
              </a:extLst>
            </p:cNvPr>
            <p:cNvSpPr>
              <a:spLocks noChangeArrowheads="1"/>
            </p:cNvSpPr>
            <p:nvPr/>
          </p:nvSpPr>
          <p:spPr bwMode="auto">
            <a:xfrm>
              <a:off x="8769351" y="4137025"/>
              <a:ext cx="4603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1033" name="Title 1">
            <a:extLst>
              <a:ext uri="{FF2B5EF4-FFF2-40B4-BE49-F238E27FC236}">
                <a16:creationId xmlns:a16="http://schemas.microsoft.com/office/drawing/2014/main" id="{7A6C8434-4A6C-BF17-D33C-2044536D108E}"/>
              </a:ext>
            </a:extLst>
          </p:cNvPr>
          <p:cNvSpPr txBox="1">
            <a:spLocks/>
          </p:cNvSpPr>
          <p:nvPr/>
        </p:nvSpPr>
        <p:spPr>
          <a:xfrm>
            <a:off x="610087" y="5499625"/>
            <a:ext cx="1763445" cy="228167"/>
          </a:xfrm>
          <a:prstGeom prst="roundRect">
            <a:avLst>
              <a:gd name="adj" fmla="val 50000"/>
            </a:avLst>
          </a:prstGeom>
          <a:no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tx1"/>
                </a:solidFill>
                <a:effectLst/>
                <a:uLnTx/>
                <a:uFillTx/>
                <a:latin typeface="Manrope SemiBold" pitchFamily="2" charset="0"/>
                <a:ea typeface="Lato" panose="020B0604020202020204" charset="0"/>
                <a:cs typeface="Lato" panose="020B0604020202020204" charset="0"/>
              </a:rPr>
              <a:t>Technology Stack</a:t>
            </a:r>
          </a:p>
        </p:txBody>
      </p:sp>
      <p:pic>
        <p:nvPicPr>
          <p:cNvPr id="1034" name="Picture 1033">
            <a:extLst>
              <a:ext uri="{FF2B5EF4-FFF2-40B4-BE49-F238E27FC236}">
                <a16:creationId xmlns:a16="http://schemas.microsoft.com/office/drawing/2014/main" id="{7323AB35-CD1B-05CF-1D0C-971107B6DCC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032" y="5730835"/>
            <a:ext cx="1690339" cy="574715"/>
          </a:xfrm>
          <a:prstGeom prst="rect">
            <a:avLst/>
          </a:prstGeom>
        </p:spPr>
      </p:pic>
      <p:pic>
        <p:nvPicPr>
          <p:cNvPr id="1035" name="Picture 30">
            <a:extLst>
              <a:ext uri="{FF2B5EF4-FFF2-40B4-BE49-F238E27FC236}">
                <a16:creationId xmlns:a16="http://schemas.microsoft.com/office/drawing/2014/main" id="{BB78153F-DE56-A913-5A25-CE270A66F0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2225" y="5772135"/>
            <a:ext cx="492114" cy="492114"/>
          </a:xfrm>
          <a:prstGeom prst="rect">
            <a:avLst/>
          </a:prstGeom>
          <a:solidFill>
            <a:schemeClr val="tx1"/>
          </a:solidFill>
          <a:ln>
            <a:noFill/>
          </a:ln>
        </p:spPr>
      </p:pic>
      <p:pic>
        <p:nvPicPr>
          <p:cNvPr id="1036" name="Picture 1035">
            <a:extLst>
              <a:ext uri="{FF2B5EF4-FFF2-40B4-BE49-F238E27FC236}">
                <a16:creationId xmlns:a16="http://schemas.microsoft.com/office/drawing/2014/main" id="{37EA1DFE-0D70-7769-2CE6-8411289B5F1E}"/>
              </a:ext>
            </a:extLst>
          </p:cNvPr>
          <p:cNvPicPr>
            <a:picLocks noChangeAspect="1"/>
          </p:cNvPicPr>
          <p:nvPr/>
        </p:nvPicPr>
        <p:blipFill>
          <a:blip r:embed="rId4"/>
          <a:stretch>
            <a:fillRect/>
          </a:stretch>
        </p:blipFill>
        <p:spPr>
          <a:xfrm>
            <a:off x="4331766" y="5825319"/>
            <a:ext cx="1660013" cy="385746"/>
          </a:xfrm>
          <a:prstGeom prst="rect">
            <a:avLst/>
          </a:prstGeom>
        </p:spPr>
      </p:pic>
      <p:pic>
        <p:nvPicPr>
          <p:cNvPr id="1037" name="Picture 1036">
            <a:extLst>
              <a:ext uri="{FF2B5EF4-FFF2-40B4-BE49-F238E27FC236}">
                <a16:creationId xmlns:a16="http://schemas.microsoft.com/office/drawing/2014/main" id="{B136C415-FC34-E894-BBEB-ACAC2E4D7BA4}"/>
              </a:ext>
            </a:extLst>
          </p:cNvPr>
          <p:cNvPicPr>
            <a:picLocks noChangeAspect="1"/>
          </p:cNvPicPr>
          <p:nvPr/>
        </p:nvPicPr>
        <p:blipFill>
          <a:blip r:embed="rId5"/>
          <a:stretch>
            <a:fillRect/>
          </a:stretch>
        </p:blipFill>
        <p:spPr>
          <a:xfrm>
            <a:off x="2786470" y="5772677"/>
            <a:ext cx="1339173" cy="491030"/>
          </a:xfrm>
          <a:prstGeom prst="rect">
            <a:avLst/>
          </a:prstGeom>
        </p:spPr>
      </p:pic>
      <p:pic>
        <p:nvPicPr>
          <p:cNvPr id="1038" name="Picture 2" descr="Microsoft Azure AD B2C - Custom Policies with Identity Experience Framework  - TechMindFactory.com">
            <a:extLst>
              <a:ext uri="{FF2B5EF4-FFF2-40B4-BE49-F238E27FC236}">
                <a16:creationId xmlns:a16="http://schemas.microsoft.com/office/drawing/2014/main" id="{7804C5E7-191C-7667-D573-4BB90BDB69E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74359" y="5774985"/>
            <a:ext cx="1005508" cy="48641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4" descr="Introduction to Microservices - Comunytek">
            <a:extLst>
              <a:ext uri="{FF2B5EF4-FFF2-40B4-BE49-F238E27FC236}">
                <a16:creationId xmlns:a16="http://schemas.microsoft.com/office/drawing/2014/main" id="{23423FCB-5CD6-0AAC-11A5-23AA314A343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39571" y="5771356"/>
            <a:ext cx="658229" cy="493672"/>
          </a:xfrm>
          <a:prstGeom prst="rect">
            <a:avLst/>
          </a:prstGeom>
          <a:noFill/>
          <a:extLst>
            <a:ext uri="{909E8E84-426E-40DD-AFC4-6F175D3DCCD1}">
              <a14:hiddenFill xmlns:a14="http://schemas.microsoft.com/office/drawing/2010/main">
                <a:solidFill>
                  <a:srgbClr val="FFFFFF"/>
                </a:solidFill>
              </a14:hiddenFill>
            </a:ext>
          </a:extLst>
        </p:spPr>
      </p:pic>
      <p:cxnSp>
        <p:nvCxnSpPr>
          <p:cNvPr id="1042" name="Straight Connector 1041">
            <a:extLst>
              <a:ext uri="{FF2B5EF4-FFF2-40B4-BE49-F238E27FC236}">
                <a16:creationId xmlns:a16="http://schemas.microsoft.com/office/drawing/2014/main" id="{1D1D8942-1D19-8C89-1D26-2F1727A7D0F4}"/>
              </a:ext>
            </a:extLst>
          </p:cNvPr>
          <p:cNvCxnSpPr>
            <a:cxnSpLocks/>
          </p:cNvCxnSpPr>
          <p:nvPr/>
        </p:nvCxnSpPr>
        <p:spPr bwMode="auto">
          <a:xfrm flipV="1">
            <a:off x="4012923" y="24663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5" name="Straight Connector 1044">
            <a:extLst>
              <a:ext uri="{FF2B5EF4-FFF2-40B4-BE49-F238E27FC236}">
                <a16:creationId xmlns:a16="http://schemas.microsoft.com/office/drawing/2014/main" id="{FA4D4283-5095-DDF8-C320-B9B33604B0D9}"/>
              </a:ext>
            </a:extLst>
          </p:cNvPr>
          <p:cNvCxnSpPr>
            <a:cxnSpLocks/>
          </p:cNvCxnSpPr>
          <p:nvPr/>
        </p:nvCxnSpPr>
        <p:spPr bwMode="auto">
          <a:xfrm flipV="1">
            <a:off x="8051523" y="24790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184651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C63B8-1217-DDF6-3283-56EB362447A3}"/>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CBD61D50-81A8-F318-D0B7-8F7B9DBE0225}"/>
              </a:ext>
            </a:extLst>
          </p:cNvPr>
          <p:cNvSpPr>
            <a:spLocks noGrp="1"/>
          </p:cNvSpPr>
          <p:nvPr>
            <p:ph type="body" sz="quarter" idx="15"/>
          </p:nvPr>
        </p:nvSpPr>
        <p:spPr>
          <a:xfrm flipH="1">
            <a:off x="623888" y="457200"/>
            <a:ext cx="8172450" cy="244101"/>
          </a:xfrm>
        </p:spPr>
        <p:txBody>
          <a:bodyPr wrap="square" lIns="0" tIns="36000" rIns="0" bIns="0" anchor="t" anchorCtr="0">
            <a:noAutofit/>
          </a:bodyPr>
          <a:lstStyle/>
          <a:p>
            <a:r>
              <a:rPr lang="en-US" dirty="0"/>
              <a:t>Case Study : Transforming advisers and end users digital experience </a:t>
            </a:r>
          </a:p>
        </p:txBody>
      </p:sp>
      <p:sp>
        <p:nvSpPr>
          <p:cNvPr id="5" name="Title 1">
            <a:extLst>
              <a:ext uri="{FF2B5EF4-FFF2-40B4-BE49-F238E27FC236}">
                <a16:creationId xmlns:a16="http://schemas.microsoft.com/office/drawing/2014/main" id="{23D853E3-5C24-1D1F-92B6-1002F0A462B2}"/>
              </a:ext>
            </a:extLst>
          </p:cNvPr>
          <p:cNvSpPr txBox="1">
            <a:spLocks/>
          </p:cNvSpPr>
          <p:nvPr/>
        </p:nvSpPr>
        <p:spPr>
          <a:xfrm>
            <a:off x="623888" y="926236"/>
            <a:ext cx="1645920" cy="365760"/>
          </a:xfrm>
          <a:prstGeom prst="rect">
            <a:avLst/>
          </a:prstGeom>
          <a:solidFill>
            <a:schemeClr val="tx2"/>
          </a:solid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pitchFamily="2" charset="0"/>
                <a:ea typeface="Lato" panose="020B0604020202020204" charset="0"/>
                <a:cs typeface="Lato" panose="020B0604020202020204" charset="0"/>
              </a:rPr>
              <a:t>About The Client</a:t>
            </a:r>
          </a:p>
        </p:txBody>
      </p:sp>
      <p:sp>
        <p:nvSpPr>
          <p:cNvPr id="7" name="Title 1">
            <a:extLst>
              <a:ext uri="{FF2B5EF4-FFF2-40B4-BE49-F238E27FC236}">
                <a16:creationId xmlns:a16="http://schemas.microsoft.com/office/drawing/2014/main" id="{C4C9B1E8-4573-589E-2BC6-7D96623AA90A}"/>
              </a:ext>
            </a:extLst>
          </p:cNvPr>
          <p:cNvSpPr txBox="1">
            <a:spLocks/>
          </p:cNvSpPr>
          <p:nvPr/>
        </p:nvSpPr>
        <p:spPr>
          <a:xfrm>
            <a:off x="2298556" y="926236"/>
            <a:ext cx="9159055" cy="365760"/>
          </a:xfrm>
          <a:prstGeom prst="rect">
            <a:avLst/>
          </a:prstGeom>
          <a:solidFill>
            <a:schemeClr val="accent1"/>
          </a:solidFill>
        </p:spPr>
        <p:txBody>
          <a:bodyPr wrap="square" lIns="18000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rPr>
              <a:t>One of the United Kingdom's largest insurance companies - LVFS </a:t>
            </a:r>
          </a:p>
        </p:txBody>
      </p:sp>
      <p:cxnSp>
        <p:nvCxnSpPr>
          <p:cNvPr id="9" name="Straight Connector 280">
            <a:extLst>
              <a:ext uri="{FF2B5EF4-FFF2-40B4-BE49-F238E27FC236}">
                <a16:creationId xmlns:a16="http://schemas.microsoft.com/office/drawing/2014/main" id="{AD8A7826-106E-4AA4-D234-44BA32FD7E59}"/>
              </a:ext>
            </a:extLst>
          </p:cNvPr>
          <p:cNvCxnSpPr>
            <a:cxnSpLocks/>
          </p:cNvCxnSpPr>
          <p:nvPr/>
        </p:nvCxnSpPr>
        <p:spPr bwMode="auto">
          <a:xfrm flipH="1">
            <a:off x="-54124" y="1754013"/>
            <a:ext cx="12192001" cy="0"/>
          </a:xfrm>
          <a:prstGeom prst="line">
            <a:avLst/>
          </a:prstGeom>
          <a:solidFill>
            <a:schemeClr val="accent1"/>
          </a:solidFill>
          <a:ln w="12700" cap="flat" cmpd="sng" algn="ctr">
            <a:gradFill flip="none" rotWithShape="1">
              <a:gsLst>
                <a:gs pos="0">
                  <a:schemeClr val="bg2">
                    <a:alpha val="0"/>
                  </a:schemeClr>
                </a:gs>
                <a:gs pos="100000">
                  <a:schemeClr val="bg2">
                    <a:alpha val="0"/>
                  </a:schemeClr>
                </a:gs>
                <a:gs pos="67000">
                  <a:schemeClr val="bg2"/>
                </a:gs>
                <a:gs pos="32000">
                  <a:schemeClr val="bg2"/>
                </a:gs>
              </a:gsLst>
              <a:lin ang="0" scaled="0"/>
              <a:tileRect/>
            </a:gradFill>
            <a:prstDash val="solid"/>
            <a:round/>
            <a:headEnd type="none" w="med" len="med"/>
            <a:tailEnd type="none" w="med" len="med"/>
          </a:ln>
          <a:effectLst/>
        </p:spPr>
      </p:cxnSp>
      <p:sp>
        <p:nvSpPr>
          <p:cNvPr id="10" name="Rectangle 9">
            <a:extLst>
              <a:ext uri="{FF2B5EF4-FFF2-40B4-BE49-F238E27FC236}">
                <a16:creationId xmlns:a16="http://schemas.microsoft.com/office/drawing/2014/main" id="{7FDEF3DF-BDFF-B72D-C41B-BA767B9CC099}"/>
              </a:ext>
            </a:extLst>
          </p:cNvPr>
          <p:cNvSpPr>
            <a:spLocks/>
          </p:cNvSpPr>
          <p:nvPr/>
        </p:nvSpPr>
        <p:spPr>
          <a:xfrm>
            <a:off x="4284729" y="1939066"/>
            <a:ext cx="3854227"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Our Solution</a:t>
            </a:r>
          </a:p>
        </p:txBody>
      </p:sp>
      <p:sp>
        <p:nvSpPr>
          <p:cNvPr id="11" name="Rectangle 10">
            <a:extLst>
              <a:ext uri="{FF2B5EF4-FFF2-40B4-BE49-F238E27FC236}">
                <a16:creationId xmlns:a16="http://schemas.microsoft.com/office/drawing/2014/main" id="{946566B1-B35B-26C7-23B0-E58A904C6906}"/>
              </a:ext>
            </a:extLst>
          </p:cNvPr>
          <p:cNvSpPr>
            <a:spLocks/>
          </p:cNvSpPr>
          <p:nvPr/>
        </p:nvSpPr>
        <p:spPr>
          <a:xfrm>
            <a:off x="610087" y="1939066"/>
            <a:ext cx="3569314"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Business Objectives</a:t>
            </a:r>
          </a:p>
        </p:txBody>
      </p:sp>
      <p:sp>
        <p:nvSpPr>
          <p:cNvPr id="12" name="Rectangle 11">
            <a:extLst>
              <a:ext uri="{FF2B5EF4-FFF2-40B4-BE49-F238E27FC236}">
                <a16:creationId xmlns:a16="http://schemas.microsoft.com/office/drawing/2014/main" id="{31107F75-EA1D-721D-9382-4DBAD933DCA2}"/>
              </a:ext>
            </a:extLst>
          </p:cNvPr>
          <p:cNvSpPr>
            <a:spLocks/>
          </p:cNvSpPr>
          <p:nvPr/>
        </p:nvSpPr>
        <p:spPr>
          <a:xfrm>
            <a:off x="8282386" y="1939066"/>
            <a:ext cx="3714469" cy="215444"/>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accent1"/>
                </a:solidFill>
                <a:effectLst/>
                <a:uLnTx/>
                <a:uFillTx/>
                <a:latin typeface="Manrope" pitchFamily="2" charset="0"/>
                <a:ea typeface="Lato" panose="020B0604020202020204" charset="0"/>
                <a:cs typeface="Lato" panose="020B0604020202020204" charset="0"/>
              </a:rPr>
              <a:t>Business Impact</a:t>
            </a:r>
          </a:p>
        </p:txBody>
      </p:sp>
      <p:sp>
        <p:nvSpPr>
          <p:cNvPr id="15" name="Text Placeholder 16">
            <a:extLst>
              <a:ext uri="{FF2B5EF4-FFF2-40B4-BE49-F238E27FC236}">
                <a16:creationId xmlns:a16="http://schemas.microsoft.com/office/drawing/2014/main" id="{DB6C9A52-3C06-5C14-A40A-D4846C2A1791}"/>
              </a:ext>
            </a:extLst>
          </p:cNvPr>
          <p:cNvSpPr txBox="1">
            <a:spLocks/>
          </p:cNvSpPr>
          <p:nvPr/>
        </p:nvSpPr>
        <p:spPr>
          <a:xfrm>
            <a:off x="8431002" y="2569244"/>
            <a:ext cx="3137111" cy="2519715"/>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marL="285750" indent="-285750">
              <a:buFont typeface="Arial" panose="020B0604020202020204" pitchFamily="34" charset="0"/>
              <a:buChar char="•"/>
              <a:defRPr sz="1400">
                <a:solidFill>
                  <a:schemeClr val="bg2">
                    <a:lumMod val="75000"/>
                  </a:schemeClr>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Consolidated real time view of the Protection Policy business processes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Reduced calls to customer care and streamlined business process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Manage lead time for advisors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Reduced customer and adviser service cost</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Single Source of Truth for policies and documents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Effective management of customer information by Advisers for seamless communication</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Enhanced end user experience with seamless self-service customer portal</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Increased Site traffic by 60% resulting in improved customer adoption for the client portal</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cxnSp>
        <p:nvCxnSpPr>
          <p:cNvPr id="16" name="Straight Connector 15">
            <a:extLst>
              <a:ext uri="{FF2B5EF4-FFF2-40B4-BE49-F238E27FC236}">
                <a16:creationId xmlns:a16="http://schemas.microsoft.com/office/drawing/2014/main" id="{7FCF8E17-4DA3-EE78-025B-600BD159E351}"/>
              </a:ext>
            </a:extLst>
          </p:cNvPr>
          <p:cNvCxnSpPr/>
          <p:nvPr/>
        </p:nvCxnSpPr>
        <p:spPr bwMode="auto">
          <a:xfrm>
            <a:off x="4296290"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A408E4AB-B832-926C-E053-F86A0F5FA056}"/>
              </a:ext>
            </a:extLst>
          </p:cNvPr>
          <p:cNvCxnSpPr>
            <a:cxnSpLocks/>
          </p:cNvCxnSpPr>
          <p:nvPr/>
        </p:nvCxnSpPr>
        <p:spPr bwMode="auto">
          <a:xfrm>
            <a:off x="4296290" y="2236308"/>
            <a:ext cx="3501510"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568FA8DA-153C-6CC3-A1EE-B2EEFA5B99DC}"/>
              </a:ext>
            </a:extLst>
          </p:cNvPr>
          <p:cNvCxnSpPr/>
          <p:nvPr/>
        </p:nvCxnSpPr>
        <p:spPr bwMode="auto">
          <a:xfrm>
            <a:off x="622787"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26D06596-3649-C9B6-F4EC-6A365C3D9827}"/>
              </a:ext>
            </a:extLst>
          </p:cNvPr>
          <p:cNvCxnSpPr>
            <a:cxnSpLocks/>
          </p:cNvCxnSpPr>
          <p:nvPr/>
        </p:nvCxnSpPr>
        <p:spPr bwMode="auto">
          <a:xfrm>
            <a:off x="622787" y="2236308"/>
            <a:ext cx="319990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E3FF4308-F18F-76E3-5896-379EC2EFFA1E}"/>
              </a:ext>
            </a:extLst>
          </p:cNvPr>
          <p:cNvCxnSpPr/>
          <p:nvPr/>
        </p:nvCxnSpPr>
        <p:spPr bwMode="auto">
          <a:xfrm>
            <a:off x="8295086"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622BAF4C-49AB-16D8-EA96-B1CFE9118F05}"/>
              </a:ext>
            </a:extLst>
          </p:cNvPr>
          <p:cNvCxnSpPr>
            <a:cxnSpLocks/>
          </p:cNvCxnSpPr>
          <p:nvPr/>
        </p:nvCxnSpPr>
        <p:spPr bwMode="auto">
          <a:xfrm>
            <a:off x="8295086" y="2236308"/>
            <a:ext cx="327302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sp>
        <p:nvSpPr>
          <p:cNvPr id="22" name="Text Placeholder 14">
            <a:extLst>
              <a:ext uri="{FF2B5EF4-FFF2-40B4-BE49-F238E27FC236}">
                <a16:creationId xmlns:a16="http://schemas.microsoft.com/office/drawing/2014/main" id="{67271D8F-F5FF-EE43-6AEB-52716307AAAA}"/>
              </a:ext>
            </a:extLst>
          </p:cNvPr>
          <p:cNvSpPr txBox="1">
            <a:spLocks/>
          </p:cNvSpPr>
          <p:nvPr/>
        </p:nvSpPr>
        <p:spPr>
          <a:xfrm>
            <a:off x="620653" y="2552184"/>
            <a:ext cx="3012792" cy="2578612"/>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a:defRPr>
                <a:solidFill>
                  <a:schemeClr val="dk1"/>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Creation of dashboard for LV advisers and business stakeholders to improve the decision-making process and reduce their lead time.</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Improve the Advisers digital experience and increase the opportunities created for them by visibility of quality protection, savings, investment &amp; retirement products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Create reliable, scalable &amp; sustainably profitable digital resource, whilst remaining cost effective and flexible for business agility</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Needed a reliable channel and knowledge source for end users in pension and retirements BU </a:t>
            </a:r>
          </a:p>
        </p:txBody>
      </p:sp>
      <p:grpSp>
        <p:nvGrpSpPr>
          <p:cNvPr id="32" name="Group 31">
            <a:extLst>
              <a:ext uri="{FF2B5EF4-FFF2-40B4-BE49-F238E27FC236}">
                <a16:creationId xmlns:a16="http://schemas.microsoft.com/office/drawing/2014/main" id="{58832887-509B-5DC6-1CCA-0ED444BF12D7}"/>
              </a:ext>
            </a:extLst>
          </p:cNvPr>
          <p:cNvGrpSpPr/>
          <p:nvPr/>
        </p:nvGrpSpPr>
        <p:grpSpPr>
          <a:xfrm>
            <a:off x="8250125" y="1462693"/>
            <a:ext cx="361753" cy="412093"/>
            <a:chOff x="2988054" y="3031020"/>
            <a:chExt cx="1468389" cy="1672720"/>
          </a:xfrm>
          <a:noFill/>
        </p:grpSpPr>
        <p:sp>
          <p:nvSpPr>
            <p:cNvPr id="34" name="Freeform: Shape 38">
              <a:extLst>
                <a:ext uri="{FF2B5EF4-FFF2-40B4-BE49-F238E27FC236}">
                  <a16:creationId xmlns:a16="http://schemas.microsoft.com/office/drawing/2014/main" id="{769EFF38-FD27-540F-40FC-73E454B29C10}"/>
                </a:ext>
              </a:extLst>
            </p:cNvPr>
            <p:cNvSpPr>
              <a:spLocks/>
            </p:cNvSpPr>
            <p:nvPr/>
          </p:nvSpPr>
          <p:spPr bwMode="auto">
            <a:xfrm>
              <a:off x="3137550" y="3758889"/>
              <a:ext cx="1318893" cy="908616"/>
            </a:xfrm>
            <a:custGeom>
              <a:avLst/>
              <a:gdLst>
                <a:gd name="connsiteX0" fmla="*/ 990006 w 1318889"/>
                <a:gd name="connsiteY0" fmla="*/ 0 h 908614"/>
                <a:gd name="connsiteX1" fmla="*/ 1268292 w 1318889"/>
                <a:gd name="connsiteY1" fmla="*/ 0 h 908614"/>
                <a:gd name="connsiteX2" fmla="*/ 1270592 w 1318889"/>
                <a:gd name="connsiteY2" fmla="*/ 0 h 908614"/>
                <a:gd name="connsiteX3" fmla="*/ 1305090 w 1318889"/>
                <a:gd name="connsiteY3" fmla="*/ 13766 h 908614"/>
                <a:gd name="connsiteX4" fmla="*/ 1318889 w 1318889"/>
                <a:gd name="connsiteY4" fmla="*/ 48181 h 908614"/>
                <a:gd name="connsiteX5" fmla="*/ 1318889 w 1318889"/>
                <a:gd name="connsiteY5" fmla="*/ 50475 h 908614"/>
                <a:gd name="connsiteX6" fmla="*/ 1318889 w 1318889"/>
                <a:gd name="connsiteY6" fmla="*/ 312028 h 908614"/>
                <a:gd name="connsiteX7" fmla="*/ 1272892 w 1318889"/>
                <a:gd name="connsiteY7" fmla="*/ 357915 h 908614"/>
                <a:gd name="connsiteX8" fmla="*/ 1226894 w 1318889"/>
                <a:gd name="connsiteY8" fmla="*/ 312028 h 908614"/>
                <a:gd name="connsiteX9" fmla="*/ 1226894 w 1318889"/>
                <a:gd name="connsiteY9" fmla="*/ 157161 h 908614"/>
                <a:gd name="connsiteX10" fmla="*/ 739319 w 1318889"/>
                <a:gd name="connsiteY10" fmla="*/ 642411 h 908614"/>
                <a:gd name="connsiteX11" fmla="*/ 674923 w 1318889"/>
                <a:gd name="connsiteY11" fmla="*/ 642411 h 908614"/>
                <a:gd name="connsiteX12" fmla="*/ 502432 w 1318889"/>
                <a:gd name="connsiteY12" fmla="*/ 471484 h 908614"/>
                <a:gd name="connsiteX13" fmla="*/ 76839 w 1318889"/>
                <a:gd name="connsiteY13" fmla="*/ 896664 h 908614"/>
                <a:gd name="connsiteX14" fmla="*/ 64877 w 1318889"/>
                <a:gd name="connsiteY14" fmla="*/ 908614 h 908614"/>
                <a:gd name="connsiteX15" fmla="*/ 0 w 1318889"/>
                <a:gd name="connsiteY15" fmla="*/ 843071 h 908614"/>
                <a:gd name="connsiteX16" fmla="*/ 86906 w 1318889"/>
                <a:gd name="connsiteY16" fmla="*/ 756376 h 908614"/>
                <a:gd name="connsiteX17" fmla="*/ 470233 w 1318889"/>
                <a:gd name="connsiteY17" fmla="*/ 373975 h 908614"/>
                <a:gd name="connsiteX18" fmla="*/ 502432 w 1318889"/>
                <a:gd name="connsiteY18" fmla="*/ 361356 h 908614"/>
                <a:gd name="connsiteX19" fmla="*/ 535780 w 1318889"/>
                <a:gd name="connsiteY19" fmla="*/ 373975 h 908614"/>
                <a:gd name="connsiteX20" fmla="*/ 707121 w 1318889"/>
                <a:gd name="connsiteY20" fmla="*/ 544902 h 908614"/>
                <a:gd name="connsiteX21" fmla="*/ 1161347 w 1318889"/>
                <a:gd name="connsiteY21" fmla="*/ 91773 h 908614"/>
                <a:gd name="connsiteX22" fmla="*/ 990006 w 1318889"/>
                <a:gd name="connsiteY22" fmla="*/ 91773 h 908614"/>
                <a:gd name="connsiteX23" fmla="*/ 944009 w 1318889"/>
                <a:gd name="connsiteY23" fmla="*/ 45887 h 908614"/>
                <a:gd name="connsiteX24" fmla="*/ 990006 w 1318889"/>
                <a:gd name="connsiteY24" fmla="*/ 0 h 90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18889" h="908614">
                  <a:moveTo>
                    <a:pt x="990006" y="0"/>
                  </a:moveTo>
                  <a:cubicBezTo>
                    <a:pt x="990006" y="0"/>
                    <a:pt x="990006" y="0"/>
                    <a:pt x="1268292" y="0"/>
                  </a:cubicBezTo>
                  <a:cubicBezTo>
                    <a:pt x="1269442" y="0"/>
                    <a:pt x="1269442" y="0"/>
                    <a:pt x="1270592" y="0"/>
                  </a:cubicBezTo>
                  <a:cubicBezTo>
                    <a:pt x="1283241" y="0"/>
                    <a:pt x="1295890" y="3442"/>
                    <a:pt x="1305090" y="13766"/>
                  </a:cubicBezTo>
                  <a:cubicBezTo>
                    <a:pt x="1314289" y="22943"/>
                    <a:pt x="1318889" y="35562"/>
                    <a:pt x="1318889" y="48181"/>
                  </a:cubicBezTo>
                  <a:cubicBezTo>
                    <a:pt x="1318889" y="49328"/>
                    <a:pt x="1318889" y="49328"/>
                    <a:pt x="1318889" y="50475"/>
                  </a:cubicBezTo>
                  <a:cubicBezTo>
                    <a:pt x="1318889" y="50475"/>
                    <a:pt x="1318889" y="50475"/>
                    <a:pt x="1318889" y="312028"/>
                  </a:cubicBezTo>
                  <a:cubicBezTo>
                    <a:pt x="1318889" y="337266"/>
                    <a:pt x="1298190" y="357915"/>
                    <a:pt x="1272892" y="357915"/>
                  </a:cubicBezTo>
                  <a:cubicBezTo>
                    <a:pt x="1247593" y="357915"/>
                    <a:pt x="1226894" y="337266"/>
                    <a:pt x="1226894" y="312028"/>
                  </a:cubicBezTo>
                  <a:cubicBezTo>
                    <a:pt x="1226894" y="312028"/>
                    <a:pt x="1226894" y="312028"/>
                    <a:pt x="1226894" y="157161"/>
                  </a:cubicBezTo>
                  <a:cubicBezTo>
                    <a:pt x="1226894" y="157161"/>
                    <a:pt x="1226894" y="157161"/>
                    <a:pt x="739319" y="642411"/>
                  </a:cubicBezTo>
                  <a:cubicBezTo>
                    <a:pt x="722070" y="660765"/>
                    <a:pt x="692172" y="660765"/>
                    <a:pt x="674923" y="642411"/>
                  </a:cubicBezTo>
                  <a:cubicBezTo>
                    <a:pt x="674923" y="642411"/>
                    <a:pt x="674923" y="642411"/>
                    <a:pt x="502432" y="471484"/>
                  </a:cubicBezTo>
                  <a:cubicBezTo>
                    <a:pt x="502432" y="471484"/>
                    <a:pt x="502432" y="471484"/>
                    <a:pt x="76839" y="896664"/>
                  </a:cubicBezTo>
                  <a:lnTo>
                    <a:pt x="64877" y="908614"/>
                  </a:lnTo>
                  <a:lnTo>
                    <a:pt x="0" y="843071"/>
                  </a:lnTo>
                  <a:lnTo>
                    <a:pt x="86906" y="756376"/>
                  </a:lnTo>
                  <a:cubicBezTo>
                    <a:pt x="189248" y="654281"/>
                    <a:pt x="315207" y="528627"/>
                    <a:pt x="470233" y="373975"/>
                  </a:cubicBezTo>
                  <a:cubicBezTo>
                    <a:pt x="479433" y="365945"/>
                    <a:pt x="490932" y="361356"/>
                    <a:pt x="502432" y="361356"/>
                  </a:cubicBezTo>
                  <a:cubicBezTo>
                    <a:pt x="515081" y="361356"/>
                    <a:pt x="526580" y="365945"/>
                    <a:pt x="535780" y="373975"/>
                  </a:cubicBezTo>
                  <a:cubicBezTo>
                    <a:pt x="535780" y="373975"/>
                    <a:pt x="535780" y="373975"/>
                    <a:pt x="707121" y="544902"/>
                  </a:cubicBezTo>
                  <a:cubicBezTo>
                    <a:pt x="707121" y="544902"/>
                    <a:pt x="707121" y="544902"/>
                    <a:pt x="1161347" y="91773"/>
                  </a:cubicBezTo>
                  <a:cubicBezTo>
                    <a:pt x="1161347" y="91773"/>
                    <a:pt x="1161347" y="91773"/>
                    <a:pt x="990006" y="91773"/>
                  </a:cubicBezTo>
                  <a:cubicBezTo>
                    <a:pt x="964708" y="91773"/>
                    <a:pt x="944009" y="71124"/>
                    <a:pt x="944009" y="45887"/>
                  </a:cubicBezTo>
                  <a:cubicBezTo>
                    <a:pt x="944009" y="20649"/>
                    <a:pt x="964708" y="0"/>
                    <a:pt x="99000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5" name="Freeform 52">
              <a:extLst>
                <a:ext uri="{FF2B5EF4-FFF2-40B4-BE49-F238E27FC236}">
                  <a16:creationId xmlns:a16="http://schemas.microsoft.com/office/drawing/2014/main" id="{E2121A5C-087C-FE10-E273-EA5B0E2DBBE2}"/>
                </a:ext>
              </a:extLst>
            </p:cNvPr>
            <p:cNvSpPr>
              <a:spLocks/>
            </p:cNvSpPr>
            <p:nvPr/>
          </p:nvSpPr>
          <p:spPr bwMode="auto">
            <a:xfrm>
              <a:off x="3571839" y="4324566"/>
              <a:ext cx="139793" cy="280514"/>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nvGrpSpPr>
            <p:cNvPr id="36" name="Group 35">
              <a:extLst>
                <a:ext uri="{FF2B5EF4-FFF2-40B4-BE49-F238E27FC236}">
                  <a16:creationId xmlns:a16="http://schemas.microsoft.com/office/drawing/2014/main" id="{DEB6443E-27C5-8C59-5CDE-394E5E93F633}"/>
                </a:ext>
              </a:extLst>
            </p:cNvPr>
            <p:cNvGrpSpPr/>
            <p:nvPr/>
          </p:nvGrpSpPr>
          <p:grpSpPr>
            <a:xfrm>
              <a:off x="2988054" y="3031020"/>
              <a:ext cx="1103900" cy="1308733"/>
              <a:chOff x="1598613" y="2660650"/>
              <a:chExt cx="1616214" cy="1916112"/>
            </a:xfrm>
            <a:grpFill/>
          </p:grpSpPr>
          <p:sp>
            <p:nvSpPr>
              <p:cNvPr id="39" name="Freeform 5">
                <a:extLst>
                  <a:ext uri="{FF2B5EF4-FFF2-40B4-BE49-F238E27FC236}">
                    <a16:creationId xmlns:a16="http://schemas.microsoft.com/office/drawing/2014/main" id="{34DB1F79-2654-FF03-7966-948DB86FB895}"/>
                  </a:ext>
                </a:extLst>
              </p:cNvPr>
              <p:cNvSpPr>
                <a:spLocks/>
              </p:cNvSpPr>
              <p:nvPr/>
            </p:nvSpPr>
            <p:spPr bwMode="auto">
              <a:xfrm>
                <a:off x="2716214" y="3876675"/>
                <a:ext cx="498613" cy="531146"/>
              </a:xfrm>
              <a:custGeom>
                <a:avLst/>
                <a:gdLst>
                  <a:gd name="T0" fmla="*/ 107 w 488"/>
                  <a:gd name="T1" fmla="*/ 0 h 517"/>
                  <a:gd name="T2" fmla="*/ 185 w 488"/>
                  <a:gd name="T3" fmla="*/ 229 h 517"/>
                  <a:gd name="T4" fmla="*/ 76 w 488"/>
                  <a:gd name="T5" fmla="*/ 221 h 517"/>
                  <a:gd name="T6" fmla="*/ 0 w 488"/>
                  <a:gd name="T7" fmla="*/ 315 h 517"/>
                  <a:gd name="T8" fmla="*/ 17 w 488"/>
                  <a:gd name="T9" fmla="*/ 332 h 517"/>
                  <a:gd name="T10" fmla="*/ 202 w 488"/>
                  <a:gd name="T11" fmla="*/ 517 h 517"/>
                  <a:gd name="T12" fmla="*/ 334 w 488"/>
                  <a:gd name="T13" fmla="*/ 384 h 517"/>
                  <a:gd name="T14" fmla="*/ 387 w 488"/>
                  <a:gd name="T15" fmla="*/ 332 h 517"/>
                  <a:gd name="T16" fmla="*/ 408 w 488"/>
                  <a:gd name="T17" fmla="*/ 311 h 517"/>
                  <a:gd name="T18" fmla="*/ 488 w 488"/>
                  <a:gd name="T19" fmla="*/ 231 h 517"/>
                  <a:gd name="T20" fmla="*/ 394 w 488"/>
                  <a:gd name="T21" fmla="*/ 144 h 517"/>
                  <a:gd name="T22" fmla="*/ 149 w 488"/>
                  <a:gd name="T23" fmla="*/ 23 h 517"/>
                  <a:gd name="T24" fmla="*/ 107 w 488"/>
                  <a:gd name="T25" fmla="*/ 0 h 517"/>
                  <a:gd name="connsiteX0" fmla="*/ 2193 w 8361"/>
                  <a:gd name="connsiteY0" fmla="*/ 0 h 10000"/>
                  <a:gd name="connsiteX1" fmla="*/ 3791 w 8361"/>
                  <a:gd name="connsiteY1" fmla="*/ 4429 h 10000"/>
                  <a:gd name="connsiteX2" fmla="*/ 1557 w 8361"/>
                  <a:gd name="connsiteY2" fmla="*/ 4275 h 10000"/>
                  <a:gd name="connsiteX3" fmla="*/ 0 w 8361"/>
                  <a:gd name="connsiteY3" fmla="*/ 6093 h 10000"/>
                  <a:gd name="connsiteX4" fmla="*/ 348 w 8361"/>
                  <a:gd name="connsiteY4" fmla="*/ 6422 h 10000"/>
                  <a:gd name="connsiteX5" fmla="*/ 4139 w 8361"/>
                  <a:gd name="connsiteY5" fmla="*/ 10000 h 10000"/>
                  <a:gd name="connsiteX6" fmla="*/ 6844 w 8361"/>
                  <a:gd name="connsiteY6" fmla="*/ 7427 h 10000"/>
                  <a:gd name="connsiteX7" fmla="*/ 7930 w 8361"/>
                  <a:gd name="connsiteY7" fmla="*/ 6422 h 10000"/>
                  <a:gd name="connsiteX8" fmla="*/ 8361 w 8361"/>
                  <a:gd name="connsiteY8" fmla="*/ 6015 h 10000"/>
                  <a:gd name="connsiteX9" fmla="*/ 8074 w 8361"/>
                  <a:gd name="connsiteY9" fmla="*/ 2785 h 10000"/>
                  <a:gd name="connsiteX10" fmla="*/ 3053 w 8361"/>
                  <a:gd name="connsiteY10" fmla="*/ 445 h 10000"/>
                  <a:gd name="connsiteX11" fmla="*/ 2193 w 8361"/>
                  <a:gd name="connsiteY11" fmla="*/ 0 h 10000"/>
                  <a:gd name="connsiteX0" fmla="*/ 2623 w 9657"/>
                  <a:gd name="connsiteY0" fmla="*/ 0 h 10000"/>
                  <a:gd name="connsiteX1" fmla="*/ 4534 w 9657"/>
                  <a:gd name="connsiteY1" fmla="*/ 4429 h 10000"/>
                  <a:gd name="connsiteX2" fmla="*/ 1862 w 9657"/>
                  <a:gd name="connsiteY2" fmla="*/ 4275 h 10000"/>
                  <a:gd name="connsiteX3" fmla="*/ 0 w 9657"/>
                  <a:gd name="connsiteY3" fmla="*/ 6093 h 10000"/>
                  <a:gd name="connsiteX4" fmla="*/ 416 w 9657"/>
                  <a:gd name="connsiteY4" fmla="*/ 6422 h 10000"/>
                  <a:gd name="connsiteX5" fmla="*/ 4950 w 9657"/>
                  <a:gd name="connsiteY5" fmla="*/ 10000 h 10000"/>
                  <a:gd name="connsiteX6" fmla="*/ 8186 w 9657"/>
                  <a:gd name="connsiteY6" fmla="*/ 7427 h 10000"/>
                  <a:gd name="connsiteX7" fmla="*/ 9485 w 9657"/>
                  <a:gd name="connsiteY7" fmla="*/ 6422 h 10000"/>
                  <a:gd name="connsiteX8" fmla="*/ 9657 w 9657"/>
                  <a:gd name="connsiteY8" fmla="*/ 2785 h 10000"/>
                  <a:gd name="connsiteX9" fmla="*/ 3651 w 9657"/>
                  <a:gd name="connsiteY9" fmla="*/ 445 h 10000"/>
                  <a:gd name="connsiteX10" fmla="*/ 2623 w 9657"/>
                  <a:gd name="connsiteY10"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8477 w 10000"/>
                  <a:gd name="connsiteY6" fmla="*/ 7427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10000 w 10000"/>
                  <a:gd name="connsiteY6" fmla="*/ 2785 h 10000"/>
                  <a:gd name="connsiteX7" fmla="*/ 3781 w 10000"/>
                  <a:gd name="connsiteY7" fmla="*/ 445 h 10000"/>
                  <a:gd name="connsiteX8" fmla="*/ 2716 w 10000"/>
                  <a:gd name="connsiteY8"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3399 w 10000"/>
                  <a:gd name="connsiteY5" fmla="*/ 8675 h 10000"/>
                  <a:gd name="connsiteX6" fmla="*/ 5126 w 10000"/>
                  <a:gd name="connsiteY6" fmla="*/ 10000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8675"/>
                  <a:gd name="connsiteX1" fmla="*/ 4695 w 10000"/>
                  <a:gd name="connsiteY1" fmla="*/ 4429 h 8675"/>
                  <a:gd name="connsiteX2" fmla="*/ 1928 w 10000"/>
                  <a:gd name="connsiteY2" fmla="*/ 4275 h 8675"/>
                  <a:gd name="connsiteX3" fmla="*/ 0 w 10000"/>
                  <a:gd name="connsiteY3" fmla="*/ 6093 h 8675"/>
                  <a:gd name="connsiteX4" fmla="*/ 431 w 10000"/>
                  <a:gd name="connsiteY4" fmla="*/ 6422 h 8675"/>
                  <a:gd name="connsiteX5" fmla="*/ 3399 w 10000"/>
                  <a:gd name="connsiteY5" fmla="*/ 8675 h 8675"/>
                  <a:gd name="connsiteX6" fmla="*/ 10000 w 10000"/>
                  <a:gd name="connsiteY6" fmla="*/ 2785 h 8675"/>
                  <a:gd name="connsiteX7" fmla="*/ 3781 w 10000"/>
                  <a:gd name="connsiteY7" fmla="*/ 445 h 8675"/>
                  <a:gd name="connsiteX8" fmla="*/ 2716 w 10000"/>
                  <a:gd name="connsiteY8" fmla="*/ 0 h 8675"/>
                  <a:gd name="connsiteX0" fmla="*/ 2716 w 10000"/>
                  <a:gd name="connsiteY0" fmla="*/ 0 h 9384"/>
                  <a:gd name="connsiteX1" fmla="*/ 4695 w 10000"/>
                  <a:gd name="connsiteY1" fmla="*/ 5105 h 9384"/>
                  <a:gd name="connsiteX2" fmla="*/ 1928 w 10000"/>
                  <a:gd name="connsiteY2" fmla="*/ 4928 h 9384"/>
                  <a:gd name="connsiteX3" fmla="*/ 0 w 10000"/>
                  <a:gd name="connsiteY3" fmla="*/ 7024 h 9384"/>
                  <a:gd name="connsiteX4" fmla="*/ 431 w 10000"/>
                  <a:gd name="connsiteY4" fmla="*/ 7403 h 9384"/>
                  <a:gd name="connsiteX5" fmla="*/ 2979 w 10000"/>
                  <a:gd name="connsiteY5" fmla="*/ 9384 h 9384"/>
                  <a:gd name="connsiteX6" fmla="*/ 10000 w 10000"/>
                  <a:gd name="connsiteY6" fmla="*/ 3210 h 9384"/>
                  <a:gd name="connsiteX7" fmla="*/ 3781 w 10000"/>
                  <a:gd name="connsiteY7" fmla="*/ 513 h 9384"/>
                  <a:gd name="connsiteX8" fmla="*/ 2716 w 10000"/>
                  <a:gd name="connsiteY8" fmla="*/ 0 h 9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9384">
                    <a:moveTo>
                      <a:pt x="2716" y="0"/>
                    </a:moveTo>
                    <a:lnTo>
                      <a:pt x="4695" y="5105"/>
                    </a:lnTo>
                    <a:lnTo>
                      <a:pt x="1928" y="4928"/>
                    </a:lnTo>
                    <a:lnTo>
                      <a:pt x="0" y="7024"/>
                    </a:lnTo>
                    <a:cubicBezTo>
                      <a:pt x="144" y="7150"/>
                      <a:pt x="-65" y="7010"/>
                      <a:pt x="431" y="7403"/>
                    </a:cubicBezTo>
                    <a:cubicBezTo>
                      <a:pt x="927" y="7796"/>
                      <a:pt x="2130" y="8724"/>
                      <a:pt x="2979" y="9384"/>
                    </a:cubicBezTo>
                    <a:lnTo>
                      <a:pt x="10000" y="3210"/>
                    </a:lnTo>
                    <a:lnTo>
                      <a:pt x="3781" y="513"/>
                    </a:lnTo>
                    <a:cubicBezTo>
                      <a:pt x="3425" y="356"/>
                      <a:pt x="3071" y="179"/>
                      <a:pt x="271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0" name="Freeform 6">
                <a:extLst>
                  <a:ext uri="{FF2B5EF4-FFF2-40B4-BE49-F238E27FC236}">
                    <a16:creationId xmlns:a16="http://schemas.microsoft.com/office/drawing/2014/main" id="{EE3787E4-3D2E-0416-3882-3E4212CF4925}"/>
                  </a:ext>
                </a:extLst>
              </p:cNvPr>
              <p:cNvSpPr>
                <a:spLocks/>
              </p:cNvSpPr>
              <p:nvPr/>
            </p:nvSpPr>
            <p:spPr bwMode="auto">
              <a:xfrm>
                <a:off x="1598613" y="3876675"/>
                <a:ext cx="704850" cy="700087"/>
              </a:xfrm>
              <a:custGeom>
                <a:avLst/>
                <a:gdLst>
                  <a:gd name="T0" fmla="*/ 483 w 557"/>
                  <a:gd name="T1" fmla="*/ 221 h 554"/>
                  <a:gd name="T2" fmla="*/ 374 w 557"/>
                  <a:gd name="T3" fmla="*/ 229 h 554"/>
                  <a:gd name="T4" fmla="*/ 453 w 557"/>
                  <a:gd name="T5" fmla="*/ 0 h 554"/>
                  <a:gd name="T6" fmla="*/ 404 w 557"/>
                  <a:gd name="T7" fmla="*/ 26 h 554"/>
                  <a:gd name="T8" fmla="*/ 165 w 557"/>
                  <a:gd name="T9" fmla="*/ 144 h 554"/>
                  <a:gd name="T10" fmla="*/ 42 w 557"/>
                  <a:gd name="T11" fmla="*/ 306 h 554"/>
                  <a:gd name="T12" fmla="*/ 3 w 557"/>
                  <a:gd name="T13" fmla="*/ 523 h 554"/>
                  <a:gd name="T14" fmla="*/ 29 w 557"/>
                  <a:gd name="T15" fmla="*/ 554 h 554"/>
                  <a:gd name="T16" fmla="*/ 316 w 557"/>
                  <a:gd name="T17" fmla="*/ 554 h 554"/>
                  <a:gd name="T18" fmla="*/ 557 w 557"/>
                  <a:gd name="T19" fmla="*/ 312 h 554"/>
                  <a:gd name="T20" fmla="*/ 483 w 557"/>
                  <a:gd name="T21" fmla="*/ 221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7" h="554">
                    <a:moveTo>
                      <a:pt x="483" y="221"/>
                    </a:moveTo>
                    <a:cubicBezTo>
                      <a:pt x="374" y="229"/>
                      <a:pt x="374" y="229"/>
                      <a:pt x="374" y="229"/>
                    </a:cubicBezTo>
                    <a:cubicBezTo>
                      <a:pt x="453" y="0"/>
                      <a:pt x="453" y="0"/>
                      <a:pt x="453" y="0"/>
                    </a:cubicBezTo>
                    <a:cubicBezTo>
                      <a:pt x="404" y="26"/>
                      <a:pt x="404" y="26"/>
                      <a:pt x="404" y="26"/>
                    </a:cubicBezTo>
                    <a:cubicBezTo>
                      <a:pt x="165" y="144"/>
                      <a:pt x="165" y="144"/>
                      <a:pt x="165" y="144"/>
                    </a:cubicBezTo>
                    <a:cubicBezTo>
                      <a:pt x="101" y="176"/>
                      <a:pt x="55" y="236"/>
                      <a:pt x="42" y="306"/>
                    </a:cubicBezTo>
                    <a:cubicBezTo>
                      <a:pt x="3" y="523"/>
                      <a:pt x="3" y="523"/>
                      <a:pt x="3" y="523"/>
                    </a:cubicBezTo>
                    <a:cubicBezTo>
                      <a:pt x="0" y="539"/>
                      <a:pt x="12" y="554"/>
                      <a:pt x="29" y="554"/>
                    </a:cubicBezTo>
                    <a:cubicBezTo>
                      <a:pt x="316" y="554"/>
                      <a:pt x="316" y="554"/>
                      <a:pt x="316" y="554"/>
                    </a:cubicBezTo>
                    <a:cubicBezTo>
                      <a:pt x="557" y="312"/>
                      <a:pt x="557" y="312"/>
                      <a:pt x="557" y="312"/>
                    </a:cubicBezTo>
                    <a:lnTo>
                      <a:pt x="483" y="221"/>
                    </a:ln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2" name="Freeform 7">
                <a:extLst>
                  <a:ext uri="{FF2B5EF4-FFF2-40B4-BE49-F238E27FC236}">
                    <a16:creationId xmlns:a16="http://schemas.microsoft.com/office/drawing/2014/main" id="{CB764529-5447-8FE4-03A0-155EE69A7BB4}"/>
                  </a:ext>
                </a:extLst>
              </p:cNvPr>
              <p:cNvSpPr>
                <a:spLocks/>
              </p:cNvSpPr>
              <p:nvPr/>
            </p:nvSpPr>
            <p:spPr bwMode="auto">
              <a:xfrm>
                <a:off x="2016267" y="3050097"/>
                <a:ext cx="996526" cy="1140903"/>
              </a:xfrm>
              <a:custGeom>
                <a:avLst/>
                <a:gdLst>
                  <a:gd name="T0" fmla="*/ 332 w 1050"/>
                  <a:gd name="T1" fmla="*/ 1047 h 1422"/>
                  <a:gd name="T2" fmla="*/ 332 w 1050"/>
                  <a:gd name="T3" fmla="*/ 1119 h 1422"/>
                  <a:gd name="T4" fmla="*/ 435 w 1050"/>
                  <a:gd name="T5" fmla="*/ 1419 h 1422"/>
                  <a:gd name="T6" fmla="*/ 525 w 1050"/>
                  <a:gd name="T7" fmla="*/ 1392 h 1422"/>
                  <a:gd name="T8" fmla="*/ 619 w 1050"/>
                  <a:gd name="T9" fmla="*/ 1422 h 1422"/>
                  <a:gd name="T10" fmla="*/ 722 w 1050"/>
                  <a:gd name="T11" fmla="*/ 1121 h 1422"/>
                  <a:gd name="T12" fmla="*/ 722 w 1050"/>
                  <a:gd name="T13" fmla="*/ 1116 h 1422"/>
                  <a:gd name="T14" fmla="*/ 722 w 1050"/>
                  <a:gd name="T15" fmla="*/ 1116 h 1422"/>
                  <a:gd name="T16" fmla="*/ 722 w 1050"/>
                  <a:gd name="T17" fmla="*/ 1045 h 1422"/>
                  <a:gd name="T18" fmla="*/ 1050 w 1050"/>
                  <a:gd name="T19" fmla="*/ 944 h 1422"/>
                  <a:gd name="T20" fmla="*/ 924 w 1050"/>
                  <a:gd name="T21" fmla="*/ 621 h 1422"/>
                  <a:gd name="T22" fmla="*/ 665 w 1050"/>
                  <a:gd name="T23" fmla="*/ 117 h 1422"/>
                  <a:gd name="T24" fmla="*/ 373 w 1050"/>
                  <a:gd name="T25" fmla="*/ 74 h 1422"/>
                  <a:gd name="T26" fmla="*/ 137 w 1050"/>
                  <a:gd name="T27" fmla="*/ 550 h 1422"/>
                  <a:gd name="T28" fmla="*/ 0 w 1050"/>
                  <a:gd name="T29" fmla="*/ 940 h 1422"/>
                  <a:gd name="T30" fmla="*/ 332 w 1050"/>
                  <a:gd name="T31" fmla="*/ 1047 h 1422"/>
                  <a:gd name="connsiteX0" fmla="*/ 3162 w 8856"/>
                  <a:gd name="connsiteY0" fmla="*/ 7016 h 9653"/>
                  <a:gd name="connsiteX1" fmla="*/ 3162 w 8856"/>
                  <a:gd name="connsiteY1" fmla="*/ 7522 h 9653"/>
                  <a:gd name="connsiteX2" fmla="*/ 4143 w 8856"/>
                  <a:gd name="connsiteY2" fmla="*/ 9632 h 9653"/>
                  <a:gd name="connsiteX3" fmla="*/ 5000 w 8856"/>
                  <a:gd name="connsiteY3" fmla="*/ 9442 h 9653"/>
                  <a:gd name="connsiteX4" fmla="*/ 5895 w 8856"/>
                  <a:gd name="connsiteY4" fmla="*/ 9653 h 9653"/>
                  <a:gd name="connsiteX5" fmla="*/ 6876 w 8856"/>
                  <a:gd name="connsiteY5" fmla="*/ 7536 h 9653"/>
                  <a:gd name="connsiteX6" fmla="*/ 6876 w 8856"/>
                  <a:gd name="connsiteY6" fmla="*/ 7501 h 9653"/>
                  <a:gd name="connsiteX7" fmla="*/ 6876 w 8856"/>
                  <a:gd name="connsiteY7" fmla="*/ 7501 h 9653"/>
                  <a:gd name="connsiteX8" fmla="*/ 6876 w 8856"/>
                  <a:gd name="connsiteY8" fmla="*/ 7002 h 9653"/>
                  <a:gd name="connsiteX9" fmla="*/ 8800 w 8856"/>
                  <a:gd name="connsiteY9" fmla="*/ 4020 h 9653"/>
                  <a:gd name="connsiteX10" fmla="*/ 6333 w 8856"/>
                  <a:gd name="connsiteY10" fmla="*/ 476 h 9653"/>
                  <a:gd name="connsiteX11" fmla="*/ 3552 w 8856"/>
                  <a:gd name="connsiteY11" fmla="*/ 173 h 9653"/>
                  <a:gd name="connsiteX12" fmla="*/ 1305 w 8856"/>
                  <a:gd name="connsiteY12" fmla="*/ 3521 h 9653"/>
                  <a:gd name="connsiteX13" fmla="*/ 0 w 8856"/>
                  <a:gd name="connsiteY13" fmla="*/ 6263 h 9653"/>
                  <a:gd name="connsiteX14" fmla="*/ 3162 w 8856"/>
                  <a:gd name="connsiteY14" fmla="*/ 7016 h 9653"/>
                  <a:gd name="connsiteX0" fmla="*/ 2100 w 8530"/>
                  <a:gd name="connsiteY0" fmla="*/ 7268 h 10000"/>
                  <a:gd name="connsiteX1" fmla="*/ 2100 w 8530"/>
                  <a:gd name="connsiteY1" fmla="*/ 7792 h 10000"/>
                  <a:gd name="connsiteX2" fmla="*/ 3208 w 8530"/>
                  <a:gd name="connsiteY2" fmla="*/ 9978 h 10000"/>
                  <a:gd name="connsiteX3" fmla="*/ 4176 w 8530"/>
                  <a:gd name="connsiteY3" fmla="*/ 9781 h 10000"/>
                  <a:gd name="connsiteX4" fmla="*/ 5187 w 8530"/>
                  <a:gd name="connsiteY4" fmla="*/ 10000 h 10000"/>
                  <a:gd name="connsiteX5" fmla="*/ 6294 w 8530"/>
                  <a:gd name="connsiteY5" fmla="*/ 7807 h 10000"/>
                  <a:gd name="connsiteX6" fmla="*/ 6294 w 8530"/>
                  <a:gd name="connsiteY6" fmla="*/ 7771 h 10000"/>
                  <a:gd name="connsiteX7" fmla="*/ 6294 w 8530"/>
                  <a:gd name="connsiteY7" fmla="*/ 7771 h 10000"/>
                  <a:gd name="connsiteX8" fmla="*/ 6294 w 8530"/>
                  <a:gd name="connsiteY8" fmla="*/ 7254 h 10000"/>
                  <a:gd name="connsiteX9" fmla="*/ 8467 w 8530"/>
                  <a:gd name="connsiteY9" fmla="*/ 4165 h 10000"/>
                  <a:gd name="connsiteX10" fmla="*/ 5681 w 8530"/>
                  <a:gd name="connsiteY10" fmla="*/ 493 h 10000"/>
                  <a:gd name="connsiteX11" fmla="*/ 2541 w 8530"/>
                  <a:gd name="connsiteY11" fmla="*/ 179 h 10000"/>
                  <a:gd name="connsiteX12" fmla="*/ 4 w 8530"/>
                  <a:gd name="connsiteY12" fmla="*/ 3648 h 10000"/>
                  <a:gd name="connsiteX13" fmla="*/ 2100 w 8530"/>
                  <a:gd name="connsiteY13" fmla="*/ 7268 h 10000"/>
                  <a:gd name="connsiteX0" fmla="*/ 2463 w 9931"/>
                  <a:gd name="connsiteY0" fmla="*/ 7096 h 9828"/>
                  <a:gd name="connsiteX1" fmla="*/ 2463 w 9931"/>
                  <a:gd name="connsiteY1" fmla="*/ 7620 h 9828"/>
                  <a:gd name="connsiteX2" fmla="*/ 3762 w 9931"/>
                  <a:gd name="connsiteY2" fmla="*/ 9806 h 9828"/>
                  <a:gd name="connsiteX3" fmla="*/ 4897 w 9931"/>
                  <a:gd name="connsiteY3" fmla="*/ 9609 h 9828"/>
                  <a:gd name="connsiteX4" fmla="*/ 6082 w 9931"/>
                  <a:gd name="connsiteY4" fmla="*/ 9828 h 9828"/>
                  <a:gd name="connsiteX5" fmla="*/ 7380 w 9931"/>
                  <a:gd name="connsiteY5" fmla="*/ 7635 h 9828"/>
                  <a:gd name="connsiteX6" fmla="*/ 7380 w 9931"/>
                  <a:gd name="connsiteY6" fmla="*/ 7599 h 9828"/>
                  <a:gd name="connsiteX7" fmla="*/ 7380 w 9931"/>
                  <a:gd name="connsiteY7" fmla="*/ 7599 h 9828"/>
                  <a:gd name="connsiteX8" fmla="*/ 7380 w 9931"/>
                  <a:gd name="connsiteY8" fmla="*/ 7082 h 9828"/>
                  <a:gd name="connsiteX9" fmla="*/ 9927 w 9931"/>
                  <a:gd name="connsiteY9" fmla="*/ 3993 h 9828"/>
                  <a:gd name="connsiteX10" fmla="*/ 2980 w 9931"/>
                  <a:gd name="connsiteY10" fmla="*/ 7 h 9828"/>
                  <a:gd name="connsiteX11" fmla="*/ 6 w 9931"/>
                  <a:gd name="connsiteY11" fmla="*/ 3476 h 9828"/>
                  <a:gd name="connsiteX12" fmla="*/ 2463 w 9931"/>
                  <a:gd name="connsiteY12" fmla="*/ 7096 h 9828"/>
                  <a:gd name="connsiteX0" fmla="*/ 2477 w 9997"/>
                  <a:gd name="connsiteY0" fmla="*/ 3918 h 6698"/>
                  <a:gd name="connsiteX1" fmla="*/ 2477 w 9997"/>
                  <a:gd name="connsiteY1" fmla="*/ 4451 h 6698"/>
                  <a:gd name="connsiteX2" fmla="*/ 3785 w 9997"/>
                  <a:gd name="connsiteY2" fmla="*/ 6676 h 6698"/>
                  <a:gd name="connsiteX3" fmla="*/ 4928 w 9997"/>
                  <a:gd name="connsiteY3" fmla="*/ 6475 h 6698"/>
                  <a:gd name="connsiteX4" fmla="*/ 6121 w 9997"/>
                  <a:gd name="connsiteY4" fmla="*/ 6698 h 6698"/>
                  <a:gd name="connsiteX5" fmla="*/ 7428 w 9997"/>
                  <a:gd name="connsiteY5" fmla="*/ 4467 h 6698"/>
                  <a:gd name="connsiteX6" fmla="*/ 7428 w 9997"/>
                  <a:gd name="connsiteY6" fmla="*/ 4430 h 6698"/>
                  <a:gd name="connsiteX7" fmla="*/ 7428 w 9997"/>
                  <a:gd name="connsiteY7" fmla="*/ 4430 h 6698"/>
                  <a:gd name="connsiteX8" fmla="*/ 7428 w 9997"/>
                  <a:gd name="connsiteY8" fmla="*/ 3904 h 6698"/>
                  <a:gd name="connsiteX9" fmla="*/ 9993 w 9997"/>
                  <a:gd name="connsiteY9" fmla="*/ 761 h 6698"/>
                  <a:gd name="connsiteX10" fmla="*/ 3 w 9997"/>
                  <a:gd name="connsiteY10" fmla="*/ 235 h 6698"/>
                  <a:gd name="connsiteX11" fmla="*/ 2477 w 9997"/>
                  <a:gd name="connsiteY11" fmla="*/ 3918 h 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7" h="6698">
                    <a:moveTo>
                      <a:pt x="2477" y="3918"/>
                    </a:moveTo>
                    <a:lnTo>
                      <a:pt x="2477" y="4451"/>
                    </a:lnTo>
                    <a:lnTo>
                      <a:pt x="3785" y="6676"/>
                    </a:lnTo>
                    <a:cubicBezTo>
                      <a:pt x="4114" y="6549"/>
                      <a:pt x="4520" y="6475"/>
                      <a:pt x="4928" y="6475"/>
                    </a:cubicBezTo>
                    <a:cubicBezTo>
                      <a:pt x="5360" y="6475"/>
                      <a:pt x="5778" y="6549"/>
                      <a:pt x="6121" y="6698"/>
                    </a:cubicBezTo>
                    <a:lnTo>
                      <a:pt x="7428" y="4467"/>
                    </a:lnTo>
                    <a:lnTo>
                      <a:pt x="7428" y="4430"/>
                    </a:lnTo>
                    <a:lnTo>
                      <a:pt x="7428" y="4430"/>
                    </a:lnTo>
                    <a:cubicBezTo>
                      <a:pt x="7428" y="3904"/>
                      <a:pt x="7000" y="4515"/>
                      <a:pt x="7428" y="3904"/>
                    </a:cubicBezTo>
                    <a:cubicBezTo>
                      <a:pt x="7856" y="3292"/>
                      <a:pt x="10115" y="1908"/>
                      <a:pt x="9993" y="761"/>
                    </a:cubicBezTo>
                    <a:cubicBezTo>
                      <a:pt x="8755" y="149"/>
                      <a:pt x="1256" y="-291"/>
                      <a:pt x="3" y="235"/>
                    </a:cubicBezTo>
                    <a:cubicBezTo>
                      <a:pt x="-84" y="1437"/>
                      <a:pt x="2065" y="3215"/>
                      <a:pt x="2477" y="3918"/>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3" name="Oval 42">
                <a:extLst>
                  <a:ext uri="{FF2B5EF4-FFF2-40B4-BE49-F238E27FC236}">
                    <a16:creationId xmlns:a16="http://schemas.microsoft.com/office/drawing/2014/main" id="{8BB4EBC6-5BD1-83E0-3050-40EA45F7C5CF}"/>
                  </a:ext>
                </a:extLst>
              </p:cNvPr>
              <p:cNvSpPr>
                <a:spLocks noChangeArrowheads="1"/>
              </p:cNvSpPr>
              <p:nvPr/>
            </p:nvSpPr>
            <p:spPr bwMode="auto">
              <a:xfrm>
                <a:off x="1998663" y="2660650"/>
                <a:ext cx="1023029" cy="1025525"/>
              </a:xfrm>
              <a:prstGeom prst="ellips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37" name="Freeform 52">
              <a:extLst>
                <a:ext uri="{FF2B5EF4-FFF2-40B4-BE49-F238E27FC236}">
                  <a16:creationId xmlns:a16="http://schemas.microsoft.com/office/drawing/2014/main" id="{46FB5F87-BEA5-A18C-631C-6ECF66A47620}"/>
                </a:ext>
              </a:extLst>
            </p:cNvPr>
            <p:cNvSpPr>
              <a:spLocks/>
            </p:cNvSpPr>
            <p:nvPr/>
          </p:nvSpPr>
          <p:spPr bwMode="auto">
            <a:xfrm>
              <a:off x="4173128" y="4107704"/>
              <a:ext cx="204669" cy="410698"/>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8" name="Freeform 52">
              <a:extLst>
                <a:ext uri="{FF2B5EF4-FFF2-40B4-BE49-F238E27FC236}">
                  <a16:creationId xmlns:a16="http://schemas.microsoft.com/office/drawing/2014/main" id="{53041C3A-488C-9338-4530-72A34A9214D1}"/>
                </a:ext>
              </a:extLst>
            </p:cNvPr>
            <p:cNvSpPr>
              <a:spLocks/>
            </p:cNvSpPr>
            <p:nvPr/>
          </p:nvSpPr>
          <p:spPr bwMode="auto">
            <a:xfrm>
              <a:off x="3912751" y="4364320"/>
              <a:ext cx="169149" cy="339420"/>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44" name="Group 43">
            <a:extLst>
              <a:ext uri="{FF2B5EF4-FFF2-40B4-BE49-F238E27FC236}">
                <a16:creationId xmlns:a16="http://schemas.microsoft.com/office/drawing/2014/main" id="{2674DF67-0101-A303-C6EE-2F7964D2E08B}"/>
              </a:ext>
            </a:extLst>
          </p:cNvPr>
          <p:cNvGrpSpPr/>
          <p:nvPr/>
        </p:nvGrpSpPr>
        <p:grpSpPr>
          <a:xfrm>
            <a:off x="4242326" y="1447249"/>
            <a:ext cx="466096" cy="368677"/>
            <a:chOff x="9818688" y="2243138"/>
            <a:chExt cx="1279525" cy="1012089"/>
          </a:xfrm>
          <a:solidFill>
            <a:schemeClr val="tx1">
              <a:lumMod val="90000"/>
              <a:lumOff val="10000"/>
            </a:schemeClr>
          </a:solidFill>
        </p:grpSpPr>
        <p:sp>
          <p:nvSpPr>
            <p:cNvPr id="45" name="Freeform 11">
              <a:extLst>
                <a:ext uri="{FF2B5EF4-FFF2-40B4-BE49-F238E27FC236}">
                  <a16:creationId xmlns:a16="http://schemas.microsoft.com/office/drawing/2014/main" id="{F07EEB41-47A5-01DF-828E-F4D3F657F02B}"/>
                </a:ext>
              </a:extLst>
            </p:cNvPr>
            <p:cNvSpPr>
              <a:spLocks noEditPoints="1"/>
            </p:cNvSpPr>
            <p:nvPr/>
          </p:nvSpPr>
          <p:spPr bwMode="auto">
            <a:xfrm>
              <a:off x="10325101" y="2314576"/>
              <a:ext cx="434975" cy="627063"/>
            </a:xfrm>
            <a:custGeom>
              <a:avLst/>
              <a:gdLst>
                <a:gd name="T0" fmla="*/ 343 w 343"/>
                <a:gd name="T1" fmla="*/ 172 h 496"/>
                <a:gd name="T2" fmla="*/ 171 w 343"/>
                <a:gd name="T3" fmla="*/ 0 h 496"/>
                <a:gd name="T4" fmla="*/ 0 w 343"/>
                <a:gd name="T5" fmla="*/ 172 h 496"/>
                <a:gd name="T6" fmla="*/ 76 w 343"/>
                <a:gd name="T7" fmla="*/ 314 h 496"/>
                <a:gd name="T8" fmla="*/ 76 w 343"/>
                <a:gd name="T9" fmla="*/ 344 h 496"/>
                <a:gd name="T10" fmla="*/ 38 w 343"/>
                <a:gd name="T11" fmla="*/ 391 h 496"/>
                <a:gd name="T12" fmla="*/ 60 w 343"/>
                <a:gd name="T13" fmla="*/ 431 h 496"/>
                <a:gd name="T14" fmla="*/ 57 w 343"/>
                <a:gd name="T15" fmla="*/ 448 h 496"/>
                <a:gd name="T16" fmla="*/ 105 w 343"/>
                <a:gd name="T17" fmla="*/ 496 h 496"/>
                <a:gd name="T18" fmla="*/ 238 w 343"/>
                <a:gd name="T19" fmla="*/ 496 h 496"/>
                <a:gd name="T20" fmla="*/ 286 w 343"/>
                <a:gd name="T21" fmla="*/ 448 h 496"/>
                <a:gd name="T22" fmla="*/ 282 w 343"/>
                <a:gd name="T23" fmla="*/ 431 h 496"/>
                <a:gd name="T24" fmla="*/ 305 w 343"/>
                <a:gd name="T25" fmla="*/ 391 h 496"/>
                <a:gd name="T26" fmla="*/ 267 w 343"/>
                <a:gd name="T27" fmla="*/ 344 h 496"/>
                <a:gd name="T28" fmla="*/ 267 w 343"/>
                <a:gd name="T29" fmla="*/ 314 h 496"/>
                <a:gd name="T30" fmla="*/ 343 w 343"/>
                <a:gd name="T31" fmla="*/ 172 h 496"/>
                <a:gd name="T32" fmla="*/ 238 w 343"/>
                <a:gd name="T33" fmla="*/ 457 h 496"/>
                <a:gd name="T34" fmla="*/ 105 w 343"/>
                <a:gd name="T35" fmla="*/ 457 h 496"/>
                <a:gd name="T36" fmla="*/ 95 w 343"/>
                <a:gd name="T37" fmla="*/ 448 h 496"/>
                <a:gd name="T38" fmla="*/ 105 w 343"/>
                <a:gd name="T39" fmla="*/ 438 h 496"/>
                <a:gd name="T40" fmla="*/ 238 w 343"/>
                <a:gd name="T41" fmla="*/ 438 h 496"/>
                <a:gd name="T42" fmla="*/ 248 w 343"/>
                <a:gd name="T43" fmla="*/ 448 h 496"/>
                <a:gd name="T44" fmla="*/ 238 w 343"/>
                <a:gd name="T45" fmla="*/ 457 h 496"/>
                <a:gd name="T46" fmla="*/ 257 w 343"/>
                <a:gd name="T47" fmla="*/ 400 h 496"/>
                <a:gd name="T48" fmla="*/ 238 w 343"/>
                <a:gd name="T49" fmla="*/ 400 h 496"/>
                <a:gd name="T50" fmla="*/ 105 w 343"/>
                <a:gd name="T51" fmla="*/ 400 h 496"/>
                <a:gd name="T52" fmla="*/ 86 w 343"/>
                <a:gd name="T53" fmla="*/ 400 h 496"/>
                <a:gd name="T54" fmla="*/ 76 w 343"/>
                <a:gd name="T55" fmla="*/ 391 h 496"/>
                <a:gd name="T56" fmla="*/ 86 w 343"/>
                <a:gd name="T57" fmla="*/ 381 h 496"/>
                <a:gd name="T58" fmla="*/ 257 w 343"/>
                <a:gd name="T59" fmla="*/ 381 h 496"/>
                <a:gd name="T60" fmla="*/ 267 w 343"/>
                <a:gd name="T61" fmla="*/ 391 h 496"/>
                <a:gd name="T62" fmla="*/ 257 w 343"/>
                <a:gd name="T63" fmla="*/ 400 h 496"/>
                <a:gd name="T64" fmla="*/ 152 w 343"/>
                <a:gd name="T65" fmla="*/ 172 h 496"/>
                <a:gd name="T66" fmla="*/ 171 w 343"/>
                <a:gd name="T67" fmla="*/ 153 h 496"/>
                <a:gd name="T68" fmla="*/ 190 w 343"/>
                <a:gd name="T69" fmla="*/ 172 h 496"/>
                <a:gd name="T70" fmla="*/ 171 w 343"/>
                <a:gd name="T71" fmla="*/ 191 h 496"/>
                <a:gd name="T72" fmla="*/ 152 w 343"/>
                <a:gd name="T73" fmla="*/ 172 h 496"/>
                <a:gd name="T74" fmla="*/ 238 w 343"/>
                <a:gd name="T75" fmla="*/ 287 h 496"/>
                <a:gd name="T76" fmla="*/ 229 w 343"/>
                <a:gd name="T77" fmla="*/ 293 h 496"/>
                <a:gd name="T78" fmla="*/ 229 w 343"/>
                <a:gd name="T79" fmla="*/ 343 h 496"/>
                <a:gd name="T80" fmla="*/ 190 w 343"/>
                <a:gd name="T81" fmla="*/ 343 h 496"/>
                <a:gd name="T82" fmla="*/ 190 w 343"/>
                <a:gd name="T83" fmla="*/ 225 h 496"/>
                <a:gd name="T84" fmla="*/ 229 w 343"/>
                <a:gd name="T85" fmla="*/ 172 h 496"/>
                <a:gd name="T86" fmla="*/ 171 w 343"/>
                <a:gd name="T87" fmla="*/ 115 h 496"/>
                <a:gd name="T88" fmla="*/ 114 w 343"/>
                <a:gd name="T89" fmla="*/ 172 h 496"/>
                <a:gd name="T90" fmla="*/ 152 w 343"/>
                <a:gd name="T91" fmla="*/ 225 h 496"/>
                <a:gd name="T92" fmla="*/ 152 w 343"/>
                <a:gd name="T93" fmla="*/ 343 h 496"/>
                <a:gd name="T94" fmla="*/ 114 w 343"/>
                <a:gd name="T95" fmla="*/ 343 h 496"/>
                <a:gd name="T96" fmla="*/ 114 w 343"/>
                <a:gd name="T97" fmla="*/ 293 h 496"/>
                <a:gd name="T98" fmla="*/ 105 w 343"/>
                <a:gd name="T99" fmla="*/ 287 h 496"/>
                <a:gd name="T100" fmla="*/ 38 w 343"/>
                <a:gd name="T101" fmla="*/ 172 h 496"/>
                <a:gd name="T102" fmla="*/ 171 w 343"/>
                <a:gd name="T103" fmla="*/ 38 h 496"/>
                <a:gd name="T104" fmla="*/ 305 w 343"/>
                <a:gd name="T105" fmla="*/ 172 h 496"/>
                <a:gd name="T106" fmla="*/ 238 w 343"/>
                <a:gd name="T107" fmla="*/ 28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3" h="496">
                  <a:moveTo>
                    <a:pt x="343" y="172"/>
                  </a:moveTo>
                  <a:cubicBezTo>
                    <a:pt x="343" y="77"/>
                    <a:pt x="266" y="0"/>
                    <a:pt x="171" y="0"/>
                  </a:cubicBezTo>
                  <a:cubicBezTo>
                    <a:pt x="77" y="0"/>
                    <a:pt x="0" y="77"/>
                    <a:pt x="0" y="172"/>
                  </a:cubicBezTo>
                  <a:cubicBezTo>
                    <a:pt x="0" y="229"/>
                    <a:pt x="29" y="282"/>
                    <a:pt x="76" y="314"/>
                  </a:cubicBezTo>
                  <a:cubicBezTo>
                    <a:pt x="76" y="344"/>
                    <a:pt x="76" y="344"/>
                    <a:pt x="76" y="344"/>
                  </a:cubicBezTo>
                  <a:cubicBezTo>
                    <a:pt x="54" y="349"/>
                    <a:pt x="38" y="368"/>
                    <a:pt x="38" y="391"/>
                  </a:cubicBezTo>
                  <a:cubicBezTo>
                    <a:pt x="38" y="408"/>
                    <a:pt x="47" y="422"/>
                    <a:pt x="60" y="431"/>
                  </a:cubicBezTo>
                  <a:cubicBezTo>
                    <a:pt x="58" y="436"/>
                    <a:pt x="57" y="442"/>
                    <a:pt x="57" y="448"/>
                  </a:cubicBezTo>
                  <a:cubicBezTo>
                    <a:pt x="57" y="474"/>
                    <a:pt x="78" y="496"/>
                    <a:pt x="105" y="496"/>
                  </a:cubicBezTo>
                  <a:cubicBezTo>
                    <a:pt x="238" y="496"/>
                    <a:pt x="238" y="496"/>
                    <a:pt x="238" y="496"/>
                  </a:cubicBezTo>
                  <a:cubicBezTo>
                    <a:pt x="264" y="496"/>
                    <a:pt x="286" y="474"/>
                    <a:pt x="286" y="448"/>
                  </a:cubicBezTo>
                  <a:cubicBezTo>
                    <a:pt x="286" y="442"/>
                    <a:pt x="284" y="436"/>
                    <a:pt x="282" y="431"/>
                  </a:cubicBezTo>
                  <a:cubicBezTo>
                    <a:pt x="296" y="423"/>
                    <a:pt x="305" y="408"/>
                    <a:pt x="305" y="391"/>
                  </a:cubicBezTo>
                  <a:cubicBezTo>
                    <a:pt x="305" y="368"/>
                    <a:pt x="288" y="349"/>
                    <a:pt x="267" y="344"/>
                  </a:cubicBezTo>
                  <a:cubicBezTo>
                    <a:pt x="267" y="314"/>
                    <a:pt x="267" y="314"/>
                    <a:pt x="267" y="314"/>
                  </a:cubicBezTo>
                  <a:cubicBezTo>
                    <a:pt x="314" y="282"/>
                    <a:pt x="343" y="229"/>
                    <a:pt x="343" y="172"/>
                  </a:cubicBezTo>
                  <a:close/>
                  <a:moveTo>
                    <a:pt x="238" y="457"/>
                  </a:moveTo>
                  <a:cubicBezTo>
                    <a:pt x="105" y="457"/>
                    <a:pt x="105" y="457"/>
                    <a:pt x="105" y="457"/>
                  </a:cubicBezTo>
                  <a:cubicBezTo>
                    <a:pt x="100" y="457"/>
                    <a:pt x="95" y="453"/>
                    <a:pt x="95" y="448"/>
                  </a:cubicBezTo>
                  <a:cubicBezTo>
                    <a:pt x="95" y="443"/>
                    <a:pt x="100" y="438"/>
                    <a:pt x="105" y="438"/>
                  </a:cubicBezTo>
                  <a:cubicBezTo>
                    <a:pt x="238" y="438"/>
                    <a:pt x="238" y="438"/>
                    <a:pt x="238" y="438"/>
                  </a:cubicBezTo>
                  <a:cubicBezTo>
                    <a:pt x="243" y="438"/>
                    <a:pt x="248" y="443"/>
                    <a:pt x="248" y="448"/>
                  </a:cubicBezTo>
                  <a:cubicBezTo>
                    <a:pt x="248" y="453"/>
                    <a:pt x="243" y="457"/>
                    <a:pt x="238" y="457"/>
                  </a:cubicBezTo>
                  <a:close/>
                  <a:moveTo>
                    <a:pt x="257" y="400"/>
                  </a:moveTo>
                  <a:cubicBezTo>
                    <a:pt x="238" y="400"/>
                    <a:pt x="238" y="400"/>
                    <a:pt x="238" y="400"/>
                  </a:cubicBezTo>
                  <a:cubicBezTo>
                    <a:pt x="105" y="400"/>
                    <a:pt x="105" y="400"/>
                    <a:pt x="105" y="400"/>
                  </a:cubicBezTo>
                  <a:cubicBezTo>
                    <a:pt x="86" y="400"/>
                    <a:pt x="86" y="400"/>
                    <a:pt x="86" y="400"/>
                  </a:cubicBezTo>
                  <a:cubicBezTo>
                    <a:pt x="80" y="400"/>
                    <a:pt x="76" y="396"/>
                    <a:pt x="76" y="391"/>
                  </a:cubicBezTo>
                  <a:cubicBezTo>
                    <a:pt x="76" y="386"/>
                    <a:pt x="80" y="381"/>
                    <a:pt x="86" y="381"/>
                  </a:cubicBezTo>
                  <a:cubicBezTo>
                    <a:pt x="257" y="381"/>
                    <a:pt x="257" y="381"/>
                    <a:pt x="257" y="381"/>
                  </a:cubicBezTo>
                  <a:cubicBezTo>
                    <a:pt x="262" y="381"/>
                    <a:pt x="267" y="386"/>
                    <a:pt x="267" y="391"/>
                  </a:cubicBezTo>
                  <a:cubicBezTo>
                    <a:pt x="267" y="396"/>
                    <a:pt x="262" y="400"/>
                    <a:pt x="257" y="400"/>
                  </a:cubicBezTo>
                  <a:close/>
                  <a:moveTo>
                    <a:pt x="152" y="172"/>
                  </a:moveTo>
                  <a:cubicBezTo>
                    <a:pt x="152" y="161"/>
                    <a:pt x="161" y="153"/>
                    <a:pt x="171" y="153"/>
                  </a:cubicBezTo>
                  <a:cubicBezTo>
                    <a:pt x="182" y="153"/>
                    <a:pt x="190" y="161"/>
                    <a:pt x="190" y="172"/>
                  </a:cubicBezTo>
                  <a:cubicBezTo>
                    <a:pt x="190" y="182"/>
                    <a:pt x="182" y="191"/>
                    <a:pt x="171" y="191"/>
                  </a:cubicBezTo>
                  <a:cubicBezTo>
                    <a:pt x="161" y="191"/>
                    <a:pt x="152" y="182"/>
                    <a:pt x="152" y="172"/>
                  </a:cubicBezTo>
                  <a:close/>
                  <a:moveTo>
                    <a:pt x="238" y="287"/>
                  </a:moveTo>
                  <a:cubicBezTo>
                    <a:pt x="229" y="293"/>
                    <a:pt x="229" y="293"/>
                    <a:pt x="229" y="293"/>
                  </a:cubicBezTo>
                  <a:cubicBezTo>
                    <a:pt x="229" y="343"/>
                    <a:pt x="229" y="343"/>
                    <a:pt x="229" y="343"/>
                  </a:cubicBezTo>
                  <a:cubicBezTo>
                    <a:pt x="190" y="343"/>
                    <a:pt x="190" y="343"/>
                    <a:pt x="190" y="343"/>
                  </a:cubicBezTo>
                  <a:cubicBezTo>
                    <a:pt x="190" y="225"/>
                    <a:pt x="190" y="225"/>
                    <a:pt x="190" y="225"/>
                  </a:cubicBezTo>
                  <a:cubicBezTo>
                    <a:pt x="213" y="217"/>
                    <a:pt x="229" y="197"/>
                    <a:pt x="229" y="172"/>
                  </a:cubicBezTo>
                  <a:cubicBezTo>
                    <a:pt x="229" y="140"/>
                    <a:pt x="203" y="115"/>
                    <a:pt x="171" y="115"/>
                  </a:cubicBezTo>
                  <a:cubicBezTo>
                    <a:pt x="140" y="115"/>
                    <a:pt x="114" y="140"/>
                    <a:pt x="114" y="172"/>
                  </a:cubicBezTo>
                  <a:cubicBezTo>
                    <a:pt x="114" y="197"/>
                    <a:pt x="130" y="217"/>
                    <a:pt x="152" y="225"/>
                  </a:cubicBezTo>
                  <a:cubicBezTo>
                    <a:pt x="152" y="343"/>
                    <a:pt x="152" y="343"/>
                    <a:pt x="152" y="343"/>
                  </a:cubicBezTo>
                  <a:cubicBezTo>
                    <a:pt x="114" y="343"/>
                    <a:pt x="114" y="343"/>
                    <a:pt x="114" y="343"/>
                  </a:cubicBezTo>
                  <a:cubicBezTo>
                    <a:pt x="114" y="293"/>
                    <a:pt x="114" y="293"/>
                    <a:pt x="114" y="293"/>
                  </a:cubicBezTo>
                  <a:cubicBezTo>
                    <a:pt x="105" y="287"/>
                    <a:pt x="105" y="287"/>
                    <a:pt x="105" y="287"/>
                  </a:cubicBezTo>
                  <a:cubicBezTo>
                    <a:pt x="64" y="263"/>
                    <a:pt x="38" y="219"/>
                    <a:pt x="38" y="172"/>
                  </a:cubicBezTo>
                  <a:cubicBezTo>
                    <a:pt x="38" y="98"/>
                    <a:pt x="98" y="38"/>
                    <a:pt x="171" y="38"/>
                  </a:cubicBezTo>
                  <a:cubicBezTo>
                    <a:pt x="245" y="38"/>
                    <a:pt x="305" y="98"/>
                    <a:pt x="305" y="172"/>
                  </a:cubicBezTo>
                  <a:cubicBezTo>
                    <a:pt x="305" y="219"/>
                    <a:pt x="279" y="263"/>
                    <a:pt x="238" y="2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6" name="Rectangle 13">
              <a:extLst>
                <a:ext uri="{FF2B5EF4-FFF2-40B4-BE49-F238E27FC236}">
                  <a16:creationId xmlns:a16="http://schemas.microsoft.com/office/drawing/2014/main" id="{6CC4EE22-B78A-79D0-E2A5-DEEA4EA07572}"/>
                </a:ext>
              </a:extLst>
            </p:cNvPr>
            <p:cNvSpPr>
              <a:spLocks noChangeArrowheads="1"/>
            </p:cNvSpPr>
            <p:nvPr/>
          </p:nvSpPr>
          <p:spPr bwMode="auto">
            <a:xfrm>
              <a:off x="10517188" y="2243138"/>
              <a:ext cx="4921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7" name="Freeform 14">
              <a:extLst>
                <a:ext uri="{FF2B5EF4-FFF2-40B4-BE49-F238E27FC236}">
                  <a16:creationId xmlns:a16="http://schemas.microsoft.com/office/drawing/2014/main" id="{A6980212-8291-EFF4-DCC9-673A736292B9}"/>
                </a:ext>
              </a:extLst>
            </p:cNvPr>
            <p:cNvSpPr>
              <a:spLocks/>
            </p:cNvSpPr>
            <p:nvPr/>
          </p:nvSpPr>
          <p:spPr bwMode="auto">
            <a:xfrm>
              <a:off x="10377488" y="2270126"/>
              <a:ext cx="65088" cy="65088"/>
            </a:xfrm>
            <a:custGeom>
              <a:avLst/>
              <a:gdLst>
                <a:gd name="T0" fmla="*/ 26 w 41"/>
                <a:gd name="T1" fmla="*/ 0 h 41"/>
                <a:gd name="T2" fmla="*/ 41 w 41"/>
                <a:gd name="T3" fmla="*/ 26 h 41"/>
                <a:gd name="T4" fmla="*/ 15 w 41"/>
                <a:gd name="T5" fmla="*/ 41 h 41"/>
                <a:gd name="T6" fmla="*/ 0 w 41"/>
                <a:gd name="T7" fmla="*/ 15 h 41"/>
                <a:gd name="T8" fmla="*/ 26 w 41"/>
                <a:gd name="T9" fmla="*/ 0 h 41"/>
              </a:gdLst>
              <a:ahLst/>
              <a:cxnLst>
                <a:cxn ang="0">
                  <a:pos x="T0" y="T1"/>
                </a:cxn>
                <a:cxn ang="0">
                  <a:pos x="T2" y="T3"/>
                </a:cxn>
                <a:cxn ang="0">
                  <a:pos x="T4" y="T5"/>
                </a:cxn>
                <a:cxn ang="0">
                  <a:pos x="T6" y="T7"/>
                </a:cxn>
                <a:cxn ang="0">
                  <a:pos x="T8" y="T9"/>
                </a:cxn>
              </a:cxnLst>
              <a:rect l="0" t="0" r="r" b="b"/>
              <a:pathLst>
                <a:path w="41" h="41">
                  <a:moveTo>
                    <a:pt x="26" y="0"/>
                  </a:moveTo>
                  <a:lnTo>
                    <a:pt x="41"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8" name="Freeform 15">
              <a:extLst>
                <a:ext uri="{FF2B5EF4-FFF2-40B4-BE49-F238E27FC236}">
                  <a16:creationId xmlns:a16="http://schemas.microsoft.com/office/drawing/2014/main" id="{D204929A-AC1A-A600-55A1-2D2F48DA2089}"/>
                </a:ext>
              </a:extLst>
            </p:cNvPr>
            <p:cNvSpPr>
              <a:spLocks/>
            </p:cNvSpPr>
            <p:nvPr/>
          </p:nvSpPr>
          <p:spPr bwMode="auto">
            <a:xfrm>
              <a:off x="10279063" y="2366963"/>
              <a:ext cx="66675" cy="65088"/>
            </a:xfrm>
            <a:custGeom>
              <a:avLst/>
              <a:gdLst>
                <a:gd name="T0" fmla="*/ 16 w 42"/>
                <a:gd name="T1" fmla="*/ 0 h 41"/>
                <a:gd name="T2" fmla="*/ 42 w 42"/>
                <a:gd name="T3" fmla="*/ 15 h 41"/>
                <a:gd name="T4" fmla="*/ 27 w 42"/>
                <a:gd name="T5" fmla="*/ 41 h 41"/>
                <a:gd name="T6" fmla="*/ 0 w 42"/>
                <a:gd name="T7" fmla="*/ 26 h 41"/>
                <a:gd name="T8" fmla="*/ 16 w 42"/>
                <a:gd name="T9" fmla="*/ 0 h 41"/>
              </a:gdLst>
              <a:ahLst/>
              <a:cxnLst>
                <a:cxn ang="0">
                  <a:pos x="T0" y="T1"/>
                </a:cxn>
                <a:cxn ang="0">
                  <a:pos x="T2" y="T3"/>
                </a:cxn>
                <a:cxn ang="0">
                  <a:pos x="T4" y="T5"/>
                </a:cxn>
                <a:cxn ang="0">
                  <a:pos x="T6" y="T7"/>
                </a:cxn>
                <a:cxn ang="0">
                  <a:pos x="T8" y="T9"/>
                </a:cxn>
              </a:cxnLst>
              <a:rect l="0" t="0" r="r" b="b"/>
              <a:pathLst>
                <a:path w="42" h="41">
                  <a:moveTo>
                    <a:pt x="16" y="0"/>
                  </a:moveTo>
                  <a:lnTo>
                    <a:pt x="42" y="15"/>
                  </a:lnTo>
                  <a:lnTo>
                    <a:pt x="27" y="41"/>
                  </a:lnTo>
                  <a:lnTo>
                    <a:pt x="0" y="26"/>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9" name="Rectangle 16">
              <a:extLst>
                <a:ext uri="{FF2B5EF4-FFF2-40B4-BE49-F238E27FC236}">
                  <a16:creationId xmlns:a16="http://schemas.microsoft.com/office/drawing/2014/main" id="{3C1FCA53-46A4-BA1F-9B99-21509B77D4EA}"/>
                </a:ext>
              </a:extLst>
            </p:cNvPr>
            <p:cNvSpPr>
              <a:spLocks noChangeArrowheads="1"/>
            </p:cNvSpPr>
            <p:nvPr/>
          </p:nvSpPr>
          <p:spPr bwMode="auto">
            <a:xfrm>
              <a:off x="10253663"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0" name="Freeform 17">
              <a:extLst>
                <a:ext uri="{FF2B5EF4-FFF2-40B4-BE49-F238E27FC236}">
                  <a16:creationId xmlns:a16="http://schemas.microsoft.com/office/drawing/2014/main" id="{5501C364-4895-68EC-6B3E-2F4B56F2F7AB}"/>
                </a:ext>
              </a:extLst>
            </p:cNvPr>
            <p:cNvSpPr>
              <a:spLocks/>
            </p:cNvSpPr>
            <p:nvPr/>
          </p:nvSpPr>
          <p:spPr bwMode="auto">
            <a:xfrm>
              <a:off x="10279063" y="2630488"/>
              <a:ext cx="66675" cy="68263"/>
            </a:xfrm>
            <a:custGeom>
              <a:avLst/>
              <a:gdLst>
                <a:gd name="T0" fmla="*/ 16 w 42"/>
                <a:gd name="T1" fmla="*/ 43 h 43"/>
                <a:gd name="T2" fmla="*/ 0 w 42"/>
                <a:gd name="T3" fmla="*/ 16 h 43"/>
                <a:gd name="T4" fmla="*/ 27 w 42"/>
                <a:gd name="T5" fmla="*/ 0 h 43"/>
                <a:gd name="T6" fmla="*/ 42 w 42"/>
                <a:gd name="T7" fmla="*/ 27 h 43"/>
                <a:gd name="T8" fmla="*/ 16 w 42"/>
                <a:gd name="T9" fmla="*/ 43 h 43"/>
              </a:gdLst>
              <a:ahLst/>
              <a:cxnLst>
                <a:cxn ang="0">
                  <a:pos x="T0" y="T1"/>
                </a:cxn>
                <a:cxn ang="0">
                  <a:pos x="T2" y="T3"/>
                </a:cxn>
                <a:cxn ang="0">
                  <a:pos x="T4" y="T5"/>
                </a:cxn>
                <a:cxn ang="0">
                  <a:pos x="T6" y="T7"/>
                </a:cxn>
                <a:cxn ang="0">
                  <a:pos x="T8" y="T9"/>
                </a:cxn>
              </a:cxnLst>
              <a:rect l="0" t="0" r="r" b="b"/>
              <a:pathLst>
                <a:path w="42" h="43">
                  <a:moveTo>
                    <a:pt x="16" y="43"/>
                  </a:moveTo>
                  <a:lnTo>
                    <a:pt x="0" y="16"/>
                  </a:lnTo>
                  <a:lnTo>
                    <a:pt x="27" y="0"/>
                  </a:lnTo>
                  <a:lnTo>
                    <a:pt x="42" y="27"/>
                  </a:lnTo>
                  <a:lnTo>
                    <a:pt x="1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1" name="Freeform 18">
              <a:extLst>
                <a:ext uri="{FF2B5EF4-FFF2-40B4-BE49-F238E27FC236}">
                  <a16:creationId xmlns:a16="http://schemas.microsoft.com/office/drawing/2014/main" id="{04C207B4-CF24-2205-3ACA-B513F325CEC9}"/>
                </a:ext>
              </a:extLst>
            </p:cNvPr>
            <p:cNvSpPr>
              <a:spLocks/>
            </p:cNvSpPr>
            <p:nvPr/>
          </p:nvSpPr>
          <p:spPr bwMode="auto">
            <a:xfrm>
              <a:off x="10739438" y="2630488"/>
              <a:ext cx="66675" cy="66675"/>
            </a:xfrm>
            <a:custGeom>
              <a:avLst/>
              <a:gdLst>
                <a:gd name="T0" fmla="*/ 26 w 42"/>
                <a:gd name="T1" fmla="*/ 42 h 42"/>
                <a:gd name="T2" fmla="*/ 0 w 42"/>
                <a:gd name="T3" fmla="*/ 27 h 42"/>
                <a:gd name="T4" fmla="*/ 15 w 42"/>
                <a:gd name="T5" fmla="*/ 0 h 42"/>
                <a:gd name="T6" fmla="*/ 42 w 42"/>
                <a:gd name="T7" fmla="*/ 16 h 42"/>
                <a:gd name="T8" fmla="*/ 26 w 42"/>
                <a:gd name="T9" fmla="*/ 42 h 42"/>
              </a:gdLst>
              <a:ahLst/>
              <a:cxnLst>
                <a:cxn ang="0">
                  <a:pos x="T0" y="T1"/>
                </a:cxn>
                <a:cxn ang="0">
                  <a:pos x="T2" y="T3"/>
                </a:cxn>
                <a:cxn ang="0">
                  <a:pos x="T4" y="T5"/>
                </a:cxn>
                <a:cxn ang="0">
                  <a:pos x="T6" y="T7"/>
                </a:cxn>
                <a:cxn ang="0">
                  <a:pos x="T8" y="T9"/>
                </a:cxn>
              </a:cxnLst>
              <a:rect l="0" t="0" r="r" b="b"/>
              <a:pathLst>
                <a:path w="42" h="42">
                  <a:moveTo>
                    <a:pt x="26" y="42"/>
                  </a:moveTo>
                  <a:lnTo>
                    <a:pt x="0" y="27"/>
                  </a:lnTo>
                  <a:lnTo>
                    <a:pt x="15" y="0"/>
                  </a:lnTo>
                  <a:lnTo>
                    <a:pt x="42" y="16"/>
                  </a:lnTo>
                  <a:lnTo>
                    <a:pt x="2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2" name="Rectangle 19">
              <a:extLst>
                <a:ext uri="{FF2B5EF4-FFF2-40B4-BE49-F238E27FC236}">
                  <a16:creationId xmlns:a16="http://schemas.microsoft.com/office/drawing/2014/main" id="{57B98280-5C4B-3452-C502-61B75F4FED91}"/>
                </a:ext>
              </a:extLst>
            </p:cNvPr>
            <p:cNvSpPr>
              <a:spLocks noChangeArrowheads="1"/>
            </p:cNvSpPr>
            <p:nvPr/>
          </p:nvSpPr>
          <p:spPr bwMode="auto">
            <a:xfrm>
              <a:off x="10783888"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3" name="Freeform 20">
              <a:extLst>
                <a:ext uri="{FF2B5EF4-FFF2-40B4-BE49-F238E27FC236}">
                  <a16:creationId xmlns:a16="http://schemas.microsoft.com/office/drawing/2014/main" id="{0E96E6F7-DADA-9186-C0EF-EEF8AEE3EB80}"/>
                </a:ext>
              </a:extLst>
            </p:cNvPr>
            <p:cNvSpPr>
              <a:spLocks/>
            </p:cNvSpPr>
            <p:nvPr/>
          </p:nvSpPr>
          <p:spPr bwMode="auto">
            <a:xfrm>
              <a:off x="10739438" y="2366963"/>
              <a:ext cx="66675" cy="65088"/>
            </a:xfrm>
            <a:custGeom>
              <a:avLst/>
              <a:gdLst>
                <a:gd name="T0" fmla="*/ 26 w 42"/>
                <a:gd name="T1" fmla="*/ 0 h 41"/>
                <a:gd name="T2" fmla="*/ 42 w 42"/>
                <a:gd name="T3" fmla="*/ 26 h 41"/>
                <a:gd name="T4" fmla="*/ 15 w 42"/>
                <a:gd name="T5" fmla="*/ 41 h 41"/>
                <a:gd name="T6" fmla="*/ 0 w 42"/>
                <a:gd name="T7" fmla="*/ 15 h 41"/>
                <a:gd name="T8" fmla="*/ 26 w 42"/>
                <a:gd name="T9" fmla="*/ 0 h 41"/>
              </a:gdLst>
              <a:ahLst/>
              <a:cxnLst>
                <a:cxn ang="0">
                  <a:pos x="T0" y="T1"/>
                </a:cxn>
                <a:cxn ang="0">
                  <a:pos x="T2" y="T3"/>
                </a:cxn>
                <a:cxn ang="0">
                  <a:pos x="T4" y="T5"/>
                </a:cxn>
                <a:cxn ang="0">
                  <a:pos x="T6" y="T7"/>
                </a:cxn>
                <a:cxn ang="0">
                  <a:pos x="T8" y="T9"/>
                </a:cxn>
              </a:cxnLst>
              <a:rect l="0" t="0" r="r" b="b"/>
              <a:pathLst>
                <a:path w="42" h="41">
                  <a:moveTo>
                    <a:pt x="26" y="0"/>
                  </a:moveTo>
                  <a:lnTo>
                    <a:pt x="42"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4" name="Freeform 21">
              <a:extLst>
                <a:ext uri="{FF2B5EF4-FFF2-40B4-BE49-F238E27FC236}">
                  <a16:creationId xmlns:a16="http://schemas.microsoft.com/office/drawing/2014/main" id="{1568557B-884B-334B-3344-D3F2EEDFA4C5}"/>
                </a:ext>
              </a:extLst>
            </p:cNvPr>
            <p:cNvSpPr>
              <a:spLocks/>
            </p:cNvSpPr>
            <p:nvPr/>
          </p:nvSpPr>
          <p:spPr bwMode="auto">
            <a:xfrm>
              <a:off x="10642601" y="2270126"/>
              <a:ext cx="65088" cy="65088"/>
            </a:xfrm>
            <a:custGeom>
              <a:avLst/>
              <a:gdLst>
                <a:gd name="T0" fmla="*/ 15 w 41"/>
                <a:gd name="T1" fmla="*/ 0 h 41"/>
                <a:gd name="T2" fmla="*/ 41 w 41"/>
                <a:gd name="T3" fmla="*/ 15 h 41"/>
                <a:gd name="T4" fmla="*/ 26 w 41"/>
                <a:gd name="T5" fmla="*/ 41 h 41"/>
                <a:gd name="T6" fmla="*/ 0 w 41"/>
                <a:gd name="T7" fmla="*/ 26 h 41"/>
                <a:gd name="T8" fmla="*/ 15 w 41"/>
                <a:gd name="T9" fmla="*/ 0 h 41"/>
              </a:gdLst>
              <a:ahLst/>
              <a:cxnLst>
                <a:cxn ang="0">
                  <a:pos x="T0" y="T1"/>
                </a:cxn>
                <a:cxn ang="0">
                  <a:pos x="T2" y="T3"/>
                </a:cxn>
                <a:cxn ang="0">
                  <a:pos x="T4" y="T5"/>
                </a:cxn>
                <a:cxn ang="0">
                  <a:pos x="T6" y="T7"/>
                </a:cxn>
                <a:cxn ang="0">
                  <a:pos x="T8" y="T9"/>
                </a:cxn>
              </a:cxnLst>
              <a:rect l="0" t="0" r="r" b="b"/>
              <a:pathLst>
                <a:path w="41" h="41">
                  <a:moveTo>
                    <a:pt x="15" y="0"/>
                  </a:moveTo>
                  <a:lnTo>
                    <a:pt x="41" y="15"/>
                  </a:lnTo>
                  <a:lnTo>
                    <a:pt x="26" y="41"/>
                  </a:lnTo>
                  <a:lnTo>
                    <a:pt x="0" y="26"/>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5" name="Freeform 22">
              <a:extLst>
                <a:ext uri="{FF2B5EF4-FFF2-40B4-BE49-F238E27FC236}">
                  <a16:creationId xmlns:a16="http://schemas.microsoft.com/office/drawing/2014/main" id="{E6B0055E-1D53-3738-EB99-DD65285969A0}"/>
                </a:ext>
              </a:extLst>
            </p:cNvPr>
            <p:cNvSpPr>
              <a:spLocks/>
            </p:cNvSpPr>
            <p:nvPr/>
          </p:nvSpPr>
          <p:spPr bwMode="auto">
            <a:xfrm>
              <a:off x="10712826" y="3110764"/>
              <a:ext cx="144463" cy="144463"/>
            </a:xfrm>
            <a:custGeom>
              <a:avLst/>
              <a:gdLst>
                <a:gd name="T0" fmla="*/ 61 w 91"/>
                <a:gd name="T1" fmla="*/ 30 h 91"/>
                <a:gd name="T2" fmla="*/ 61 w 91"/>
                <a:gd name="T3" fmla="*/ 0 h 91"/>
                <a:gd name="T4" fmla="*/ 30 w 91"/>
                <a:gd name="T5" fmla="*/ 0 h 91"/>
                <a:gd name="T6" fmla="*/ 30 w 91"/>
                <a:gd name="T7" fmla="*/ 30 h 91"/>
                <a:gd name="T8" fmla="*/ 0 w 91"/>
                <a:gd name="T9" fmla="*/ 30 h 91"/>
                <a:gd name="T10" fmla="*/ 0 w 91"/>
                <a:gd name="T11" fmla="*/ 61 h 91"/>
                <a:gd name="T12" fmla="*/ 30 w 91"/>
                <a:gd name="T13" fmla="*/ 61 h 91"/>
                <a:gd name="T14" fmla="*/ 30 w 91"/>
                <a:gd name="T15" fmla="*/ 91 h 91"/>
                <a:gd name="T16" fmla="*/ 61 w 91"/>
                <a:gd name="T17" fmla="*/ 91 h 91"/>
                <a:gd name="T18" fmla="*/ 61 w 91"/>
                <a:gd name="T19" fmla="*/ 61 h 91"/>
                <a:gd name="T20" fmla="*/ 91 w 91"/>
                <a:gd name="T21" fmla="*/ 61 h 91"/>
                <a:gd name="T22" fmla="*/ 91 w 91"/>
                <a:gd name="T23" fmla="*/ 30 h 91"/>
                <a:gd name="T24" fmla="*/ 61 w 91"/>
                <a:gd name="T25"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30"/>
                  </a:moveTo>
                  <a:lnTo>
                    <a:pt x="61" y="0"/>
                  </a:lnTo>
                  <a:lnTo>
                    <a:pt x="30" y="0"/>
                  </a:lnTo>
                  <a:lnTo>
                    <a:pt x="30" y="30"/>
                  </a:lnTo>
                  <a:lnTo>
                    <a:pt x="0" y="30"/>
                  </a:lnTo>
                  <a:lnTo>
                    <a:pt x="0" y="61"/>
                  </a:lnTo>
                  <a:lnTo>
                    <a:pt x="30" y="61"/>
                  </a:lnTo>
                  <a:lnTo>
                    <a:pt x="30" y="91"/>
                  </a:lnTo>
                  <a:lnTo>
                    <a:pt x="61" y="91"/>
                  </a:lnTo>
                  <a:lnTo>
                    <a:pt x="61" y="61"/>
                  </a:lnTo>
                  <a:lnTo>
                    <a:pt x="91" y="61"/>
                  </a:lnTo>
                  <a:lnTo>
                    <a:pt x="91" y="30"/>
                  </a:lnTo>
                  <a:lnTo>
                    <a:pt x="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6" name="Freeform 23">
              <a:extLst>
                <a:ext uri="{FF2B5EF4-FFF2-40B4-BE49-F238E27FC236}">
                  <a16:creationId xmlns:a16="http://schemas.microsoft.com/office/drawing/2014/main" id="{DDE45D32-B956-E507-AD61-592ED5675C79}"/>
                </a:ext>
              </a:extLst>
            </p:cNvPr>
            <p:cNvSpPr>
              <a:spLocks/>
            </p:cNvSpPr>
            <p:nvPr/>
          </p:nvSpPr>
          <p:spPr bwMode="auto">
            <a:xfrm>
              <a:off x="10928351" y="2243138"/>
              <a:ext cx="144463" cy="144463"/>
            </a:xfrm>
            <a:custGeom>
              <a:avLst/>
              <a:gdLst>
                <a:gd name="T0" fmla="*/ 30 w 91"/>
                <a:gd name="T1" fmla="*/ 91 h 91"/>
                <a:gd name="T2" fmla="*/ 61 w 91"/>
                <a:gd name="T3" fmla="*/ 91 h 91"/>
                <a:gd name="T4" fmla="*/ 61 w 91"/>
                <a:gd name="T5" fmla="*/ 61 h 91"/>
                <a:gd name="T6" fmla="*/ 91 w 91"/>
                <a:gd name="T7" fmla="*/ 61 h 91"/>
                <a:gd name="T8" fmla="*/ 91 w 91"/>
                <a:gd name="T9" fmla="*/ 30 h 91"/>
                <a:gd name="T10" fmla="*/ 61 w 91"/>
                <a:gd name="T11" fmla="*/ 30 h 91"/>
                <a:gd name="T12" fmla="*/ 61 w 91"/>
                <a:gd name="T13" fmla="*/ 0 h 91"/>
                <a:gd name="T14" fmla="*/ 30 w 91"/>
                <a:gd name="T15" fmla="*/ 0 h 91"/>
                <a:gd name="T16" fmla="*/ 30 w 91"/>
                <a:gd name="T17" fmla="*/ 30 h 91"/>
                <a:gd name="T18" fmla="*/ 0 w 91"/>
                <a:gd name="T19" fmla="*/ 30 h 91"/>
                <a:gd name="T20" fmla="*/ 0 w 91"/>
                <a:gd name="T21" fmla="*/ 61 h 91"/>
                <a:gd name="T22" fmla="*/ 30 w 91"/>
                <a:gd name="T23" fmla="*/ 61 h 91"/>
                <a:gd name="T24" fmla="*/ 30 w 91"/>
                <a:gd name="T25"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30" y="91"/>
                  </a:moveTo>
                  <a:lnTo>
                    <a:pt x="61" y="91"/>
                  </a:lnTo>
                  <a:lnTo>
                    <a:pt x="61" y="61"/>
                  </a:lnTo>
                  <a:lnTo>
                    <a:pt x="91" y="61"/>
                  </a:lnTo>
                  <a:lnTo>
                    <a:pt x="91" y="30"/>
                  </a:lnTo>
                  <a:lnTo>
                    <a:pt x="61" y="30"/>
                  </a:lnTo>
                  <a:lnTo>
                    <a:pt x="61" y="0"/>
                  </a:lnTo>
                  <a:lnTo>
                    <a:pt x="30" y="0"/>
                  </a:lnTo>
                  <a:lnTo>
                    <a:pt x="30" y="30"/>
                  </a:lnTo>
                  <a:lnTo>
                    <a:pt x="0" y="30"/>
                  </a:lnTo>
                  <a:lnTo>
                    <a:pt x="0" y="61"/>
                  </a:lnTo>
                  <a:lnTo>
                    <a:pt x="30" y="6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7" name="Freeform 24">
              <a:extLst>
                <a:ext uri="{FF2B5EF4-FFF2-40B4-BE49-F238E27FC236}">
                  <a16:creationId xmlns:a16="http://schemas.microsoft.com/office/drawing/2014/main" id="{3ECDFFFF-BDE3-CCFB-B6C4-8275CE4DE3C1}"/>
                </a:ext>
              </a:extLst>
            </p:cNvPr>
            <p:cNvSpPr>
              <a:spLocks/>
            </p:cNvSpPr>
            <p:nvPr/>
          </p:nvSpPr>
          <p:spPr bwMode="auto">
            <a:xfrm>
              <a:off x="9818688" y="2628901"/>
              <a:ext cx="144463" cy="144463"/>
            </a:xfrm>
            <a:custGeom>
              <a:avLst/>
              <a:gdLst>
                <a:gd name="T0" fmla="*/ 61 w 91"/>
                <a:gd name="T1" fmla="*/ 0 h 91"/>
                <a:gd name="T2" fmla="*/ 30 w 91"/>
                <a:gd name="T3" fmla="*/ 0 h 91"/>
                <a:gd name="T4" fmla="*/ 30 w 91"/>
                <a:gd name="T5" fmla="*/ 30 h 91"/>
                <a:gd name="T6" fmla="*/ 0 w 91"/>
                <a:gd name="T7" fmla="*/ 30 h 91"/>
                <a:gd name="T8" fmla="*/ 0 w 91"/>
                <a:gd name="T9" fmla="*/ 60 h 91"/>
                <a:gd name="T10" fmla="*/ 30 w 91"/>
                <a:gd name="T11" fmla="*/ 60 h 91"/>
                <a:gd name="T12" fmla="*/ 30 w 91"/>
                <a:gd name="T13" fmla="*/ 91 h 91"/>
                <a:gd name="T14" fmla="*/ 61 w 91"/>
                <a:gd name="T15" fmla="*/ 91 h 91"/>
                <a:gd name="T16" fmla="*/ 61 w 91"/>
                <a:gd name="T17" fmla="*/ 60 h 91"/>
                <a:gd name="T18" fmla="*/ 91 w 91"/>
                <a:gd name="T19" fmla="*/ 60 h 91"/>
                <a:gd name="T20" fmla="*/ 91 w 91"/>
                <a:gd name="T21" fmla="*/ 30 h 91"/>
                <a:gd name="T22" fmla="*/ 61 w 91"/>
                <a:gd name="T23" fmla="*/ 30 h 91"/>
                <a:gd name="T24" fmla="*/ 61 w 91"/>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0"/>
                  </a:moveTo>
                  <a:lnTo>
                    <a:pt x="30" y="0"/>
                  </a:lnTo>
                  <a:lnTo>
                    <a:pt x="30" y="30"/>
                  </a:lnTo>
                  <a:lnTo>
                    <a:pt x="0" y="30"/>
                  </a:lnTo>
                  <a:lnTo>
                    <a:pt x="0" y="60"/>
                  </a:lnTo>
                  <a:lnTo>
                    <a:pt x="30" y="60"/>
                  </a:lnTo>
                  <a:lnTo>
                    <a:pt x="30" y="91"/>
                  </a:lnTo>
                  <a:lnTo>
                    <a:pt x="61" y="91"/>
                  </a:lnTo>
                  <a:lnTo>
                    <a:pt x="61" y="60"/>
                  </a:lnTo>
                  <a:lnTo>
                    <a:pt x="91" y="60"/>
                  </a:lnTo>
                  <a:lnTo>
                    <a:pt x="91" y="30"/>
                  </a:lnTo>
                  <a:lnTo>
                    <a:pt x="61" y="30"/>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8" name="Freeform 25">
              <a:extLst>
                <a:ext uri="{FF2B5EF4-FFF2-40B4-BE49-F238E27FC236}">
                  <a16:creationId xmlns:a16="http://schemas.microsoft.com/office/drawing/2014/main" id="{C77343E9-5595-0BD6-06F0-AE8B39548F77}"/>
                </a:ext>
              </a:extLst>
            </p:cNvPr>
            <p:cNvSpPr>
              <a:spLocks/>
            </p:cNvSpPr>
            <p:nvPr/>
          </p:nvSpPr>
          <p:spPr bwMode="auto">
            <a:xfrm>
              <a:off x="9986963" y="2387601"/>
              <a:ext cx="146050" cy="144463"/>
            </a:xfrm>
            <a:custGeom>
              <a:avLst/>
              <a:gdLst>
                <a:gd name="T0" fmla="*/ 92 w 92"/>
                <a:gd name="T1" fmla="*/ 31 h 91"/>
                <a:gd name="T2" fmla="*/ 62 w 92"/>
                <a:gd name="T3" fmla="*/ 31 h 91"/>
                <a:gd name="T4" fmla="*/ 62 w 92"/>
                <a:gd name="T5" fmla="*/ 0 h 91"/>
                <a:gd name="T6" fmla="*/ 30 w 92"/>
                <a:gd name="T7" fmla="*/ 0 h 91"/>
                <a:gd name="T8" fmla="*/ 30 w 92"/>
                <a:gd name="T9" fmla="*/ 31 h 91"/>
                <a:gd name="T10" fmla="*/ 0 w 92"/>
                <a:gd name="T11" fmla="*/ 31 h 91"/>
                <a:gd name="T12" fmla="*/ 0 w 92"/>
                <a:gd name="T13" fmla="*/ 61 h 91"/>
                <a:gd name="T14" fmla="*/ 30 w 92"/>
                <a:gd name="T15" fmla="*/ 61 h 91"/>
                <a:gd name="T16" fmla="*/ 30 w 92"/>
                <a:gd name="T17" fmla="*/ 91 h 91"/>
                <a:gd name="T18" fmla="*/ 62 w 92"/>
                <a:gd name="T19" fmla="*/ 91 h 91"/>
                <a:gd name="T20" fmla="*/ 62 w 92"/>
                <a:gd name="T21" fmla="*/ 61 h 91"/>
                <a:gd name="T22" fmla="*/ 92 w 92"/>
                <a:gd name="T23" fmla="*/ 61 h 91"/>
                <a:gd name="T24" fmla="*/ 92 w 92"/>
                <a:gd name="T25" fmla="*/ 3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92" y="31"/>
                  </a:moveTo>
                  <a:lnTo>
                    <a:pt x="62" y="31"/>
                  </a:lnTo>
                  <a:lnTo>
                    <a:pt x="62" y="0"/>
                  </a:lnTo>
                  <a:lnTo>
                    <a:pt x="30" y="0"/>
                  </a:lnTo>
                  <a:lnTo>
                    <a:pt x="30" y="31"/>
                  </a:lnTo>
                  <a:lnTo>
                    <a:pt x="0" y="31"/>
                  </a:lnTo>
                  <a:lnTo>
                    <a:pt x="0" y="61"/>
                  </a:lnTo>
                  <a:lnTo>
                    <a:pt x="30" y="61"/>
                  </a:lnTo>
                  <a:lnTo>
                    <a:pt x="30" y="91"/>
                  </a:lnTo>
                  <a:lnTo>
                    <a:pt x="62" y="91"/>
                  </a:lnTo>
                  <a:lnTo>
                    <a:pt x="62" y="61"/>
                  </a:lnTo>
                  <a:lnTo>
                    <a:pt x="92" y="61"/>
                  </a:lnTo>
                  <a:lnTo>
                    <a:pt x="9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9" name="Freeform 26">
              <a:extLst>
                <a:ext uri="{FF2B5EF4-FFF2-40B4-BE49-F238E27FC236}">
                  <a16:creationId xmlns:a16="http://schemas.microsoft.com/office/drawing/2014/main" id="{FE9E15F4-D4E6-F4FA-453C-9DB5A831F333}"/>
                </a:ext>
              </a:extLst>
            </p:cNvPr>
            <p:cNvSpPr>
              <a:spLocks/>
            </p:cNvSpPr>
            <p:nvPr/>
          </p:nvSpPr>
          <p:spPr bwMode="auto">
            <a:xfrm>
              <a:off x="10109201" y="2868613"/>
              <a:ext cx="144463" cy="146050"/>
            </a:xfrm>
            <a:custGeom>
              <a:avLst/>
              <a:gdLst>
                <a:gd name="T0" fmla="*/ 60 w 91"/>
                <a:gd name="T1" fmla="*/ 92 h 92"/>
                <a:gd name="T2" fmla="*/ 60 w 91"/>
                <a:gd name="T3" fmla="*/ 61 h 92"/>
                <a:gd name="T4" fmla="*/ 91 w 91"/>
                <a:gd name="T5" fmla="*/ 61 h 92"/>
                <a:gd name="T6" fmla="*/ 91 w 91"/>
                <a:gd name="T7" fmla="*/ 30 h 92"/>
                <a:gd name="T8" fmla="*/ 60 w 91"/>
                <a:gd name="T9" fmla="*/ 30 h 92"/>
                <a:gd name="T10" fmla="*/ 60 w 91"/>
                <a:gd name="T11" fmla="*/ 0 h 92"/>
                <a:gd name="T12" fmla="*/ 30 w 91"/>
                <a:gd name="T13" fmla="*/ 0 h 92"/>
                <a:gd name="T14" fmla="*/ 30 w 91"/>
                <a:gd name="T15" fmla="*/ 30 h 92"/>
                <a:gd name="T16" fmla="*/ 0 w 91"/>
                <a:gd name="T17" fmla="*/ 30 h 92"/>
                <a:gd name="T18" fmla="*/ 0 w 91"/>
                <a:gd name="T19" fmla="*/ 61 h 92"/>
                <a:gd name="T20" fmla="*/ 30 w 91"/>
                <a:gd name="T21" fmla="*/ 61 h 92"/>
                <a:gd name="T22" fmla="*/ 30 w 91"/>
                <a:gd name="T23" fmla="*/ 92 h 92"/>
                <a:gd name="T24" fmla="*/ 60 w 91"/>
                <a:gd name="T25"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2">
                  <a:moveTo>
                    <a:pt x="60" y="92"/>
                  </a:moveTo>
                  <a:lnTo>
                    <a:pt x="60" y="61"/>
                  </a:lnTo>
                  <a:lnTo>
                    <a:pt x="91" y="61"/>
                  </a:lnTo>
                  <a:lnTo>
                    <a:pt x="91" y="30"/>
                  </a:lnTo>
                  <a:lnTo>
                    <a:pt x="60" y="30"/>
                  </a:lnTo>
                  <a:lnTo>
                    <a:pt x="60" y="0"/>
                  </a:lnTo>
                  <a:lnTo>
                    <a:pt x="30" y="0"/>
                  </a:lnTo>
                  <a:lnTo>
                    <a:pt x="30" y="30"/>
                  </a:lnTo>
                  <a:lnTo>
                    <a:pt x="0" y="30"/>
                  </a:lnTo>
                  <a:lnTo>
                    <a:pt x="0" y="61"/>
                  </a:lnTo>
                  <a:lnTo>
                    <a:pt x="30" y="61"/>
                  </a:lnTo>
                  <a:lnTo>
                    <a:pt x="30" y="92"/>
                  </a:lnTo>
                  <a:lnTo>
                    <a:pt x="60"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0" name="Freeform 27">
              <a:extLst>
                <a:ext uri="{FF2B5EF4-FFF2-40B4-BE49-F238E27FC236}">
                  <a16:creationId xmlns:a16="http://schemas.microsoft.com/office/drawing/2014/main" id="{B9B2F8C9-21E6-D8E4-5F8C-96E563203A3F}"/>
                </a:ext>
              </a:extLst>
            </p:cNvPr>
            <p:cNvSpPr>
              <a:spLocks/>
            </p:cNvSpPr>
            <p:nvPr/>
          </p:nvSpPr>
          <p:spPr bwMode="auto">
            <a:xfrm>
              <a:off x="10952163" y="2747963"/>
              <a:ext cx="146050" cy="144463"/>
            </a:xfrm>
            <a:custGeom>
              <a:avLst/>
              <a:gdLst>
                <a:gd name="T0" fmla="*/ 61 w 92"/>
                <a:gd name="T1" fmla="*/ 0 h 91"/>
                <a:gd name="T2" fmla="*/ 30 w 92"/>
                <a:gd name="T3" fmla="*/ 0 h 91"/>
                <a:gd name="T4" fmla="*/ 30 w 92"/>
                <a:gd name="T5" fmla="*/ 31 h 91"/>
                <a:gd name="T6" fmla="*/ 0 w 92"/>
                <a:gd name="T7" fmla="*/ 31 h 91"/>
                <a:gd name="T8" fmla="*/ 0 w 92"/>
                <a:gd name="T9" fmla="*/ 61 h 91"/>
                <a:gd name="T10" fmla="*/ 30 w 92"/>
                <a:gd name="T11" fmla="*/ 61 h 91"/>
                <a:gd name="T12" fmla="*/ 30 w 92"/>
                <a:gd name="T13" fmla="*/ 91 h 91"/>
                <a:gd name="T14" fmla="*/ 61 w 92"/>
                <a:gd name="T15" fmla="*/ 91 h 91"/>
                <a:gd name="T16" fmla="*/ 61 w 92"/>
                <a:gd name="T17" fmla="*/ 61 h 91"/>
                <a:gd name="T18" fmla="*/ 92 w 92"/>
                <a:gd name="T19" fmla="*/ 61 h 91"/>
                <a:gd name="T20" fmla="*/ 92 w 92"/>
                <a:gd name="T21" fmla="*/ 31 h 91"/>
                <a:gd name="T22" fmla="*/ 61 w 92"/>
                <a:gd name="T23" fmla="*/ 31 h 91"/>
                <a:gd name="T24" fmla="*/ 61 w 92"/>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61" y="0"/>
                  </a:moveTo>
                  <a:lnTo>
                    <a:pt x="30" y="0"/>
                  </a:lnTo>
                  <a:lnTo>
                    <a:pt x="30" y="31"/>
                  </a:lnTo>
                  <a:lnTo>
                    <a:pt x="0" y="31"/>
                  </a:lnTo>
                  <a:lnTo>
                    <a:pt x="0" y="61"/>
                  </a:lnTo>
                  <a:lnTo>
                    <a:pt x="30" y="61"/>
                  </a:lnTo>
                  <a:lnTo>
                    <a:pt x="30" y="91"/>
                  </a:lnTo>
                  <a:lnTo>
                    <a:pt x="61" y="91"/>
                  </a:lnTo>
                  <a:lnTo>
                    <a:pt x="61" y="61"/>
                  </a:lnTo>
                  <a:lnTo>
                    <a:pt x="92" y="61"/>
                  </a:lnTo>
                  <a:lnTo>
                    <a:pt x="92" y="31"/>
                  </a:lnTo>
                  <a:lnTo>
                    <a:pt x="61" y="31"/>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61" name="Group 60">
            <a:extLst>
              <a:ext uri="{FF2B5EF4-FFF2-40B4-BE49-F238E27FC236}">
                <a16:creationId xmlns:a16="http://schemas.microsoft.com/office/drawing/2014/main" id="{4B049639-3200-0CE0-2F70-580AF970EA2D}"/>
              </a:ext>
            </a:extLst>
          </p:cNvPr>
          <p:cNvGrpSpPr/>
          <p:nvPr/>
        </p:nvGrpSpPr>
        <p:grpSpPr>
          <a:xfrm>
            <a:off x="613951" y="1458494"/>
            <a:ext cx="349688" cy="349688"/>
            <a:chOff x="8089901" y="3478213"/>
            <a:chExt cx="1125538" cy="1125537"/>
          </a:xfrm>
          <a:solidFill>
            <a:schemeClr val="tx1">
              <a:lumMod val="90000"/>
              <a:lumOff val="10000"/>
            </a:schemeClr>
          </a:solidFill>
        </p:grpSpPr>
        <p:sp>
          <p:nvSpPr>
            <p:cNvPr id="62" name="Freeform 31">
              <a:extLst>
                <a:ext uri="{FF2B5EF4-FFF2-40B4-BE49-F238E27FC236}">
                  <a16:creationId xmlns:a16="http://schemas.microsoft.com/office/drawing/2014/main" id="{A1CA848B-7F1B-A6CC-ABBD-378DD24865E4}"/>
                </a:ext>
              </a:extLst>
            </p:cNvPr>
            <p:cNvSpPr>
              <a:spLocks noEditPoints="1"/>
            </p:cNvSpPr>
            <p:nvPr/>
          </p:nvSpPr>
          <p:spPr bwMode="auto">
            <a:xfrm>
              <a:off x="8089901" y="3478213"/>
              <a:ext cx="936625" cy="1125537"/>
            </a:xfrm>
            <a:custGeom>
              <a:avLst/>
              <a:gdLst>
                <a:gd name="T0" fmla="*/ 1623 w 1708"/>
                <a:gd name="T1" fmla="*/ 1952 h 2059"/>
                <a:gd name="T2" fmla="*/ 1602 w 1708"/>
                <a:gd name="T3" fmla="*/ 1973 h 2059"/>
                <a:gd name="T4" fmla="*/ 280 w 1708"/>
                <a:gd name="T5" fmla="*/ 1973 h 2059"/>
                <a:gd name="T6" fmla="*/ 257 w 1708"/>
                <a:gd name="T7" fmla="*/ 1954 h 2059"/>
                <a:gd name="T8" fmla="*/ 257 w 1708"/>
                <a:gd name="T9" fmla="*/ 1952 h 2059"/>
                <a:gd name="T10" fmla="*/ 257 w 1708"/>
                <a:gd name="T11" fmla="*/ 142 h 2059"/>
                <a:gd name="T12" fmla="*/ 250 w 1708"/>
                <a:gd name="T13" fmla="*/ 95 h 2059"/>
                <a:gd name="T14" fmla="*/ 1566 w 1708"/>
                <a:gd name="T15" fmla="*/ 95 h 2059"/>
                <a:gd name="T16" fmla="*/ 1623 w 1708"/>
                <a:gd name="T17" fmla="*/ 153 h 2059"/>
                <a:gd name="T18" fmla="*/ 1623 w 1708"/>
                <a:gd name="T19" fmla="*/ 153 h 2059"/>
                <a:gd name="T20" fmla="*/ 1623 w 1708"/>
                <a:gd name="T21" fmla="*/ 906 h 2059"/>
                <a:gd name="T22" fmla="*/ 1708 w 1708"/>
                <a:gd name="T23" fmla="*/ 906 h 2059"/>
                <a:gd name="T24" fmla="*/ 1708 w 1708"/>
                <a:gd name="T25" fmla="*/ 153 h 2059"/>
                <a:gd name="T26" fmla="*/ 1566 w 1708"/>
                <a:gd name="T27" fmla="*/ 10 h 2059"/>
                <a:gd name="T28" fmla="*/ 162 w 1708"/>
                <a:gd name="T29" fmla="*/ 10 h 2059"/>
                <a:gd name="T30" fmla="*/ 64 w 1708"/>
                <a:gd name="T31" fmla="*/ 25 h 2059"/>
                <a:gd name="T32" fmla="*/ 1 w 1708"/>
                <a:gd name="T33" fmla="*/ 147 h 2059"/>
                <a:gd name="T34" fmla="*/ 1 w 1708"/>
                <a:gd name="T35" fmla="*/ 458 h 2059"/>
                <a:gd name="T36" fmla="*/ 101 w 1708"/>
                <a:gd name="T37" fmla="*/ 565 h 2059"/>
                <a:gd name="T38" fmla="*/ 101 w 1708"/>
                <a:gd name="T39" fmla="*/ 565 h 2059"/>
                <a:gd name="T40" fmla="*/ 172 w 1708"/>
                <a:gd name="T41" fmla="*/ 565 h 2059"/>
                <a:gd name="T42" fmla="*/ 172 w 1708"/>
                <a:gd name="T43" fmla="*/ 1952 h 2059"/>
                <a:gd name="T44" fmla="*/ 278 w 1708"/>
                <a:gd name="T45" fmla="*/ 2058 h 2059"/>
                <a:gd name="T46" fmla="*/ 1601 w 1708"/>
                <a:gd name="T47" fmla="*/ 2058 h 2059"/>
                <a:gd name="T48" fmla="*/ 1708 w 1708"/>
                <a:gd name="T49" fmla="*/ 1954 h 2059"/>
                <a:gd name="T50" fmla="*/ 1708 w 1708"/>
                <a:gd name="T51" fmla="*/ 1952 h 2059"/>
                <a:gd name="T52" fmla="*/ 1708 w 1708"/>
                <a:gd name="T53" fmla="*/ 1589 h 2059"/>
                <a:gd name="T54" fmla="*/ 1623 w 1708"/>
                <a:gd name="T55" fmla="*/ 1589 h 2059"/>
                <a:gd name="T56" fmla="*/ 1623 w 1708"/>
                <a:gd name="T57" fmla="*/ 1952 h 2059"/>
                <a:gd name="T58" fmla="*/ 172 w 1708"/>
                <a:gd name="T59" fmla="*/ 479 h 2059"/>
                <a:gd name="T60" fmla="*/ 101 w 1708"/>
                <a:gd name="T61" fmla="*/ 479 h 2059"/>
                <a:gd name="T62" fmla="*/ 87 w 1708"/>
                <a:gd name="T63" fmla="*/ 459 h 2059"/>
                <a:gd name="T64" fmla="*/ 87 w 1708"/>
                <a:gd name="T65" fmla="*/ 147 h 2059"/>
                <a:gd name="T66" fmla="*/ 111 w 1708"/>
                <a:gd name="T67" fmla="*/ 95 h 2059"/>
                <a:gd name="T68" fmla="*/ 129 w 1708"/>
                <a:gd name="T69" fmla="*/ 90 h 2059"/>
                <a:gd name="T70" fmla="*/ 129 w 1708"/>
                <a:gd name="T71" fmla="*/ 95 h 2059"/>
                <a:gd name="T72" fmla="*/ 147 w 1708"/>
                <a:gd name="T73" fmla="*/ 95 h 2059"/>
                <a:gd name="T74" fmla="*/ 172 w 1708"/>
                <a:gd name="T75" fmla="*/ 142 h 2059"/>
                <a:gd name="T76" fmla="*/ 172 w 1708"/>
                <a:gd name="T77" fmla="*/ 479 h 2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08" h="2059">
                  <a:moveTo>
                    <a:pt x="1623" y="1952"/>
                  </a:moveTo>
                  <a:cubicBezTo>
                    <a:pt x="1623" y="1963"/>
                    <a:pt x="1614" y="1973"/>
                    <a:pt x="1602" y="1973"/>
                  </a:cubicBezTo>
                  <a:cubicBezTo>
                    <a:pt x="280" y="1973"/>
                    <a:pt x="280" y="1973"/>
                    <a:pt x="280" y="1973"/>
                  </a:cubicBezTo>
                  <a:cubicBezTo>
                    <a:pt x="268" y="1974"/>
                    <a:pt x="258" y="1965"/>
                    <a:pt x="257" y="1954"/>
                  </a:cubicBezTo>
                  <a:cubicBezTo>
                    <a:pt x="257" y="1953"/>
                    <a:pt x="257" y="1953"/>
                    <a:pt x="257" y="1952"/>
                  </a:cubicBezTo>
                  <a:cubicBezTo>
                    <a:pt x="257" y="142"/>
                    <a:pt x="257" y="142"/>
                    <a:pt x="257" y="142"/>
                  </a:cubicBezTo>
                  <a:cubicBezTo>
                    <a:pt x="257" y="126"/>
                    <a:pt x="255" y="110"/>
                    <a:pt x="250" y="95"/>
                  </a:cubicBezTo>
                  <a:cubicBezTo>
                    <a:pt x="1566" y="95"/>
                    <a:pt x="1566" y="95"/>
                    <a:pt x="1566" y="95"/>
                  </a:cubicBezTo>
                  <a:cubicBezTo>
                    <a:pt x="1598" y="96"/>
                    <a:pt x="1623" y="121"/>
                    <a:pt x="1623" y="153"/>
                  </a:cubicBezTo>
                  <a:cubicBezTo>
                    <a:pt x="1623" y="153"/>
                    <a:pt x="1623" y="153"/>
                    <a:pt x="1623" y="153"/>
                  </a:cubicBezTo>
                  <a:cubicBezTo>
                    <a:pt x="1623" y="906"/>
                    <a:pt x="1623" y="906"/>
                    <a:pt x="1623" y="906"/>
                  </a:cubicBezTo>
                  <a:cubicBezTo>
                    <a:pt x="1708" y="906"/>
                    <a:pt x="1708" y="906"/>
                    <a:pt x="1708" y="906"/>
                  </a:cubicBezTo>
                  <a:cubicBezTo>
                    <a:pt x="1708" y="153"/>
                    <a:pt x="1708" y="153"/>
                    <a:pt x="1708" y="153"/>
                  </a:cubicBezTo>
                  <a:cubicBezTo>
                    <a:pt x="1708" y="75"/>
                    <a:pt x="1645" y="10"/>
                    <a:pt x="1566" y="10"/>
                  </a:cubicBezTo>
                  <a:cubicBezTo>
                    <a:pt x="162" y="10"/>
                    <a:pt x="162" y="10"/>
                    <a:pt x="162" y="10"/>
                  </a:cubicBezTo>
                  <a:cubicBezTo>
                    <a:pt x="129" y="0"/>
                    <a:pt x="93" y="6"/>
                    <a:pt x="64" y="25"/>
                  </a:cubicBezTo>
                  <a:cubicBezTo>
                    <a:pt x="24" y="53"/>
                    <a:pt x="1" y="99"/>
                    <a:pt x="1" y="147"/>
                  </a:cubicBezTo>
                  <a:cubicBezTo>
                    <a:pt x="1" y="458"/>
                    <a:pt x="1" y="458"/>
                    <a:pt x="1" y="458"/>
                  </a:cubicBezTo>
                  <a:cubicBezTo>
                    <a:pt x="0" y="515"/>
                    <a:pt x="44" y="563"/>
                    <a:pt x="101" y="565"/>
                  </a:cubicBezTo>
                  <a:cubicBezTo>
                    <a:pt x="101" y="565"/>
                    <a:pt x="101" y="565"/>
                    <a:pt x="101" y="565"/>
                  </a:cubicBezTo>
                  <a:cubicBezTo>
                    <a:pt x="172" y="565"/>
                    <a:pt x="172" y="565"/>
                    <a:pt x="172" y="565"/>
                  </a:cubicBezTo>
                  <a:cubicBezTo>
                    <a:pt x="172" y="1952"/>
                    <a:pt x="172" y="1952"/>
                    <a:pt x="172" y="1952"/>
                  </a:cubicBezTo>
                  <a:cubicBezTo>
                    <a:pt x="172" y="2011"/>
                    <a:pt x="219" y="2058"/>
                    <a:pt x="278" y="2058"/>
                  </a:cubicBezTo>
                  <a:cubicBezTo>
                    <a:pt x="1601" y="2058"/>
                    <a:pt x="1601" y="2058"/>
                    <a:pt x="1601" y="2058"/>
                  </a:cubicBezTo>
                  <a:cubicBezTo>
                    <a:pt x="1659" y="2059"/>
                    <a:pt x="1707" y="2012"/>
                    <a:pt x="1708" y="1954"/>
                  </a:cubicBezTo>
                  <a:cubicBezTo>
                    <a:pt x="1708" y="1953"/>
                    <a:pt x="1708" y="1953"/>
                    <a:pt x="1708" y="1952"/>
                  </a:cubicBezTo>
                  <a:cubicBezTo>
                    <a:pt x="1708" y="1589"/>
                    <a:pt x="1708" y="1589"/>
                    <a:pt x="1708" y="1589"/>
                  </a:cubicBezTo>
                  <a:cubicBezTo>
                    <a:pt x="1623" y="1589"/>
                    <a:pt x="1623" y="1589"/>
                    <a:pt x="1623" y="1589"/>
                  </a:cubicBezTo>
                  <a:lnTo>
                    <a:pt x="1623" y="1952"/>
                  </a:lnTo>
                  <a:close/>
                  <a:moveTo>
                    <a:pt x="172" y="479"/>
                  </a:moveTo>
                  <a:cubicBezTo>
                    <a:pt x="101" y="479"/>
                    <a:pt x="101" y="479"/>
                    <a:pt x="101" y="479"/>
                  </a:cubicBezTo>
                  <a:cubicBezTo>
                    <a:pt x="94" y="479"/>
                    <a:pt x="87" y="471"/>
                    <a:pt x="87" y="459"/>
                  </a:cubicBezTo>
                  <a:cubicBezTo>
                    <a:pt x="87" y="147"/>
                    <a:pt x="87" y="147"/>
                    <a:pt x="87" y="147"/>
                  </a:cubicBezTo>
                  <a:cubicBezTo>
                    <a:pt x="86" y="127"/>
                    <a:pt x="95" y="108"/>
                    <a:pt x="111" y="95"/>
                  </a:cubicBezTo>
                  <a:cubicBezTo>
                    <a:pt x="116" y="92"/>
                    <a:pt x="123" y="90"/>
                    <a:pt x="129" y="90"/>
                  </a:cubicBezTo>
                  <a:cubicBezTo>
                    <a:pt x="129" y="95"/>
                    <a:pt x="129" y="95"/>
                    <a:pt x="129" y="95"/>
                  </a:cubicBezTo>
                  <a:cubicBezTo>
                    <a:pt x="147" y="95"/>
                    <a:pt x="147" y="95"/>
                    <a:pt x="147" y="95"/>
                  </a:cubicBezTo>
                  <a:cubicBezTo>
                    <a:pt x="163" y="105"/>
                    <a:pt x="173" y="123"/>
                    <a:pt x="172" y="142"/>
                  </a:cubicBezTo>
                  <a:cubicBezTo>
                    <a:pt x="172" y="479"/>
                    <a:pt x="172" y="479"/>
                    <a:pt x="172" y="4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3" name="Freeform 32">
              <a:extLst>
                <a:ext uri="{FF2B5EF4-FFF2-40B4-BE49-F238E27FC236}">
                  <a16:creationId xmlns:a16="http://schemas.microsoft.com/office/drawing/2014/main" id="{9C530B66-2352-124C-3137-CEAD875D4A91}"/>
                </a:ext>
              </a:extLst>
            </p:cNvPr>
            <p:cNvSpPr>
              <a:spLocks noEditPoints="1"/>
            </p:cNvSpPr>
            <p:nvPr/>
          </p:nvSpPr>
          <p:spPr bwMode="auto">
            <a:xfrm>
              <a:off x="8667751" y="3948113"/>
              <a:ext cx="547688" cy="544512"/>
            </a:xfrm>
            <a:custGeom>
              <a:avLst/>
              <a:gdLst>
                <a:gd name="T0" fmla="*/ 984 w 1001"/>
                <a:gd name="T1" fmla="*/ 149 h 996"/>
                <a:gd name="T2" fmla="*/ 851 w 1001"/>
                <a:gd name="T3" fmla="*/ 16 h 996"/>
                <a:gd name="T4" fmla="*/ 791 w 1001"/>
                <a:gd name="T5" fmla="*/ 16 h 996"/>
                <a:gd name="T6" fmla="*/ 129 w 1001"/>
                <a:gd name="T7" fmla="*/ 679 h 996"/>
                <a:gd name="T8" fmla="*/ 120 w 1001"/>
                <a:gd name="T9" fmla="*/ 692 h 996"/>
                <a:gd name="T10" fmla="*/ 10 w 1001"/>
                <a:gd name="T11" fmla="*/ 935 h 996"/>
                <a:gd name="T12" fmla="*/ 31 w 1001"/>
                <a:gd name="T13" fmla="*/ 991 h 996"/>
                <a:gd name="T14" fmla="*/ 66 w 1001"/>
                <a:gd name="T15" fmla="*/ 991 h 996"/>
                <a:gd name="T16" fmla="*/ 309 w 1001"/>
                <a:gd name="T17" fmla="*/ 880 h 996"/>
                <a:gd name="T18" fmla="*/ 321 w 1001"/>
                <a:gd name="T19" fmla="*/ 872 h 996"/>
                <a:gd name="T20" fmla="*/ 984 w 1001"/>
                <a:gd name="T21" fmla="*/ 209 h 996"/>
                <a:gd name="T22" fmla="*/ 984 w 1001"/>
                <a:gd name="T23" fmla="*/ 149 h 996"/>
                <a:gd name="T24" fmla="*/ 134 w 1001"/>
                <a:gd name="T25" fmla="*/ 866 h 996"/>
                <a:gd name="T26" fmla="*/ 172 w 1001"/>
                <a:gd name="T27" fmla="*/ 781 h 996"/>
                <a:gd name="T28" fmla="*/ 218 w 1001"/>
                <a:gd name="T29" fmla="*/ 827 h 996"/>
                <a:gd name="T30" fmla="*/ 134 w 1001"/>
                <a:gd name="T31" fmla="*/ 866 h 996"/>
                <a:gd name="T32" fmla="*/ 291 w 1001"/>
                <a:gd name="T33" fmla="*/ 781 h 996"/>
                <a:gd name="T34" fmla="*/ 219 w 1001"/>
                <a:gd name="T35" fmla="*/ 709 h 996"/>
                <a:gd name="T36" fmla="*/ 667 w 1001"/>
                <a:gd name="T37" fmla="*/ 261 h 996"/>
                <a:gd name="T38" fmla="*/ 740 w 1001"/>
                <a:gd name="T39" fmla="*/ 334 h 996"/>
                <a:gd name="T40" fmla="*/ 291 w 1001"/>
                <a:gd name="T41" fmla="*/ 781 h 996"/>
                <a:gd name="T42" fmla="*/ 799 w 1001"/>
                <a:gd name="T43" fmla="*/ 273 h 996"/>
                <a:gd name="T44" fmla="*/ 727 w 1001"/>
                <a:gd name="T45" fmla="*/ 201 h 996"/>
                <a:gd name="T46" fmla="*/ 821 w 1001"/>
                <a:gd name="T47" fmla="*/ 107 h 996"/>
                <a:gd name="T48" fmla="*/ 894 w 1001"/>
                <a:gd name="T49" fmla="*/ 179 h 996"/>
                <a:gd name="T50" fmla="*/ 799 w 1001"/>
                <a:gd name="T51" fmla="*/ 27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01" h="996">
                  <a:moveTo>
                    <a:pt x="984" y="149"/>
                  </a:moveTo>
                  <a:cubicBezTo>
                    <a:pt x="851" y="16"/>
                    <a:pt x="851" y="16"/>
                    <a:pt x="851" y="16"/>
                  </a:cubicBezTo>
                  <a:cubicBezTo>
                    <a:pt x="835" y="0"/>
                    <a:pt x="808" y="0"/>
                    <a:pt x="791" y="16"/>
                  </a:cubicBezTo>
                  <a:cubicBezTo>
                    <a:pt x="129" y="679"/>
                    <a:pt x="129" y="679"/>
                    <a:pt x="129" y="679"/>
                  </a:cubicBezTo>
                  <a:cubicBezTo>
                    <a:pt x="125" y="683"/>
                    <a:pt x="122" y="687"/>
                    <a:pt x="120" y="692"/>
                  </a:cubicBezTo>
                  <a:cubicBezTo>
                    <a:pt x="10" y="935"/>
                    <a:pt x="10" y="935"/>
                    <a:pt x="10" y="935"/>
                  </a:cubicBezTo>
                  <a:cubicBezTo>
                    <a:pt x="0" y="956"/>
                    <a:pt x="10" y="981"/>
                    <a:pt x="31" y="991"/>
                  </a:cubicBezTo>
                  <a:cubicBezTo>
                    <a:pt x="42" y="996"/>
                    <a:pt x="55" y="996"/>
                    <a:pt x="66" y="991"/>
                  </a:cubicBezTo>
                  <a:cubicBezTo>
                    <a:pt x="309" y="880"/>
                    <a:pt x="309" y="880"/>
                    <a:pt x="309" y="880"/>
                  </a:cubicBezTo>
                  <a:cubicBezTo>
                    <a:pt x="313" y="878"/>
                    <a:pt x="318" y="875"/>
                    <a:pt x="321" y="872"/>
                  </a:cubicBezTo>
                  <a:cubicBezTo>
                    <a:pt x="984" y="209"/>
                    <a:pt x="984" y="209"/>
                    <a:pt x="984" y="209"/>
                  </a:cubicBezTo>
                  <a:cubicBezTo>
                    <a:pt x="1001" y="193"/>
                    <a:pt x="1001" y="166"/>
                    <a:pt x="984" y="149"/>
                  </a:cubicBezTo>
                  <a:close/>
                  <a:moveTo>
                    <a:pt x="134" y="866"/>
                  </a:moveTo>
                  <a:cubicBezTo>
                    <a:pt x="172" y="781"/>
                    <a:pt x="172" y="781"/>
                    <a:pt x="172" y="781"/>
                  </a:cubicBezTo>
                  <a:cubicBezTo>
                    <a:pt x="218" y="827"/>
                    <a:pt x="218" y="827"/>
                    <a:pt x="218" y="827"/>
                  </a:cubicBezTo>
                  <a:lnTo>
                    <a:pt x="134" y="866"/>
                  </a:lnTo>
                  <a:close/>
                  <a:moveTo>
                    <a:pt x="291" y="781"/>
                  </a:moveTo>
                  <a:cubicBezTo>
                    <a:pt x="219" y="709"/>
                    <a:pt x="219" y="709"/>
                    <a:pt x="219" y="709"/>
                  </a:cubicBezTo>
                  <a:cubicBezTo>
                    <a:pt x="667" y="261"/>
                    <a:pt x="667" y="261"/>
                    <a:pt x="667" y="261"/>
                  </a:cubicBezTo>
                  <a:cubicBezTo>
                    <a:pt x="740" y="334"/>
                    <a:pt x="740" y="334"/>
                    <a:pt x="740" y="334"/>
                  </a:cubicBezTo>
                  <a:lnTo>
                    <a:pt x="291" y="781"/>
                  </a:lnTo>
                  <a:close/>
                  <a:moveTo>
                    <a:pt x="799" y="273"/>
                  </a:moveTo>
                  <a:cubicBezTo>
                    <a:pt x="727" y="201"/>
                    <a:pt x="727" y="201"/>
                    <a:pt x="727" y="201"/>
                  </a:cubicBezTo>
                  <a:cubicBezTo>
                    <a:pt x="821" y="107"/>
                    <a:pt x="821" y="107"/>
                    <a:pt x="821" y="107"/>
                  </a:cubicBezTo>
                  <a:cubicBezTo>
                    <a:pt x="894" y="179"/>
                    <a:pt x="894" y="179"/>
                    <a:pt x="894" y="179"/>
                  </a:cubicBezTo>
                  <a:lnTo>
                    <a:pt x="799" y="2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4" name="Rectangle 33">
              <a:extLst>
                <a:ext uri="{FF2B5EF4-FFF2-40B4-BE49-F238E27FC236}">
                  <a16:creationId xmlns:a16="http://schemas.microsoft.com/office/drawing/2014/main" id="{ECCBE0E8-F84A-5F8E-E95B-47820339393C}"/>
                </a:ext>
              </a:extLst>
            </p:cNvPr>
            <p:cNvSpPr>
              <a:spLocks noChangeArrowheads="1"/>
            </p:cNvSpPr>
            <p:nvPr/>
          </p:nvSpPr>
          <p:spPr bwMode="auto">
            <a:xfrm>
              <a:off x="8394701" y="3646488"/>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5" name="Rectangle 34">
              <a:extLst>
                <a:ext uri="{FF2B5EF4-FFF2-40B4-BE49-F238E27FC236}">
                  <a16:creationId xmlns:a16="http://schemas.microsoft.com/office/drawing/2014/main" id="{EAF82C94-06BA-4526-CD1B-7556F758ADD0}"/>
                </a:ext>
              </a:extLst>
            </p:cNvPr>
            <p:cNvSpPr>
              <a:spLocks noChangeArrowheads="1"/>
            </p:cNvSpPr>
            <p:nvPr/>
          </p:nvSpPr>
          <p:spPr bwMode="auto">
            <a:xfrm>
              <a:off x="8394701" y="3810000"/>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6" name="Rectangle 35">
              <a:extLst>
                <a:ext uri="{FF2B5EF4-FFF2-40B4-BE49-F238E27FC236}">
                  <a16:creationId xmlns:a16="http://schemas.microsoft.com/office/drawing/2014/main" id="{59152EBE-6212-7394-A23F-DAD52A13EBB4}"/>
                </a:ext>
              </a:extLst>
            </p:cNvPr>
            <p:cNvSpPr>
              <a:spLocks noChangeArrowheads="1"/>
            </p:cNvSpPr>
            <p:nvPr/>
          </p:nvSpPr>
          <p:spPr bwMode="auto">
            <a:xfrm>
              <a:off x="8394701" y="3973513"/>
              <a:ext cx="42068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7" name="Rectangle 36">
              <a:extLst>
                <a:ext uri="{FF2B5EF4-FFF2-40B4-BE49-F238E27FC236}">
                  <a16:creationId xmlns:a16="http://schemas.microsoft.com/office/drawing/2014/main" id="{0C35CE1C-2A1D-ED0D-4378-69166C6D22A4}"/>
                </a:ext>
              </a:extLst>
            </p:cNvPr>
            <p:cNvSpPr>
              <a:spLocks noChangeArrowheads="1"/>
            </p:cNvSpPr>
            <p:nvPr/>
          </p:nvSpPr>
          <p:spPr bwMode="auto">
            <a:xfrm>
              <a:off x="8394701" y="4137025"/>
              <a:ext cx="1873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8" name="Rectangle 37">
              <a:extLst>
                <a:ext uri="{FF2B5EF4-FFF2-40B4-BE49-F238E27FC236}">
                  <a16:creationId xmlns:a16="http://schemas.microsoft.com/office/drawing/2014/main" id="{EF42EFE7-8103-FCBF-F6F8-EC90E53AACFE}"/>
                </a:ext>
              </a:extLst>
            </p:cNvPr>
            <p:cNvSpPr>
              <a:spLocks noChangeArrowheads="1"/>
            </p:cNvSpPr>
            <p:nvPr/>
          </p:nvSpPr>
          <p:spPr bwMode="auto">
            <a:xfrm>
              <a:off x="8651876" y="4137025"/>
              <a:ext cx="476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9" name="Rectangle 38">
              <a:extLst>
                <a:ext uri="{FF2B5EF4-FFF2-40B4-BE49-F238E27FC236}">
                  <a16:creationId xmlns:a16="http://schemas.microsoft.com/office/drawing/2014/main" id="{9B5BDC75-A1D7-D123-FB77-9D24D10FB666}"/>
                </a:ext>
              </a:extLst>
            </p:cNvPr>
            <p:cNvSpPr>
              <a:spLocks noChangeArrowheads="1"/>
            </p:cNvSpPr>
            <p:nvPr/>
          </p:nvSpPr>
          <p:spPr bwMode="auto">
            <a:xfrm>
              <a:off x="8769351" y="4137025"/>
              <a:ext cx="4603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1033" name="Title 1">
            <a:extLst>
              <a:ext uri="{FF2B5EF4-FFF2-40B4-BE49-F238E27FC236}">
                <a16:creationId xmlns:a16="http://schemas.microsoft.com/office/drawing/2014/main" id="{A3921311-4150-0DD0-7D2E-1F398D5A66F3}"/>
              </a:ext>
            </a:extLst>
          </p:cNvPr>
          <p:cNvSpPr txBox="1">
            <a:spLocks/>
          </p:cNvSpPr>
          <p:nvPr/>
        </p:nvSpPr>
        <p:spPr>
          <a:xfrm>
            <a:off x="610087" y="5499625"/>
            <a:ext cx="1763445" cy="228167"/>
          </a:xfrm>
          <a:prstGeom prst="roundRect">
            <a:avLst>
              <a:gd name="adj" fmla="val 50000"/>
            </a:avLst>
          </a:prstGeom>
          <a:no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tx1"/>
                </a:solidFill>
                <a:effectLst/>
                <a:uLnTx/>
                <a:uFillTx/>
                <a:latin typeface="Manrope SemiBold" pitchFamily="2" charset="0"/>
                <a:ea typeface="Lato" panose="020B0604020202020204" charset="0"/>
                <a:cs typeface="Lato" panose="020B0604020202020204" charset="0"/>
              </a:rPr>
              <a:t>Technology Stack</a:t>
            </a:r>
          </a:p>
        </p:txBody>
      </p:sp>
      <p:pic>
        <p:nvPicPr>
          <p:cNvPr id="1034" name="Picture 1033">
            <a:extLst>
              <a:ext uri="{FF2B5EF4-FFF2-40B4-BE49-F238E27FC236}">
                <a16:creationId xmlns:a16="http://schemas.microsoft.com/office/drawing/2014/main" id="{5A182BAB-1485-2805-3C03-45814BE9BE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032" y="5730835"/>
            <a:ext cx="1690339" cy="574715"/>
          </a:xfrm>
          <a:prstGeom prst="rect">
            <a:avLst/>
          </a:prstGeom>
        </p:spPr>
      </p:pic>
      <p:pic>
        <p:nvPicPr>
          <p:cNvPr id="1035" name="Picture 30">
            <a:extLst>
              <a:ext uri="{FF2B5EF4-FFF2-40B4-BE49-F238E27FC236}">
                <a16:creationId xmlns:a16="http://schemas.microsoft.com/office/drawing/2014/main" id="{00038AB0-E6C2-EE7D-3AF6-8502CD3C34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2225" y="5772135"/>
            <a:ext cx="492114" cy="492114"/>
          </a:xfrm>
          <a:prstGeom prst="rect">
            <a:avLst/>
          </a:prstGeom>
          <a:solidFill>
            <a:schemeClr val="tx1"/>
          </a:solidFill>
          <a:ln>
            <a:noFill/>
          </a:ln>
        </p:spPr>
      </p:pic>
      <p:pic>
        <p:nvPicPr>
          <p:cNvPr id="1036" name="Picture 1035">
            <a:extLst>
              <a:ext uri="{FF2B5EF4-FFF2-40B4-BE49-F238E27FC236}">
                <a16:creationId xmlns:a16="http://schemas.microsoft.com/office/drawing/2014/main" id="{B605FF23-0D0D-5C8E-219E-E7198100EB81}"/>
              </a:ext>
            </a:extLst>
          </p:cNvPr>
          <p:cNvPicPr>
            <a:picLocks noChangeAspect="1"/>
          </p:cNvPicPr>
          <p:nvPr/>
        </p:nvPicPr>
        <p:blipFill>
          <a:blip r:embed="rId4"/>
          <a:stretch>
            <a:fillRect/>
          </a:stretch>
        </p:blipFill>
        <p:spPr>
          <a:xfrm>
            <a:off x="4331766" y="5825319"/>
            <a:ext cx="1660013" cy="385746"/>
          </a:xfrm>
          <a:prstGeom prst="rect">
            <a:avLst/>
          </a:prstGeom>
        </p:spPr>
      </p:pic>
      <p:pic>
        <p:nvPicPr>
          <p:cNvPr id="1037" name="Picture 1036">
            <a:extLst>
              <a:ext uri="{FF2B5EF4-FFF2-40B4-BE49-F238E27FC236}">
                <a16:creationId xmlns:a16="http://schemas.microsoft.com/office/drawing/2014/main" id="{47850F52-CACD-4631-85DF-5DBCFE83BCFD}"/>
              </a:ext>
            </a:extLst>
          </p:cNvPr>
          <p:cNvPicPr>
            <a:picLocks noChangeAspect="1"/>
          </p:cNvPicPr>
          <p:nvPr/>
        </p:nvPicPr>
        <p:blipFill>
          <a:blip r:embed="rId5"/>
          <a:stretch>
            <a:fillRect/>
          </a:stretch>
        </p:blipFill>
        <p:spPr>
          <a:xfrm>
            <a:off x="2786470" y="5772677"/>
            <a:ext cx="1339173" cy="491030"/>
          </a:xfrm>
          <a:prstGeom prst="rect">
            <a:avLst/>
          </a:prstGeom>
        </p:spPr>
      </p:pic>
      <p:pic>
        <p:nvPicPr>
          <p:cNvPr id="1038" name="Picture 2" descr="Microsoft Azure AD B2C - Custom Policies with Identity Experience Framework  - TechMindFactory.com">
            <a:extLst>
              <a:ext uri="{FF2B5EF4-FFF2-40B4-BE49-F238E27FC236}">
                <a16:creationId xmlns:a16="http://schemas.microsoft.com/office/drawing/2014/main" id="{7686F5AD-71A6-B4FA-339A-A5FB7486E47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74359" y="5774985"/>
            <a:ext cx="1005508" cy="48641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4" descr="Introduction to Microservices - Comunytek">
            <a:extLst>
              <a:ext uri="{FF2B5EF4-FFF2-40B4-BE49-F238E27FC236}">
                <a16:creationId xmlns:a16="http://schemas.microsoft.com/office/drawing/2014/main" id="{6A57E1D2-58CC-9FF0-72F1-3DBDDC5DCC0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39571" y="5771356"/>
            <a:ext cx="658229" cy="493672"/>
          </a:xfrm>
          <a:prstGeom prst="rect">
            <a:avLst/>
          </a:prstGeom>
          <a:noFill/>
          <a:extLst>
            <a:ext uri="{909E8E84-426E-40DD-AFC4-6F175D3DCCD1}">
              <a14:hiddenFill xmlns:a14="http://schemas.microsoft.com/office/drawing/2010/main">
                <a:solidFill>
                  <a:srgbClr val="FFFFFF"/>
                </a:solidFill>
              </a14:hiddenFill>
            </a:ext>
          </a:extLst>
        </p:spPr>
      </p:pic>
      <p:cxnSp>
        <p:nvCxnSpPr>
          <p:cNvPr id="1042" name="Straight Connector 1041">
            <a:extLst>
              <a:ext uri="{FF2B5EF4-FFF2-40B4-BE49-F238E27FC236}">
                <a16:creationId xmlns:a16="http://schemas.microsoft.com/office/drawing/2014/main" id="{1B5C43E9-0A61-954C-1A79-843AEACADB1B}"/>
              </a:ext>
            </a:extLst>
          </p:cNvPr>
          <p:cNvCxnSpPr>
            <a:cxnSpLocks/>
          </p:cNvCxnSpPr>
          <p:nvPr/>
        </p:nvCxnSpPr>
        <p:spPr bwMode="auto">
          <a:xfrm flipV="1">
            <a:off x="4012923" y="24663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5" name="Straight Connector 1044">
            <a:extLst>
              <a:ext uri="{FF2B5EF4-FFF2-40B4-BE49-F238E27FC236}">
                <a16:creationId xmlns:a16="http://schemas.microsoft.com/office/drawing/2014/main" id="{C4F2AE31-9C96-E819-B7C7-DBCB074A5FAC}"/>
              </a:ext>
            </a:extLst>
          </p:cNvPr>
          <p:cNvCxnSpPr>
            <a:cxnSpLocks/>
          </p:cNvCxnSpPr>
          <p:nvPr/>
        </p:nvCxnSpPr>
        <p:spPr bwMode="auto">
          <a:xfrm flipV="1">
            <a:off x="8051523" y="24790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 name="Text Placeholder 15">
            <a:extLst>
              <a:ext uri="{FF2B5EF4-FFF2-40B4-BE49-F238E27FC236}">
                <a16:creationId xmlns:a16="http://schemas.microsoft.com/office/drawing/2014/main" id="{1AD88000-4311-13AB-CF86-AF353D21BEFA}"/>
              </a:ext>
            </a:extLst>
          </p:cNvPr>
          <p:cNvSpPr txBox="1">
            <a:spLocks/>
          </p:cNvSpPr>
          <p:nvPr/>
        </p:nvSpPr>
        <p:spPr>
          <a:xfrm>
            <a:off x="4310232" y="2314923"/>
            <a:ext cx="3392106" cy="2856787"/>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marL="285750" indent="-285750">
              <a:buFont typeface="Arial" panose="020B0604020202020204" pitchFamily="34" charset="0"/>
              <a:buChar char="•"/>
              <a:defRPr sz="1400">
                <a:solidFill>
                  <a:schemeClr val="bg2">
                    <a:lumMod val="75000"/>
                  </a:schemeClr>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Provided Experience First design to enhance the Adviser’s and Customers engagement</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Strategized and delivered Platform consolidation on Sitecore with React for experience layer</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Created &amp; delivered Transformation roadmap to enhance product information, content and online transactions with relevant dashboards for effective decision making</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Depicted the different phases of a policy journey to give better insights to the business stakeholders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Created a CMS portal for end users to track their pension valuation details, account details and current status snapshot using Sitecore and microservices </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spTree>
    <p:extLst>
      <p:ext uri="{BB962C8B-B14F-4D97-AF65-F5344CB8AC3E}">
        <p14:creationId xmlns:p14="http://schemas.microsoft.com/office/powerpoint/2010/main" val="3467067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824B2-FF42-4963-0AE2-6C488679ED83}"/>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9F198180-BFEF-C024-ECE1-0F8D72B0FFA4}"/>
              </a:ext>
            </a:extLst>
          </p:cNvPr>
          <p:cNvSpPr>
            <a:spLocks noGrp="1"/>
          </p:cNvSpPr>
          <p:nvPr>
            <p:ph type="body" sz="quarter" idx="15"/>
          </p:nvPr>
        </p:nvSpPr>
        <p:spPr>
          <a:xfrm flipH="1">
            <a:off x="623888" y="457200"/>
            <a:ext cx="8172450" cy="244101"/>
          </a:xfrm>
        </p:spPr>
        <p:txBody>
          <a:bodyPr wrap="square" lIns="0" tIns="36000" rIns="0" bIns="0" anchor="t" anchorCtr="0">
            <a:noAutofit/>
          </a:bodyPr>
          <a:lstStyle/>
          <a:p>
            <a:r>
              <a:rPr lang="en-US" dirty="0"/>
              <a:t>LIVERPOOL VICTORIA INSURANCE</a:t>
            </a:r>
          </a:p>
        </p:txBody>
      </p:sp>
      <p:sp>
        <p:nvSpPr>
          <p:cNvPr id="3" name="Text Placeholder 40">
            <a:extLst>
              <a:ext uri="{FF2B5EF4-FFF2-40B4-BE49-F238E27FC236}">
                <a16:creationId xmlns:a16="http://schemas.microsoft.com/office/drawing/2014/main" id="{80740FE8-0A03-F77F-727A-A2359452DE56}"/>
              </a:ext>
            </a:extLst>
          </p:cNvPr>
          <p:cNvSpPr txBox="1">
            <a:spLocks/>
          </p:cNvSpPr>
          <p:nvPr/>
        </p:nvSpPr>
        <p:spPr>
          <a:xfrm flipH="1">
            <a:off x="623888" y="914400"/>
            <a:ext cx="10310812" cy="25592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200" dirty="0"/>
              <a:t>Hexaware transforms digital insurance advisor and customer experience at Liverpool Victoria (LV=)</a:t>
            </a:r>
          </a:p>
        </p:txBody>
      </p:sp>
      <p:sp>
        <p:nvSpPr>
          <p:cNvPr id="4" name="Google Shape;194;p31">
            <a:extLst>
              <a:ext uri="{FF2B5EF4-FFF2-40B4-BE49-F238E27FC236}">
                <a16:creationId xmlns:a16="http://schemas.microsoft.com/office/drawing/2014/main" id="{94B16C35-FDAD-1D36-53E5-31E2C128F66D}"/>
              </a:ext>
            </a:extLst>
          </p:cNvPr>
          <p:cNvSpPr txBox="1"/>
          <p:nvPr/>
        </p:nvSpPr>
        <p:spPr>
          <a:xfrm>
            <a:off x="5839140" y="1144921"/>
            <a:ext cx="5728972" cy="5663089"/>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91440" tIns="45720" rIns="91440" bIns="45720" rtlCol="0" anchor="t">
            <a:spAutoFit/>
          </a:bodyPr>
          <a:lstStyle>
            <a:defPPr>
              <a:defRPr lang="en-US"/>
            </a:defPPr>
            <a:lvl1pPr marL="171450" marR="0" lvl="0" indent="-171450" fontAlgn="auto">
              <a:lnSpc>
                <a:spcPct val="100000"/>
              </a:lnSpc>
              <a:spcBef>
                <a:spcPts val="0"/>
              </a:spcBef>
              <a:spcAft>
                <a:spcPts val="0"/>
              </a:spcAft>
              <a:buClr>
                <a:srgbClr val="EB2A2E"/>
              </a:buClr>
              <a:buSzPct val="150000"/>
              <a:buFont typeface="Arial" panose="020B0604020202020204" pitchFamily="34" charset="0"/>
              <a:buChar char="•"/>
              <a:tabLst/>
              <a:defRPr sz="1200">
                <a:solidFill>
                  <a:srgbClr val="595959"/>
                </a:solidFill>
              </a:defRPr>
            </a:lvl1pPr>
          </a:lstStyle>
          <a:p>
            <a:pPr marL="0" marR="0" lvl="0" indent="0" algn="l">
              <a:lnSpc>
                <a:spcPct val="110000"/>
              </a:lnSpc>
              <a:spcBef>
                <a:spcPts val="0"/>
              </a:spcBef>
              <a:spcAft>
                <a:spcPts val="0"/>
              </a:spcAft>
              <a:buClr>
                <a:schemeClr val="tx1"/>
              </a:buClr>
              <a:buNone/>
            </a:pPr>
            <a:r>
              <a:rPr lang="en-IN" sz="900" b="1" dirty="0">
                <a:solidFill>
                  <a:schemeClr val="tx1"/>
                </a:solidFill>
                <a:latin typeface="Manrope" pitchFamily="2" charset="0"/>
                <a:cs typeface="Poppins" pitchFamily="2" charset="77"/>
                <a:sym typeface="Lato"/>
              </a:rPr>
              <a:t>Business Challenge</a:t>
            </a:r>
            <a:endParaRPr lang="en-IN" sz="900" dirty="0">
              <a:solidFill>
                <a:schemeClr val="tx1"/>
              </a:solidFill>
              <a:latin typeface="Manrope" pitchFamily="2" charset="0"/>
              <a:ea typeface="+mn-lt"/>
              <a:cs typeface="Poppins" pitchFamily="2" charset="77"/>
            </a:endParaRPr>
          </a:p>
          <a:p>
            <a:pPr marL="0" indent="0">
              <a:buClr>
                <a:schemeClr val="tx1"/>
              </a:buClr>
              <a:buNone/>
            </a:pPr>
            <a:r>
              <a:rPr lang="en-US" sz="900" dirty="0">
                <a:solidFill>
                  <a:schemeClr val="tx1"/>
                </a:solidFill>
                <a:latin typeface="Manrope" pitchFamily="2" charset="0"/>
                <a:cs typeface="Poppins" pitchFamily="2" charset="77"/>
              </a:rPr>
              <a:t>LV=’s digital presence across consumer experiences, products, systems and technology endure legacy challenges.</a:t>
            </a:r>
            <a:endParaRPr lang="en-IN" sz="900" dirty="0">
              <a:solidFill>
                <a:schemeClr val="tx1"/>
              </a:solidFill>
              <a:latin typeface="Manrope" pitchFamily="2" charset="0"/>
              <a:cs typeface="Poppins" pitchFamily="2" charset="77"/>
            </a:endParaRPr>
          </a:p>
          <a:p>
            <a:pPr>
              <a:buClr>
                <a:schemeClr val="tx1"/>
              </a:buClr>
              <a:buSzPct val="100000"/>
            </a:pPr>
            <a:r>
              <a:rPr lang="en-IN" sz="900" dirty="0">
                <a:solidFill>
                  <a:schemeClr val="tx1"/>
                </a:solidFill>
                <a:latin typeface="Manrope" pitchFamily="2" charset="0"/>
                <a:cs typeface="Poppins" pitchFamily="2" charset="77"/>
              </a:rPr>
              <a:t>Multiple systems of record lead to fragmented advisor and customer experience.</a:t>
            </a:r>
          </a:p>
          <a:p>
            <a:pPr>
              <a:buClr>
                <a:schemeClr val="tx1"/>
              </a:buClr>
              <a:buSzPct val="100000"/>
            </a:pPr>
            <a:r>
              <a:rPr lang="en-IN" sz="900" dirty="0">
                <a:solidFill>
                  <a:schemeClr val="tx1"/>
                </a:solidFill>
                <a:latin typeface="Manrope" pitchFamily="2" charset="0"/>
                <a:cs typeface="Poppins" pitchFamily="2" charset="77"/>
              </a:rPr>
              <a:t>The system lacked real-time informative insights for rapid decision making.</a:t>
            </a:r>
          </a:p>
          <a:p>
            <a:pPr>
              <a:buClr>
                <a:schemeClr val="tx1"/>
              </a:buClr>
              <a:buSzPct val="100000"/>
            </a:pPr>
            <a:r>
              <a:rPr lang="en-IN" sz="900" dirty="0">
                <a:solidFill>
                  <a:schemeClr val="tx1"/>
                </a:solidFill>
                <a:latin typeface="Manrope" pitchFamily="2" charset="0"/>
                <a:cs typeface="Poppins" pitchFamily="2" charset="77"/>
              </a:rPr>
              <a:t>High customer acquisition cost and poor digital consumer experiences.</a:t>
            </a:r>
          </a:p>
          <a:p>
            <a:pPr>
              <a:buClr>
                <a:schemeClr val="tx1"/>
              </a:buClr>
              <a:buSzPct val="100000"/>
            </a:pPr>
            <a:r>
              <a:rPr lang="en-IN" sz="900" dirty="0">
                <a:solidFill>
                  <a:schemeClr val="tx1"/>
                </a:solidFill>
                <a:latin typeface="Manrope" pitchFamily="2" charset="0"/>
                <a:cs typeface="Poppins" pitchFamily="2" charset="77"/>
              </a:rPr>
              <a:t>Prolonged sales cycles with diminished customer attention.</a:t>
            </a:r>
          </a:p>
          <a:p>
            <a:pPr>
              <a:buClr>
                <a:schemeClr val="tx1"/>
              </a:buClr>
              <a:buSzPct val="100000"/>
            </a:pPr>
            <a:r>
              <a:rPr lang="en-IN" sz="900" dirty="0">
                <a:solidFill>
                  <a:schemeClr val="tx1"/>
                </a:solidFill>
                <a:latin typeface="Manrope" pitchFamily="2" charset="0"/>
                <a:cs typeface="Poppins" pitchFamily="2" charset="77"/>
              </a:rPr>
              <a:t>Poor digital self-service experiences.</a:t>
            </a:r>
          </a:p>
          <a:p>
            <a:pPr marL="0" indent="0">
              <a:buClr>
                <a:schemeClr val="tx1"/>
              </a:buClr>
              <a:buNone/>
            </a:pPr>
            <a:endParaRPr lang="en-IN" sz="500" dirty="0">
              <a:solidFill>
                <a:schemeClr val="tx1"/>
              </a:solidFill>
              <a:latin typeface="Manrope" pitchFamily="2" charset="0"/>
              <a:cs typeface="Poppins" pitchFamily="2" charset="77"/>
            </a:endParaRPr>
          </a:p>
          <a:p>
            <a:pPr marL="0" indent="0">
              <a:buClr>
                <a:schemeClr val="tx1"/>
              </a:buClr>
              <a:buNone/>
            </a:pPr>
            <a:r>
              <a:rPr lang="en-IN" sz="900" b="1" dirty="0">
                <a:solidFill>
                  <a:schemeClr val="tx1"/>
                </a:solidFill>
                <a:latin typeface="Manrope" pitchFamily="2" charset="0"/>
                <a:ea typeface="+mn-lt"/>
                <a:cs typeface="Poppins" pitchFamily="2" charset="77"/>
                <a:sym typeface="Lato"/>
              </a:rPr>
              <a:t>Solution</a:t>
            </a:r>
            <a:endParaRPr lang="en-IN" sz="900" dirty="0">
              <a:solidFill>
                <a:schemeClr val="tx1"/>
              </a:solidFill>
              <a:latin typeface="Manrope" pitchFamily="2" charset="0"/>
              <a:ea typeface="+mn-lt"/>
              <a:cs typeface="Poppins" pitchFamily="2" charset="77"/>
            </a:endParaRPr>
          </a:p>
          <a:p>
            <a:pPr marL="0" indent="0">
              <a:buClr>
                <a:schemeClr val="tx1"/>
              </a:buClr>
              <a:buNone/>
            </a:pPr>
            <a:r>
              <a:rPr lang="en-IN" sz="900" dirty="0">
                <a:solidFill>
                  <a:schemeClr val="tx1"/>
                </a:solidFill>
                <a:latin typeface="Manrope" pitchFamily="2" charset="0"/>
                <a:cs typeface="Poppins" pitchFamily="2" charset="77"/>
              </a:rPr>
              <a:t>Hexaware transformed LV=’s digital insurance advisor and customer experience by </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A new and improved React enabled interaction experience. </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Strategizing and delivering platform consolidation to Sitecore. </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Onboarding microservice powered integrations for resilience.</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Enhancing product information, content, and online interaction and transactions with real-time dashboards that enable effective decision making by advisers. </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Enriching engagement experience by depicting the different phases of a policy journey to enable improved insights for business stakeholders. </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Enabling a new self-service portal to track pension valuation details, account details, and status. </a:t>
            </a:r>
          </a:p>
          <a:p>
            <a:pPr marL="0" indent="0">
              <a:buClr>
                <a:schemeClr val="tx1"/>
              </a:buClr>
              <a:buSzPct val="100000"/>
              <a:buNone/>
            </a:pPr>
            <a:endParaRPr lang="en-US" sz="500" dirty="0">
              <a:solidFill>
                <a:schemeClr val="tx1"/>
              </a:solidFill>
              <a:latin typeface="Manrope" pitchFamily="2" charset="0"/>
              <a:ea typeface="Lato" panose="020F0502020204030203" pitchFamily="34" charset="0"/>
              <a:cs typeface="Poppins" pitchFamily="2" charset="77"/>
            </a:endParaRPr>
          </a:p>
          <a:p>
            <a:pPr marL="0" indent="0">
              <a:lnSpc>
                <a:spcPct val="110000"/>
              </a:lnSpc>
              <a:buClr>
                <a:schemeClr val="tx1"/>
              </a:buClr>
              <a:buNone/>
            </a:pPr>
            <a:r>
              <a:rPr lang="en-IN" sz="900" b="1" dirty="0">
                <a:solidFill>
                  <a:schemeClr val="tx1"/>
                </a:solidFill>
                <a:latin typeface="Manrope" pitchFamily="2" charset="0"/>
                <a:cs typeface="Poppins" pitchFamily="2" charset="77"/>
                <a:sym typeface="Lato"/>
              </a:rPr>
              <a:t>Benefits</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60% increase in site traffic resulting in improved adoption</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3 to 1 platform consolidation across business lines</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40% reduction in lead time for advisors</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Self-service portal for customers</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Launch of new Advisor Firm portal in 2 days </a:t>
            </a:r>
          </a:p>
          <a:p>
            <a:pPr>
              <a:buClr>
                <a:schemeClr val="tx1"/>
              </a:buClr>
              <a:buSzPct val="100000"/>
              <a:tabLst>
                <a:tab pos="457200" algn="l"/>
              </a:tabLst>
            </a:pPr>
            <a:r>
              <a:rPr lang="en-IN" sz="900" dirty="0">
                <a:solidFill>
                  <a:schemeClr val="tx1"/>
                </a:solidFill>
                <a:latin typeface="Manrope" pitchFamily="2" charset="0"/>
                <a:ea typeface="Lato" panose="020F0502020204030203" pitchFamily="34" charset="0"/>
                <a:cs typeface="Poppins" pitchFamily="2" charset="77"/>
              </a:rPr>
              <a:t>Single Source Document Library </a:t>
            </a:r>
          </a:p>
          <a:p>
            <a:pPr marL="0" indent="0">
              <a:buClr>
                <a:schemeClr val="tx1"/>
              </a:buClr>
              <a:buSzPct val="100000"/>
              <a:buNone/>
              <a:tabLst>
                <a:tab pos="457200" algn="l"/>
              </a:tabLst>
            </a:pPr>
            <a:endParaRPr lang="en-IN" sz="500" dirty="0">
              <a:solidFill>
                <a:schemeClr val="tx1"/>
              </a:solidFill>
              <a:latin typeface="Manrope" pitchFamily="2" charset="0"/>
              <a:ea typeface="Lato" panose="020F0502020204030203" pitchFamily="34" charset="0"/>
              <a:cs typeface="Poppins" pitchFamily="2" charset="77"/>
              <a:sym typeface="Lato"/>
            </a:endParaRPr>
          </a:p>
          <a:p>
            <a:pPr marL="0" indent="0">
              <a:lnSpc>
                <a:spcPct val="110000"/>
              </a:lnSpc>
              <a:buClr>
                <a:schemeClr val="tx1"/>
              </a:buClr>
              <a:buNone/>
            </a:pPr>
            <a:r>
              <a:rPr lang="en-IN" sz="900" b="1" dirty="0">
                <a:solidFill>
                  <a:schemeClr val="tx1"/>
                </a:solidFill>
                <a:latin typeface="Manrope" pitchFamily="2" charset="0"/>
                <a:cs typeface="Poppins" pitchFamily="2" charset="77"/>
                <a:sym typeface="Lato"/>
              </a:rPr>
              <a:t>The PPH (Protection Progress Hub) Solution</a:t>
            </a:r>
          </a:p>
          <a:p>
            <a:pPr marL="0" indent="0">
              <a:lnSpc>
                <a:spcPct val="110000"/>
              </a:lnSpc>
              <a:buClr>
                <a:schemeClr val="tx1"/>
              </a:buClr>
              <a:buNone/>
            </a:pPr>
            <a:r>
              <a:rPr lang="en-US" sz="900" dirty="0">
                <a:solidFill>
                  <a:schemeClr val="tx1"/>
                </a:solidFill>
                <a:latin typeface="Manrope" pitchFamily="2" charset="0"/>
                <a:cs typeface="Poppins" pitchFamily="2" charset="77"/>
              </a:rPr>
              <a:t>Onboarded a new online experience - Protection Progress Hub (PPH) to track and update application status information maintained across multiple systems using the common platform. PPH offers many benefits like, application status at a glance, dashboard view, filtering applications and custom dashboards that guide required actions and interventions to enable further progress.</a:t>
            </a:r>
          </a:p>
          <a:p>
            <a:pPr marL="0" indent="0">
              <a:lnSpc>
                <a:spcPct val="110000"/>
              </a:lnSpc>
              <a:buClr>
                <a:schemeClr val="tx1"/>
              </a:buClr>
              <a:buNone/>
            </a:pPr>
            <a:endParaRPr lang="en-US" sz="500" dirty="0">
              <a:solidFill>
                <a:schemeClr val="tx1"/>
              </a:solidFill>
              <a:latin typeface="Manrope" pitchFamily="2" charset="0"/>
              <a:cs typeface="Poppins" pitchFamily="2" charset="77"/>
            </a:endParaRPr>
          </a:p>
          <a:p>
            <a:pPr marL="0" indent="0">
              <a:lnSpc>
                <a:spcPct val="110000"/>
              </a:lnSpc>
              <a:buClr>
                <a:schemeClr val="tx1"/>
              </a:buClr>
              <a:buNone/>
            </a:pPr>
            <a:r>
              <a:rPr lang="en-US" sz="900" b="1" dirty="0">
                <a:solidFill>
                  <a:schemeClr val="tx1"/>
                </a:solidFill>
                <a:latin typeface="Manrope" pitchFamily="2" charset="0"/>
                <a:cs typeface="Poppins" pitchFamily="2" charset="77"/>
              </a:rPr>
              <a:t>Benefits</a:t>
            </a:r>
            <a:endParaRPr lang="en-IN" sz="900" b="1" dirty="0">
              <a:solidFill>
                <a:schemeClr val="tx1"/>
              </a:solidFill>
              <a:latin typeface="Manrope" pitchFamily="2" charset="0"/>
              <a:cs typeface="Poppins" pitchFamily="2" charset="77"/>
            </a:endParaRPr>
          </a:p>
          <a:p>
            <a:pPr>
              <a:buClr>
                <a:schemeClr val="tx1"/>
              </a:buClr>
              <a:buSzPct val="100000"/>
              <a:tabLst>
                <a:tab pos="457200" algn="l"/>
              </a:tabLst>
            </a:pPr>
            <a:r>
              <a:rPr lang="en-GB" sz="900" dirty="0">
                <a:solidFill>
                  <a:schemeClr val="tx1"/>
                </a:solidFill>
                <a:latin typeface="Manrope" pitchFamily="2" charset="0"/>
                <a:ea typeface="Lato" panose="020F0502020204030203" pitchFamily="34" charset="0"/>
                <a:cs typeface="Poppins" pitchFamily="2" charset="77"/>
              </a:rPr>
              <a:t>New Business app to call ratio reduced by over 20% in a year.</a:t>
            </a:r>
            <a:endParaRPr lang="en-IN" sz="900" dirty="0">
              <a:solidFill>
                <a:schemeClr val="tx1"/>
              </a:solidFill>
              <a:latin typeface="Manrope" pitchFamily="2" charset="0"/>
              <a:ea typeface="Lato" panose="020F0502020204030203" pitchFamily="34" charset="0"/>
              <a:cs typeface="Poppins" pitchFamily="2" charset="77"/>
            </a:endParaRPr>
          </a:p>
          <a:p>
            <a:pPr>
              <a:buClr>
                <a:schemeClr val="tx1"/>
              </a:buClr>
              <a:buSzPct val="100000"/>
              <a:tabLst>
                <a:tab pos="457200" algn="l"/>
              </a:tabLst>
            </a:pPr>
            <a:r>
              <a:rPr lang="en-US" sz="900" dirty="0">
                <a:solidFill>
                  <a:schemeClr val="tx1"/>
                </a:solidFill>
                <a:latin typeface="Manrope" pitchFamily="2" charset="0"/>
                <a:ea typeface="Lato" panose="020F0502020204030203" pitchFamily="34" charset="0"/>
                <a:cs typeface="Poppins" pitchFamily="2" charset="77"/>
              </a:rPr>
              <a:t>Increase in number of unique users from 2000 to 4200 in a year.</a:t>
            </a:r>
            <a:endParaRPr lang="en-IN" sz="900" dirty="0">
              <a:solidFill>
                <a:schemeClr val="tx1"/>
              </a:solidFill>
              <a:latin typeface="Manrope" pitchFamily="2" charset="0"/>
              <a:ea typeface="Lato" panose="020F0502020204030203" pitchFamily="34" charset="0"/>
              <a:cs typeface="Poppins" pitchFamily="2" charset="77"/>
            </a:endParaRPr>
          </a:p>
          <a:p>
            <a:pPr>
              <a:buClr>
                <a:schemeClr val="tx1"/>
              </a:buClr>
              <a:buSzPct val="100000"/>
              <a:tabLst>
                <a:tab pos="457200" algn="l"/>
              </a:tabLst>
            </a:pPr>
            <a:r>
              <a:rPr lang="en-GB" sz="900" dirty="0">
                <a:solidFill>
                  <a:schemeClr val="tx1"/>
                </a:solidFill>
                <a:latin typeface="Manrope" pitchFamily="2" charset="0"/>
                <a:ea typeface="Lato" panose="020F0502020204030203" pitchFamily="34" charset="0"/>
                <a:cs typeface="Poppins" pitchFamily="2" charset="77"/>
              </a:rPr>
              <a:t>More than 2,000 policies created with 20% in saved effort.</a:t>
            </a:r>
            <a:endParaRPr lang="en-IN" sz="900" dirty="0">
              <a:solidFill>
                <a:schemeClr val="tx1"/>
              </a:solidFill>
              <a:latin typeface="Manrope" pitchFamily="2" charset="0"/>
              <a:ea typeface="Lato" panose="020F0502020204030203" pitchFamily="34" charset="0"/>
              <a:cs typeface="Poppins" pitchFamily="2" charset="77"/>
            </a:endParaRPr>
          </a:p>
          <a:p>
            <a:pPr>
              <a:buClr>
                <a:schemeClr val="tx1"/>
              </a:buClr>
              <a:buSzPct val="100000"/>
              <a:tabLst>
                <a:tab pos="457200" algn="l"/>
              </a:tabLst>
            </a:pPr>
            <a:r>
              <a:rPr lang="en-GB" sz="900" dirty="0">
                <a:solidFill>
                  <a:schemeClr val="tx1"/>
                </a:solidFill>
                <a:latin typeface="Manrope" pitchFamily="2" charset="0"/>
                <a:ea typeface="Lato" panose="020F0502020204030203" pitchFamily="34" charset="0"/>
                <a:cs typeface="Poppins" pitchFamily="2" charset="77"/>
              </a:rPr>
              <a:t>3x increase in platform usage by advisors.</a:t>
            </a:r>
            <a:endParaRPr lang="en-IN" sz="900" dirty="0">
              <a:solidFill>
                <a:schemeClr val="tx1"/>
              </a:solidFill>
              <a:latin typeface="Manrope" pitchFamily="2" charset="0"/>
              <a:ea typeface="Lato" panose="020F0502020204030203" pitchFamily="34" charset="0"/>
              <a:cs typeface="Poppins" pitchFamily="2" charset="77"/>
            </a:endParaRPr>
          </a:p>
          <a:p>
            <a:pPr marL="0" indent="0">
              <a:lnSpc>
                <a:spcPct val="110000"/>
              </a:lnSpc>
              <a:buClr>
                <a:schemeClr val="tx1"/>
              </a:buClr>
              <a:buNone/>
            </a:pPr>
            <a:endParaRPr lang="en-IN" sz="900" dirty="0">
              <a:solidFill>
                <a:schemeClr val="tx1"/>
              </a:solidFill>
              <a:latin typeface="Manrope" pitchFamily="2" charset="0"/>
              <a:cs typeface="Poppins" pitchFamily="2" charset="77"/>
            </a:endParaRPr>
          </a:p>
          <a:p>
            <a:pPr marL="0" marR="0" lvl="0" indent="0" algn="l">
              <a:lnSpc>
                <a:spcPct val="110000"/>
              </a:lnSpc>
              <a:spcBef>
                <a:spcPts val="0"/>
              </a:spcBef>
              <a:spcAft>
                <a:spcPts val="0"/>
              </a:spcAft>
              <a:buClr>
                <a:schemeClr val="tx1"/>
              </a:buClr>
              <a:buNone/>
            </a:pPr>
            <a:endParaRPr lang="en-IN" sz="900" b="1" dirty="0">
              <a:solidFill>
                <a:schemeClr val="tx1"/>
              </a:solidFill>
              <a:latin typeface="Manrope" pitchFamily="2" charset="0"/>
              <a:ea typeface="Lato"/>
              <a:cs typeface="Poppins" pitchFamily="2" charset="77"/>
            </a:endParaRPr>
          </a:p>
        </p:txBody>
      </p:sp>
      <p:sp>
        <p:nvSpPr>
          <p:cNvPr id="6" name="TextBox 5">
            <a:extLst>
              <a:ext uri="{FF2B5EF4-FFF2-40B4-BE49-F238E27FC236}">
                <a16:creationId xmlns:a16="http://schemas.microsoft.com/office/drawing/2014/main" id="{AF2E05F7-0289-A371-EF25-AAB121D48B26}"/>
              </a:ext>
            </a:extLst>
          </p:cNvPr>
          <p:cNvSpPr txBox="1"/>
          <p:nvPr/>
        </p:nvSpPr>
        <p:spPr>
          <a:xfrm>
            <a:off x="561394" y="1149192"/>
            <a:ext cx="5182645" cy="798680"/>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IN" sz="900" b="1" dirty="0">
                <a:latin typeface="Manrope" pitchFamily="2" charset="0"/>
                <a:cs typeface="Poppins" pitchFamily="2" charset="77"/>
                <a:sym typeface="Lato"/>
              </a:rPr>
              <a:t>About Liverpool Victoria Insurance</a:t>
            </a:r>
            <a:endParaRPr kumimoji="0" lang="en-IN" sz="900" b="0" i="0" u="none" strike="noStrike" kern="1200" cap="none" spc="0" normalizeH="0" baseline="0" noProof="0" dirty="0">
              <a:ln>
                <a:noFill/>
              </a:ln>
              <a:effectLst/>
              <a:uLnTx/>
              <a:uFillTx/>
              <a:latin typeface="Manrope" pitchFamily="2" charset="0"/>
              <a:ea typeface="+mn-lt"/>
              <a:cs typeface="Poppins" pitchFamily="2" charset="77"/>
            </a:endParaRPr>
          </a:p>
          <a:p>
            <a:r>
              <a:rPr lang="en-US" sz="900" dirty="0">
                <a:latin typeface="Manrope" pitchFamily="2" charset="0"/>
                <a:cs typeface="Poppins" pitchFamily="2" charset="77"/>
              </a:rPr>
              <a:t>A 180-year legacy, more than 7 million customers and 4,000 employees, Liverpool Victoria is one of UK's largest personal lines insurers. With products spanning every lifetime facet, Liverpool Victoria places customers and people at the heart of everything they do, because what matters most to them, matters to Liverpool Victoria too.</a:t>
            </a:r>
            <a:endParaRPr lang="en-IN" sz="900" dirty="0">
              <a:latin typeface="Manrope" pitchFamily="2" charset="0"/>
              <a:cs typeface="Poppins" pitchFamily="2" charset="77"/>
            </a:endParaRPr>
          </a:p>
        </p:txBody>
      </p:sp>
      <p:pic>
        <p:nvPicPr>
          <p:cNvPr id="8" name="Picture 7">
            <a:extLst>
              <a:ext uri="{FF2B5EF4-FFF2-40B4-BE49-F238E27FC236}">
                <a16:creationId xmlns:a16="http://schemas.microsoft.com/office/drawing/2014/main" id="{8095917A-18FE-E5A6-BA2F-C0A1E88A7C81}"/>
              </a:ext>
            </a:extLst>
          </p:cNvPr>
          <p:cNvPicPr>
            <a:picLocks noChangeAspect="1"/>
          </p:cNvPicPr>
          <p:nvPr/>
        </p:nvPicPr>
        <p:blipFill>
          <a:blip r:embed="rId2"/>
          <a:stretch>
            <a:fillRect/>
          </a:stretch>
        </p:blipFill>
        <p:spPr>
          <a:xfrm>
            <a:off x="637594" y="1964043"/>
            <a:ext cx="3989149" cy="1894688"/>
          </a:xfrm>
          <a:prstGeom prst="rect">
            <a:avLst/>
          </a:prstGeom>
          <a:ln>
            <a:solidFill>
              <a:schemeClr val="bg1">
                <a:lumMod val="85000"/>
              </a:schemeClr>
            </a:solidFill>
          </a:ln>
        </p:spPr>
      </p:pic>
      <p:sp>
        <p:nvSpPr>
          <p:cNvPr id="13" name="TextBox 12">
            <a:extLst>
              <a:ext uri="{FF2B5EF4-FFF2-40B4-BE49-F238E27FC236}">
                <a16:creationId xmlns:a16="http://schemas.microsoft.com/office/drawing/2014/main" id="{C52E0C45-E771-B59E-40E3-1025281B35B8}"/>
              </a:ext>
            </a:extLst>
          </p:cNvPr>
          <p:cNvSpPr txBox="1"/>
          <p:nvPr/>
        </p:nvSpPr>
        <p:spPr>
          <a:xfrm>
            <a:off x="561394" y="4060760"/>
            <a:ext cx="4602809" cy="1303498"/>
          </a:xfrm>
          <a:prstGeom prst="rect">
            <a:avLst/>
          </a:prstGeom>
          <a:noFill/>
        </p:spPr>
        <p:txBody>
          <a:bodyPr wrap="square">
            <a:spAutoFit/>
          </a:bodyPr>
          <a:lstStyle/>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SendGrid – Email communication</a:t>
            </a:r>
          </a:p>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Java Microservices – Integration</a:t>
            </a:r>
          </a:p>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Layer7 SSO - Security &amp; Authentication</a:t>
            </a:r>
          </a:p>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Morningstar- for External fund value feeds</a:t>
            </a:r>
          </a:p>
          <a:p>
            <a:pPr marL="171450" lvl="1" indent="-171450">
              <a:lnSpc>
                <a:spcPct val="110000"/>
              </a:lnSpc>
              <a:buClr>
                <a:schemeClr val="tx1"/>
              </a:buClr>
              <a:buSzPct val="100000"/>
              <a:buFont typeface="Arial" panose="020B0604020202020204" pitchFamily="34" charset="0"/>
              <a:buChar char="•"/>
              <a:defRPr/>
            </a:pPr>
            <a:r>
              <a:rPr lang="en-GB" sz="900" dirty="0" err="1">
                <a:latin typeface="Manrope" pitchFamily="2" charset="0"/>
                <a:cs typeface="Poppins" pitchFamily="2" charset="77"/>
              </a:rPr>
              <a:t>Searchstax</a:t>
            </a:r>
            <a:r>
              <a:rPr lang="en-GB" sz="900" dirty="0">
                <a:latin typeface="Manrope" pitchFamily="2" charset="0"/>
                <a:cs typeface="Poppins" pitchFamily="2" charset="77"/>
              </a:rPr>
              <a:t> – Search engine</a:t>
            </a:r>
          </a:p>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Cloudflare – DNS, caching, routing and DDoS</a:t>
            </a:r>
          </a:p>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Oracle </a:t>
            </a:r>
            <a:r>
              <a:rPr lang="en-GB" sz="900" dirty="0" err="1">
                <a:latin typeface="Manrope" pitchFamily="2" charset="0"/>
                <a:cs typeface="Poppins" pitchFamily="2" charset="77"/>
              </a:rPr>
              <a:t>Maxymiser</a:t>
            </a:r>
            <a:r>
              <a:rPr lang="en-GB" sz="900" dirty="0">
                <a:latin typeface="Manrope" pitchFamily="2" charset="0"/>
                <a:cs typeface="Poppins" pitchFamily="2" charset="77"/>
              </a:rPr>
              <a:t> Services – Online Customer experience</a:t>
            </a:r>
          </a:p>
          <a:p>
            <a:pPr marL="171450" lvl="1" indent="-171450">
              <a:lnSpc>
                <a:spcPct val="110000"/>
              </a:lnSpc>
              <a:buClr>
                <a:schemeClr val="tx1"/>
              </a:buClr>
              <a:buSzPct val="100000"/>
              <a:buFont typeface="Arial" panose="020B0604020202020204" pitchFamily="34" charset="0"/>
              <a:buChar char="•"/>
              <a:defRPr/>
            </a:pPr>
            <a:r>
              <a:rPr lang="en-GB" sz="900" dirty="0">
                <a:latin typeface="Manrope" pitchFamily="2" charset="0"/>
                <a:cs typeface="Poppins" pitchFamily="2" charset="77"/>
              </a:rPr>
              <a:t>Google Tag Services - SEO/SEM</a:t>
            </a:r>
          </a:p>
        </p:txBody>
      </p:sp>
      <p:sp>
        <p:nvSpPr>
          <p:cNvPr id="14" name="TextBox 13">
            <a:extLst>
              <a:ext uri="{FF2B5EF4-FFF2-40B4-BE49-F238E27FC236}">
                <a16:creationId xmlns:a16="http://schemas.microsoft.com/office/drawing/2014/main" id="{7BC00FCE-739A-11F4-CE98-D1EE981D4483}"/>
              </a:ext>
            </a:extLst>
          </p:cNvPr>
          <p:cNvSpPr txBox="1"/>
          <p:nvPr/>
        </p:nvSpPr>
        <p:spPr>
          <a:xfrm>
            <a:off x="561394" y="3869536"/>
            <a:ext cx="6098344" cy="230832"/>
          </a:xfrm>
          <a:prstGeom prst="rect">
            <a:avLst/>
          </a:prstGeom>
          <a:noFill/>
        </p:spPr>
        <p:txBody>
          <a:bodyPr wrap="square">
            <a:spAutoFit/>
          </a:bodyPr>
          <a:lstStyle/>
          <a:p>
            <a:r>
              <a:rPr lang="en-IN" sz="900" b="1" dirty="0">
                <a:latin typeface="Manrope" pitchFamily="2" charset="0"/>
                <a:ea typeface="+mn-lt"/>
                <a:cs typeface="Poppins SemiBold" pitchFamily="2" charset="77"/>
                <a:sym typeface="Lato"/>
              </a:rPr>
              <a:t>Integrations</a:t>
            </a:r>
            <a:endParaRPr lang="en-US" sz="800" b="1" dirty="0">
              <a:latin typeface="Manrope" pitchFamily="2" charset="0"/>
              <a:cs typeface="Poppins SemiBold" pitchFamily="2" charset="77"/>
            </a:endParaRPr>
          </a:p>
        </p:txBody>
      </p:sp>
      <p:pic>
        <p:nvPicPr>
          <p:cNvPr id="23" name="Picture 22" descr="LV= | Guidewire">
            <a:extLst>
              <a:ext uri="{FF2B5EF4-FFF2-40B4-BE49-F238E27FC236}">
                <a16:creationId xmlns:a16="http://schemas.microsoft.com/office/drawing/2014/main" id="{27445CF7-F4F2-1463-4D7A-A27A3BD3535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32092" y="-36227"/>
            <a:ext cx="1073150" cy="930910"/>
          </a:xfrm>
          <a:prstGeom prst="rect">
            <a:avLst/>
          </a:prstGeom>
          <a:noFill/>
        </p:spPr>
      </p:pic>
      <p:grpSp>
        <p:nvGrpSpPr>
          <p:cNvPr id="1031" name="Group 1030">
            <a:extLst>
              <a:ext uri="{FF2B5EF4-FFF2-40B4-BE49-F238E27FC236}">
                <a16:creationId xmlns:a16="http://schemas.microsoft.com/office/drawing/2014/main" id="{82987380-46F0-180B-CCC5-796484331249}"/>
              </a:ext>
            </a:extLst>
          </p:cNvPr>
          <p:cNvGrpSpPr/>
          <p:nvPr/>
        </p:nvGrpSpPr>
        <p:grpSpPr>
          <a:xfrm>
            <a:off x="517011" y="5755234"/>
            <a:ext cx="4742201" cy="404995"/>
            <a:chOff x="302995" y="5852929"/>
            <a:chExt cx="5360031" cy="457759"/>
          </a:xfrm>
        </p:grpSpPr>
        <p:pic>
          <p:nvPicPr>
            <p:cNvPr id="28" name="Picture 27">
              <a:extLst>
                <a:ext uri="{FF2B5EF4-FFF2-40B4-BE49-F238E27FC236}">
                  <a16:creationId xmlns:a16="http://schemas.microsoft.com/office/drawing/2014/main" id="{B409906F-3270-D2D2-F20B-A86312D6F0B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2995" y="5937539"/>
              <a:ext cx="1097497" cy="373149"/>
            </a:xfrm>
            <a:prstGeom prst="rect">
              <a:avLst/>
            </a:prstGeom>
          </p:spPr>
        </p:pic>
        <p:pic>
          <p:nvPicPr>
            <p:cNvPr id="29" name="Picture 30">
              <a:extLst>
                <a:ext uri="{FF2B5EF4-FFF2-40B4-BE49-F238E27FC236}">
                  <a16:creationId xmlns:a16="http://schemas.microsoft.com/office/drawing/2014/main" id="{CB54ADEC-ADAC-05B0-2B35-BBD4091D489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28900" y="5964275"/>
              <a:ext cx="336325" cy="336325"/>
            </a:xfrm>
            <a:prstGeom prst="rect">
              <a:avLst/>
            </a:prstGeom>
            <a:solidFill>
              <a:schemeClr val="tx1"/>
            </a:solidFill>
            <a:ln>
              <a:noFill/>
            </a:ln>
          </p:spPr>
        </p:pic>
        <p:pic>
          <p:nvPicPr>
            <p:cNvPr id="30" name="Picture 29">
              <a:extLst>
                <a:ext uri="{FF2B5EF4-FFF2-40B4-BE49-F238E27FC236}">
                  <a16:creationId xmlns:a16="http://schemas.microsoft.com/office/drawing/2014/main" id="{D64BADB4-0C7A-EDB3-E6D5-1F7EE15DD4D1}"/>
                </a:ext>
              </a:extLst>
            </p:cNvPr>
            <p:cNvPicPr>
              <a:picLocks noChangeAspect="1"/>
            </p:cNvPicPr>
            <p:nvPr/>
          </p:nvPicPr>
          <p:blipFill>
            <a:blip r:embed="rId6"/>
            <a:stretch>
              <a:fillRect/>
            </a:stretch>
          </p:blipFill>
          <p:spPr>
            <a:xfrm>
              <a:off x="1883735" y="5910134"/>
              <a:ext cx="924832" cy="339105"/>
            </a:xfrm>
            <a:prstGeom prst="rect">
              <a:avLst/>
            </a:prstGeom>
          </p:spPr>
        </p:pic>
        <p:pic>
          <p:nvPicPr>
            <p:cNvPr id="31" name="Picture 2" descr="Microsoft Azure AD B2C - Custom Policies with Identity Experience Framework  - TechMindFactory.com">
              <a:extLst>
                <a:ext uri="{FF2B5EF4-FFF2-40B4-BE49-F238E27FC236}">
                  <a16:creationId xmlns:a16="http://schemas.microsoft.com/office/drawing/2014/main" id="{4353719E-BA82-AC0E-4D92-B7161E28935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23148" y="5915646"/>
              <a:ext cx="702667" cy="33991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Introduction to Microservices - Comunytek">
              <a:extLst>
                <a:ext uri="{FF2B5EF4-FFF2-40B4-BE49-F238E27FC236}">
                  <a16:creationId xmlns:a16="http://schemas.microsoft.com/office/drawing/2014/main" id="{32062499-4DA7-395F-BD0B-04D4753C490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6150" y="5852929"/>
              <a:ext cx="586876" cy="4401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3" descr="A picture containing text, device, sign, gauge&#10;&#10;Description automatically generated">
              <a:extLst>
                <a:ext uri="{FF2B5EF4-FFF2-40B4-BE49-F238E27FC236}">
                  <a16:creationId xmlns:a16="http://schemas.microsoft.com/office/drawing/2014/main" id="{2382DD18-26A9-DC5F-7273-F5BA31ED87E0}"/>
                </a:ext>
              </a:extLst>
            </p:cNvPr>
            <p:cNvPicPr>
              <a:picLocks noChangeAspect="1"/>
            </p:cNvPicPr>
            <p:nvPr/>
          </p:nvPicPr>
          <p:blipFill>
            <a:blip r:embed="rId9"/>
            <a:stretch>
              <a:fillRect/>
            </a:stretch>
          </p:blipFill>
          <p:spPr>
            <a:xfrm>
              <a:off x="2918071" y="5956391"/>
              <a:ext cx="1138687" cy="269396"/>
            </a:xfrm>
            <a:prstGeom prst="rect">
              <a:avLst/>
            </a:prstGeom>
          </p:spPr>
        </p:pic>
      </p:grpSp>
      <p:sp>
        <p:nvSpPr>
          <p:cNvPr id="1032" name="Title 1">
            <a:extLst>
              <a:ext uri="{FF2B5EF4-FFF2-40B4-BE49-F238E27FC236}">
                <a16:creationId xmlns:a16="http://schemas.microsoft.com/office/drawing/2014/main" id="{807A86F4-9B9B-59A5-6D39-745ED94DA12C}"/>
              </a:ext>
            </a:extLst>
          </p:cNvPr>
          <p:cNvSpPr txBox="1">
            <a:spLocks/>
          </p:cNvSpPr>
          <p:nvPr/>
        </p:nvSpPr>
        <p:spPr>
          <a:xfrm>
            <a:off x="610087" y="5499625"/>
            <a:ext cx="1763445" cy="228167"/>
          </a:xfrm>
          <a:prstGeom prst="roundRect">
            <a:avLst>
              <a:gd name="adj" fmla="val 50000"/>
            </a:avLst>
          </a:prstGeom>
          <a:no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tx1"/>
                </a:solidFill>
                <a:effectLst/>
                <a:uLnTx/>
                <a:uFillTx/>
                <a:latin typeface="Manrope SemiBold" pitchFamily="2" charset="0"/>
                <a:ea typeface="Lato" panose="020B0604020202020204" charset="0"/>
                <a:cs typeface="Lato" panose="020B0604020202020204" charset="0"/>
              </a:rPr>
              <a:t>Technology Stack</a:t>
            </a:r>
          </a:p>
        </p:txBody>
      </p:sp>
    </p:spTree>
    <p:extLst>
      <p:ext uri="{BB962C8B-B14F-4D97-AF65-F5344CB8AC3E}">
        <p14:creationId xmlns:p14="http://schemas.microsoft.com/office/powerpoint/2010/main" val="2260126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896D-44EA-A39D-9241-1CA488A9B25B}"/>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4175745B-2BD4-AFF5-6915-5D046DA0EC77}"/>
              </a:ext>
            </a:extLst>
          </p:cNvPr>
          <p:cNvSpPr>
            <a:spLocks noGrp="1"/>
          </p:cNvSpPr>
          <p:nvPr>
            <p:ph type="body" sz="quarter" idx="15"/>
          </p:nvPr>
        </p:nvSpPr>
        <p:spPr>
          <a:xfrm flipH="1">
            <a:off x="623888" y="457200"/>
            <a:ext cx="8172450" cy="244101"/>
          </a:xfrm>
        </p:spPr>
        <p:txBody>
          <a:bodyPr wrap="square" lIns="0" tIns="36000" rIns="0" bIns="0" anchor="t" anchorCtr="0">
            <a:noAutofit/>
          </a:bodyPr>
          <a:lstStyle/>
          <a:p>
            <a:r>
              <a:rPr lang="en-US" dirty="0"/>
              <a:t>Case Study : Multi Brand, Multi Lingual &amp; Omni Channel Digital Marketing Platform</a:t>
            </a:r>
          </a:p>
        </p:txBody>
      </p:sp>
      <p:sp>
        <p:nvSpPr>
          <p:cNvPr id="5" name="Title 1">
            <a:extLst>
              <a:ext uri="{FF2B5EF4-FFF2-40B4-BE49-F238E27FC236}">
                <a16:creationId xmlns:a16="http://schemas.microsoft.com/office/drawing/2014/main" id="{BF1FF2A5-AE46-EA26-162F-AFCF88AECB27}"/>
              </a:ext>
            </a:extLst>
          </p:cNvPr>
          <p:cNvSpPr txBox="1">
            <a:spLocks/>
          </p:cNvSpPr>
          <p:nvPr/>
        </p:nvSpPr>
        <p:spPr>
          <a:xfrm>
            <a:off x="623888" y="926236"/>
            <a:ext cx="1645920" cy="365760"/>
          </a:xfrm>
          <a:prstGeom prst="rect">
            <a:avLst/>
          </a:prstGeom>
          <a:solidFill>
            <a:schemeClr val="tx2"/>
          </a:solid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pitchFamily="2" charset="0"/>
                <a:ea typeface="Lato" panose="020B0604020202020204" charset="0"/>
                <a:cs typeface="Lato" panose="020B0604020202020204" charset="0"/>
              </a:rPr>
              <a:t>About The Client</a:t>
            </a:r>
          </a:p>
        </p:txBody>
      </p:sp>
      <p:sp>
        <p:nvSpPr>
          <p:cNvPr id="7" name="Title 1">
            <a:extLst>
              <a:ext uri="{FF2B5EF4-FFF2-40B4-BE49-F238E27FC236}">
                <a16:creationId xmlns:a16="http://schemas.microsoft.com/office/drawing/2014/main" id="{98C53223-6D31-35D5-7DD3-AD167E21648E}"/>
              </a:ext>
            </a:extLst>
          </p:cNvPr>
          <p:cNvSpPr txBox="1">
            <a:spLocks/>
          </p:cNvSpPr>
          <p:nvPr/>
        </p:nvSpPr>
        <p:spPr>
          <a:xfrm>
            <a:off x="2298556" y="926236"/>
            <a:ext cx="9159055" cy="365760"/>
          </a:xfrm>
          <a:prstGeom prst="rect">
            <a:avLst/>
          </a:prstGeom>
          <a:solidFill>
            <a:schemeClr val="accent1"/>
          </a:solidFill>
        </p:spPr>
        <p:txBody>
          <a:bodyPr wrap="square" lIns="18000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rPr>
              <a:t>Hospitality giant with premium luxury hotels and resorts - Atlantis the Palm </a:t>
            </a:r>
          </a:p>
        </p:txBody>
      </p:sp>
      <p:cxnSp>
        <p:nvCxnSpPr>
          <p:cNvPr id="9" name="Straight Connector 280">
            <a:extLst>
              <a:ext uri="{FF2B5EF4-FFF2-40B4-BE49-F238E27FC236}">
                <a16:creationId xmlns:a16="http://schemas.microsoft.com/office/drawing/2014/main" id="{6B64B169-76B3-3A65-566A-E7811EBED381}"/>
              </a:ext>
            </a:extLst>
          </p:cNvPr>
          <p:cNvCxnSpPr>
            <a:cxnSpLocks/>
          </p:cNvCxnSpPr>
          <p:nvPr/>
        </p:nvCxnSpPr>
        <p:spPr bwMode="auto">
          <a:xfrm flipH="1">
            <a:off x="-54124" y="1754013"/>
            <a:ext cx="12192001" cy="0"/>
          </a:xfrm>
          <a:prstGeom prst="line">
            <a:avLst/>
          </a:prstGeom>
          <a:solidFill>
            <a:schemeClr val="accent1"/>
          </a:solidFill>
          <a:ln w="12700" cap="flat" cmpd="sng" algn="ctr">
            <a:gradFill flip="none" rotWithShape="1">
              <a:gsLst>
                <a:gs pos="0">
                  <a:schemeClr val="bg2">
                    <a:alpha val="0"/>
                  </a:schemeClr>
                </a:gs>
                <a:gs pos="100000">
                  <a:schemeClr val="bg2">
                    <a:alpha val="0"/>
                  </a:schemeClr>
                </a:gs>
                <a:gs pos="67000">
                  <a:schemeClr val="bg2"/>
                </a:gs>
                <a:gs pos="32000">
                  <a:schemeClr val="bg2"/>
                </a:gs>
              </a:gsLst>
              <a:lin ang="0" scaled="0"/>
              <a:tileRect/>
            </a:gradFill>
            <a:prstDash val="solid"/>
            <a:round/>
            <a:headEnd type="none" w="med" len="med"/>
            <a:tailEnd type="none" w="med" len="med"/>
          </a:ln>
          <a:effectLst/>
        </p:spPr>
      </p:cxnSp>
      <p:sp>
        <p:nvSpPr>
          <p:cNvPr id="10" name="Rectangle 9">
            <a:extLst>
              <a:ext uri="{FF2B5EF4-FFF2-40B4-BE49-F238E27FC236}">
                <a16:creationId xmlns:a16="http://schemas.microsoft.com/office/drawing/2014/main" id="{4835BE37-BD9B-3E14-D98C-476B15C39E45}"/>
              </a:ext>
            </a:extLst>
          </p:cNvPr>
          <p:cNvSpPr>
            <a:spLocks/>
          </p:cNvSpPr>
          <p:nvPr/>
        </p:nvSpPr>
        <p:spPr>
          <a:xfrm>
            <a:off x="4284729" y="1939066"/>
            <a:ext cx="3854227"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Our Solution</a:t>
            </a:r>
          </a:p>
        </p:txBody>
      </p:sp>
      <p:sp>
        <p:nvSpPr>
          <p:cNvPr id="11" name="Rectangle 10">
            <a:extLst>
              <a:ext uri="{FF2B5EF4-FFF2-40B4-BE49-F238E27FC236}">
                <a16:creationId xmlns:a16="http://schemas.microsoft.com/office/drawing/2014/main" id="{DF2189AB-3BB3-7E00-6A00-F463DF26CB5C}"/>
              </a:ext>
            </a:extLst>
          </p:cNvPr>
          <p:cNvSpPr>
            <a:spLocks/>
          </p:cNvSpPr>
          <p:nvPr/>
        </p:nvSpPr>
        <p:spPr>
          <a:xfrm>
            <a:off x="610087" y="1939066"/>
            <a:ext cx="3569314"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Business Objectives</a:t>
            </a:r>
          </a:p>
        </p:txBody>
      </p:sp>
      <p:sp>
        <p:nvSpPr>
          <p:cNvPr id="12" name="Rectangle 11">
            <a:extLst>
              <a:ext uri="{FF2B5EF4-FFF2-40B4-BE49-F238E27FC236}">
                <a16:creationId xmlns:a16="http://schemas.microsoft.com/office/drawing/2014/main" id="{B829290C-1B76-9137-B732-038B8DADC840}"/>
              </a:ext>
            </a:extLst>
          </p:cNvPr>
          <p:cNvSpPr>
            <a:spLocks/>
          </p:cNvSpPr>
          <p:nvPr/>
        </p:nvSpPr>
        <p:spPr>
          <a:xfrm>
            <a:off x="8282386" y="1939066"/>
            <a:ext cx="3714469" cy="215444"/>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accent1"/>
                </a:solidFill>
                <a:effectLst/>
                <a:uLnTx/>
                <a:uFillTx/>
                <a:latin typeface="Manrope" pitchFamily="2" charset="0"/>
                <a:ea typeface="Lato" panose="020B0604020202020204" charset="0"/>
                <a:cs typeface="Lato" panose="020B0604020202020204" charset="0"/>
              </a:rPr>
              <a:t>Business Impact</a:t>
            </a:r>
          </a:p>
        </p:txBody>
      </p:sp>
      <p:sp>
        <p:nvSpPr>
          <p:cNvPr id="15" name="Text Placeholder 16">
            <a:extLst>
              <a:ext uri="{FF2B5EF4-FFF2-40B4-BE49-F238E27FC236}">
                <a16:creationId xmlns:a16="http://schemas.microsoft.com/office/drawing/2014/main" id="{7DA76F30-E092-E1B7-2219-EBC145AC34D5}"/>
              </a:ext>
            </a:extLst>
          </p:cNvPr>
          <p:cNvSpPr txBox="1">
            <a:spLocks/>
          </p:cNvSpPr>
          <p:nvPr/>
        </p:nvSpPr>
        <p:spPr>
          <a:xfrm>
            <a:off x="8431002" y="2569244"/>
            <a:ext cx="3137111" cy="2519715"/>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marL="285750" indent="-285750">
              <a:buFont typeface="Arial" panose="020B0604020202020204" pitchFamily="34" charset="0"/>
              <a:buChar char="•"/>
              <a:defRPr sz="1400">
                <a:solidFill>
                  <a:schemeClr val="bg2">
                    <a:lumMod val="75000"/>
                  </a:schemeClr>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Better brand management with revamped design</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793% improved restaurant reservations with visitor segmentation and offer targeting using personalization and analytics</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Reduced time-to-market by 70% for new properties and offers launched</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Strong digital adoption and 8% increase in member Acquisition</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Upliftment in targeted MVP purchase by 217%</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cxnSp>
        <p:nvCxnSpPr>
          <p:cNvPr id="16" name="Straight Connector 15">
            <a:extLst>
              <a:ext uri="{FF2B5EF4-FFF2-40B4-BE49-F238E27FC236}">
                <a16:creationId xmlns:a16="http://schemas.microsoft.com/office/drawing/2014/main" id="{074EB565-4E8C-3480-9FB9-25462D7DB836}"/>
              </a:ext>
            </a:extLst>
          </p:cNvPr>
          <p:cNvCxnSpPr/>
          <p:nvPr/>
        </p:nvCxnSpPr>
        <p:spPr bwMode="auto">
          <a:xfrm>
            <a:off x="4296290"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D9294062-FAA6-8254-6739-4BEC5F24EF1A}"/>
              </a:ext>
            </a:extLst>
          </p:cNvPr>
          <p:cNvCxnSpPr>
            <a:cxnSpLocks/>
          </p:cNvCxnSpPr>
          <p:nvPr/>
        </p:nvCxnSpPr>
        <p:spPr bwMode="auto">
          <a:xfrm>
            <a:off x="4296290" y="2236308"/>
            <a:ext cx="3501510"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2EC13B57-E474-0CCB-E49D-1FACCB4C9DC3}"/>
              </a:ext>
            </a:extLst>
          </p:cNvPr>
          <p:cNvCxnSpPr/>
          <p:nvPr/>
        </p:nvCxnSpPr>
        <p:spPr bwMode="auto">
          <a:xfrm>
            <a:off x="622787"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0FF4B8AB-7B6D-DF2A-A6F7-AD0193545561}"/>
              </a:ext>
            </a:extLst>
          </p:cNvPr>
          <p:cNvCxnSpPr>
            <a:cxnSpLocks/>
          </p:cNvCxnSpPr>
          <p:nvPr/>
        </p:nvCxnSpPr>
        <p:spPr bwMode="auto">
          <a:xfrm>
            <a:off x="622787" y="2236308"/>
            <a:ext cx="319990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B1F26A04-09F1-9A33-C3A5-4570FA8EE4E2}"/>
              </a:ext>
            </a:extLst>
          </p:cNvPr>
          <p:cNvCxnSpPr/>
          <p:nvPr/>
        </p:nvCxnSpPr>
        <p:spPr bwMode="auto">
          <a:xfrm>
            <a:off x="8295086"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F7C9FB51-2904-BDAF-140F-FD5EA9B130AD}"/>
              </a:ext>
            </a:extLst>
          </p:cNvPr>
          <p:cNvCxnSpPr>
            <a:cxnSpLocks/>
          </p:cNvCxnSpPr>
          <p:nvPr/>
        </p:nvCxnSpPr>
        <p:spPr bwMode="auto">
          <a:xfrm>
            <a:off x="8295086" y="2236308"/>
            <a:ext cx="327302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sp>
        <p:nvSpPr>
          <p:cNvPr id="22" name="Text Placeholder 14">
            <a:extLst>
              <a:ext uri="{FF2B5EF4-FFF2-40B4-BE49-F238E27FC236}">
                <a16:creationId xmlns:a16="http://schemas.microsoft.com/office/drawing/2014/main" id="{8A9D3F7C-1402-7E9E-2D6D-FA214EA5FE8C}"/>
              </a:ext>
            </a:extLst>
          </p:cNvPr>
          <p:cNvSpPr txBox="1">
            <a:spLocks/>
          </p:cNvSpPr>
          <p:nvPr/>
        </p:nvSpPr>
        <p:spPr>
          <a:xfrm>
            <a:off x="620653" y="2552184"/>
            <a:ext cx="3012792" cy="2578612"/>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a:defRPr>
                <a:solidFill>
                  <a:schemeClr val="dk1"/>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Target multi-national audience representing different needs/ buying patterns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Achieve higher booking conversion through user journey tracking across devices, environments, geographies and languages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Monetization of information assets to generate increased revenue </a:t>
            </a:r>
          </a:p>
        </p:txBody>
      </p:sp>
      <p:grpSp>
        <p:nvGrpSpPr>
          <p:cNvPr id="32" name="Group 31">
            <a:extLst>
              <a:ext uri="{FF2B5EF4-FFF2-40B4-BE49-F238E27FC236}">
                <a16:creationId xmlns:a16="http://schemas.microsoft.com/office/drawing/2014/main" id="{A5BDD2E2-C7CB-C598-81C9-81115D3E15E0}"/>
              </a:ext>
            </a:extLst>
          </p:cNvPr>
          <p:cNvGrpSpPr/>
          <p:nvPr/>
        </p:nvGrpSpPr>
        <p:grpSpPr>
          <a:xfrm>
            <a:off x="8250125" y="1462693"/>
            <a:ext cx="361753" cy="412093"/>
            <a:chOff x="2988054" y="3031020"/>
            <a:chExt cx="1468389" cy="1672720"/>
          </a:xfrm>
          <a:noFill/>
        </p:grpSpPr>
        <p:sp>
          <p:nvSpPr>
            <p:cNvPr id="34" name="Freeform: Shape 38">
              <a:extLst>
                <a:ext uri="{FF2B5EF4-FFF2-40B4-BE49-F238E27FC236}">
                  <a16:creationId xmlns:a16="http://schemas.microsoft.com/office/drawing/2014/main" id="{4D66B650-44D3-B269-135A-3B43F7AD9002}"/>
                </a:ext>
              </a:extLst>
            </p:cNvPr>
            <p:cNvSpPr>
              <a:spLocks/>
            </p:cNvSpPr>
            <p:nvPr/>
          </p:nvSpPr>
          <p:spPr bwMode="auto">
            <a:xfrm>
              <a:off x="3137550" y="3758889"/>
              <a:ext cx="1318893" cy="908616"/>
            </a:xfrm>
            <a:custGeom>
              <a:avLst/>
              <a:gdLst>
                <a:gd name="connsiteX0" fmla="*/ 990006 w 1318889"/>
                <a:gd name="connsiteY0" fmla="*/ 0 h 908614"/>
                <a:gd name="connsiteX1" fmla="*/ 1268292 w 1318889"/>
                <a:gd name="connsiteY1" fmla="*/ 0 h 908614"/>
                <a:gd name="connsiteX2" fmla="*/ 1270592 w 1318889"/>
                <a:gd name="connsiteY2" fmla="*/ 0 h 908614"/>
                <a:gd name="connsiteX3" fmla="*/ 1305090 w 1318889"/>
                <a:gd name="connsiteY3" fmla="*/ 13766 h 908614"/>
                <a:gd name="connsiteX4" fmla="*/ 1318889 w 1318889"/>
                <a:gd name="connsiteY4" fmla="*/ 48181 h 908614"/>
                <a:gd name="connsiteX5" fmla="*/ 1318889 w 1318889"/>
                <a:gd name="connsiteY5" fmla="*/ 50475 h 908614"/>
                <a:gd name="connsiteX6" fmla="*/ 1318889 w 1318889"/>
                <a:gd name="connsiteY6" fmla="*/ 312028 h 908614"/>
                <a:gd name="connsiteX7" fmla="*/ 1272892 w 1318889"/>
                <a:gd name="connsiteY7" fmla="*/ 357915 h 908614"/>
                <a:gd name="connsiteX8" fmla="*/ 1226894 w 1318889"/>
                <a:gd name="connsiteY8" fmla="*/ 312028 h 908614"/>
                <a:gd name="connsiteX9" fmla="*/ 1226894 w 1318889"/>
                <a:gd name="connsiteY9" fmla="*/ 157161 h 908614"/>
                <a:gd name="connsiteX10" fmla="*/ 739319 w 1318889"/>
                <a:gd name="connsiteY10" fmla="*/ 642411 h 908614"/>
                <a:gd name="connsiteX11" fmla="*/ 674923 w 1318889"/>
                <a:gd name="connsiteY11" fmla="*/ 642411 h 908614"/>
                <a:gd name="connsiteX12" fmla="*/ 502432 w 1318889"/>
                <a:gd name="connsiteY12" fmla="*/ 471484 h 908614"/>
                <a:gd name="connsiteX13" fmla="*/ 76839 w 1318889"/>
                <a:gd name="connsiteY13" fmla="*/ 896664 h 908614"/>
                <a:gd name="connsiteX14" fmla="*/ 64877 w 1318889"/>
                <a:gd name="connsiteY14" fmla="*/ 908614 h 908614"/>
                <a:gd name="connsiteX15" fmla="*/ 0 w 1318889"/>
                <a:gd name="connsiteY15" fmla="*/ 843071 h 908614"/>
                <a:gd name="connsiteX16" fmla="*/ 86906 w 1318889"/>
                <a:gd name="connsiteY16" fmla="*/ 756376 h 908614"/>
                <a:gd name="connsiteX17" fmla="*/ 470233 w 1318889"/>
                <a:gd name="connsiteY17" fmla="*/ 373975 h 908614"/>
                <a:gd name="connsiteX18" fmla="*/ 502432 w 1318889"/>
                <a:gd name="connsiteY18" fmla="*/ 361356 h 908614"/>
                <a:gd name="connsiteX19" fmla="*/ 535780 w 1318889"/>
                <a:gd name="connsiteY19" fmla="*/ 373975 h 908614"/>
                <a:gd name="connsiteX20" fmla="*/ 707121 w 1318889"/>
                <a:gd name="connsiteY20" fmla="*/ 544902 h 908614"/>
                <a:gd name="connsiteX21" fmla="*/ 1161347 w 1318889"/>
                <a:gd name="connsiteY21" fmla="*/ 91773 h 908614"/>
                <a:gd name="connsiteX22" fmla="*/ 990006 w 1318889"/>
                <a:gd name="connsiteY22" fmla="*/ 91773 h 908614"/>
                <a:gd name="connsiteX23" fmla="*/ 944009 w 1318889"/>
                <a:gd name="connsiteY23" fmla="*/ 45887 h 908614"/>
                <a:gd name="connsiteX24" fmla="*/ 990006 w 1318889"/>
                <a:gd name="connsiteY24" fmla="*/ 0 h 90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18889" h="908614">
                  <a:moveTo>
                    <a:pt x="990006" y="0"/>
                  </a:moveTo>
                  <a:cubicBezTo>
                    <a:pt x="990006" y="0"/>
                    <a:pt x="990006" y="0"/>
                    <a:pt x="1268292" y="0"/>
                  </a:cubicBezTo>
                  <a:cubicBezTo>
                    <a:pt x="1269442" y="0"/>
                    <a:pt x="1269442" y="0"/>
                    <a:pt x="1270592" y="0"/>
                  </a:cubicBezTo>
                  <a:cubicBezTo>
                    <a:pt x="1283241" y="0"/>
                    <a:pt x="1295890" y="3442"/>
                    <a:pt x="1305090" y="13766"/>
                  </a:cubicBezTo>
                  <a:cubicBezTo>
                    <a:pt x="1314289" y="22943"/>
                    <a:pt x="1318889" y="35562"/>
                    <a:pt x="1318889" y="48181"/>
                  </a:cubicBezTo>
                  <a:cubicBezTo>
                    <a:pt x="1318889" y="49328"/>
                    <a:pt x="1318889" y="49328"/>
                    <a:pt x="1318889" y="50475"/>
                  </a:cubicBezTo>
                  <a:cubicBezTo>
                    <a:pt x="1318889" y="50475"/>
                    <a:pt x="1318889" y="50475"/>
                    <a:pt x="1318889" y="312028"/>
                  </a:cubicBezTo>
                  <a:cubicBezTo>
                    <a:pt x="1318889" y="337266"/>
                    <a:pt x="1298190" y="357915"/>
                    <a:pt x="1272892" y="357915"/>
                  </a:cubicBezTo>
                  <a:cubicBezTo>
                    <a:pt x="1247593" y="357915"/>
                    <a:pt x="1226894" y="337266"/>
                    <a:pt x="1226894" y="312028"/>
                  </a:cubicBezTo>
                  <a:cubicBezTo>
                    <a:pt x="1226894" y="312028"/>
                    <a:pt x="1226894" y="312028"/>
                    <a:pt x="1226894" y="157161"/>
                  </a:cubicBezTo>
                  <a:cubicBezTo>
                    <a:pt x="1226894" y="157161"/>
                    <a:pt x="1226894" y="157161"/>
                    <a:pt x="739319" y="642411"/>
                  </a:cubicBezTo>
                  <a:cubicBezTo>
                    <a:pt x="722070" y="660765"/>
                    <a:pt x="692172" y="660765"/>
                    <a:pt x="674923" y="642411"/>
                  </a:cubicBezTo>
                  <a:cubicBezTo>
                    <a:pt x="674923" y="642411"/>
                    <a:pt x="674923" y="642411"/>
                    <a:pt x="502432" y="471484"/>
                  </a:cubicBezTo>
                  <a:cubicBezTo>
                    <a:pt x="502432" y="471484"/>
                    <a:pt x="502432" y="471484"/>
                    <a:pt x="76839" y="896664"/>
                  </a:cubicBezTo>
                  <a:lnTo>
                    <a:pt x="64877" y="908614"/>
                  </a:lnTo>
                  <a:lnTo>
                    <a:pt x="0" y="843071"/>
                  </a:lnTo>
                  <a:lnTo>
                    <a:pt x="86906" y="756376"/>
                  </a:lnTo>
                  <a:cubicBezTo>
                    <a:pt x="189248" y="654281"/>
                    <a:pt x="315207" y="528627"/>
                    <a:pt x="470233" y="373975"/>
                  </a:cubicBezTo>
                  <a:cubicBezTo>
                    <a:pt x="479433" y="365945"/>
                    <a:pt x="490932" y="361356"/>
                    <a:pt x="502432" y="361356"/>
                  </a:cubicBezTo>
                  <a:cubicBezTo>
                    <a:pt x="515081" y="361356"/>
                    <a:pt x="526580" y="365945"/>
                    <a:pt x="535780" y="373975"/>
                  </a:cubicBezTo>
                  <a:cubicBezTo>
                    <a:pt x="535780" y="373975"/>
                    <a:pt x="535780" y="373975"/>
                    <a:pt x="707121" y="544902"/>
                  </a:cubicBezTo>
                  <a:cubicBezTo>
                    <a:pt x="707121" y="544902"/>
                    <a:pt x="707121" y="544902"/>
                    <a:pt x="1161347" y="91773"/>
                  </a:cubicBezTo>
                  <a:cubicBezTo>
                    <a:pt x="1161347" y="91773"/>
                    <a:pt x="1161347" y="91773"/>
                    <a:pt x="990006" y="91773"/>
                  </a:cubicBezTo>
                  <a:cubicBezTo>
                    <a:pt x="964708" y="91773"/>
                    <a:pt x="944009" y="71124"/>
                    <a:pt x="944009" y="45887"/>
                  </a:cubicBezTo>
                  <a:cubicBezTo>
                    <a:pt x="944009" y="20649"/>
                    <a:pt x="964708" y="0"/>
                    <a:pt x="99000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5" name="Freeform 52">
              <a:extLst>
                <a:ext uri="{FF2B5EF4-FFF2-40B4-BE49-F238E27FC236}">
                  <a16:creationId xmlns:a16="http://schemas.microsoft.com/office/drawing/2014/main" id="{9277E3AF-3ABC-A9F0-8F73-91771303AC82}"/>
                </a:ext>
              </a:extLst>
            </p:cNvPr>
            <p:cNvSpPr>
              <a:spLocks/>
            </p:cNvSpPr>
            <p:nvPr/>
          </p:nvSpPr>
          <p:spPr bwMode="auto">
            <a:xfrm>
              <a:off x="3571839" y="4324566"/>
              <a:ext cx="139793" cy="280514"/>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nvGrpSpPr>
            <p:cNvPr id="36" name="Group 35">
              <a:extLst>
                <a:ext uri="{FF2B5EF4-FFF2-40B4-BE49-F238E27FC236}">
                  <a16:creationId xmlns:a16="http://schemas.microsoft.com/office/drawing/2014/main" id="{4E19E43F-9830-16E8-20B8-584C23F53252}"/>
                </a:ext>
              </a:extLst>
            </p:cNvPr>
            <p:cNvGrpSpPr/>
            <p:nvPr/>
          </p:nvGrpSpPr>
          <p:grpSpPr>
            <a:xfrm>
              <a:off x="2988054" y="3031020"/>
              <a:ext cx="1103900" cy="1308733"/>
              <a:chOff x="1598613" y="2660650"/>
              <a:chExt cx="1616214" cy="1916112"/>
            </a:xfrm>
            <a:grpFill/>
          </p:grpSpPr>
          <p:sp>
            <p:nvSpPr>
              <p:cNvPr id="39" name="Freeform 5">
                <a:extLst>
                  <a:ext uri="{FF2B5EF4-FFF2-40B4-BE49-F238E27FC236}">
                    <a16:creationId xmlns:a16="http://schemas.microsoft.com/office/drawing/2014/main" id="{0643DA67-F055-8D32-63FE-2124ED6B4ADA}"/>
                  </a:ext>
                </a:extLst>
              </p:cNvPr>
              <p:cNvSpPr>
                <a:spLocks/>
              </p:cNvSpPr>
              <p:nvPr/>
            </p:nvSpPr>
            <p:spPr bwMode="auto">
              <a:xfrm>
                <a:off x="2716214" y="3876675"/>
                <a:ext cx="498613" cy="531146"/>
              </a:xfrm>
              <a:custGeom>
                <a:avLst/>
                <a:gdLst>
                  <a:gd name="T0" fmla="*/ 107 w 488"/>
                  <a:gd name="T1" fmla="*/ 0 h 517"/>
                  <a:gd name="T2" fmla="*/ 185 w 488"/>
                  <a:gd name="T3" fmla="*/ 229 h 517"/>
                  <a:gd name="T4" fmla="*/ 76 w 488"/>
                  <a:gd name="T5" fmla="*/ 221 h 517"/>
                  <a:gd name="T6" fmla="*/ 0 w 488"/>
                  <a:gd name="T7" fmla="*/ 315 h 517"/>
                  <a:gd name="T8" fmla="*/ 17 w 488"/>
                  <a:gd name="T9" fmla="*/ 332 h 517"/>
                  <a:gd name="T10" fmla="*/ 202 w 488"/>
                  <a:gd name="T11" fmla="*/ 517 h 517"/>
                  <a:gd name="T12" fmla="*/ 334 w 488"/>
                  <a:gd name="T13" fmla="*/ 384 h 517"/>
                  <a:gd name="T14" fmla="*/ 387 w 488"/>
                  <a:gd name="T15" fmla="*/ 332 h 517"/>
                  <a:gd name="T16" fmla="*/ 408 w 488"/>
                  <a:gd name="T17" fmla="*/ 311 h 517"/>
                  <a:gd name="T18" fmla="*/ 488 w 488"/>
                  <a:gd name="T19" fmla="*/ 231 h 517"/>
                  <a:gd name="T20" fmla="*/ 394 w 488"/>
                  <a:gd name="T21" fmla="*/ 144 h 517"/>
                  <a:gd name="T22" fmla="*/ 149 w 488"/>
                  <a:gd name="T23" fmla="*/ 23 h 517"/>
                  <a:gd name="T24" fmla="*/ 107 w 488"/>
                  <a:gd name="T25" fmla="*/ 0 h 517"/>
                  <a:gd name="connsiteX0" fmla="*/ 2193 w 8361"/>
                  <a:gd name="connsiteY0" fmla="*/ 0 h 10000"/>
                  <a:gd name="connsiteX1" fmla="*/ 3791 w 8361"/>
                  <a:gd name="connsiteY1" fmla="*/ 4429 h 10000"/>
                  <a:gd name="connsiteX2" fmla="*/ 1557 w 8361"/>
                  <a:gd name="connsiteY2" fmla="*/ 4275 h 10000"/>
                  <a:gd name="connsiteX3" fmla="*/ 0 w 8361"/>
                  <a:gd name="connsiteY3" fmla="*/ 6093 h 10000"/>
                  <a:gd name="connsiteX4" fmla="*/ 348 w 8361"/>
                  <a:gd name="connsiteY4" fmla="*/ 6422 h 10000"/>
                  <a:gd name="connsiteX5" fmla="*/ 4139 w 8361"/>
                  <a:gd name="connsiteY5" fmla="*/ 10000 h 10000"/>
                  <a:gd name="connsiteX6" fmla="*/ 6844 w 8361"/>
                  <a:gd name="connsiteY6" fmla="*/ 7427 h 10000"/>
                  <a:gd name="connsiteX7" fmla="*/ 7930 w 8361"/>
                  <a:gd name="connsiteY7" fmla="*/ 6422 h 10000"/>
                  <a:gd name="connsiteX8" fmla="*/ 8361 w 8361"/>
                  <a:gd name="connsiteY8" fmla="*/ 6015 h 10000"/>
                  <a:gd name="connsiteX9" fmla="*/ 8074 w 8361"/>
                  <a:gd name="connsiteY9" fmla="*/ 2785 h 10000"/>
                  <a:gd name="connsiteX10" fmla="*/ 3053 w 8361"/>
                  <a:gd name="connsiteY10" fmla="*/ 445 h 10000"/>
                  <a:gd name="connsiteX11" fmla="*/ 2193 w 8361"/>
                  <a:gd name="connsiteY11" fmla="*/ 0 h 10000"/>
                  <a:gd name="connsiteX0" fmla="*/ 2623 w 9657"/>
                  <a:gd name="connsiteY0" fmla="*/ 0 h 10000"/>
                  <a:gd name="connsiteX1" fmla="*/ 4534 w 9657"/>
                  <a:gd name="connsiteY1" fmla="*/ 4429 h 10000"/>
                  <a:gd name="connsiteX2" fmla="*/ 1862 w 9657"/>
                  <a:gd name="connsiteY2" fmla="*/ 4275 h 10000"/>
                  <a:gd name="connsiteX3" fmla="*/ 0 w 9657"/>
                  <a:gd name="connsiteY3" fmla="*/ 6093 h 10000"/>
                  <a:gd name="connsiteX4" fmla="*/ 416 w 9657"/>
                  <a:gd name="connsiteY4" fmla="*/ 6422 h 10000"/>
                  <a:gd name="connsiteX5" fmla="*/ 4950 w 9657"/>
                  <a:gd name="connsiteY5" fmla="*/ 10000 h 10000"/>
                  <a:gd name="connsiteX6" fmla="*/ 8186 w 9657"/>
                  <a:gd name="connsiteY6" fmla="*/ 7427 h 10000"/>
                  <a:gd name="connsiteX7" fmla="*/ 9485 w 9657"/>
                  <a:gd name="connsiteY7" fmla="*/ 6422 h 10000"/>
                  <a:gd name="connsiteX8" fmla="*/ 9657 w 9657"/>
                  <a:gd name="connsiteY8" fmla="*/ 2785 h 10000"/>
                  <a:gd name="connsiteX9" fmla="*/ 3651 w 9657"/>
                  <a:gd name="connsiteY9" fmla="*/ 445 h 10000"/>
                  <a:gd name="connsiteX10" fmla="*/ 2623 w 9657"/>
                  <a:gd name="connsiteY10"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8477 w 10000"/>
                  <a:gd name="connsiteY6" fmla="*/ 7427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10000 w 10000"/>
                  <a:gd name="connsiteY6" fmla="*/ 2785 h 10000"/>
                  <a:gd name="connsiteX7" fmla="*/ 3781 w 10000"/>
                  <a:gd name="connsiteY7" fmla="*/ 445 h 10000"/>
                  <a:gd name="connsiteX8" fmla="*/ 2716 w 10000"/>
                  <a:gd name="connsiteY8"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3399 w 10000"/>
                  <a:gd name="connsiteY5" fmla="*/ 8675 h 10000"/>
                  <a:gd name="connsiteX6" fmla="*/ 5126 w 10000"/>
                  <a:gd name="connsiteY6" fmla="*/ 10000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8675"/>
                  <a:gd name="connsiteX1" fmla="*/ 4695 w 10000"/>
                  <a:gd name="connsiteY1" fmla="*/ 4429 h 8675"/>
                  <a:gd name="connsiteX2" fmla="*/ 1928 w 10000"/>
                  <a:gd name="connsiteY2" fmla="*/ 4275 h 8675"/>
                  <a:gd name="connsiteX3" fmla="*/ 0 w 10000"/>
                  <a:gd name="connsiteY3" fmla="*/ 6093 h 8675"/>
                  <a:gd name="connsiteX4" fmla="*/ 431 w 10000"/>
                  <a:gd name="connsiteY4" fmla="*/ 6422 h 8675"/>
                  <a:gd name="connsiteX5" fmla="*/ 3399 w 10000"/>
                  <a:gd name="connsiteY5" fmla="*/ 8675 h 8675"/>
                  <a:gd name="connsiteX6" fmla="*/ 10000 w 10000"/>
                  <a:gd name="connsiteY6" fmla="*/ 2785 h 8675"/>
                  <a:gd name="connsiteX7" fmla="*/ 3781 w 10000"/>
                  <a:gd name="connsiteY7" fmla="*/ 445 h 8675"/>
                  <a:gd name="connsiteX8" fmla="*/ 2716 w 10000"/>
                  <a:gd name="connsiteY8" fmla="*/ 0 h 8675"/>
                  <a:gd name="connsiteX0" fmla="*/ 2716 w 10000"/>
                  <a:gd name="connsiteY0" fmla="*/ 0 h 9384"/>
                  <a:gd name="connsiteX1" fmla="*/ 4695 w 10000"/>
                  <a:gd name="connsiteY1" fmla="*/ 5105 h 9384"/>
                  <a:gd name="connsiteX2" fmla="*/ 1928 w 10000"/>
                  <a:gd name="connsiteY2" fmla="*/ 4928 h 9384"/>
                  <a:gd name="connsiteX3" fmla="*/ 0 w 10000"/>
                  <a:gd name="connsiteY3" fmla="*/ 7024 h 9384"/>
                  <a:gd name="connsiteX4" fmla="*/ 431 w 10000"/>
                  <a:gd name="connsiteY4" fmla="*/ 7403 h 9384"/>
                  <a:gd name="connsiteX5" fmla="*/ 2979 w 10000"/>
                  <a:gd name="connsiteY5" fmla="*/ 9384 h 9384"/>
                  <a:gd name="connsiteX6" fmla="*/ 10000 w 10000"/>
                  <a:gd name="connsiteY6" fmla="*/ 3210 h 9384"/>
                  <a:gd name="connsiteX7" fmla="*/ 3781 w 10000"/>
                  <a:gd name="connsiteY7" fmla="*/ 513 h 9384"/>
                  <a:gd name="connsiteX8" fmla="*/ 2716 w 10000"/>
                  <a:gd name="connsiteY8" fmla="*/ 0 h 9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9384">
                    <a:moveTo>
                      <a:pt x="2716" y="0"/>
                    </a:moveTo>
                    <a:lnTo>
                      <a:pt x="4695" y="5105"/>
                    </a:lnTo>
                    <a:lnTo>
                      <a:pt x="1928" y="4928"/>
                    </a:lnTo>
                    <a:lnTo>
                      <a:pt x="0" y="7024"/>
                    </a:lnTo>
                    <a:cubicBezTo>
                      <a:pt x="144" y="7150"/>
                      <a:pt x="-65" y="7010"/>
                      <a:pt x="431" y="7403"/>
                    </a:cubicBezTo>
                    <a:cubicBezTo>
                      <a:pt x="927" y="7796"/>
                      <a:pt x="2130" y="8724"/>
                      <a:pt x="2979" y="9384"/>
                    </a:cubicBezTo>
                    <a:lnTo>
                      <a:pt x="10000" y="3210"/>
                    </a:lnTo>
                    <a:lnTo>
                      <a:pt x="3781" y="513"/>
                    </a:lnTo>
                    <a:cubicBezTo>
                      <a:pt x="3425" y="356"/>
                      <a:pt x="3071" y="179"/>
                      <a:pt x="271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0" name="Freeform 6">
                <a:extLst>
                  <a:ext uri="{FF2B5EF4-FFF2-40B4-BE49-F238E27FC236}">
                    <a16:creationId xmlns:a16="http://schemas.microsoft.com/office/drawing/2014/main" id="{9DC7AB68-2AD3-81E6-71A6-DD8AED596C9A}"/>
                  </a:ext>
                </a:extLst>
              </p:cNvPr>
              <p:cNvSpPr>
                <a:spLocks/>
              </p:cNvSpPr>
              <p:nvPr/>
            </p:nvSpPr>
            <p:spPr bwMode="auto">
              <a:xfrm>
                <a:off x="1598613" y="3876675"/>
                <a:ext cx="704850" cy="700087"/>
              </a:xfrm>
              <a:custGeom>
                <a:avLst/>
                <a:gdLst>
                  <a:gd name="T0" fmla="*/ 483 w 557"/>
                  <a:gd name="T1" fmla="*/ 221 h 554"/>
                  <a:gd name="T2" fmla="*/ 374 w 557"/>
                  <a:gd name="T3" fmla="*/ 229 h 554"/>
                  <a:gd name="T4" fmla="*/ 453 w 557"/>
                  <a:gd name="T5" fmla="*/ 0 h 554"/>
                  <a:gd name="T6" fmla="*/ 404 w 557"/>
                  <a:gd name="T7" fmla="*/ 26 h 554"/>
                  <a:gd name="T8" fmla="*/ 165 w 557"/>
                  <a:gd name="T9" fmla="*/ 144 h 554"/>
                  <a:gd name="T10" fmla="*/ 42 w 557"/>
                  <a:gd name="T11" fmla="*/ 306 h 554"/>
                  <a:gd name="T12" fmla="*/ 3 w 557"/>
                  <a:gd name="T13" fmla="*/ 523 h 554"/>
                  <a:gd name="T14" fmla="*/ 29 w 557"/>
                  <a:gd name="T15" fmla="*/ 554 h 554"/>
                  <a:gd name="T16" fmla="*/ 316 w 557"/>
                  <a:gd name="T17" fmla="*/ 554 h 554"/>
                  <a:gd name="T18" fmla="*/ 557 w 557"/>
                  <a:gd name="T19" fmla="*/ 312 h 554"/>
                  <a:gd name="T20" fmla="*/ 483 w 557"/>
                  <a:gd name="T21" fmla="*/ 221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7" h="554">
                    <a:moveTo>
                      <a:pt x="483" y="221"/>
                    </a:moveTo>
                    <a:cubicBezTo>
                      <a:pt x="374" y="229"/>
                      <a:pt x="374" y="229"/>
                      <a:pt x="374" y="229"/>
                    </a:cubicBezTo>
                    <a:cubicBezTo>
                      <a:pt x="453" y="0"/>
                      <a:pt x="453" y="0"/>
                      <a:pt x="453" y="0"/>
                    </a:cubicBezTo>
                    <a:cubicBezTo>
                      <a:pt x="404" y="26"/>
                      <a:pt x="404" y="26"/>
                      <a:pt x="404" y="26"/>
                    </a:cubicBezTo>
                    <a:cubicBezTo>
                      <a:pt x="165" y="144"/>
                      <a:pt x="165" y="144"/>
                      <a:pt x="165" y="144"/>
                    </a:cubicBezTo>
                    <a:cubicBezTo>
                      <a:pt x="101" y="176"/>
                      <a:pt x="55" y="236"/>
                      <a:pt x="42" y="306"/>
                    </a:cubicBezTo>
                    <a:cubicBezTo>
                      <a:pt x="3" y="523"/>
                      <a:pt x="3" y="523"/>
                      <a:pt x="3" y="523"/>
                    </a:cubicBezTo>
                    <a:cubicBezTo>
                      <a:pt x="0" y="539"/>
                      <a:pt x="12" y="554"/>
                      <a:pt x="29" y="554"/>
                    </a:cubicBezTo>
                    <a:cubicBezTo>
                      <a:pt x="316" y="554"/>
                      <a:pt x="316" y="554"/>
                      <a:pt x="316" y="554"/>
                    </a:cubicBezTo>
                    <a:cubicBezTo>
                      <a:pt x="557" y="312"/>
                      <a:pt x="557" y="312"/>
                      <a:pt x="557" y="312"/>
                    </a:cubicBezTo>
                    <a:lnTo>
                      <a:pt x="483" y="221"/>
                    </a:ln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2" name="Freeform 7">
                <a:extLst>
                  <a:ext uri="{FF2B5EF4-FFF2-40B4-BE49-F238E27FC236}">
                    <a16:creationId xmlns:a16="http://schemas.microsoft.com/office/drawing/2014/main" id="{9BB66D27-5E1F-C755-97A6-17AC347B683D}"/>
                  </a:ext>
                </a:extLst>
              </p:cNvPr>
              <p:cNvSpPr>
                <a:spLocks/>
              </p:cNvSpPr>
              <p:nvPr/>
            </p:nvSpPr>
            <p:spPr bwMode="auto">
              <a:xfrm>
                <a:off x="2016267" y="3050097"/>
                <a:ext cx="996526" cy="1140903"/>
              </a:xfrm>
              <a:custGeom>
                <a:avLst/>
                <a:gdLst>
                  <a:gd name="T0" fmla="*/ 332 w 1050"/>
                  <a:gd name="T1" fmla="*/ 1047 h 1422"/>
                  <a:gd name="T2" fmla="*/ 332 w 1050"/>
                  <a:gd name="T3" fmla="*/ 1119 h 1422"/>
                  <a:gd name="T4" fmla="*/ 435 w 1050"/>
                  <a:gd name="T5" fmla="*/ 1419 h 1422"/>
                  <a:gd name="T6" fmla="*/ 525 w 1050"/>
                  <a:gd name="T7" fmla="*/ 1392 h 1422"/>
                  <a:gd name="T8" fmla="*/ 619 w 1050"/>
                  <a:gd name="T9" fmla="*/ 1422 h 1422"/>
                  <a:gd name="T10" fmla="*/ 722 w 1050"/>
                  <a:gd name="T11" fmla="*/ 1121 h 1422"/>
                  <a:gd name="T12" fmla="*/ 722 w 1050"/>
                  <a:gd name="T13" fmla="*/ 1116 h 1422"/>
                  <a:gd name="T14" fmla="*/ 722 w 1050"/>
                  <a:gd name="T15" fmla="*/ 1116 h 1422"/>
                  <a:gd name="T16" fmla="*/ 722 w 1050"/>
                  <a:gd name="T17" fmla="*/ 1045 h 1422"/>
                  <a:gd name="T18" fmla="*/ 1050 w 1050"/>
                  <a:gd name="T19" fmla="*/ 944 h 1422"/>
                  <a:gd name="T20" fmla="*/ 924 w 1050"/>
                  <a:gd name="T21" fmla="*/ 621 h 1422"/>
                  <a:gd name="T22" fmla="*/ 665 w 1050"/>
                  <a:gd name="T23" fmla="*/ 117 h 1422"/>
                  <a:gd name="T24" fmla="*/ 373 w 1050"/>
                  <a:gd name="T25" fmla="*/ 74 h 1422"/>
                  <a:gd name="T26" fmla="*/ 137 w 1050"/>
                  <a:gd name="T27" fmla="*/ 550 h 1422"/>
                  <a:gd name="T28" fmla="*/ 0 w 1050"/>
                  <a:gd name="T29" fmla="*/ 940 h 1422"/>
                  <a:gd name="T30" fmla="*/ 332 w 1050"/>
                  <a:gd name="T31" fmla="*/ 1047 h 1422"/>
                  <a:gd name="connsiteX0" fmla="*/ 3162 w 8856"/>
                  <a:gd name="connsiteY0" fmla="*/ 7016 h 9653"/>
                  <a:gd name="connsiteX1" fmla="*/ 3162 w 8856"/>
                  <a:gd name="connsiteY1" fmla="*/ 7522 h 9653"/>
                  <a:gd name="connsiteX2" fmla="*/ 4143 w 8856"/>
                  <a:gd name="connsiteY2" fmla="*/ 9632 h 9653"/>
                  <a:gd name="connsiteX3" fmla="*/ 5000 w 8856"/>
                  <a:gd name="connsiteY3" fmla="*/ 9442 h 9653"/>
                  <a:gd name="connsiteX4" fmla="*/ 5895 w 8856"/>
                  <a:gd name="connsiteY4" fmla="*/ 9653 h 9653"/>
                  <a:gd name="connsiteX5" fmla="*/ 6876 w 8856"/>
                  <a:gd name="connsiteY5" fmla="*/ 7536 h 9653"/>
                  <a:gd name="connsiteX6" fmla="*/ 6876 w 8856"/>
                  <a:gd name="connsiteY6" fmla="*/ 7501 h 9653"/>
                  <a:gd name="connsiteX7" fmla="*/ 6876 w 8856"/>
                  <a:gd name="connsiteY7" fmla="*/ 7501 h 9653"/>
                  <a:gd name="connsiteX8" fmla="*/ 6876 w 8856"/>
                  <a:gd name="connsiteY8" fmla="*/ 7002 h 9653"/>
                  <a:gd name="connsiteX9" fmla="*/ 8800 w 8856"/>
                  <a:gd name="connsiteY9" fmla="*/ 4020 h 9653"/>
                  <a:gd name="connsiteX10" fmla="*/ 6333 w 8856"/>
                  <a:gd name="connsiteY10" fmla="*/ 476 h 9653"/>
                  <a:gd name="connsiteX11" fmla="*/ 3552 w 8856"/>
                  <a:gd name="connsiteY11" fmla="*/ 173 h 9653"/>
                  <a:gd name="connsiteX12" fmla="*/ 1305 w 8856"/>
                  <a:gd name="connsiteY12" fmla="*/ 3521 h 9653"/>
                  <a:gd name="connsiteX13" fmla="*/ 0 w 8856"/>
                  <a:gd name="connsiteY13" fmla="*/ 6263 h 9653"/>
                  <a:gd name="connsiteX14" fmla="*/ 3162 w 8856"/>
                  <a:gd name="connsiteY14" fmla="*/ 7016 h 9653"/>
                  <a:gd name="connsiteX0" fmla="*/ 2100 w 8530"/>
                  <a:gd name="connsiteY0" fmla="*/ 7268 h 10000"/>
                  <a:gd name="connsiteX1" fmla="*/ 2100 w 8530"/>
                  <a:gd name="connsiteY1" fmla="*/ 7792 h 10000"/>
                  <a:gd name="connsiteX2" fmla="*/ 3208 w 8530"/>
                  <a:gd name="connsiteY2" fmla="*/ 9978 h 10000"/>
                  <a:gd name="connsiteX3" fmla="*/ 4176 w 8530"/>
                  <a:gd name="connsiteY3" fmla="*/ 9781 h 10000"/>
                  <a:gd name="connsiteX4" fmla="*/ 5187 w 8530"/>
                  <a:gd name="connsiteY4" fmla="*/ 10000 h 10000"/>
                  <a:gd name="connsiteX5" fmla="*/ 6294 w 8530"/>
                  <a:gd name="connsiteY5" fmla="*/ 7807 h 10000"/>
                  <a:gd name="connsiteX6" fmla="*/ 6294 w 8530"/>
                  <a:gd name="connsiteY6" fmla="*/ 7771 h 10000"/>
                  <a:gd name="connsiteX7" fmla="*/ 6294 w 8530"/>
                  <a:gd name="connsiteY7" fmla="*/ 7771 h 10000"/>
                  <a:gd name="connsiteX8" fmla="*/ 6294 w 8530"/>
                  <a:gd name="connsiteY8" fmla="*/ 7254 h 10000"/>
                  <a:gd name="connsiteX9" fmla="*/ 8467 w 8530"/>
                  <a:gd name="connsiteY9" fmla="*/ 4165 h 10000"/>
                  <a:gd name="connsiteX10" fmla="*/ 5681 w 8530"/>
                  <a:gd name="connsiteY10" fmla="*/ 493 h 10000"/>
                  <a:gd name="connsiteX11" fmla="*/ 2541 w 8530"/>
                  <a:gd name="connsiteY11" fmla="*/ 179 h 10000"/>
                  <a:gd name="connsiteX12" fmla="*/ 4 w 8530"/>
                  <a:gd name="connsiteY12" fmla="*/ 3648 h 10000"/>
                  <a:gd name="connsiteX13" fmla="*/ 2100 w 8530"/>
                  <a:gd name="connsiteY13" fmla="*/ 7268 h 10000"/>
                  <a:gd name="connsiteX0" fmla="*/ 2463 w 9931"/>
                  <a:gd name="connsiteY0" fmla="*/ 7096 h 9828"/>
                  <a:gd name="connsiteX1" fmla="*/ 2463 w 9931"/>
                  <a:gd name="connsiteY1" fmla="*/ 7620 h 9828"/>
                  <a:gd name="connsiteX2" fmla="*/ 3762 w 9931"/>
                  <a:gd name="connsiteY2" fmla="*/ 9806 h 9828"/>
                  <a:gd name="connsiteX3" fmla="*/ 4897 w 9931"/>
                  <a:gd name="connsiteY3" fmla="*/ 9609 h 9828"/>
                  <a:gd name="connsiteX4" fmla="*/ 6082 w 9931"/>
                  <a:gd name="connsiteY4" fmla="*/ 9828 h 9828"/>
                  <a:gd name="connsiteX5" fmla="*/ 7380 w 9931"/>
                  <a:gd name="connsiteY5" fmla="*/ 7635 h 9828"/>
                  <a:gd name="connsiteX6" fmla="*/ 7380 w 9931"/>
                  <a:gd name="connsiteY6" fmla="*/ 7599 h 9828"/>
                  <a:gd name="connsiteX7" fmla="*/ 7380 w 9931"/>
                  <a:gd name="connsiteY7" fmla="*/ 7599 h 9828"/>
                  <a:gd name="connsiteX8" fmla="*/ 7380 w 9931"/>
                  <a:gd name="connsiteY8" fmla="*/ 7082 h 9828"/>
                  <a:gd name="connsiteX9" fmla="*/ 9927 w 9931"/>
                  <a:gd name="connsiteY9" fmla="*/ 3993 h 9828"/>
                  <a:gd name="connsiteX10" fmla="*/ 2980 w 9931"/>
                  <a:gd name="connsiteY10" fmla="*/ 7 h 9828"/>
                  <a:gd name="connsiteX11" fmla="*/ 6 w 9931"/>
                  <a:gd name="connsiteY11" fmla="*/ 3476 h 9828"/>
                  <a:gd name="connsiteX12" fmla="*/ 2463 w 9931"/>
                  <a:gd name="connsiteY12" fmla="*/ 7096 h 9828"/>
                  <a:gd name="connsiteX0" fmla="*/ 2477 w 9997"/>
                  <a:gd name="connsiteY0" fmla="*/ 3918 h 6698"/>
                  <a:gd name="connsiteX1" fmla="*/ 2477 w 9997"/>
                  <a:gd name="connsiteY1" fmla="*/ 4451 h 6698"/>
                  <a:gd name="connsiteX2" fmla="*/ 3785 w 9997"/>
                  <a:gd name="connsiteY2" fmla="*/ 6676 h 6698"/>
                  <a:gd name="connsiteX3" fmla="*/ 4928 w 9997"/>
                  <a:gd name="connsiteY3" fmla="*/ 6475 h 6698"/>
                  <a:gd name="connsiteX4" fmla="*/ 6121 w 9997"/>
                  <a:gd name="connsiteY4" fmla="*/ 6698 h 6698"/>
                  <a:gd name="connsiteX5" fmla="*/ 7428 w 9997"/>
                  <a:gd name="connsiteY5" fmla="*/ 4467 h 6698"/>
                  <a:gd name="connsiteX6" fmla="*/ 7428 w 9997"/>
                  <a:gd name="connsiteY6" fmla="*/ 4430 h 6698"/>
                  <a:gd name="connsiteX7" fmla="*/ 7428 w 9997"/>
                  <a:gd name="connsiteY7" fmla="*/ 4430 h 6698"/>
                  <a:gd name="connsiteX8" fmla="*/ 7428 w 9997"/>
                  <a:gd name="connsiteY8" fmla="*/ 3904 h 6698"/>
                  <a:gd name="connsiteX9" fmla="*/ 9993 w 9997"/>
                  <a:gd name="connsiteY9" fmla="*/ 761 h 6698"/>
                  <a:gd name="connsiteX10" fmla="*/ 3 w 9997"/>
                  <a:gd name="connsiteY10" fmla="*/ 235 h 6698"/>
                  <a:gd name="connsiteX11" fmla="*/ 2477 w 9997"/>
                  <a:gd name="connsiteY11" fmla="*/ 3918 h 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7" h="6698">
                    <a:moveTo>
                      <a:pt x="2477" y="3918"/>
                    </a:moveTo>
                    <a:lnTo>
                      <a:pt x="2477" y="4451"/>
                    </a:lnTo>
                    <a:lnTo>
                      <a:pt x="3785" y="6676"/>
                    </a:lnTo>
                    <a:cubicBezTo>
                      <a:pt x="4114" y="6549"/>
                      <a:pt x="4520" y="6475"/>
                      <a:pt x="4928" y="6475"/>
                    </a:cubicBezTo>
                    <a:cubicBezTo>
                      <a:pt x="5360" y="6475"/>
                      <a:pt x="5778" y="6549"/>
                      <a:pt x="6121" y="6698"/>
                    </a:cubicBezTo>
                    <a:lnTo>
                      <a:pt x="7428" y="4467"/>
                    </a:lnTo>
                    <a:lnTo>
                      <a:pt x="7428" y="4430"/>
                    </a:lnTo>
                    <a:lnTo>
                      <a:pt x="7428" y="4430"/>
                    </a:lnTo>
                    <a:cubicBezTo>
                      <a:pt x="7428" y="3904"/>
                      <a:pt x="7000" y="4515"/>
                      <a:pt x="7428" y="3904"/>
                    </a:cubicBezTo>
                    <a:cubicBezTo>
                      <a:pt x="7856" y="3292"/>
                      <a:pt x="10115" y="1908"/>
                      <a:pt x="9993" y="761"/>
                    </a:cubicBezTo>
                    <a:cubicBezTo>
                      <a:pt x="8755" y="149"/>
                      <a:pt x="1256" y="-291"/>
                      <a:pt x="3" y="235"/>
                    </a:cubicBezTo>
                    <a:cubicBezTo>
                      <a:pt x="-84" y="1437"/>
                      <a:pt x="2065" y="3215"/>
                      <a:pt x="2477" y="3918"/>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3" name="Oval 42">
                <a:extLst>
                  <a:ext uri="{FF2B5EF4-FFF2-40B4-BE49-F238E27FC236}">
                    <a16:creationId xmlns:a16="http://schemas.microsoft.com/office/drawing/2014/main" id="{4D782C19-840B-7257-E740-1CFC053F64E2}"/>
                  </a:ext>
                </a:extLst>
              </p:cNvPr>
              <p:cNvSpPr>
                <a:spLocks noChangeArrowheads="1"/>
              </p:cNvSpPr>
              <p:nvPr/>
            </p:nvSpPr>
            <p:spPr bwMode="auto">
              <a:xfrm>
                <a:off x="1998663" y="2660650"/>
                <a:ext cx="1023029" cy="1025525"/>
              </a:xfrm>
              <a:prstGeom prst="ellips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37" name="Freeform 52">
              <a:extLst>
                <a:ext uri="{FF2B5EF4-FFF2-40B4-BE49-F238E27FC236}">
                  <a16:creationId xmlns:a16="http://schemas.microsoft.com/office/drawing/2014/main" id="{6D960ED7-9349-C45F-3F2D-DB0FFD60019A}"/>
                </a:ext>
              </a:extLst>
            </p:cNvPr>
            <p:cNvSpPr>
              <a:spLocks/>
            </p:cNvSpPr>
            <p:nvPr/>
          </p:nvSpPr>
          <p:spPr bwMode="auto">
            <a:xfrm>
              <a:off x="4173128" y="4107704"/>
              <a:ext cx="204669" cy="410698"/>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8" name="Freeform 52">
              <a:extLst>
                <a:ext uri="{FF2B5EF4-FFF2-40B4-BE49-F238E27FC236}">
                  <a16:creationId xmlns:a16="http://schemas.microsoft.com/office/drawing/2014/main" id="{80207B13-2664-1AB9-8AD4-7BF65255B156}"/>
                </a:ext>
              </a:extLst>
            </p:cNvPr>
            <p:cNvSpPr>
              <a:spLocks/>
            </p:cNvSpPr>
            <p:nvPr/>
          </p:nvSpPr>
          <p:spPr bwMode="auto">
            <a:xfrm>
              <a:off x="3912751" y="4364320"/>
              <a:ext cx="169149" cy="339420"/>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44" name="Group 43">
            <a:extLst>
              <a:ext uri="{FF2B5EF4-FFF2-40B4-BE49-F238E27FC236}">
                <a16:creationId xmlns:a16="http://schemas.microsoft.com/office/drawing/2014/main" id="{C10797CA-CC00-0C5A-9037-D7D193948787}"/>
              </a:ext>
            </a:extLst>
          </p:cNvPr>
          <p:cNvGrpSpPr/>
          <p:nvPr/>
        </p:nvGrpSpPr>
        <p:grpSpPr>
          <a:xfrm>
            <a:off x="4242326" y="1447249"/>
            <a:ext cx="466096" cy="368677"/>
            <a:chOff x="9818688" y="2243138"/>
            <a:chExt cx="1279525" cy="1012089"/>
          </a:xfrm>
          <a:solidFill>
            <a:schemeClr val="tx1">
              <a:lumMod val="90000"/>
              <a:lumOff val="10000"/>
            </a:schemeClr>
          </a:solidFill>
        </p:grpSpPr>
        <p:sp>
          <p:nvSpPr>
            <p:cNvPr id="45" name="Freeform 11">
              <a:extLst>
                <a:ext uri="{FF2B5EF4-FFF2-40B4-BE49-F238E27FC236}">
                  <a16:creationId xmlns:a16="http://schemas.microsoft.com/office/drawing/2014/main" id="{09FFD605-A064-2F18-9781-221494D17B58}"/>
                </a:ext>
              </a:extLst>
            </p:cNvPr>
            <p:cNvSpPr>
              <a:spLocks noEditPoints="1"/>
            </p:cNvSpPr>
            <p:nvPr/>
          </p:nvSpPr>
          <p:spPr bwMode="auto">
            <a:xfrm>
              <a:off x="10325101" y="2314576"/>
              <a:ext cx="434975" cy="627063"/>
            </a:xfrm>
            <a:custGeom>
              <a:avLst/>
              <a:gdLst>
                <a:gd name="T0" fmla="*/ 343 w 343"/>
                <a:gd name="T1" fmla="*/ 172 h 496"/>
                <a:gd name="T2" fmla="*/ 171 w 343"/>
                <a:gd name="T3" fmla="*/ 0 h 496"/>
                <a:gd name="T4" fmla="*/ 0 w 343"/>
                <a:gd name="T5" fmla="*/ 172 h 496"/>
                <a:gd name="T6" fmla="*/ 76 w 343"/>
                <a:gd name="T7" fmla="*/ 314 h 496"/>
                <a:gd name="T8" fmla="*/ 76 w 343"/>
                <a:gd name="T9" fmla="*/ 344 h 496"/>
                <a:gd name="T10" fmla="*/ 38 w 343"/>
                <a:gd name="T11" fmla="*/ 391 h 496"/>
                <a:gd name="T12" fmla="*/ 60 w 343"/>
                <a:gd name="T13" fmla="*/ 431 h 496"/>
                <a:gd name="T14" fmla="*/ 57 w 343"/>
                <a:gd name="T15" fmla="*/ 448 h 496"/>
                <a:gd name="T16" fmla="*/ 105 w 343"/>
                <a:gd name="T17" fmla="*/ 496 h 496"/>
                <a:gd name="T18" fmla="*/ 238 w 343"/>
                <a:gd name="T19" fmla="*/ 496 h 496"/>
                <a:gd name="T20" fmla="*/ 286 w 343"/>
                <a:gd name="T21" fmla="*/ 448 h 496"/>
                <a:gd name="T22" fmla="*/ 282 w 343"/>
                <a:gd name="T23" fmla="*/ 431 h 496"/>
                <a:gd name="T24" fmla="*/ 305 w 343"/>
                <a:gd name="T25" fmla="*/ 391 h 496"/>
                <a:gd name="T26" fmla="*/ 267 w 343"/>
                <a:gd name="T27" fmla="*/ 344 h 496"/>
                <a:gd name="T28" fmla="*/ 267 w 343"/>
                <a:gd name="T29" fmla="*/ 314 h 496"/>
                <a:gd name="T30" fmla="*/ 343 w 343"/>
                <a:gd name="T31" fmla="*/ 172 h 496"/>
                <a:gd name="T32" fmla="*/ 238 w 343"/>
                <a:gd name="T33" fmla="*/ 457 h 496"/>
                <a:gd name="T34" fmla="*/ 105 w 343"/>
                <a:gd name="T35" fmla="*/ 457 h 496"/>
                <a:gd name="T36" fmla="*/ 95 w 343"/>
                <a:gd name="T37" fmla="*/ 448 h 496"/>
                <a:gd name="T38" fmla="*/ 105 w 343"/>
                <a:gd name="T39" fmla="*/ 438 h 496"/>
                <a:gd name="T40" fmla="*/ 238 w 343"/>
                <a:gd name="T41" fmla="*/ 438 h 496"/>
                <a:gd name="T42" fmla="*/ 248 w 343"/>
                <a:gd name="T43" fmla="*/ 448 h 496"/>
                <a:gd name="T44" fmla="*/ 238 w 343"/>
                <a:gd name="T45" fmla="*/ 457 h 496"/>
                <a:gd name="T46" fmla="*/ 257 w 343"/>
                <a:gd name="T47" fmla="*/ 400 h 496"/>
                <a:gd name="T48" fmla="*/ 238 w 343"/>
                <a:gd name="T49" fmla="*/ 400 h 496"/>
                <a:gd name="T50" fmla="*/ 105 w 343"/>
                <a:gd name="T51" fmla="*/ 400 h 496"/>
                <a:gd name="T52" fmla="*/ 86 w 343"/>
                <a:gd name="T53" fmla="*/ 400 h 496"/>
                <a:gd name="T54" fmla="*/ 76 w 343"/>
                <a:gd name="T55" fmla="*/ 391 h 496"/>
                <a:gd name="T56" fmla="*/ 86 w 343"/>
                <a:gd name="T57" fmla="*/ 381 h 496"/>
                <a:gd name="T58" fmla="*/ 257 w 343"/>
                <a:gd name="T59" fmla="*/ 381 h 496"/>
                <a:gd name="T60" fmla="*/ 267 w 343"/>
                <a:gd name="T61" fmla="*/ 391 h 496"/>
                <a:gd name="T62" fmla="*/ 257 w 343"/>
                <a:gd name="T63" fmla="*/ 400 h 496"/>
                <a:gd name="T64" fmla="*/ 152 w 343"/>
                <a:gd name="T65" fmla="*/ 172 h 496"/>
                <a:gd name="T66" fmla="*/ 171 w 343"/>
                <a:gd name="T67" fmla="*/ 153 h 496"/>
                <a:gd name="T68" fmla="*/ 190 w 343"/>
                <a:gd name="T69" fmla="*/ 172 h 496"/>
                <a:gd name="T70" fmla="*/ 171 w 343"/>
                <a:gd name="T71" fmla="*/ 191 h 496"/>
                <a:gd name="T72" fmla="*/ 152 w 343"/>
                <a:gd name="T73" fmla="*/ 172 h 496"/>
                <a:gd name="T74" fmla="*/ 238 w 343"/>
                <a:gd name="T75" fmla="*/ 287 h 496"/>
                <a:gd name="T76" fmla="*/ 229 w 343"/>
                <a:gd name="T77" fmla="*/ 293 h 496"/>
                <a:gd name="T78" fmla="*/ 229 w 343"/>
                <a:gd name="T79" fmla="*/ 343 h 496"/>
                <a:gd name="T80" fmla="*/ 190 w 343"/>
                <a:gd name="T81" fmla="*/ 343 h 496"/>
                <a:gd name="T82" fmla="*/ 190 w 343"/>
                <a:gd name="T83" fmla="*/ 225 h 496"/>
                <a:gd name="T84" fmla="*/ 229 w 343"/>
                <a:gd name="T85" fmla="*/ 172 h 496"/>
                <a:gd name="T86" fmla="*/ 171 w 343"/>
                <a:gd name="T87" fmla="*/ 115 h 496"/>
                <a:gd name="T88" fmla="*/ 114 w 343"/>
                <a:gd name="T89" fmla="*/ 172 h 496"/>
                <a:gd name="T90" fmla="*/ 152 w 343"/>
                <a:gd name="T91" fmla="*/ 225 h 496"/>
                <a:gd name="T92" fmla="*/ 152 w 343"/>
                <a:gd name="T93" fmla="*/ 343 h 496"/>
                <a:gd name="T94" fmla="*/ 114 w 343"/>
                <a:gd name="T95" fmla="*/ 343 h 496"/>
                <a:gd name="T96" fmla="*/ 114 w 343"/>
                <a:gd name="T97" fmla="*/ 293 h 496"/>
                <a:gd name="T98" fmla="*/ 105 w 343"/>
                <a:gd name="T99" fmla="*/ 287 h 496"/>
                <a:gd name="T100" fmla="*/ 38 w 343"/>
                <a:gd name="T101" fmla="*/ 172 h 496"/>
                <a:gd name="T102" fmla="*/ 171 w 343"/>
                <a:gd name="T103" fmla="*/ 38 h 496"/>
                <a:gd name="T104" fmla="*/ 305 w 343"/>
                <a:gd name="T105" fmla="*/ 172 h 496"/>
                <a:gd name="T106" fmla="*/ 238 w 343"/>
                <a:gd name="T107" fmla="*/ 28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3" h="496">
                  <a:moveTo>
                    <a:pt x="343" y="172"/>
                  </a:moveTo>
                  <a:cubicBezTo>
                    <a:pt x="343" y="77"/>
                    <a:pt x="266" y="0"/>
                    <a:pt x="171" y="0"/>
                  </a:cubicBezTo>
                  <a:cubicBezTo>
                    <a:pt x="77" y="0"/>
                    <a:pt x="0" y="77"/>
                    <a:pt x="0" y="172"/>
                  </a:cubicBezTo>
                  <a:cubicBezTo>
                    <a:pt x="0" y="229"/>
                    <a:pt x="29" y="282"/>
                    <a:pt x="76" y="314"/>
                  </a:cubicBezTo>
                  <a:cubicBezTo>
                    <a:pt x="76" y="344"/>
                    <a:pt x="76" y="344"/>
                    <a:pt x="76" y="344"/>
                  </a:cubicBezTo>
                  <a:cubicBezTo>
                    <a:pt x="54" y="349"/>
                    <a:pt x="38" y="368"/>
                    <a:pt x="38" y="391"/>
                  </a:cubicBezTo>
                  <a:cubicBezTo>
                    <a:pt x="38" y="408"/>
                    <a:pt x="47" y="422"/>
                    <a:pt x="60" y="431"/>
                  </a:cubicBezTo>
                  <a:cubicBezTo>
                    <a:pt x="58" y="436"/>
                    <a:pt x="57" y="442"/>
                    <a:pt x="57" y="448"/>
                  </a:cubicBezTo>
                  <a:cubicBezTo>
                    <a:pt x="57" y="474"/>
                    <a:pt x="78" y="496"/>
                    <a:pt x="105" y="496"/>
                  </a:cubicBezTo>
                  <a:cubicBezTo>
                    <a:pt x="238" y="496"/>
                    <a:pt x="238" y="496"/>
                    <a:pt x="238" y="496"/>
                  </a:cubicBezTo>
                  <a:cubicBezTo>
                    <a:pt x="264" y="496"/>
                    <a:pt x="286" y="474"/>
                    <a:pt x="286" y="448"/>
                  </a:cubicBezTo>
                  <a:cubicBezTo>
                    <a:pt x="286" y="442"/>
                    <a:pt x="284" y="436"/>
                    <a:pt x="282" y="431"/>
                  </a:cubicBezTo>
                  <a:cubicBezTo>
                    <a:pt x="296" y="423"/>
                    <a:pt x="305" y="408"/>
                    <a:pt x="305" y="391"/>
                  </a:cubicBezTo>
                  <a:cubicBezTo>
                    <a:pt x="305" y="368"/>
                    <a:pt x="288" y="349"/>
                    <a:pt x="267" y="344"/>
                  </a:cubicBezTo>
                  <a:cubicBezTo>
                    <a:pt x="267" y="314"/>
                    <a:pt x="267" y="314"/>
                    <a:pt x="267" y="314"/>
                  </a:cubicBezTo>
                  <a:cubicBezTo>
                    <a:pt x="314" y="282"/>
                    <a:pt x="343" y="229"/>
                    <a:pt x="343" y="172"/>
                  </a:cubicBezTo>
                  <a:close/>
                  <a:moveTo>
                    <a:pt x="238" y="457"/>
                  </a:moveTo>
                  <a:cubicBezTo>
                    <a:pt x="105" y="457"/>
                    <a:pt x="105" y="457"/>
                    <a:pt x="105" y="457"/>
                  </a:cubicBezTo>
                  <a:cubicBezTo>
                    <a:pt x="100" y="457"/>
                    <a:pt x="95" y="453"/>
                    <a:pt x="95" y="448"/>
                  </a:cubicBezTo>
                  <a:cubicBezTo>
                    <a:pt x="95" y="443"/>
                    <a:pt x="100" y="438"/>
                    <a:pt x="105" y="438"/>
                  </a:cubicBezTo>
                  <a:cubicBezTo>
                    <a:pt x="238" y="438"/>
                    <a:pt x="238" y="438"/>
                    <a:pt x="238" y="438"/>
                  </a:cubicBezTo>
                  <a:cubicBezTo>
                    <a:pt x="243" y="438"/>
                    <a:pt x="248" y="443"/>
                    <a:pt x="248" y="448"/>
                  </a:cubicBezTo>
                  <a:cubicBezTo>
                    <a:pt x="248" y="453"/>
                    <a:pt x="243" y="457"/>
                    <a:pt x="238" y="457"/>
                  </a:cubicBezTo>
                  <a:close/>
                  <a:moveTo>
                    <a:pt x="257" y="400"/>
                  </a:moveTo>
                  <a:cubicBezTo>
                    <a:pt x="238" y="400"/>
                    <a:pt x="238" y="400"/>
                    <a:pt x="238" y="400"/>
                  </a:cubicBezTo>
                  <a:cubicBezTo>
                    <a:pt x="105" y="400"/>
                    <a:pt x="105" y="400"/>
                    <a:pt x="105" y="400"/>
                  </a:cubicBezTo>
                  <a:cubicBezTo>
                    <a:pt x="86" y="400"/>
                    <a:pt x="86" y="400"/>
                    <a:pt x="86" y="400"/>
                  </a:cubicBezTo>
                  <a:cubicBezTo>
                    <a:pt x="80" y="400"/>
                    <a:pt x="76" y="396"/>
                    <a:pt x="76" y="391"/>
                  </a:cubicBezTo>
                  <a:cubicBezTo>
                    <a:pt x="76" y="386"/>
                    <a:pt x="80" y="381"/>
                    <a:pt x="86" y="381"/>
                  </a:cubicBezTo>
                  <a:cubicBezTo>
                    <a:pt x="257" y="381"/>
                    <a:pt x="257" y="381"/>
                    <a:pt x="257" y="381"/>
                  </a:cubicBezTo>
                  <a:cubicBezTo>
                    <a:pt x="262" y="381"/>
                    <a:pt x="267" y="386"/>
                    <a:pt x="267" y="391"/>
                  </a:cubicBezTo>
                  <a:cubicBezTo>
                    <a:pt x="267" y="396"/>
                    <a:pt x="262" y="400"/>
                    <a:pt x="257" y="400"/>
                  </a:cubicBezTo>
                  <a:close/>
                  <a:moveTo>
                    <a:pt x="152" y="172"/>
                  </a:moveTo>
                  <a:cubicBezTo>
                    <a:pt x="152" y="161"/>
                    <a:pt x="161" y="153"/>
                    <a:pt x="171" y="153"/>
                  </a:cubicBezTo>
                  <a:cubicBezTo>
                    <a:pt x="182" y="153"/>
                    <a:pt x="190" y="161"/>
                    <a:pt x="190" y="172"/>
                  </a:cubicBezTo>
                  <a:cubicBezTo>
                    <a:pt x="190" y="182"/>
                    <a:pt x="182" y="191"/>
                    <a:pt x="171" y="191"/>
                  </a:cubicBezTo>
                  <a:cubicBezTo>
                    <a:pt x="161" y="191"/>
                    <a:pt x="152" y="182"/>
                    <a:pt x="152" y="172"/>
                  </a:cubicBezTo>
                  <a:close/>
                  <a:moveTo>
                    <a:pt x="238" y="287"/>
                  </a:moveTo>
                  <a:cubicBezTo>
                    <a:pt x="229" y="293"/>
                    <a:pt x="229" y="293"/>
                    <a:pt x="229" y="293"/>
                  </a:cubicBezTo>
                  <a:cubicBezTo>
                    <a:pt x="229" y="343"/>
                    <a:pt x="229" y="343"/>
                    <a:pt x="229" y="343"/>
                  </a:cubicBezTo>
                  <a:cubicBezTo>
                    <a:pt x="190" y="343"/>
                    <a:pt x="190" y="343"/>
                    <a:pt x="190" y="343"/>
                  </a:cubicBezTo>
                  <a:cubicBezTo>
                    <a:pt x="190" y="225"/>
                    <a:pt x="190" y="225"/>
                    <a:pt x="190" y="225"/>
                  </a:cubicBezTo>
                  <a:cubicBezTo>
                    <a:pt x="213" y="217"/>
                    <a:pt x="229" y="197"/>
                    <a:pt x="229" y="172"/>
                  </a:cubicBezTo>
                  <a:cubicBezTo>
                    <a:pt x="229" y="140"/>
                    <a:pt x="203" y="115"/>
                    <a:pt x="171" y="115"/>
                  </a:cubicBezTo>
                  <a:cubicBezTo>
                    <a:pt x="140" y="115"/>
                    <a:pt x="114" y="140"/>
                    <a:pt x="114" y="172"/>
                  </a:cubicBezTo>
                  <a:cubicBezTo>
                    <a:pt x="114" y="197"/>
                    <a:pt x="130" y="217"/>
                    <a:pt x="152" y="225"/>
                  </a:cubicBezTo>
                  <a:cubicBezTo>
                    <a:pt x="152" y="343"/>
                    <a:pt x="152" y="343"/>
                    <a:pt x="152" y="343"/>
                  </a:cubicBezTo>
                  <a:cubicBezTo>
                    <a:pt x="114" y="343"/>
                    <a:pt x="114" y="343"/>
                    <a:pt x="114" y="343"/>
                  </a:cubicBezTo>
                  <a:cubicBezTo>
                    <a:pt x="114" y="293"/>
                    <a:pt x="114" y="293"/>
                    <a:pt x="114" y="293"/>
                  </a:cubicBezTo>
                  <a:cubicBezTo>
                    <a:pt x="105" y="287"/>
                    <a:pt x="105" y="287"/>
                    <a:pt x="105" y="287"/>
                  </a:cubicBezTo>
                  <a:cubicBezTo>
                    <a:pt x="64" y="263"/>
                    <a:pt x="38" y="219"/>
                    <a:pt x="38" y="172"/>
                  </a:cubicBezTo>
                  <a:cubicBezTo>
                    <a:pt x="38" y="98"/>
                    <a:pt x="98" y="38"/>
                    <a:pt x="171" y="38"/>
                  </a:cubicBezTo>
                  <a:cubicBezTo>
                    <a:pt x="245" y="38"/>
                    <a:pt x="305" y="98"/>
                    <a:pt x="305" y="172"/>
                  </a:cubicBezTo>
                  <a:cubicBezTo>
                    <a:pt x="305" y="219"/>
                    <a:pt x="279" y="263"/>
                    <a:pt x="238" y="2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6" name="Rectangle 13">
              <a:extLst>
                <a:ext uri="{FF2B5EF4-FFF2-40B4-BE49-F238E27FC236}">
                  <a16:creationId xmlns:a16="http://schemas.microsoft.com/office/drawing/2014/main" id="{0A67E2AA-EE9C-C9A0-CF61-DABFAA0FBABC}"/>
                </a:ext>
              </a:extLst>
            </p:cNvPr>
            <p:cNvSpPr>
              <a:spLocks noChangeArrowheads="1"/>
            </p:cNvSpPr>
            <p:nvPr/>
          </p:nvSpPr>
          <p:spPr bwMode="auto">
            <a:xfrm>
              <a:off x="10517188" y="2243138"/>
              <a:ext cx="4921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7" name="Freeform 14">
              <a:extLst>
                <a:ext uri="{FF2B5EF4-FFF2-40B4-BE49-F238E27FC236}">
                  <a16:creationId xmlns:a16="http://schemas.microsoft.com/office/drawing/2014/main" id="{7E882179-BEDC-5714-1271-E61CC29BA7C5}"/>
                </a:ext>
              </a:extLst>
            </p:cNvPr>
            <p:cNvSpPr>
              <a:spLocks/>
            </p:cNvSpPr>
            <p:nvPr/>
          </p:nvSpPr>
          <p:spPr bwMode="auto">
            <a:xfrm>
              <a:off x="10377488" y="2270126"/>
              <a:ext cx="65088" cy="65088"/>
            </a:xfrm>
            <a:custGeom>
              <a:avLst/>
              <a:gdLst>
                <a:gd name="T0" fmla="*/ 26 w 41"/>
                <a:gd name="T1" fmla="*/ 0 h 41"/>
                <a:gd name="T2" fmla="*/ 41 w 41"/>
                <a:gd name="T3" fmla="*/ 26 h 41"/>
                <a:gd name="T4" fmla="*/ 15 w 41"/>
                <a:gd name="T5" fmla="*/ 41 h 41"/>
                <a:gd name="T6" fmla="*/ 0 w 41"/>
                <a:gd name="T7" fmla="*/ 15 h 41"/>
                <a:gd name="T8" fmla="*/ 26 w 41"/>
                <a:gd name="T9" fmla="*/ 0 h 41"/>
              </a:gdLst>
              <a:ahLst/>
              <a:cxnLst>
                <a:cxn ang="0">
                  <a:pos x="T0" y="T1"/>
                </a:cxn>
                <a:cxn ang="0">
                  <a:pos x="T2" y="T3"/>
                </a:cxn>
                <a:cxn ang="0">
                  <a:pos x="T4" y="T5"/>
                </a:cxn>
                <a:cxn ang="0">
                  <a:pos x="T6" y="T7"/>
                </a:cxn>
                <a:cxn ang="0">
                  <a:pos x="T8" y="T9"/>
                </a:cxn>
              </a:cxnLst>
              <a:rect l="0" t="0" r="r" b="b"/>
              <a:pathLst>
                <a:path w="41" h="41">
                  <a:moveTo>
                    <a:pt x="26" y="0"/>
                  </a:moveTo>
                  <a:lnTo>
                    <a:pt x="41"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8" name="Freeform 15">
              <a:extLst>
                <a:ext uri="{FF2B5EF4-FFF2-40B4-BE49-F238E27FC236}">
                  <a16:creationId xmlns:a16="http://schemas.microsoft.com/office/drawing/2014/main" id="{35477595-FB7F-4C02-420D-7E77F644CFCF}"/>
                </a:ext>
              </a:extLst>
            </p:cNvPr>
            <p:cNvSpPr>
              <a:spLocks/>
            </p:cNvSpPr>
            <p:nvPr/>
          </p:nvSpPr>
          <p:spPr bwMode="auto">
            <a:xfrm>
              <a:off x="10279063" y="2366963"/>
              <a:ext cx="66675" cy="65088"/>
            </a:xfrm>
            <a:custGeom>
              <a:avLst/>
              <a:gdLst>
                <a:gd name="T0" fmla="*/ 16 w 42"/>
                <a:gd name="T1" fmla="*/ 0 h 41"/>
                <a:gd name="T2" fmla="*/ 42 w 42"/>
                <a:gd name="T3" fmla="*/ 15 h 41"/>
                <a:gd name="T4" fmla="*/ 27 w 42"/>
                <a:gd name="T5" fmla="*/ 41 h 41"/>
                <a:gd name="T6" fmla="*/ 0 w 42"/>
                <a:gd name="T7" fmla="*/ 26 h 41"/>
                <a:gd name="T8" fmla="*/ 16 w 42"/>
                <a:gd name="T9" fmla="*/ 0 h 41"/>
              </a:gdLst>
              <a:ahLst/>
              <a:cxnLst>
                <a:cxn ang="0">
                  <a:pos x="T0" y="T1"/>
                </a:cxn>
                <a:cxn ang="0">
                  <a:pos x="T2" y="T3"/>
                </a:cxn>
                <a:cxn ang="0">
                  <a:pos x="T4" y="T5"/>
                </a:cxn>
                <a:cxn ang="0">
                  <a:pos x="T6" y="T7"/>
                </a:cxn>
                <a:cxn ang="0">
                  <a:pos x="T8" y="T9"/>
                </a:cxn>
              </a:cxnLst>
              <a:rect l="0" t="0" r="r" b="b"/>
              <a:pathLst>
                <a:path w="42" h="41">
                  <a:moveTo>
                    <a:pt x="16" y="0"/>
                  </a:moveTo>
                  <a:lnTo>
                    <a:pt x="42" y="15"/>
                  </a:lnTo>
                  <a:lnTo>
                    <a:pt x="27" y="41"/>
                  </a:lnTo>
                  <a:lnTo>
                    <a:pt x="0" y="26"/>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9" name="Rectangle 16">
              <a:extLst>
                <a:ext uri="{FF2B5EF4-FFF2-40B4-BE49-F238E27FC236}">
                  <a16:creationId xmlns:a16="http://schemas.microsoft.com/office/drawing/2014/main" id="{B0895E8D-610B-38D6-4128-37BDF696586D}"/>
                </a:ext>
              </a:extLst>
            </p:cNvPr>
            <p:cNvSpPr>
              <a:spLocks noChangeArrowheads="1"/>
            </p:cNvSpPr>
            <p:nvPr/>
          </p:nvSpPr>
          <p:spPr bwMode="auto">
            <a:xfrm>
              <a:off x="10253663"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0" name="Freeform 17">
              <a:extLst>
                <a:ext uri="{FF2B5EF4-FFF2-40B4-BE49-F238E27FC236}">
                  <a16:creationId xmlns:a16="http://schemas.microsoft.com/office/drawing/2014/main" id="{28D86B24-DAE5-33B2-CCAB-AA8025D22603}"/>
                </a:ext>
              </a:extLst>
            </p:cNvPr>
            <p:cNvSpPr>
              <a:spLocks/>
            </p:cNvSpPr>
            <p:nvPr/>
          </p:nvSpPr>
          <p:spPr bwMode="auto">
            <a:xfrm>
              <a:off x="10279063" y="2630488"/>
              <a:ext cx="66675" cy="68263"/>
            </a:xfrm>
            <a:custGeom>
              <a:avLst/>
              <a:gdLst>
                <a:gd name="T0" fmla="*/ 16 w 42"/>
                <a:gd name="T1" fmla="*/ 43 h 43"/>
                <a:gd name="T2" fmla="*/ 0 w 42"/>
                <a:gd name="T3" fmla="*/ 16 h 43"/>
                <a:gd name="T4" fmla="*/ 27 w 42"/>
                <a:gd name="T5" fmla="*/ 0 h 43"/>
                <a:gd name="T6" fmla="*/ 42 w 42"/>
                <a:gd name="T7" fmla="*/ 27 h 43"/>
                <a:gd name="T8" fmla="*/ 16 w 42"/>
                <a:gd name="T9" fmla="*/ 43 h 43"/>
              </a:gdLst>
              <a:ahLst/>
              <a:cxnLst>
                <a:cxn ang="0">
                  <a:pos x="T0" y="T1"/>
                </a:cxn>
                <a:cxn ang="0">
                  <a:pos x="T2" y="T3"/>
                </a:cxn>
                <a:cxn ang="0">
                  <a:pos x="T4" y="T5"/>
                </a:cxn>
                <a:cxn ang="0">
                  <a:pos x="T6" y="T7"/>
                </a:cxn>
                <a:cxn ang="0">
                  <a:pos x="T8" y="T9"/>
                </a:cxn>
              </a:cxnLst>
              <a:rect l="0" t="0" r="r" b="b"/>
              <a:pathLst>
                <a:path w="42" h="43">
                  <a:moveTo>
                    <a:pt x="16" y="43"/>
                  </a:moveTo>
                  <a:lnTo>
                    <a:pt x="0" y="16"/>
                  </a:lnTo>
                  <a:lnTo>
                    <a:pt x="27" y="0"/>
                  </a:lnTo>
                  <a:lnTo>
                    <a:pt x="42" y="27"/>
                  </a:lnTo>
                  <a:lnTo>
                    <a:pt x="1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1" name="Freeform 18">
              <a:extLst>
                <a:ext uri="{FF2B5EF4-FFF2-40B4-BE49-F238E27FC236}">
                  <a16:creationId xmlns:a16="http://schemas.microsoft.com/office/drawing/2014/main" id="{B7DB556D-2E41-4118-2870-4343CC9907C0}"/>
                </a:ext>
              </a:extLst>
            </p:cNvPr>
            <p:cNvSpPr>
              <a:spLocks/>
            </p:cNvSpPr>
            <p:nvPr/>
          </p:nvSpPr>
          <p:spPr bwMode="auto">
            <a:xfrm>
              <a:off x="10739438" y="2630488"/>
              <a:ext cx="66675" cy="66675"/>
            </a:xfrm>
            <a:custGeom>
              <a:avLst/>
              <a:gdLst>
                <a:gd name="T0" fmla="*/ 26 w 42"/>
                <a:gd name="T1" fmla="*/ 42 h 42"/>
                <a:gd name="T2" fmla="*/ 0 w 42"/>
                <a:gd name="T3" fmla="*/ 27 h 42"/>
                <a:gd name="T4" fmla="*/ 15 w 42"/>
                <a:gd name="T5" fmla="*/ 0 h 42"/>
                <a:gd name="T6" fmla="*/ 42 w 42"/>
                <a:gd name="T7" fmla="*/ 16 h 42"/>
                <a:gd name="T8" fmla="*/ 26 w 42"/>
                <a:gd name="T9" fmla="*/ 42 h 42"/>
              </a:gdLst>
              <a:ahLst/>
              <a:cxnLst>
                <a:cxn ang="0">
                  <a:pos x="T0" y="T1"/>
                </a:cxn>
                <a:cxn ang="0">
                  <a:pos x="T2" y="T3"/>
                </a:cxn>
                <a:cxn ang="0">
                  <a:pos x="T4" y="T5"/>
                </a:cxn>
                <a:cxn ang="0">
                  <a:pos x="T6" y="T7"/>
                </a:cxn>
                <a:cxn ang="0">
                  <a:pos x="T8" y="T9"/>
                </a:cxn>
              </a:cxnLst>
              <a:rect l="0" t="0" r="r" b="b"/>
              <a:pathLst>
                <a:path w="42" h="42">
                  <a:moveTo>
                    <a:pt x="26" y="42"/>
                  </a:moveTo>
                  <a:lnTo>
                    <a:pt x="0" y="27"/>
                  </a:lnTo>
                  <a:lnTo>
                    <a:pt x="15" y="0"/>
                  </a:lnTo>
                  <a:lnTo>
                    <a:pt x="42" y="16"/>
                  </a:lnTo>
                  <a:lnTo>
                    <a:pt x="2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2" name="Rectangle 19">
              <a:extLst>
                <a:ext uri="{FF2B5EF4-FFF2-40B4-BE49-F238E27FC236}">
                  <a16:creationId xmlns:a16="http://schemas.microsoft.com/office/drawing/2014/main" id="{8FC3B4C4-573B-743C-673A-401374A87C9A}"/>
                </a:ext>
              </a:extLst>
            </p:cNvPr>
            <p:cNvSpPr>
              <a:spLocks noChangeArrowheads="1"/>
            </p:cNvSpPr>
            <p:nvPr/>
          </p:nvSpPr>
          <p:spPr bwMode="auto">
            <a:xfrm>
              <a:off x="10783888"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3" name="Freeform 20">
              <a:extLst>
                <a:ext uri="{FF2B5EF4-FFF2-40B4-BE49-F238E27FC236}">
                  <a16:creationId xmlns:a16="http://schemas.microsoft.com/office/drawing/2014/main" id="{6E8372CD-C981-1336-5E4E-E676EB32195E}"/>
                </a:ext>
              </a:extLst>
            </p:cNvPr>
            <p:cNvSpPr>
              <a:spLocks/>
            </p:cNvSpPr>
            <p:nvPr/>
          </p:nvSpPr>
          <p:spPr bwMode="auto">
            <a:xfrm>
              <a:off x="10739438" y="2366963"/>
              <a:ext cx="66675" cy="65088"/>
            </a:xfrm>
            <a:custGeom>
              <a:avLst/>
              <a:gdLst>
                <a:gd name="T0" fmla="*/ 26 w 42"/>
                <a:gd name="T1" fmla="*/ 0 h 41"/>
                <a:gd name="T2" fmla="*/ 42 w 42"/>
                <a:gd name="T3" fmla="*/ 26 h 41"/>
                <a:gd name="T4" fmla="*/ 15 w 42"/>
                <a:gd name="T5" fmla="*/ 41 h 41"/>
                <a:gd name="T6" fmla="*/ 0 w 42"/>
                <a:gd name="T7" fmla="*/ 15 h 41"/>
                <a:gd name="T8" fmla="*/ 26 w 42"/>
                <a:gd name="T9" fmla="*/ 0 h 41"/>
              </a:gdLst>
              <a:ahLst/>
              <a:cxnLst>
                <a:cxn ang="0">
                  <a:pos x="T0" y="T1"/>
                </a:cxn>
                <a:cxn ang="0">
                  <a:pos x="T2" y="T3"/>
                </a:cxn>
                <a:cxn ang="0">
                  <a:pos x="T4" y="T5"/>
                </a:cxn>
                <a:cxn ang="0">
                  <a:pos x="T6" y="T7"/>
                </a:cxn>
                <a:cxn ang="0">
                  <a:pos x="T8" y="T9"/>
                </a:cxn>
              </a:cxnLst>
              <a:rect l="0" t="0" r="r" b="b"/>
              <a:pathLst>
                <a:path w="42" h="41">
                  <a:moveTo>
                    <a:pt x="26" y="0"/>
                  </a:moveTo>
                  <a:lnTo>
                    <a:pt x="42"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4" name="Freeform 21">
              <a:extLst>
                <a:ext uri="{FF2B5EF4-FFF2-40B4-BE49-F238E27FC236}">
                  <a16:creationId xmlns:a16="http://schemas.microsoft.com/office/drawing/2014/main" id="{2AEA00C5-007B-84AF-EA33-1E39D68AB65E}"/>
                </a:ext>
              </a:extLst>
            </p:cNvPr>
            <p:cNvSpPr>
              <a:spLocks/>
            </p:cNvSpPr>
            <p:nvPr/>
          </p:nvSpPr>
          <p:spPr bwMode="auto">
            <a:xfrm>
              <a:off x="10642601" y="2270126"/>
              <a:ext cx="65088" cy="65088"/>
            </a:xfrm>
            <a:custGeom>
              <a:avLst/>
              <a:gdLst>
                <a:gd name="T0" fmla="*/ 15 w 41"/>
                <a:gd name="T1" fmla="*/ 0 h 41"/>
                <a:gd name="T2" fmla="*/ 41 w 41"/>
                <a:gd name="T3" fmla="*/ 15 h 41"/>
                <a:gd name="T4" fmla="*/ 26 w 41"/>
                <a:gd name="T5" fmla="*/ 41 h 41"/>
                <a:gd name="T6" fmla="*/ 0 w 41"/>
                <a:gd name="T7" fmla="*/ 26 h 41"/>
                <a:gd name="T8" fmla="*/ 15 w 41"/>
                <a:gd name="T9" fmla="*/ 0 h 41"/>
              </a:gdLst>
              <a:ahLst/>
              <a:cxnLst>
                <a:cxn ang="0">
                  <a:pos x="T0" y="T1"/>
                </a:cxn>
                <a:cxn ang="0">
                  <a:pos x="T2" y="T3"/>
                </a:cxn>
                <a:cxn ang="0">
                  <a:pos x="T4" y="T5"/>
                </a:cxn>
                <a:cxn ang="0">
                  <a:pos x="T6" y="T7"/>
                </a:cxn>
                <a:cxn ang="0">
                  <a:pos x="T8" y="T9"/>
                </a:cxn>
              </a:cxnLst>
              <a:rect l="0" t="0" r="r" b="b"/>
              <a:pathLst>
                <a:path w="41" h="41">
                  <a:moveTo>
                    <a:pt x="15" y="0"/>
                  </a:moveTo>
                  <a:lnTo>
                    <a:pt x="41" y="15"/>
                  </a:lnTo>
                  <a:lnTo>
                    <a:pt x="26" y="41"/>
                  </a:lnTo>
                  <a:lnTo>
                    <a:pt x="0" y="26"/>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5" name="Freeform 22">
              <a:extLst>
                <a:ext uri="{FF2B5EF4-FFF2-40B4-BE49-F238E27FC236}">
                  <a16:creationId xmlns:a16="http://schemas.microsoft.com/office/drawing/2014/main" id="{9AA5520B-CF9C-3AAD-0E0C-7AE81002E4C5}"/>
                </a:ext>
              </a:extLst>
            </p:cNvPr>
            <p:cNvSpPr>
              <a:spLocks/>
            </p:cNvSpPr>
            <p:nvPr/>
          </p:nvSpPr>
          <p:spPr bwMode="auto">
            <a:xfrm>
              <a:off x="10712826" y="3110764"/>
              <a:ext cx="144463" cy="144463"/>
            </a:xfrm>
            <a:custGeom>
              <a:avLst/>
              <a:gdLst>
                <a:gd name="T0" fmla="*/ 61 w 91"/>
                <a:gd name="T1" fmla="*/ 30 h 91"/>
                <a:gd name="T2" fmla="*/ 61 w 91"/>
                <a:gd name="T3" fmla="*/ 0 h 91"/>
                <a:gd name="T4" fmla="*/ 30 w 91"/>
                <a:gd name="T5" fmla="*/ 0 h 91"/>
                <a:gd name="T6" fmla="*/ 30 w 91"/>
                <a:gd name="T7" fmla="*/ 30 h 91"/>
                <a:gd name="T8" fmla="*/ 0 w 91"/>
                <a:gd name="T9" fmla="*/ 30 h 91"/>
                <a:gd name="T10" fmla="*/ 0 w 91"/>
                <a:gd name="T11" fmla="*/ 61 h 91"/>
                <a:gd name="T12" fmla="*/ 30 w 91"/>
                <a:gd name="T13" fmla="*/ 61 h 91"/>
                <a:gd name="T14" fmla="*/ 30 w 91"/>
                <a:gd name="T15" fmla="*/ 91 h 91"/>
                <a:gd name="T16" fmla="*/ 61 w 91"/>
                <a:gd name="T17" fmla="*/ 91 h 91"/>
                <a:gd name="T18" fmla="*/ 61 w 91"/>
                <a:gd name="T19" fmla="*/ 61 h 91"/>
                <a:gd name="T20" fmla="*/ 91 w 91"/>
                <a:gd name="T21" fmla="*/ 61 h 91"/>
                <a:gd name="T22" fmla="*/ 91 w 91"/>
                <a:gd name="T23" fmla="*/ 30 h 91"/>
                <a:gd name="T24" fmla="*/ 61 w 91"/>
                <a:gd name="T25"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30"/>
                  </a:moveTo>
                  <a:lnTo>
                    <a:pt x="61" y="0"/>
                  </a:lnTo>
                  <a:lnTo>
                    <a:pt x="30" y="0"/>
                  </a:lnTo>
                  <a:lnTo>
                    <a:pt x="30" y="30"/>
                  </a:lnTo>
                  <a:lnTo>
                    <a:pt x="0" y="30"/>
                  </a:lnTo>
                  <a:lnTo>
                    <a:pt x="0" y="61"/>
                  </a:lnTo>
                  <a:lnTo>
                    <a:pt x="30" y="61"/>
                  </a:lnTo>
                  <a:lnTo>
                    <a:pt x="30" y="91"/>
                  </a:lnTo>
                  <a:lnTo>
                    <a:pt x="61" y="91"/>
                  </a:lnTo>
                  <a:lnTo>
                    <a:pt x="61" y="61"/>
                  </a:lnTo>
                  <a:lnTo>
                    <a:pt x="91" y="61"/>
                  </a:lnTo>
                  <a:lnTo>
                    <a:pt x="91" y="30"/>
                  </a:lnTo>
                  <a:lnTo>
                    <a:pt x="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6" name="Freeform 23">
              <a:extLst>
                <a:ext uri="{FF2B5EF4-FFF2-40B4-BE49-F238E27FC236}">
                  <a16:creationId xmlns:a16="http://schemas.microsoft.com/office/drawing/2014/main" id="{C4E85C9B-84C8-08A3-298A-F33795655167}"/>
                </a:ext>
              </a:extLst>
            </p:cNvPr>
            <p:cNvSpPr>
              <a:spLocks/>
            </p:cNvSpPr>
            <p:nvPr/>
          </p:nvSpPr>
          <p:spPr bwMode="auto">
            <a:xfrm>
              <a:off x="10928351" y="2243138"/>
              <a:ext cx="144463" cy="144463"/>
            </a:xfrm>
            <a:custGeom>
              <a:avLst/>
              <a:gdLst>
                <a:gd name="T0" fmla="*/ 30 w 91"/>
                <a:gd name="T1" fmla="*/ 91 h 91"/>
                <a:gd name="T2" fmla="*/ 61 w 91"/>
                <a:gd name="T3" fmla="*/ 91 h 91"/>
                <a:gd name="T4" fmla="*/ 61 w 91"/>
                <a:gd name="T5" fmla="*/ 61 h 91"/>
                <a:gd name="T6" fmla="*/ 91 w 91"/>
                <a:gd name="T7" fmla="*/ 61 h 91"/>
                <a:gd name="T8" fmla="*/ 91 w 91"/>
                <a:gd name="T9" fmla="*/ 30 h 91"/>
                <a:gd name="T10" fmla="*/ 61 w 91"/>
                <a:gd name="T11" fmla="*/ 30 h 91"/>
                <a:gd name="T12" fmla="*/ 61 w 91"/>
                <a:gd name="T13" fmla="*/ 0 h 91"/>
                <a:gd name="T14" fmla="*/ 30 w 91"/>
                <a:gd name="T15" fmla="*/ 0 h 91"/>
                <a:gd name="T16" fmla="*/ 30 w 91"/>
                <a:gd name="T17" fmla="*/ 30 h 91"/>
                <a:gd name="T18" fmla="*/ 0 w 91"/>
                <a:gd name="T19" fmla="*/ 30 h 91"/>
                <a:gd name="T20" fmla="*/ 0 w 91"/>
                <a:gd name="T21" fmla="*/ 61 h 91"/>
                <a:gd name="T22" fmla="*/ 30 w 91"/>
                <a:gd name="T23" fmla="*/ 61 h 91"/>
                <a:gd name="T24" fmla="*/ 30 w 91"/>
                <a:gd name="T25"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30" y="91"/>
                  </a:moveTo>
                  <a:lnTo>
                    <a:pt x="61" y="91"/>
                  </a:lnTo>
                  <a:lnTo>
                    <a:pt x="61" y="61"/>
                  </a:lnTo>
                  <a:lnTo>
                    <a:pt x="91" y="61"/>
                  </a:lnTo>
                  <a:lnTo>
                    <a:pt x="91" y="30"/>
                  </a:lnTo>
                  <a:lnTo>
                    <a:pt x="61" y="30"/>
                  </a:lnTo>
                  <a:lnTo>
                    <a:pt x="61" y="0"/>
                  </a:lnTo>
                  <a:lnTo>
                    <a:pt x="30" y="0"/>
                  </a:lnTo>
                  <a:lnTo>
                    <a:pt x="30" y="30"/>
                  </a:lnTo>
                  <a:lnTo>
                    <a:pt x="0" y="30"/>
                  </a:lnTo>
                  <a:lnTo>
                    <a:pt x="0" y="61"/>
                  </a:lnTo>
                  <a:lnTo>
                    <a:pt x="30" y="6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7" name="Freeform 24">
              <a:extLst>
                <a:ext uri="{FF2B5EF4-FFF2-40B4-BE49-F238E27FC236}">
                  <a16:creationId xmlns:a16="http://schemas.microsoft.com/office/drawing/2014/main" id="{B17B5464-94DE-DEB0-4BB3-DF41135EA664}"/>
                </a:ext>
              </a:extLst>
            </p:cNvPr>
            <p:cNvSpPr>
              <a:spLocks/>
            </p:cNvSpPr>
            <p:nvPr/>
          </p:nvSpPr>
          <p:spPr bwMode="auto">
            <a:xfrm>
              <a:off x="9818688" y="2628901"/>
              <a:ext cx="144463" cy="144463"/>
            </a:xfrm>
            <a:custGeom>
              <a:avLst/>
              <a:gdLst>
                <a:gd name="T0" fmla="*/ 61 w 91"/>
                <a:gd name="T1" fmla="*/ 0 h 91"/>
                <a:gd name="T2" fmla="*/ 30 w 91"/>
                <a:gd name="T3" fmla="*/ 0 h 91"/>
                <a:gd name="T4" fmla="*/ 30 w 91"/>
                <a:gd name="T5" fmla="*/ 30 h 91"/>
                <a:gd name="T6" fmla="*/ 0 w 91"/>
                <a:gd name="T7" fmla="*/ 30 h 91"/>
                <a:gd name="T8" fmla="*/ 0 w 91"/>
                <a:gd name="T9" fmla="*/ 60 h 91"/>
                <a:gd name="T10" fmla="*/ 30 w 91"/>
                <a:gd name="T11" fmla="*/ 60 h 91"/>
                <a:gd name="T12" fmla="*/ 30 w 91"/>
                <a:gd name="T13" fmla="*/ 91 h 91"/>
                <a:gd name="T14" fmla="*/ 61 w 91"/>
                <a:gd name="T15" fmla="*/ 91 h 91"/>
                <a:gd name="T16" fmla="*/ 61 w 91"/>
                <a:gd name="T17" fmla="*/ 60 h 91"/>
                <a:gd name="T18" fmla="*/ 91 w 91"/>
                <a:gd name="T19" fmla="*/ 60 h 91"/>
                <a:gd name="T20" fmla="*/ 91 w 91"/>
                <a:gd name="T21" fmla="*/ 30 h 91"/>
                <a:gd name="T22" fmla="*/ 61 w 91"/>
                <a:gd name="T23" fmla="*/ 30 h 91"/>
                <a:gd name="T24" fmla="*/ 61 w 91"/>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0"/>
                  </a:moveTo>
                  <a:lnTo>
                    <a:pt x="30" y="0"/>
                  </a:lnTo>
                  <a:lnTo>
                    <a:pt x="30" y="30"/>
                  </a:lnTo>
                  <a:lnTo>
                    <a:pt x="0" y="30"/>
                  </a:lnTo>
                  <a:lnTo>
                    <a:pt x="0" y="60"/>
                  </a:lnTo>
                  <a:lnTo>
                    <a:pt x="30" y="60"/>
                  </a:lnTo>
                  <a:lnTo>
                    <a:pt x="30" y="91"/>
                  </a:lnTo>
                  <a:lnTo>
                    <a:pt x="61" y="91"/>
                  </a:lnTo>
                  <a:lnTo>
                    <a:pt x="61" y="60"/>
                  </a:lnTo>
                  <a:lnTo>
                    <a:pt x="91" y="60"/>
                  </a:lnTo>
                  <a:lnTo>
                    <a:pt x="91" y="30"/>
                  </a:lnTo>
                  <a:lnTo>
                    <a:pt x="61" y="30"/>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8" name="Freeform 25">
              <a:extLst>
                <a:ext uri="{FF2B5EF4-FFF2-40B4-BE49-F238E27FC236}">
                  <a16:creationId xmlns:a16="http://schemas.microsoft.com/office/drawing/2014/main" id="{115FCFE1-21A1-5D2B-46BD-5963161A6AFD}"/>
                </a:ext>
              </a:extLst>
            </p:cNvPr>
            <p:cNvSpPr>
              <a:spLocks/>
            </p:cNvSpPr>
            <p:nvPr/>
          </p:nvSpPr>
          <p:spPr bwMode="auto">
            <a:xfrm>
              <a:off x="9986963" y="2387601"/>
              <a:ext cx="146050" cy="144463"/>
            </a:xfrm>
            <a:custGeom>
              <a:avLst/>
              <a:gdLst>
                <a:gd name="T0" fmla="*/ 92 w 92"/>
                <a:gd name="T1" fmla="*/ 31 h 91"/>
                <a:gd name="T2" fmla="*/ 62 w 92"/>
                <a:gd name="T3" fmla="*/ 31 h 91"/>
                <a:gd name="T4" fmla="*/ 62 w 92"/>
                <a:gd name="T5" fmla="*/ 0 h 91"/>
                <a:gd name="T6" fmla="*/ 30 w 92"/>
                <a:gd name="T7" fmla="*/ 0 h 91"/>
                <a:gd name="T8" fmla="*/ 30 w 92"/>
                <a:gd name="T9" fmla="*/ 31 h 91"/>
                <a:gd name="T10" fmla="*/ 0 w 92"/>
                <a:gd name="T11" fmla="*/ 31 h 91"/>
                <a:gd name="T12" fmla="*/ 0 w 92"/>
                <a:gd name="T13" fmla="*/ 61 h 91"/>
                <a:gd name="T14" fmla="*/ 30 w 92"/>
                <a:gd name="T15" fmla="*/ 61 h 91"/>
                <a:gd name="T16" fmla="*/ 30 w 92"/>
                <a:gd name="T17" fmla="*/ 91 h 91"/>
                <a:gd name="T18" fmla="*/ 62 w 92"/>
                <a:gd name="T19" fmla="*/ 91 h 91"/>
                <a:gd name="T20" fmla="*/ 62 w 92"/>
                <a:gd name="T21" fmla="*/ 61 h 91"/>
                <a:gd name="T22" fmla="*/ 92 w 92"/>
                <a:gd name="T23" fmla="*/ 61 h 91"/>
                <a:gd name="T24" fmla="*/ 92 w 92"/>
                <a:gd name="T25" fmla="*/ 3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92" y="31"/>
                  </a:moveTo>
                  <a:lnTo>
                    <a:pt x="62" y="31"/>
                  </a:lnTo>
                  <a:lnTo>
                    <a:pt x="62" y="0"/>
                  </a:lnTo>
                  <a:lnTo>
                    <a:pt x="30" y="0"/>
                  </a:lnTo>
                  <a:lnTo>
                    <a:pt x="30" y="31"/>
                  </a:lnTo>
                  <a:lnTo>
                    <a:pt x="0" y="31"/>
                  </a:lnTo>
                  <a:lnTo>
                    <a:pt x="0" y="61"/>
                  </a:lnTo>
                  <a:lnTo>
                    <a:pt x="30" y="61"/>
                  </a:lnTo>
                  <a:lnTo>
                    <a:pt x="30" y="91"/>
                  </a:lnTo>
                  <a:lnTo>
                    <a:pt x="62" y="91"/>
                  </a:lnTo>
                  <a:lnTo>
                    <a:pt x="62" y="61"/>
                  </a:lnTo>
                  <a:lnTo>
                    <a:pt x="92" y="61"/>
                  </a:lnTo>
                  <a:lnTo>
                    <a:pt x="9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9" name="Freeform 26">
              <a:extLst>
                <a:ext uri="{FF2B5EF4-FFF2-40B4-BE49-F238E27FC236}">
                  <a16:creationId xmlns:a16="http://schemas.microsoft.com/office/drawing/2014/main" id="{CA38F2DF-5A8A-14F2-C327-C492CBE3F718}"/>
                </a:ext>
              </a:extLst>
            </p:cNvPr>
            <p:cNvSpPr>
              <a:spLocks/>
            </p:cNvSpPr>
            <p:nvPr/>
          </p:nvSpPr>
          <p:spPr bwMode="auto">
            <a:xfrm>
              <a:off x="10109201" y="2868613"/>
              <a:ext cx="144463" cy="146050"/>
            </a:xfrm>
            <a:custGeom>
              <a:avLst/>
              <a:gdLst>
                <a:gd name="T0" fmla="*/ 60 w 91"/>
                <a:gd name="T1" fmla="*/ 92 h 92"/>
                <a:gd name="T2" fmla="*/ 60 w 91"/>
                <a:gd name="T3" fmla="*/ 61 h 92"/>
                <a:gd name="T4" fmla="*/ 91 w 91"/>
                <a:gd name="T5" fmla="*/ 61 h 92"/>
                <a:gd name="T6" fmla="*/ 91 w 91"/>
                <a:gd name="T7" fmla="*/ 30 h 92"/>
                <a:gd name="T8" fmla="*/ 60 w 91"/>
                <a:gd name="T9" fmla="*/ 30 h 92"/>
                <a:gd name="T10" fmla="*/ 60 w 91"/>
                <a:gd name="T11" fmla="*/ 0 h 92"/>
                <a:gd name="T12" fmla="*/ 30 w 91"/>
                <a:gd name="T13" fmla="*/ 0 h 92"/>
                <a:gd name="T14" fmla="*/ 30 w 91"/>
                <a:gd name="T15" fmla="*/ 30 h 92"/>
                <a:gd name="T16" fmla="*/ 0 w 91"/>
                <a:gd name="T17" fmla="*/ 30 h 92"/>
                <a:gd name="T18" fmla="*/ 0 w 91"/>
                <a:gd name="T19" fmla="*/ 61 h 92"/>
                <a:gd name="T20" fmla="*/ 30 w 91"/>
                <a:gd name="T21" fmla="*/ 61 h 92"/>
                <a:gd name="T22" fmla="*/ 30 w 91"/>
                <a:gd name="T23" fmla="*/ 92 h 92"/>
                <a:gd name="T24" fmla="*/ 60 w 91"/>
                <a:gd name="T25"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2">
                  <a:moveTo>
                    <a:pt x="60" y="92"/>
                  </a:moveTo>
                  <a:lnTo>
                    <a:pt x="60" y="61"/>
                  </a:lnTo>
                  <a:lnTo>
                    <a:pt x="91" y="61"/>
                  </a:lnTo>
                  <a:lnTo>
                    <a:pt x="91" y="30"/>
                  </a:lnTo>
                  <a:lnTo>
                    <a:pt x="60" y="30"/>
                  </a:lnTo>
                  <a:lnTo>
                    <a:pt x="60" y="0"/>
                  </a:lnTo>
                  <a:lnTo>
                    <a:pt x="30" y="0"/>
                  </a:lnTo>
                  <a:lnTo>
                    <a:pt x="30" y="30"/>
                  </a:lnTo>
                  <a:lnTo>
                    <a:pt x="0" y="30"/>
                  </a:lnTo>
                  <a:lnTo>
                    <a:pt x="0" y="61"/>
                  </a:lnTo>
                  <a:lnTo>
                    <a:pt x="30" y="61"/>
                  </a:lnTo>
                  <a:lnTo>
                    <a:pt x="30" y="92"/>
                  </a:lnTo>
                  <a:lnTo>
                    <a:pt x="60"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0" name="Freeform 27">
              <a:extLst>
                <a:ext uri="{FF2B5EF4-FFF2-40B4-BE49-F238E27FC236}">
                  <a16:creationId xmlns:a16="http://schemas.microsoft.com/office/drawing/2014/main" id="{142C088E-4785-EF5C-91A4-6F81E6CB2C16}"/>
                </a:ext>
              </a:extLst>
            </p:cNvPr>
            <p:cNvSpPr>
              <a:spLocks/>
            </p:cNvSpPr>
            <p:nvPr/>
          </p:nvSpPr>
          <p:spPr bwMode="auto">
            <a:xfrm>
              <a:off x="10952163" y="2747963"/>
              <a:ext cx="146050" cy="144463"/>
            </a:xfrm>
            <a:custGeom>
              <a:avLst/>
              <a:gdLst>
                <a:gd name="T0" fmla="*/ 61 w 92"/>
                <a:gd name="T1" fmla="*/ 0 h 91"/>
                <a:gd name="T2" fmla="*/ 30 w 92"/>
                <a:gd name="T3" fmla="*/ 0 h 91"/>
                <a:gd name="T4" fmla="*/ 30 w 92"/>
                <a:gd name="T5" fmla="*/ 31 h 91"/>
                <a:gd name="T6" fmla="*/ 0 w 92"/>
                <a:gd name="T7" fmla="*/ 31 h 91"/>
                <a:gd name="T8" fmla="*/ 0 w 92"/>
                <a:gd name="T9" fmla="*/ 61 h 91"/>
                <a:gd name="T10" fmla="*/ 30 w 92"/>
                <a:gd name="T11" fmla="*/ 61 h 91"/>
                <a:gd name="T12" fmla="*/ 30 w 92"/>
                <a:gd name="T13" fmla="*/ 91 h 91"/>
                <a:gd name="T14" fmla="*/ 61 w 92"/>
                <a:gd name="T15" fmla="*/ 91 h 91"/>
                <a:gd name="T16" fmla="*/ 61 w 92"/>
                <a:gd name="T17" fmla="*/ 61 h 91"/>
                <a:gd name="T18" fmla="*/ 92 w 92"/>
                <a:gd name="T19" fmla="*/ 61 h 91"/>
                <a:gd name="T20" fmla="*/ 92 w 92"/>
                <a:gd name="T21" fmla="*/ 31 h 91"/>
                <a:gd name="T22" fmla="*/ 61 w 92"/>
                <a:gd name="T23" fmla="*/ 31 h 91"/>
                <a:gd name="T24" fmla="*/ 61 w 92"/>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61" y="0"/>
                  </a:moveTo>
                  <a:lnTo>
                    <a:pt x="30" y="0"/>
                  </a:lnTo>
                  <a:lnTo>
                    <a:pt x="30" y="31"/>
                  </a:lnTo>
                  <a:lnTo>
                    <a:pt x="0" y="31"/>
                  </a:lnTo>
                  <a:lnTo>
                    <a:pt x="0" y="61"/>
                  </a:lnTo>
                  <a:lnTo>
                    <a:pt x="30" y="61"/>
                  </a:lnTo>
                  <a:lnTo>
                    <a:pt x="30" y="91"/>
                  </a:lnTo>
                  <a:lnTo>
                    <a:pt x="61" y="91"/>
                  </a:lnTo>
                  <a:lnTo>
                    <a:pt x="61" y="61"/>
                  </a:lnTo>
                  <a:lnTo>
                    <a:pt x="92" y="61"/>
                  </a:lnTo>
                  <a:lnTo>
                    <a:pt x="92" y="31"/>
                  </a:lnTo>
                  <a:lnTo>
                    <a:pt x="61" y="31"/>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61" name="Group 60">
            <a:extLst>
              <a:ext uri="{FF2B5EF4-FFF2-40B4-BE49-F238E27FC236}">
                <a16:creationId xmlns:a16="http://schemas.microsoft.com/office/drawing/2014/main" id="{0FA01553-4E98-1297-3BA5-3A85C6319E86}"/>
              </a:ext>
            </a:extLst>
          </p:cNvPr>
          <p:cNvGrpSpPr/>
          <p:nvPr/>
        </p:nvGrpSpPr>
        <p:grpSpPr>
          <a:xfrm>
            <a:off x="613951" y="1458494"/>
            <a:ext cx="349688" cy="349688"/>
            <a:chOff x="8089901" y="3478213"/>
            <a:chExt cx="1125538" cy="1125537"/>
          </a:xfrm>
          <a:solidFill>
            <a:schemeClr val="tx1">
              <a:lumMod val="90000"/>
              <a:lumOff val="10000"/>
            </a:schemeClr>
          </a:solidFill>
        </p:grpSpPr>
        <p:sp>
          <p:nvSpPr>
            <p:cNvPr id="62" name="Freeform 31">
              <a:extLst>
                <a:ext uri="{FF2B5EF4-FFF2-40B4-BE49-F238E27FC236}">
                  <a16:creationId xmlns:a16="http://schemas.microsoft.com/office/drawing/2014/main" id="{E0BDBC23-9030-A8B2-5AA9-0BD26ECE2842}"/>
                </a:ext>
              </a:extLst>
            </p:cNvPr>
            <p:cNvSpPr>
              <a:spLocks noEditPoints="1"/>
            </p:cNvSpPr>
            <p:nvPr/>
          </p:nvSpPr>
          <p:spPr bwMode="auto">
            <a:xfrm>
              <a:off x="8089901" y="3478213"/>
              <a:ext cx="936625" cy="1125537"/>
            </a:xfrm>
            <a:custGeom>
              <a:avLst/>
              <a:gdLst>
                <a:gd name="T0" fmla="*/ 1623 w 1708"/>
                <a:gd name="T1" fmla="*/ 1952 h 2059"/>
                <a:gd name="T2" fmla="*/ 1602 w 1708"/>
                <a:gd name="T3" fmla="*/ 1973 h 2059"/>
                <a:gd name="T4" fmla="*/ 280 w 1708"/>
                <a:gd name="T5" fmla="*/ 1973 h 2059"/>
                <a:gd name="T6" fmla="*/ 257 w 1708"/>
                <a:gd name="T7" fmla="*/ 1954 h 2059"/>
                <a:gd name="T8" fmla="*/ 257 w 1708"/>
                <a:gd name="T9" fmla="*/ 1952 h 2059"/>
                <a:gd name="T10" fmla="*/ 257 w 1708"/>
                <a:gd name="T11" fmla="*/ 142 h 2059"/>
                <a:gd name="T12" fmla="*/ 250 w 1708"/>
                <a:gd name="T13" fmla="*/ 95 h 2059"/>
                <a:gd name="T14" fmla="*/ 1566 w 1708"/>
                <a:gd name="T15" fmla="*/ 95 h 2059"/>
                <a:gd name="T16" fmla="*/ 1623 w 1708"/>
                <a:gd name="T17" fmla="*/ 153 h 2059"/>
                <a:gd name="T18" fmla="*/ 1623 w 1708"/>
                <a:gd name="T19" fmla="*/ 153 h 2059"/>
                <a:gd name="T20" fmla="*/ 1623 w 1708"/>
                <a:gd name="T21" fmla="*/ 906 h 2059"/>
                <a:gd name="T22" fmla="*/ 1708 w 1708"/>
                <a:gd name="T23" fmla="*/ 906 h 2059"/>
                <a:gd name="T24" fmla="*/ 1708 w 1708"/>
                <a:gd name="T25" fmla="*/ 153 h 2059"/>
                <a:gd name="T26" fmla="*/ 1566 w 1708"/>
                <a:gd name="T27" fmla="*/ 10 h 2059"/>
                <a:gd name="T28" fmla="*/ 162 w 1708"/>
                <a:gd name="T29" fmla="*/ 10 h 2059"/>
                <a:gd name="T30" fmla="*/ 64 w 1708"/>
                <a:gd name="T31" fmla="*/ 25 h 2059"/>
                <a:gd name="T32" fmla="*/ 1 w 1708"/>
                <a:gd name="T33" fmla="*/ 147 h 2059"/>
                <a:gd name="T34" fmla="*/ 1 w 1708"/>
                <a:gd name="T35" fmla="*/ 458 h 2059"/>
                <a:gd name="T36" fmla="*/ 101 w 1708"/>
                <a:gd name="T37" fmla="*/ 565 h 2059"/>
                <a:gd name="T38" fmla="*/ 101 w 1708"/>
                <a:gd name="T39" fmla="*/ 565 h 2059"/>
                <a:gd name="T40" fmla="*/ 172 w 1708"/>
                <a:gd name="T41" fmla="*/ 565 h 2059"/>
                <a:gd name="T42" fmla="*/ 172 w 1708"/>
                <a:gd name="T43" fmla="*/ 1952 h 2059"/>
                <a:gd name="T44" fmla="*/ 278 w 1708"/>
                <a:gd name="T45" fmla="*/ 2058 h 2059"/>
                <a:gd name="T46" fmla="*/ 1601 w 1708"/>
                <a:gd name="T47" fmla="*/ 2058 h 2059"/>
                <a:gd name="T48" fmla="*/ 1708 w 1708"/>
                <a:gd name="T49" fmla="*/ 1954 h 2059"/>
                <a:gd name="T50" fmla="*/ 1708 w 1708"/>
                <a:gd name="T51" fmla="*/ 1952 h 2059"/>
                <a:gd name="T52" fmla="*/ 1708 w 1708"/>
                <a:gd name="T53" fmla="*/ 1589 h 2059"/>
                <a:gd name="T54" fmla="*/ 1623 w 1708"/>
                <a:gd name="T55" fmla="*/ 1589 h 2059"/>
                <a:gd name="T56" fmla="*/ 1623 w 1708"/>
                <a:gd name="T57" fmla="*/ 1952 h 2059"/>
                <a:gd name="T58" fmla="*/ 172 w 1708"/>
                <a:gd name="T59" fmla="*/ 479 h 2059"/>
                <a:gd name="T60" fmla="*/ 101 w 1708"/>
                <a:gd name="T61" fmla="*/ 479 h 2059"/>
                <a:gd name="T62" fmla="*/ 87 w 1708"/>
                <a:gd name="T63" fmla="*/ 459 h 2059"/>
                <a:gd name="T64" fmla="*/ 87 w 1708"/>
                <a:gd name="T65" fmla="*/ 147 h 2059"/>
                <a:gd name="T66" fmla="*/ 111 w 1708"/>
                <a:gd name="T67" fmla="*/ 95 h 2059"/>
                <a:gd name="T68" fmla="*/ 129 w 1708"/>
                <a:gd name="T69" fmla="*/ 90 h 2059"/>
                <a:gd name="T70" fmla="*/ 129 w 1708"/>
                <a:gd name="T71" fmla="*/ 95 h 2059"/>
                <a:gd name="T72" fmla="*/ 147 w 1708"/>
                <a:gd name="T73" fmla="*/ 95 h 2059"/>
                <a:gd name="T74" fmla="*/ 172 w 1708"/>
                <a:gd name="T75" fmla="*/ 142 h 2059"/>
                <a:gd name="T76" fmla="*/ 172 w 1708"/>
                <a:gd name="T77" fmla="*/ 479 h 2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08" h="2059">
                  <a:moveTo>
                    <a:pt x="1623" y="1952"/>
                  </a:moveTo>
                  <a:cubicBezTo>
                    <a:pt x="1623" y="1963"/>
                    <a:pt x="1614" y="1973"/>
                    <a:pt x="1602" y="1973"/>
                  </a:cubicBezTo>
                  <a:cubicBezTo>
                    <a:pt x="280" y="1973"/>
                    <a:pt x="280" y="1973"/>
                    <a:pt x="280" y="1973"/>
                  </a:cubicBezTo>
                  <a:cubicBezTo>
                    <a:pt x="268" y="1974"/>
                    <a:pt x="258" y="1965"/>
                    <a:pt x="257" y="1954"/>
                  </a:cubicBezTo>
                  <a:cubicBezTo>
                    <a:pt x="257" y="1953"/>
                    <a:pt x="257" y="1953"/>
                    <a:pt x="257" y="1952"/>
                  </a:cubicBezTo>
                  <a:cubicBezTo>
                    <a:pt x="257" y="142"/>
                    <a:pt x="257" y="142"/>
                    <a:pt x="257" y="142"/>
                  </a:cubicBezTo>
                  <a:cubicBezTo>
                    <a:pt x="257" y="126"/>
                    <a:pt x="255" y="110"/>
                    <a:pt x="250" y="95"/>
                  </a:cubicBezTo>
                  <a:cubicBezTo>
                    <a:pt x="1566" y="95"/>
                    <a:pt x="1566" y="95"/>
                    <a:pt x="1566" y="95"/>
                  </a:cubicBezTo>
                  <a:cubicBezTo>
                    <a:pt x="1598" y="96"/>
                    <a:pt x="1623" y="121"/>
                    <a:pt x="1623" y="153"/>
                  </a:cubicBezTo>
                  <a:cubicBezTo>
                    <a:pt x="1623" y="153"/>
                    <a:pt x="1623" y="153"/>
                    <a:pt x="1623" y="153"/>
                  </a:cubicBezTo>
                  <a:cubicBezTo>
                    <a:pt x="1623" y="906"/>
                    <a:pt x="1623" y="906"/>
                    <a:pt x="1623" y="906"/>
                  </a:cubicBezTo>
                  <a:cubicBezTo>
                    <a:pt x="1708" y="906"/>
                    <a:pt x="1708" y="906"/>
                    <a:pt x="1708" y="906"/>
                  </a:cubicBezTo>
                  <a:cubicBezTo>
                    <a:pt x="1708" y="153"/>
                    <a:pt x="1708" y="153"/>
                    <a:pt x="1708" y="153"/>
                  </a:cubicBezTo>
                  <a:cubicBezTo>
                    <a:pt x="1708" y="75"/>
                    <a:pt x="1645" y="10"/>
                    <a:pt x="1566" y="10"/>
                  </a:cubicBezTo>
                  <a:cubicBezTo>
                    <a:pt x="162" y="10"/>
                    <a:pt x="162" y="10"/>
                    <a:pt x="162" y="10"/>
                  </a:cubicBezTo>
                  <a:cubicBezTo>
                    <a:pt x="129" y="0"/>
                    <a:pt x="93" y="6"/>
                    <a:pt x="64" y="25"/>
                  </a:cubicBezTo>
                  <a:cubicBezTo>
                    <a:pt x="24" y="53"/>
                    <a:pt x="1" y="99"/>
                    <a:pt x="1" y="147"/>
                  </a:cubicBezTo>
                  <a:cubicBezTo>
                    <a:pt x="1" y="458"/>
                    <a:pt x="1" y="458"/>
                    <a:pt x="1" y="458"/>
                  </a:cubicBezTo>
                  <a:cubicBezTo>
                    <a:pt x="0" y="515"/>
                    <a:pt x="44" y="563"/>
                    <a:pt x="101" y="565"/>
                  </a:cubicBezTo>
                  <a:cubicBezTo>
                    <a:pt x="101" y="565"/>
                    <a:pt x="101" y="565"/>
                    <a:pt x="101" y="565"/>
                  </a:cubicBezTo>
                  <a:cubicBezTo>
                    <a:pt x="172" y="565"/>
                    <a:pt x="172" y="565"/>
                    <a:pt x="172" y="565"/>
                  </a:cubicBezTo>
                  <a:cubicBezTo>
                    <a:pt x="172" y="1952"/>
                    <a:pt x="172" y="1952"/>
                    <a:pt x="172" y="1952"/>
                  </a:cubicBezTo>
                  <a:cubicBezTo>
                    <a:pt x="172" y="2011"/>
                    <a:pt x="219" y="2058"/>
                    <a:pt x="278" y="2058"/>
                  </a:cubicBezTo>
                  <a:cubicBezTo>
                    <a:pt x="1601" y="2058"/>
                    <a:pt x="1601" y="2058"/>
                    <a:pt x="1601" y="2058"/>
                  </a:cubicBezTo>
                  <a:cubicBezTo>
                    <a:pt x="1659" y="2059"/>
                    <a:pt x="1707" y="2012"/>
                    <a:pt x="1708" y="1954"/>
                  </a:cubicBezTo>
                  <a:cubicBezTo>
                    <a:pt x="1708" y="1953"/>
                    <a:pt x="1708" y="1953"/>
                    <a:pt x="1708" y="1952"/>
                  </a:cubicBezTo>
                  <a:cubicBezTo>
                    <a:pt x="1708" y="1589"/>
                    <a:pt x="1708" y="1589"/>
                    <a:pt x="1708" y="1589"/>
                  </a:cubicBezTo>
                  <a:cubicBezTo>
                    <a:pt x="1623" y="1589"/>
                    <a:pt x="1623" y="1589"/>
                    <a:pt x="1623" y="1589"/>
                  </a:cubicBezTo>
                  <a:lnTo>
                    <a:pt x="1623" y="1952"/>
                  </a:lnTo>
                  <a:close/>
                  <a:moveTo>
                    <a:pt x="172" y="479"/>
                  </a:moveTo>
                  <a:cubicBezTo>
                    <a:pt x="101" y="479"/>
                    <a:pt x="101" y="479"/>
                    <a:pt x="101" y="479"/>
                  </a:cubicBezTo>
                  <a:cubicBezTo>
                    <a:pt x="94" y="479"/>
                    <a:pt x="87" y="471"/>
                    <a:pt x="87" y="459"/>
                  </a:cubicBezTo>
                  <a:cubicBezTo>
                    <a:pt x="87" y="147"/>
                    <a:pt x="87" y="147"/>
                    <a:pt x="87" y="147"/>
                  </a:cubicBezTo>
                  <a:cubicBezTo>
                    <a:pt x="86" y="127"/>
                    <a:pt x="95" y="108"/>
                    <a:pt x="111" y="95"/>
                  </a:cubicBezTo>
                  <a:cubicBezTo>
                    <a:pt x="116" y="92"/>
                    <a:pt x="123" y="90"/>
                    <a:pt x="129" y="90"/>
                  </a:cubicBezTo>
                  <a:cubicBezTo>
                    <a:pt x="129" y="95"/>
                    <a:pt x="129" y="95"/>
                    <a:pt x="129" y="95"/>
                  </a:cubicBezTo>
                  <a:cubicBezTo>
                    <a:pt x="147" y="95"/>
                    <a:pt x="147" y="95"/>
                    <a:pt x="147" y="95"/>
                  </a:cubicBezTo>
                  <a:cubicBezTo>
                    <a:pt x="163" y="105"/>
                    <a:pt x="173" y="123"/>
                    <a:pt x="172" y="142"/>
                  </a:cubicBezTo>
                  <a:cubicBezTo>
                    <a:pt x="172" y="479"/>
                    <a:pt x="172" y="479"/>
                    <a:pt x="172" y="4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3" name="Freeform 32">
              <a:extLst>
                <a:ext uri="{FF2B5EF4-FFF2-40B4-BE49-F238E27FC236}">
                  <a16:creationId xmlns:a16="http://schemas.microsoft.com/office/drawing/2014/main" id="{6C07D1A9-7FF4-852F-4A58-E050B0EE4B5D}"/>
                </a:ext>
              </a:extLst>
            </p:cNvPr>
            <p:cNvSpPr>
              <a:spLocks noEditPoints="1"/>
            </p:cNvSpPr>
            <p:nvPr/>
          </p:nvSpPr>
          <p:spPr bwMode="auto">
            <a:xfrm>
              <a:off x="8667751" y="3948113"/>
              <a:ext cx="547688" cy="544512"/>
            </a:xfrm>
            <a:custGeom>
              <a:avLst/>
              <a:gdLst>
                <a:gd name="T0" fmla="*/ 984 w 1001"/>
                <a:gd name="T1" fmla="*/ 149 h 996"/>
                <a:gd name="T2" fmla="*/ 851 w 1001"/>
                <a:gd name="T3" fmla="*/ 16 h 996"/>
                <a:gd name="T4" fmla="*/ 791 w 1001"/>
                <a:gd name="T5" fmla="*/ 16 h 996"/>
                <a:gd name="T6" fmla="*/ 129 w 1001"/>
                <a:gd name="T7" fmla="*/ 679 h 996"/>
                <a:gd name="T8" fmla="*/ 120 w 1001"/>
                <a:gd name="T9" fmla="*/ 692 h 996"/>
                <a:gd name="T10" fmla="*/ 10 w 1001"/>
                <a:gd name="T11" fmla="*/ 935 h 996"/>
                <a:gd name="T12" fmla="*/ 31 w 1001"/>
                <a:gd name="T13" fmla="*/ 991 h 996"/>
                <a:gd name="T14" fmla="*/ 66 w 1001"/>
                <a:gd name="T15" fmla="*/ 991 h 996"/>
                <a:gd name="T16" fmla="*/ 309 w 1001"/>
                <a:gd name="T17" fmla="*/ 880 h 996"/>
                <a:gd name="T18" fmla="*/ 321 w 1001"/>
                <a:gd name="T19" fmla="*/ 872 h 996"/>
                <a:gd name="T20" fmla="*/ 984 w 1001"/>
                <a:gd name="T21" fmla="*/ 209 h 996"/>
                <a:gd name="T22" fmla="*/ 984 w 1001"/>
                <a:gd name="T23" fmla="*/ 149 h 996"/>
                <a:gd name="T24" fmla="*/ 134 w 1001"/>
                <a:gd name="T25" fmla="*/ 866 h 996"/>
                <a:gd name="T26" fmla="*/ 172 w 1001"/>
                <a:gd name="T27" fmla="*/ 781 h 996"/>
                <a:gd name="T28" fmla="*/ 218 w 1001"/>
                <a:gd name="T29" fmla="*/ 827 h 996"/>
                <a:gd name="T30" fmla="*/ 134 w 1001"/>
                <a:gd name="T31" fmla="*/ 866 h 996"/>
                <a:gd name="T32" fmla="*/ 291 w 1001"/>
                <a:gd name="T33" fmla="*/ 781 h 996"/>
                <a:gd name="T34" fmla="*/ 219 w 1001"/>
                <a:gd name="T35" fmla="*/ 709 h 996"/>
                <a:gd name="T36" fmla="*/ 667 w 1001"/>
                <a:gd name="T37" fmla="*/ 261 h 996"/>
                <a:gd name="T38" fmla="*/ 740 w 1001"/>
                <a:gd name="T39" fmla="*/ 334 h 996"/>
                <a:gd name="T40" fmla="*/ 291 w 1001"/>
                <a:gd name="T41" fmla="*/ 781 h 996"/>
                <a:gd name="T42" fmla="*/ 799 w 1001"/>
                <a:gd name="T43" fmla="*/ 273 h 996"/>
                <a:gd name="T44" fmla="*/ 727 w 1001"/>
                <a:gd name="T45" fmla="*/ 201 h 996"/>
                <a:gd name="T46" fmla="*/ 821 w 1001"/>
                <a:gd name="T47" fmla="*/ 107 h 996"/>
                <a:gd name="T48" fmla="*/ 894 w 1001"/>
                <a:gd name="T49" fmla="*/ 179 h 996"/>
                <a:gd name="T50" fmla="*/ 799 w 1001"/>
                <a:gd name="T51" fmla="*/ 27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01" h="996">
                  <a:moveTo>
                    <a:pt x="984" y="149"/>
                  </a:moveTo>
                  <a:cubicBezTo>
                    <a:pt x="851" y="16"/>
                    <a:pt x="851" y="16"/>
                    <a:pt x="851" y="16"/>
                  </a:cubicBezTo>
                  <a:cubicBezTo>
                    <a:pt x="835" y="0"/>
                    <a:pt x="808" y="0"/>
                    <a:pt x="791" y="16"/>
                  </a:cubicBezTo>
                  <a:cubicBezTo>
                    <a:pt x="129" y="679"/>
                    <a:pt x="129" y="679"/>
                    <a:pt x="129" y="679"/>
                  </a:cubicBezTo>
                  <a:cubicBezTo>
                    <a:pt x="125" y="683"/>
                    <a:pt x="122" y="687"/>
                    <a:pt x="120" y="692"/>
                  </a:cubicBezTo>
                  <a:cubicBezTo>
                    <a:pt x="10" y="935"/>
                    <a:pt x="10" y="935"/>
                    <a:pt x="10" y="935"/>
                  </a:cubicBezTo>
                  <a:cubicBezTo>
                    <a:pt x="0" y="956"/>
                    <a:pt x="10" y="981"/>
                    <a:pt x="31" y="991"/>
                  </a:cubicBezTo>
                  <a:cubicBezTo>
                    <a:pt x="42" y="996"/>
                    <a:pt x="55" y="996"/>
                    <a:pt x="66" y="991"/>
                  </a:cubicBezTo>
                  <a:cubicBezTo>
                    <a:pt x="309" y="880"/>
                    <a:pt x="309" y="880"/>
                    <a:pt x="309" y="880"/>
                  </a:cubicBezTo>
                  <a:cubicBezTo>
                    <a:pt x="313" y="878"/>
                    <a:pt x="318" y="875"/>
                    <a:pt x="321" y="872"/>
                  </a:cubicBezTo>
                  <a:cubicBezTo>
                    <a:pt x="984" y="209"/>
                    <a:pt x="984" y="209"/>
                    <a:pt x="984" y="209"/>
                  </a:cubicBezTo>
                  <a:cubicBezTo>
                    <a:pt x="1001" y="193"/>
                    <a:pt x="1001" y="166"/>
                    <a:pt x="984" y="149"/>
                  </a:cubicBezTo>
                  <a:close/>
                  <a:moveTo>
                    <a:pt x="134" y="866"/>
                  </a:moveTo>
                  <a:cubicBezTo>
                    <a:pt x="172" y="781"/>
                    <a:pt x="172" y="781"/>
                    <a:pt x="172" y="781"/>
                  </a:cubicBezTo>
                  <a:cubicBezTo>
                    <a:pt x="218" y="827"/>
                    <a:pt x="218" y="827"/>
                    <a:pt x="218" y="827"/>
                  </a:cubicBezTo>
                  <a:lnTo>
                    <a:pt x="134" y="866"/>
                  </a:lnTo>
                  <a:close/>
                  <a:moveTo>
                    <a:pt x="291" y="781"/>
                  </a:moveTo>
                  <a:cubicBezTo>
                    <a:pt x="219" y="709"/>
                    <a:pt x="219" y="709"/>
                    <a:pt x="219" y="709"/>
                  </a:cubicBezTo>
                  <a:cubicBezTo>
                    <a:pt x="667" y="261"/>
                    <a:pt x="667" y="261"/>
                    <a:pt x="667" y="261"/>
                  </a:cubicBezTo>
                  <a:cubicBezTo>
                    <a:pt x="740" y="334"/>
                    <a:pt x="740" y="334"/>
                    <a:pt x="740" y="334"/>
                  </a:cubicBezTo>
                  <a:lnTo>
                    <a:pt x="291" y="781"/>
                  </a:lnTo>
                  <a:close/>
                  <a:moveTo>
                    <a:pt x="799" y="273"/>
                  </a:moveTo>
                  <a:cubicBezTo>
                    <a:pt x="727" y="201"/>
                    <a:pt x="727" y="201"/>
                    <a:pt x="727" y="201"/>
                  </a:cubicBezTo>
                  <a:cubicBezTo>
                    <a:pt x="821" y="107"/>
                    <a:pt x="821" y="107"/>
                    <a:pt x="821" y="107"/>
                  </a:cubicBezTo>
                  <a:cubicBezTo>
                    <a:pt x="894" y="179"/>
                    <a:pt x="894" y="179"/>
                    <a:pt x="894" y="179"/>
                  </a:cubicBezTo>
                  <a:lnTo>
                    <a:pt x="799" y="2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4" name="Rectangle 33">
              <a:extLst>
                <a:ext uri="{FF2B5EF4-FFF2-40B4-BE49-F238E27FC236}">
                  <a16:creationId xmlns:a16="http://schemas.microsoft.com/office/drawing/2014/main" id="{5EB21C1E-0687-DAEA-A10C-7331773E1D8A}"/>
                </a:ext>
              </a:extLst>
            </p:cNvPr>
            <p:cNvSpPr>
              <a:spLocks noChangeArrowheads="1"/>
            </p:cNvSpPr>
            <p:nvPr/>
          </p:nvSpPr>
          <p:spPr bwMode="auto">
            <a:xfrm>
              <a:off x="8394701" y="3646488"/>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5" name="Rectangle 34">
              <a:extLst>
                <a:ext uri="{FF2B5EF4-FFF2-40B4-BE49-F238E27FC236}">
                  <a16:creationId xmlns:a16="http://schemas.microsoft.com/office/drawing/2014/main" id="{9270CFDF-8177-4FA0-835B-679628ED3B2F}"/>
                </a:ext>
              </a:extLst>
            </p:cNvPr>
            <p:cNvSpPr>
              <a:spLocks noChangeArrowheads="1"/>
            </p:cNvSpPr>
            <p:nvPr/>
          </p:nvSpPr>
          <p:spPr bwMode="auto">
            <a:xfrm>
              <a:off x="8394701" y="3810000"/>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6" name="Rectangle 35">
              <a:extLst>
                <a:ext uri="{FF2B5EF4-FFF2-40B4-BE49-F238E27FC236}">
                  <a16:creationId xmlns:a16="http://schemas.microsoft.com/office/drawing/2014/main" id="{BACBDF4F-0AE4-0B47-62A3-7FD457334F83}"/>
                </a:ext>
              </a:extLst>
            </p:cNvPr>
            <p:cNvSpPr>
              <a:spLocks noChangeArrowheads="1"/>
            </p:cNvSpPr>
            <p:nvPr/>
          </p:nvSpPr>
          <p:spPr bwMode="auto">
            <a:xfrm>
              <a:off x="8394701" y="3973513"/>
              <a:ext cx="42068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7" name="Rectangle 36">
              <a:extLst>
                <a:ext uri="{FF2B5EF4-FFF2-40B4-BE49-F238E27FC236}">
                  <a16:creationId xmlns:a16="http://schemas.microsoft.com/office/drawing/2014/main" id="{5F73F0D9-1C47-C9A1-8259-705A22432F4A}"/>
                </a:ext>
              </a:extLst>
            </p:cNvPr>
            <p:cNvSpPr>
              <a:spLocks noChangeArrowheads="1"/>
            </p:cNvSpPr>
            <p:nvPr/>
          </p:nvSpPr>
          <p:spPr bwMode="auto">
            <a:xfrm>
              <a:off x="8394701" y="4137025"/>
              <a:ext cx="1873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8" name="Rectangle 37">
              <a:extLst>
                <a:ext uri="{FF2B5EF4-FFF2-40B4-BE49-F238E27FC236}">
                  <a16:creationId xmlns:a16="http://schemas.microsoft.com/office/drawing/2014/main" id="{5609BDAC-2FBC-721C-B934-16FDAD6E9804}"/>
                </a:ext>
              </a:extLst>
            </p:cNvPr>
            <p:cNvSpPr>
              <a:spLocks noChangeArrowheads="1"/>
            </p:cNvSpPr>
            <p:nvPr/>
          </p:nvSpPr>
          <p:spPr bwMode="auto">
            <a:xfrm>
              <a:off x="8651876" y="4137025"/>
              <a:ext cx="476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9" name="Rectangle 38">
              <a:extLst>
                <a:ext uri="{FF2B5EF4-FFF2-40B4-BE49-F238E27FC236}">
                  <a16:creationId xmlns:a16="http://schemas.microsoft.com/office/drawing/2014/main" id="{6CC61FE2-98A8-6909-114C-57C86E187164}"/>
                </a:ext>
              </a:extLst>
            </p:cNvPr>
            <p:cNvSpPr>
              <a:spLocks noChangeArrowheads="1"/>
            </p:cNvSpPr>
            <p:nvPr/>
          </p:nvSpPr>
          <p:spPr bwMode="auto">
            <a:xfrm>
              <a:off x="8769351" y="4137025"/>
              <a:ext cx="4603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1033" name="Title 1">
            <a:extLst>
              <a:ext uri="{FF2B5EF4-FFF2-40B4-BE49-F238E27FC236}">
                <a16:creationId xmlns:a16="http://schemas.microsoft.com/office/drawing/2014/main" id="{138F7062-5C85-F91F-FCB7-211F00902BAB}"/>
              </a:ext>
            </a:extLst>
          </p:cNvPr>
          <p:cNvSpPr txBox="1">
            <a:spLocks/>
          </p:cNvSpPr>
          <p:nvPr/>
        </p:nvSpPr>
        <p:spPr>
          <a:xfrm>
            <a:off x="610087" y="5499625"/>
            <a:ext cx="1763445" cy="228167"/>
          </a:xfrm>
          <a:prstGeom prst="roundRect">
            <a:avLst>
              <a:gd name="adj" fmla="val 50000"/>
            </a:avLst>
          </a:prstGeom>
          <a:no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tx1"/>
                </a:solidFill>
                <a:effectLst/>
                <a:uLnTx/>
                <a:uFillTx/>
                <a:latin typeface="Manrope SemiBold" pitchFamily="2" charset="0"/>
                <a:ea typeface="Lato" panose="020B0604020202020204" charset="0"/>
                <a:cs typeface="Lato" panose="020B0604020202020204" charset="0"/>
              </a:rPr>
              <a:t>Technology Stack</a:t>
            </a:r>
          </a:p>
        </p:txBody>
      </p:sp>
      <p:cxnSp>
        <p:nvCxnSpPr>
          <p:cNvPr id="1042" name="Straight Connector 1041">
            <a:extLst>
              <a:ext uri="{FF2B5EF4-FFF2-40B4-BE49-F238E27FC236}">
                <a16:creationId xmlns:a16="http://schemas.microsoft.com/office/drawing/2014/main" id="{49841A48-9C09-FB76-A9A8-22A684511271}"/>
              </a:ext>
            </a:extLst>
          </p:cNvPr>
          <p:cNvCxnSpPr>
            <a:cxnSpLocks/>
          </p:cNvCxnSpPr>
          <p:nvPr/>
        </p:nvCxnSpPr>
        <p:spPr bwMode="auto">
          <a:xfrm flipV="1">
            <a:off x="4012923" y="24663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5" name="Straight Connector 1044">
            <a:extLst>
              <a:ext uri="{FF2B5EF4-FFF2-40B4-BE49-F238E27FC236}">
                <a16:creationId xmlns:a16="http://schemas.microsoft.com/office/drawing/2014/main" id="{6FEA0FE7-7DB1-995E-55EF-E7C3DE0143C2}"/>
              </a:ext>
            </a:extLst>
          </p:cNvPr>
          <p:cNvCxnSpPr>
            <a:cxnSpLocks/>
          </p:cNvCxnSpPr>
          <p:nvPr/>
        </p:nvCxnSpPr>
        <p:spPr bwMode="auto">
          <a:xfrm flipV="1">
            <a:off x="8051523" y="24790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 name="Text Placeholder 14">
            <a:extLst>
              <a:ext uri="{FF2B5EF4-FFF2-40B4-BE49-F238E27FC236}">
                <a16:creationId xmlns:a16="http://schemas.microsoft.com/office/drawing/2014/main" id="{F9ED0441-919A-34DA-D419-BCD10F9A380F}"/>
              </a:ext>
            </a:extLst>
          </p:cNvPr>
          <p:cNvSpPr txBox="1">
            <a:spLocks/>
          </p:cNvSpPr>
          <p:nvPr/>
        </p:nvSpPr>
        <p:spPr>
          <a:xfrm>
            <a:off x="4303652" y="2552184"/>
            <a:ext cx="3368391" cy="2578612"/>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a:defRPr>
                <a:solidFill>
                  <a:schemeClr val="dk1"/>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Empower business users to design scalable and powerful digital marketing experiences that personally serve multiple audiences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Deliver content across geographies and sites through a single content management solution</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Information architecture redesign for massive reduction in translation costs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Sitecore Business Optimization strategies implementation with massive uplift across product sales. Redesign of booking engine with responsive design resulting 5% increase in revenue</a:t>
            </a:r>
          </a:p>
          <a:p>
            <a:pPr marL="0" marR="0" lvl="1" indent="0" algn="l" defTabSz="914400" rtl="0" eaLnBrk="0" fontAlgn="auto" latinLnBrk="0" hangingPunct="0">
              <a:lnSpc>
                <a:spcPct val="100000"/>
              </a:lnSpc>
              <a:spcBef>
                <a:spcPts val="300"/>
              </a:spcBef>
              <a:spcAft>
                <a:spcPts val="300"/>
              </a:spcAft>
              <a:buClr>
                <a:srgbClr val="002F5F"/>
              </a:buClr>
              <a:buSzTx/>
              <a:buNone/>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grpSp>
        <p:nvGrpSpPr>
          <p:cNvPr id="26" name="Group 25">
            <a:extLst>
              <a:ext uri="{FF2B5EF4-FFF2-40B4-BE49-F238E27FC236}">
                <a16:creationId xmlns:a16="http://schemas.microsoft.com/office/drawing/2014/main" id="{8D505B90-A130-F8C0-B957-32A02F3ABAEE}"/>
              </a:ext>
            </a:extLst>
          </p:cNvPr>
          <p:cNvGrpSpPr/>
          <p:nvPr/>
        </p:nvGrpSpPr>
        <p:grpSpPr>
          <a:xfrm>
            <a:off x="486207" y="5727792"/>
            <a:ext cx="9526175" cy="527399"/>
            <a:chOff x="664510" y="6248351"/>
            <a:chExt cx="10380818" cy="574715"/>
          </a:xfrm>
        </p:grpSpPr>
        <p:sp>
          <p:nvSpPr>
            <p:cNvPr id="4" name="Slide Number Placeholder 2">
              <a:extLst>
                <a:ext uri="{FF2B5EF4-FFF2-40B4-BE49-F238E27FC236}">
                  <a16:creationId xmlns:a16="http://schemas.microsoft.com/office/drawing/2014/main" id="{86EC6CC7-908D-A882-B1D2-3F1259FCBC51}"/>
                </a:ext>
              </a:extLst>
            </p:cNvPr>
            <p:cNvSpPr txBox="1">
              <a:spLocks/>
            </p:cNvSpPr>
            <p:nvPr/>
          </p:nvSpPr>
          <p:spPr>
            <a:xfrm>
              <a:off x="8302128" y="6353146"/>
              <a:ext cx="2743200" cy="365125"/>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254CCC-AD7F-2A4F-9F79-CB64EC5F17BE}" type="slidenum">
                <a:rPr lang="en-US" sz="1200" smtClean="0">
                  <a:solidFill>
                    <a:srgbClr val="00CE89"/>
                  </a:solidFill>
                  <a:latin typeface="Lato" panose="020F0502020204030203" pitchFamily="34" charset="0"/>
                  <a:cs typeface="Lato" panose="020F0502020204030203" pitchFamily="34" charset="0"/>
                </a:rPr>
                <a:pPr algn="ctr">
                  <a:defRPr/>
                </a:pPr>
                <a:t>35</a:t>
              </a:fld>
              <a:endParaRPr lang="en-US" sz="1200">
                <a:solidFill>
                  <a:srgbClr val="00CE89"/>
                </a:solidFill>
                <a:latin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28D8A893-DB41-8C1C-6ADF-A71EC44E6C0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4510" y="6248351"/>
              <a:ext cx="1690339" cy="574715"/>
            </a:xfrm>
            <a:prstGeom prst="rect">
              <a:avLst/>
            </a:prstGeom>
          </p:spPr>
        </p:pic>
        <p:pic>
          <p:nvPicPr>
            <p:cNvPr id="8" name="Picture 7">
              <a:extLst>
                <a:ext uri="{FF2B5EF4-FFF2-40B4-BE49-F238E27FC236}">
                  <a16:creationId xmlns:a16="http://schemas.microsoft.com/office/drawing/2014/main" id="{BA6B58A7-2833-3342-189A-7C17CFDFBDF6}"/>
                </a:ext>
              </a:extLst>
            </p:cNvPr>
            <p:cNvPicPr>
              <a:picLocks noChangeAspect="1"/>
            </p:cNvPicPr>
            <p:nvPr/>
          </p:nvPicPr>
          <p:blipFill>
            <a:blip r:embed="rId3"/>
            <a:stretch>
              <a:fillRect/>
            </a:stretch>
          </p:blipFill>
          <p:spPr>
            <a:xfrm>
              <a:off x="2402356" y="6316243"/>
              <a:ext cx="1024172" cy="438931"/>
            </a:xfrm>
            <a:prstGeom prst="rect">
              <a:avLst/>
            </a:prstGeom>
          </p:spPr>
        </p:pic>
        <p:pic>
          <p:nvPicPr>
            <p:cNvPr id="13" name="Picture 12">
              <a:extLst>
                <a:ext uri="{FF2B5EF4-FFF2-40B4-BE49-F238E27FC236}">
                  <a16:creationId xmlns:a16="http://schemas.microsoft.com/office/drawing/2014/main" id="{EB510E0D-4C70-A4A4-EE4E-300B425903C0}"/>
                </a:ext>
              </a:extLst>
            </p:cNvPr>
            <p:cNvPicPr>
              <a:picLocks noChangeAspect="1"/>
            </p:cNvPicPr>
            <p:nvPr/>
          </p:nvPicPr>
          <p:blipFill>
            <a:blip r:embed="rId4"/>
            <a:stretch>
              <a:fillRect/>
            </a:stretch>
          </p:blipFill>
          <p:spPr>
            <a:xfrm>
              <a:off x="3618581" y="6352958"/>
              <a:ext cx="1426696" cy="365500"/>
            </a:xfrm>
            <a:prstGeom prst="rect">
              <a:avLst/>
            </a:prstGeom>
          </p:spPr>
        </p:pic>
        <p:pic>
          <p:nvPicPr>
            <p:cNvPr id="14" name="Picture 13">
              <a:extLst>
                <a:ext uri="{FF2B5EF4-FFF2-40B4-BE49-F238E27FC236}">
                  <a16:creationId xmlns:a16="http://schemas.microsoft.com/office/drawing/2014/main" id="{5F0EEABD-39E1-326C-30B4-52306BCE9BB2}"/>
                </a:ext>
              </a:extLst>
            </p:cNvPr>
            <p:cNvPicPr>
              <a:picLocks noChangeAspect="1"/>
            </p:cNvPicPr>
            <p:nvPr/>
          </p:nvPicPr>
          <p:blipFill>
            <a:blip r:embed="rId5"/>
            <a:stretch>
              <a:fillRect/>
            </a:stretch>
          </p:blipFill>
          <p:spPr>
            <a:xfrm>
              <a:off x="5331146" y="6359173"/>
              <a:ext cx="1070161" cy="353071"/>
            </a:xfrm>
            <a:prstGeom prst="rect">
              <a:avLst/>
            </a:prstGeom>
          </p:spPr>
        </p:pic>
        <p:pic>
          <p:nvPicPr>
            <p:cNvPr id="23" name="Picture 22">
              <a:extLst>
                <a:ext uri="{FF2B5EF4-FFF2-40B4-BE49-F238E27FC236}">
                  <a16:creationId xmlns:a16="http://schemas.microsoft.com/office/drawing/2014/main" id="{ECF3774C-087A-D762-FE65-432F78A10A02}"/>
                </a:ext>
              </a:extLst>
            </p:cNvPr>
            <p:cNvPicPr>
              <a:picLocks noChangeAspect="1"/>
            </p:cNvPicPr>
            <p:nvPr/>
          </p:nvPicPr>
          <p:blipFill>
            <a:blip r:embed="rId6"/>
            <a:stretch>
              <a:fillRect/>
            </a:stretch>
          </p:blipFill>
          <p:spPr>
            <a:xfrm>
              <a:off x="6675242" y="6361567"/>
              <a:ext cx="1250244" cy="348282"/>
            </a:xfrm>
            <a:prstGeom prst="rect">
              <a:avLst/>
            </a:prstGeom>
          </p:spPr>
        </p:pic>
        <p:pic>
          <p:nvPicPr>
            <p:cNvPr id="24" name="Picture 23">
              <a:extLst>
                <a:ext uri="{FF2B5EF4-FFF2-40B4-BE49-F238E27FC236}">
                  <a16:creationId xmlns:a16="http://schemas.microsoft.com/office/drawing/2014/main" id="{4486CAA1-62C7-40FA-A0C8-E8334BC7F155}"/>
                </a:ext>
              </a:extLst>
            </p:cNvPr>
            <p:cNvPicPr>
              <a:picLocks noChangeAspect="1"/>
            </p:cNvPicPr>
            <p:nvPr/>
          </p:nvPicPr>
          <p:blipFill>
            <a:blip r:embed="rId7"/>
            <a:stretch>
              <a:fillRect/>
            </a:stretch>
          </p:blipFill>
          <p:spPr>
            <a:xfrm>
              <a:off x="8166552" y="6317940"/>
              <a:ext cx="694901" cy="435536"/>
            </a:xfrm>
            <a:prstGeom prst="rect">
              <a:avLst/>
            </a:prstGeom>
          </p:spPr>
        </p:pic>
        <p:pic>
          <p:nvPicPr>
            <p:cNvPr id="25" name="Picture 24">
              <a:extLst>
                <a:ext uri="{FF2B5EF4-FFF2-40B4-BE49-F238E27FC236}">
                  <a16:creationId xmlns:a16="http://schemas.microsoft.com/office/drawing/2014/main" id="{27697214-A6D1-59A8-09CB-E6604BB45B8F}"/>
                </a:ext>
              </a:extLst>
            </p:cNvPr>
            <p:cNvPicPr>
              <a:picLocks noChangeAspect="1"/>
            </p:cNvPicPr>
            <p:nvPr/>
          </p:nvPicPr>
          <p:blipFill>
            <a:blip r:embed="rId8"/>
            <a:stretch>
              <a:fillRect/>
            </a:stretch>
          </p:blipFill>
          <p:spPr>
            <a:xfrm>
              <a:off x="9102519" y="6264481"/>
              <a:ext cx="954414" cy="542454"/>
            </a:xfrm>
            <a:prstGeom prst="rect">
              <a:avLst/>
            </a:prstGeom>
          </p:spPr>
        </p:pic>
      </p:grpSp>
    </p:spTree>
    <p:extLst>
      <p:ext uri="{BB962C8B-B14F-4D97-AF65-F5344CB8AC3E}">
        <p14:creationId xmlns:p14="http://schemas.microsoft.com/office/powerpoint/2010/main" val="3820045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060B-6328-491E-196C-44401D11AF29}"/>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88BF54C7-3EBB-32D8-CA7F-ABD27D1049CA}"/>
              </a:ext>
            </a:extLst>
          </p:cNvPr>
          <p:cNvSpPr>
            <a:spLocks noGrp="1"/>
          </p:cNvSpPr>
          <p:nvPr>
            <p:ph type="body" sz="quarter" idx="15"/>
          </p:nvPr>
        </p:nvSpPr>
        <p:spPr>
          <a:xfrm flipH="1">
            <a:off x="623888" y="457200"/>
            <a:ext cx="8172450" cy="244101"/>
          </a:xfrm>
        </p:spPr>
        <p:txBody>
          <a:bodyPr wrap="square" lIns="0" tIns="36000" rIns="0" bIns="0" anchor="t" anchorCtr="0">
            <a:noAutofit/>
          </a:bodyPr>
          <a:lstStyle/>
          <a:p>
            <a:r>
              <a:rPr lang="en-US" dirty="0"/>
              <a:t>Case Study : Multi Brand, Multi Lingual &amp; Omni Channel Digital Marketing Platform</a:t>
            </a:r>
          </a:p>
        </p:txBody>
      </p:sp>
      <p:sp>
        <p:nvSpPr>
          <p:cNvPr id="5" name="Title 1">
            <a:extLst>
              <a:ext uri="{FF2B5EF4-FFF2-40B4-BE49-F238E27FC236}">
                <a16:creationId xmlns:a16="http://schemas.microsoft.com/office/drawing/2014/main" id="{3A804BAC-EAD8-CFEC-DD18-ED8FCFCEBBFC}"/>
              </a:ext>
            </a:extLst>
          </p:cNvPr>
          <p:cNvSpPr txBox="1">
            <a:spLocks/>
          </p:cNvSpPr>
          <p:nvPr/>
        </p:nvSpPr>
        <p:spPr>
          <a:xfrm>
            <a:off x="623888" y="926236"/>
            <a:ext cx="1645920" cy="365760"/>
          </a:xfrm>
          <a:prstGeom prst="rect">
            <a:avLst/>
          </a:prstGeom>
          <a:solidFill>
            <a:schemeClr val="tx2"/>
          </a:solid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pitchFamily="2" charset="0"/>
                <a:ea typeface="Lato" panose="020B0604020202020204" charset="0"/>
                <a:cs typeface="Lato" panose="020B0604020202020204" charset="0"/>
              </a:rPr>
              <a:t>About The Client</a:t>
            </a:r>
          </a:p>
        </p:txBody>
      </p:sp>
      <p:sp>
        <p:nvSpPr>
          <p:cNvPr id="7" name="Title 1">
            <a:extLst>
              <a:ext uri="{FF2B5EF4-FFF2-40B4-BE49-F238E27FC236}">
                <a16:creationId xmlns:a16="http://schemas.microsoft.com/office/drawing/2014/main" id="{34406F9D-87F3-EB64-5528-EA3D95C0E39A}"/>
              </a:ext>
            </a:extLst>
          </p:cNvPr>
          <p:cNvSpPr txBox="1">
            <a:spLocks/>
          </p:cNvSpPr>
          <p:nvPr/>
        </p:nvSpPr>
        <p:spPr>
          <a:xfrm>
            <a:off x="2298556" y="926236"/>
            <a:ext cx="9159055" cy="365760"/>
          </a:xfrm>
          <a:prstGeom prst="rect">
            <a:avLst/>
          </a:prstGeom>
          <a:solidFill>
            <a:schemeClr val="accent1"/>
          </a:solidFill>
        </p:spPr>
        <p:txBody>
          <a:bodyPr wrap="square" lIns="18000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rPr>
              <a:t>American commercial real estate services company - Cushman and Wakefield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2"/>
              </a:solidFill>
              <a:effectLst/>
              <a:uLnTx/>
              <a:uFillTx/>
              <a:latin typeface="Manrope" pitchFamily="2" charset="0"/>
              <a:ea typeface="Lato" panose="020B0604020202020204" charset="0"/>
              <a:cs typeface="Lato" panose="020B0604020202020204" charset="0"/>
            </a:endParaRPr>
          </a:p>
        </p:txBody>
      </p:sp>
      <p:cxnSp>
        <p:nvCxnSpPr>
          <p:cNvPr id="9" name="Straight Connector 280">
            <a:extLst>
              <a:ext uri="{FF2B5EF4-FFF2-40B4-BE49-F238E27FC236}">
                <a16:creationId xmlns:a16="http://schemas.microsoft.com/office/drawing/2014/main" id="{0CB7AA55-68D3-5142-1FA1-DB0F0373A47B}"/>
              </a:ext>
            </a:extLst>
          </p:cNvPr>
          <p:cNvCxnSpPr>
            <a:cxnSpLocks/>
          </p:cNvCxnSpPr>
          <p:nvPr/>
        </p:nvCxnSpPr>
        <p:spPr bwMode="auto">
          <a:xfrm flipH="1">
            <a:off x="-54124" y="1754013"/>
            <a:ext cx="12192001" cy="0"/>
          </a:xfrm>
          <a:prstGeom prst="line">
            <a:avLst/>
          </a:prstGeom>
          <a:solidFill>
            <a:schemeClr val="accent1"/>
          </a:solidFill>
          <a:ln w="12700" cap="flat" cmpd="sng" algn="ctr">
            <a:gradFill flip="none" rotWithShape="1">
              <a:gsLst>
                <a:gs pos="0">
                  <a:schemeClr val="bg2">
                    <a:alpha val="0"/>
                  </a:schemeClr>
                </a:gs>
                <a:gs pos="100000">
                  <a:schemeClr val="bg2">
                    <a:alpha val="0"/>
                  </a:schemeClr>
                </a:gs>
                <a:gs pos="67000">
                  <a:schemeClr val="bg2"/>
                </a:gs>
                <a:gs pos="32000">
                  <a:schemeClr val="bg2"/>
                </a:gs>
              </a:gsLst>
              <a:lin ang="0" scaled="0"/>
              <a:tileRect/>
            </a:gradFill>
            <a:prstDash val="solid"/>
            <a:round/>
            <a:headEnd type="none" w="med" len="med"/>
            <a:tailEnd type="none" w="med" len="med"/>
          </a:ln>
          <a:effectLst/>
        </p:spPr>
      </p:cxnSp>
      <p:sp>
        <p:nvSpPr>
          <p:cNvPr id="10" name="Rectangle 9">
            <a:extLst>
              <a:ext uri="{FF2B5EF4-FFF2-40B4-BE49-F238E27FC236}">
                <a16:creationId xmlns:a16="http://schemas.microsoft.com/office/drawing/2014/main" id="{F08BA8FA-393D-0C71-5DCF-BF78BB4F7F01}"/>
              </a:ext>
            </a:extLst>
          </p:cNvPr>
          <p:cNvSpPr>
            <a:spLocks/>
          </p:cNvSpPr>
          <p:nvPr/>
        </p:nvSpPr>
        <p:spPr>
          <a:xfrm>
            <a:off x="4284729" y="1939066"/>
            <a:ext cx="3854227"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Our Solution</a:t>
            </a:r>
          </a:p>
        </p:txBody>
      </p:sp>
      <p:sp>
        <p:nvSpPr>
          <p:cNvPr id="11" name="Rectangle 10">
            <a:extLst>
              <a:ext uri="{FF2B5EF4-FFF2-40B4-BE49-F238E27FC236}">
                <a16:creationId xmlns:a16="http://schemas.microsoft.com/office/drawing/2014/main" id="{BA81AC0B-241A-017E-8738-2641FA804BD1}"/>
              </a:ext>
            </a:extLst>
          </p:cNvPr>
          <p:cNvSpPr>
            <a:spLocks/>
          </p:cNvSpPr>
          <p:nvPr/>
        </p:nvSpPr>
        <p:spPr>
          <a:xfrm>
            <a:off x="610087" y="1939066"/>
            <a:ext cx="3569314" cy="24622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accent1"/>
                </a:solidFill>
                <a:effectLst/>
                <a:uLnTx/>
                <a:uFillTx/>
                <a:latin typeface="Manrope" pitchFamily="2" charset="0"/>
                <a:ea typeface="Lato" panose="020B0604020202020204" charset="0"/>
                <a:cs typeface="Lato" panose="020B0604020202020204" charset="0"/>
              </a:rPr>
              <a:t>Business Objectives</a:t>
            </a:r>
          </a:p>
        </p:txBody>
      </p:sp>
      <p:sp>
        <p:nvSpPr>
          <p:cNvPr id="12" name="Rectangle 11">
            <a:extLst>
              <a:ext uri="{FF2B5EF4-FFF2-40B4-BE49-F238E27FC236}">
                <a16:creationId xmlns:a16="http://schemas.microsoft.com/office/drawing/2014/main" id="{71896CB9-7FA9-FD02-9EC8-99C870A0F5FF}"/>
              </a:ext>
            </a:extLst>
          </p:cNvPr>
          <p:cNvSpPr>
            <a:spLocks/>
          </p:cNvSpPr>
          <p:nvPr/>
        </p:nvSpPr>
        <p:spPr>
          <a:xfrm>
            <a:off x="8282386" y="1939066"/>
            <a:ext cx="3714469" cy="215444"/>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accent1"/>
                </a:solidFill>
                <a:effectLst/>
                <a:uLnTx/>
                <a:uFillTx/>
                <a:latin typeface="Manrope" pitchFamily="2" charset="0"/>
                <a:ea typeface="Lato" panose="020B0604020202020204" charset="0"/>
                <a:cs typeface="Lato" panose="020B0604020202020204" charset="0"/>
              </a:rPr>
              <a:t>Business Impact</a:t>
            </a:r>
          </a:p>
        </p:txBody>
      </p:sp>
      <p:sp>
        <p:nvSpPr>
          <p:cNvPr id="15" name="Text Placeholder 16">
            <a:extLst>
              <a:ext uri="{FF2B5EF4-FFF2-40B4-BE49-F238E27FC236}">
                <a16:creationId xmlns:a16="http://schemas.microsoft.com/office/drawing/2014/main" id="{71B91021-42D4-E026-4B4D-834320776D19}"/>
              </a:ext>
            </a:extLst>
          </p:cNvPr>
          <p:cNvSpPr txBox="1">
            <a:spLocks/>
          </p:cNvSpPr>
          <p:nvPr/>
        </p:nvSpPr>
        <p:spPr>
          <a:xfrm>
            <a:off x="8431002" y="2569244"/>
            <a:ext cx="3137111" cy="2519715"/>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marL="285750" indent="-285750">
              <a:buFont typeface="Arial" panose="020B0604020202020204" pitchFamily="34" charset="0"/>
              <a:buChar char="•"/>
              <a:defRPr sz="1400">
                <a:solidFill>
                  <a:schemeClr val="bg2">
                    <a:lumMod val="75000"/>
                  </a:schemeClr>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Digital transformation of digital assets and touch points providing localization and personalization services like multi-lingual and country specific content</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The content management solution was made uniform with the right Information Governance Model</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Enhanced digital marketing capabilities leading to increased traffic, lead generation, CRO etc.</a:t>
            </a: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171450" marR="0" lvl="0" indent="-171450" algn="l" defTabSz="914400" rtl="0" eaLnBrk="0" fontAlgn="auto" latinLnBrk="0" hangingPunct="0">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cxnSp>
        <p:nvCxnSpPr>
          <p:cNvPr id="16" name="Straight Connector 15">
            <a:extLst>
              <a:ext uri="{FF2B5EF4-FFF2-40B4-BE49-F238E27FC236}">
                <a16:creationId xmlns:a16="http://schemas.microsoft.com/office/drawing/2014/main" id="{A073CD29-2DD3-A709-D4B9-E40A080B51F2}"/>
              </a:ext>
            </a:extLst>
          </p:cNvPr>
          <p:cNvCxnSpPr/>
          <p:nvPr/>
        </p:nvCxnSpPr>
        <p:spPr bwMode="auto">
          <a:xfrm>
            <a:off x="4296290"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D62CD45E-F02C-4DA8-7329-379DE9BDF10F}"/>
              </a:ext>
            </a:extLst>
          </p:cNvPr>
          <p:cNvCxnSpPr>
            <a:cxnSpLocks/>
          </p:cNvCxnSpPr>
          <p:nvPr/>
        </p:nvCxnSpPr>
        <p:spPr bwMode="auto">
          <a:xfrm>
            <a:off x="4296290" y="2236308"/>
            <a:ext cx="3501510"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E8BA6FC7-1C7F-4581-02C8-ED02F09A9C35}"/>
              </a:ext>
            </a:extLst>
          </p:cNvPr>
          <p:cNvCxnSpPr/>
          <p:nvPr/>
        </p:nvCxnSpPr>
        <p:spPr bwMode="auto">
          <a:xfrm>
            <a:off x="622787"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EED721C6-8A03-4A58-690C-F4330DB716F6}"/>
              </a:ext>
            </a:extLst>
          </p:cNvPr>
          <p:cNvCxnSpPr>
            <a:cxnSpLocks/>
          </p:cNvCxnSpPr>
          <p:nvPr/>
        </p:nvCxnSpPr>
        <p:spPr bwMode="auto">
          <a:xfrm>
            <a:off x="622787" y="2236308"/>
            <a:ext cx="319990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92E4EF1F-05EC-80C3-B25B-B6FF2CA088CC}"/>
              </a:ext>
            </a:extLst>
          </p:cNvPr>
          <p:cNvCxnSpPr/>
          <p:nvPr/>
        </p:nvCxnSpPr>
        <p:spPr bwMode="auto">
          <a:xfrm>
            <a:off x="8295086" y="2236308"/>
            <a:ext cx="420915" cy="0"/>
          </a:xfrm>
          <a:prstGeom prst="line">
            <a:avLst/>
          </a:prstGeom>
          <a:solidFill>
            <a:schemeClr val="accent1"/>
          </a:solidFill>
          <a:ln w="38100" cap="flat" cmpd="sng" algn="ctr">
            <a:solidFill>
              <a:schemeClr val="tx1">
                <a:lumMod val="50000"/>
                <a:lumOff val="50000"/>
              </a:schemeClr>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B9E7928E-6C5C-59F9-455F-259F9E54B3AD}"/>
              </a:ext>
            </a:extLst>
          </p:cNvPr>
          <p:cNvCxnSpPr>
            <a:cxnSpLocks/>
          </p:cNvCxnSpPr>
          <p:nvPr/>
        </p:nvCxnSpPr>
        <p:spPr bwMode="auto">
          <a:xfrm>
            <a:off x="8295086" y="2236308"/>
            <a:ext cx="3273027" cy="0"/>
          </a:xfrm>
          <a:prstGeom prst="line">
            <a:avLst/>
          </a:prstGeom>
          <a:solidFill>
            <a:schemeClr val="accent1"/>
          </a:solidFill>
          <a:ln w="12700" cap="flat" cmpd="sng" algn="ctr">
            <a:solidFill>
              <a:schemeClr val="accent1"/>
            </a:solidFill>
            <a:prstDash val="solid"/>
            <a:round/>
            <a:headEnd type="none" w="med" len="med"/>
            <a:tailEnd type="none" w="med" len="med"/>
          </a:ln>
          <a:effectLst/>
        </p:spPr>
      </p:cxnSp>
      <p:sp>
        <p:nvSpPr>
          <p:cNvPr id="22" name="Text Placeholder 14">
            <a:extLst>
              <a:ext uri="{FF2B5EF4-FFF2-40B4-BE49-F238E27FC236}">
                <a16:creationId xmlns:a16="http://schemas.microsoft.com/office/drawing/2014/main" id="{A78445F7-30B5-CE82-AAC3-1811833165AC}"/>
              </a:ext>
            </a:extLst>
          </p:cNvPr>
          <p:cNvSpPr txBox="1">
            <a:spLocks/>
          </p:cNvSpPr>
          <p:nvPr/>
        </p:nvSpPr>
        <p:spPr>
          <a:xfrm>
            <a:off x="620653" y="2552184"/>
            <a:ext cx="3012792" cy="2578612"/>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a:defRPr>
                <a:solidFill>
                  <a:schemeClr val="dk1"/>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A large-sized commercial real estate brokerage company serving clients across the globe. </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Services include Consulting, Property Listing and providing though leadership with Research &amp; Insights in the real estate market</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Having around 20+ sites, supporting 18 languages with 2000+ content pages</a:t>
            </a:r>
          </a:p>
          <a:p>
            <a:pPr marL="0" marR="0" lvl="1" indent="0" algn="l" defTabSz="914400" rtl="0" eaLnBrk="0" fontAlgn="auto" latinLnBrk="0" hangingPunct="0">
              <a:lnSpc>
                <a:spcPct val="100000"/>
              </a:lnSpc>
              <a:spcBef>
                <a:spcPts val="300"/>
              </a:spcBef>
              <a:spcAft>
                <a:spcPts val="300"/>
              </a:spcAft>
              <a:buClr>
                <a:srgbClr val="002F5F"/>
              </a:buClr>
              <a:buSzTx/>
              <a:buNone/>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grpSp>
        <p:nvGrpSpPr>
          <p:cNvPr id="32" name="Group 31">
            <a:extLst>
              <a:ext uri="{FF2B5EF4-FFF2-40B4-BE49-F238E27FC236}">
                <a16:creationId xmlns:a16="http://schemas.microsoft.com/office/drawing/2014/main" id="{97C96150-776A-C24A-E2A1-430ED7552809}"/>
              </a:ext>
            </a:extLst>
          </p:cNvPr>
          <p:cNvGrpSpPr/>
          <p:nvPr/>
        </p:nvGrpSpPr>
        <p:grpSpPr>
          <a:xfrm>
            <a:off x="8250125" y="1462693"/>
            <a:ext cx="361753" cy="412093"/>
            <a:chOff x="2988054" y="3031020"/>
            <a:chExt cx="1468389" cy="1672720"/>
          </a:xfrm>
          <a:noFill/>
        </p:grpSpPr>
        <p:sp>
          <p:nvSpPr>
            <p:cNvPr id="34" name="Freeform: Shape 38">
              <a:extLst>
                <a:ext uri="{FF2B5EF4-FFF2-40B4-BE49-F238E27FC236}">
                  <a16:creationId xmlns:a16="http://schemas.microsoft.com/office/drawing/2014/main" id="{5E47ED60-CA36-355F-C0A9-37325CCAC973}"/>
                </a:ext>
              </a:extLst>
            </p:cNvPr>
            <p:cNvSpPr>
              <a:spLocks/>
            </p:cNvSpPr>
            <p:nvPr/>
          </p:nvSpPr>
          <p:spPr bwMode="auto">
            <a:xfrm>
              <a:off x="3137550" y="3758889"/>
              <a:ext cx="1318893" cy="908616"/>
            </a:xfrm>
            <a:custGeom>
              <a:avLst/>
              <a:gdLst>
                <a:gd name="connsiteX0" fmla="*/ 990006 w 1318889"/>
                <a:gd name="connsiteY0" fmla="*/ 0 h 908614"/>
                <a:gd name="connsiteX1" fmla="*/ 1268292 w 1318889"/>
                <a:gd name="connsiteY1" fmla="*/ 0 h 908614"/>
                <a:gd name="connsiteX2" fmla="*/ 1270592 w 1318889"/>
                <a:gd name="connsiteY2" fmla="*/ 0 h 908614"/>
                <a:gd name="connsiteX3" fmla="*/ 1305090 w 1318889"/>
                <a:gd name="connsiteY3" fmla="*/ 13766 h 908614"/>
                <a:gd name="connsiteX4" fmla="*/ 1318889 w 1318889"/>
                <a:gd name="connsiteY4" fmla="*/ 48181 h 908614"/>
                <a:gd name="connsiteX5" fmla="*/ 1318889 w 1318889"/>
                <a:gd name="connsiteY5" fmla="*/ 50475 h 908614"/>
                <a:gd name="connsiteX6" fmla="*/ 1318889 w 1318889"/>
                <a:gd name="connsiteY6" fmla="*/ 312028 h 908614"/>
                <a:gd name="connsiteX7" fmla="*/ 1272892 w 1318889"/>
                <a:gd name="connsiteY7" fmla="*/ 357915 h 908614"/>
                <a:gd name="connsiteX8" fmla="*/ 1226894 w 1318889"/>
                <a:gd name="connsiteY8" fmla="*/ 312028 h 908614"/>
                <a:gd name="connsiteX9" fmla="*/ 1226894 w 1318889"/>
                <a:gd name="connsiteY9" fmla="*/ 157161 h 908614"/>
                <a:gd name="connsiteX10" fmla="*/ 739319 w 1318889"/>
                <a:gd name="connsiteY10" fmla="*/ 642411 h 908614"/>
                <a:gd name="connsiteX11" fmla="*/ 674923 w 1318889"/>
                <a:gd name="connsiteY11" fmla="*/ 642411 h 908614"/>
                <a:gd name="connsiteX12" fmla="*/ 502432 w 1318889"/>
                <a:gd name="connsiteY12" fmla="*/ 471484 h 908614"/>
                <a:gd name="connsiteX13" fmla="*/ 76839 w 1318889"/>
                <a:gd name="connsiteY13" fmla="*/ 896664 h 908614"/>
                <a:gd name="connsiteX14" fmla="*/ 64877 w 1318889"/>
                <a:gd name="connsiteY14" fmla="*/ 908614 h 908614"/>
                <a:gd name="connsiteX15" fmla="*/ 0 w 1318889"/>
                <a:gd name="connsiteY15" fmla="*/ 843071 h 908614"/>
                <a:gd name="connsiteX16" fmla="*/ 86906 w 1318889"/>
                <a:gd name="connsiteY16" fmla="*/ 756376 h 908614"/>
                <a:gd name="connsiteX17" fmla="*/ 470233 w 1318889"/>
                <a:gd name="connsiteY17" fmla="*/ 373975 h 908614"/>
                <a:gd name="connsiteX18" fmla="*/ 502432 w 1318889"/>
                <a:gd name="connsiteY18" fmla="*/ 361356 h 908614"/>
                <a:gd name="connsiteX19" fmla="*/ 535780 w 1318889"/>
                <a:gd name="connsiteY19" fmla="*/ 373975 h 908614"/>
                <a:gd name="connsiteX20" fmla="*/ 707121 w 1318889"/>
                <a:gd name="connsiteY20" fmla="*/ 544902 h 908614"/>
                <a:gd name="connsiteX21" fmla="*/ 1161347 w 1318889"/>
                <a:gd name="connsiteY21" fmla="*/ 91773 h 908614"/>
                <a:gd name="connsiteX22" fmla="*/ 990006 w 1318889"/>
                <a:gd name="connsiteY22" fmla="*/ 91773 h 908614"/>
                <a:gd name="connsiteX23" fmla="*/ 944009 w 1318889"/>
                <a:gd name="connsiteY23" fmla="*/ 45887 h 908614"/>
                <a:gd name="connsiteX24" fmla="*/ 990006 w 1318889"/>
                <a:gd name="connsiteY24" fmla="*/ 0 h 90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18889" h="908614">
                  <a:moveTo>
                    <a:pt x="990006" y="0"/>
                  </a:moveTo>
                  <a:cubicBezTo>
                    <a:pt x="990006" y="0"/>
                    <a:pt x="990006" y="0"/>
                    <a:pt x="1268292" y="0"/>
                  </a:cubicBezTo>
                  <a:cubicBezTo>
                    <a:pt x="1269442" y="0"/>
                    <a:pt x="1269442" y="0"/>
                    <a:pt x="1270592" y="0"/>
                  </a:cubicBezTo>
                  <a:cubicBezTo>
                    <a:pt x="1283241" y="0"/>
                    <a:pt x="1295890" y="3442"/>
                    <a:pt x="1305090" y="13766"/>
                  </a:cubicBezTo>
                  <a:cubicBezTo>
                    <a:pt x="1314289" y="22943"/>
                    <a:pt x="1318889" y="35562"/>
                    <a:pt x="1318889" y="48181"/>
                  </a:cubicBezTo>
                  <a:cubicBezTo>
                    <a:pt x="1318889" y="49328"/>
                    <a:pt x="1318889" y="49328"/>
                    <a:pt x="1318889" y="50475"/>
                  </a:cubicBezTo>
                  <a:cubicBezTo>
                    <a:pt x="1318889" y="50475"/>
                    <a:pt x="1318889" y="50475"/>
                    <a:pt x="1318889" y="312028"/>
                  </a:cubicBezTo>
                  <a:cubicBezTo>
                    <a:pt x="1318889" y="337266"/>
                    <a:pt x="1298190" y="357915"/>
                    <a:pt x="1272892" y="357915"/>
                  </a:cubicBezTo>
                  <a:cubicBezTo>
                    <a:pt x="1247593" y="357915"/>
                    <a:pt x="1226894" y="337266"/>
                    <a:pt x="1226894" y="312028"/>
                  </a:cubicBezTo>
                  <a:cubicBezTo>
                    <a:pt x="1226894" y="312028"/>
                    <a:pt x="1226894" y="312028"/>
                    <a:pt x="1226894" y="157161"/>
                  </a:cubicBezTo>
                  <a:cubicBezTo>
                    <a:pt x="1226894" y="157161"/>
                    <a:pt x="1226894" y="157161"/>
                    <a:pt x="739319" y="642411"/>
                  </a:cubicBezTo>
                  <a:cubicBezTo>
                    <a:pt x="722070" y="660765"/>
                    <a:pt x="692172" y="660765"/>
                    <a:pt x="674923" y="642411"/>
                  </a:cubicBezTo>
                  <a:cubicBezTo>
                    <a:pt x="674923" y="642411"/>
                    <a:pt x="674923" y="642411"/>
                    <a:pt x="502432" y="471484"/>
                  </a:cubicBezTo>
                  <a:cubicBezTo>
                    <a:pt x="502432" y="471484"/>
                    <a:pt x="502432" y="471484"/>
                    <a:pt x="76839" y="896664"/>
                  </a:cubicBezTo>
                  <a:lnTo>
                    <a:pt x="64877" y="908614"/>
                  </a:lnTo>
                  <a:lnTo>
                    <a:pt x="0" y="843071"/>
                  </a:lnTo>
                  <a:lnTo>
                    <a:pt x="86906" y="756376"/>
                  </a:lnTo>
                  <a:cubicBezTo>
                    <a:pt x="189248" y="654281"/>
                    <a:pt x="315207" y="528627"/>
                    <a:pt x="470233" y="373975"/>
                  </a:cubicBezTo>
                  <a:cubicBezTo>
                    <a:pt x="479433" y="365945"/>
                    <a:pt x="490932" y="361356"/>
                    <a:pt x="502432" y="361356"/>
                  </a:cubicBezTo>
                  <a:cubicBezTo>
                    <a:pt x="515081" y="361356"/>
                    <a:pt x="526580" y="365945"/>
                    <a:pt x="535780" y="373975"/>
                  </a:cubicBezTo>
                  <a:cubicBezTo>
                    <a:pt x="535780" y="373975"/>
                    <a:pt x="535780" y="373975"/>
                    <a:pt x="707121" y="544902"/>
                  </a:cubicBezTo>
                  <a:cubicBezTo>
                    <a:pt x="707121" y="544902"/>
                    <a:pt x="707121" y="544902"/>
                    <a:pt x="1161347" y="91773"/>
                  </a:cubicBezTo>
                  <a:cubicBezTo>
                    <a:pt x="1161347" y="91773"/>
                    <a:pt x="1161347" y="91773"/>
                    <a:pt x="990006" y="91773"/>
                  </a:cubicBezTo>
                  <a:cubicBezTo>
                    <a:pt x="964708" y="91773"/>
                    <a:pt x="944009" y="71124"/>
                    <a:pt x="944009" y="45887"/>
                  </a:cubicBezTo>
                  <a:cubicBezTo>
                    <a:pt x="944009" y="20649"/>
                    <a:pt x="964708" y="0"/>
                    <a:pt x="99000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5" name="Freeform 52">
              <a:extLst>
                <a:ext uri="{FF2B5EF4-FFF2-40B4-BE49-F238E27FC236}">
                  <a16:creationId xmlns:a16="http://schemas.microsoft.com/office/drawing/2014/main" id="{EF943DE9-82D3-EA8E-758E-1C0E951EDC96}"/>
                </a:ext>
              </a:extLst>
            </p:cNvPr>
            <p:cNvSpPr>
              <a:spLocks/>
            </p:cNvSpPr>
            <p:nvPr/>
          </p:nvSpPr>
          <p:spPr bwMode="auto">
            <a:xfrm>
              <a:off x="3571839" y="4324566"/>
              <a:ext cx="139793" cy="280514"/>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nvGrpSpPr>
            <p:cNvPr id="36" name="Group 35">
              <a:extLst>
                <a:ext uri="{FF2B5EF4-FFF2-40B4-BE49-F238E27FC236}">
                  <a16:creationId xmlns:a16="http://schemas.microsoft.com/office/drawing/2014/main" id="{68EC00BD-D64E-18D2-2141-79A582CA7CFA}"/>
                </a:ext>
              </a:extLst>
            </p:cNvPr>
            <p:cNvGrpSpPr/>
            <p:nvPr/>
          </p:nvGrpSpPr>
          <p:grpSpPr>
            <a:xfrm>
              <a:off x="2988054" y="3031020"/>
              <a:ext cx="1103900" cy="1308733"/>
              <a:chOff x="1598613" y="2660650"/>
              <a:chExt cx="1616214" cy="1916112"/>
            </a:xfrm>
            <a:grpFill/>
          </p:grpSpPr>
          <p:sp>
            <p:nvSpPr>
              <p:cNvPr id="39" name="Freeform 5">
                <a:extLst>
                  <a:ext uri="{FF2B5EF4-FFF2-40B4-BE49-F238E27FC236}">
                    <a16:creationId xmlns:a16="http://schemas.microsoft.com/office/drawing/2014/main" id="{6670AF94-748F-FE57-D5EA-B30F8A3C3A75}"/>
                  </a:ext>
                </a:extLst>
              </p:cNvPr>
              <p:cNvSpPr>
                <a:spLocks/>
              </p:cNvSpPr>
              <p:nvPr/>
            </p:nvSpPr>
            <p:spPr bwMode="auto">
              <a:xfrm>
                <a:off x="2716214" y="3876675"/>
                <a:ext cx="498613" cy="531146"/>
              </a:xfrm>
              <a:custGeom>
                <a:avLst/>
                <a:gdLst>
                  <a:gd name="T0" fmla="*/ 107 w 488"/>
                  <a:gd name="T1" fmla="*/ 0 h 517"/>
                  <a:gd name="T2" fmla="*/ 185 w 488"/>
                  <a:gd name="T3" fmla="*/ 229 h 517"/>
                  <a:gd name="T4" fmla="*/ 76 w 488"/>
                  <a:gd name="T5" fmla="*/ 221 h 517"/>
                  <a:gd name="T6" fmla="*/ 0 w 488"/>
                  <a:gd name="T7" fmla="*/ 315 h 517"/>
                  <a:gd name="T8" fmla="*/ 17 w 488"/>
                  <a:gd name="T9" fmla="*/ 332 h 517"/>
                  <a:gd name="T10" fmla="*/ 202 w 488"/>
                  <a:gd name="T11" fmla="*/ 517 h 517"/>
                  <a:gd name="T12" fmla="*/ 334 w 488"/>
                  <a:gd name="T13" fmla="*/ 384 h 517"/>
                  <a:gd name="T14" fmla="*/ 387 w 488"/>
                  <a:gd name="T15" fmla="*/ 332 h 517"/>
                  <a:gd name="T16" fmla="*/ 408 w 488"/>
                  <a:gd name="T17" fmla="*/ 311 h 517"/>
                  <a:gd name="T18" fmla="*/ 488 w 488"/>
                  <a:gd name="T19" fmla="*/ 231 h 517"/>
                  <a:gd name="T20" fmla="*/ 394 w 488"/>
                  <a:gd name="T21" fmla="*/ 144 h 517"/>
                  <a:gd name="T22" fmla="*/ 149 w 488"/>
                  <a:gd name="T23" fmla="*/ 23 h 517"/>
                  <a:gd name="T24" fmla="*/ 107 w 488"/>
                  <a:gd name="T25" fmla="*/ 0 h 517"/>
                  <a:gd name="connsiteX0" fmla="*/ 2193 w 8361"/>
                  <a:gd name="connsiteY0" fmla="*/ 0 h 10000"/>
                  <a:gd name="connsiteX1" fmla="*/ 3791 w 8361"/>
                  <a:gd name="connsiteY1" fmla="*/ 4429 h 10000"/>
                  <a:gd name="connsiteX2" fmla="*/ 1557 w 8361"/>
                  <a:gd name="connsiteY2" fmla="*/ 4275 h 10000"/>
                  <a:gd name="connsiteX3" fmla="*/ 0 w 8361"/>
                  <a:gd name="connsiteY3" fmla="*/ 6093 h 10000"/>
                  <a:gd name="connsiteX4" fmla="*/ 348 w 8361"/>
                  <a:gd name="connsiteY4" fmla="*/ 6422 h 10000"/>
                  <a:gd name="connsiteX5" fmla="*/ 4139 w 8361"/>
                  <a:gd name="connsiteY5" fmla="*/ 10000 h 10000"/>
                  <a:gd name="connsiteX6" fmla="*/ 6844 w 8361"/>
                  <a:gd name="connsiteY6" fmla="*/ 7427 h 10000"/>
                  <a:gd name="connsiteX7" fmla="*/ 7930 w 8361"/>
                  <a:gd name="connsiteY7" fmla="*/ 6422 h 10000"/>
                  <a:gd name="connsiteX8" fmla="*/ 8361 w 8361"/>
                  <a:gd name="connsiteY8" fmla="*/ 6015 h 10000"/>
                  <a:gd name="connsiteX9" fmla="*/ 8074 w 8361"/>
                  <a:gd name="connsiteY9" fmla="*/ 2785 h 10000"/>
                  <a:gd name="connsiteX10" fmla="*/ 3053 w 8361"/>
                  <a:gd name="connsiteY10" fmla="*/ 445 h 10000"/>
                  <a:gd name="connsiteX11" fmla="*/ 2193 w 8361"/>
                  <a:gd name="connsiteY11" fmla="*/ 0 h 10000"/>
                  <a:gd name="connsiteX0" fmla="*/ 2623 w 9657"/>
                  <a:gd name="connsiteY0" fmla="*/ 0 h 10000"/>
                  <a:gd name="connsiteX1" fmla="*/ 4534 w 9657"/>
                  <a:gd name="connsiteY1" fmla="*/ 4429 h 10000"/>
                  <a:gd name="connsiteX2" fmla="*/ 1862 w 9657"/>
                  <a:gd name="connsiteY2" fmla="*/ 4275 h 10000"/>
                  <a:gd name="connsiteX3" fmla="*/ 0 w 9657"/>
                  <a:gd name="connsiteY3" fmla="*/ 6093 h 10000"/>
                  <a:gd name="connsiteX4" fmla="*/ 416 w 9657"/>
                  <a:gd name="connsiteY4" fmla="*/ 6422 h 10000"/>
                  <a:gd name="connsiteX5" fmla="*/ 4950 w 9657"/>
                  <a:gd name="connsiteY5" fmla="*/ 10000 h 10000"/>
                  <a:gd name="connsiteX6" fmla="*/ 8186 w 9657"/>
                  <a:gd name="connsiteY6" fmla="*/ 7427 h 10000"/>
                  <a:gd name="connsiteX7" fmla="*/ 9485 w 9657"/>
                  <a:gd name="connsiteY7" fmla="*/ 6422 h 10000"/>
                  <a:gd name="connsiteX8" fmla="*/ 9657 w 9657"/>
                  <a:gd name="connsiteY8" fmla="*/ 2785 h 10000"/>
                  <a:gd name="connsiteX9" fmla="*/ 3651 w 9657"/>
                  <a:gd name="connsiteY9" fmla="*/ 445 h 10000"/>
                  <a:gd name="connsiteX10" fmla="*/ 2623 w 9657"/>
                  <a:gd name="connsiteY10"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8477 w 10000"/>
                  <a:gd name="connsiteY6" fmla="*/ 7427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5126 w 10000"/>
                  <a:gd name="connsiteY5" fmla="*/ 10000 h 10000"/>
                  <a:gd name="connsiteX6" fmla="*/ 10000 w 10000"/>
                  <a:gd name="connsiteY6" fmla="*/ 2785 h 10000"/>
                  <a:gd name="connsiteX7" fmla="*/ 3781 w 10000"/>
                  <a:gd name="connsiteY7" fmla="*/ 445 h 10000"/>
                  <a:gd name="connsiteX8" fmla="*/ 2716 w 10000"/>
                  <a:gd name="connsiteY8" fmla="*/ 0 h 10000"/>
                  <a:gd name="connsiteX0" fmla="*/ 2716 w 10000"/>
                  <a:gd name="connsiteY0" fmla="*/ 0 h 10000"/>
                  <a:gd name="connsiteX1" fmla="*/ 4695 w 10000"/>
                  <a:gd name="connsiteY1" fmla="*/ 4429 h 10000"/>
                  <a:gd name="connsiteX2" fmla="*/ 1928 w 10000"/>
                  <a:gd name="connsiteY2" fmla="*/ 4275 h 10000"/>
                  <a:gd name="connsiteX3" fmla="*/ 0 w 10000"/>
                  <a:gd name="connsiteY3" fmla="*/ 6093 h 10000"/>
                  <a:gd name="connsiteX4" fmla="*/ 431 w 10000"/>
                  <a:gd name="connsiteY4" fmla="*/ 6422 h 10000"/>
                  <a:gd name="connsiteX5" fmla="*/ 3399 w 10000"/>
                  <a:gd name="connsiteY5" fmla="*/ 8675 h 10000"/>
                  <a:gd name="connsiteX6" fmla="*/ 5126 w 10000"/>
                  <a:gd name="connsiteY6" fmla="*/ 10000 h 10000"/>
                  <a:gd name="connsiteX7" fmla="*/ 10000 w 10000"/>
                  <a:gd name="connsiteY7" fmla="*/ 2785 h 10000"/>
                  <a:gd name="connsiteX8" fmla="*/ 3781 w 10000"/>
                  <a:gd name="connsiteY8" fmla="*/ 445 h 10000"/>
                  <a:gd name="connsiteX9" fmla="*/ 2716 w 10000"/>
                  <a:gd name="connsiteY9" fmla="*/ 0 h 10000"/>
                  <a:gd name="connsiteX0" fmla="*/ 2716 w 10000"/>
                  <a:gd name="connsiteY0" fmla="*/ 0 h 8675"/>
                  <a:gd name="connsiteX1" fmla="*/ 4695 w 10000"/>
                  <a:gd name="connsiteY1" fmla="*/ 4429 h 8675"/>
                  <a:gd name="connsiteX2" fmla="*/ 1928 w 10000"/>
                  <a:gd name="connsiteY2" fmla="*/ 4275 h 8675"/>
                  <a:gd name="connsiteX3" fmla="*/ 0 w 10000"/>
                  <a:gd name="connsiteY3" fmla="*/ 6093 h 8675"/>
                  <a:gd name="connsiteX4" fmla="*/ 431 w 10000"/>
                  <a:gd name="connsiteY4" fmla="*/ 6422 h 8675"/>
                  <a:gd name="connsiteX5" fmla="*/ 3399 w 10000"/>
                  <a:gd name="connsiteY5" fmla="*/ 8675 h 8675"/>
                  <a:gd name="connsiteX6" fmla="*/ 10000 w 10000"/>
                  <a:gd name="connsiteY6" fmla="*/ 2785 h 8675"/>
                  <a:gd name="connsiteX7" fmla="*/ 3781 w 10000"/>
                  <a:gd name="connsiteY7" fmla="*/ 445 h 8675"/>
                  <a:gd name="connsiteX8" fmla="*/ 2716 w 10000"/>
                  <a:gd name="connsiteY8" fmla="*/ 0 h 8675"/>
                  <a:gd name="connsiteX0" fmla="*/ 2716 w 10000"/>
                  <a:gd name="connsiteY0" fmla="*/ 0 h 9384"/>
                  <a:gd name="connsiteX1" fmla="*/ 4695 w 10000"/>
                  <a:gd name="connsiteY1" fmla="*/ 5105 h 9384"/>
                  <a:gd name="connsiteX2" fmla="*/ 1928 w 10000"/>
                  <a:gd name="connsiteY2" fmla="*/ 4928 h 9384"/>
                  <a:gd name="connsiteX3" fmla="*/ 0 w 10000"/>
                  <a:gd name="connsiteY3" fmla="*/ 7024 h 9384"/>
                  <a:gd name="connsiteX4" fmla="*/ 431 w 10000"/>
                  <a:gd name="connsiteY4" fmla="*/ 7403 h 9384"/>
                  <a:gd name="connsiteX5" fmla="*/ 2979 w 10000"/>
                  <a:gd name="connsiteY5" fmla="*/ 9384 h 9384"/>
                  <a:gd name="connsiteX6" fmla="*/ 10000 w 10000"/>
                  <a:gd name="connsiteY6" fmla="*/ 3210 h 9384"/>
                  <a:gd name="connsiteX7" fmla="*/ 3781 w 10000"/>
                  <a:gd name="connsiteY7" fmla="*/ 513 h 9384"/>
                  <a:gd name="connsiteX8" fmla="*/ 2716 w 10000"/>
                  <a:gd name="connsiteY8" fmla="*/ 0 h 9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9384">
                    <a:moveTo>
                      <a:pt x="2716" y="0"/>
                    </a:moveTo>
                    <a:lnTo>
                      <a:pt x="4695" y="5105"/>
                    </a:lnTo>
                    <a:lnTo>
                      <a:pt x="1928" y="4928"/>
                    </a:lnTo>
                    <a:lnTo>
                      <a:pt x="0" y="7024"/>
                    </a:lnTo>
                    <a:cubicBezTo>
                      <a:pt x="144" y="7150"/>
                      <a:pt x="-65" y="7010"/>
                      <a:pt x="431" y="7403"/>
                    </a:cubicBezTo>
                    <a:cubicBezTo>
                      <a:pt x="927" y="7796"/>
                      <a:pt x="2130" y="8724"/>
                      <a:pt x="2979" y="9384"/>
                    </a:cubicBezTo>
                    <a:lnTo>
                      <a:pt x="10000" y="3210"/>
                    </a:lnTo>
                    <a:lnTo>
                      <a:pt x="3781" y="513"/>
                    </a:lnTo>
                    <a:cubicBezTo>
                      <a:pt x="3425" y="356"/>
                      <a:pt x="3071" y="179"/>
                      <a:pt x="2716" y="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0" name="Freeform 6">
                <a:extLst>
                  <a:ext uri="{FF2B5EF4-FFF2-40B4-BE49-F238E27FC236}">
                    <a16:creationId xmlns:a16="http://schemas.microsoft.com/office/drawing/2014/main" id="{C0C0A9ED-CE2B-58D8-5123-9AB0A6A6C712}"/>
                  </a:ext>
                </a:extLst>
              </p:cNvPr>
              <p:cNvSpPr>
                <a:spLocks/>
              </p:cNvSpPr>
              <p:nvPr/>
            </p:nvSpPr>
            <p:spPr bwMode="auto">
              <a:xfrm>
                <a:off x="1598613" y="3876675"/>
                <a:ext cx="704850" cy="700087"/>
              </a:xfrm>
              <a:custGeom>
                <a:avLst/>
                <a:gdLst>
                  <a:gd name="T0" fmla="*/ 483 w 557"/>
                  <a:gd name="T1" fmla="*/ 221 h 554"/>
                  <a:gd name="T2" fmla="*/ 374 w 557"/>
                  <a:gd name="T3" fmla="*/ 229 h 554"/>
                  <a:gd name="T4" fmla="*/ 453 w 557"/>
                  <a:gd name="T5" fmla="*/ 0 h 554"/>
                  <a:gd name="T6" fmla="*/ 404 w 557"/>
                  <a:gd name="T7" fmla="*/ 26 h 554"/>
                  <a:gd name="T8" fmla="*/ 165 w 557"/>
                  <a:gd name="T9" fmla="*/ 144 h 554"/>
                  <a:gd name="T10" fmla="*/ 42 w 557"/>
                  <a:gd name="T11" fmla="*/ 306 h 554"/>
                  <a:gd name="T12" fmla="*/ 3 w 557"/>
                  <a:gd name="T13" fmla="*/ 523 h 554"/>
                  <a:gd name="T14" fmla="*/ 29 w 557"/>
                  <a:gd name="T15" fmla="*/ 554 h 554"/>
                  <a:gd name="T16" fmla="*/ 316 w 557"/>
                  <a:gd name="T17" fmla="*/ 554 h 554"/>
                  <a:gd name="T18" fmla="*/ 557 w 557"/>
                  <a:gd name="T19" fmla="*/ 312 h 554"/>
                  <a:gd name="T20" fmla="*/ 483 w 557"/>
                  <a:gd name="T21" fmla="*/ 221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7" h="554">
                    <a:moveTo>
                      <a:pt x="483" y="221"/>
                    </a:moveTo>
                    <a:cubicBezTo>
                      <a:pt x="374" y="229"/>
                      <a:pt x="374" y="229"/>
                      <a:pt x="374" y="229"/>
                    </a:cubicBezTo>
                    <a:cubicBezTo>
                      <a:pt x="453" y="0"/>
                      <a:pt x="453" y="0"/>
                      <a:pt x="453" y="0"/>
                    </a:cubicBezTo>
                    <a:cubicBezTo>
                      <a:pt x="404" y="26"/>
                      <a:pt x="404" y="26"/>
                      <a:pt x="404" y="26"/>
                    </a:cubicBezTo>
                    <a:cubicBezTo>
                      <a:pt x="165" y="144"/>
                      <a:pt x="165" y="144"/>
                      <a:pt x="165" y="144"/>
                    </a:cubicBezTo>
                    <a:cubicBezTo>
                      <a:pt x="101" y="176"/>
                      <a:pt x="55" y="236"/>
                      <a:pt x="42" y="306"/>
                    </a:cubicBezTo>
                    <a:cubicBezTo>
                      <a:pt x="3" y="523"/>
                      <a:pt x="3" y="523"/>
                      <a:pt x="3" y="523"/>
                    </a:cubicBezTo>
                    <a:cubicBezTo>
                      <a:pt x="0" y="539"/>
                      <a:pt x="12" y="554"/>
                      <a:pt x="29" y="554"/>
                    </a:cubicBezTo>
                    <a:cubicBezTo>
                      <a:pt x="316" y="554"/>
                      <a:pt x="316" y="554"/>
                      <a:pt x="316" y="554"/>
                    </a:cubicBezTo>
                    <a:cubicBezTo>
                      <a:pt x="557" y="312"/>
                      <a:pt x="557" y="312"/>
                      <a:pt x="557" y="312"/>
                    </a:cubicBezTo>
                    <a:lnTo>
                      <a:pt x="483" y="221"/>
                    </a:ln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2" name="Freeform 7">
                <a:extLst>
                  <a:ext uri="{FF2B5EF4-FFF2-40B4-BE49-F238E27FC236}">
                    <a16:creationId xmlns:a16="http://schemas.microsoft.com/office/drawing/2014/main" id="{D717BA3B-1741-A51D-9A9C-45086EB8CB50}"/>
                  </a:ext>
                </a:extLst>
              </p:cNvPr>
              <p:cNvSpPr>
                <a:spLocks/>
              </p:cNvSpPr>
              <p:nvPr/>
            </p:nvSpPr>
            <p:spPr bwMode="auto">
              <a:xfrm>
                <a:off x="2016267" y="3050097"/>
                <a:ext cx="996526" cy="1140903"/>
              </a:xfrm>
              <a:custGeom>
                <a:avLst/>
                <a:gdLst>
                  <a:gd name="T0" fmla="*/ 332 w 1050"/>
                  <a:gd name="T1" fmla="*/ 1047 h 1422"/>
                  <a:gd name="T2" fmla="*/ 332 w 1050"/>
                  <a:gd name="T3" fmla="*/ 1119 h 1422"/>
                  <a:gd name="T4" fmla="*/ 435 w 1050"/>
                  <a:gd name="T5" fmla="*/ 1419 h 1422"/>
                  <a:gd name="T6" fmla="*/ 525 w 1050"/>
                  <a:gd name="T7" fmla="*/ 1392 h 1422"/>
                  <a:gd name="T8" fmla="*/ 619 w 1050"/>
                  <a:gd name="T9" fmla="*/ 1422 h 1422"/>
                  <a:gd name="T10" fmla="*/ 722 w 1050"/>
                  <a:gd name="T11" fmla="*/ 1121 h 1422"/>
                  <a:gd name="T12" fmla="*/ 722 w 1050"/>
                  <a:gd name="T13" fmla="*/ 1116 h 1422"/>
                  <a:gd name="T14" fmla="*/ 722 w 1050"/>
                  <a:gd name="T15" fmla="*/ 1116 h 1422"/>
                  <a:gd name="T16" fmla="*/ 722 w 1050"/>
                  <a:gd name="T17" fmla="*/ 1045 h 1422"/>
                  <a:gd name="T18" fmla="*/ 1050 w 1050"/>
                  <a:gd name="T19" fmla="*/ 944 h 1422"/>
                  <a:gd name="T20" fmla="*/ 924 w 1050"/>
                  <a:gd name="T21" fmla="*/ 621 h 1422"/>
                  <a:gd name="T22" fmla="*/ 665 w 1050"/>
                  <a:gd name="T23" fmla="*/ 117 h 1422"/>
                  <a:gd name="T24" fmla="*/ 373 w 1050"/>
                  <a:gd name="T25" fmla="*/ 74 h 1422"/>
                  <a:gd name="T26" fmla="*/ 137 w 1050"/>
                  <a:gd name="T27" fmla="*/ 550 h 1422"/>
                  <a:gd name="T28" fmla="*/ 0 w 1050"/>
                  <a:gd name="T29" fmla="*/ 940 h 1422"/>
                  <a:gd name="T30" fmla="*/ 332 w 1050"/>
                  <a:gd name="T31" fmla="*/ 1047 h 1422"/>
                  <a:gd name="connsiteX0" fmla="*/ 3162 w 8856"/>
                  <a:gd name="connsiteY0" fmla="*/ 7016 h 9653"/>
                  <a:gd name="connsiteX1" fmla="*/ 3162 w 8856"/>
                  <a:gd name="connsiteY1" fmla="*/ 7522 h 9653"/>
                  <a:gd name="connsiteX2" fmla="*/ 4143 w 8856"/>
                  <a:gd name="connsiteY2" fmla="*/ 9632 h 9653"/>
                  <a:gd name="connsiteX3" fmla="*/ 5000 w 8856"/>
                  <a:gd name="connsiteY3" fmla="*/ 9442 h 9653"/>
                  <a:gd name="connsiteX4" fmla="*/ 5895 w 8856"/>
                  <a:gd name="connsiteY4" fmla="*/ 9653 h 9653"/>
                  <a:gd name="connsiteX5" fmla="*/ 6876 w 8856"/>
                  <a:gd name="connsiteY5" fmla="*/ 7536 h 9653"/>
                  <a:gd name="connsiteX6" fmla="*/ 6876 w 8856"/>
                  <a:gd name="connsiteY6" fmla="*/ 7501 h 9653"/>
                  <a:gd name="connsiteX7" fmla="*/ 6876 w 8856"/>
                  <a:gd name="connsiteY7" fmla="*/ 7501 h 9653"/>
                  <a:gd name="connsiteX8" fmla="*/ 6876 w 8856"/>
                  <a:gd name="connsiteY8" fmla="*/ 7002 h 9653"/>
                  <a:gd name="connsiteX9" fmla="*/ 8800 w 8856"/>
                  <a:gd name="connsiteY9" fmla="*/ 4020 h 9653"/>
                  <a:gd name="connsiteX10" fmla="*/ 6333 w 8856"/>
                  <a:gd name="connsiteY10" fmla="*/ 476 h 9653"/>
                  <a:gd name="connsiteX11" fmla="*/ 3552 w 8856"/>
                  <a:gd name="connsiteY11" fmla="*/ 173 h 9653"/>
                  <a:gd name="connsiteX12" fmla="*/ 1305 w 8856"/>
                  <a:gd name="connsiteY12" fmla="*/ 3521 h 9653"/>
                  <a:gd name="connsiteX13" fmla="*/ 0 w 8856"/>
                  <a:gd name="connsiteY13" fmla="*/ 6263 h 9653"/>
                  <a:gd name="connsiteX14" fmla="*/ 3162 w 8856"/>
                  <a:gd name="connsiteY14" fmla="*/ 7016 h 9653"/>
                  <a:gd name="connsiteX0" fmla="*/ 2100 w 8530"/>
                  <a:gd name="connsiteY0" fmla="*/ 7268 h 10000"/>
                  <a:gd name="connsiteX1" fmla="*/ 2100 w 8530"/>
                  <a:gd name="connsiteY1" fmla="*/ 7792 h 10000"/>
                  <a:gd name="connsiteX2" fmla="*/ 3208 w 8530"/>
                  <a:gd name="connsiteY2" fmla="*/ 9978 h 10000"/>
                  <a:gd name="connsiteX3" fmla="*/ 4176 w 8530"/>
                  <a:gd name="connsiteY3" fmla="*/ 9781 h 10000"/>
                  <a:gd name="connsiteX4" fmla="*/ 5187 w 8530"/>
                  <a:gd name="connsiteY4" fmla="*/ 10000 h 10000"/>
                  <a:gd name="connsiteX5" fmla="*/ 6294 w 8530"/>
                  <a:gd name="connsiteY5" fmla="*/ 7807 h 10000"/>
                  <a:gd name="connsiteX6" fmla="*/ 6294 w 8530"/>
                  <a:gd name="connsiteY6" fmla="*/ 7771 h 10000"/>
                  <a:gd name="connsiteX7" fmla="*/ 6294 w 8530"/>
                  <a:gd name="connsiteY7" fmla="*/ 7771 h 10000"/>
                  <a:gd name="connsiteX8" fmla="*/ 6294 w 8530"/>
                  <a:gd name="connsiteY8" fmla="*/ 7254 h 10000"/>
                  <a:gd name="connsiteX9" fmla="*/ 8467 w 8530"/>
                  <a:gd name="connsiteY9" fmla="*/ 4165 h 10000"/>
                  <a:gd name="connsiteX10" fmla="*/ 5681 w 8530"/>
                  <a:gd name="connsiteY10" fmla="*/ 493 h 10000"/>
                  <a:gd name="connsiteX11" fmla="*/ 2541 w 8530"/>
                  <a:gd name="connsiteY11" fmla="*/ 179 h 10000"/>
                  <a:gd name="connsiteX12" fmla="*/ 4 w 8530"/>
                  <a:gd name="connsiteY12" fmla="*/ 3648 h 10000"/>
                  <a:gd name="connsiteX13" fmla="*/ 2100 w 8530"/>
                  <a:gd name="connsiteY13" fmla="*/ 7268 h 10000"/>
                  <a:gd name="connsiteX0" fmla="*/ 2463 w 9931"/>
                  <a:gd name="connsiteY0" fmla="*/ 7096 h 9828"/>
                  <a:gd name="connsiteX1" fmla="*/ 2463 w 9931"/>
                  <a:gd name="connsiteY1" fmla="*/ 7620 h 9828"/>
                  <a:gd name="connsiteX2" fmla="*/ 3762 w 9931"/>
                  <a:gd name="connsiteY2" fmla="*/ 9806 h 9828"/>
                  <a:gd name="connsiteX3" fmla="*/ 4897 w 9931"/>
                  <a:gd name="connsiteY3" fmla="*/ 9609 h 9828"/>
                  <a:gd name="connsiteX4" fmla="*/ 6082 w 9931"/>
                  <a:gd name="connsiteY4" fmla="*/ 9828 h 9828"/>
                  <a:gd name="connsiteX5" fmla="*/ 7380 w 9931"/>
                  <a:gd name="connsiteY5" fmla="*/ 7635 h 9828"/>
                  <a:gd name="connsiteX6" fmla="*/ 7380 w 9931"/>
                  <a:gd name="connsiteY6" fmla="*/ 7599 h 9828"/>
                  <a:gd name="connsiteX7" fmla="*/ 7380 w 9931"/>
                  <a:gd name="connsiteY7" fmla="*/ 7599 h 9828"/>
                  <a:gd name="connsiteX8" fmla="*/ 7380 w 9931"/>
                  <a:gd name="connsiteY8" fmla="*/ 7082 h 9828"/>
                  <a:gd name="connsiteX9" fmla="*/ 9927 w 9931"/>
                  <a:gd name="connsiteY9" fmla="*/ 3993 h 9828"/>
                  <a:gd name="connsiteX10" fmla="*/ 2980 w 9931"/>
                  <a:gd name="connsiteY10" fmla="*/ 7 h 9828"/>
                  <a:gd name="connsiteX11" fmla="*/ 6 w 9931"/>
                  <a:gd name="connsiteY11" fmla="*/ 3476 h 9828"/>
                  <a:gd name="connsiteX12" fmla="*/ 2463 w 9931"/>
                  <a:gd name="connsiteY12" fmla="*/ 7096 h 9828"/>
                  <a:gd name="connsiteX0" fmla="*/ 2477 w 9997"/>
                  <a:gd name="connsiteY0" fmla="*/ 3918 h 6698"/>
                  <a:gd name="connsiteX1" fmla="*/ 2477 w 9997"/>
                  <a:gd name="connsiteY1" fmla="*/ 4451 h 6698"/>
                  <a:gd name="connsiteX2" fmla="*/ 3785 w 9997"/>
                  <a:gd name="connsiteY2" fmla="*/ 6676 h 6698"/>
                  <a:gd name="connsiteX3" fmla="*/ 4928 w 9997"/>
                  <a:gd name="connsiteY3" fmla="*/ 6475 h 6698"/>
                  <a:gd name="connsiteX4" fmla="*/ 6121 w 9997"/>
                  <a:gd name="connsiteY4" fmla="*/ 6698 h 6698"/>
                  <a:gd name="connsiteX5" fmla="*/ 7428 w 9997"/>
                  <a:gd name="connsiteY5" fmla="*/ 4467 h 6698"/>
                  <a:gd name="connsiteX6" fmla="*/ 7428 w 9997"/>
                  <a:gd name="connsiteY6" fmla="*/ 4430 h 6698"/>
                  <a:gd name="connsiteX7" fmla="*/ 7428 w 9997"/>
                  <a:gd name="connsiteY7" fmla="*/ 4430 h 6698"/>
                  <a:gd name="connsiteX8" fmla="*/ 7428 w 9997"/>
                  <a:gd name="connsiteY8" fmla="*/ 3904 h 6698"/>
                  <a:gd name="connsiteX9" fmla="*/ 9993 w 9997"/>
                  <a:gd name="connsiteY9" fmla="*/ 761 h 6698"/>
                  <a:gd name="connsiteX10" fmla="*/ 3 w 9997"/>
                  <a:gd name="connsiteY10" fmla="*/ 235 h 6698"/>
                  <a:gd name="connsiteX11" fmla="*/ 2477 w 9997"/>
                  <a:gd name="connsiteY11" fmla="*/ 3918 h 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7" h="6698">
                    <a:moveTo>
                      <a:pt x="2477" y="3918"/>
                    </a:moveTo>
                    <a:lnTo>
                      <a:pt x="2477" y="4451"/>
                    </a:lnTo>
                    <a:lnTo>
                      <a:pt x="3785" y="6676"/>
                    </a:lnTo>
                    <a:cubicBezTo>
                      <a:pt x="4114" y="6549"/>
                      <a:pt x="4520" y="6475"/>
                      <a:pt x="4928" y="6475"/>
                    </a:cubicBezTo>
                    <a:cubicBezTo>
                      <a:pt x="5360" y="6475"/>
                      <a:pt x="5778" y="6549"/>
                      <a:pt x="6121" y="6698"/>
                    </a:cubicBezTo>
                    <a:lnTo>
                      <a:pt x="7428" y="4467"/>
                    </a:lnTo>
                    <a:lnTo>
                      <a:pt x="7428" y="4430"/>
                    </a:lnTo>
                    <a:lnTo>
                      <a:pt x="7428" y="4430"/>
                    </a:lnTo>
                    <a:cubicBezTo>
                      <a:pt x="7428" y="3904"/>
                      <a:pt x="7000" y="4515"/>
                      <a:pt x="7428" y="3904"/>
                    </a:cubicBezTo>
                    <a:cubicBezTo>
                      <a:pt x="7856" y="3292"/>
                      <a:pt x="10115" y="1908"/>
                      <a:pt x="9993" y="761"/>
                    </a:cubicBezTo>
                    <a:cubicBezTo>
                      <a:pt x="8755" y="149"/>
                      <a:pt x="1256" y="-291"/>
                      <a:pt x="3" y="235"/>
                    </a:cubicBezTo>
                    <a:cubicBezTo>
                      <a:pt x="-84" y="1437"/>
                      <a:pt x="2065" y="3215"/>
                      <a:pt x="2477" y="3918"/>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3" name="Oval 42">
                <a:extLst>
                  <a:ext uri="{FF2B5EF4-FFF2-40B4-BE49-F238E27FC236}">
                    <a16:creationId xmlns:a16="http://schemas.microsoft.com/office/drawing/2014/main" id="{200FC03C-4322-D9E1-E02C-F1970AADAE8A}"/>
                  </a:ext>
                </a:extLst>
              </p:cNvPr>
              <p:cNvSpPr>
                <a:spLocks noChangeArrowheads="1"/>
              </p:cNvSpPr>
              <p:nvPr/>
            </p:nvSpPr>
            <p:spPr bwMode="auto">
              <a:xfrm>
                <a:off x="1998663" y="2660650"/>
                <a:ext cx="1023029" cy="1025525"/>
              </a:xfrm>
              <a:prstGeom prst="ellips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37" name="Freeform 52">
              <a:extLst>
                <a:ext uri="{FF2B5EF4-FFF2-40B4-BE49-F238E27FC236}">
                  <a16:creationId xmlns:a16="http://schemas.microsoft.com/office/drawing/2014/main" id="{688E4DB1-A0AB-1CF1-8439-0FB85759052B}"/>
                </a:ext>
              </a:extLst>
            </p:cNvPr>
            <p:cNvSpPr>
              <a:spLocks/>
            </p:cNvSpPr>
            <p:nvPr/>
          </p:nvSpPr>
          <p:spPr bwMode="auto">
            <a:xfrm>
              <a:off x="4173128" y="4107704"/>
              <a:ext cx="204669" cy="410698"/>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38" name="Freeform 52">
              <a:extLst>
                <a:ext uri="{FF2B5EF4-FFF2-40B4-BE49-F238E27FC236}">
                  <a16:creationId xmlns:a16="http://schemas.microsoft.com/office/drawing/2014/main" id="{947FBFCC-A15A-1756-386A-A2301C6185F8}"/>
                </a:ext>
              </a:extLst>
            </p:cNvPr>
            <p:cNvSpPr>
              <a:spLocks/>
            </p:cNvSpPr>
            <p:nvPr/>
          </p:nvSpPr>
          <p:spPr bwMode="auto">
            <a:xfrm>
              <a:off x="3912751" y="4364320"/>
              <a:ext cx="169149" cy="339420"/>
            </a:xfrm>
            <a:custGeom>
              <a:avLst/>
              <a:gdLst>
                <a:gd name="T0" fmla="*/ 117 w 196"/>
                <a:gd name="T1" fmla="*/ 170 h 398"/>
                <a:gd name="T2" fmla="*/ 62 w 196"/>
                <a:gd name="T3" fmla="*/ 124 h 398"/>
                <a:gd name="T4" fmla="*/ 105 w 196"/>
                <a:gd name="T5" fmla="*/ 92 h 398"/>
                <a:gd name="T6" fmla="*/ 155 w 196"/>
                <a:gd name="T7" fmla="*/ 103 h 398"/>
                <a:gd name="T8" fmla="*/ 162 w 196"/>
                <a:gd name="T9" fmla="*/ 105 h 398"/>
                <a:gd name="T10" fmla="*/ 176 w 196"/>
                <a:gd name="T11" fmla="*/ 96 h 398"/>
                <a:gd name="T12" fmla="*/ 184 w 196"/>
                <a:gd name="T13" fmla="*/ 76 h 398"/>
                <a:gd name="T14" fmla="*/ 177 w 196"/>
                <a:gd name="T15" fmla="*/ 60 h 398"/>
                <a:gd name="T16" fmla="*/ 126 w 196"/>
                <a:gd name="T17" fmla="*/ 47 h 398"/>
                <a:gd name="T18" fmla="*/ 123 w 196"/>
                <a:gd name="T19" fmla="*/ 44 h 398"/>
                <a:gd name="T20" fmla="*/ 123 w 196"/>
                <a:gd name="T21" fmla="*/ 16 h 398"/>
                <a:gd name="T22" fmla="*/ 107 w 196"/>
                <a:gd name="T23" fmla="*/ 0 h 398"/>
                <a:gd name="T24" fmla="*/ 93 w 196"/>
                <a:gd name="T25" fmla="*/ 0 h 398"/>
                <a:gd name="T26" fmla="*/ 77 w 196"/>
                <a:gd name="T27" fmla="*/ 16 h 398"/>
                <a:gd name="T28" fmla="*/ 77 w 196"/>
                <a:gd name="T29" fmla="*/ 46 h 398"/>
                <a:gd name="T30" fmla="*/ 74 w 196"/>
                <a:gd name="T31" fmla="*/ 49 h 398"/>
                <a:gd name="T32" fmla="*/ 5 w 196"/>
                <a:gd name="T33" fmla="*/ 130 h 398"/>
                <a:gd name="T34" fmla="*/ 89 w 196"/>
                <a:gd name="T35" fmla="*/ 218 h 398"/>
                <a:gd name="T36" fmla="*/ 138 w 196"/>
                <a:gd name="T37" fmla="*/ 266 h 398"/>
                <a:gd name="T38" fmla="*/ 89 w 196"/>
                <a:gd name="T39" fmla="*/ 304 h 398"/>
                <a:gd name="T40" fmla="*/ 31 w 196"/>
                <a:gd name="T41" fmla="*/ 288 h 398"/>
                <a:gd name="T42" fmla="*/ 24 w 196"/>
                <a:gd name="T43" fmla="*/ 286 h 398"/>
                <a:gd name="T44" fmla="*/ 10 w 196"/>
                <a:gd name="T45" fmla="*/ 296 h 398"/>
                <a:gd name="T46" fmla="*/ 2 w 196"/>
                <a:gd name="T47" fmla="*/ 316 h 398"/>
                <a:gd name="T48" fmla="*/ 9 w 196"/>
                <a:gd name="T49" fmla="*/ 332 h 398"/>
                <a:gd name="T50" fmla="*/ 71 w 196"/>
                <a:gd name="T51" fmla="*/ 350 h 398"/>
                <a:gd name="T52" fmla="*/ 74 w 196"/>
                <a:gd name="T53" fmla="*/ 353 h 398"/>
                <a:gd name="T54" fmla="*/ 74 w 196"/>
                <a:gd name="T55" fmla="*/ 383 h 398"/>
                <a:gd name="T56" fmla="*/ 90 w 196"/>
                <a:gd name="T57" fmla="*/ 398 h 398"/>
                <a:gd name="T58" fmla="*/ 104 w 196"/>
                <a:gd name="T59" fmla="*/ 398 h 398"/>
                <a:gd name="T60" fmla="*/ 120 w 196"/>
                <a:gd name="T61" fmla="*/ 383 h 398"/>
                <a:gd name="T62" fmla="*/ 120 w 196"/>
                <a:gd name="T63" fmla="*/ 351 h 398"/>
                <a:gd name="T64" fmla="*/ 123 w 196"/>
                <a:gd name="T65" fmla="*/ 348 h 398"/>
                <a:gd name="T66" fmla="*/ 196 w 196"/>
                <a:gd name="T67" fmla="*/ 263 h 398"/>
                <a:gd name="T68" fmla="*/ 117 w 196"/>
                <a:gd name="T69" fmla="*/ 17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398">
                  <a:moveTo>
                    <a:pt x="117" y="170"/>
                  </a:moveTo>
                  <a:cubicBezTo>
                    <a:pt x="74" y="153"/>
                    <a:pt x="62" y="143"/>
                    <a:pt x="62" y="124"/>
                  </a:cubicBezTo>
                  <a:cubicBezTo>
                    <a:pt x="62" y="109"/>
                    <a:pt x="73" y="92"/>
                    <a:pt x="105" y="92"/>
                  </a:cubicBezTo>
                  <a:cubicBezTo>
                    <a:pt x="133" y="92"/>
                    <a:pt x="155" y="103"/>
                    <a:pt x="155" y="103"/>
                  </a:cubicBezTo>
                  <a:cubicBezTo>
                    <a:pt x="157" y="104"/>
                    <a:pt x="160" y="105"/>
                    <a:pt x="162" y="105"/>
                  </a:cubicBezTo>
                  <a:cubicBezTo>
                    <a:pt x="168" y="105"/>
                    <a:pt x="174" y="101"/>
                    <a:pt x="176" y="96"/>
                  </a:cubicBezTo>
                  <a:cubicBezTo>
                    <a:pt x="184" y="76"/>
                    <a:pt x="184" y="76"/>
                    <a:pt x="184" y="76"/>
                  </a:cubicBezTo>
                  <a:cubicBezTo>
                    <a:pt x="186" y="69"/>
                    <a:pt x="182" y="63"/>
                    <a:pt x="177" y="60"/>
                  </a:cubicBezTo>
                  <a:cubicBezTo>
                    <a:pt x="160" y="53"/>
                    <a:pt x="126" y="47"/>
                    <a:pt x="126" y="47"/>
                  </a:cubicBezTo>
                  <a:cubicBezTo>
                    <a:pt x="125" y="47"/>
                    <a:pt x="123" y="46"/>
                    <a:pt x="123" y="44"/>
                  </a:cubicBezTo>
                  <a:cubicBezTo>
                    <a:pt x="123" y="16"/>
                    <a:pt x="123" y="16"/>
                    <a:pt x="123" y="16"/>
                  </a:cubicBezTo>
                  <a:cubicBezTo>
                    <a:pt x="123" y="7"/>
                    <a:pt x="116" y="0"/>
                    <a:pt x="107" y="0"/>
                  </a:cubicBezTo>
                  <a:cubicBezTo>
                    <a:pt x="93" y="0"/>
                    <a:pt x="93" y="0"/>
                    <a:pt x="93" y="0"/>
                  </a:cubicBezTo>
                  <a:cubicBezTo>
                    <a:pt x="85" y="0"/>
                    <a:pt x="77" y="7"/>
                    <a:pt x="77" y="16"/>
                  </a:cubicBezTo>
                  <a:cubicBezTo>
                    <a:pt x="77" y="46"/>
                    <a:pt x="77" y="46"/>
                    <a:pt x="77" y="46"/>
                  </a:cubicBezTo>
                  <a:cubicBezTo>
                    <a:pt x="77" y="48"/>
                    <a:pt x="75" y="49"/>
                    <a:pt x="74" y="49"/>
                  </a:cubicBezTo>
                  <a:cubicBezTo>
                    <a:pt x="31" y="59"/>
                    <a:pt x="5" y="91"/>
                    <a:pt x="5" y="130"/>
                  </a:cubicBezTo>
                  <a:cubicBezTo>
                    <a:pt x="5" y="179"/>
                    <a:pt x="45" y="201"/>
                    <a:pt x="89" y="218"/>
                  </a:cubicBezTo>
                  <a:cubicBezTo>
                    <a:pt x="124" y="232"/>
                    <a:pt x="138" y="246"/>
                    <a:pt x="138" y="266"/>
                  </a:cubicBezTo>
                  <a:cubicBezTo>
                    <a:pt x="138" y="288"/>
                    <a:pt x="118" y="304"/>
                    <a:pt x="89" y="304"/>
                  </a:cubicBezTo>
                  <a:cubicBezTo>
                    <a:pt x="64" y="304"/>
                    <a:pt x="31" y="288"/>
                    <a:pt x="31" y="288"/>
                  </a:cubicBezTo>
                  <a:cubicBezTo>
                    <a:pt x="28" y="287"/>
                    <a:pt x="26" y="286"/>
                    <a:pt x="24" y="286"/>
                  </a:cubicBezTo>
                  <a:cubicBezTo>
                    <a:pt x="17" y="286"/>
                    <a:pt x="12" y="290"/>
                    <a:pt x="10" y="296"/>
                  </a:cubicBezTo>
                  <a:cubicBezTo>
                    <a:pt x="2" y="316"/>
                    <a:pt x="2" y="316"/>
                    <a:pt x="2" y="316"/>
                  </a:cubicBezTo>
                  <a:cubicBezTo>
                    <a:pt x="0" y="324"/>
                    <a:pt x="4" y="330"/>
                    <a:pt x="9" y="332"/>
                  </a:cubicBezTo>
                  <a:cubicBezTo>
                    <a:pt x="30" y="343"/>
                    <a:pt x="69" y="349"/>
                    <a:pt x="71" y="350"/>
                  </a:cubicBezTo>
                  <a:cubicBezTo>
                    <a:pt x="72" y="350"/>
                    <a:pt x="74" y="351"/>
                    <a:pt x="74" y="353"/>
                  </a:cubicBezTo>
                  <a:cubicBezTo>
                    <a:pt x="74" y="383"/>
                    <a:pt x="74" y="383"/>
                    <a:pt x="74" y="383"/>
                  </a:cubicBezTo>
                  <a:cubicBezTo>
                    <a:pt x="74" y="391"/>
                    <a:pt x="81" y="398"/>
                    <a:pt x="90" y="398"/>
                  </a:cubicBezTo>
                  <a:cubicBezTo>
                    <a:pt x="104" y="398"/>
                    <a:pt x="104" y="398"/>
                    <a:pt x="104" y="398"/>
                  </a:cubicBezTo>
                  <a:cubicBezTo>
                    <a:pt x="113" y="398"/>
                    <a:pt x="120" y="391"/>
                    <a:pt x="120" y="383"/>
                  </a:cubicBezTo>
                  <a:cubicBezTo>
                    <a:pt x="120" y="351"/>
                    <a:pt x="120" y="351"/>
                    <a:pt x="120" y="351"/>
                  </a:cubicBezTo>
                  <a:cubicBezTo>
                    <a:pt x="120" y="348"/>
                    <a:pt x="122" y="348"/>
                    <a:pt x="123" y="348"/>
                  </a:cubicBezTo>
                  <a:cubicBezTo>
                    <a:pt x="168" y="338"/>
                    <a:pt x="196" y="304"/>
                    <a:pt x="196" y="263"/>
                  </a:cubicBezTo>
                  <a:cubicBezTo>
                    <a:pt x="196" y="220"/>
                    <a:pt x="173" y="192"/>
                    <a:pt x="117" y="170"/>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44" name="Group 43">
            <a:extLst>
              <a:ext uri="{FF2B5EF4-FFF2-40B4-BE49-F238E27FC236}">
                <a16:creationId xmlns:a16="http://schemas.microsoft.com/office/drawing/2014/main" id="{9257D003-8F57-B1EF-1281-E5C062364EE3}"/>
              </a:ext>
            </a:extLst>
          </p:cNvPr>
          <p:cNvGrpSpPr/>
          <p:nvPr/>
        </p:nvGrpSpPr>
        <p:grpSpPr>
          <a:xfrm>
            <a:off x="4242326" y="1447249"/>
            <a:ext cx="466096" cy="368677"/>
            <a:chOff x="9818688" y="2243138"/>
            <a:chExt cx="1279525" cy="1012089"/>
          </a:xfrm>
          <a:solidFill>
            <a:schemeClr val="tx1">
              <a:lumMod val="90000"/>
              <a:lumOff val="10000"/>
            </a:schemeClr>
          </a:solidFill>
        </p:grpSpPr>
        <p:sp>
          <p:nvSpPr>
            <p:cNvPr id="45" name="Freeform 11">
              <a:extLst>
                <a:ext uri="{FF2B5EF4-FFF2-40B4-BE49-F238E27FC236}">
                  <a16:creationId xmlns:a16="http://schemas.microsoft.com/office/drawing/2014/main" id="{6C338E1B-999F-0AC0-D225-F9E5FCA40E92}"/>
                </a:ext>
              </a:extLst>
            </p:cNvPr>
            <p:cNvSpPr>
              <a:spLocks noEditPoints="1"/>
            </p:cNvSpPr>
            <p:nvPr/>
          </p:nvSpPr>
          <p:spPr bwMode="auto">
            <a:xfrm>
              <a:off x="10325101" y="2314576"/>
              <a:ext cx="434975" cy="627063"/>
            </a:xfrm>
            <a:custGeom>
              <a:avLst/>
              <a:gdLst>
                <a:gd name="T0" fmla="*/ 343 w 343"/>
                <a:gd name="T1" fmla="*/ 172 h 496"/>
                <a:gd name="T2" fmla="*/ 171 w 343"/>
                <a:gd name="T3" fmla="*/ 0 h 496"/>
                <a:gd name="T4" fmla="*/ 0 w 343"/>
                <a:gd name="T5" fmla="*/ 172 h 496"/>
                <a:gd name="T6" fmla="*/ 76 w 343"/>
                <a:gd name="T7" fmla="*/ 314 h 496"/>
                <a:gd name="T8" fmla="*/ 76 w 343"/>
                <a:gd name="T9" fmla="*/ 344 h 496"/>
                <a:gd name="T10" fmla="*/ 38 w 343"/>
                <a:gd name="T11" fmla="*/ 391 h 496"/>
                <a:gd name="T12" fmla="*/ 60 w 343"/>
                <a:gd name="T13" fmla="*/ 431 h 496"/>
                <a:gd name="T14" fmla="*/ 57 w 343"/>
                <a:gd name="T15" fmla="*/ 448 h 496"/>
                <a:gd name="T16" fmla="*/ 105 w 343"/>
                <a:gd name="T17" fmla="*/ 496 h 496"/>
                <a:gd name="T18" fmla="*/ 238 w 343"/>
                <a:gd name="T19" fmla="*/ 496 h 496"/>
                <a:gd name="T20" fmla="*/ 286 w 343"/>
                <a:gd name="T21" fmla="*/ 448 h 496"/>
                <a:gd name="T22" fmla="*/ 282 w 343"/>
                <a:gd name="T23" fmla="*/ 431 h 496"/>
                <a:gd name="T24" fmla="*/ 305 w 343"/>
                <a:gd name="T25" fmla="*/ 391 h 496"/>
                <a:gd name="T26" fmla="*/ 267 w 343"/>
                <a:gd name="T27" fmla="*/ 344 h 496"/>
                <a:gd name="T28" fmla="*/ 267 w 343"/>
                <a:gd name="T29" fmla="*/ 314 h 496"/>
                <a:gd name="T30" fmla="*/ 343 w 343"/>
                <a:gd name="T31" fmla="*/ 172 h 496"/>
                <a:gd name="T32" fmla="*/ 238 w 343"/>
                <a:gd name="T33" fmla="*/ 457 h 496"/>
                <a:gd name="T34" fmla="*/ 105 w 343"/>
                <a:gd name="T35" fmla="*/ 457 h 496"/>
                <a:gd name="T36" fmla="*/ 95 w 343"/>
                <a:gd name="T37" fmla="*/ 448 h 496"/>
                <a:gd name="T38" fmla="*/ 105 w 343"/>
                <a:gd name="T39" fmla="*/ 438 h 496"/>
                <a:gd name="T40" fmla="*/ 238 w 343"/>
                <a:gd name="T41" fmla="*/ 438 h 496"/>
                <a:gd name="T42" fmla="*/ 248 w 343"/>
                <a:gd name="T43" fmla="*/ 448 h 496"/>
                <a:gd name="T44" fmla="*/ 238 w 343"/>
                <a:gd name="T45" fmla="*/ 457 h 496"/>
                <a:gd name="T46" fmla="*/ 257 w 343"/>
                <a:gd name="T47" fmla="*/ 400 h 496"/>
                <a:gd name="T48" fmla="*/ 238 w 343"/>
                <a:gd name="T49" fmla="*/ 400 h 496"/>
                <a:gd name="T50" fmla="*/ 105 w 343"/>
                <a:gd name="T51" fmla="*/ 400 h 496"/>
                <a:gd name="T52" fmla="*/ 86 w 343"/>
                <a:gd name="T53" fmla="*/ 400 h 496"/>
                <a:gd name="T54" fmla="*/ 76 w 343"/>
                <a:gd name="T55" fmla="*/ 391 h 496"/>
                <a:gd name="T56" fmla="*/ 86 w 343"/>
                <a:gd name="T57" fmla="*/ 381 h 496"/>
                <a:gd name="T58" fmla="*/ 257 w 343"/>
                <a:gd name="T59" fmla="*/ 381 h 496"/>
                <a:gd name="T60" fmla="*/ 267 w 343"/>
                <a:gd name="T61" fmla="*/ 391 h 496"/>
                <a:gd name="T62" fmla="*/ 257 w 343"/>
                <a:gd name="T63" fmla="*/ 400 h 496"/>
                <a:gd name="T64" fmla="*/ 152 w 343"/>
                <a:gd name="T65" fmla="*/ 172 h 496"/>
                <a:gd name="T66" fmla="*/ 171 w 343"/>
                <a:gd name="T67" fmla="*/ 153 h 496"/>
                <a:gd name="T68" fmla="*/ 190 w 343"/>
                <a:gd name="T69" fmla="*/ 172 h 496"/>
                <a:gd name="T70" fmla="*/ 171 w 343"/>
                <a:gd name="T71" fmla="*/ 191 h 496"/>
                <a:gd name="T72" fmla="*/ 152 w 343"/>
                <a:gd name="T73" fmla="*/ 172 h 496"/>
                <a:gd name="T74" fmla="*/ 238 w 343"/>
                <a:gd name="T75" fmla="*/ 287 h 496"/>
                <a:gd name="T76" fmla="*/ 229 w 343"/>
                <a:gd name="T77" fmla="*/ 293 h 496"/>
                <a:gd name="T78" fmla="*/ 229 w 343"/>
                <a:gd name="T79" fmla="*/ 343 h 496"/>
                <a:gd name="T80" fmla="*/ 190 w 343"/>
                <a:gd name="T81" fmla="*/ 343 h 496"/>
                <a:gd name="T82" fmla="*/ 190 w 343"/>
                <a:gd name="T83" fmla="*/ 225 h 496"/>
                <a:gd name="T84" fmla="*/ 229 w 343"/>
                <a:gd name="T85" fmla="*/ 172 h 496"/>
                <a:gd name="T86" fmla="*/ 171 w 343"/>
                <a:gd name="T87" fmla="*/ 115 h 496"/>
                <a:gd name="T88" fmla="*/ 114 w 343"/>
                <a:gd name="T89" fmla="*/ 172 h 496"/>
                <a:gd name="T90" fmla="*/ 152 w 343"/>
                <a:gd name="T91" fmla="*/ 225 h 496"/>
                <a:gd name="T92" fmla="*/ 152 w 343"/>
                <a:gd name="T93" fmla="*/ 343 h 496"/>
                <a:gd name="T94" fmla="*/ 114 w 343"/>
                <a:gd name="T95" fmla="*/ 343 h 496"/>
                <a:gd name="T96" fmla="*/ 114 w 343"/>
                <a:gd name="T97" fmla="*/ 293 h 496"/>
                <a:gd name="T98" fmla="*/ 105 w 343"/>
                <a:gd name="T99" fmla="*/ 287 h 496"/>
                <a:gd name="T100" fmla="*/ 38 w 343"/>
                <a:gd name="T101" fmla="*/ 172 h 496"/>
                <a:gd name="T102" fmla="*/ 171 w 343"/>
                <a:gd name="T103" fmla="*/ 38 h 496"/>
                <a:gd name="T104" fmla="*/ 305 w 343"/>
                <a:gd name="T105" fmla="*/ 172 h 496"/>
                <a:gd name="T106" fmla="*/ 238 w 343"/>
                <a:gd name="T107" fmla="*/ 28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3" h="496">
                  <a:moveTo>
                    <a:pt x="343" y="172"/>
                  </a:moveTo>
                  <a:cubicBezTo>
                    <a:pt x="343" y="77"/>
                    <a:pt x="266" y="0"/>
                    <a:pt x="171" y="0"/>
                  </a:cubicBezTo>
                  <a:cubicBezTo>
                    <a:pt x="77" y="0"/>
                    <a:pt x="0" y="77"/>
                    <a:pt x="0" y="172"/>
                  </a:cubicBezTo>
                  <a:cubicBezTo>
                    <a:pt x="0" y="229"/>
                    <a:pt x="29" y="282"/>
                    <a:pt x="76" y="314"/>
                  </a:cubicBezTo>
                  <a:cubicBezTo>
                    <a:pt x="76" y="344"/>
                    <a:pt x="76" y="344"/>
                    <a:pt x="76" y="344"/>
                  </a:cubicBezTo>
                  <a:cubicBezTo>
                    <a:pt x="54" y="349"/>
                    <a:pt x="38" y="368"/>
                    <a:pt x="38" y="391"/>
                  </a:cubicBezTo>
                  <a:cubicBezTo>
                    <a:pt x="38" y="408"/>
                    <a:pt x="47" y="422"/>
                    <a:pt x="60" y="431"/>
                  </a:cubicBezTo>
                  <a:cubicBezTo>
                    <a:pt x="58" y="436"/>
                    <a:pt x="57" y="442"/>
                    <a:pt x="57" y="448"/>
                  </a:cubicBezTo>
                  <a:cubicBezTo>
                    <a:pt x="57" y="474"/>
                    <a:pt x="78" y="496"/>
                    <a:pt x="105" y="496"/>
                  </a:cubicBezTo>
                  <a:cubicBezTo>
                    <a:pt x="238" y="496"/>
                    <a:pt x="238" y="496"/>
                    <a:pt x="238" y="496"/>
                  </a:cubicBezTo>
                  <a:cubicBezTo>
                    <a:pt x="264" y="496"/>
                    <a:pt x="286" y="474"/>
                    <a:pt x="286" y="448"/>
                  </a:cubicBezTo>
                  <a:cubicBezTo>
                    <a:pt x="286" y="442"/>
                    <a:pt x="284" y="436"/>
                    <a:pt x="282" y="431"/>
                  </a:cubicBezTo>
                  <a:cubicBezTo>
                    <a:pt x="296" y="423"/>
                    <a:pt x="305" y="408"/>
                    <a:pt x="305" y="391"/>
                  </a:cubicBezTo>
                  <a:cubicBezTo>
                    <a:pt x="305" y="368"/>
                    <a:pt x="288" y="349"/>
                    <a:pt x="267" y="344"/>
                  </a:cubicBezTo>
                  <a:cubicBezTo>
                    <a:pt x="267" y="314"/>
                    <a:pt x="267" y="314"/>
                    <a:pt x="267" y="314"/>
                  </a:cubicBezTo>
                  <a:cubicBezTo>
                    <a:pt x="314" y="282"/>
                    <a:pt x="343" y="229"/>
                    <a:pt x="343" y="172"/>
                  </a:cubicBezTo>
                  <a:close/>
                  <a:moveTo>
                    <a:pt x="238" y="457"/>
                  </a:moveTo>
                  <a:cubicBezTo>
                    <a:pt x="105" y="457"/>
                    <a:pt x="105" y="457"/>
                    <a:pt x="105" y="457"/>
                  </a:cubicBezTo>
                  <a:cubicBezTo>
                    <a:pt x="100" y="457"/>
                    <a:pt x="95" y="453"/>
                    <a:pt x="95" y="448"/>
                  </a:cubicBezTo>
                  <a:cubicBezTo>
                    <a:pt x="95" y="443"/>
                    <a:pt x="100" y="438"/>
                    <a:pt x="105" y="438"/>
                  </a:cubicBezTo>
                  <a:cubicBezTo>
                    <a:pt x="238" y="438"/>
                    <a:pt x="238" y="438"/>
                    <a:pt x="238" y="438"/>
                  </a:cubicBezTo>
                  <a:cubicBezTo>
                    <a:pt x="243" y="438"/>
                    <a:pt x="248" y="443"/>
                    <a:pt x="248" y="448"/>
                  </a:cubicBezTo>
                  <a:cubicBezTo>
                    <a:pt x="248" y="453"/>
                    <a:pt x="243" y="457"/>
                    <a:pt x="238" y="457"/>
                  </a:cubicBezTo>
                  <a:close/>
                  <a:moveTo>
                    <a:pt x="257" y="400"/>
                  </a:moveTo>
                  <a:cubicBezTo>
                    <a:pt x="238" y="400"/>
                    <a:pt x="238" y="400"/>
                    <a:pt x="238" y="400"/>
                  </a:cubicBezTo>
                  <a:cubicBezTo>
                    <a:pt x="105" y="400"/>
                    <a:pt x="105" y="400"/>
                    <a:pt x="105" y="400"/>
                  </a:cubicBezTo>
                  <a:cubicBezTo>
                    <a:pt x="86" y="400"/>
                    <a:pt x="86" y="400"/>
                    <a:pt x="86" y="400"/>
                  </a:cubicBezTo>
                  <a:cubicBezTo>
                    <a:pt x="80" y="400"/>
                    <a:pt x="76" y="396"/>
                    <a:pt x="76" y="391"/>
                  </a:cubicBezTo>
                  <a:cubicBezTo>
                    <a:pt x="76" y="386"/>
                    <a:pt x="80" y="381"/>
                    <a:pt x="86" y="381"/>
                  </a:cubicBezTo>
                  <a:cubicBezTo>
                    <a:pt x="257" y="381"/>
                    <a:pt x="257" y="381"/>
                    <a:pt x="257" y="381"/>
                  </a:cubicBezTo>
                  <a:cubicBezTo>
                    <a:pt x="262" y="381"/>
                    <a:pt x="267" y="386"/>
                    <a:pt x="267" y="391"/>
                  </a:cubicBezTo>
                  <a:cubicBezTo>
                    <a:pt x="267" y="396"/>
                    <a:pt x="262" y="400"/>
                    <a:pt x="257" y="400"/>
                  </a:cubicBezTo>
                  <a:close/>
                  <a:moveTo>
                    <a:pt x="152" y="172"/>
                  </a:moveTo>
                  <a:cubicBezTo>
                    <a:pt x="152" y="161"/>
                    <a:pt x="161" y="153"/>
                    <a:pt x="171" y="153"/>
                  </a:cubicBezTo>
                  <a:cubicBezTo>
                    <a:pt x="182" y="153"/>
                    <a:pt x="190" y="161"/>
                    <a:pt x="190" y="172"/>
                  </a:cubicBezTo>
                  <a:cubicBezTo>
                    <a:pt x="190" y="182"/>
                    <a:pt x="182" y="191"/>
                    <a:pt x="171" y="191"/>
                  </a:cubicBezTo>
                  <a:cubicBezTo>
                    <a:pt x="161" y="191"/>
                    <a:pt x="152" y="182"/>
                    <a:pt x="152" y="172"/>
                  </a:cubicBezTo>
                  <a:close/>
                  <a:moveTo>
                    <a:pt x="238" y="287"/>
                  </a:moveTo>
                  <a:cubicBezTo>
                    <a:pt x="229" y="293"/>
                    <a:pt x="229" y="293"/>
                    <a:pt x="229" y="293"/>
                  </a:cubicBezTo>
                  <a:cubicBezTo>
                    <a:pt x="229" y="343"/>
                    <a:pt x="229" y="343"/>
                    <a:pt x="229" y="343"/>
                  </a:cubicBezTo>
                  <a:cubicBezTo>
                    <a:pt x="190" y="343"/>
                    <a:pt x="190" y="343"/>
                    <a:pt x="190" y="343"/>
                  </a:cubicBezTo>
                  <a:cubicBezTo>
                    <a:pt x="190" y="225"/>
                    <a:pt x="190" y="225"/>
                    <a:pt x="190" y="225"/>
                  </a:cubicBezTo>
                  <a:cubicBezTo>
                    <a:pt x="213" y="217"/>
                    <a:pt x="229" y="197"/>
                    <a:pt x="229" y="172"/>
                  </a:cubicBezTo>
                  <a:cubicBezTo>
                    <a:pt x="229" y="140"/>
                    <a:pt x="203" y="115"/>
                    <a:pt x="171" y="115"/>
                  </a:cubicBezTo>
                  <a:cubicBezTo>
                    <a:pt x="140" y="115"/>
                    <a:pt x="114" y="140"/>
                    <a:pt x="114" y="172"/>
                  </a:cubicBezTo>
                  <a:cubicBezTo>
                    <a:pt x="114" y="197"/>
                    <a:pt x="130" y="217"/>
                    <a:pt x="152" y="225"/>
                  </a:cubicBezTo>
                  <a:cubicBezTo>
                    <a:pt x="152" y="343"/>
                    <a:pt x="152" y="343"/>
                    <a:pt x="152" y="343"/>
                  </a:cubicBezTo>
                  <a:cubicBezTo>
                    <a:pt x="114" y="343"/>
                    <a:pt x="114" y="343"/>
                    <a:pt x="114" y="343"/>
                  </a:cubicBezTo>
                  <a:cubicBezTo>
                    <a:pt x="114" y="293"/>
                    <a:pt x="114" y="293"/>
                    <a:pt x="114" y="293"/>
                  </a:cubicBezTo>
                  <a:cubicBezTo>
                    <a:pt x="105" y="287"/>
                    <a:pt x="105" y="287"/>
                    <a:pt x="105" y="287"/>
                  </a:cubicBezTo>
                  <a:cubicBezTo>
                    <a:pt x="64" y="263"/>
                    <a:pt x="38" y="219"/>
                    <a:pt x="38" y="172"/>
                  </a:cubicBezTo>
                  <a:cubicBezTo>
                    <a:pt x="38" y="98"/>
                    <a:pt x="98" y="38"/>
                    <a:pt x="171" y="38"/>
                  </a:cubicBezTo>
                  <a:cubicBezTo>
                    <a:pt x="245" y="38"/>
                    <a:pt x="305" y="98"/>
                    <a:pt x="305" y="172"/>
                  </a:cubicBezTo>
                  <a:cubicBezTo>
                    <a:pt x="305" y="219"/>
                    <a:pt x="279" y="263"/>
                    <a:pt x="238" y="2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6" name="Rectangle 13">
              <a:extLst>
                <a:ext uri="{FF2B5EF4-FFF2-40B4-BE49-F238E27FC236}">
                  <a16:creationId xmlns:a16="http://schemas.microsoft.com/office/drawing/2014/main" id="{955877FA-EFC1-ADF7-8479-3DAB7CD777AD}"/>
                </a:ext>
              </a:extLst>
            </p:cNvPr>
            <p:cNvSpPr>
              <a:spLocks noChangeArrowheads="1"/>
            </p:cNvSpPr>
            <p:nvPr/>
          </p:nvSpPr>
          <p:spPr bwMode="auto">
            <a:xfrm>
              <a:off x="10517188" y="2243138"/>
              <a:ext cx="4921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7" name="Freeform 14">
              <a:extLst>
                <a:ext uri="{FF2B5EF4-FFF2-40B4-BE49-F238E27FC236}">
                  <a16:creationId xmlns:a16="http://schemas.microsoft.com/office/drawing/2014/main" id="{D4BCFD43-BEBB-F41D-3BEA-12DAC30B7248}"/>
                </a:ext>
              </a:extLst>
            </p:cNvPr>
            <p:cNvSpPr>
              <a:spLocks/>
            </p:cNvSpPr>
            <p:nvPr/>
          </p:nvSpPr>
          <p:spPr bwMode="auto">
            <a:xfrm>
              <a:off x="10377488" y="2270126"/>
              <a:ext cx="65088" cy="65088"/>
            </a:xfrm>
            <a:custGeom>
              <a:avLst/>
              <a:gdLst>
                <a:gd name="T0" fmla="*/ 26 w 41"/>
                <a:gd name="T1" fmla="*/ 0 h 41"/>
                <a:gd name="T2" fmla="*/ 41 w 41"/>
                <a:gd name="T3" fmla="*/ 26 h 41"/>
                <a:gd name="T4" fmla="*/ 15 w 41"/>
                <a:gd name="T5" fmla="*/ 41 h 41"/>
                <a:gd name="T6" fmla="*/ 0 w 41"/>
                <a:gd name="T7" fmla="*/ 15 h 41"/>
                <a:gd name="T8" fmla="*/ 26 w 41"/>
                <a:gd name="T9" fmla="*/ 0 h 41"/>
              </a:gdLst>
              <a:ahLst/>
              <a:cxnLst>
                <a:cxn ang="0">
                  <a:pos x="T0" y="T1"/>
                </a:cxn>
                <a:cxn ang="0">
                  <a:pos x="T2" y="T3"/>
                </a:cxn>
                <a:cxn ang="0">
                  <a:pos x="T4" y="T5"/>
                </a:cxn>
                <a:cxn ang="0">
                  <a:pos x="T6" y="T7"/>
                </a:cxn>
                <a:cxn ang="0">
                  <a:pos x="T8" y="T9"/>
                </a:cxn>
              </a:cxnLst>
              <a:rect l="0" t="0" r="r" b="b"/>
              <a:pathLst>
                <a:path w="41" h="41">
                  <a:moveTo>
                    <a:pt x="26" y="0"/>
                  </a:moveTo>
                  <a:lnTo>
                    <a:pt x="41"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8" name="Freeform 15">
              <a:extLst>
                <a:ext uri="{FF2B5EF4-FFF2-40B4-BE49-F238E27FC236}">
                  <a16:creationId xmlns:a16="http://schemas.microsoft.com/office/drawing/2014/main" id="{6866F04B-D122-0ACF-1811-620469A19D2D}"/>
                </a:ext>
              </a:extLst>
            </p:cNvPr>
            <p:cNvSpPr>
              <a:spLocks/>
            </p:cNvSpPr>
            <p:nvPr/>
          </p:nvSpPr>
          <p:spPr bwMode="auto">
            <a:xfrm>
              <a:off x="10279063" y="2366963"/>
              <a:ext cx="66675" cy="65088"/>
            </a:xfrm>
            <a:custGeom>
              <a:avLst/>
              <a:gdLst>
                <a:gd name="T0" fmla="*/ 16 w 42"/>
                <a:gd name="T1" fmla="*/ 0 h 41"/>
                <a:gd name="T2" fmla="*/ 42 w 42"/>
                <a:gd name="T3" fmla="*/ 15 h 41"/>
                <a:gd name="T4" fmla="*/ 27 w 42"/>
                <a:gd name="T5" fmla="*/ 41 h 41"/>
                <a:gd name="T6" fmla="*/ 0 w 42"/>
                <a:gd name="T7" fmla="*/ 26 h 41"/>
                <a:gd name="T8" fmla="*/ 16 w 42"/>
                <a:gd name="T9" fmla="*/ 0 h 41"/>
              </a:gdLst>
              <a:ahLst/>
              <a:cxnLst>
                <a:cxn ang="0">
                  <a:pos x="T0" y="T1"/>
                </a:cxn>
                <a:cxn ang="0">
                  <a:pos x="T2" y="T3"/>
                </a:cxn>
                <a:cxn ang="0">
                  <a:pos x="T4" y="T5"/>
                </a:cxn>
                <a:cxn ang="0">
                  <a:pos x="T6" y="T7"/>
                </a:cxn>
                <a:cxn ang="0">
                  <a:pos x="T8" y="T9"/>
                </a:cxn>
              </a:cxnLst>
              <a:rect l="0" t="0" r="r" b="b"/>
              <a:pathLst>
                <a:path w="42" h="41">
                  <a:moveTo>
                    <a:pt x="16" y="0"/>
                  </a:moveTo>
                  <a:lnTo>
                    <a:pt x="42" y="15"/>
                  </a:lnTo>
                  <a:lnTo>
                    <a:pt x="27" y="41"/>
                  </a:lnTo>
                  <a:lnTo>
                    <a:pt x="0" y="26"/>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49" name="Rectangle 16">
              <a:extLst>
                <a:ext uri="{FF2B5EF4-FFF2-40B4-BE49-F238E27FC236}">
                  <a16:creationId xmlns:a16="http://schemas.microsoft.com/office/drawing/2014/main" id="{95419EE5-F1EC-E4FC-1F0D-016CBBC9CA40}"/>
                </a:ext>
              </a:extLst>
            </p:cNvPr>
            <p:cNvSpPr>
              <a:spLocks noChangeArrowheads="1"/>
            </p:cNvSpPr>
            <p:nvPr/>
          </p:nvSpPr>
          <p:spPr bwMode="auto">
            <a:xfrm>
              <a:off x="10253663"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0" name="Freeform 17">
              <a:extLst>
                <a:ext uri="{FF2B5EF4-FFF2-40B4-BE49-F238E27FC236}">
                  <a16:creationId xmlns:a16="http://schemas.microsoft.com/office/drawing/2014/main" id="{D84B3508-2F0E-9BD7-5E88-1D10E88D04B6}"/>
                </a:ext>
              </a:extLst>
            </p:cNvPr>
            <p:cNvSpPr>
              <a:spLocks/>
            </p:cNvSpPr>
            <p:nvPr/>
          </p:nvSpPr>
          <p:spPr bwMode="auto">
            <a:xfrm>
              <a:off x="10279063" y="2630488"/>
              <a:ext cx="66675" cy="68263"/>
            </a:xfrm>
            <a:custGeom>
              <a:avLst/>
              <a:gdLst>
                <a:gd name="T0" fmla="*/ 16 w 42"/>
                <a:gd name="T1" fmla="*/ 43 h 43"/>
                <a:gd name="T2" fmla="*/ 0 w 42"/>
                <a:gd name="T3" fmla="*/ 16 h 43"/>
                <a:gd name="T4" fmla="*/ 27 w 42"/>
                <a:gd name="T5" fmla="*/ 0 h 43"/>
                <a:gd name="T6" fmla="*/ 42 w 42"/>
                <a:gd name="T7" fmla="*/ 27 h 43"/>
                <a:gd name="T8" fmla="*/ 16 w 42"/>
                <a:gd name="T9" fmla="*/ 43 h 43"/>
              </a:gdLst>
              <a:ahLst/>
              <a:cxnLst>
                <a:cxn ang="0">
                  <a:pos x="T0" y="T1"/>
                </a:cxn>
                <a:cxn ang="0">
                  <a:pos x="T2" y="T3"/>
                </a:cxn>
                <a:cxn ang="0">
                  <a:pos x="T4" y="T5"/>
                </a:cxn>
                <a:cxn ang="0">
                  <a:pos x="T6" y="T7"/>
                </a:cxn>
                <a:cxn ang="0">
                  <a:pos x="T8" y="T9"/>
                </a:cxn>
              </a:cxnLst>
              <a:rect l="0" t="0" r="r" b="b"/>
              <a:pathLst>
                <a:path w="42" h="43">
                  <a:moveTo>
                    <a:pt x="16" y="43"/>
                  </a:moveTo>
                  <a:lnTo>
                    <a:pt x="0" y="16"/>
                  </a:lnTo>
                  <a:lnTo>
                    <a:pt x="27" y="0"/>
                  </a:lnTo>
                  <a:lnTo>
                    <a:pt x="42" y="27"/>
                  </a:lnTo>
                  <a:lnTo>
                    <a:pt x="1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1" name="Freeform 18">
              <a:extLst>
                <a:ext uri="{FF2B5EF4-FFF2-40B4-BE49-F238E27FC236}">
                  <a16:creationId xmlns:a16="http://schemas.microsoft.com/office/drawing/2014/main" id="{17AD333B-F8AD-CA00-BB10-E170695E4863}"/>
                </a:ext>
              </a:extLst>
            </p:cNvPr>
            <p:cNvSpPr>
              <a:spLocks/>
            </p:cNvSpPr>
            <p:nvPr/>
          </p:nvSpPr>
          <p:spPr bwMode="auto">
            <a:xfrm>
              <a:off x="10739438" y="2630488"/>
              <a:ext cx="66675" cy="66675"/>
            </a:xfrm>
            <a:custGeom>
              <a:avLst/>
              <a:gdLst>
                <a:gd name="T0" fmla="*/ 26 w 42"/>
                <a:gd name="T1" fmla="*/ 42 h 42"/>
                <a:gd name="T2" fmla="*/ 0 w 42"/>
                <a:gd name="T3" fmla="*/ 27 h 42"/>
                <a:gd name="T4" fmla="*/ 15 w 42"/>
                <a:gd name="T5" fmla="*/ 0 h 42"/>
                <a:gd name="T6" fmla="*/ 42 w 42"/>
                <a:gd name="T7" fmla="*/ 16 h 42"/>
                <a:gd name="T8" fmla="*/ 26 w 42"/>
                <a:gd name="T9" fmla="*/ 42 h 42"/>
              </a:gdLst>
              <a:ahLst/>
              <a:cxnLst>
                <a:cxn ang="0">
                  <a:pos x="T0" y="T1"/>
                </a:cxn>
                <a:cxn ang="0">
                  <a:pos x="T2" y="T3"/>
                </a:cxn>
                <a:cxn ang="0">
                  <a:pos x="T4" y="T5"/>
                </a:cxn>
                <a:cxn ang="0">
                  <a:pos x="T6" y="T7"/>
                </a:cxn>
                <a:cxn ang="0">
                  <a:pos x="T8" y="T9"/>
                </a:cxn>
              </a:cxnLst>
              <a:rect l="0" t="0" r="r" b="b"/>
              <a:pathLst>
                <a:path w="42" h="42">
                  <a:moveTo>
                    <a:pt x="26" y="42"/>
                  </a:moveTo>
                  <a:lnTo>
                    <a:pt x="0" y="27"/>
                  </a:lnTo>
                  <a:lnTo>
                    <a:pt x="15" y="0"/>
                  </a:lnTo>
                  <a:lnTo>
                    <a:pt x="42" y="16"/>
                  </a:lnTo>
                  <a:lnTo>
                    <a:pt x="2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2" name="Rectangle 19">
              <a:extLst>
                <a:ext uri="{FF2B5EF4-FFF2-40B4-BE49-F238E27FC236}">
                  <a16:creationId xmlns:a16="http://schemas.microsoft.com/office/drawing/2014/main" id="{DB5D0EC7-26FC-8674-1398-3DEE1AD87480}"/>
                </a:ext>
              </a:extLst>
            </p:cNvPr>
            <p:cNvSpPr>
              <a:spLocks noChangeArrowheads="1"/>
            </p:cNvSpPr>
            <p:nvPr/>
          </p:nvSpPr>
          <p:spPr bwMode="auto">
            <a:xfrm>
              <a:off x="10783888" y="2508251"/>
              <a:ext cx="4762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3" name="Freeform 20">
              <a:extLst>
                <a:ext uri="{FF2B5EF4-FFF2-40B4-BE49-F238E27FC236}">
                  <a16:creationId xmlns:a16="http://schemas.microsoft.com/office/drawing/2014/main" id="{8414DA49-D9A1-17DD-6652-A4FAF4FEDAC9}"/>
                </a:ext>
              </a:extLst>
            </p:cNvPr>
            <p:cNvSpPr>
              <a:spLocks/>
            </p:cNvSpPr>
            <p:nvPr/>
          </p:nvSpPr>
          <p:spPr bwMode="auto">
            <a:xfrm>
              <a:off x="10739438" y="2366963"/>
              <a:ext cx="66675" cy="65088"/>
            </a:xfrm>
            <a:custGeom>
              <a:avLst/>
              <a:gdLst>
                <a:gd name="T0" fmla="*/ 26 w 42"/>
                <a:gd name="T1" fmla="*/ 0 h 41"/>
                <a:gd name="T2" fmla="*/ 42 w 42"/>
                <a:gd name="T3" fmla="*/ 26 h 41"/>
                <a:gd name="T4" fmla="*/ 15 w 42"/>
                <a:gd name="T5" fmla="*/ 41 h 41"/>
                <a:gd name="T6" fmla="*/ 0 w 42"/>
                <a:gd name="T7" fmla="*/ 15 h 41"/>
                <a:gd name="T8" fmla="*/ 26 w 42"/>
                <a:gd name="T9" fmla="*/ 0 h 41"/>
              </a:gdLst>
              <a:ahLst/>
              <a:cxnLst>
                <a:cxn ang="0">
                  <a:pos x="T0" y="T1"/>
                </a:cxn>
                <a:cxn ang="0">
                  <a:pos x="T2" y="T3"/>
                </a:cxn>
                <a:cxn ang="0">
                  <a:pos x="T4" y="T5"/>
                </a:cxn>
                <a:cxn ang="0">
                  <a:pos x="T6" y="T7"/>
                </a:cxn>
                <a:cxn ang="0">
                  <a:pos x="T8" y="T9"/>
                </a:cxn>
              </a:cxnLst>
              <a:rect l="0" t="0" r="r" b="b"/>
              <a:pathLst>
                <a:path w="42" h="41">
                  <a:moveTo>
                    <a:pt x="26" y="0"/>
                  </a:moveTo>
                  <a:lnTo>
                    <a:pt x="42" y="26"/>
                  </a:lnTo>
                  <a:lnTo>
                    <a:pt x="15" y="41"/>
                  </a:lnTo>
                  <a:lnTo>
                    <a:pt x="0" y="15"/>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4" name="Freeform 21">
              <a:extLst>
                <a:ext uri="{FF2B5EF4-FFF2-40B4-BE49-F238E27FC236}">
                  <a16:creationId xmlns:a16="http://schemas.microsoft.com/office/drawing/2014/main" id="{1C3B1735-B044-36BA-EB68-C6C99E9001ED}"/>
                </a:ext>
              </a:extLst>
            </p:cNvPr>
            <p:cNvSpPr>
              <a:spLocks/>
            </p:cNvSpPr>
            <p:nvPr/>
          </p:nvSpPr>
          <p:spPr bwMode="auto">
            <a:xfrm>
              <a:off x="10642601" y="2270126"/>
              <a:ext cx="65088" cy="65088"/>
            </a:xfrm>
            <a:custGeom>
              <a:avLst/>
              <a:gdLst>
                <a:gd name="T0" fmla="*/ 15 w 41"/>
                <a:gd name="T1" fmla="*/ 0 h 41"/>
                <a:gd name="T2" fmla="*/ 41 w 41"/>
                <a:gd name="T3" fmla="*/ 15 h 41"/>
                <a:gd name="T4" fmla="*/ 26 w 41"/>
                <a:gd name="T5" fmla="*/ 41 h 41"/>
                <a:gd name="T6" fmla="*/ 0 w 41"/>
                <a:gd name="T7" fmla="*/ 26 h 41"/>
                <a:gd name="T8" fmla="*/ 15 w 41"/>
                <a:gd name="T9" fmla="*/ 0 h 41"/>
              </a:gdLst>
              <a:ahLst/>
              <a:cxnLst>
                <a:cxn ang="0">
                  <a:pos x="T0" y="T1"/>
                </a:cxn>
                <a:cxn ang="0">
                  <a:pos x="T2" y="T3"/>
                </a:cxn>
                <a:cxn ang="0">
                  <a:pos x="T4" y="T5"/>
                </a:cxn>
                <a:cxn ang="0">
                  <a:pos x="T6" y="T7"/>
                </a:cxn>
                <a:cxn ang="0">
                  <a:pos x="T8" y="T9"/>
                </a:cxn>
              </a:cxnLst>
              <a:rect l="0" t="0" r="r" b="b"/>
              <a:pathLst>
                <a:path w="41" h="41">
                  <a:moveTo>
                    <a:pt x="15" y="0"/>
                  </a:moveTo>
                  <a:lnTo>
                    <a:pt x="41" y="15"/>
                  </a:lnTo>
                  <a:lnTo>
                    <a:pt x="26" y="41"/>
                  </a:lnTo>
                  <a:lnTo>
                    <a:pt x="0" y="26"/>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5" name="Freeform 22">
              <a:extLst>
                <a:ext uri="{FF2B5EF4-FFF2-40B4-BE49-F238E27FC236}">
                  <a16:creationId xmlns:a16="http://schemas.microsoft.com/office/drawing/2014/main" id="{35C7870F-283F-D702-DCE9-CED82BBD6990}"/>
                </a:ext>
              </a:extLst>
            </p:cNvPr>
            <p:cNvSpPr>
              <a:spLocks/>
            </p:cNvSpPr>
            <p:nvPr/>
          </p:nvSpPr>
          <p:spPr bwMode="auto">
            <a:xfrm>
              <a:off x="10712826" y="3110764"/>
              <a:ext cx="144463" cy="144463"/>
            </a:xfrm>
            <a:custGeom>
              <a:avLst/>
              <a:gdLst>
                <a:gd name="T0" fmla="*/ 61 w 91"/>
                <a:gd name="T1" fmla="*/ 30 h 91"/>
                <a:gd name="T2" fmla="*/ 61 w 91"/>
                <a:gd name="T3" fmla="*/ 0 h 91"/>
                <a:gd name="T4" fmla="*/ 30 w 91"/>
                <a:gd name="T5" fmla="*/ 0 h 91"/>
                <a:gd name="T6" fmla="*/ 30 w 91"/>
                <a:gd name="T7" fmla="*/ 30 h 91"/>
                <a:gd name="T8" fmla="*/ 0 w 91"/>
                <a:gd name="T9" fmla="*/ 30 h 91"/>
                <a:gd name="T10" fmla="*/ 0 w 91"/>
                <a:gd name="T11" fmla="*/ 61 h 91"/>
                <a:gd name="T12" fmla="*/ 30 w 91"/>
                <a:gd name="T13" fmla="*/ 61 h 91"/>
                <a:gd name="T14" fmla="*/ 30 w 91"/>
                <a:gd name="T15" fmla="*/ 91 h 91"/>
                <a:gd name="T16" fmla="*/ 61 w 91"/>
                <a:gd name="T17" fmla="*/ 91 h 91"/>
                <a:gd name="T18" fmla="*/ 61 w 91"/>
                <a:gd name="T19" fmla="*/ 61 h 91"/>
                <a:gd name="T20" fmla="*/ 91 w 91"/>
                <a:gd name="T21" fmla="*/ 61 h 91"/>
                <a:gd name="T22" fmla="*/ 91 w 91"/>
                <a:gd name="T23" fmla="*/ 30 h 91"/>
                <a:gd name="T24" fmla="*/ 61 w 91"/>
                <a:gd name="T25"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30"/>
                  </a:moveTo>
                  <a:lnTo>
                    <a:pt x="61" y="0"/>
                  </a:lnTo>
                  <a:lnTo>
                    <a:pt x="30" y="0"/>
                  </a:lnTo>
                  <a:lnTo>
                    <a:pt x="30" y="30"/>
                  </a:lnTo>
                  <a:lnTo>
                    <a:pt x="0" y="30"/>
                  </a:lnTo>
                  <a:lnTo>
                    <a:pt x="0" y="61"/>
                  </a:lnTo>
                  <a:lnTo>
                    <a:pt x="30" y="61"/>
                  </a:lnTo>
                  <a:lnTo>
                    <a:pt x="30" y="91"/>
                  </a:lnTo>
                  <a:lnTo>
                    <a:pt x="61" y="91"/>
                  </a:lnTo>
                  <a:lnTo>
                    <a:pt x="61" y="61"/>
                  </a:lnTo>
                  <a:lnTo>
                    <a:pt x="91" y="61"/>
                  </a:lnTo>
                  <a:lnTo>
                    <a:pt x="91" y="30"/>
                  </a:lnTo>
                  <a:lnTo>
                    <a:pt x="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6" name="Freeform 23">
              <a:extLst>
                <a:ext uri="{FF2B5EF4-FFF2-40B4-BE49-F238E27FC236}">
                  <a16:creationId xmlns:a16="http://schemas.microsoft.com/office/drawing/2014/main" id="{5837C78A-4473-CDD0-A401-AFB62BBD62F6}"/>
                </a:ext>
              </a:extLst>
            </p:cNvPr>
            <p:cNvSpPr>
              <a:spLocks/>
            </p:cNvSpPr>
            <p:nvPr/>
          </p:nvSpPr>
          <p:spPr bwMode="auto">
            <a:xfrm>
              <a:off x="10928351" y="2243138"/>
              <a:ext cx="144463" cy="144463"/>
            </a:xfrm>
            <a:custGeom>
              <a:avLst/>
              <a:gdLst>
                <a:gd name="T0" fmla="*/ 30 w 91"/>
                <a:gd name="T1" fmla="*/ 91 h 91"/>
                <a:gd name="T2" fmla="*/ 61 w 91"/>
                <a:gd name="T3" fmla="*/ 91 h 91"/>
                <a:gd name="T4" fmla="*/ 61 w 91"/>
                <a:gd name="T5" fmla="*/ 61 h 91"/>
                <a:gd name="T6" fmla="*/ 91 w 91"/>
                <a:gd name="T7" fmla="*/ 61 h 91"/>
                <a:gd name="T8" fmla="*/ 91 w 91"/>
                <a:gd name="T9" fmla="*/ 30 h 91"/>
                <a:gd name="T10" fmla="*/ 61 w 91"/>
                <a:gd name="T11" fmla="*/ 30 h 91"/>
                <a:gd name="T12" fmla="*/ 61 w 91"/>
                <a:gd name="T13" fmla="*/ 0 h 91"/>
                <a:gd name="T14" fmla="*/ 30 w 91"/>
                <a:gd name="T15" fmla="*/ 0 h 91"/>
                <a:gd name="T16" fmla="*/ 30 w 91"/>
                <a:gd name="T17" fmla="*/ 30 h 91"/>
                <a:gd name="T18" fmla="*/ 0 w 91"/>
                <a:gd name="T19" fmla="*/ 30 h 91"/>
                <a:gd name="T20" fmla="*/ 0 w 91"/>
                <a:gd name="T21" fmla="*/ 61 h 91"/>
                <a:gd name="T22" fmla="*/ 30 w 91"/>
                <a:gd name="T23" fmla="*/ 61 h 91"/>
                <a:gd name="T24" fmla="*/ 30 w 91"/>
                <a:gd name="T25"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30" y="91"/>
                  </a:moveTo>
                  <a:lnTo>
                    <a:pt x="61" y="91"/>
                  </a:lnTo>
                  <a:lnTo>
                    <a:pt x="61" y="61"/>
                  </a:lnTo>
                  <a:lnTo>
                    <a:pt x="91" y="61"/>
                  </a:lnTo>
                  <a:lnTo>
                    <a:pt x="91" y="30"/>
                  </a:lnTo>
                  <a:lnTo>
                    <a:pt x="61" y="30"/>
                  </a:lnTo>
                  <a:lnTo>
                    <a:pt x="61" y="0"/>
                  </a:lnTo>
                  <a:lnTo>
                    <a:pt x="30" y="0"/>
                  </a:lnTo>
                  <a:lnTo>
                    <a:pt x="30" y="30"/>
                  </a:lnTo>
                  <a:lnTo>
                    <a:pt x="0" y="30"/>
                  </a:lnTo>
                  <a:lnTo>
                    <a:pt x="0" y="61"/>
                  </a:lnTo>
                  <a:lnTo>
                    <a:pt x="30" y="6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7" name="Freeform 24">
              <a:extLst>
                <a:ext uri="{FF2B5EF4-FFF2-40B4-BE49-F238E27FC236}">
                  <a16:creationId xmlns:a16="http://schemas.microsoft.com/office/drawing/2014/main" id="{A748394B-DDA1-14A2-A699-60E943F644AC}"/>
                </a:ext>
              </a:extLst>
            </p:cNvPr>
            <p:cNvSpPr>
              <a:spLocks/>
            </p:cNvSpPr>
            <p:nvPr/>
          </p:nvSpPr>
          <p:spPr bwMode="auto">
            <a:xfrm>
              <a:off x="9818688" y="2628901"/>
              <a:ext cx="144463" cy="144463"/>
            </a:xfrm>
            <a:custGeom>
              <a:avLst/>
              <a:gdLst>
                <a:gd name="T0" fmla="*/ 61 w 91"/>
                <a:gd name="T1" fmla="*/ 0 h 91"/>
                <a:gd name="T2" fmla="*/ 30 w 91"/>
                <a:gd name="T3" fmla="*/ 0 h 91"/>
                <a:gd name="T4" fmla="*/ 30 w 91"/>
                <a:gd name="T5" fmla="*/ 30 h 91"/>
                <a:gd name="T6" fmla="*/ 0 w 91"/>
                <a:gd name="T7" fmla="*/ 30 h 91"/>
                <a:gd name="T8" fmla="*/ 0 w 91"/>
                <a:gd name="T9" fmla="*/ 60 h 91"/>
                <a:gd name="T10" fmla="*/ 30 w 91"/>
                <a:gd name="T11" fmla="*/ 60 h 91"/>
                <a:gd name="T12" fmla="*/ 30 w 91"/>
                <a:gd name="T13" fmla="*/ 91 h 91"/>
                <a:gd name="T14" fmla="*/ 61 w 91"/>
                <a:gd name="T15" fmla="*/ 91 h 91"/>
                <a:gd name="T16" fmla="*/ 61 w 91"/>
                <a:gd name="T17" fmla="*/ 60 h 91"/>
                <a:gd name="T18" fmla="*/ 91 w 91"/>
                <a:gd name="T19" fmla="*/ 60 h 91"/>
                <a:gd name="T20" fmla="*/ 91 w 91"/>
                <a:gd name="T21" fmla="*/ 30 h 91"/>
                <a:gd name="T22" fmla="*/ 61 w 91"/>
                <a:gd name="T23" fmla="*/ 30 h 91"/>
                <a:gd name="T24" fmla="*/ 61 w 91"/>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1">
                  <a:moveTo>
                    <a:pt x="61" y="0"/>
                  </a:moveTo>
                  <a:lnTo>
                    <a:pt x="30" y="0"/>
                  </a:lnTo>
                  <a:lnTo>
                    <a:pt x="30" y="30"/>
                  </a:lnTo>
                  <a:lnTo>
                    <a:pt x="0" y="30"/>
                  </a:lnTo>
                  <a:lnTo>
                    <a:pt x="0" y="60"/>
                  </a:lnTo>
                  <a:lnTo>
                    <a:pt x="30" y="60"/>
                  </a:lnTo>
                  <a:lnTo>
                    <a:pt x="30" y="91"/>
                  </a:lnTo>
                  <a:lnTo>
                    <a:pt x="61" y="91"/>
                  </a:lnTo>
                  <a:lnTo>
                    <a:pt x="61" y="60"/>
                  </a:lnTo>
                  <a:lnTo>
                    <a:pt x="91" y="60"/>
                  </a:lnTo>
                  <a:lnTo>
                    <a:pt x="91" y="30"/>
                  </a:lnTo>
                  <a:lnTo>
                    <a:pt x="61" y="30"/>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8" name="Freeform 25">
              <a:extLst>
                <a:ext uri="{FF2B5EF4-FFF2-40B4-BE49-F238E27FC236}">
                  <a16:creationId xmlns:a16="http://schemas.microsoft.com/office/drawing/2014/main" id="{DF973373-27D8-3B34-3F79-2D8799AEA997}"/>
                </a:ext>
              </a:extLst>
            </p:cNvPr>
            <p:cNvSpPr>
              <a:spLocks/>
            </p:cNvSpPr>
            <p:nvPr/>
          </p:nvSpPr>
          <p:spPr bwMode="auto">
            <a:xfrm>
              <a:off x="9986963" y="2387601"/>
              <a:ext cx="146050" cy="144463"/>
            </a:xfrm>
            <a:custGeom>
              <a:avLst/>
              <a:gdLst>
                <a:gd name="T0" fmla="*/ 92 w 92"/>
                <a:gd name="T1" fmla="*/ 31 h 91"/>
                <a:gd name="T2" fmla="*/ 62 w 92"/>
                <a:gd name="T3" fmla="*/ 31 h 91"/>
                <a:gd name="T4" fmla="*/ 62 w 92"/>
                <a:gd name="T5" fmla="*/ 0 h 91"/>
                <a:gd name="T6" fmla="*/ 30 w 92"/>
                <a:gd name="T7" fmla="*/ 0 h 91"/>
                <a:gd name="T8" fmla="*/ 30 w 92"/>
                <a:gd name="T9" fmla="*/ 31 h 91"/>
                <a:gd name="T10" fmla="*/ 0 w 92"/>
                <a:gd name="T11" fmla="*/ 31 h 91"/>
                <a:gd name="T12" fmla="*/ 0 w 92"/>
                <a:gd name="T13" fmla="*/ 61 h 91"/>
                <a:gd name="T14" fmla="*/ 30 w 92"/>
                <a:gd name="T15" fmla="*/ 61 h 91"/>
                <a:gd name="T16" fmla="*/ 30 w 92"/>
                <a:gd name="T17" fmla="*/ 91 h 91"/>
                <a:gd name="T18" fmla="*/ 62 w 92"/>
                <a:gd name="T19" fmla="*/ 91 h 91"/>
                <a:gd name="T20" fmla="*/ 62 w 92"/>
                <a:gd name="T21" fmla="*/ 61 h 91"/>
                <a:gd name="T22" fmla="*/ 92 w 92"/>
                <a:gd name="T23" fmla="*/ 61 h 91"/>
                <a:gd name="T24" fmla="*/ 92 w 92"/>
                <a:gd name="T25" fmla="*/ 3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92" y="31"/>
                  </a:moveTo>
                  <a:lnTo>
                    <a:pt x="62" y="31"/>
                  </a:lnTo>
                  <a:lnTo>
                    <a:pt x="62" y="0"/>
                  </a:lnTo>
                  <a:lnTo>
                    <a:pt x="30" y="0"/>
                  </a:lnTo>
                  <a:lnTo>
                    <a:pt x="30" y="31"/>
                  </a:lnTo>
                  <a:lnTo>
                    <a:pt x="0" y="31"/>
                  </a:lnTo>
                  <a:lnTo>
                    <a:pt x="0" y="61"/>
                  </a:lnTo>
                  <a:lnTo>
                    <a:pt x="30" y="61"/>
                  </a:lnTo>
                  <a:lnTo>
                    <a:pt x="30" y="91"/>
                  </a:lnTo>
                  <a:lnTo>
                    <a:pt x="62" y="91"/>
                  </a:lnTo>
                  <a:lnTo>
                    <a:pt x="62" y="61"/>
                  </a:lnTo>
                  <a:lnTo>
                    <a:pt x="92" y="61"/>
                  </a:lnTo>
                  <a:lnTo>
                    <a:pt x="9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59" name="Freeform 26">
              <a:extLst>
                <a:ext uri="{FF2B5EF4-FFF2-40B4-BE49-F238E27FC236}">
                  <a16:creationId xmlns:a16="http://schemas.microsoft.com/office/drawing/2014/main" id="{CC2D7210-8349-5ED4-135C-D0673C937F4C}"/>
                </a:ext>
              </a:extLst>
            </p:cNvPr>
            <p:cNvSpPr>
              <a:spLocks/>
            </p:cNvSpPr>
            <p:nvPr/>
          </p:nvSpPr>
          <p:spPr bwMode="auto">
            <a:xfrm>
              <a:off x="10109201" y="2868613"/>
              <a:ext cx="144463" cy="146050"/>
            </a:xfrm>
            <a:custGeom>
              <a:avLst/>
              <a:gdLst>
                <a:gd name="T0" fmla="*/ 60 w 91"/>
                <a:gd name="T1" fmla="*/ 92 h 92"/>
                <a:gd name="T2" fmla="*/ 60 w 91"/>
                <a:gd name="T3" fmla="*/ 61 h 92"/>
                <a:gd name="T4" fmla="*/ 91 w 91"/>
                <a:gd name="T5" fmla="*/ 61 h 92"/>
                <a:gd name="T6" fmla="*/ 91 w 91"/>
                <a:gd name="T7" fmla="*/ 30 h 92"/>
                <a:gd name="T8" fmla="*/ 60 w 91"/>
                <a:gd name="T9" fmla="*/ 30 h 92"/>
                <a:gd name="T10" fmla="*/ 60 w 91"/>
                <a:gd name="T11" fmla="*/ 0 h 92"/>
                <a:gd name="T12" fmla="*/ 30 w 91"/>
                <a:gd name="T13" fmla="*/ 0 h 92"/>
                <a:gd name="T14" fmla="*/ 30 w 91"/>
                <a:gd name="T15" fmla="*/ 30 h 92"/>
                <a:gd name="T16" fmla="*/ 0 w 91"/>
                <a:gd name="T17" fmla="*/ 30 h 92"/>
                <a:gd name="T18" fmla="*/ 0 w 91"/>
                <a:gd name="T19" fmla="*/ 61 h 92"/>
                <a:gd name="T20" fmla="*/ 30 w 91"/>
                <a:gd name="T21" fmla="*/ 61 h 92"/>
                <a:gd name="T22" fmla="*/ 30 w 91"/>
                <a:gd name="T23" fmla="*/ 92 h 92"/>
                <a:gd name="T24" fmla="*/ 60 w 91"/>
                <a:gd name="T25"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92">
                  <a:moveTo>
                    <a:pt x="60" y="92"/>
                  </a:moveTo>
                  <a:lnTo>
                    <a:pt x="60" y="61"/>
                  </a:lnTo>
                  <a:lnTo>
                    <a:pt x="91" y="61"/>
                  </a:lnTo>
                  <a:lnTo>
                    <a:pt x="91" y="30"/>
                  </a:lnTo>
                  <a:lnTo>
                    <a:pt x="60" y="30"/>
                  </a:lnTo>
                  <a:lnTo>
                    <a:pt x="60" y="0"/>
                  </a:lnTo>
                  <a:lnTo>
                    <a:pt x="30" y="0"/>
                  </a:lnTo>
                  <a:lnTo>
                    <a:pt x="30" y="30"/>
                  </a:lnTo>
                  <a:lnTo>
                    <a:pt x="0" y="30"/>
                  </a:lnTo>
                  <a:lnTo>
                    <a:pt x="0" y="61"/>
                  </a:lnTo>
                  <a:lnTo>
                    <a:pt x="30" y="61"/>
                  </a:lnTo>
                  <a:lnTo>
                    <a:pt x="30" y="92"/>
                  </a:lnTo>
                  <a:lnTo>
                    <a:pt x="60"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0" name="Freeform 27">
              <a:extLst>
                <a:ext uri="{FF2B5EF4-FFF2-40B4-BE49-F238E27FC236}">
                  <a16:creationId xmlns:a16="http://schemas.microsoft.com/office/drawing/2014/main" id="{A0DC7053-DBA9-9EAF-AB9D-3736C9F6FCFB}"/>
                </a:ext>
              </a:extLst>
            </p:cNvPr>
            <p:cNvSpPr>
              <a:spLocks/>
            </p:cNvSpPr>
            <p:nvPr/>
          </p:nvSpPr>
          <p:spPr bwMode="auto">
            <a:xfrm>
              <a:off x="10952163" y="2747963"/>
              <a:ext cx="146050" cy="144463"/>
            </a:xfrm>
            <a:custGeom>
              <a:avLst/>
              <a:gdLst>
                <a:gd name="T0" fmla="*/ 61 w 92"/>
                <a:gd name="T1" fmla="*/ 0 h 91"/>
                <a:gd name="T2" fmla="*/ 30 w 92"/>
                <a:gd name="T3" fmla="*/ 0 h 91"/>
                <a:gd name="T4" fmla="*/ 30 w 92"/>
                <a:gd name="T5" fmla="*/ 31 h 91"/>
                <a:gd name="T6" fmla="*/ 0 w 92"/>
                <a:gd name="T7" fmla="*/ 31 h 91"/>
                <a:gd name="T8" fmla="*/ 0 w 92"/>
                <a:gd name="T9" fmla="*/ 61 h 91"/>
                <a:gd name="T10" fmla="*/ 30 w 92"/>
                <a:gd name="T11" fmla="*/ 61 h 91"/>
                <a:gd name="T12" fmla="*/ 30 w 92"/>
                <a:gd name="T13" fmla="*/ 91 h 91"/>
                <a:gd name="T14" fmla="*/ 61 w 92"/>
                <a:gd name="T15" fmla="*/ 91 h 91"/>
                <a:gd name="T16" fmla="*/ 61 w 92"/>
                <a:gd name="T17" fmla="*/ 61 h 91"/>
                <a:gd name="T18" fmla="*/ 92 w 92"/>
                <a:gd name="T19" fmla="*/ 61 h 91"/>
                <a:gd name="T20" fmla="*/ 92 w 92"/>
                <a:gd name="T21" fmla="*/ 31 h 91"/>
                <a:gd name="T22" fmla="*/ 61 w 92"/>
                <a:gd name="T23" fmla="*/ 31 h 91"/>
                <a:gd name="T24" fmla="*/ 61 w 92"/>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91">
                  <a:moveTo>
                    <a:pt x="61" y="0"/>
                  </a:moveTo>
                  <a:lnTo>
                    <a:pt x="30" y="0"/>
                  </a:lnTo>
                  <a:lnTo>
                    <a:pt x="30" y="31"/>
                  </a:lnTo>
                  <a:lnTo>
                    <a:pt x="0" y="31"/>
                  </a:lnTo>
                  <a:lnTo>
                    <a:pt x="0" y="61"/>
                  </a:lnTo>
                  <a:lnTo>
                    <a:pt x="30" y="61"/>
                  </a:lnTo>
                  <a:lnTo>
                    <a:pt x="30" y="91"/>
                  </a:lnTo>
                  <a:lnTo>
                    <a:pt x="61" y="91"/>
                  </a:lnTo>
                  <a:lnTo>
                    <a:pt x="61" y="61"/>
                  </a:lnTo>
                  <a:lnTo>
                    <a:pt x="92" y="61"/>
                  </a:lnTo>
                  <a:lnTo>
                    <a:pt x="92" y="31"/>
                  </a:lnTo>
                  <a:lnTo>
                    <a:pt x="61" y="31"/>
                  </a:lnTo>
                  <a:lnTo>
                    <a:pt x="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grpSp>
        <p:nvGrpSpPr>
          <p:cNvPr id="61" name="Group 60">
            <a:extLst>
              <a:ext uri="{FF2B5EF4-FFF2-40B4-BE49-F238E27FC236}">
                <a16:creationId xmlns:a16="http://schemas.microsoft.com/office/drawing/2014/main" id="{F9CA1BBF-40EB-8471-01E6-91D80685C404}"/>
              </a:ext>
            </a:extLst>
          </p:cNvPr>
          <p:cNvGrpSpPr/>
          <p:nvPr/>
        </p:nvGrpSpPr>
        <p:grpSpPr>
          <a:xfrm>
            <a:off x="613951" y="1458494"/>
            <a:ext cx="349688" cy="349688"/>
            <a:chOff x="8089901" y="3478213"/>
            <a:chExt cx="1125538" cy="1125537"/>
          </a:xfrm>
          <a:solidFill>
            <a:schemeClr val="tx1">
              <a:lumMod val="90000"/>
              <a:lumOff val="10000"/>
            </a:schemeClr>
          </a:solidFill>
        </p:grpSpPr>
        <p:sp>
          <p:nvSpPr>
            <p:cNvPr id="62" name="Freeform 31">
              <a:extLst>
                <a:ext uri="{FF2B5EF4-FFF2-40B4-BE49-F238E27FC236}">
                  <a16:creationId xmlns:a16="http://schemas.microsoft.com/office/drawing/2014/main" id="{EC855572-9D6C-FAF5-C9F1-1CE3F3A388CE}"/>
                </a:ext>
              </a:extLst>
            </p:cNvPr>
            <p:cNvSpPr>
              <a:spLocks noEditPoints="1"/>
            </p:cNvSpPr>
            <p:nvPr/>
          </p:nvSpPr>
          <p:spPr bwMode="auto">
            <a:xfrm>
              <a:off x="8089901" y="3478213"/>
              <a:ext cx="936625" cy="1125537"/>
            </a:xfrm>
            <a:custGeom>
              <a:avLst/>
              <a:gdLst>
                <a:gd name="T0" fmla="*/ 1623 w 1708"/>
                <a:gd name="T1" fmla="*/ 1952 h 2059"/>
                <a:gd name="T2" fmla="*/ 1602 w 1708"/>
                <a:gd name="T3" fmla="*/ 1973 h 2059"/>
                <a:gd name="T4" fmla="*/ 280 w 1708"/>
                <a:gd name="T5" fmla="*/ 1973 h 2059"/>
                <a:gd name="T6" fmla="*/ 257 w 1708"/>
                <a:gd name="T7" fmla="*/ 1954 h 2059"/>
                <a:gd name="T8" fmla="*/ 257 w 1708"/>
                <a:gd name="T9" fmla="*/ 1952 h 2059"/>
                <a:gd name="T10" fmla="*/ 257 w 1708"/>
                <a:gd name="T11" fmla="*/ 142 h 2059"/>
                <a:gd name="T12" fmla="*/ 250 w 1708"/>
                <a:gd name="T13" fmla="*/ 95 h 2059"/>
                <a:gd name="T14" fmla="*/ 1566 w 1708"/>
                <a:gd name="T15" fmla="*/ 95 h 2059"/>
                <a:gd name="T16" fmla="*/ 1623 w 1708"/>
                <a:gd name="T17" fmla="*/ 153 h 2059"/>
                <a:gd name="T18" fmla="*/ 1623 w 1708"/>
                <a:gd name="T19" fmla="*/ 153 h 2059"/>
                <a:gd name="T20" fmla="*/ 1623 w 1708"/>
                <a:gd name="T21" fmla="*/ 906 h 2059"/>
                <a:gd name="T22" fmla="*/ 1708 w 1708"/>
                <a:gd name="T23" fmla="*/ 906 h 2059"/>
                <a:gd name="T24" fmla="*/ 1708 w 1708"/>
                <a:gd name="T25" fmla="*/ 153 h 2059"/>
                <a:gd name="T26" fmla="*/ 1566 w 1708"/>
                <a:gd name="T27" fmla="*/ 10 h 2059"/>
                <a:gd name="T28" fmla="*/ 162 w 1708"/>
                <a:gd name="T29" fmla="*/ 10 h 2059"/>
                <a:gd name="T30" fmla="*/ 64 w 1708"/>
                <a:gd name="T31" fmla="*/ 25 h 2059"/>
                <a:gd name="T32" fmla="*/ 1 w 1708"/>
                <a:gd name="T33" fmla="*/ 147 h 2059"/>
                <a:gd name="T34" fmla="*/ 1 w 1708"/>
                <a:gd name="T35" fmla="*/ 458 h 2059"/>
                <a:gd name="T36" fmla="*/ 101 w 1708"/>
                <a:gd name="T37" fmla="*/ 565 h 2059"/>
                <a:gd name="T38" fmla="*/ 101 w 1708"/>
                <a:gd name="T39" fmla="*/ 565 h 2059"/>
                <a:gd name="T40" fmla="*/ 172 w 1708"/>
                <a:gd name="T41" fmla="*/ 565 h 2059"/>
                <a:gd name="T42" fmla="*/ 172 w 1708"/>
                <a:gd name="T43" fmla="*/ 1952 h 2059"/>
                <a:gd name="T44" fmla="*/ 278 w 1708"/>
                <a:gd name="T45" fmla="*/ 2058 h 2059"/>
                <a:gd name="T46" fmla="*/ 1601 w 1708"/>
                <a:gd name="T47" fmla="*/ 2058 h 2059"/>
                <a:gd name="T48" fmla="*/ 1708 w 1708"/>
                <a:gd name="T49" fmla="*/ 1954 h 2059"/>
                <a:gd name="T50" fmla="*/ 1708 w 1708"/>
                <a:gd name="T51" fmla="*/ 1952 h 2059"/>
                <a:gd name="T52" fmla="*/ 1708 w 1708"/>
                <a:gd name="T53" fmla="*/ 1589 h 2059"/>
                <a:gd name="T54" fmla="*/ 1623 w 1708"/>
                <a:gd name="T55" fmla="*/ 1589 h 2059"/>
                <a:gd name="T56" fmla="*/ 1623 w 1708"/>
                <a:gd name="T57" fmla="*/ 1952 h 2059"/>
                <a:gd name="T58" fmla="*/ 172 w 1708"/>
                <a:gd name="T59" fmla="*/ 479 h 2059"/>
                <a:gd name="T60" fmla="*/ 101 w 1708"/>
                <a:gd name="T61" fmla="*/ 479 h 2059"/>
                <a:gd name="T62" fmla="*/ 87 w 1708"/>
                <a:gd name="T63" fmla="*/ 459 h 2059"/>
                <a:gd name="T64" fmla="*/ 87 w 1708"/>
                <a:gd name="T65" fmla="*/ 147 h 2059"/>
                <a:gd name="T66" fmla="*/ 111 w 1708"/>
                <a:gd name="T67" fmla="*/ 95 h 2059"/>
                <a:gd name="T68" fmla="*/ 129 w 1708"/>
                <a:gd name="T69" fmla="*/ 90 h 2059"/>
                <a:gd name="T70" fmla="*/ 129 w 1708"/>
                <a:gd name="T71" fmla="*/ 95 h 2059"/>
                <a:gd name="T72" fmla="*/ 147 w 1708"/>
                <a:gd name="T73" fmla="*/ 95 h 2059"/>
                <a:gd name="T74" fmla="*/ 172 w 1708"/>
                <a:gd name="T75" fmla="*/ 142 h 2059"/>
                <a:gd name="T76" fmla="*/ 172 w 1708"/>
                <a:gd name="T77" fmla="*/ 479 h 2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08" h="2059">
                  <a:moveTo>
                    <a:pt x="1623" y="1952"/>
                  </a:moveTo>
                  <a:cubicBezTo>
                    <a:pt x="1623" y="1963"/>
                    <a:pt x="1614" y="1973"/>
                    <a:pt x="1602" y="1973"/>
                  </a:cubicBezTo>
                  <a:cubicBezTo>
                    <a:pt x="280" y="1973"/>
                    <a:pt x="280" y="1973"/>
                    <a:pt x="280" y="1973"/>
                  </a:cubicBezTo>
                  <a:cubicBezTo>
                    <a:pt x="268" y="1974"/>
                    <a:pt x="258" y="1965"/>
                    <a:pt x="257" y="1954"/>
                  </a:cubicBezTo>
                  <a:cubicBezTo>
                    <a:pt x="257" y="1953"/>
                    <a:pt x="257" y="1953"/>
                    <a:pt x="257" y="1952"/>
                  </a:cubicBezTo>
                  <a:cubicBezTo>
                    <a:pt x="257" y="142"/>
                    <a:pt x="257" y="142"/>
                    <a:pt x="257" y="142"/>
                  </a:cubicBezTo>
                  <a:cubicBezTo>
                    <a:pt x="257" y="126"/>
                    <a:pt x="255" y="110"/>
                    <a:pt x="250" y="95"/>
                  </a:cubicBezTo>
                  <a:cubicBezTo>
                    <a:pt x="1566" y="95"/>
                    <a:pt x="1566" y="95"/>
                    <a:pt x="1566" y="95"/>
                  </a:cubicBezTo>
                  <a:cubicBezTo>
                    <a:pt x="1598" y="96"/>
                    <a:pt x="1623" y="121"/>
                    <a:pt x="1623" y="153"/>
                  </a:cubicBezTo>
                  <a:cubicBezTo>
                    <a:pt x="1623" y="153"/>
                    <a:pt x="1623" y="153"/>
                    <a:pt x="1623" y="153"/>
                  </a:cubicBezTo>
                  <a:cubicBezTo>
                    <a:pt x="1623" y="906"/>
                    <a:pt x="1623" y="906"/>
                    <a:pt x="1623" y="906"/>
                  </a:cubicBezTo>
                  <a:cubicBezTo>
                    <a:pt x="1708" y="906"/>
                    <a:pt x="1708" y="906"/>
                    <a:pt x="1708" y="906"/>
                  </a:cubicBezTo>
                  <a:cubicBezTo>
                    <a:pt x="1708" y="153"/>
                    <a:pt x="1708" y="153"/>
                    <a:pt x="1708" y="153"/>
                  </a:cubicBezTo>
                  <a:cubicBezTo>
                    <a:pt x="1708" y="75"/>
                    <a:pt x="1645" y="10"/>
                    <a:pt x="1566" y="10"/>
                  </a:cubicBezTo>
                  <a:cubicBezTo>
                    <a:pt x="162" y="10"/>
                    <a:pt x="162" y="10"/>
                    <a:pt x="162" y="10"/>
                  </a:cubicBezTo>
                  <a:cubicBezTo>
                    <a:pt x="129" y="0"/>
                    <a:pt x="93" y="6"/>
                    <a:pt x="64" y="25"/>
                  </a:cubicBezTo>
                  <a:cubicBezTo>
                    <a:pt x="24" y="53"/>
                    <a:pt x="1" y="99"/>
                    <a:pt x="1" y="147"/>
                  </a:cubicBezTo>
                  <a:cubicBezTo>
                    <a:pt x="1" y="458"/>
                    <a:pt x="1" y="458"/>
                    <a:pt x="1" y="458"/>
                  </a:cubicBezTo>
                  <a:cubicBezTo>
                    <a:pt x="0" y="515"/>
                    <a:pt x="44" y="563"/>
                    <a:pt x="101" y="565"/>
                  </a:cubicBezTo>
                  <a:cubicBezTo>
                    <a:pt x="101" y="565"/>
                    <a:pt x="101" y="565"/>
                    <a:pt x="101" y="565"/>
                  </a:cubicBezTo>
                  <a:cubicBezTo>
                    <a:pt x="172" y="565"/>
                    <a:pt x="172" y="565"/>
                    <a:pt x="172" y="565"/>
                  </a:cubicBezTo>
                  <a:cubicBezTo>
                    <a:pt x="172" y="1952"/>
                    <a:pt x="172" y="1952"/>
                    <a:pt x="172" y="1952"/>
                  </a:cubicBezTo>
                  <a:cubicBezTo>
                    <a:pt x="172" y="2011"/>
                    <a:pt x="219" y="2058"/>
                    <a:pt x="278" y="2058"/>
                  </a:cubicBezTo>
                  <a:cubicBezTo>
                    <a:pt x="1601" y="2058"/>
                    <a:pt x="1601" y="2058"/>
                    <a:pt x="1601" y="2058"/>
                  </a:cubicBezTo>
                  <a:cubicBezTo>
                    <a:pt x="1659" y="2059"/>
                    <a:pt x="1707" y="2012"/>
                    <a:pt x="1708" y="1954"/>
                  </a:cubicBezTo>
                  <a:cubicBezTo>
                    <a:pt x="1708" y="1953"/>
                    <a:pt x="1708" y="1953"/>
                    <a:pt x="1708" y="1952"/>
                  </a:cubicBezTo>
                  <a:cubicBezTo>
                    <a:pt x="1708" y="1589"/>
                    <a:pt x="1708" y="1589"/>
                    <a:pt x="1708" y="1589"/>
                  </a:cubicBezTo>
                  <a:cubicBezTo>
                    <a:pt x="1623" y="1589"/>
                    <a:pt x="1623" y="1589"/>
                    <a:pt x="1623" y="1589"/>
                  </a:cubicBezTo>
                  <a:lnTo>
                    <a:pt x="1623" y="1952"/>
                  </a:lnTo>
                  <a:close/>
                  <a:moveTo>
                    <a:pt x="172" y="479"/>
                  </a:moveTo>
                  <a:cubicBezTo>
                    <a:pt x="101" y="479"/>
                    <a:pt x="101" y="479"/>
                    <a:pt x="101" y="479"/>
                  </a:cubicBezTo>
                  <a:cubicBezTo>
                    <a:pt x="94" y="479"/>
                    <a:pt x="87" y="471"/>
                    <a:pt x="87" y="459"/>
                  </a:cubicBezTo>
                  <a:cubicBezTo>
                    <a:pt x="87" y="147"/>
                    <a:pt x="87" y="147"/>
                    <a:pt x="87" y="147"/>
                  </a:cubicBezTo>
                  <a:cubicBezTo>
                    <a:pt x="86" y="127"/>
                    <a:pt x="95" y="108"/>
                    <a:pt x="111" y="95"/>
                  </a:cubicBezTo>
                  <a:cubicBezTo>
                    <a:pt x="116" y="92"/>
                    <a:pt x="123" y="90"/>
                    <a:pt x="129" y="90"/>
                  </a:cubicBezTo>
                  <a:cubicBezTo>
                    <a:pt x="129" y="95"/>
                    <a:pt x="129" y="95"/>
                    <a:pt x="129" y="95"/>
                  </a:cubicBezTo>
                  <a:cubicBezTo>
                    <a:pt x="147" y="95"/>
                    <a:pt x="147" y="95"/>
                    <a:pt x="147" y="95"/>
                  </a:cubicBezTo>
                  <a:cubicBezTo>
                    <a:pt x="163" y="105"/>
                    <a:pt x="173" y="123"/>
                    <a:pt x="172" y="142"/>
                  </a:cubicBezTo>
                  <a:cubicBezTo>
                    <a:pt x="172" y="479"/>
                    <a:pt x="172" y="479"/>
                    <a:pt x="172" y="4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63" name="Freeform 32">
              <a:extLst>
                <a:ext uri="{FF2B5EF4-FFF2-40B4-BE49-F238E27FC236}">
                  <a16:creationId xmlns:a16="http://schemas.microsoft.com/office/drawing/2014/main" id="{7511104B-EC06-8A1D-436F-0F0F45D5F31C}"/>
                </a:ext>
              </a:extLst>
            </p:cNvPr>
            <p:cNvSpPr>
              <a:spLocks noEditPoints="1"/>
            </p:cNvSpPr>
            <p:nvPr/>
          </p:nvSpPr>
          <p:spPr bwMode="auto">
            <a:xfrm>
              <a:off x="8667751" y="3948113"/>
              <a:ext cx="547688" cy="544512"/>
            </a:xfrm>
            <a:custGeom>
              <a:avLst/>
              <a:gdLst>
                <a:gd name="T0" fmla="*/ 984 w 1001"/>
                <a:gd name="T1" fmla="*/ 149 h 996"/>
                <a:gd name="T2" fmla="*/ 851 w 1001"/>
                <a:gd name="T3" fmla="*/ 16 h 996"/>
                <a:gd name="T4" fmla="*/ 791 w 1001"/>
                <a:gd name="T5" fmla="*/ 16 h 996"/>
                <a:gd name="T6" fmla="*/ 129 w 1001"/>
                <a:gd name="T7" fmla="*/ 679 h 996"/>
                <a:gd name="T8" fmla="*/ 120 w 1001"/>
                <a:gd name="T9" fmla="*/ 692 h 996"/>
                <a:gd name="T10" fmla="*/ 10 w 1001"/>
                <a:gd name="T11" fmla="*/ 935 h 996"/>
                <a:gd name="T12" fmla="*/ 31 w 1001"/>
                <a:gd name="T13" fmla="*/ 991 h 996"/>
                <a:gd name="T14" fmla="*/ 66 w 1001"/>
                <a:gd name="T15" fmla="*/ 991 h 996"/>
                <a:gd name="T16" fmla="*/ 309 w 1001"/>
                <a:gd name="T17" fmla="*/ 880 h 996"/>
                <a:gd name="T18" fmla="*/ 321 w 1001"/>
                <a:gd name="T19" fmla="*/ 872 h 996"/>
                <a:gd name="T20" fmla="*/ 984 w 1001"/>
                <a:gd name="T21" fmla="*/ 209 h 996"/>
                <a:gd name="T22" fmla="*/ 984 w 1001"/>
                <a:gd name="T23" fmla="*/ 149 h 996"/>
                <a:gd name="T24" fmla="*/ 134 w 1001"/>
                <a:gd name="T25" fmla="*/ 866 h 996"/>
                <a:gd name="T26" fmla="*/ 172 w 1001"/>
                <a:gd name="T27" fmla="*/ 781 h 996"/>
                <a:gd name="T28" fmla="*/ 218 w 1001"/>
                <a:gd name="T29" fmla="*/ 827 h 996"/>
                <a:gd name="T30" fmla="*/ 134 w 1001"/>
                <a:gd name="T31" fmla="*/ 866 h 996"/>
                <a:gd name="T32" fmla="*/ 291 w 1001"/>
                <a:gd name="T33" fmla="*/ 781 h 996"/>
                <a:gd name="T34" fmla="*/ 219 w 1001"/>
                <a:gd name="T35" fmla="*/ 709 h 996"/>
                <a:gd name="T36" fmla="*/ 667 w 1001"/>
                <a:gd name="T37" fmla="*/ 261 h 996"/>
                <a:gd name="T38" fmla="*/ 740 w 1001"/>
                <a:gd name="T39" fmla="*/ 334 h 996"/>
                <a:gd name="T40" fmla="*/ 291 w 1001"/>
                <a:gd name="T41" fmla="*/ 781 h 996"/>
                <a:gd name="T42" fmla="*/ 799 w 1001"/>
                <a:gd name="T43" fmla="*/ 273 h 996"/>
                <a:gd name="T44" fmla="*/ 727 w 1001"/>
                <a:gd name="T45" fmla="*/ 201 h 996"/>
                <a:gd name="T46" fmla="*/ 821 w 1001"/>
                <a:gd name="T47" fmla="*/ 107 h 996"/>
                <a:gd name="T48" fmla="*/ 894 w 1001"/>
                <a:gd name="T49" fmla="*/ 179 h 996"/>
                <a:gd name="T50" fmla="*/ 799 w 1001"/>
                <a:gd name="T51" fmla="*/ 27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01" h="996">
                  <a:moveTo>
                    <a:pt x="984" y="149"/>
                  </a:moveTo>
                  <a:cubicBezTo>
                    <a:pt x="851" y="16"/>
                    <a:pt x="851" y="16"/>
                    <a:pt x="851" y="16"/>
                  </a:cubicBezTo>
                  <a:cubicBezTo>
                    <a:pt x="835" y="0"/>
                    <a:pt x="808" y="0"/>
                    <a:pt x="791" y="16"/>
                  </a:cubicBezTo>
                  <a:cubicBezTo>
                    <a:pt x="129" y="679"/>
                    <a:pt x="129" y="679"/>
                    <a:pt x="129" y="679"/>
                  </a:cubicBezTo>
                  <a:cubicBezTo>
                    <a:pt x="125" y="683"/>
                    <a:pt x="122" y="687"/>
                    <a:pt x="120" y="692"/>
                  </a:cubicBezTo>
                  <a:cubicBezTo>
                    <a:pt x="10" y="935"/>
                    <a:pt x="10" y="935"/>
                    <a:pt x="10" y="935"/>
                  </a:cubicBezTo>
                  <a:cubicBezTo>
                    <a:pt x="0" y="956"/>
                    <a:pt x="10" y="981"/>
                    <a:pt x="31" y="991"/>
                  </a:cubicBezTo>
                  <a:cubicBezTo>
                    <a:pt x="42" y="996"/>
                    <a:pt x="55" y="996"/>
                    <a:pt x="66" y="991"/>
                  </a:cubicBezTo>
                  <a:cubicBezTo>
                    <a:pt x="309" y="880"/>
                    <a:pt x="309" y="880"/>
                    <a:pt x="309" y="880"/>
                  </a:cubicBezTo>
                  <a:cubicBezTo>
                    <a:pt x="313" y="878"/>
                    <a:pt x="318" y="875"/>
                    <a:pt x="321" y="872"/>
                  </a:cubicBezTo>
                  <a:cubicBezTo>
                    <a:pt x="984" y="209"/>
                    <a:pt x="984" y="209"/>
                    <a:pt x="984" y="209"/>
                  </a:cubicBezTo>
                  <a:cubicBezTo>
                    <a:pt x="1001" y="193"/>
                    <a:pt x="1001" y="166"/>
                    <a:pt x="984" y="149"/>
                  </a:cubicBezTo>
                  <a:close/>
                  <a:moveTo>
                    <a:pt x="134" y="866"/>
                  </a:moveTo>
                  <a:cubicBezTo>
                    <a:pt x="172" y="781"/>
                    <a:pt x="172" y="781"/>
                    <a:pt x="172" y="781"/>
                  </a:cubicBezTo>
                  <a:cubicBezTo>
                    <a:pt x="218" y="827"/>
                    <a:pt x="218" y="827"/>
                    <a:pt x="218" y="827"/>
                  </a:cubicBezTo>
                  <a:lnTo>
                    <a:pt x="134" y="866"/>
                  </a:lnTo>
                  <a:close/>
                  <a:moveTo>
                    <a:pt x="291" y="781"/>
                  </a:moveTo>
                  <a:cubicBezTo>
                    <a:pt x="219" y="709"/>
                    <a:pt x="219" y="709"/>
                    <a:pt x="219" y="709"/>
                  </a:cubicBezTo>
                  <a:cubicBezTo>
                    <a:pt x="667" y="261"/>
                    <a:pt x="667" y="261"/>
                    <a:pt x="667" y="261"/>
                  </a:cubicBezTo>
                  <a:cubicBezTo>
                    <a:pt x="740" y="334"/>
                    <a:pt x="740" y="334"/>
                    <a:pt x="740" y="334"/>
                  </a:cubicBezTo>
                  <a:lnTo>
                    <a:pt x="291" y="781"/>
                  </a:lnTo>
                  <a:close/>
                  <a:moveTo>
                    <a:pt x="799" y="273"/>
                  </a:moveTo>
                  <a:cubicBezTo>
                    <a:pt x="727" y="201"/>
                    <a:pt x="727" y="201"/>
                    <a:pt x="727" y="201"/>
                  </a:cubicBezTo>
                  <a:cubicBezTo>
                    <a:pt x="821" y="107"/>
                    <a:pt x="821" y="107"/>
                    <a:pt x="821" y="107"/>
                  </a:cubicBezTo>
                  <a:cubicBezTo>
                    <a:pt x="894" y="179"/>
                    <a:pt x="894" y="179"/>
                    <a:pt x="894" y="179"/>
                  </a:cubicBezTo>
                  <a:lnTo>
                    <a:pt x="799" y="2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4" name="Rectangle 33">
              <a:extLst>
                <a:ext uri="{FF2B5EF4-FFF2-40B4-BE49-F238E27FC236}">
                  <a16:creationId xmlns:a16="http://schemas.microsoft.com/office/drawing/2014/main" id="{41F04B89-B881-939D-BDC6-61E5232BF5EA}"/>
                </a:ext>
              </a:extLst>
            </p:cNvPr>
            <p:cNvSpPr>
              <a:spLocks noChangeArrowheads="1"/>
            </p:cNvSpPr>
            <p:nvPr/>
          </p:nvSpPr>
          <p:spPr bwMode="auto">
            <a:xfrm>
              <a:off x="8394701" y="3646488"/>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5" name="Rectangle 34">
              <a:extLst>
                <a:ext uri="{FF2B5EF4-FFF2-40B4-BE49-F238E27FC236}">
                  <a16:creationId xmlns:a16="http://schemas.microsoft.com/office/drawing/2014/main" id="{BBA68890-F2EA-CB30-0A36-59C96B335097}"/>
                </a:ext>
              </a:extLst>
            </p:cNvPr>
            <p:cNvSpPr>
              <a:spLocks noChangeArrowheads="1"/>
            </p:cNvSpPr>
            <p:nvPr/>
          </p:nvSpPr>
          <p:spPr bwMode="auto">
            <a:xfrm>
              <a:off x="8394701" y="3810000"/>
              <a:ext cx="42068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6" name="Rectangle 35">
              <a:extLst>
                <a:ext uri="{FF2B5EF4-FFF2-40B4-BE49-F238E27FC236}">
                  <a16:creationId xmlns:a16="http://schemas.microsoft.com/office/drawing/2014/main" id="{6A7CA7C3-98C0-479E-47D1-957E8E7F87E6}"/>
                </a:ext>
              </a:extLst>
            </p:cNvPr>
            <p:cNvSpPr>
              <a:spLocks noChangeArrowheads="1"/>
            </p:cNvSpPr>
            <p:nvPr/>
          </p:nvSpPr>
          <p:spPr bwMode="auto">
            <a:xfrm>
              <a:off x="8394701" y="3973513"/>
              <a:ext cx="42068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7" name="Rectangle 36">
              <a:extLst>
                <a:ext uri="{FF2B5EF4-FFF2-40B4-BE49-F238E27FC236}">
                  <a16:creationId xmlns:a16="http://schemas.microsoft.com/office/drawing/2014/main" id="{DE17246B-344C-FEFC-DDC5-FA191A8E9EE6}"/>
                </a:ext>
              </a:extLst>
            </p:cNvPr>
            <p:cNvSpPr>
              <a:spLocks noChangeArrowheads="1"/>
            </p:cNvSpPr>
            <p:nvPr/>
          </p:nvSpPr>
          <p:spPr bwMode="auto">
            <a:xfrm>
              <a:off x="8394701" y="4137025"/>
              <a:ext cx="1873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8" name="Rectangle 37">
              <a:extLst>
                <a:ext uri="{FF2B5EF4-FFF2-40B4-BE49-F238E27FC236}">
                  <a16:creationId xmlns:a16="http://schemas.microsoft.com/office/drawing/2014/main" id="{12C56839-0707-F784-838E-89747075ED29}"/>
                </a:ext>
              </a:extLst>
            </p:cNvPr>
            <p:cNvSpPr>
              <a:spLocks noChangeArrowheads="1"/>
            </p:cNvSpPr>
            <p:nvPr/>
          </p:nvSpPr>
          <p:spPr bwMode="auto">
            <a:xfrm>
              <a:off x="8651876" y="4137025"/>
              <a:ext cx="47625"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sp>
          <p:nvSpPr>
            <p:cNvPr id="1029" name="Rectangle 38">
              <a:extLst>
                <a:ext uri="{FF2B5EF4-FFF2-40B4-BE49-F238E27FC236}">
                  <a16:creationId xmlns:a16="http://schemas.microsoft.com/office/drawing/2014/main" id="{834B3D7B-239A-2F9C-6B5C-1A97DDCDFDE9}"/>
                </a:ext>
              </a:extLst>
            </p:cNvPr>
            <p:cNvSpPr>
              <a:spLocks noChangeArrowheads="1"/>
            </p:cNvSpPr>
            <p:nvPr/>
          </p:nvSpPr>
          <p:spPr bwMode="auto">
            <a:xfrm>
              <a:off x="8769351" y="4137025"/>
              <a:ext cx="46038" cy="460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F5F"/>
                </a:solidFill>
                <a:effectLst/>
                <a:uLnTx/>
                <a:uFillTx/>
                <a:latin typeface="Manrope" pitchFamily="2" charset="0"/>
                <a:ea typeface="ＭＳ Ｐゴシック"/>
              </a:endParaRPr>
            </a:p>
          </p:txBody>
        </p:sp>
      </p:grpSp>
      <p:sp>
        <p:nvSpPr>
          <p:cNvPr id="1033" name="Title 1">
            <a:extLst>
              <a:ext uri="{FF2B5EF4-FFF2-40B4-BE49-F238E27FC236}">
                <a16:creationId xmlns:a16="http://schemas.microsoft.com/office/drawing/2014/main" id="{100DDC46-DC92-E748-599D-EAE014DD2FEB}"/>
              </a:ext>
            </a:extLst>
          </p:cNvPr>
          <p:cNvSpPr txBox="1">
            <a:spLocks/>
          </p:cNvSpPr>
          <p:nvPr/>
        </p:nvSpPr>
        <p:spPr>
          <a:xfrm>
            <a:off x="610087" y="5499625"/>
            <a:ext cx="1763445" cy="228167"/>
          </a:xfrm>
          <a:prstGeom prst="roundRect">
            <a:avLst>
              <a:gd name="adj" fmla="val 50000"/>
            </a:avLst>
          </a:prstGeom>
          <a:noFill/>
        </p:spPr>
        <p:txBody>
          <a:bodyPr wrap="square" lIns="0" tIns="0" rIns="0" bIns="0" anchor="ctr" anchorCtr="0">
            <a:noAutofit/>
          </a:bodyPr>
          <a:lstStyle>
            <a:defPPr>
              <a:defRPr lang="en-US"/>
            </a:defPPr>
            <a:lvl1pPr algn="ctr">
              <a:defRPr sz="1400" b="1">
                <a:solidFill>
                  <a:schemeClr val="accent5"/>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tx1"/>
                </a:solidFill>
                <a:effectLst/>
                <a:uLnTx/>
                <a:uFillTx/>
                <a:latin typeface="Manrope SemiBold" pitchFamily="2" charset="0"/>
                <a:ea typeface="Lato" panose="020B0604020202020204" charset="0"/>
                <a:cs typeface="Lato" panose="020B0604020202020204" charset="0"/>
              </a:rPr>
              <a:t>Technology Stack</a:t>
            </a:r>
          </a:p>
        </p:txBody>
      </p:sp>
      <p:cxnSp>
        <p:nvCxnSpPr>
          <p:cNvPr id="1042" name="Straight Connector 1041">
            <a:extLst>
              <a:ext uri="{FF2B5EF4-FFF2-40B4-BE49-F238E27FC236}">
                <a16:creationId xmlns:a16="http://schemas.microsoft.com/office/drawing/2014/main" id="{F9B0A7D8-9B04-3EDC-CB6B-7FB0B36F5B8A}"/>
              </a:ext>
            </a:extLst>
          </p:cNvPr>
          <p:cNvCxnSpPr>
            <a:cxnSpLocks/>
          </p:cNvCxnSpPr>
          <p:nvPr/>
        </p:nvCxnSpPr>
        <p:spPr bwMode="auto">
          <a:xfrm flipV="1">
            <a:off x="4012923" y="24663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5" name="Straight Connector 1044">
            <a:extLst>
              <a:ext uri="{FF2B5EF4-FFF2-40B4-BE49-F238E27FC236}">
                <a16:creationId xmlns:a16="http://schemas.microsoft.com/office/drawing/2014/main" id="{46BDC635-5922-3BFC-6C19-530CF983B883}"/>
              </a:ext>
            </a:extLst>
          </p:cNvPr>
          <p:cNvCxnSpPr>
            <a:cxnSpLocks/>
          </p:cNvCxnSpPr>
          <p:nvPr/>
        </p:nvCxnSpPr>
        <p:spPr bwMode="auto">
          <a:xfrm flipV="1">
            <a:off x="8051523" y="2479086"/>
            <a:ext cx="0" cy="262257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 name="Text Placeholder 14">
            <a:extLst>
              <a:ext uri="{FF2B5EF4-FFF2-40B4-BE49-F238E27FC236}">
                <a16:creationId xmlns:a16="http://schemas.microsoft.com/office/drawing/2014/main" id="{2B4B226E-217A-71DC-05F8-E26DBEC60A23}"/>
              </a:ext>
            </a:extLst>
          </p:cNvPr>
          <p:cNvSpPr txBox="1">
            <a:spLocks/>
          </p:cNvSpPr>
          <p:nvPr/>
        </p:nvSpPr>
        <p:spPr>
          <a:xfrm>
            <a:off x="4303652" y="2552184"/>
            <a:ext cx="3368391" cy="2578612"/>
          </a:xfrm>
          <a:prstGeom prst="rect">
            <a:avLst/>
          </a:prstGeom>
          <a:noFill/>
          <a:ln w="3175">
            <a:noFill/>
          </a:ln>
          <a:effectLst/>
        </p:spPr>
        <p:style>
          <a:lnRef idx="1">
            <a:schemeClr val="accent4"/>
          </a:lnRef>
          <a:fillRef idx="2">
            <a:schemeClr val="accent4"/>
          </a:fillRef>
          <a:effectRef idx="1">
            <a:schemeClr val="accent4"/>
          </a:effectRef>
          <a:fontRef idx="minor">
            <a:schemeClr val="dk1"/>
          </a:fontRef>
        </p:style>
        <p:txBody>
          <a:bodyPr spcFirstLastPara="0" vert="horz" wrap="square" lIns="0" tIns="0" rIns="0" bIns="0" numCol="1" spcCol="1270" anchor="t" anchorCtr="0">
            <a:noAutofit/>
          </a:bodyPr>
          <a:lstStyle>
            <a:defPPr>
              <a:defRPr lang="en-US"/>
            </a:defPPr>
            <a:lvl1pPr>
              <a:defRPr>
                <a:solidFill>
                  <a:schemeClr val="dk1"/>
                </a:solidFill>
              </a:defRPr>
            </a:lvl1pPr>
            <a:lvl2pPr marL="112713" lvl="1" indent="-112713" defTabSz="1184043">
              <a:spcAft>
                <a:spcPts val="500"/>
              </a:spcAft>
              <a:buClr>
                <a:srgbClr val="303030"/>
              </a:buClr>
              <a:buSzPct val="100000"/>
              <a:buFont typeface="Arial" panose="020B0604020202020204" pitchFamily="34" charset="0"/>
              <a:buChar char="•"/>
              <a:defRPr sz="1400" kern="0">
                <a:solidFill>
                  <a:schemeClr val="bg2">
                    <a:lumMod val="75000"/>
                  </a:schemeClr>
                </a:solidFill>
                <a:cs typeface="Arial" charset="0"/>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Assessment of the current Digital ecosystem covering Digital Marketing and Technology landscape</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Implemented updated Information Architecture, authoring workflows, integrations with backend HR system, social feeds, Property information system etc.</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r>
              <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rPr>
              <a:t>Deployed proprietary tools for keyword analysis, SEO &amp; CRO optimization and Marketing Analytics</a:t>
            </a:r>
          </a:p>
          <a:p>
            <a:pPr marL="174625" marR="0" lvl="1" indent="-174625" algn="l" defTabSz="914400" rtl="0" eaLnBrk="0" fontAlgn="auto" latinLnBrk="0" hangingPunct="0">
              <a:lnSpc>
                <a:spcPct val="100000"/>
              </a:lnSpc>
              <a:spcBef>
                <a:spcPts val="300"/>
              </a:spcBef>
              <a:spcAft>
                <a:spcPts val="300"/>
              </a:spcAft>
              <a:buClr>
                <a:srgbClr val="002F5F"/>
              </a:buClr>
              <a:buSzTx/>
              <a:buFontTx/>
              <a:buChar char="•"/>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a:p>
            <a:pPr marL="0" marR="0" lvl="1" indent="0" algn="l" defTabSz="914400" rtl="0" eaLnBrk="0" fontAlgn="auto" latinLnBrk="0" hangingPunct="0">
              <a:lnSpc>
                <a:spcPct val="100000"/>
              </a:lnSpc>
              <a:spcBef>
                <a:spcPts val="300"/>
              </a:spcBef>
              <a:spcAft>
                <a:spcPts val="300"/>
              </a:spcAft>
              <a:buClr>
                <a:srgbClr val="002F5F"/>
              </a:buClr>
              <a:buSzTx/>
              <a:buNone/>
              <a:tabLst>
                <a:tab pos="6464300" algn="r"/>
              </a:tabLst>
              <a:defRPr/>
            </a:pPr>
            <a:endParaRPr kumimoji="0" lang="en-US" sz="1000" b="0" i="0" u="none" strike="noStrike" kern="0" cap="none" spc="0" normalizeH="0" baseline="0" noProof="0" dirty="0">
              <a:ln>
                <a:noFill/>
              </a:ln>
              <a:solidFill>
                <a:schemeClr val="tx1"/>
              </a:solidFill>
              <a:effectLst/>
              <a:uLnTx/>
              <a:uFillTx/>
              <a:latin typeface="Manrope" pitchFamily="2" charset="0"/>
              <a:ea typeface="Lato" panose="020B0604020202020204" charset="0"/>
              <a:cs typeface="Lato" panose="020B0604020202020204" charset="0"/>
            </a:endParaRPr>
          </a:p>
        </p:txBody>
      </p:sp>
      <p:grpSp>
        <p:nvGrpSpPr>
          <p:cNvPr id="3" name="Group 2">
            <a:extLst>
              <a:ext uri="{FF2B5EF4-FFF2-40B4-BE49-F238E27FC236}">
                <a16:creationId xmlns:a16="http://schemas.microsoft.com/office/drawing/2014/main" id="{8031F9B6-0B9C-7A90-39F6-9F52FC173243}"/>
              </a:ext>
            </a:extLst>
          </p:cNvPr>
          <p:cNvGrpSpPr/>
          <p:nvPr/>
        </p:nvGrpSpPr>
        <p:grpSpPr>
          <a:xfrm>
            <a:off x="459846" y="5704398"/>
            <a:ext cx="6598460" cy="582081"/>
            <a:chOff x="1692604" y="6211754"/>
            <a:chExt cx="6598698" cy="582102"/>
          </a:xfrm>
        </p:grpSpPr>
        <p:pic>
          <p:nvPicPr>
            <p:cNvPr id="27" name="Picture 26">
              <a:extLst>
                <a:ext uri="{FF2B5EF4-FFF2-40B4-BE49-F238E27FC236}">
                  <a16:creationId xmlns:a16="http://schemas.microsoft.com/office/drawing/2014/main" id="{0632BE7F-3C48-6F85-995B-E92BF151D64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92604" y="6215448"/>
              <a:ext cx="1690339" cy="574715"/>
            </a:xfrm>
            <a:prstGeom prst="rect">
              <a:avLst/>
            </a:prstGeom>
          </p:spPr>
        </p:pic>
        <p:pic>
          <p:nvPicPr>
            <p:cNvPr id="28" name="Picture 27">
              <a:extLst>
                <a:ext uri="{FF2B5EF4-FFF2-40B4-BE49-F238E27FC236}">
                  <a16:creationId xmlns:a16="http://schemas.microsoft.com/office/drawing/2014/main" id="{A96F4AEB-9058-E574-B47A-FC565618BE8B}"/>
                </a:ext>
              </a:extLst>
            </p:cNvPr>
            <p:cNvPicPr>
              <a:picLocks noChangeAspect="1"/>
            </p:cNvPicPr>
            <p:nvPr/>
          </p:nvPicPr>
          <p:blipFill>
            <a:blip r:embed="rId3"/>
            <a:stretch>
              <a:fillRect/>
            </a:stretch>
          </p:blipFill>
          <p:spPr>
            <a:xfrm>
              <a:off x="3654521" y="6288859"/>
              <a:ext cx="1670242" cy="427893"/>
            </a:xfrm>
            <a:prstGeom prst="rect">
              <a:avLst/>
            </a:prstGeom>
          </p:spPr>
        </p:pic>
        <p:pic>
          <p:nvPicPr>
            <p:cNvPr id="29" name="Picture 28">
              <a:extLst>
                <a:ext uri="{FF2B5EF4-FFF2-40B4-BE49-F238E27FC236}">
                  <a16:creationId xmlns:a16="http://schemas.microsoft.com/office/drawing/2014/main" id="{A9C34EA8-86EB-0878-EA33-841CE5E78D9D}"/>
                </a:ext>
              </a:extLst>
            </p:cNvPr>
            <p:cNvPicPr>
              <a:picLocks noChangeAspect="1"/>
            </p:cNvPicPr>
            <p:nvPr/>
          </p:nvPicPr>
          <p:blipFill>
            <a:blip r:embed="rId4"/>
            <a:stretch>
              <a:fillRect/>
            </a:stretch>
          </p:blipFill>
          <p:spPr>
            <a:xfrm>
              <a:off x="5679724" y="6314479"/>
              <a:ext cx="1141639" cy="376653"/>
            </a:xfrm>
            <a:prstGeom prst="rect">
              <a:avLst/>
            </a:prstGeom>
          </p:spPr>
        </p:pic>
        <p:pic>
          <p:nvPicPr>
            <p:cNvPr id="30" name="Picture 29">
              <a:extLst>
                <a:ext uri="{FF2B5EF4-FFF2-40B4-BE49-F238E27FC236}">
                  <a16:creationId xmlns:a16="http://schemas.microsoft.com/office/drawing/2014/main" id="{311749E9-851F-F386-37FB-A6E919AC4F8A}"/>
                </a:ext>
              </a:extLst>
            </p:cNvPr>
            <p:cNvPicPr>
              <a:picLocks noChangeAspect="1"/>
            </p:cNvPicPr>
            <p:nvPr/>
          </p:nvPicPr>
          <p:blipFill>
            <a:blip r:embed="rId5"/>
            <a:stretch>
              <a:fillRect/>
            </a:stretch>
          </p:blipFill>
          <p:spPr>
            <a:xfrm>
              <a:off x="7267130" y="6211754"/>
              <a:ext cx="1024172" cy="582102"/>
            </a:xfrm>
            <a:prstGeom prst="rect">
              <a:avLst/>
            </a:prstGeom>
          </p:spPr>
        </p:pic>
      </p:grpSp>
    </p:spTree>
    <p:extLst>
      <p:ext uri="{BB962C8B-B14F-4D97-AF65-F5344CB8AC3E}">
        <p14:creationId xmlns:p14="http://schemas.microsoft.com/office/powerpoint/2010/main" val="1791651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E1A86E-0B93-2215-FAC7-62F5105A6DC3}"/>
              </a:ext>
            </a:extLst>
          </p:cNvPr>
          <p:cNvSpPr>
            <a:spLocks noGrp="1"/>
          </p:cNvSpPr>
          <p:nvPr>
            <p:ph type="body" sz="quarter" idx="15"/>
          </p:nvPr>
        </p:nvSpPr>
        <p:spPr/>
        <p:txBody>
          <a:bodyPr/>
          <a:lstStyle/>
          <a:p>
            <a:r>
              <a:rPr lang="en-US"/>
              <a:t>Adobe Expertise</a:t>
            </a:r>
          </a:p>
        </p:txBody>
      </p:sp>
      <p:grpSp>
        <p:nvGrpSpPr>
          <p:cNvPr id="35" name="Group 34">
            <a:extLst>
              <a:ext uri="{FF2B5EF4-FFF2-40B4-BE49-F238E27FC236}">
                <a16:creationId xmlns:a16="http://schemas.microsoft.com/office/drawing/2014/main" id="{A346F6A7-C588-EC7F-F382-F196F758F74E}"/>
              </a:ext>
            </a:extLst>
          </p:cNvPr>
          <p:cNvGrpSpPr/>
          <p:nvPr/>
        </p:nvGrpSpPr>
        <p:grpSpPr>
          <a:xfrm>
            <a:off x="623888" y="1437598"/>
            <a:ext cx="2503019" cy="2908460"/>
            <a:chOff x="958553" y="1377733"/>
            <a:chExt cx="2503019" cy="2908460"/>
          </a:xfrm>
        </p:grpSpPr>
        <p:pic>
          <p:nvPicPr>
            <p:cNvPr id="3" name="Picture 2">
              <a:extLst>
                <a:ext uri="{FF2B5EF4-FFF2-40B4-BE49-F238E27FC236}">
                  <a16:creationId xmlns:a16="http://schemas.microsoft.com/office/drawing/2014/main" id="{8029C048-9C26-831A-1D6D-E789043FBD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58553" y="1377733"/>
              <a:ext cx="2503019" cy="2908460"/>
            </a:xfrm>
            <a:prstGeom prst="rect">
              <a:avLst/>
            </a:prstGeom>
            <a:ln>
              <a:noFill/>
            </a:ln>
          </p:spPr>
        </p:pic>
        <p:pic>
          <p:nvPicPr>
            <p:cNvPr id="4" name="Picture 3" descr="Capabilities">
              <a:extLst>
                <a:ext uri="{FF2B5EF4-FFF2-40B4-BE49-F238E27FC236}">
                  <a16:creationId xmlns:a16="http://schemas.microsoft.com/office/drawing/2014/main" id="{0B4CCF0C-4296-D328-5B63-8A731B078011}"/>
                </a:ext>
              </a:extLst>
            </p:cNvPr>
            <p:cNvPicPr>
              <a:picLocks noChangeAspect="1" noChangeArrowheads="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25470"/>
            <a:stretch/>
          </p:blipFill>
          <p:spPr bwMode="auto">
            <a:xfrm>
              <a:off x="1299655" y="2319011"/>
              <a:ext cx="1820815" cy="3528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58EB1FD-128A-9B96-76C8-3D1B619BC494}"/>
                </a:ext>
              </a:extLst>
            </p:cNvPr>
            <p:cNvSpPr txBox="1"/>
            <p:nvPr/>
          </p:nvSpPr>
          <p:spPr>
            <a:xfrm>
              <a:off x="1403561" y="3222275"/>
              <a:ext cx="1613002" cy="769441"/>
            </a:xfrm>
            <a:prstGeom prst="rect">
              <a:avLst/>
            </a:prstGeom>
            <a:noFill/>
          </p:spPr>
          <p:txBody>
            <a:bodyPr wrap="square" lIns="91440" tIns="45720" rIns="91440" bIns="45720" anchor="t">
              <a:spAutoFit/>
            </a:bodyPr>
            <a:lstStyle/>
            <a:p>
              <a:pPr algn="ctr"/>
              <a:r>
                <a:rPr lang="en-US" sz="1600" b="1">
                  <a:solidFill>
                    <a:schemeClr val="bg1"/>
                  </a:solidFill>
                  <a:latin typeface="Manrope"/>
                  <a:cs typeface="Poppins"/>
                </a:rPr>
                <a:t>GOLD</a:t>
              </a:r>
            </a:p>
            <a:p>
              <a:pPr algn="ctr"/>
              <a:r>
                <a:rPr lang="en-US" sz="1400">
                  <a:solidFill>
                    <a:schemeClr val="bg1"/>
                  </a:solidFill>
                  <a:latin typeface="Manrope" pitchFamily="2" charset="0"/>
                  <a:cs typeface="Poppins Light" panose="00000400000000000000" pitchFamily="2" charset="0"/>
                </a:rPr>
                <a:t>LEVEL PARTNER</a:t>
              </a:r>
            </a:p>
            <a:p>
              <a:pPr algn="ctr"/>
              <a:r>
                <a:rPr lang="en-US" sz="1400">
                  <a:solidFill>
                    <a:schemeClr val="bg1"/>
                  </a:solidFill>
                  <a:latin typeface="Manrope" pitchFamily="2" charset="0"/>
                  <a:cs typeface="Poppins Light" panose="00000400000000000000" pitchFamily="2" charset="0"/>
                </a:rPr>
                <a:t>WITH ADOBE</a:t>
              </a:r>
            </a:p>
          </p:txBody>
        </p:sp>
      </p:grpSp>
      <p:sp>
        <p:nvSpPr>
          <p:cNvPr id="7" name="TextBox 6">
            <a:extLst>
              <a:ext uri="{FF2B5EF4-FFF2-40B4-BE49-F238E27FC236}">
                <a16:creationId xmlns:a16="http://schemas.microsoft.com/office/drawing/2014/main" id="{366A38AB-1015-4009-5181-53FBC0ADE397}"/>
              </a:ext>
            </a:extLst>
          </p:cNvPr>
          <p:cNvSpPr txBox="1"/>
          <p:nvPr/>
        </p:nvSpPr>
        <p:spPr>
          <a:xfrm>
            <a:off x="552450" y="1011724"/>
            <a:ext cx="3778250" cy="646331"/>
          </a:xfrm>
          <a:prstGeom prst="rect">
            <a:avLst/>
          </a:prstGeom>
          <a:noFill/>
        </p:spPr>
        <p:txBody>
          <a:bodyPr wrap="square">
            <a:spAutoFit/>
          </a:bodyPr>
          <a:lstStyle/>
          <a:p>
            <a:pPr algn="l"/>
            <a:r>
              <a:rPr lang="en-US" sz="1200">
                <a:latin typeface="Manrope Light"/>
              </a:rPr>
              <a:t>Within the Adobe Experience Cloud suite, we offer expertise in integrating various products to form comprehensive solutions. </a:t>
            </a:r>
          </a:p>
        </p:txBody>
      </p:sp>
      <p:sp>
        <p:nvSpPr>
          <p:cNvPr id="9" name="TextBox 8">
            <a:extLst>
              <a:ext uri="{FF2B5EF4-FFF2-40B4-BE49-F238E27FC236}">
                <a16:creationId xmlns:a16="http://schemas.microsoft.com/office/drawing/2014/main" id="{25F896AD-73B8-B7B3-BD62-BE247C3480A8}"/>
              </a:ext>
            </a:extLst>
          </p:cNvPr>
          <p:cNvSpPr txBox="1"/>
          <p:nvPr/>
        </p:nvSpPr>
        <p:spPr>
          <a:xfrm>
            <a:off x="552450" y="4760174"/>
            <a:ext cx="3778250" cy="1200329"/>
          </a:xfrm>
          <a:prstGeom prst="rect">
            <a:avLst/>
          </a:prstGeom>
          <a:noFill/>
        </p:spPr>
        <p:txBody>
          <a:bodyPr wrap="square">
            <a:spAutoFit/>
          </a:bodyPr>
          <a:lstStyle/>
          <a:p>
            <a:pPr algn="l"/>
            <a:r>
              <a:rPr lang="en-US" sz="1200">
                <a:latin typeface="Manrope Light"/>
              </a:rPr>
              <a:t>We specialize in Adobe-enabled AI solutions, utilizing advanced technologies like generative AI. Our capabilities include generating front end code from design tools such as Figma and Adobe Firefly. Additionally, we leverage Adobe Sensei for personalized experiences.</a:t>
            </a:r>
          </a:p>
        </p:txBody>
      </p:sp>
      <p:grpSp>
        <p:nvGrpSpPr>
          <p:cNvPr id="34" name="Group 33">
            <a:extLst>
              <a:ext uri="{FF2B5EF4-FFF2-40B4-BE49-F238E27FC236}">
                <a16:creationId xmlns:a16="http://schemas.microsoft.com/office/drawing/2014/main" id="{E62FF5FF-BCA6-BDA0-D66F-FDA35AEE690E}"/>
              </a:ext>
            </a:extLst>
          </p:cNvPr>
          <p:cNvGrpSpPr/>
          <p:nvPr/>
        </p:nvGrpSpPr>
        <p:grpSpPr>
          <a:xfrm>
            <a:off x="5613400" y="2003948"/>
            <a:ext cx="6089650" cy="3208290"/>
            <a:chOff x="5448301" y="1484191"/>
            <a:chExt cx="6089650" cy="3208290"/>
          </a:xfrm>
        </p:grpSpPr>
        <p:sp>
          <p:nvSpPr>
            <p:cNvPr id="33" name="TextBox 32">
              <a:extLst>
                <a:ext uri="{FF2B5EF4-FFF2-40B4-BE49-F238E27FC236}">
                  <a16:creationId xmlns:a16="http://schemas.microsoft.com/office/drawing/2014/main" id="{5E8CB848-801B-E97A-E0BB-443FD520637D}"/>
                </a:ext>
              </a:extLst>
            </p:cNvPr>
            <p:cNvSpPr txBox="1"/>
            <p:nvPr/>
          </p:nvSpPr>
          <p:spPr>
            <a:xfrm>
              <a:off x="8887794" y="2656518"/>
              <a:ext cx="2650157" cy="307777"/>
            </a:xfrm>
            <a:prstGeom prst="rect">
              <a:avLst/>
            </a:prstGeom>
            <a:noFill/>
          </p:spPr>
          <p:txBody>
            <a:bodyPr wrap="square">
              <a:spAutoFit/>
            </a:bodyPr>
            <a:lstStyle/>
            <a:p>
              <a:pPr algn="l"/>
              <a:r>
                <a:rPr lang="en-US" sz="1400">
                  <a:latin typeface="Manrope Light"/>
                </a:rPr>
                <a:t>Experience Platform</a:t>
              </a:r>
            </a:p>
          </p:txBody>
        </p:sp>
        <p:pic>
          <p:nvPicPr>
            <p:cNvPr id="1026" name="Picture 2" descr="Image">
              <a:extLst>
                <a:ext uri="{FF2B5EF4-FFF2-40B4-BE49-F238E27FC236}">
                  <a16:creationId xmlns:a16="http://schemas.microsoft.com/office/drawing/2014/main" id="{5BA63B1C-4C1B-824B-EA9C-ADE94DF4B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3812079"/>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7815EDD-CBFF-7466-46BF-35AD249BDA7E}"/>
                </a:ext>
              </a:extLst>
            </p:cNvPr>
            <p:cNvSpPr txBox="1"/>
            <p:nvPr/>
          </p:nvSpPr>
          <p:spPr>
            <a:xfrm>
              <a:off x="8887794" y="3221568"/>
              <a:ext cx="1735757" cy="307777"/>
            </a:xfrm>
            <a:prstGeom prst="rect">
              <a:avLst/>
            </a:prstGeom>
            <a:noFill/>
          </p:spPr>
          <p:txBody>
            <a:bodyPr wrap="square">
              <a:spAutoFit/>
            </a:bodyPr>
            <a:lstStyle/>
            <a:p>
              <a:pPr algn="l"/>
              <a:r>
                <a:rPr lang="en-US" sz="1400">
                  <a:latin typeface="Manrope Light"/>
                </a:rPr>
                <a:t>Real-Time CDP</a:t>
              </a:r>
            </a:p>
          </p:txBody>
        </p:sp>
        <p:pic>
          <p:nvPicPr>
            <p:cNvPr id="14" name="Picture 2" descr="Image">
              <a:extLst>
                <a:ext uri="{FF2B5EF4-FFF2-40B4-BE49-F238E27FC236}">
                  <a16:creationId xmlns:a16="http://schemas.microsoft.com/office/drawing/2014/main" id="{160BEED6-B40F-E212-EB6C-A66B0041E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1" y="1493133"/>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A5AF34E-9976-8165-6E69-D8FC692A3308}"/>
                </a:ext>
              </a:extLst>
            </p:cNvPr>
            <p:cNvSpPr txBox="1"/>
            <p:nvPr/>
          </p:nvSpPr>
          <p:spPr>
            <a:xfrm>
              <a:off x="5738194" y="1484191"/>
              <a:ext cx="1735757" cy="307777"/>
            </a:xfrm>
            <a:prstGeom prst="rect">
              <a:avLst/>
            </a:prstGeom>
            <a:noFill/>
          </p:spPr>
          <p:txBody>
            <a:bodyPr wrap="square">
              <a:spAutoFit/>
            </a:bodyPr>
            <a:lstStyle/>
            <a:p>
              <a:pPr algn="l"/>
              <a:r>
                <a:rPr lang="en-US" sz="1400">
                  <a:latin typeface="Manrope Light"/>
                </a:rPr>
                <a:t>Analytics</a:t>
              </a:r>
            </a:p>
          </p:txBody>
        </p:sp>
        <p:pic>
          <p:nvPicPr>
            <p:cNvPr id="16" name="Picture 2" descr="Image">
              <a:extLst>
                <a:ext uri="{FF2B5EF4-FFF2-40B4-BE49-F238E27FC236}">
                  <a16:creationId xmlns:a16="http://schemas.microsoft.com/office/drawing/2014/main" id="{44EE0E2A-032B-9BC2-524C-08C7F6960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1" y="2073236"/>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5172E22-518F-AEAE-055E-039A60A3C342}"/>
                </a:ext>
              </a:extLst>
            </p:cNvPr>
            <p:cNvSpPr txBox="1"/>
            <p:nvPr/>
          </p:nvSpPr>
          <p:spPr>
            <a:xfrm>
              <a:off x="5738194" y="2064294"/>
              <a:ext cx="2777156" cy="307777"/>
            </a:xfrm>
            <a:prstGeom prst="rect">
              <a:avLst/>
            </a:prstGeom>
            <a:noFill/>
          </p:spPr>
          <p:txBody>
            <a:bodyPr wrap="square">
              <a:spAutoFit/>
            </a:bodyPr>
            <a:lstStyle/>
            <a:p>
              <a:pPr algn="l"/>
              <a:r>
                <a:rPr lang="en-US" sz="1400">
                  <a:latin typeface="Manrope Light"/>
                </a:rPr>
                <a:t>Customer Journey Analytics</a:t>
              </a:r>
            </a:p>
          </p:txBody>
        </p:sp>
        <p:pic>
          <p:nvPicPr>
            <p:cNvPr id="18" name="Picture 2" descr="Image">
              <a:extLst>
                <a:ext uri="{FF2B5EF4-FFF2-40B4-BE49-F238E27FC236}">
                  <a16:creationId xmlns:a16="http://schemas.microsoft.com/office/drawing/2014/main" id="{259A7D02-DDA2-B098-9CE2-80B017F8BE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2665460"/>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7E5AEBB-183B-8160-0C41-BC400E61E843}"/>
                </a:ext>
              </a:extLst>
            </p:cNvPr>
            <p:cNvSpPr txBox="1"/>
            <p:nvPr/>
          </p:nvSpPr>
          <p:spPr>
            <a:xfrm>
              <a:off x="5738194" y="3221568"/>
              <a:ext cx="1735757" cy="307777"/>
            </a:xfrm>
            <a:prstGeom prst="rect">
              <a:avLst/>
            </a:prstGeom>
            <a:noFill/>
          </p:spPr>
          <p:txBody>
            <a:bodyPr wrap="square">
              <a:spAutoFit/>
            </a:bodyPr>
            <a:lstStyle/>
            <a:p>
              <a:pPr algn="l"/>
              <a:r>
                <a:rPr lang="en-US" sz="1400" err="1">
                  <a:latin typeface="Manrope Light"/>
                </a:rPr>
                <a:t>Marketo</a:t>
              </a:r>
              <a:r>
                <a:rPr lang="en-US" sz="1400">
                  <a:latin typeface="Manrope Light"/>
                </a:rPr>
                <a:t> Engage</a:t>
              </a:r>
            </a:p>
          </p:txBody>
        </p:sp>
        <p:pic>
          <p:nvPicPr>
            <p:cNvPr id="20" name="Picture 2" descr="Image">
              <a:extLst>
                <a:ext uri="{FF2B5EF4-FFF2-40B4-BE49-F238E27FC236}">
                  <a16:creationId xmlns:a16="http://schemas.microsoft.com/office/drawing/2014/main" id="{499727AE-A85A-D442-F259-3F06029757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3230510"/>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02DE5A90-D964-5243-4866-5FBD7F28E223}"/>
                </a:ext>
              </a:extLst>
            </p:cNvPr>
            <p:cNvSpPr txBox="1"/>
            <p:nvPr/>
          </p:nvSpPr>
          <p:spPr>
            <a:xfrm>
              <a:off x="8887794" y="1484191"/>
              <a:ext cx="1735757" cy="307777"/>
            </a:xfrm>
            <a:prstGeom prst="rect">
              <a:avLst/>
            </a:prstGeom>
            <a:noFill/>
          </p:spPr>
          <p:txBody>
            <a:bodyPr wrap="square">
              <a:spAutoFit/>
            </a:bodyPr>
            <a:lstStyle/>
            <a:p>
              <a:pPr algn="l"/>
              <a:r>
                <a:rPr lang="en-US" sz="1400">
                  <a:latin typeface="Manrope Light"/>
                </a:rPr>
                <a:t>Campaign</a:t>
              </a:r>
            </a:p>
          </p:txBody>
        </p:sp>
        <p:pic>
          <p:nvPicPr>
            <p:cNvPr id="22" name="Picture 2" descr="Image">
              <a:extLst>
                <a:ext uri="{FF2B5EF4-FFF2-40B4-BE49-F238E27FC236}">
                  <a16:creationId xmlns:a16="http://schemas.microsoft.com/office/drawing/2014/main" id="{9AF167D0-9B3F-5A53-698A-B6C47318E1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3812079"/>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7BB73EC9-7182-87CC-9658-C53B069DF94C}"/>
                </a:ext>
              </a:extLst>
            </p:cNvPr>
            <p:cNvSpPr txBox="1"/>
            <p:nvPr/>
          </p:nvSpPr>
          <p:spPr>
            <a:xfrm>
              <a:off x="8887794" y="3803137"/>
              <a:ext cx="1735757" cy="307777"/>
            </a:xfrm>
            <a:prstGeom prst="rect">
              <a:avLst/>
            </a:prstGeom>
            <a:noFill/>
          </p:spPr>
          <p:txBody>
            <a:bodyPr wrap="square">
              <a:spAutoFit/>
            </a:bodyPr>
            <a:lstStyle/>
            <a:p>
              <a:pPr algn="l"/>
              <a:r>
                <a:rPr lang="en-US" sz="1400">
                  <a:latin typeface="Manrope Light"/>
                </a:rPr>
                <a:t>Target</a:t>
              </a:r>
            </a:p>
          </p:txBody>
        </p:sp>
        <p:pic>
          <p:nvPicPr>
            <p:cNvPr id="24" name="Picture 2" descr="Image">
              <a:extLst>
                <a:ext uri="{FF2B5EF4-FFF2-40B4-BE49-F238E27FC236}">
                  <a16:creationId xmlns:a16="http://schemas.microsoft.com/office/drawing/2014/main" id="{A82D87D5-FF64-DEAA-A8F9-5AB0D466D0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4393646"/>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0A13C2B-AE89-F78F-0D5F-BFFE2421A963}"/>
                </a:ext>
              </a:extLst>
            </p:cNvPr>
            <p:cNvSpPr txBox="1"/>
            <p:nvPr/>
          </p:nvSpPr>
          <p:spPr>
            <a:xfrm>
              <a:off x="8887794" y="2064294"/>
              <a:ext cx="2331836" cy="307777"/>
            </a:xfrm>
            <a:prstGeom prst="rect">
              <a:avLst/>
            </a:prstGeom>
            <a:noFill/>
          </p:spPr>
          <p:txBody>
            <a:bodyPr wrap="square">
              <a:spAutoFit/>
            </a:bodyPr>
            <a:lstStyle/>
            <a:p>
              <a:pPr algn="l"/>
              <a:r>
                <a:rPr lang="en-US" sz="1400">
                  <a:latin typeface="Manrope Light"/>
                </a:rPr>
                <a:t>Experience Manager</a:t>
              </a:r>
            </a:p>
          </p:txBody>
        </p:sp>
        <p:pic>
          <p:nvPicPr>
            <p:cNvPr id="26" name="Picture 2" descr="Image">
              <a:extLst>
                <a:ext uri="{FF2B5EF4-FFF2-40B4-BE49-F238E27FC236}">
                  <a16:creationId xmlns:a16="http://schemas.microsoft.com/office/drawing/2014/main" id="{B9683645-6513-AA92-D73F-F720420C05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1493133"/>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A9C81E41-0EE4-3A41-A033-B439FFE66F1B}"/>
                </a:ext>
              </a:extLst>
            </p:cNvPr>
            <p:cNvSpPr txBox="1"/>
            <p:nvPr/>
          </p:nvSpPr>
          <p:spPr>
            <a:xfrm>
              <a:off x="5738194" y="2656518"/>
              <a:ext cx="2650157" cy="307777"/>
            </a:xfrm>
            <a:prstGeom prst="rect">
              <a:avLst/>
            </a:prstGeom>
            <a:noFill/>
          </p:spPr>
          <p:txBody>
            <a:bodyPr wrap="square">
              <a:spAutoFit/>
            </a:bodyPr>
            <a:lstStyle/>
            <a:p>
              <a:pPr algn="l"/>
              <a:r>
                <a:rPr lang="en-US" sz="1400">
                  <a:latin typeface="Manrope Light"/>
                </a:rPr>
                <a:t>Experience Manager Assets</a:t>
              </a:r>
            </a:p>
          </p:txBody>
        </p:sp>
        <p:pic>
          <p:nvPicPr>
            <p:cNvPr id="28" name="Picture 2" descr="Image">
              <a:extLst>
                <a:ext uri="{FF2B5EF4-FFF2-40B4-BE49-F238E27FC236}">
                  <a16:creationId xmlns:a16="http://schemas.microsoft.com/office/drawing/2014/main" id="{FEC6FDFC-C4CF-D483-45A9-663E611C7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2073236"/>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8BD39806-7341-6031-4272-D4514C0015EB}"/>
                </a:ext>
              </a:extLst>
            </p:cNvPr>
            <p:cNvSpPr txBox="1"/>
            <p:nvPr/>
          </p:nvSpPr>
          <p:spPr>
            <a:xfrm>
              <a:off x="5738194" y="4384704"/>
              <a:ext cx="2650157" cy="307777"/>
            </a:xfrm>
            <a:prstGeom prst="rect">
              <a:avLst/>
            </a:prstGeom>
            <a:noFill/>
          </p:spPr>
          <p:txBody>
            <a:bodyPr wrap="square">
              <a:spAutoFit/>
            </a:bodyPr>
            <a:lstStyle/>
            <a:p>
              <a:pPr algn="l"/>
              <a:r>
                <a:rPr lang="en-US" sz="1400">
                  <a:latin typeface="Manrope Light"/>
                </a:rPr>
                <a:t>Workfront</a:t>
              </a:r>
            </a:p>
          </p:txBody>
        </p:sp>
        <p:pic>
          <p:nvPicPr>
            <p:cNvPr id="30" name="Picture 2" descr="Image">
              <a:extLst>
                <a:ext uri="{FF2B5EF4-FFF2-40B4-BE49-F238E27FC236}">
                  <a16:creationId xmlns:a16="http://schemas.microsoft.com/office/drawing/2014/main" id="{E7680E72-648D-9E36-8908-0410D70E8D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2665460"/>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ECBD68F-436D-9EA3-ED15-CD9F37158CEA}"/>
                </a:ext>
              </a:extLst>
            </p:cNvPr>
            <p:cNvSpPr txBox="1"/>
            <p:nvPr/>
          </p:nvSpPr>
          <p:spPr>
            <a:xfrm>
              <a:off x="5738194" y="3803137"/>
              <a:ext cx="2650157" cy="307777"/>
            </a:xfrm>
            <a:prstGeom prst="rect">
              <a:avLst/>
            </a:prstGeom>
            <a:noFill/>
          </p:spPr>
          <p:txBody>
            <a:bodyPr wrap="square">
              <a:spAutoFit/>
            </a:bodyPr>
            <a:lstStyle/>
            <a:p>
              <a:pPr algn="l"/>
              <a:r>
                <a:rPr lang="en-US" sz="1400" err="1">
                  <a:latin typeface="Manrope Light"/>
                </a:rPr>
                <a:t>Sensai</a:t>
              </a:r>
              <a:endParaRPr lang="en-US" sz="1400">
                <a:latin typeface="Manrope Light"/>
              </a:endParaRPr>
            </a:p>
          </p:txBody>
        </p:sp>
        <p:pic>
          <p:nvPicPr>
            <p:cNvPr id="32" name="Picture 2" descr="Image">
              <a:extLst>
                <a:ext uri="{FF2B5EF4-FFF2-40B4-BE49-F238E27FC236}">
                  <a16:creationId xmlns:a16="http://schemas.microsoft.com/office/drawing/2014/main" id="{C6C1D43E-A623-ACD9-5E1C-C368DAE0B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3230510"/>
              <a:ext cx="289893" cy="289893"/>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Rectangle: Rounded Corners 35">
            <a:extLst>
              <a:ext uri="{FF2B5EF4-FFF2-40B4-BE49-F238E27FC236}">
                <a16:creationId xmlns:a16="http://schemas.microsoft.com/office/drawing/2014/main" id="{1498C817-2F79-F14A-2AE5-F0717AAE9B73}"/>
              </a:ext>
            </a:extLst>
          </p:cNvPr>
          <p:cNvSpPr/>
          <p:nvPr/>
        </p:nvSpPr>
        <p:spPr>
          <a:xfrm>
            <a:off x="4914900" y="1560567"/>
            <a:ext cx="6515100" cy="4056179"/>
          </a:xfrm>
          <a:prstGeom prst="roundRect">
            <a:avLst>
              <a:gd name="adj" fmla="val 0"/>
            </a:avLst>
          </a:prstGeom>
          <a:noFill/>
          <a:ln>
            <a:solidFill>
              <a:srgbClr val="C0C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2376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02F5-C420-6A28-A622-64EA2BB30FF9}"/>
            </a:ext>
          </a:extLst>
        </p:cNvPr>
        <p:cNvGrpSpPr/>
        <p:nvPr/>
      </p:nvGrpSpPr>
      <p:grpSpPr>
        <a:xfrm>
          <a:off x="0" y="0"/>
          <a:ext cx="0" cy="0"/>
          <a:chOff x="0" y="0"/>
          <a:chExt cx="0" cy="0"/>
        </a:xfrm>
      </p:grpSpPr>
      <p:sp>
        <p:nvSpPr>
          <p:cNvPr id="6" name="Rounded Rectangle 32">
            <a:extLst>
              <a:ext uri="{FF2B5EF4-FFF2-40B4-BE49-F238E27FC236}">
                <a16:creationId xmlns:a16="http://schemas.microsoft.com/office/drawing/2014/main" id="{E9E5F648-3858-2682-A406-24B5DECA2348}"/>
              </a:ext>
            </a:extLst>
          </p:cNvPr>
          <p:cNvSpPr/>
          <p:nvPr/>
        </p:nvSpPr>
        <p:spPr>
          <a:xfrm>
            <a:off x="7522590" y="2242761"/>
            <a:ext cx="4045521" cy="2946495"/>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ounded Rectangle 32">
            <a:extLst>
              <a:ext uri="{FF2B5EF4-FFF2-40B4-BE49-F238E27FC236}">
                <a16:creationId xmlns:a16="http://schemas.microsoft.com/office/drawing/2014/main" id="{07ADC561-D50E-0D3B-2A5C-47ED82CDB47E}"/>
              </a:ext>
            </a:extLst>
          </p:cNvPr>
          <p:cNvSpPr/>
          <p:nvPr/>
        </p:nvSpPr>
        <p:spPr>
          <a:xfrm>
            <a:off x="623889" y="2242761"/>
            <a:ext cx="6430054" cy="2946495"/>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ext Placeholder 1">
            <a:extLst>
              <a:ext uri="{FF2B5EF4-FFF2-40B4-BE49-F238E27FC236}">
                <a16:creationId xmlns:a16="http://schemas.microsoft.com/office/drawing/2014/main" id="{8A7FCD7F-B9C2-D1EE-C6A3-055E022B9958}"/>
              </a:ext>
            </a:extLst>
          </p:cNvPr>
          <p:cNvSpPr>
            <a:spLocks noGrp="1"/>
          </p:cNvSpPr>
          <p:nvPr>
            <p:ph type="body" sz="quarter" idx="15"/>
          </p:nvPr>
        </p:nvSpPr>
        <p:spPr>
          <a:xfrm flipH="1">
            <a:off x="623888" y="457200"/>
            <a:ext cx="8172450" cy="244101"/>
          </a:xfrm>
        </p:spPr>
        <p:txBody>
          <a:bodyPr/>
          <a:lstStyle/>
          <a:p>
            <a:r>
              <a:rPr lang="en-US">
                <a:latin typeface="Manrope" pitchFamily="2" charset="0"/>
              </a:rPr>
              <a:t>Our Focus Area – Marketing &amp; Content Platforms</a:t>
            </a:r>
          </a:p>
        </p:txBody>
      </p:sp>
      <p:pic>
        <p:nvPicPr>
          <p:cNvPr id="22" name="Picture 21" descr="A black and white logo&#10;&#10;Description automatically generated">
            <a:extLst>
              <a:ext uri="{FF2B5EF4-FFF2-40B4-BE49-F238E27FC236}">
                <a16:creationId xmlns:a16="http://schemas.microsoft.com/office/drawing/2014/main" id="{D47F53E2-806F-A78F-07E7-2619A8E2C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2274" y="4309589"/>
            <a:ext cx="1368125" cy="760070"/>
          </a:xfrm>
          <a:prstGeom prst="rect">
            <a:avLst/>
          </a:prstGeom>
        </p:spPr>
      </p:pic>
      <p:sp>
        <p:nvSpPr>
          <p:cNvPr id="5" name="Rounded Rectangle 32">
            <a:extLst>
              <a:ext uri="{FF2B5EF4-FFF2-40B4-BE49-F238E27FC236}">
                <a16:creationId xmlns:a16="http://schemas.microsoft.com/office/drawing/2014/main" id="{258F0192-4ADB-5058-6EC2-E7F0D18E626F}"/>
              </a:ext>
            </a:extLst>
          </p:cNvPr>
          <p:cNvSpPr/>
          <p:nvPr/>
        </p:nvSpPr>
        <p:spPr>
          <a:xfrm>
            <a:off x="7522588" y="1668744"/>
            <a:ext cx="4045521" cy="574017"/>
          </a:xfrm>
          <a:prstGeom prst="rect">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bg1"/>
              </a:solidFill>
            </a:endParaRPr>
          </a:p>
        </p:txBody>
      </p:sp>
      <p:sp>
        <p:nvSpPr>
          <p:cNvPr id="4" name="Rounded Rectangle 32">
            <a:extLst>
              <a:ext uri="{FF2B5EF4-FFF2-40B4-BE49-F238E27FC236}">
                <a16:creationId xmlns:a16="http://schemas.microsoft.com/office/drawing/2014/main" id="{7F1A9B31-C5BA-9320-527A-8F9FE68C21F1}"/>
              </a:ext>
            </a:extLst>
          </p:cNvPr>
          <p:cNvSpPr/>
          <p:nvPr/>
        </p:nvSpPr>
        <p:spPr>
          <a:xfrm>
            <a:off x="623889" y="1668744"/>
            <a:ext cx="6430054" cy="574017"/>
          </a:xfrm>
          <a:prstGeom prst="rect">
            <a:avLst/>
          </a:prstGeom>
          <a:solidFill>
            <a:srgbClr val="3C2DDA"/>
          </a:solidFill>
          <a:ln w="12700">
            <a:solidFill>
              <a:srgbClr val="3C2D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2E43C0B9-7BC9-2BC2-1A86-2BFEB43A2C36}"/>
              </a:ext>
            </a:extLst>
          </p:cNvPr>
          <p:cNvSpPr/>
          <p:nvPr/>
        </p:nvSpPr>
        <p:spPr>
          <a:xfrm>
            <a:off x="814418" y="1806824"/>
            <a:ext cx="6048996" cy="338554"/>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spcAft>
                <a:spcPts val="600"/>
              </a:spcAft>
              <a:buClr>
                <a:srgbClr val="29ACE4"/>
              </a:buClr>
            </a:pPr>
            <a:r>
              <a:rPr lang="en-US" sz="1600" b="1">
                <a:solidFill>
                  <a:schemeClr val="bg1"/>
                </a:solidFill>
                <a:latin typeface="Manrope Medium" pitchFamily="2" charset="0"/>
                <a:cs typeface="Poppins"/>
              </a:rPr>
              <a:t>Marketing &amp; Content Platforms</a:t>
            </a:r>
          </a:p>
        </p:txBody>
      </p:sp>
      <p:sp>
        <p:nvSpPr>
          <p:cNvPr id="29" name="TextBox 11">
            <a:extLst>
              <a:ext uri="{FF2B5EF4-FFF2-40B4-BE49-F238E27FC236}">
                <a16:creationId xmlns:a16="http://schemas.microsoft.com/office/drawing/2014/main" id="{8C1BEAA2-3FA9-6413-F3F8-AA118F25D812}"/>
              </a:ext>
            </a:extLst>
          </p:cNvPr>
          <p:cNvSpPr txBox="1"/>
          <p:nvPr/>
        </p:nvSpPr>
        <p:spPr>
          <a:xfrm>
            <a:off x="8648409" y="1801672"/>
            <a:ext cx="1793878"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bg1"/>
                </a:solidFill>
                <a:latin typeface="Manrope Medium" pitchFamily="2" charset="0"/>
                <a:cs typeface="Poppins Medium"/>
              </a:rPr>
              <a:t>Partnering with</a:t>
            </a:r>
          </a:p>
        </p:txBody>
      </p:sp>
      <p:sp>
        <p:nvSpPr>
          <p:cNvPr id="7" name="Rectangle 6">
            <a:extLst>
              <a:ext uri="{FF2B5EF4-FFF2-40B4-BE49-F238E27FC236}">
                <a16:creationId xmlns:a16="http://schemas.microsoft.com/office/drawing/2014/main" id="{F8E311C0-9FD8-9B9A-BD3E-7CBDA7CE28B5}"/>
              </a:ext>
            </a:extLst>
          </p:cNvPr>
          <p:cNvSpPr/>
          <p:nvPr/>
        </p:nvSpPr>
        <p:spPr>
          <a:xfrm>
            <a:off x="814418" y="2471581"/>
            <a:ext cx="5281582" cy="2554545"/>
          </a:xfrm>
          <a:prstGeom prst="rect">
            <a:avLst/>
          </a:prstGeom>
        </p:spPr>
        <p:txBody>
          <a:bodyPr wrap="square" lIns="91440" tIns="45720" rIns="91440" bIns="45720" anchor="t">
            <a:spAutoFit/>
          </a:bodyPr>
          <a:lstStyle/>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Purposeful experience design  </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Insights driven benchmarking</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Self-service experiences</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Headless/microservices CMS focus</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Omnichannel, multi-lingual, multi-tenant platform design and development</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Data, audience, segmentation and campaign management</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Hyper-personalization</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Continuous optimization</a:t>
            </a:r>
          </a:p>
          <a:p>
            <a:pPr marL="171450" indent="-171450">
              <a:spcAft>
                <a:spcPts val="600"/>
              </a:spcAft>
              <a:buClr>
                <a:schemeClr val="accent1"/>
              </a:buClr>
              <a:buFont typeface="Arial" panose="020B0604020202020204" pitchFamily="34" charset="0"/>
              <a:buChar char="•"/>
            </a:pPr>
            <a:r>
              <a:rPr lang="en-US" sz="1200">
                <a:latin typeface="Manrope Light" pitchFamily="2" charset="0"/>
                <a:cs typeface="Poppins"/>
              </a:rPr>
              <a:t>Digital ergonomics (</a:t>
            </a:r>
            <a:r>
              <a:rPr lang="en-US" sz="1200">
                <a:solidFill>
                  <a:srgbClr val="02051C"/>
                </a:solidFill>
                <a:latin typeface="Manrope Light" pitchFamily="2" charset="0"/>
                <a:cs typeface="Poppins"/>
              </a:rPr>
              <a:t>accessibility, voice enablement, visual cues, </a:t>
            </a:r>
            <a:r>
              <a:rPr lang="en-US" sz="1200">
                <a:latin typeface="Manrope Light" pitchFamily="2" charset="0"/>
                <a:cs typeface="Poppins"/>
              </a:rPr>
              <a:t>etc.)</a:t>
            </a:r>
          </a:p>
        </p:txBody>
      </p:sp>
      <p:pic>
        <p:nvPicPr>
          <p:cNvPr id="9" name="Picture 8" descr="A red letters on a black background&#10;&#10;Description automatically generated">
            <a:extLst>
              <a:ext uri="{FF2B5EF4-FFF2-40B4-BE49-F238E27FC236}">
                <a16:creationId xmlns:a16="http://schemas.microsoft.com/office/drawing/2014/main" id="{CE1AA854-E8B4-7231-9CD1-2B36D5D0EC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9677" y="2428229"/>
            <a:ext cx="1155317" cy="299660"/>
          </a:xfrm>
          <a:prstGeom prst="rect">
            <a:avLst/>
          </a:prstGeom>
        </p:spPr>
      </p:pic>
      <p:pic>
        <p:nvPicPr>
          <p:cNvPr id="18" name="Picture 17" descr="A black and blue text&#10;&#10;Description automatically generated">
            <a:extLst>
              <a:ext uri="{FF2B5EF4-FFF2-40B4-BE49-F238E27FC236}">
                <a16:creationId xmlns:a16="http://schemas.microsoft.com/office/drawing/2014/main" id="{3497FA28-01FC-0115-5D75-95CD84A45E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79600" y="3838249"/>
            <a:ext cx="1233471" cy="390393"/>
          </a:xfrm>
          <a:prstGeom prst="rect">
            <a:avLst/>
          </a:prstGeom>
        </p:spPr>
      </p:pic>
      <p:pic>
        <p:nvPicPr>
          <p:cNvPr id="31" name="Picture 30" descr="A black text on a white background&#10;&#10;Description automatically generated">
            <a:extLst>
              <a:ext uri="{FF2B5EF4-FFF2-40B4-BE49-F238E27FC236}">
                <a16:creationId xmlns:a16="http://schemas.microsoft.com/office/drawing/2014/main" id="{E35AB473-F33A-6B3E-AA22-808152AE19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33747" y="2408614"/>
            <a:ext cx="1570624" cy="338889"/>
          </a:xfrm>
          <a:prstGeom prst="rect">
            <a:avLst/>
          </a:prstGeom>
        </p:spPr>
      </p:pic>
      <p:pic>
        <p:nvPicPr>
          <p:cNvPr id="33" name="Picture 32" descr="A blue and black logo&#10;&#10;Description automatically generated">
            <a:extLst>
              <a:ext uri="{FF2B5EF4-FFF2-40B4-BE49-F238E27FC236}">
                <a16:creationId xmlns:a16="http://schemas.microsoft.com/office/drawing/2014/main" id="{C699A8C2-F6AB-3BA7-8370-3C50929FEB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18931" y="3170755"/>
            <a:ext cx="954807" cy="204388"/>
          </a:xfrm>
          <a:prstGeom prst="rect">
            <a:avLst/>
          </a:prstGeom>
        </p:spPr>
      </p:pic>
      <p:pic>
        <p:nvPicPr>
          <p:cNvPr id="1026" name="Picture 2" descr="Logo and Wordmark Usage Guidelines | Drupal.org">
            <a:extLst>
              <a:ext uri="{FF2B5EF4-FFF2-40B4-BE49-F238E27FC236}">
                <a16:creationId xmlns:a16="http://schemas.microsoft.com/office/drawing/2014/main" id="{B1645356-BBA5-F0FB-1E65-2D66A4C36F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87071" y="2877529"/>
            <a:ext cx="767380" cy="5864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ordpress Logo Clipart PNG Transparent Background, Free Download #49488 -  FreeIconsPNG">
            <a:extLst>
              <a:ext uri="{FF2B5EF4-FFF2-40B4-BE49-F238E27FC236}">
                <a16:creationId xmlns:a16="http://schemas.microsoft.com/office/drawing/2014/main" id="{29D96119-D4C4-4A58-3EB6-8328AD703F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67841" y="3618159"/>
            <a:ext cx="1005840" cy="649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238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ounded Rectangle 54">
            <a:extLst>
              <a:ext uri="{FF2B5EF4-FFF2-40B4-BE49-F238E27FC236}">
                <a16:creationId xmlns:a16="http://schemas.microsoft.com/office/drawing/2014/main" id="{F33EF7A8-8DBE-D65E-2456-C844BB7E4809}"/>
              </a:ext>
            </a:extLst>
          </p:cNvPr>
          <p:cNvSpPr/>
          <p:nvPr/>
        </p:nvSpPr>
        <p:spPr>
          <a:xfrm>
            <a:off x="5512133" y="988600"/>
            <a:ext cx="5633690" cy="5039183"/>
          </a:xfrm>
          <a:prstGeom prst="roundRect">
            <a:avLst>
              <a:gd name="adj" fmla="val 242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534114E-1DAF-2372-7FE6-0E9D5F9864E7}"/>
              </a:ext>
            </a:extLst>
          </p:cNvPr>
          <p:cNvSpPr>
            <a:spLocks noGrp="1"/>
          </p:cNvSpPr>
          <p:nvPr>
            <p:ph type="body" sz="quarter" idx="15"/>
          </p:nvPr>
        </p:nvSpPr>
        <p:spPr/>
        <p:txBody>
          <a:bodyPr/>
          <a:lstStyle/>
          <a:p>
            <a:r>
              <a:rPr lang="en-US">
                <a:solidFill>
                  <a:schemeClr val="bg1"/>
                </a:solidFill>
              </a:rPr>
              <a:t>Considering Every Dimension</a:t>
            </a:r>
          </a:p>
        </p:txBody>
      </p:sp>
      <p:grpSp>
        <p:nvGrpSpPr>
          <p:cNvPr id="15" name="Graphic 2">
            <a:extLst>
              <a:ext uri="{FF2B5EF4-FFF2-40B4-BE49-F238E27FC236}">
                <a16:creationId xmlns:a16="http://schemas.microsoft.com/office/drawing/2014/main" id="{A2C7C2C3-5199-2EDF-D3DC-5301D8006605}"/>
              </a:ext>
            </a:extLst>
          </p:cNvPr>
          <p:cNvGrpSpPr/>
          <p:nvPr/>
        </p:nvGrpSpPr>
        <p:grpSpPr>
          <a:xfrm>
            <a:off x="6849541" y="1846887"/>
            <a:ext cx="2967925" cy="3339774"/>
            <a:chOff x="7180762" y="1769998"/>
            <a:chExt cx="2967925" cy="3339774"/>
          </a:xfrm>
          <a:solidFill>
            <a:schemeClr val="bg1">
              <a:lumMod val="65000"/>
            </a:schemeClr>
          </a:solidFill>
        </p:grpSpPr>
        <p:grpSp>
          <p:nvGrpSpPr>
            <p:cNvPr id="16" name="Graphic 2">
              <a:extLst>
                <a:ext uri="{FF2B5EF4-FFF2-40B4-BE49-F238E27FC236}">
                  <a16:creationId xmlns:a16="http://schemas.microsoft.com/office/drawing/2014/main" id="{E3D60F5C-F779-1B96-8F6F-214678E8F53E}"/>
                </a:ext>
              </a:extLst>
            </p:cNvPr>
            <p:cNvGrpSpPr/>
            <p:nvPr/>
          </p:nvGrpSpPr>
          <p:grpSpPr>
            <a:xfrm>
              <a:off x="7203031" y="1792264"/>
              <a:ext cx="2923387" cy="3295243"/>
              <a:chOff x="7203031" y="1792264"/>
              <a:chExt cx="2923387" cy="3295243"/>
            </a:xfrm>
            <a:grpFill/>
          </p:grpSpPr>
          <p:sp>
            <p:nvSpPr>
              <p:cNvPr id="17" name="Freeform 16">
                <a:extLst>
                  <a:ext uri="{FF2B5EF4-FFF2-40B4-BE49-F238E27FC236}">
                    <a16:creationId xmlns:a16="http://schemas.microsoft.com/office/drawing/2014/main" id="{49D23F3A-AF3A-FBB7-39BB-2028CA39495F}"/>
                  </a:ext>
                </a:extLst>
              </p:cNvPr>
              <p:cNvSpPr/>
              <p:nvPr/>
            </p:nvSpPr>
            <p:spPr>
              <a:xfrm>
                <a:off x="9600208" y="2886986"/>
                <a:ext cx="526210" cy="306368"/>
              </a:xfrm>
              <a:custGeom>
                <a:avLst/>
                <a:gdLst>
                  <a:gd name="connsiteX0" fmla="*/ 263105 w 526210"/>
                  <a:gd name="connsiteY0" fmla="*/ 306369 h 306368"/>
                  <a:gd name="connsiteX1" fmla="*/ 5567 w 526210"/>
                  <a:gd name="connsiteY1" fmla="*/ 306369 h 306368"/>
                  <a:gd name="connsiteX2" fmla="*/ 0 w 526210"/>
                  <a:gd name="connsiteY2" fmla="*/ 300802 h 306368"/>
                  <a:gd name="connsiteX3" fmla="*/ 5567 w 526210"/>
                  <a:gd name="connsiteY3" fmla="*/ 295236 h 306368"/>
                  <a:gd name="connsiteX4" fmla="*/ 257538 w 526210"/>
                  <a:gd name="connsiteY4" fmla="*/ 295236 h 306368"/>
                  <a:gd name="connsiteX5" fmla="*/ 257538 w 526210"/>
                  <a:gd name="connsiteY5" fmla="*/ 5566 h 306368"/>
                  <a:gd name="connsiteX6" fmla="*/ 263105 w 526210"/>
                  <a:gd name="connsiteY6" fmla="*/ 0 h 306368"/>
                  <a:gd name="connsiteX7" fmla="*/ 520644 w 526210"/>
                  <a:gd name="connsiteY7" fmla="*/ 0 h 306368"/>
                  <a:gd name="connsiteX8" fmla="*/ 526211 w 526210"/>
                  <a:gd name="connsiteY8" fmla="*/ 5566 h 306368"/>
                  <a:gd name="connsiteX9" fmla="*/ 520644 w 526210"/>
                  <a:gd name="connsiteY9" fmla="*/ 11133 h 306368"/>
                  <a:gd name="connsiteX10" fmla="*/ 268672 w 526210"/>
                  <a:gd name="connsiteY10" fmla="*/ 11133 h 306368"/>
                  <a:gd name="connsiteX11" fmla="*/ 268672 w 526210"/>
                  <a:gd name="connsiteY11" fmla="*/ 300802 h 306368"/>
                  <a:gd name="connsiteX12" fmla="*/ 263105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263105" y="306369"/>
                    </a:moveTo>
                    <a:lnTo>
                      <a:pt x="5567" y="306369"/>
                    </a:lnTo>
                    <a:cubicBezTo>
                      <a:pt x="2505" y="306369"/>
                      <a:pt x="0" y="303864"/>
                      <a:pt x="0" y="300802"/>
                    </a:cubicBezTo>
                    <a:cubicBezTo>
                      <a:pt x="0" y="297741"/>
                      <a:pt x="2505" y="295236"/>
                      <a:pt x="5567" y="295236"/>
                    </a:cubicBezTo>
                    <a:lnTo>
                      <a:pt x="257538" y="295236"/>
                    </a:lnTo>
                    <a:lnTo>
                      <a:pt x="257538" y="5566"/>
                    </a:lnTo>
                    <a:cubicBezTo>
                      <a:pt x="257538" y="2505"/>
                      <a:pt x="260043" y="0"/>
                      <a:pt x="263105" y="0"/>
                    </a:cubicBezTo>
                    <a:lnTo>
                      <a:pt x="520644" y="0"/>
                    </a:lnTo>
                    <a:cubicBezTo>
                      <a:pt x="523705" y="0"/>
                      <a:pt x="526211" y="2505"/>
                      <a:pt x="526211" y="5566"/>
                    </a:cubicBezTo>
                    <a:cubicBezTo>
                      <a:pt x="526211" y="8628"/>
                      <a:pt x="523705" y="11133"/>
                      <a:pt x="520644" y="11133"/>
                    </a:cubicBezTo>
                    <a:lnTo>
                      <a:pt x="268672" y="11133"/>
                    </a:lnTo>
                    <a:lnTo>
                      <a:pt x="268672" y="300802"/>
                    </a:lnTo>
                    <a:cubicBezTo>
                      <a:pt x="268672" y="303864"/>
                      <a:pt x="266167" y="306369"/>
                      <a:pt x="263105" y="306369"/>
                    </a:cubicBezTo>
                    <a:close/>
                  </a:path>
                </a:pathLst>
              </a:custGeom>
              <a:grpFill/>
              <a:ln w="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A527554-0C25-F7F6-342B-3B8978E33D81}"/>
                  </a:ext>
                </a:extLst>
              </p:cNvPr>
              <p:cNvSpPr/>
              <p:nvPr/>
            </p:nvSpPr>
            <p:spPr>
              <a:xfrm>
                <a:off x="9600208" y="3686417"/>
                <a:ext cx="526210" cy="306368"/>
              </a:xfrm>
              <a:custGeom>
                <a:avLst/>
                <a:gdLst>
                  <a:gd name="connsiteX0" fmla="*/ 520644 w 526210"/>
                  <a:gd name="connsiteY0" fmla="*/ 306369 h 306368"/>
                  <a:gd name="connsiteX1" fmla="*/ 263105 w 526210"/>
                  <a:gd name="connsiteY1" fmla="*/ 306369 h 306368"/>
                  <a:gd name="connsiteX2" fmla="*/ 257538 w 526210"/>
                  <a:gd name="connsiteY2" fmla="*/ 300802 h 306368"/>
                  <a:gd name="connsiteX3" fmla="*/ 257538 w 526210"/>
                  <a:gd name="connsiteY3" fmla="*/ 11133 h 306368"/>
                  <a:gd name="connsiteX4" fmla="*/ 5567 w 526210"/>
                  <a:gd name="connsiteY4" fmla="*/ 11133 h 306368"/>
                  <a:gd name="connsiteX5" fmla="*/ 0 w 526210"/>
                  <a:gd name="connsiteY5" fmla="*/ 5566 h 306368"/>
                  <a:gd name="connsiteX6" fmla="*/ 5567 w 526210"/>
                  <a:gd name="connsiteY6" fmla="*/ 0 h 306368"/>
                  <a:gd name="connsiteX7" fmla="*/ 263105 w 526210"/>
                  <a:gd name="connsiteY7" fmla="*/ 0 h 306368"/>
                  <a:gd name="connsiteX8" fmla="*/ 268672 w 526210"/>
                  <a:gd name="connsiteY8" fmla="*/ 5566 h 306368"/>
                  <a:gd name="connsiteX9" fmla="*/ 268672 w 526210"/>
                  <a:gd name="connsiteY9" fmla="*/ 295236 h 306368"/>
                  <a:gd name="connsiteX10" fmla="*/ 520644 w 526210"/>
                  <a:gd name="connsiteY10" fmla="*/ 295236 h 306368"/>
                  <a:gd name="connsiteX11" fmla="*/ 526211 w 526210"/>
                  <a:gd name="connsiteY11" fmla="*/ 300802 h 306368"/>
                  <a:gd name="connsiteX12" fmla="*/ 520644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520644" y="306369"/>
                    </a:moveTo>
                    <a:lnTo>
                      <a:pt x="263105" y="306369"/>
                    </a:lnTo>
                    <a:cubicBezTo>
                      <a:pt x="260043" y="306369"/>
                      <a:pt x="257538" y="303864"/>
                      <a:pt x="257538" y="300802"/>
                    </a:cubicBezTo>
                    <a:lnTo>
                      <a:pt x="257538" y="11133"/>
                    </a:lnTo>
                    <a:lnTo>
                      <a:pt x="5567" y="11133"/>
                    </a:lnTo>
                    <a:cubicBezTo>
                      <a:pt x="2505" y="11133"/>
                      <a:pt x="0" y="8628"/>
                      <a:pt x="0" y="5566"/>
                    </a:cubicBezTo>
                    <a:cubicBezTo>
                      <a:pt x="0" y="2505"/>
                      <a:pt x="2505" y="0"/>
                      <a:pt x="5567" y="0"/>
                    </a:cubicBezTo>
                    <a:lnTo>
                      <a:pt x="263105" y="0"/>
                    </a:lnTo>
                    <a:cubicBezTo>
                      <a:pt x="266167" y="0"/>
                      <a:pt x="268672" y="2505"/>
                      <a:pt x="268672" y="5566"/>
                    </a:cubicBezTo>
                    <a:lnTo>
                      <a:pt x="268672" y="295236"/>
                    </a:lnTo>
                    <a:lnTo>
                      <a:pt x="520644" y="295236"/>
                    </a:lnTo>
                    <a:cubicBezTo>
                      <a:pt x="523705" y="295236"/>
                      <a:pt x="526211" y="297741"/>
                      <a:pt x="526211" y="300802"/>
                    </a:cubicBezTo>
                    <a:cubicBezTo>
                      <a:pt x="526211" y="303864"/>
                      <a:pt x="523705" y="306369"/>
                      <a:pt x="520644" y="306369"/>
                    </a:cubicBezTo>
                    <a:close/>
                  </a:path>
                </a:pathLst>
              </a:custGeom>
              <a:grpFill/>
              <a:ln w="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91F473F-9287-84B5-623B-D0359F56084D}"/>
                  </a:ext>
                </a:extLst>
              </p:cNvPr>
              <p:cNvSpPr/>
              <p:nvPr/>
            </p:nvSpPr>
            <p:spPr>
              <a:xfrm>
                <a:off x="9348014" y="1792264"/>
                <a:ext cx="778404" cy="964415"/>
              </a:xfrm>
              <a:custGeom>
                <a:avLst/>
                <a:gdLst>
                  <a:gd name="connsiteX0" fmla="*/ 389203 w 778404"/>
                  <a:gd name="connsiteY0" fmla="*/ 964416 h 964415"/>
                  <a:gd name="connsiteX1" fmla="*/ 5567 w 778404"/>
                  <a:gd name="connsiteY1" fmla="*/ 964416 h 964415"/>
                  <a:gd name="connsiteX2" fmla="*/ 0 w 778404"/>
                  <a:gd name="connsiteY2" fmla="*/ 958849 h 964415"/>
                  <a:gd name="connsiteX3" fmla="*/ 5567 w 778404"/>
                  <a:gd name="connsiteY3" fmla="*/ 953283 h 964415"/>
                  <a:gd name="connsiteX4" fmla="*/ 383635 w 778404"/>
                  <a:gd name="connsiteY4" fmla="*/ 953283 h 964415"/>
                  <a:gd name="connsiteX5" fmla="*/ 383635 w 778404"/>
                  <a:gd name="connsiteY5" fmla="*/ 5566 h 964415"/>
                  <a:gd name="connsiteX6" fmla="*/ 389203 w 778404"/>
                  <a:gd name="connsiteY6" fmla="*/ 0 h 964415"/>
                  <a:gd name="connsiteX7" fmla="*/ 772838 w 778404"/>
                  <a:gd name="connsiteY7" fmla="*/ 0 h 964415"/>
                  <a:gd name="connsiteX8" fmla="*/ 778405 w 778404"/>
                  <a:gd name="connsiteY8" fmla="*/ 5566 h 964415"/>
                  <a:gd name="connsiteX9" fmla="*/ 772838 w 778404"/>
                  <a:gd name="connsiteY9" fmla="*/ 11133 h 964415"/>
                  <a:gd name="connsiteX10" fmla="*/ 394770 w 778404"/>
                  <a:gd name="connsiteY10" fmla="*/ 11133 h 964415"/>
                  <a:gd name="connsiteX11" fmla="*/ 394770 w 778404"/>
                  <a:gd name="connsiteY11" fmla="*/ 958849 h 964415"/>
                  <a:gd name="connsiteX12" fmla="*/ 389203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389203" y="964416"/>
                    </a:moveTo>
                    <a:lnTo>
                      <a:pt x="5567" y="964416"/>
                    </a:lnTo>
                    <a:cubicBezTo>
                      <a:pt x="2505" y="964416"/>
                      <a:pt x="0" y="961911"/>
                      <a:pt x="0" y="958849"/>
                    </a:cubicBezTo>
                    <a:cubicBezTo>
                      <a:pt x="0" y="955788"/>
                      <a:pt x="2505" y="953283"/>
                      <a:pt x="5567" y="953283"/>
                    </a:cubicBezTo>
                    <a:lnTo>
                      <a:pt x="383635" y="953283"/>
                    </a:lnTo>
                    <a:lnTo>
                      <a:pt x="383635" y="5566"/>
                    </a:lnTo>
                    <a:cubicBezTo>
                      <a:pt x="383635" y="2505"/>
                      <a:pt x="386141" y="0"/>
                      <a:pt x="389203" y="0"/>
                    </a:cubicBezTo>
                    <a:lnTo>
                      <a:pt x="772838" y="0"/>
                    </a:lnTo>
                    <a:cubicBezTo>
                      <a:pt x="775899" y="0"/>
                      <a:pt x="778405" y="2505"/>
                      <a:pt x="778405" y="5566"/>
                    </a:cubicBezTo>
                    <a:cubicBezTo>
                      <a:pt x="778405" y="8628"/>
                      <a:pt x="775899" y="11133"/>
                      <a:pt x="772838" y="11133"/>
                    </a:cubicBezTo>
                    <a:lnTo>
                      <a:pt x="394770" y="11133"/>
                    </a:lnTo>
                    <a:lnTo>
                      <a:pt x="394770" y="958849"/>
                    </a:lnTo>
                    <a:cubicBezTo>
                      <a:pt x="394770" y="961911"/>
                      <a:pt x="392264" y="964416"/>
                      <a:pt x="389203" y="964416"/>
                    </a:cubicBezTo>
                    <a:close/>
                  </a:path>
                </a:pathLst>
              </a:custGeom>
              <a:grpFill/>
              <a:ln w="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B5A01AF-C5BB-4A3B-3320-BAF01501B6D3}"/>
                  </a:ext>
                </a:extLst>
              </p:cNvPr>
              <p:cNvSpPr/>
              <p:nvPr/>
            </p:nvSpPr>
            <p:spPr>
              <a:xfrm>
                <a:off x="9348014" y="4123092"/>
                <a:ext cx="778404" cy="964415"/>
              </a:xfrm>
              <a:custGeom>
                <a:avLst/>
                <a:gdLst>
                  <a:gd name="connsiteX0" fmla="*/ 772838 w 778404"/>
                  <a:gd name="connsiteY0" fmla="*/ 964416 h 964415"/>
                  <a:gd name="connsiteX1" fmla="*/ 389203 w 778404"/>
                  <a:gd name="connsiteY1" fmla="*/ 964416 h 964415"/>
                  <a:gd name="connsiteX2" fmla="*/ 383635 w 778404"/>
                  <a:gd name="connsiteY2" fmla="*/ 958849 h 964415"/>
                  <a:gd name="connsiteX3" fmla="*/ 383635 w 778404"/>
                  <a:gd name="connsiteY3" fmla="*/ 11133 h 964415"/>
                  <a:gd name="connsiteX4" fmla="*/ 5567 w 778404"/>
                  <a:gd name="connsiteY4" fmla="*/ 11133 h 964415"/>
                  <a:gd name="connsiteX5" fmla="*/ 0 w 778404"/>
                  <a:gd name="connsiteY5" fmla="*/ 5566 h 964415"/>
                  <a:gd name="connsiteX6" fmla="*/ 5567 w 778404"/>
                  <a:gd name="connsiteY6" fmla="*/ 0 h 964415"/>
                  <a:gd name="connsiteX7" fmla="*/ 389203 w 778404"/>
                  <a:gd name="connsiteY7" fmla="*/ 0 h 964415"/>
                  <a:gd name="connsiteX8" fmla="*/ 394770 w 778404"/>
                  <a:gd name="connsiteY8" fmla="*/ 5566 h 964415"/>
                  <a:gd name="connsiteX9" fmla="*/ 394770 w 778404"/>
                  <a:gd name="connsiteY9" fmla="*/ 953283 h 964415"/>
                  <a:gd name="connsiteX10" fmla="*/ 772838 w 778404"/>
                  <a:gd name="connsiteY10" fmla="*/ 953283 h 964415"/>
                  <a:gd name="connsiteX11" fmla="*/ 778405 w 778404"/>
                  <a:gd name="connsiteY11" fmla="*/ 958849 h 964415"/>
                  <a:gd name="connsiteX12" fmla="*/ 772838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772838" y="964416"/>
                    </a:moveTo>
                    <a:lnTo>
                      <a:pt x="389203" y="964416"/>
                    </a:lnTo>
                    <a:cubicBezTo>
                      <a:pt x="386141" y="964416"/>
                      <a:pt x="383635" y="961911"/>
                      <a:pt x="383635" y="958849"/>
                    </a:cubicBezTo>
                    <a:lnTo>
                      <a:pt x="383635" y="11133"/>
                    </a:lnTo>
                    <a:lnTo>
                      <a:pt x="5567" y="11133"/>
                    </a:lnTo>
                    <a:cubicBezTo>
                      <a:pt x="2505" y="11133"/>
                      <a:pt x="0" y="8628"/>
                      <a:pt x="0" y="5566"/>
                    </a:cubicBezTo>
                    <a:cubicBezTo>
                      <a:pt x="0" y="2505"/>
                      <a:pt x="2505" y="0"/>
                      <a:pt x="5567" y="0"/>
                    </a:cubicBezTo>
                    <a:lnTo>
                      <a:pt x="389203" y="0"/>
                    </a:lnTo>
                    <a:cubicBezTo>
                      <a:pt x="392264" y="0"/>
                      <a:pt x="394770" y="2505"/>
                      <a:pt x="394770" y="5566"/>
                    </a:cubicBezTo>
                    <a:lnTo>
                      <a:pt x="394770" y="953283"/>
                    </a:lnTo>
                    <a:lnTo>
                      <a:pt x="772838" y="953283"/>
                    </a:lnTo>
                    <a:cubicBezTo>
                      <a:pt x="775899" y="953283"/>
                      <a:pt x="778405" y="955788"/>
                      <a:pt x="778405" y="958849"/>
                    </a:cubicBezTo>
                    <a:cubicBezTo>
                      <a:pt x="778405" y="961911"/>
                      <a:pt x="775899" y="964416"/>
                      <a:pt x="772838" y="964416"/>
                    </a:cubicBezTo>
                    <a:close/>
                  </a:path>
                </a:pathLst>
              </a:custGeom>
              <a:grpFill/>
              <a:ln w="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D73EFA4-546C-C91A-6A14-B8540E895B7A}"/>
                  </a:ext>
                </a:extLst>
              </p:cNvPr>
              <p:cNvSpPr/>
              <p:nvPr/>
            </p:nvSpPr>
            <p:spPr>
              <a:xfrm>
                <a:off x="7203031" y="2886986"/>
                <a:ext cx="526210" cy="306368"/>
              </a:xfrm>
              <a:custGeom>
                <a:avLst/>
                <a:gdLst>
                  <a:gd name="connsiteX0" fmla="*/ 520644 w 526210"/>
                  <a:gd name="connsiteY0" fmla="*/ 306369 h 306368"/>
                  <a:gd name="connsiteX1" fmla="*/ 263105 w 526210"/>
                  <a:gd name="connsiteY1" fmla="*/ 306369 h 306368"/>
                  <a:gd name="connsiteX2" fmla="*/ 257538 w 526210"/>
                  <a:gd name="connsiteY2" fmla="*/ 300802 h 306368"/>
                  <a:gd name="connsiteX3" fmla="*/ 257538 w 526210"/>
                  <a:gd name="connsiteY3" fmla="*/ 11133 h 306368"/>
                  <a:gd name="connsiteX4" fmla="*/ 5567 w 526210"/>
                  <a:gd name="connsiteY4" fmla="*/ 11133 h 306368"/>
                  <a:gd name="connsiteX5" fmla="*/ 0 w 526210"/>
                  <a:gd name="connsiteY5" fmla="*/ 5566 h 306368"/>
                  <a:gd name="connsiteX6" fmla="*/ 5567 w 526210"/>
                  <a:gd name="connsiteY6" fmla="*/ 0 h 306368"/>
                  <a:gd name="connsiteX7" fmla="*/ 263105 w 526210"/>
                  <a:gd name="connsiteY7" fmla="*/ 0 h 306368"/>
                  <a:gd name="connsiteX8" fmla="*/ 268673 w 526210"/>
                  <a:gd name="connsiteY8" fmla="*/ 5566 h 306368"/>
                  <a:gd name="connsiteX9" fmla="*/ 268673 w 526210"/>
                  <a:gd name="connsiteY9" fmla="*/ 295236 h 306368"/>
                  <a:gd name="connsiteX10" fmla="*/ 520644 w 526210"/>
                  <a:gd name="connsiteY10" fmla="*/ 295236 h 306368"/>
                  <a:gd name="connsiteX11" fmla="*/ 526211 w 526210"/>
                  <a:gd name="connsiteY11" fmla="*/ 300802 h 306368"/>
                  <a:gd name="connsiteX12" fmla="*/ 520644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520644" y="306369"/>
                    </a:moveTo>
                    <a:lnTo>
                      <a:pt x="263105" y="306369"/>
                    </a:lnTo>
                    <a:cubicBezTo>
                      <a:pt x="260044" y="306369"/>
                      <a:pt x="257538" y="303864"/>
                      <a:pt x="257538" y="300802"/>
                    </a:cubicBezTo>
                    <a:lnTo>
                      <a:pt x="257538" y="11133"/>
                    </a:lnTo>
                    <a:lnTo>
                      <a:pt x="5567" y="11133"/>
                    </a:lnTo>
                    <a:cubicBezTo>
                      <a:pt x="2505" y="11133"/>
                      <a:pt x="0" y="8628"/>
                      <a:pt x="0" y="5566"/>
                    </a:cubicBezTo>
                    <a:cubicBezTo>
                      <a:pt x="0" y="2505"/>
                      <a:pt x="2505" y="0"/>
                      <a:pt x="5567" y="0"/>
                    </a:cubicBezTo>
                    <a:lnTo>
                      <a:pt x="263105" y="0"/>
                    </a:lnTo>
                    <a:cubicBezTo>
                      <a:pt x="266167" y="0"/>
                      <a:pt x="268673" y="2505"/>
                      <a:pt x="268673" y="5566"/>
                    </a:cubicBezTo>
                    <a:lnTo>
                      <a:pt x="268673" y="295236"/>
                    </a:lnTo>
                    <a:lnTo>
                      <a:pt x="520644" y="295236"/>
                    </a:lnTo>
                    <a:cubicBezTo>
                      <a:pt x="523706" y="295236"/>
                      <a:pt x="526211" y="297741"/>
                      <a:pt x="526211" y="300802"/>
                    </a:cubicBezTo>
                    <a:cubicBezTo>
                      <a:pt x="526211" y="303864"/>
                      <a:pt x="523706" y="306369"/>
                      <a:pt x="520644" y="306369"/>
                    </a:cubicBezTo>
                    <a:close/>
                  </a:path>
                </a:pathLst>
              </a:custGeom>
              <a:grpFill/>
              <a:ln w="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3A71ABF-5EA3-0A2E-E6E4-CBBF8019626F}"/>
                  </a:ext>
                </a:extLst>
              </p:cNvPr>
              <p:cNvSpPr/>
              <p:nvPr/>
            </p:nvSpPr>
            <p:spPr>
              <a:xfrm>
                <a:off x="7203086" y="3686417"/>
                <a:ext cx="526210" cy="306368"/>
              </a:xfrm>
              <a:custGeom>
                <a:avLst/>
                <a:gdLst>
                  <a:gd name="connsiteX0" fmla="*/ 263106 w 526210"/>
                  <a:gd name="connsiteY0" fmla="*/ 306369 h 306368"/>
                  <a:gd name="connsiteX1" fmla="*/ 5567 w 526210"/>
                  <a:gd name="connsiteY1" fmla="*/ 306369 h 306368"/>
                  <a:gd name="connsiteX2" fmla="*/ 0 w 526210"/>
                  <a:gd name="connsiteY2" fmla="*/ 300802 h 306368"/>
                  <a:gd name="connsiteX3" fmla="*/ 5567 w 526210"/>
                  <a:gd name="connsiteY3" fmla="*/ 295236 h 306368"/>
                  <a:gd name="connsiteX4" fmla="*/ 257538 w 526210"/>
                  <a:gd name="connsiteY4" fmla="*/ 295236 h 306368"/>
                  <a:gd name="connsiteX5" fmla="*/ 257538 w 526210"/>
                  <a:gd name="connsiteY5" fmla="*/ 5566 h 306368"/>
                  <a:gd name="connsiteX6" fmla="*/ 263106 w 526210"/>
                  <a:gd name="connsiteY6" fmla="*/ 0 h 306368"/>
                  <a:gd name="connsiteX7" fmla="*/ 520644 w 526210"/>
                  <a:gd name="connsiteY7" fmla="*/ 0 h 306368"/>
                  <a:gd name="connsiteX8" fmla="*/ 526211 w 526210"/>
                  <a:gd name="connsiteY8" fmla="*/ 5566 h 306368"/>
                  <a:gd name="connsiteX9" fmla="*/ 520644 w 526210"/>
                  <a:gd name="connsiteY9" fmla="*/ 11133 h 306368"/>
                  <a:gd name="connsiteX10" fmla="*/ 268673 w 526210"/>
                  <a:gd name="connsiteY10" fmla="*/ 11133 h 306368"/>
                  <a:gd name="connsiteX11" fmla="*/ 268673 w 526210"/>
                  <a:gd name="connsiteY11" fmla="*/ 300802 h 306368"/>
                  <a:gd name="connsiteX12" fmla="*/ 263106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263106" y="306369"/>
                    </a:moveTo>
                    <a:lnTo>
                      <a:pt x="5567" y="306369"/>
                    </a:lnTo>
                    <a:cubicBezTo>
                      <a:pt x="2505" y="306369"/>
                      <a:pt x="0" y="303864"/>
                      <a:pt x="0" y="300802"/>
                    </a:cubicBezTo>
                    <a:cubicBezTo>
                      <a:pt x="0" y="297741"/>
                      <a:pt x="2505" y="295236"/>
                      <a:pt x="5567" y="295236"/>
                    </a:cubicBezTo>
                    <a:lnTo>
                      <a:pt x="257538" y="295236"/>
                    </a:lnTo>
                    <a:lnTo>
                      <a:pt x="257538" y="5566"/>
                    </a:lnTo>
                    <a:cubicBezTo>
                      <a:pt x="257538" y="2505"/>
                      <a:pt x="260044" y="0"/>
                      <a:pt x="263106" y="0"/>
                    </a:cubicBezTo>
                    <a:lnTo>
                      <a:pt x="520644" y="0"/>
                    </a:lnTo>
                    <a:cubicBezTo>
                      <a:pt x="523706" y="0"/>
                      <a:pt x="526211" y="2505"/>
                      <a:pt x="526211" y="5566"/>
                    </a:cubicBezTo>
                    <a:cubicBezTo>
                      <a:pt x="526211" y="8628"/>
                      <a:pt x="523706" y="11133"/>
                      <a:pt x="520644" y="11133"/>
                    </a:cubicBezTo>
                    <a:lnTo>
                      <a:pt x="268673" y="11133"/>
                    </a:lnTo>
                    <a:lnTo>
                      <a:pt x="268673" y="300802"/>
                    </a:lnTo>
                    <a:cubicBezTo>
                      <a:pt x="268673" y="303864"/>
                      <a:pt x="266168" y="306369"/>
                      <a:pt x="263106" y="306369"/>
                    </a:cubicBezTo>
                    <a:close/>
                  </a:path>
                </a:pathLst>
              </a:custGeom>
              <a:grpFill/>
              <a:ln w="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936F9FAA-9B0A-F210-A109-36835F19E29C}"/>
                  </a:ext>
                </a:extLst>
              </p:cNvPr>
              <p:cNvSpPr/>
              <p:nvPr/>
            </p:nvSpPr>
            <p:spPr>
              <a:xfrm>
                <a:off x="7203031" y="1792264"/>
                <a:ext cx="778404" cy="964415"/>
              </a:xfrm>
              <a:custGeom>
                <a:avLst/>
                <a:gdLst>
                  <a:gd name="connsiteX0" fmla="*/ 772838 w 778404"/>
                  <a:gd name="connsiteY0" fmla="*/ 964416 h 964415"/>
                  <a:gd name="connsiteX1" fmla="*/ 389202 w 778404"/>
                  <a:gd name="connsiteY1" fmla="*/ 964416 h 964415"/>
                  <a:gd name="connsiteX2" fmla="*/ 383635 w 778404"/>
                  <a:gd name="connsiteY2" fmla="*/ 958849 h 964415"/>
                  <a:gd name="connsiteX3" fmla="*/ 383635 w 778404"/>
                  <a:gd name="connsiteY3" fmla="*/ 11133 h 964415"/>
                  <a:gd name="connsiteX4" fmla="*/ 5567 w 778404"/>
                  <a:gd name="connsiteY4" fmla="*/ 11133 h 964415"/>
                  <a:gd name="connsiteX5" fmla="*/ 0 w 778404"/>
                  <a:gd name="connsiteY5" fmla="*/ 5566 h 964415"/>
                  <a:gd name="connsiteX6" fmla="*/ 5567 w 778404"/>
                  <a:gd name="connsiteY6" fmla="*/ 0 h 964415"/>
                  <a:gd name="connsiteX7" fmla="*/ 389202 w 778404"/>
                  <a:gd name="connsiteY7" fmla="*/ 0 h 964415"/>
                  <a:gd name="connsiteX8" fmla="*/ 394770 w 778404"/>
                  <a:gd name="connsiteY8" fmla="*/ 5566 h 964415"/>
                  <a:gd name="connsiteX9" fmla="*/ 394770 w 778404"/>
                  <a:gd name="connsiteY9" fmla="*/ 953283 h 964415"/>
                  <a:gd name="connsiteX10" fmla="*/ 772838 w 778404"/>
                  <a:gd name="connsiteY10" fmla="*/ 953283 h 964415"/>
                  <a:gd name="connsiteX11" fmla="*/ 778405 w 778404"/>
                  <a:gd name="connsiteY11" fmla="*/ 958849 h 964415"/>
                  <a:gd name="connsiteX12" fmla="*/ 772838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772838" y="964416"/>
                    </a:moveTo>
                    <a:lnTo>
                      <a:pt x="389202" y="964416"/>
                    </a:lnTo>
                    <a:cubicBezTo>
                      <a:pt x="386140" y="964416"/>
                      <a:pt x="383635" y="961911"/>
                      <a:pt x="383635" y="958849"/>
                    </a:cubicBezTo>
                    <a:lnTo>
                      <a:pt x="383635" y="11133"/>
                    </a:lnTo>
                    <a:lnTo>
                      <a:pt x="5567" y="11133"/>
                    </a:lnTo>
                    <a:cubicBezTo>
                      <a:pt x="2505" y="11133"/>
                      <a:pt x="0" y="8628"/>
                      <a:pt x="0" y="5566"/>
                    </a:cubicBezTo>
                    <a:cubicBezTo>
                      <a:pt x="0" y="2505"/>
                      <a:pt x="2505" y="0"/>
                      <a:pt x="5567" y="0"/>
                    </a:cubicBezTo>
                    <a:lnTo>
                      <a:pt x="389202" y="0"/>
                    </a:lnTo>
                    <a:cubicBezTo>
                      <a:pt x="392264" y="0"/>
                      <a:pt x="394770" y="2505"/>
                      <a:pt x="394770" y="5566"/>
                    </a:cubicBezTo>
                    <a:lnTo>
                      <a:pt x="394770" y="953283"/>
                    </a:lnTo>
                    <a:lnTo>
                      <a:pt x="772838" y="953283"/>
                    </a:lnTo>
                    <a:cubicBezTo>
                      <a:pt x="775899" y="953283"/>
                      <a:pt x="778405" y="955788"/>
                      <a:pt x="778405" y="958849"/>
                    </a:cubicBezTo>
                    <a:cubicBezTo>
                      <a:pt x="778405" y="961911"/>
                      <a:pt x="775899" y="964416"/>
                      <a:pt x="772838" y="964416"/>
                    </a:cubicBezTo>
                    <a:close/>
                  </a:path>
                </a:pathLst>
              </a:custGeom>
              <a:grpFill/>
              <a:ln w="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2A5F7F7A-7265-F902-4B9D-9272E572094F}"/>
                  </a:ext>
                </a:extLst>
              </p:cNvPr>
              <p:cNvSpPr/>
              <p:nvPr/>
            </p:nvSpPr>
            <p:spPr>
              <a:xfrm>
                <a:off x="7203031" y="4123092"/>
                <a:ext cx="778404" cy="964415"/>
              </a:xfrm>
              <a:custGeom>
                <a:avLst/>
                <a:gdLst>
                  <a:gd name="connsiteX0" fmla="*/ 389202 w 778404"/>
                  <a:gd name="connsiteY0" fmla="*/ 964416 h 964415"/>
                  <a:gd name="connsiteX1" fmla="*/ 5567 w 778404"/>
                  <a:gd name="connsiteY1" fmla="*/ 964416 h 964415"/>
                  <a:gd name="connsiteX2" fmla="*/ 0 w 778404"/>
                  <a:gd name="connsiteY2" fmla="*/ 958849 h 964415"/>
                  <a:gd name="connsiteX3" fmla="*/ 5567 w 778404"/>
                  <a:gd name="connsiteY3" fmla="*/ 953283 h 964415"/>
                  <a:gd name="connsiteX4" fmla="*/ 383635 w 778404"/>
                  <a:gd name="connsiteY4" fmla="*/ 953283 h 964415"/>
                  <a:gd name="connsiteX5" fmla="*/ 383635 w 778404"/>
                  <a:gd name="connsiteY5" fmla="*/ 5566 h 964415"/>
                  <a:gd name="connsiteX6" fmla="*/ 389202 w 778404"/>
                  <a:gd name="connsiteY6" fmla="*/ 0 h 964415"/>
                  <a:gd name="connsiteX7" fmla="*/ 772838 w 778404"/>
                  <a:gd name="connsiteY7" fmla="*/ 0 h 964415"/>
                  <a:gd name="connsiteX8" fmla="*/ 778405 w 778404"/>
                  <a:gd name="connsiteY8" fmla="*/ 5566 h 964415"/>
                  <a:gd name="connsiteX9" fmla="*/ 772838 w 778404"/>
                  <a:gd name="connsiteY9" fmla="*/ 11133 h 964415"/>
                  <a:gd name="connsiteX10" fmla="*/ 394770 w 778404"/>
                  <a:gd name="connsiteY10" fmla="*/ 11133 h 964415"/>
                  <a:gd name="connsiteX11" fmla="*/ 394770 w 778404"/>
                  <a:gd name="connsiteY11" fmla="*/ 958849 h 964415"/>
                  <a:gd name="connsiteX12" fmla="*/ 389202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389202" y="964416"/>
                    </a:moveTo>
                    <a:lnTo>
                      <a:pt x="5567" y="964416"/>
                    </a:lnTo>
                    <a:cubicBezTo>
                      <a:pt x="2505" y="964416"/>
                      <a:pt x="0" y="961911"/>
                      <a:pt x="0" y="958849"/>
                    </a:cubicBezTo>
                    <a:cubicBezTo>
                      <a:pt x="0" y="955788"/>
                      <a:pt x="2505" y="953283"/>
                      <a:pt x="5567" y="953283"/>
                    </a:cubicBezTo>
                    <a:lnTo>
                      <a:pt x="383635" y="953283"/>
                    </a:lnTo>
                    <a:lnTo>
                      <a:pt x="383635" y="5566"/>
                    </a:lnTo>
                    <a:cubicBezTo>
                      <a:pt x="383635" y="2505"/>
                      <a:pt x="386140" y="0"/>
                      <a:pt x="389202" y="0"/>
                    </a:cubicBezTo>
                    <a:lnTo>
                      <a:pt x="772838" y="0"/>
                    </a:lnTo>
                    <a:cubicBezTo>
                      <a:pt x="775899" y="0"/>
                      <a:pt x="778405" y="2505"/>
                      <a:pt x="778405" y="5566"/>
                    </a:cubicBezTo>
                    <a:cubicBezTo>
                      <a:pt x="778405" y="8628"/>
                      <a:pt x="775899" y="11133"/>
                      <a:pt x="772838" y="11133"/>
                    </a:cubicBezTo>
                    <a:lnTo>
                      <a:pt x="394770" y="11133"/>
                    </a:lnTo>
                    <a:lnTo>
                      <a:pt x="394770" y="958849"/>
                    </a:lnTo>
                    <a:cubicBezTo>
                      <a:pt x="394770" y="961911"/>
                      <a:pt x="392264" y="964416"/>
                      <a:pt x="389202" y="964416"/>
                    </a:cubicBezTo>
                    <a:close/>
                  </a:path>
                </a:pathLst>
              </a:custGeom>
              <a:grpFill/>
              <a:ln w="0" cap="flat">
                <a:noFill/>
                <a:prstDash val="solid"/>
                <a:miter/>
              </a:ln>
            </p:spPr>
            <p:txBody>
              <a:bodyPr rtlCol="0" anchor="ctr"/>
              <a:lstStyle/>
              <a:p>
                <a:endParaRPr lang="en-US"/>
              </a:p>
            </p:txBody>
          </p:sp>
        </p:grpSp>
        <p:grpSp>
          <p:nvGrpSpPr>
            <p:cNvPr id="25" name="Graphic 2">
              <a:extLst>
                <a:ext uri="{FF2B5EF4-FFF2-40B4-BE49-F238E27FC236}">
                  <a16:creationId xmlns:a16="http://schemas.microsoft.com/office/drawing/2014/main" id="{F7091385-16AA-81F0-17E4-DD95DF7FF551}"/>
                </a:ext>
              </a:extLst>
            </p:cNvPr>
            <p:cNvGrpSpPr/>
            <p:nvPr/>
          </p:nvGrpSpPr>
          <p:grpSpPr>
            <a:xfrm>
              <a:off x="7180762" y="1769998"/>
              <a:ext cx="2967925" cy="3339774"/>
              <a:chOff x="7180762" y="1769998"/>
              <a:chExt cx="2967925" cy="3339774"/>
            </a:xfrm>
            <a:grpFill/>
          </p:grpSpPr>
          <p:sp>
            <p:nvSpPr>
              <p:cNvPr id="26" name="Freeform 25">
                <a:extLst>
                  <a:ext uri="{FF2B5EF4-FFF2-40B4-BE49-F238E27FC236}">
                    <a16:creationId xmlns:a16="http://schemas.microsoft.com/office/drawing/2014/main" id="{7D55FDE6-A93E-9C6E-2672-574BCF002C9A}"/>
                  </a:ext>
                </a:extLst>
              </p:cNvPr>
              <p:cNvSpPr/>
              <p:nvPr/>
            </p:nvSpPr>
            <p:spPr>
              <a:xfrm>
                <a:off x="10093015" y="286472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C159661C-2A4D-5031-18E4-15A49F200988}"/>
                  </a:ext>
                </a:extLst>
              </p:cNvPr>
              <p:cNvSpPr/>
              <p:nvPr/>
            </p:nvSpPr>
            <p:spPr>
              <a:xfrm>
                <a:off x="10092960" y="395938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B78B40B-AAE6-F82F-43DB-D8A9886C3087}"/>
                  </a:ext>
                </a:extLst>
              </p:cNvPr>
              <p:cNvSpPr/>
              <p:nvPr/>
            </p:nvSpPr>
            <p:spPr>
              <a:xfrm>
                <a:off x="10093015" y="1769998"/>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F1BFD46-D4B3-9C57-E200-3B6F711A31BA}"/>
                  </a:ext>
                </a:extLst>
              </p:cNvPr>
              <p:cNvSpPr/>
              <p:nvPr/>
            </p:nvSpPr>
            <p:spPr>
              <a:xfrm>
                <a:off x="10093015" y="5054110"/>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2987A2C2-E0E0-2C70-3171-79423B14A98D}"/>
                  </a:ext>
                </a:extLst>
              </p:cNvPr>
              <p:cNvSpPr/>
              <p:nvPr/>
            </p:nvSpPr>
            <p:spPr>
              <a:xfrm>
                <a:off x="7180818" y="286472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48C8C0F3-9825-3915-6F41-1297732DD03E}"/>
                  </a:ext>
                </a:extLst>
              </p:cNvPr>
              <p:cNvSpPr/>
              <p:nvPr/>
            </p:nvSpPr>
            <p:spPr>
              <a:xfrm>
                <a:off x="7180818" y="395938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C83314E-FD69-EEBF-C675-D88EC9B1C1E8}"/>
                  </a:ext>
                </a:extLst>
              </p:cNvPr>
              <p:cNvSpPr/>
              <p:nvPr/>
            </p:nvSpPr>
            <p:spPr>
              <a:xfrm>
                <a:off x="7180818" y="1769998"/>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946FE946-AB95-30B1-ABBC-9A2B31280EFE}"/>
                  </a:ext>
                </a:extLst>
              </p:cNvPr>
              <p:cNvSpPr/>
              <p:nvPr/>
            </p:nvSpPr>
            <p:spPr>
              <a:xfrm>
                <a:off x="7180762" y="5054110"/>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grpSp>
        <p:grpSp>
          <p:nvGrpSpPr>
            <p:cNvPr id="34" name="Graphic 2">
              <a:extLst>
                <a:ext uri="{FF2B5EF4-FFF2-40B4-BE49-F238E27FC236}">
                  <a16:creationId xmlns:a16="http://schemas.microsoft.com/office/drawing/2014/main" id="{5597DC7E-4310-6008-7469-39A0564C3545}"/>
                </a:ext>
              </a:extLst>
            </p:cNvPr>
            <p:cNvGrpSpPr/>
            <p:nvPr/>
          </p:nvGrpSpPr>
          <p:grpSpPr>
            <a:xfrm>
              <a:off x="7695839" y="2723281"/>
              <a:ext cx="1937772" cy="1433222"/>
              <a:chOff x="7695839" y="2723281"/>
              <a:chExt cx="1937772" cy="1433222"/>
            </a:xfrm>
            <a:grpFill/>
          </p:grpSpPr>
          <p:sp>
            <p:nvSpPr>
              <p:cNvPr id="35" name="Freeform 34">
                <a:extLst>
                  <a:ext uri="{FF2B5EF4-FFF2-40B4-BE49-F238E27FC236}">
                    <a16:creationId xmlns:a16="http://schemas.microsoft.com/office/drawing/2014/main" id="{EA8AB102-5ADB-70FA-14DB-FEAC51BAA12F}"/>
                  </a:ext>
                </a:extLst>
              </p:cNvPr>
              <p:cNvSpPr/>
              <p:nvPr/>
            </p:nvSpPr>
            <p:spPr>
              <a:xfrm>
                <a:off x="9577939" y="315995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79BCA1E8-AF5B-8F88-96C6-D8C9B20D5144}"/>
                  </a:ext>
                </a:extLst>
              </p:cNvPr>
              <p:cNvSpPr/>
              <p:nvPr/>
            </p:nvSpPr>
            <p:spPr>
              <a:xfrm>
                <a:off x="9325801" y="272328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A416E6C6-1F07-3CF8-B0CD-B098E843A73F}"/>
                  </a:ext>
                </a:extLst>
              </p:cNvPr>
              <p:cNvSpPr/>
              <p:nvPr/>
            </p:nvSpPr>
            <p:spPr>
              <a:xfrm>
                <a:off x="9325843" y="4100869"/>
                <a:ext cx="55643" cy="55635"/>
              </a:xfrm>
              <a:custGeom>
                <a:avLst/>
                <a:gdLst>
                  <a:gd name="connsiteX0" fmla="*/ 47502 w 55643"/>
                  <a:gd name="connsiteY0" fmla="*/ 47494 h 55635"/>
                  <a:gd name="connsiteX1" fmla="*/ 47502 w 55643"/>
                  <a:gd name="connsiteY1" fmla="*/ 8141 h 55635"/>
                  <a:gd name="connsiteX2" fmla="*/ 8142 w 55643"/>
                  <a:gd name="connsiteY2" fmla="*/ 8141 h 55635"/>
                  <a:gd name="connsiteX3" fmla="*/ 8142 w 55643"/>
                  <a:gd name="connsiteY3" fmla="*/ 47494 h 55635"/>
                  <a:gd name="connsiteX4" fmla="*/ 47502 w 55643"/>
                  <a:gd name="connsiteY4" fmla="*/ 47494 h 55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43" h="55635">
                    <a:moveTo>
                      <a:pt x="47502" y="47494"/>
                    </a:moveTo>
                    <a:cubicBezTo>
                      <a:pt x="58358" y="36640"/>
                      <a:pt x="58358" y="18995"/>
                      <a:pt x="47502" y="8141"/>
                    </a:cubicBezTo>
                    <a:cubicBezTo>
                      <a:pt x="36646" y="-2714"/>
                      <a:pt x="18998" y="-2714"/>
                      <a:pt x="8142" y="8141"/>
                    </a:cubicBezTo>
                    <a:cubicBezTo>
                      <a:pt x="-2714" y="18995"/>
                      <a:pt x="-2714" y="36640"/>
                      <a:pt x="8142" y="47494"/>
                    </a:cubicBezTo>
                    <a:cubicBezTo>
                      <a:pt x="18998" y="58349"/>
                      <a:pt x="36646" y="58349"/>
                      <a:pt x="47502" y="47494"/>
                    </a:cubicBezTo>
                    <a:close/>
                  </a:path>
                </a:pathLst>
              </a:custGeom>
              <a:grpFill/>
              <a:ln w="0"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62405C9C-9257-AB1D-833E-1A05EAE31321}"/>
                  </a:ext>
                </a:extLst>
              </p:cNvPr>
              <p:cNvSpPr/>
              <p:nvPr/>
            </p:nvSpPr>
            <p:spPr>
              <a:xfrm>
                <a:off x="9577940" y="3664208"/>
                <a:ext cx="55670" cy="55661"/>
              </a:xfrm>
              <a:custGeom>
                <a:avLst/>
                <a:gdLst>
                  <a:gd name="connsiteX0" fmla="*/ 54725 w 55670"/>
                  <a:gd name="connsiteY0" fmla="*/ 35011 h 55661"/>
                  <a:gd name="connsiteX1" fmla="*/ 35017 w 55670"/>
                  <a:gd name="connsiteY1" fmla="*/ 946 h 55661"/>
                  <a:gd name="connsiteX2" fmla="*/ 946 w 55670"/>
                  <a:gd name="connsiteY2" fmla="*/ 20650 h 55661"/>
                  <a:gd name="connsiteX3" fmla="*/ 20653 w 55670"/>
                  <a:gd name="connsiteY3" fmla="*/ 54716 h 55661"/>
                  <a:gd name="connsiteX4" fmla="*/ 54725 w 55670"/>
                  <a:gd name="connsiteY4" fmla="*/ 35011 h 5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0" h="55661">
                    <a:moveTo>
                      <a:pt x="54725" y="35011"/>
                    </a:moveTo>
                    <a:cubicBezTo>
                      <a:pt x="58677" y="20149"/>
                      <a:pt x="49881" y="4898"/>
                      <a:pt x="35017" y="946"/>
                    </a:cubicBezTo>
                    <a:cubicBezTo>
                      <a:pt x="20153" y="-3007"/>
                      <a:pt x="4898" y="5788"/>
                      <a:pt x="946" y="20650"/>
                    </a:cubicBezTo>
                    <a:cubicBezTo>
                      <a:pt x="-3007" y="35512"/>
                      <a:pt x="5789" y="50764"/>
                      <a:pt x="20653" y="54716"/>
                    </a:cubicBezTo>
                    <a:cubicBezTo>
                      <a:pt x="35518" y="58668"/>
                      <a:pt x="50772" y="49873"/>
                      <a:pt x="54725" y="35011"/>
                    </a:cubicBezTo>
                    <a:close/>
                  </a:path>
                </a:pathLst>
              </a:custGeom>
              <a:grpFill/>
              <a:ln w="0"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F30A0CAE-F520-0412-68BC-4E01729A207F}"/>
                  </a:ext>
                </a:extLst>
              </p:cNvPr>
              <p:cNvSpPr/>
              <p:nvPr/>
            </p:nvSpPr>
            <p:spPr>
              <a:xfrm>
                <a:off x="7695839" y="315995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44D6219C-5358-BD7E-D08A-DFC18A798D03}"/>
                  </a:ext>
                </a:extLst>
              </p:cNvPr>
              <p:cNvSpPr/>
              <p:nvPr/>
            </p:nvSpPr>
            <p:spPr>
              <a:xfrm>
                <a:off x="7695839" y="3664151"/>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93445B44-77A5-5269-2AA4-35C9D993C1BD}"/>
                  </a:ext>
                </a:extLst>
              </p:cNvPr>
              <p:cNvSpPr/>
              <p:nvPr/>
            </p:nvSpPr>
            <p:spPr>
              <a:xfrm>
                <a:off x="7948032" y="272328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1DAA5440-F19C-B01F-C166-54F622F93FA8}"/>
                  </a:ext>
                </a:extLst>
              </p:cNvPr>
              <p:cNvSpPr/>
              <p:nvPr/>
            </p:nvSpPr>
            <p:spPr>
              <a:xfrm>
                <a:off x="7947977" y="410082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grpSp>
      </p:grpSp>
      <p:sp>
        <p:nvSpPr>
          <p:cNvPr id="46" name="Freeform 45">
            <a:extLst>
              <a:ext uri="{FF2B5EF4-FFF2-40B4-BE49-F238E27FC236}">
                <a16:creationId xmlns:a16="http://schemas.microsoft.com/office/drawing/2014/main" id="{5AC52DFF-0F62-E3BB-6662-DD19CDAC1931}"/>
              </a:ext>
            </a:extLst>
          </p:cNvPr>
          <p:cNvSpPr/>
          <p:nvPr/>
        </p:nvSpPr>
        <p:spPr>
          <a:xfrm rot="20678400">
            <a:off x="5946199" y="3620241"/>
            <a:ext cx="887967" cy="887823"/>
          </a:xfrm>
          <a:custGeom>
            <a:avLst/>
            <a:gdLst>
              <a:gd name="connsiteX0" fmla="*/ 807243 w 807243"/>
              <a:gd name="connsiteY0" fmla="*/ 403556 h 807112"/>
              <a:gd name="connsiteX1" fmla="*/ 403622 w 807243"/>
              <a:gd name="connsiteY1" fmla="*/ 807112 h 807112"/>
              <a:gd name="connsiteX2" fmla="*/ 0 w 807243"/>
              <a:gd name="connsiteY2" fmla="*/ 403556 h 807112"/>
              <a:gd name="connsiteX3" fmla="*/ 403622 w 807243"/>
              <a:gd name="connsiteY3" fmla="*/ 0 h 807112"/>
              <a:gd name="connsiteX4" fmla="*/ 807243 w 807243"/>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3" h="807112">
                <a:moveTo>
                  <a:pt x="807243" y="403556"/>
                </a:moveTo>
                <a:cubicBezTo>
                  <a:pt x="807243" y="626434"/>
                  <a:pt x="626536" y="807112"/>
                  <a:pt x="403622" y="807112"/>
                </a:cubicBezTo>
                <a:cubicBezTo>
                  <a:pt x="180708" y="807112"/>
                  <a:pt x="0" y="626434"/>
                  <a:pt x="0" y="403556"/>
                </a:cubicBezTo>
                <a:cubicBezTo>
                  <a:pt x="0" y="180678"/>
                  <a:pt x="180708" y="0"/>
                  <a:pt x="403622" y="0"/>
                </a:cubicBezTo>
                <a:cubicBezTo>
                  <a:pt x="626536"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834302C5-A9E6-3B85-5BC4-3B26A0766409}"/>
              </a:ext>
            </a:extLst>
          </p:cNvPr>
          <p:cNvSpPr/>
          <p:nvPr/>
        </p:nvSpPr>
        <p:spPr>
          <a:xfrm>
            <a:off x="5946264" y="4714919"/>
            <a:ext cx="887966" cy="887823"/>
          </a:xfrm>
          <a:custGeom>
            <a:avLst/>
            <a:gdLst>
              <a:gd name="connsiteX0" fmla="*/ 807243 w 807242"/>
              <a:gd name="connsiteY0" fmla="*/ 403556 h 807112"/>
              <a:gd name="connsiteX1" fmla="*/ 403621 w 807242"/>
              <a:gd name="connsiteY1" fmla="*/ 807112 h 807112"/>
              <a:gd name="connsiteX2" fmla="*/ 0 w 807242"/>
              <a:gd name="connsiteY2" fmla="*/ 403556 h 807112"/>
              <a:gd name="connsiteX3" fmla="*/ 403621 w 807242"/>
              <a:gd name="connsiteY3" fmla="*/ 0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626434"/>
                  <a:pt x="626535" y="807112"/>
                  <a:pt x="403621" y="807112"/>
                </a:cubicBezTo>
                <a:cubicBezTo>
                  <a:pt x="180707" y="807112"/>
                  <a:pt x="0" y="626434"/>
                  <a:pt x="0" y="403556"/>
                </a:cubicBezTo>
                <a:cubicBezTo>
                  <a:pt x="0" y="180678"/>
                  <a:pt x="180707" y="0"/>
                  <a:pt x="403621" y="0"/>
                </a:cubicBezTo>
                <a:cubicBezTo>
                  <a:pt x="626535"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412D38E7-098E-313D-C457-75BCC6BFBD17}"/>
              </a:ext>
            </a:extLst>
          </p:cNvPr>
          <p:cNvSpPr/>
          <p:nvPr/>
        </p:nvSpPr>
        <p:spPr>
          <a:xfrm rot="20678400">
            <a:off x="5946244" y="2525544"/>
            <a:ext cx="887967" cy="887823"/>
          </a:xfrm>
          <a:custGeom>
            <a:avLst/>
            <a:gdLst>
              <a:gd name="connsiteX0" fmla="*/ 807243 w 807243"/>
              <a:gd name="connsiteY0" fmla="*/ 403556 h 807112"/>
              <a:gd name="connsiteX1" fmla="*/ 403622 w 807243"/>
              <a:gd name="connsiteY1" fmla="*/ 807113 h 807112"/>
              <a:gd name="connsiteX2" fmla="*/ 0 w 807243"/>
              <a:gd name="connsiteY2" fmla="*/ 403556 h 807112"/>
              <a:gd name="connsiteX3" fmla="*/ 403622 w 807243"/>
              <a:gd name="connsiteY3" fmla="*/ 0 h 807112"/>
              <a:gd name="connsiteX4" fmla="*/ 807243 w 807243"/>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3" h="807112">
                <a:moveTo>
                  <a:pt x="807243" y="403556"/>
                </a:moveTo>
                <a:cubicBezTo>
                  <a:pt x="807243" y="626434"/>
                  <a:pt x="626536" y="807113"/>
                  <a:pt x="403622" y="807113"/>
                </a:cubicBezTo>
                <a:cubicBezTo>
                  <a:pt x="180708" y="807113"/>
                  <a:pt x="0" y="626434"/>
                  <a:pt x="0" y="403556"/>
                </a:cubicBezTo>
                <a:cubicBezTo>
                  <a:pt x="0" y="180678"/>
                  <a:pt x="180708" y="0"/>
                  <a:pt x="403622" y="0"/>
                </a:cubicBezTo>
                <a:cubicBezTo>
                  <a:pt x="626536"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0685F5EF-6DFD-6DEE-568C-455A2BAC1C1D}"/>
              </a:ext>
            </a:extLst>
          </p:cNvPr>
          <p:cNvSpPr/>
          <p:nvPr/>
        </p:nvSpPr>
        <p:spPr>
          <a:xfrm rot="20678400">
            <a:off x="5946274" y="1430848"/>
            <a:ext cx="887967" cy="887823"/>
          </a:xfrm>
          <a:custGeom>
            <a:avLst/>
            <a:gdLst>
              <a:gd name="connsiteX0" fmla="*/ 807243 w 807243"/>
              <a:gd name="connsiteY0" fmla="*/ 403556 h 807112"/>
              <a:gd name="connsiteX1" fmla="*/ 403622 w 807243"/>
              <a:gd name="connsiteY1" fmla="*/ 807112 h 807112"/>
              <a:gd name="connsiteX2" fmla="*/ 0 w 807243"/>
              <a:gd name="connsiteY2" fmla="*/ 403556 h 807112"/>
              <a:gd name="connsiteX3" fmla="*/ 403622 w 807243"/>
              <a:gd name="connsiteY3" fmla="*/ 0 h 807112"/>
              <a:gd name="connsiteX4" fmla="*/ 807243 w 807243"/>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3" h="807112">
                <a:moveTo>
                  <a:pt x="807243" y="403556"/>
                </a:moveTo>
                <a:cubicBezTo>
                  <a:pt x="807243" y="626434"/>
                  <a:pt x="626536" y="807112"/>
                  <a:pt x="403622" y="807112"/>
                </a:cubicBezTo>
                <a:cubicBezTo>
                  <a:pt x="180708" y="807112"/>
                  <a:pt x="0" y="626434"/>
                  <a:pt x="0" y="403556"/>
                </a:cubicBezTo>
                <a:cubicBezTo>
                  <a:pt x="0" y="180678"/>
                  <a:pt x="180708" y="0"/>
                  <a:pt x="403622" y="0"/>
                </a:cubicBezTo>
                <a:cubicBezTo>
                  <a:pt x="626536"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9A4ABBD8-E70D-C2B9-F428-B6B4FCD90FEC}"/>
              </a:ext>
            </a:extLst>
          </p:cNvPr>
          <p:cNvSpPr/>
          <p:nvPr/>
        </p:nvSpPr>
        <p:spPr>
          <a:xfrm>
            <a:off x="9832776" y="3620197"/>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CD8AB7EE-A99B-ADBF-89EB-507436C0D484}"/>
              </a:ext>
            </a:extLst>
          </p:cNvPr>
          <p:cNvSpPr/>
          <p:nvPr/>
        </p:nvSpPr>
        <p:spPr>
          <a:xfrm>
            <a:off x="9832776" y="4714919"/>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554916E2-99C4-C9F6-05F5-A95ACEDB4D1F}"/>
              </a:ext>
            </a:extLst>
          </p:cNvPr>
          <p:cNvSpPr/>
          <p:nvPr/>
        </p:nvSpPr>
        <p:spPr>
          <a:xfrm>
            <a:off x="9832776" y="2525530"/>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0FF0C236-6A3C-1A92-05FE-4312B6862BAF}"/>
              </a:ext>
            </a:extLst>
          </p:cNvPr>
          <p:cNvSpPr/>
          <p:nvPr/>
        </p:nvSpPr>
        <p:spPr>
          <a:xfrm>
            <a:off x="9832776" y="1430808"/>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9" name="Google Shape;293;p36">
            <a:extLst>
              <a:ext uri="{FF2B5EF4-FFF2-40B4-BE49-F238E27FC236}">
                <a16:creationId xmlns:a16="http://schemas.microsoft.com/office/drawing/2014/main" id="{8CB02546-5235-289D-B335-84FBA3526BAF}"/>
              </a:ext>
            </a:extLst>
          </p:cNvPr>
          <p:cNvSpPr txBox="1"/>
          <p:nvPr/>
        </p:nvSpPr>
        <p:spPr>
          <a:xfrm>
            <a:off x="5929375" y="1826105"/>
            <a:ext cx="907188" cy="523178"/>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1899" tIns="121899" rIns="121899" bIns="121899" numCol="1" anchor="ctr">
            <a:spAutoFit/>
          </a:bodyPr>
          <a:lstStyle>
            <a:lvl1pPr algn="ctr">
              <a:defRPr sz="1200">
                <a:solidFill>
                  <a:srgbClr val="535353"/>
                </a:solidFill>
                <a:latin typeface="Avenir Heavy"/>
                <a:ea typeface="Avenir Heavy"/>
                <a:cs typeface="Avenir Heavy"/>
                <a:sym typeface="Avenir Heavy"/>
              </a:defRPr>
            </a:lvl1pPr>
          </a:lstStyle>
          <a:p>
            <a:r>
              <a:rPr lang="en-IN" sz="900">
                <a:solidFill>
                  <a:schemeClr val="tx1"/>
                </a:solidFill>
                <a:latin typeface="Manrope" pitchFamily="2" charset="0"/>
              </a:rPr>
              <a:t>Experience Design</a:t>
            </a:r>
          </a:p>
        </p:txBody>
      </p:sp>
      <p:sp>
        <p:nvSpPr>
          <p:cNvPr id="60" name="engineering">
            <a:extLst>
              <a:ext uri="{FF2B5EF4-FFF2-40B4-BE49-F238E27FC236}">
                <a16:creationId xmlns:a16="http://schemas.microsoft.com/office/drawing/2014/main" id="{F361D41E-500B-C875-CCDD-4182F5C8C67E}"/>
              </a:ext>
            </a:extLst>
          </p:cNvPr>
          <p:cNvSpPr txBox="1"/>
          <p:nvPr/>
        </p:nvSpPr>
        <p:spPr>
          <a:xfrm>
            <a:off x="9916738" y="1913435"/>
            <a:ext cx="725610" cy="27699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a:solidFill>
                  <a:schemeClr val="tx1"/>
                </a:solidFill>
                <a:latin typeface="Manrope" pitchFamily="2" charset="0"/>
              </a:rPr>
              <a:t>Mobility</a:t>
            </a:r>
            <a:endParaRPr sz="1000">
              <a:solidFill>
                <a:schemeClr val="tx1"/>
              </a:solidFill>
              <a:latin typeface="Manrope" pitchFamily="2" charset="0"/>
            </a:endParaRPr>
          </a:p>
        </p:txBody>
      </p:sp>
      <p:sp>
        <p:nvSpPr>
          <p:cNvPr id="61" name="Google Shape;293;p36">
            <a:extLst>
              <a:ext uri="{FF2B5EF4-FFF2-40B4-BE49-F238E27FC236}">
                <a16:creationId xmlns:a16="http://schemas.microsoft.com/office/drawing/2014/main" id="{F19798F7-591F-AEE4-D715-2E1B3F922627}"/>
              </a:ext>
            </a:extLst>
          </p:cNvPr>
          <p:cNvSpPr txBox="1"/>
          <p:nvPr/>
        </p:nvSpPr>
        <p:spPr>
          <a:xfrm>
            <a:off x="6015311" y="2972583"/>
            <a:ext cx="749742" cy="40006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1899" tIns="121899" rIns="121899" bIns="121899" numCol="1" anchor="ctr">
            <a:spAutoFit/>
          </a:bodyPr>
          <a:lstStyle>
            <a:lvl1pPr algn="ctr">
              <a:defRPr sz="1200">
                <a:solidFill>
                  <a:srgbClr val="535353"/>
                </a:solidFill>
                <a:latin typeface="Avenir Heavy"/>
                <a:ea typeface="Avenir Heavy"/>
                <a:cs typeface="Avenir Heavy"/>
                <a:sym typeface="Avenir Heavy"/>
              </a:defRPr>
            </a:lvl1pPr>
          </a:lstStyle>
          <a:p>
            <a:r>
              <a:rPr sz="1000">
                <a:solidFill>
                  <a:schemeClr val="tx1"/>
                </a:solidFill>
                <a:latin typeface="Manrope" pitchFamily="2" charset="0"/>
              </a:rPr>
              <a:t>strategy</a:t>
            </a:r>
          </a:p>
        </p:txBody>
      </p:sp>
      <p:sp>
        <p:nvSpPr>
          <p:cNvPr id="62" name="Text Placeholder 2">
            <a:extLst>
              <a:ext uri="{FF2B5EF4-FFF2-40B4-BE49-F238E27FC236}">
                <a16:creationId xmlns:a16="http://schemas.microsoft.com/office/drawing/2014/main" id="{0A1214D8-BE0D-CA77-EF50-557885902ACE}"/>
              </a:ext>
            </a:extLst>
          </p:cNvPr>
          <p:cNvSpPr txBox="1">
            <a:spLocks/>
          </p:cNvSpPr>
          <p:nvPr/>
        </p:nvSpPr>
        <p:spPr>
          <a:xfrm>
            <a:off x="548938" y="2392044"/>
            <a:ext cx="4742590" cy="1862372"/>
          </a:xfrm>
        </p:spPr>
        <p:txBody>
          <a:bodyPr lIns="91440" tIns="45720" rIns="91440" bIns="4572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a:solidFill>
                  <a:schemeClr val="bg1"/>
                </a:solidFill>
              </a:rPr>
              <a:t>Mobile-first approach through omnichannel enablement with E2E strategy and solution partnership accelerated via composability and MACH</a:t>
            </a:r>
          </a:p>
        </p:txBody>
      </p:sp>
      <p:sp>
        <p:nvSpPr>
          <p:cNvPr id="63" name="cloud">
            <a:extLst>
              <a:ext uri="{FF2B5EF4-FFF2-40B4-BE49-F238E27FC236}">
                <a16:creationId xmlns:a16="http://schemas.microsoft.com/office/drawing/2014/main" id="{F4BA189B-23A7-413C-5DAD-2F5D4FFBE76C}"/>
              </a:ext>
            </a:extLst>
          </p:cNvPr>
          <p:cNvSpPr txBox="1"/>
          <p:nvPr/>
        </p:nvSpPr>
        <p:spPr>
          <a:xfrm>
            <a:off x="9946936" y="3045811"/>
            <a:ext cx="659645" cy="27699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a:solidFill>
                  <a:schemeClr val="tx1"/>
                </a:solidFill>
                <a:latin typeface="Manrope" pitchFamily="2" charset="0"/>
              </a:rPr>
              <a:t>Cloud</a:t>
            </a:r>
            <a:endParaRPr sz="1000">
              <a:solidFill>
                <a:schemeClr val="tx1"/>
              </a:solidFill>
              <a:latin typeface="Manrope" pitchFamily="2" charset="0"/>
            </a:endParaRPr>
          </a:p>
        </p:txBody>
      </p:sp>
      <p:sp>
        <p:nvSpPr>
          <p:cNvPr id="64" name="interaction &amp; personalization">
            <a:extLst>
              <a:ext uri="{FF2B5EF4-FFF2-40B4-BE49-F238E27FC236}">
                <a16:creationId xmlns:a16="http://schemas.microsoft.com/office/drawing/2014/main" id="{5DB4EB07-9A70-7F44-BC4B-0494C505CFFE}"/>
              </a:ext>
            </a:extLst>
          </p:cNvPr>
          <p:cNvSpPr txBox="1"/>
          <p:nvPr/>
        </p:nvSpPr>
        <p:spPr>
          <a:xfrm>
            <a:off x="5974384" y="3968876"/>
            <a:ext cx="840101" cy="3693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60959" rIns="60959">
            <a:spAutoFit/>
          </a:bodyPr>
          <a:lstStyle>
            <a:lvl1pPr algn="ctr">
              <a:defRPr sz="1200">
                <a:solidFill>
                  <a:schemeClr val="accent5">
                    <a:lumOff val="-6549"/>
                  </a:schemeClr>
                </a:solidFill>
                <a:latin typeface="Avenir Heavy"/>
                <a:ea typeface="Avenir Heavy"/>
                <a:cs typeface="Avenir Heavy"/>
                <a:sym typeface="Avenir Heavy"/>
              </a:defRPr>
            </a:lvl1pPr>
          </a:lstStyle>
          <a:p>
            <a:r>
              <a:rPr lang="en-US" sz="900">
                <a:solidFill>
                  <a:schemeClr val="tx1"/>
                </a:solidFill>
                <a:latin typeface="Manrope" pitchFamily="2" charset="0"/>
              </a:rPr>
              <a:t>Shoppable</a:t>
            </a:r>
          </a:p>
          <a:p>
            <a:r>
              <a:rPr lang="en-US" sz="900">
                <a:solidFill>
                  <a:schemeClr val="tx1"/>
                </a:solidFill>
                <a:latin typeface="Manrope" pitchFamily="2" charset="0"/>
              </a:rPr>
              <a:t>Experiences</a:t>
            </a:r>
            <a:endParaRPr sz="900">
              <a:solidFill>
                <a:schemeClr val="tx1"/>
              </a:solidFill>
              <a:latin typeface="Manrope" pitchFamily="2" charset="0"/>
            </a:endParaRPr>
          </a:p>
        </p:txBody>
      </p:sp>
      <p:sp>
        <p:nvSpPr>
          <p:cNvPr id="65" name="analytics">
            <a:extLst>
              <a:ext uri="{FF2B5EF4-FFF2-40B4-BE49-F238E27FC236}">
                <a16:creationId xmlns:a16="http://schemas.microsoft.com/office/drawing/2014/main" id="{ACCAA2ED-7453-F2ED-9BAD-93C490D734BB}"/>
              </a:ext>
            </a:extLst>
          </p:cNvPr>
          <p:cNvSpPr txBox="1"/>
          <p:nvPr/>
        </p:nvSpPr>
        <p:spPr>
          <a:xfrm>
            <a:off x="5969380" y="5089438"/>
            <a:ext cx="864156" cy="4308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a:solidFill>
                  <a:schemeClr val="tx1"/>
                </a:solidFill>
                <a:latin typeface="Manrope" pitchFamily="2" charset="0"/>
              </a:rPr>
              <a:t>Data &amp; Analytics</a:t>
            </a:r>
          </a:p>
        </p:txBody>
      </p:sp>
      <p:sp>
        <p:nvSpPr>
          <p:cNvPr id="66" name="cloud">
            <a:extLst>
              <a:ext uri="{FF2B5EF4-FFF2-40B4-BE49-F238E27FC236}">
                <a16:creationId xmlns:a16="http://schemas.microsoft.com/office/drawing/2014/main" id="{CC7B78C5-D53E-2A7B-6813-80B8B78ABDCC}"/>
              </a:ext>
            </a:extLst>
          </p:cNvPr>
          <p:cNvSpPr txBox="1"/>
          <p:nvPr/>
        </p:nvSpPr>
        <p:spPr>
          <a:xfrm>
            <a:off x="9767236" y="3957952"/>
            <a:ext cx="1024615" cy="372408"/>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pPr>
              <a:lnSpc>
                <a:spcPct val="90000"/>
              </a:lnSpc>
            </a:pPr>
            <a:r>
              <a:rPr lang="en-US" sz="900">
                <a:solidFill>
                  <a:schemeClr val="tx1"/>
                </a:solidFill>
                <a:latin typeface="Manrope" pitchFamily="2" charset="0"/>
              </a:rPr>
              <a:t>Marketing &amp; Content Platforms</a:t>
            </a:r>
          </a:p>
        </p:txBody>
      </p:sp>
      <p:sp>
        <p:nvSpPr>
          <p:cNvPr id="67" name="analytics">
            <a:extLst>
              <a:ext uri="{FF2B5EF4-FFF2-40B4-BE49-F238E27FC236}">
                <a16:creationId xmlns:a16="http://schemas.microsoft.com/office/drawing/2014/main" id="{C37E25F8-EA50-5C0C-0714-89A5032B0CC7}"/>
              </a:ext>
            </a:extLst>
          </p:cNvPr>
          <p:cNvSpPr txBox="1"/>
          <p:nvPr/>
        </p:nvSpPr>
        <p:spPr>
          <a:xfrm>
            <a:off x="9892866" y="5105324"/>
            <a:ext cx="793704" cy="43088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a:solidFill>
                  <a:schemeClr val="tx1"/>
                </a:solidFill>
                <a:latin typeface="Manrope" pitchFamily="2" charset="0"/>
              </a:rPr>
              <a:t>Marketing Services</a:t>
            </a:r>
            <a:endParaRPr sz="1000">
              <a:solidFill>
                <a:schemeClr val="tx1"/>
              </a:solidFill>
              <a:latin typeface="Manrope" pitchFamily="2" charset="0"/>
            </a:endParaRPr>
          </a:p>
        </p:txBody>
      </p:sp>
      <p:pic>
        <p:nvPicPr>
          <p:cNvPr id="68" name="Graphic 67">
            <a:extLst>
              <a:ext uri="{FF2B5EF4-FFF2-40B4-BE49-F238E27FC236}">
                <a16:creationId xmlns:a16="http://schemas.microsoft.com/office/drawing/2014/main" id="{68EC3E14-0803-4A74-2037-937DC4BC6A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14764" y="1602915"/>
            <a:ext cx="336409" cy="277803"/>
          </a:xfrm>
          <a:prstGeom prst="rect">
            <a:avLst/>
          </a:prstGeom>
        </p:spPr>
      </p:pic>
      <p:pic>
        <p:nvPicPr>
          <p:cNvPr id="69" name="Graphic 68">
            <a:extLst>
              <a:ext uri="{FF2B5EF4-FFF2-40B4-BE49-F238E27FC236}">
                <a16:creationId xmlns:a16="http://schemas.microsoft.com/office/drawing/2014/main" id="{A66BBFEA-B34E-3731-0A04-A55262F4F4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38421" y="2701459"/>
            <a:ext cx="326075" cy="318614"/>
          </a:xfrm>
          <a:prstGeom prst="rect">
            <a:avLst/>
          </a:prstGeom>
        </p:spPr>
      </p:pic>
      <p:pic>
        <p:nvPicPr>
          <p:cNvPr id="71" name="Graphic 70">
            <a:extLst>
              <a:ext uri="{FF2B5EF4-FFF2-40B4-BE49-F238E27FC236}">
                <a16:creationId xmlns:a16="http://schemas.microsoft.com/office/drawing/2014/main" id="{4074A00D-0190-E96D-6994-999E15DDEE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36315" y="3712312"/>
            <a:ext cx="288856" cy="289738"/>
          </a:xfrm>
          <a:prstGeom prst="rect">
            <a:avLst/>
          </a:prstGeom>
        </p:spPr>
      </p:pic>
      <p:pic>
        <p:nvPicPr>
          <p:cNvPr id="75" name="Graphic 74">
            <a:extLst>
              <a:ext uri="{FF2B5EF4-FFF2-40B4-BE49-F238E27FC236}">
                <a16:creationId xmlns:a16="http://schemas.microsoft.com/office/drawing/2014/main" id="{A769C666-23C7-B88A-282F-E41B71E960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7981" y="4836775"/>
            <a:ext cx="286954" cy="291268"/>
          </a:xfrm>
          <a:prstGeom prst="rect">
            <a:avLst/>
          </a:prstGeom>
        </p:spPr>
      </p:pic>
      <p:pic>
        <p:nvPicPr>
          <p:cNvPr id="77" name="Graphic 76">
            <a:extLst>
              <a:ext uri="{FF2B5EF4-FFF2-40B4-BE49-F238E27FC236}">
                <a16:creationId xmlns:a16="http://schemas.microsoft.com/office/drawing/2014/main" id="{7E13FDBE-8165-A858-2307-80E4F2054E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15471" y="1581141"/>
            <a:ext cx="346805" cy="340991"/>
          </a:xfrm>
          <a:prstGeom prst="rect">
            <a:avLst/>
          </a:prstGeom>
        </p:spPr>
      </p:pic>
      <p:pic>
        <p:nvPicPr>
          <p:cNvPr id="79" name="Graphic 78">
            <a:extLst>
              <a:ext uri="{FF2B5EF4-FFF2-40B4-BE49-F238E27FC236}">
                <a16:creationId xmlns:a16="http://schemas.microsoft.com/office/drawing/2014/main" id="{11C0B408-052D-0E82-59ED-8835B89569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19700" y="2703110"/>
            <a:ext cx="315310" cy="315310"/>
          </a:xfrm>
          <a:prstGeom prst="rect">
            <a:avLst/>
          </a:prstGeom>
        </p:spPr>
      </p:pic>
      <p:pic>
        <p:nvPicPr>
          <p:cNvPr id="80" name="Graphic 79">
            <a:extLst>
              <a:ext uri="{FF2B5EF4-FFF2-40B4-BE49-F238E27FC236}">
                <a16:creationId xmlns:a16="http://schemas.microsoft.com/office/drawing/2014/main" id="{3F8921F2-00E9-3200-AF86-720B152A68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32901" y="3710135"/>
            <a:ext cx="287713" cy="287713"/>
          </a:xfrm>
          <a:prstGeom prst="rect">
            <a:avLst/>
          </a:prstGeom>
        </p:spPr>
      </p:pic>
      <p:pic>
        <p:nvPicPr>
          <p:cNvPr id="82" name="Graphic 81">
            <a:extLst>
              <a:ext uri="{FF2B5EF4-FFF2-40B4-BE49-F238E27FC236}">
                <a16:creationId xmlns:a16="http://schemas.microsoft.com/office/drawing/2014/main" id="{CAFBF3CA-EF23-548E-2807-14373E8006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28550" y="4826140"/>
            <a:ext cx="315310" cy="315310"/>
          </a:xfrm>
          <a:prstGeom prst="rect">
            <a:avLst/>
          </a:prstGeom>
        </p:spPr>
      </p:pic>
      <p:sp>
        <p:nvSpPr>
          <p:cNvPr id="83" name="Freeform 82">
            <a:extLst>
              <a:ext uri="{FF2B5EF4-FFF2-40B4-BE49-F238E27FC236}">
                <a16:creationId xmlns:a16="http://schemas.microsoft.com/office/drawing/2014/main" id="{AD9C575B-E8E3-EA4B-DD60-E24F6177A1AF}"/>
              </a:ext>
            </a:extLst>
          </p:cNvPr>
          <p:cNvSpPr/>
          <p:nvPr/>
        </p:nvSpPr>
        <p:spPr>
          <a:xfrm>
            <a:off x="7359273" y="2542674"/>
            <a:ext cx="1948405" cy="1948201"/>
          </a:xfrm>
          <a:custGeom>
            <a:avLst/>
            <a:gdLst>
              <a:gd name="connsiteX0" fmla="*/ 1607471 w 1948405"/>
              <a:gd name="connsiteY0" fmla="*/ 1662874 h 1948201"/>
              <a:gd name="connsiteX1" fmla="*/ 1663143 w 1948405"/>
              <a:gd name="connsiteY1" fmla="*/ 1607211 h 1948201"/>
              <a:gd name="connsiteX2" fmla="*/ 1701278 w 1948405"/>
              <a:gd name="connsiteY2" fmla="*/ 1622407 h 1948201"/>
              <a:gd name="connsiteX3" fmla="*/ 1899526 w 1948405"/>
              <a:gd name="connsiteY3" fmla="*/ 1279523 h 1948201"/>
              <a:gd name="connsiteX4" fmla="*/ 1859553 w 1948405"/>
              <a:gd name="connsiteY4" fmla="*/ 1226142 h 1948201"/>
              <a:gd name="connsiteX5" fmla="*/ 1915225 w 1948405"/>
              <a:gd name="connsiteY5" fmla="*/ 1170480 h 1948201"/>
              <a:gd name="connsiteX6" fmla="*/ 1928252 w 1948405"/>
              <a:gd name="connsiteY6" fmla="*/ 1172094 h 1948201"/>
              <a:gd name="connsiteX7" fmla="*/ 1948406 w 1948405"/>
              <a:gd name="connsiteY7" fmla="*/ 974045 h 1948201"/>
              <a:gd name="connsiteX8" fmla="*/ 1928252 w 1948405"/>
              <a:gd name="connsiteY8" fmla="*/ 775997 h 1948201"/>
              <a:gd name="connsiteX9" fmla="*/ 1861446 w 1948405"/>
              <a:gd name="connsiteY9" fmla="*/ 736365 h 1948201"/>
              <a:gd name="connsiteX10" fmla="*/ 1899526 w 1948405"/>
              <a:gd name="connsiteY10" fmla="*/ 668623 h 1948201"/>
              <a:gd name="connsiteX11" fmla="*/ 1701222 w 1948405"/>
              <a:gd name="connsiteY11" fmla="*/ 325739 h 1948201"/>
              <a:gd name="connsiteX12" fmla="*/ 1663087 w 1948405"/>
              <a:gd name="connsiteY12" fmla="*/ 340935 h 1948201"/>
              <a:gd name="connsiteX13" fmla="*/ 1607415 w 1948405"/>
              <a:gd name="connsiteY13" fmla="*/ 285272 h 1948201"/>
              <a:gd name="connsiteX14" fmla="*/ 1622614 w 1948405"/>
              <a:gd name="connsiteY14" fmla="*/ 247143 h 1948201"/>
              <a:gd name="connsiteX15" fmla="*/ 974203 w 1948405"/>
              <a:gd name="connsiteY15" fmla="*/ 0 h 1948201"/>
              <a:gd name="connsiteX16" fmla="*/ 325792 w 1948405"/>
              <a:gd name="connsiteY16" fmla="*/ 247143 h 1948201"/>
              <a:gd name="connsiteX17" fmla="*/ 340990 w 1948405"/>
              <a:gd name="connsiteY17" fmla="*/ 285272 h 1948201"/>
              <a:gd name="connsiteX18" fmla="*/ 285319 w 1948405"/>
              <a:gd name="connsiteY18" fmla="*/ 340935 h 1948201"/>
              <a:gd name="connsiteX19" fmla="*/ 247183 w 1948405"/>
              <a:gd name="connsiteY19" fmla="*/ 325739 h 1948201"/>
              <a:gd name="connsiteX20" fmla="*/ 48880 w 1948405"/>
              <a:gd name="connsiteY20" fmla="*/ 668623 h 1948201"/>
              <a:gd name="connsiteX21" fmla="*/ 86960 w 1948405"/>
              <a:gd name="connsiteY21" fmla="*/ 736365 h 1948201"/>
              <a:gd name="connsiteX22" fmla="*/ 20153 w 1948405"/>
              <a:gd name="connsiteY22" fmla="*/ 775997 h 1948201"/>
              <a:gd name="connsiteX23" fmla="*/ 0 w 1948405"/>
              <a:gd name="connsiteY23" fmla="*/ 974045 h 1948201"/>
              <a:gd name="connsiteX24" fmla="*/ 20153 w 1948405"/>
              <a:gd name="connsiteY24" fmla="*/ 1172094 h 1948201"/>
              <a:gd name="connsiteX25" fmla="*/ 33236 w 1948405"/>
              <a:gd name="connsiteY25" fmla="*/ 1170480 h 1948201"/>
              <a:gd name="connsiteX26" fmla="*/ 88908 w 1948405"/>
              <a:gd name="connsiteY26" fmla="*/ 1226142 h 1948201"/>
              <a:gd name="connsiteX27" fmla="*/ 48936 w 1948405"/>
              <a:gd name="connsiteY27" fmla="*/ 1279523 h 1948201"/>
              <a:gd name="connsiteX28" fmla="*/ 247239 w 1948405"/>
              <a:gd name="connsiteY28" fmla="*/ 1622407 h 1948201"/>
              <a:gd name="connsiteX29" fmla="*/ 285430 w 1948405"/>
              <a:gd name="connsiteY29" fmla="*/ 1607211 h 1948201"/>
              <a:gd name="connsiteX30" fmla="*/ 341102 w 1948405"/>
              <a:gd name="connsiteY30" fmla="*/ 1662874 h 1948201"/>
              <a:gd name="connsiteX31" fmla="*/ 325903 w 1948405"/>
              <a:gd name="connsiteY31" fmla="*/ 1701058 h 1948201"/>
              <a:gd name="connsiteX32" fmla="*/ 974314 w 1948405"/>
              <a:gd name="connsiteY32" fmla="*/ 1948202 h 1948201"/>
              <a:gd name="connsiteX33" fmla="*/ 1622725 w 1948405"/>
              <a:gd name="connsiteY33" fmla="*/ 1701058 h 1948201"/>
              <a:gd name="connsiteX34" fmla="*/ 1607527 w 1948405"/>
              <a:gd name="connsiteY34" fmla="*/ 1662929 h 194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48405" h="1948201">
                <a:moveTo>
                  <a:pt x="1607471" y="1662874"/>
                </a:moveTo>
                <a:cubicBezTo>
                  <a:pt x="1607471" y="1632148"/>
                  <a:pt x="1632412" y="1607211"/>
                  <a:pt x="1663143" y="1607211"/>
                </a:cubicBezTo>
                <a:cubicBezTo>
                  <a:pt x="1677952" y="1607211"/>
                  <a:pt x="1691313" y="1613000"/>
                  <a:pt x="1701278" y="1622407"/>
                </a:cubicBezTo>
                <a:cubicBezTo>
                  <a:pt x="1789128" y="1523995"/>
                  <a:pt x="1857271" y="1407659"/>
                  <a:pt x="1899526" y="1279523"/>
                </a:cubicBezTo>
                <a:cubicBezTo>
                  <a:pt x="1876422" y="1272732"/>
                  <a:pt x="1859553" y="1251413"/>
                  <a:pt x="1859553" y="1226142"/>
                </a:cubicBezTo>
                <a:cubicBezTo>
                  <a:pt x="1859553" y="1195417"/>
                  <a:pt x="1884494" y="1170480"/>
                  <a:pt x="1915225" y="1170480"/>
                </a:cubicBezTo>
                <a:cubicBezTo>
                  <a:pt x="1919735" y="1170480"/>
                  <a:pt x="1924077" y="1171092"/>
                  <a:pt x="1928252" y="1172094"/>
                </a:cubicBezTo>
                <a:cubicBezTo>
                  <a:pt x="1941447" y="1108137"/>
                  <a:pt x="1948406" y="1041898"/>
                  <a:pt x="1948406" y="974045"/>
                </a:cubicBezTo>
                <a:cubicBezTo>
                  <a:pt x="1948406" y="906192"/>
                  <a:pt x="1941447" y="839953"/>
                  <a:pt x="1928252" y="775997"/>
                </a:cubicBezTo>
                <a:cubicBezTo>
                  <a:pt x="1898969" y="783066"/>
                  <a:pt x="1869296" y="765588"/>
                  <a:pt x="1861446" y="736365"/>
                </a:cubicBezTo>
                <a:cubicBezTo>
                  <a:pt x="1853596" y="707142"/>
                  <a:pt x="1870632" y="677139"/>
                  <a:pt x="1899526" y="668623"/>
                </a:cubicBezTo>
                <a:cubicBezTo>
                  <a:pt x="1857215" y="540487"/>
                  <a:pt x="1789073" y="424151"/>
                  <a:pt x="1701222" y="325739"/>
                </a:cubicBezTo>
                <a:cubicBezTo>
                  <a:pt x="1691257" y="335146"/>
                  <a:pt x="1677840" y="340935"/>
                  <a:pt x="1663087" y="340935"/>
                </a:cubicBezTo>
                <a:cubicBezTo>
                  <a:pt x="1632356" y="340935"/>
                  <a:pt x="1607415" y="315998"/>
                  <a:pt x="1607415" y="285272"/>
                </a:cubicBezTo>
                <a:cubicBezTo>
                  <a:pt x="1607415" y="270466"/>
                  <a:pt x="1613205" y="257107"/>
                  <a:pt x="1622614" y="247143"/>
                </a:cubicBezTo>
                <a:cubicBezTo>
                  <a:pt x="1450365" y="93458"/>
                  <a:pt x="1223223" y="0"/>
                  <a:pt x="974203" y="0"/>
                </a:cubicBezTo>
                <a:cubicBezTo>
                  <a:pt x="725182" y="0"/>
                  <a:pt x="498041" y="93458"/>
                  <a:pt x="325792" y="247143"/>
                </a:cubicBezTo>
                <a:cubicBezTo>
                  <a:pt x="335201" y="257107"/>
                  <a:pt x="340990" y="270522"/>
                  <a:pt x="340990" y="285272"/>
                </a:cubicBezTo>
                <a:cubicBezTo>
                  <a:pt x="340990" y="315998"/>
                  <a:pt x="316049" y="340935"/>
                  <a:pt x="285319" y="340935"/>
                </a:cubicBezTo>
                <a:cubicBezTo>
                  <a:pt x="270510" y="340935"/>
                  <a:pt x="257149" y="335146"/>
                  <a:pt x="247183" y="325739"/>
                </a:cubicBezTo>
                <a:cubicBezTo>
                  <a:pt x="159333" y="424151"/>
                  <a:pt x="91191" y="540487"/>
                  <a:pt x="48880" y="668623"/>
                </a:cubicBezTo>
                <a:cubicBezTo>
                  <a:pt x="77774" y="677139"/>
                  <a:pt x="94754" y="707142"/>
                  <a:pt x="86960" y="736365"/>
                </a:cubicBezTo>
                <a:cubicBezTo>
                  <a:pt x="79110" y="765588"/>
                  <a:pt x="49381" y="783066"/>
                  <a:pt x="20153" y="775997"/>
                </a:cubicBezTo>
                <a:cubicBezTo>
                  <a:pt x="6959" y="839953"/>
                  <a:pt x="0" y="906192"/>
                  <a:pt x="0" y="974045"/>
                </a:cubicBezTo>
                <a:cubicBezTo>
                  <a:pt x="0" y="1041898"/>
                  <a:pt x="6959" y="1108137"/>
                  <a:pt x="20153" y="1172094"/>
                </a:cubicBezTo>
                <a:cubicBezTo>
                  <a:pt x="24329" y="1171092"/>
                  <a:pt x="28727" y="1170480"/>
                  <a:pt x="33236" y="1170480"/>
                </a:cubicBezTo>
                <a:cubicBezTo>
                  <a:pt x="63967" y="1170480"/>
                  <a:pt x="88908" y="1195417"/>
                  <a:pt x="88908" y="1226142"/>
                </a:cubicBezTo>
                <a:cubicBezTo>
                  <a:pt x="88908" y="1251413"/>
                  <a:pt x="72039" y="1272732"/>
                  <a:pt x="48936" y="1279523"/>
                </a:cubicBezTo>
                <a:cubicBezTo>
                  <a:pt x="91246" y="1407659"/>
                  <a:pt x="159389" y="1523995"/>
                  <a:pt x="247239" y="1622407"/>
                </a:cubicBezTo>
                <a:cubicBezTo>
                  <a:pt x="257204" y="1613000"/>
                  <a:pt x="270621" y="1607211"/>
                  <a:pt x="285430" y="1607211"/>
                </a:cubicBezTo>
                <a:cubicBezTo>
                  <a:pt x="316161" y="1607211"/>
                  <a:pt x="341102" y="1632148"/>
                  <a:pt x="341102" y="1662874"/>
                </a:cubicBezTo>
                <a:cubicBezTo>
                  <a:pt x="341102" y="1677680"/>
                  <a:pt x="335312" y="1691039"/>
                  <a:pt x="325903" y="1701058"/>
                </a:cubicBezTo>
                <a:cubicBezTo>
                  <a:pt x="498152" y="1854744"/>
                  <a:pt x="725294" y="1948202"/>
                  <a:pt x="974314" y="1948202"/>
                </a:cubicBezTo>
                <a:cubicBezTo>
                  <a:pt x="1223335" y="1948202"/>
                  <a:pt x="1450532" y="1854744"/>
                  <a:pt x="1622725" y="1701058"/>
                </a:cubicBezTo>
                <a:cubicBezTo>
                  <a:pt x="1613316" y="1691095"/>
                  <a:pt x="1607527" y="1677680"/>
                  <a:pt x="1607527" y="1662929"/>
                </a:cubicBezTo>
                <a:close/>
              </a:path>
            </a:pathLst>
          </a:custGeom>
          <a:solidFill>
            <a:schemeClr val="accent2"/>
          </a:solidFill>
          <a:ln w="0"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2A08EFA-9494-18F4-B437-6DC6FD10A567}"/>
              </a:ext>
            </a:extLst>
          </p:cNvPr>
          <p:cNvSpPr/>
          <p:nvPr/>
        </p:nvSpPr>
        <p:spPr>
          <a:xfrm>
            <a:off x="7442781" y="2626168"/>
            <a:ext cx="1781501" cy="1781212"/>
          </a:xfrm>
          <a:custGeom>
            <a:avLst/>
            <a:gdLst>
              <a:gd name="connsiteX0" fmla="*/ 1781501 w 1781501"/>
              <a:gd name="connsiteY0" fmla="*/ 890606 h 1781212"/>
              <a:gd name="connsiteX1" fmla="*/ 890751 w 1781501"/>
              <a:gd name="connsiteY1" fmla="*/ 1781213 h 1781212"/>
              <a:gd name="connsiteX2" fmla="*/ 0 w 1781501"/>
              <a:gd name="connsiteY2" fmla="*/ 890606 h 1781212"/>
              <a:gd name="connsiteX3" fmla="*/ 890751 w 1781501"/>
              <a:gd name="connsiteY3" fmla="*/ 0 h 1781212"/>
              <a:gd name="connsiteX4" fmla="*/ 1781501 w 1781501"/>
              <a:gd name="connsiteY4" fmla="*/ 890606 h 178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1501" h="1781212">
                <a:moveTo>
                  <a:pt x="1781501" y="890606"/>
                </a:moveTo>
                <a:cubicBezTo>
                  <a:pt x="1781501" y="1382475"/>
                  <a:pt x="1382699" y="1781213"/>
                  <a:pt x="890751" y="1781213"/>
                </a:cubicBezTo>
                <a:cubicBezTo>
                  <a:pt x="398803" y="1781213"/>
                  <a:pt x="0" y="1382475"/>
                  <a:pt x="0" y="890606"/>
                </a:cubicBezTo>
                <a:cubicBezTo>
                  <a:pt x="0" y="398738"/>
                  <a:pt x="398803" y="0"/>
                  <a:pt x="890751" y="0"/>
                </a:cubicBezTo>
                <a:cubicBezTo>
                  <a:pt x="1382699" y="0"/>
                  <a:pt x="1781501" y="398738"/>
                  <a:pt x="1781501" y="890606"/>
                </a:cubicBezTo>
                <a:close/>
              </a:path>
            </a:pathLst>
          </a:custGeom>
          <a:solidFill>
            <a:srgbClr val="FFFFFF"/>
          </a:solidFill>
          <a:ln w="0" cap="flat">
            <a:noFill/>
            <a:prstDash val="solid"/>
            <a:miter/>
          </a:ln>
        </p:spPr>
        <p:txBody>
          <a:bodyPr rtlCol="0" anchor="ctr"/>
          <a:lstStyle/>
          <a:p>
            <a:endParaRPr lang="en-US"/>
          </a:p>
        </p:txBody>
      </p:sp>
      <p:pic>
        <p:nvPicPr>
          <p:cNvPr id="85" name="Picture 84">
            <a:extLst>
              <a:ext uri="{FF2B5EF4-FFF2-40B4-BE49-F238E27FC236}">
                <a16:creationId xmlns:a16="http://schemas.microsoft.com/office/drawing/2014/main" id="{9D2C57EA-F382-7AD0-E78E-85CDB03F2EBB}"/>
              </a:ext>
            </a:extLst>
          </p:cNvPr>
          <p:cNvPicPr>
            <a:picLocks noChangeAspect="1"/>
          </p:cNvPicPr>
          <p:nvPr/>
        </p:nvPicPr>
        <p:blipFill>
          <a:blip r:embed="rId11"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8014651" y="2908404"/>
            <a:ext cx="648534" cy="730545"/>
          </a:xfrm>
          <a:prstGeom prst="rect">
            <a:avLst/>
          </a:prstGeom>
        </p:spPr>
      </p:pic>
      <p:sp>
        <p:nvSpPr>
          <p:cNvPr id="86" name="Google Shape;293;p36">
            <a:extLst>
              <a:ext uri="{FF2B5EF4-FFF2-40B4-BE49-F238E27FC236}">
                <a16:creationId xmlns:a16="http://schemas.microsoft.com/office/drawing/2014/main" id="{9D759461-65C3-F7F5-A41B-CC0D800CE6EC}"/>
              </a:ext>
            </a:extLst>
          </p:cNvPr>
          <p:cNvSpPr txBox="1"/>
          <p:nvPr/>
        </p:nvSpPr>
        <p:spPr>
          <a:xfrm>
            <a:off x="7797998" y="3706554"/>
            <a:ext cx="1097698" cy="43084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1899" tIns="121899" rIns="121899" bIns="121899" numCol="1" anchor="t">
            <a:spAutoFit/>
          </a:bodyPr>
          <a:lstStyle>
            <a:lvl1pPr algn="ctr">
              <a:defRPr sz="1200">
                <a:solidFill>
                  <a:srgbClr val="535353"/>
                </a:solidFill>
                <a:latin typeface="Avenir Heavy"/>
                <a:ea typeface="Avenir Heavy"/>
                <a:cs typeface="Avenir Heavy"/>
                <a:sym typeface="Avenir Heavy"/>
              </a:defRPr>
            </a:lvl1pPr>
          </a:lstStyle>
          <a:p>
            <a:r>
              <a:rPr lang="en-IN" b="1">
                <a:solidFill>
                  <a:schemeClr val="tx1"/>
                </a:solidFill>
                <a:latin typeface="+mn-lt"/>
              </a:rPr>
              <a:t>innovation</a:t>
            </a:r>
          </a:p>
        </p:txBody>
      </p:sp>
    </p:spTree>
    <p:extLst>
      <p:ext uri="{BB962C8B-B14F-4D97-AF65-F5344CB8AC3E}">
        <p14:creationId xmlns:p14="http://schemas.microsoft.com/office/powerpoint/2010/main" val="580716314"/>
      </p:ext>
    </p:extLst>
  </p:cSld>
  <p:clrMapOvr>
    <a:masterClrMapping/>
  </p:clrMapOvr>
</p:sld>
</file>

<file path=ppt/theme/theme1.xml><?xml version="1.0" encoding="utf-8"?>
<a:theme xmlns:a="http://schemas.openxmlformats.org/drawingml/2006/main" name="Hexaware Master">
  <a:themeElements>
    <a:clrScheme name="Custom 1">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EA9D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Light_Corporate Template.pptx" id="{41E689D6-C531-47CC-AFF0-309785A80631}" vid="{C5795010-44E4-4FE2-851A-4FC5D2C485C8}"/>
    </a:ext>
  </a:extLst>
</a:theme>
</file>

<file path=ppt/theme/theme2.xml><?xml version="1.0" encoding="utf-8"?>
<a:theme xmlns:a="http://schemas.openxmlformats.org/drawingml/2006/main" name="1_Hexaware Master">
  <a:themeElements>
    <a:clrScheme name="Hexaware">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FF63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Dark_Corporate Template.pptx" id="{0DE496D9-96E7-4561-826E-A79144D83BB8}" vid="{7132E963-DE00-4AC0-86D2-3969C5A95D7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b5ef97c-09b6-464d-8d64-b4fd4a2600f0">
      <UserInfo>
        <DisplayName>Hexaware Content CoE Owners</DisplayName>
        <AccountId>6</AccountId>
        <AccountType/>
      </UserInfo>
      <UserInfo>
        <DisplayName>SharingLinks.22b36513-28bc-4c8b-a9c5-24045f3b52e7.OrganizationEdit.a0d1e5e1-c5e5-4df6-ac61-bd6fd0bcb41e</DisplayName>
        <AccountId>53</AccountId>
        <AccountType/>
      </UserInfo>
      <UserInfo>
        <DisplayName>SharingLinks.2f955689-ba8c-4816-aaab-7a2d3f4abdf7.OrganizationEdit.5dad2ae7-3fb2-4267-ab21-9785a3324899</DisplayName>
        <AccountId>51</AccountId>
        <AccountType/>
      </UserInfo>
      <UserInfo>
        <DisplayName>SharingLinks.9c7226dd-6d4c-4369-bac2-d04eae812d28.Flexible.84f4914f-5b26-43a4-9137-2c6dcd8509b1</DisplayName>
        <AccountId>67</AccountId>
        <AccountType/>
      </UserInfo>
      <UserInfo>
        <DisplayName>SharingLinks.521ef670-20cd-43b7-bf17-4f8b8729986c.Flexible.f3979edf-44b5-4298-82b0-800a7eab152d</DisplayName>
        <AccountId>69</AccountId>
        <AccountType/>
      </UserInfo>
      <UserInfo>
        <DisplayName>SharingLinks.56830b30-6593-4dde-99bc-b3f295c86172.Flexible.b8986cbf-33df-4630-ad94-908749c15d76</DisplayName>
        <AccountId>70</AccountId>
        <AccountType/>
      </UserInfo>
      <UserInfo>
        <DisplayName>Isaac sam Sathyasingh rufus</DisplayName>
        <AccountId>72</AccountId>
        <AccountType/>
      </UserInfo>
      <UserInfo>
        <DisplayName>Nishant Balyan</DisplayName>
        <AccountId>1065</AccountId>
        <AccountType/>
      </UserInfo>
      <UserInfo>
        <DisplayName>Yogesh Johar</DisplayName>
        <AccountId>2881</AccountId>
        <AccountType/>
      </UserInfo>
      <UserInfo>
        <DisplayName>Mary mereena Paul kuzhivelil</DisplayName>
        <AccountId>30</AccountId>
        <AccountType/>
      </UserInfo>
      <UserInfo>
        <DisplayName>Disha Mongia</DisplayName>
        <AccountId>17</AccountId>
        <AccountType/>
      </UserInfo>
      <UserInfo>
        <DisplayName>Rupesh Mithani</DisplayName>
        <AccountId>1369</AccountId>
        <AccountType/>
      </UserInfo>
      <UserInfo>
        <DisplayName>Ravindranath Nadagouda</DisplayName>
        <AccountId>3243</AccountId>
        <AccountType/>
      </UserInfo>
      <UserInfo>
        <DisplayName>Aravind J</DisplayName>
        <AccountId>233</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4C63795109B814095104CCD1F6FD01D" ma:contentTypeVersion="12" ma:contentTypeDescription="Create a new document." ma:contentTypeScope="" ma:versionID="5f59ff9422d83f3fee8b56aac6028b40">
  <xsd:schema xmlns:xsd="http://www.w3.org/2001/XMLSchema" xmlns:xs="http://www.w3.org/2001/XMLSchema" xmlns:p="http://schemas.microsoft.com/office/2006/metadata/properties" xmlns:ns2="3f74a3f1-38f9-46e8-b953-325a7420fe4d" xmlns:ns3="cb5ef97c-09b6-464d-8d64-b4fd4a2600f0" targetNamespace="http://schemas.microsoft.com/office/2006/metadata/properties" ma:root="true" ma:fieldsID="31c482afd238944db4443baf91ac04b6" ns2:_="" ns3:_="">
    <xsd:import namespace="3f74a3f1-38f9-46e8-b953-325a7420fe4d"/>
    <xsd:import namespace="cb5ef97c-09b6-464d-8d64-b4fd4a2600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74a3f1-38f9-46e8-b953-325a7420fe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b5ef97c-09b6-464d-8d64-b4fd4a2600f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D6561C-C75B-4658-A462-FA114867A8AD}">
  <ds:schemaRefs>
    <ds:schemaRef ds:uri="http://schemas.microsoft.com/sharepoint/v3/contenttype/forms"/>
  </ds:schemaRefs>
</ds:datastoreItem>
</file>

<file path=customXml/itemProps2.xml><?xml version="1.0" encoding="utf-8"?>
<ds:datastoreItem xmlns:ds="http://schemas.openxmlformats.org/officeDocument/2006/customXml" ds:itemID="{823AD67D-8F81-43A8-B325-44CA5FF2EA21}">
  <ds:schemaRefs>
    <ds:schemaRef ds:uri="http://purl.org/dc/terms/"/>
    <ds:schemaRef ds:uri="3f74a3f1-38f9-46e8-b953-325a7420fe4d"/>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http://purl.org/dc/dcmitype/"/>
    <ds:schemaRef ds:uri="cb5ef97c-09b6-464d-8d64-b4fd4a2600f0"/>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BD4BB60-4752-4DE9-89C8-A8964A4CFA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74a3f1-38f9-46e8-b953-325a7420fe4d"/>
    <ds:schemaRef ds:uri="cb5ef97c-09b6-464d-8d64-b4fd4a2600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c0c36f5-af83-4c24-8844-9962e0163719}" enabled="0" method="" siteId="{7c0c36f5-af83-4c24-8844-9962e0163719}" removed="1"/>
</clbl:labelList>
</file>

<file path=docProps/app.xml><?xml version="1.0" encoding="utf-8"?>
<Properties xmlns="http://schemas.openxmlformats.org/officeDocument/2006/extended-properties" xmlns:vt="http://schemas.openxmlformats.org/officeDocument/2006/docPropsVTypes">
  <Template>Light_Corporate Template</Template>
  <TotalTime>4136</TotalTime>
  <Words>4045</Words>
  <Application>Microsoft Office PowerPoint</Application>
  <PresentationFormat>Widescreen</PresentationFormat>
  <Paragraphs>627</Paragraphs>
  <Slides>39</Slides>
  <Notes>14</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39</vt:i4>
      </vt:variant>
    </vt:vector>
  </HeadingPairs>
  <TitlesOfParts>
    <vt:vector size="56" baseType="lpstr">
      <vt:lpstr>adobe-clean</vt:lpstr>
      <vt:lpstr>Calibiri</vt:lpstr>
      <vt:lpstr>Google Sans</vt:lpstr>
      <vt:lpstr>Helvetica Neue</vt:lpstr>
      <vt:lpstr>Arial</vt:lpstr>
      <vt:lpstr>Calibri</vt:lpstr>
      <vt:lpstr>Lato</vt:lpstr>
      <vt:lpstr>Manrope</vt:lpstr>
      <vt:lpstr>Manrope Light</vt:lpstr>
      <vt:lpstr>Manrope Medium</vt:lpstr>
      <vt:lpstr>Manrope SemiBold</vt:lpstr>
      <vt:lpstr>Poppins Black</vt:lpstr>
      <vt:lpstr>Poppins Light</vt:lpstr>
      <vt:lpstr>Roboto</vt:lpstr>
      <vt:lpstr>Segoe UI</vt:lpstr>
      <vt:lpstr>Hexaware Master</vt:lpstr>
      <vt:lpstr>1_Hexaware Master</vt:lpstr>
      <vt:lpstr>Digital &amp; Software Content Capabilities</vt:lpstr>
      <vt:lpstr>PowerPoint Presentation</vt:lpstr>
      <vt:lpstr>PowerPoint Presentation</vt:lpstr>
      <vt:lpstr>We have capabilities and expertise across various platforms, with dedicated practice looking after each genre of platforms. We cover many products across below mentioned platforms. Also, we can ramp-up or cross train our people to new product within platform very quickly. </vt:lpstr>
      <vt:lpstr>PowerPoint Presentation</vt:lpstr>
      <vt:lpstr>Our Service &amp; Solution offerings</vt:lpstr>
      <vt:lpstr>PowerPoint Presentation</vt:lpstr>
      <vt:lpstr>PowerPoint Presentation</vt:lpstr>
      <vt:lpstr>AI Accelerators</vt:lpstr>
      <vt:lpstr>PowerPoint Presentation</vt:lpstr>
      <vt:lpstr>PowerPoint Presentation</vt:lpstr>
      <vt:lpstr>PowerPoint Presentation</vt:lpstr>
      <vt:lpstr>Our Focus</vt:lpstr>
      <vt:lpstr>PowerPoint Presentation</vt:lpstr>
      <vt:lpstr>PowerPoint Presentation</vt:lpstr>
      <vt:lpstr>PowerPoint Presentation</vt:lpstr>
      <vt:lpstr>Our Engagement Models Quality &amp; Program Management Approach</vt:lpstr>
      <vt:lpstr>PowerPoint Presentation</vt:lpstr>
      <vt:lpstr>PowerPoint Presentation</vt:lpstr>
      <vt:lpstr>PowerPoint Presentation</vt:lpstr>
      <vt:lpstr>PowerPoint Presentation</vt:lpstr>
      <vt:lpstr>Our Work</vt:lpstr>
      <vt:lpstr>PowerPoint Presentation</vt:lpstr>
      <vt:lpstr>The World’s First-of-a-kind, Fully Customizable Luxury Fashion Showroom Experience for Luxury Buyers, Media and VIP’s</vt:lpstr>
      <vt:lpstr>Transforming End-to-End User Experience</vt:lpstr>
      <vt:lpstr>Optimizing Customer Experience with Experience Analytics and AEM Implementation</vt:lpstr>
      <vt:lpstr>Digital Transformation through Sitecore to WordPress Migration </vt:lpstr>
      <vt:lpstr>PowerPoint Presentation</vt:lpstr>
      <vt:lpstr>Thank You</vt:lpstr>
      <vt:lpstr>PowerPoint Presentation</vt:lpstr>
      <vt:lpstr>Sitecore Specific Case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Overview</dc:title>
  <dc:creator>Danielle Sanders</dc:creator>
  <cp:lastModifiedBy>Vinay Kumar</cp:lastModifiedBy>
  <cp:revision>3</cp:revision>
  <cp:lastPrinted>2023-12-04T03:06:37Z</cp:lastPrinted>
  <dcterms:created xsi:type="dcterms:W3CDTF">2023-12-01T15:20:00Z</dcterms:created>
  <dcterms:modified xsi:type="dcterms:W3CDTF">2026-10-07T22:23:58Z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0x010100B4C63795109B814095104CCD1F6FD01D</vt:lpwstr>
  </property>
  <property fmtid="{D5CDD505-2E9C-101B-9397-08002B2CF9AE}" pid="3" name="MediaServiceImageTags">
    <vt:lpwstr/>
  </property>
</Properties>
</file>