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slideLayouts/slideLayout6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59.xml" ContentType="application/vnd.openxmlformats-officedocument.presentationml.slide+xml"/>
  <Override PartName="/ppt/slides/slide58.xml" ContentType="application/vnd.openxmlformats-officedocument.presentationml.slide+xml"/>
  <Override PartName="/ppt/slides/slide60.xml" ContentType="application/vnd.openxmlformats-officedocument.presentationml.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717" r:id="rId5"/>
    <p:sldMasterId id="2147483771" r:id="rId6"/>
  </p:sldMasterIdLst>
  <p:notesMasterIdLst>
    <p:notesMasterId r:id="rId60"/>
  </p:notesMasterIdLst>
  <p:handoutMasterIdLst>
    <p:handoutMasterId r:id="rId61"/>
  </p:handoutMasterIdLst>
  <p:sldIdLst>
    <p:sldId id="2147470168" r:id="rId7"/>
    <p:sldId id="2147483641" r:id="rId8"/>
    <p:sldId id="2147483637" r:id="rId9"/>
    <p:sldId id="2147482998" r:id="rId10"/>
    <p:sldId id="2147470982" r:id="rId11"/>
    <p:sldId id="2147483644" r:id="rId12"/>
    <p:sldId id="2147483645" r:id="rId13"/>
    <p:sldId id="2147483646" r:id="rId14"/>
    <p:sldId id="2147483647" r:id="rId15"/>
    <p:sldId id="256" r:id="rId16"/>
    <p:sldId id="259" r:id="rId17"/>
    <p:sldId id="258" r:id="rId18"/>
    <p:sldId id="261" r:id="rId19"/>
    <p:sldId id="260" r:id="rId20"/>
    <p:sldId id="262" r:id="rId21"/>
    <p:sldId id="263" r:id="rId22"/>
    <p:sldId id="264" r:id="rId23"/>
    <p:sldId id="265" r:id="rId24"/>
    <p:sldId id="2147481368" r:id="rId25"/>
    <p:sldId id="266" r:id="rId26"/>
    <p:sldId id="2147482934" r:id="rId27"/>
    <p:sldId id="2147482391" r:id="rId28"/>
    <p:sldId id="2147482388" r:id="rId29"/>
    <p:sldId id="269" r:id="rId30"/>
    <p:sldId id="330" r:id="rId31"/>
    <p:sldId id="268" r:id="rId32"/>
    <p:sldId id="270" r:id="rId33"/>
    <p:sldId id="267" r:id="rId34"/>
    <p:sldId id="2147482964" r:id="rId35"/>
    <p:sldId id="2147482965" r:id="rId36"/>
    <p:sldId id="2147483631" r:id="rId37"/>
    <p:sldId id="2147482924" r:id="rId38"/>
    <p:sldId id="2147482966" r:id="rId39"/>
    <p:sldId id="271" r:id="rId40"/>
    <p:sldId id="2147482903" r:id="rId41"/>
    <p:sldId id="2147482993" r:id="rId42"/>
    <p:sldId id="2147482977" r:id="rId43"/>
    <p:sldId id="2147482967" r:id="rId44"/>
    <p:sldId id="2147482975" r:id="rId45"/>
    <p:sldId id="2147482996" r:id="rId46"/>
    <p:sldId id="2147482959" r:id="rId47"/>
    <p:sldId id="2147482970" r:id="rId48"/>
    <p:sldId id="2147482976" r:id="rId49"/>
    <p:sldId id="2147482981" r:id="rId50"/>
    <p:sldId id="2147482979" r:id="rId51"/>
    <p:sldId id="2147482971" r:id="rId52"/>
    <p:sldId id="2147482973" r:id="rId53"/>
    <p:sldId id="2147482968" r:id="rId54"/>
    <p:sldId id="2147482969" r:id="rId55"/>
    <p:sldId id="2147482974" r:id="rId56"/>
    <p:sldId id="2147482935" r:id="rId57"/>
    <p:sldId id="2147482936" r:id="rId58"/>
    <p:sldId id="2147482937" r:id="rId59"/>
  </p:sldIdLst>
  <p:sldSz cx="12192000" cy="6858000"/>
  <p:notesSz cx="6858000" cy="9144000"/>
  <p:embeddedFontLst>
    <p:embeddedFont>
      <p:font typeface="Heebo Medium" pitchFamily="2" charset="-79"/>
      <p:regular r:id="rId62"/>
    </p:embeddedFont>
    <p:embeddedFont>
      <p:font typeface="Lato" panose="020F0502020204030203" pitchFamily="34" charset="0"/>
      <p:regular r:id="rId63"/>
      <p:bold r:id="rId64"/>
      <p:italic r:id="rId65"/>
      <p:boldItalic r:id="rId66"/>
    </p:embeddedFont>
    <p:embeddedFont>
      <p:font typeface="Manrope" pitchFamily="2" charset="0"/>
      <p:regular r:id="rId67"/>
      <p:bold r:id="rId68"/>
    </p:embeddedFont>
    <p:embeddedFont>
      <p:font typeface="Manrope Light" pitchFamily="2" charset="0"/>
      <p:regular r:id="rId69"/>
    </p:embeddedFont>
    <p:embeddedFont>
      <p:font typeface="Manrope Medium" pitchFamily="2" charset="0"/>
      <p:regular r:id="rId70"/>
    </p:embeddedFont>
    <p:embeddedFont>
      <p:font typeface="Manrope Regular" pitchFamily="2" charset="0"/>
      <p:regular r:id="rId71"/>
    </p:embeddedFont>
    <p:embeddedFont>
      <p:font typeface="Segoe UI" panose="020B0502040204020203" pitchFamily="34" charset="0"/>
      <p:regular r:id="rId72"/>
      <p:bold r:id="rId73"/>
      <p:italic r:id="rId74"/>
      <p:boldItalic r:id="rId7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BBC9FC"/>
    <a:srgbClr val="3C2CDA"/>
    <a:srgbClr val="CBD0E5"/>
    <a:srgbClr val="271FC1"/>
    <a:srgbClr val="08126E"/>
    <a:srgbClr val="281DBB"/>
    <a:srgbClr val="EEEFF4"/>
    <a:srgbClr val="EEF2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A50A14-D8C0-492A-AF5E-73DC6994A598}" v="2" dt="2026-10-07T22:31:59.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06"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font" Target="fonts/font2.fntdata"/><Relationship Id="rId68" Type="http://schemas.openxmlformats.org/officeDocument/2006/relationships/font" Target="fonts/font7.fntdata"/><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font" Target="fonts/font13.fntdata"/><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font" Target="fonts/font11.fntdata"/><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font" Target="fonts/font6.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notesMaster" Target="notesMasters/notesMaster1.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presProps" Target="presProps.xml"/><Relationship Id="rId7" Type="http://schemas.openxmlformats.org/officeDocument/2006/relationships/slide" Target="slides/slide1.xml"/><Relationship Id="rId71" Type="http://schemas.openxmlformats.org/officeDocument/2006/relationships/font" Target="fonts/font10.fntdata"/><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Kumar" userId="fc0dd98f-5f4d-4520-b687-f2de8019eab1" providerId="ADAL" clId="{675A18D8-4606-490B-B197-ECE7E84AA4EA}"/>
    <pc:docChg chg="delSld delMainMaster modMainMaster">
      <pc:chgData name="Vinay Kumar" userId="fc0dd98f-5f4d-4520-b687-f2de8019eab1" providerId="ADAL" clId="{675A18D8-4606-490B-B197-ECE7E84AA4EA}" dt="2026-10-07T22:31:16.112" v="9" actId="47"/>
      <pc:docMkLst>
        <pc:docMk/>
      </pc:docMkLst>
      <pc:sldChg chg="del">
        <pc:chgData name="Vinay Kumar" userId="fc0dd98f-5f4d-4520-b687-f2de8019eab1" providerId="ADAL" clId="{675A18D8-4606-490B-B197-ECE7E84AA4EA}" dt="2026-10-07T22:31:16.112" v="9" actId="47"/>
        <pc:sldMkLst>
          <pc:docMk/>
          <pc:sldMk cId="2597537608" sldId="257"/>
        </pc:sldMkLst>
      </pc:sldChg>
      <pc:sldChg chg="del">
        <pc:chgData name="Vinay Kumar" userId="fc0dd98f-5f4d-4520-b687-f2de8019eab1" providerId="ADAL" clId="{675A18D8-4606-490B-B197-ECE7E84AA4EA}" dt="2026-10-07T22:31:02.409" v="8" actId="47"/>
        <pc:sldMkLst>
          <pc:docMk/>
          <pc:sldMk cId="383002970" sldId="272"/>
        </pc:sldMkLst>
      </pc:sldChg>
      <pc:sldChg chg="del">
        <pc:chgData name="Vinay Kumar" userId="fc0dd98f-5f4d-4520-b687-f2de8019eab1" providerId="ADAL" clId="{675A18D8-4606-490B-B197-ECE7E84AA4EA}" dt="2026-10-07T22:31:01.170" v="7" actId="47"/>
        <pc:sldMkLst>
          <pc:docMk/>
          <pc:sldMk cId="2335495186" sldId="273"/>
        </pc:sldMkLst>
      </pc:sldChg>
      <pc:sldChg chg="del">
        <pc:chgData name="Vinay Kumar" userId="fc0dd98f-5f4d-4520-b687-f2de8019eab1" providerId="ADAL" clId="{675A18D8-4606-490B-B197-ECE7E84AA4EA}" dt="2026-10-07T22:31:01.170" v="7" actId="47"/>
        <pc:sldMkLst>
          <pc:docMk/>
          <pc:sldMk cId="932454387" sldId="312"/>
        </pc:sldMkLst>
      </pc:sldChg>
      <pc:sldChg chg="del">
        <pc:chgData name="Vinay Kumar" userId="fc0dd98f-5f4d-4520-b687-f2de8019eab1" providerId="ADAL" clId="{675A18D8-4606-490B-B197-ECE7E84AA4EA}" dt="2026-10-07T22:30:17.109" v="2" actId="47"/>
        <pc:sldMkLst>
          <pc:docMk/>
          <pc:sldMk cId="2860456302" sldId="319"/>
        </pc:sldMkLst>
      </pc:sldChg>
      <pc:sldChg chg="del">
        <pc:chgData name="Vinay Kumar" userId="fc0dd98f-5f4d-4520-b687-f2de8019eab1" providerId="ADAL" clId="{675A18D8-4606-490B-B197-ECE7E84AA4EA}" dt="2026-10-07T22:30:18.433" v="3" actId="47"/>
        <pc:sldMkLst>
          <pc:docMk/>
          <pc:sldMk cId="2953012185" sldId="327"/>
        </pc:sldMkLst>
      </pc:sldChg>
      <pc:sldChg chg="del">
        <pc:chgData name="Vinay Kumar" userId="fc0dd98f-5f4d-4520-b687-f2de8019eab1" providerId="ADAL" clId="{675A18D8-4606-490B-B197-ECE7E84AA4EA}" dt="2026-10-07T22:31:01.170" v="7" actId="47"/>
        <pc:sldMkLst>
          <pc:docMk/>
          <pc:sldMk cId="3127352127" sldId="2147470093"/>
        </pc:sldMkLst>
      </pc:sldChg>
      <pc:sldChg chg="del">
        <pc:chgData name="Vinay Kumar" userId="fc0dd98f-5f4d-4520-b687-f2de8019eab1" providerId="ADAL" clId="{675A18D8-4606-490B-B197-ECE7E84AA4EA}" dt="2026-10-07T22:30:14.838" v="1" actId="47"/>
        <pc:sldMkLst>
          <pc:docMk/>
          <pc:sldMk cId="4089882441" sldId="2147481369"/>
        </pc:sldMkLst>
      </pc:sldChg>
      <pc:sldChg chg="del">
        <pc:chgData name="Vinay Kumar" userId="fc0dd98f-5f4d-4520-b687-f2de8019eab1" providerId="ADAL" clId="{675A18D8-4606-490B-B197-ECE7E84AA4EA}" dt="2026-10-07T22:31:01.170" v="7" actId="47"/>
        <pc:sldMkLst>
          <pc:docMk/>
          <pc:sldMk cId="4106140008" sldId="2147482400"/>
        </pc:sldMkLst>
      </pc:sldChg>
      <pc:sldChg chg="del">
        <pc:chgData name="Vinay Kumar" userId="fc0dd98f-5f4d-4520-b687-f2de8019eab1" providerId="ADAL" clId="{675A18D8-4606-490B-B197-ECE7E84AA4EA}" dt="2026-10-07T22:31:01.170" v="7" actId="47"/>
        <pc:sldMkLst>
          <pc:docMk/>
          <pc:sldMk cId="4220188918" sldId="2147482401"/>
        </pc:sldMkLst>
      </pc:sldChg>
      <pc:sldChg chg="del">
        <pc:chgData name="Vinay Kumar" userId="fc0dd98f-5f4d-4520-b687-f2de8019eab1" providerId="ADAL" clId="{675A18D8-4606-490B-B197-ECE7E84AA4EA}" dt="2026-10-07T22:30:13.465" v="0" actId="47"/>
        <pc:sldMkLst>
          <pc:docMk/>
          <pc:sldMk cId="3060302248" sldId="2147482806"/>
        </pc:sldMkLst>
      </pc:sldChg>
      <pc:sldChg chg="del">
        <pc:chgData name="Vinay Kumar" userId="fc0dd98f-5f4d-4520-b687-f2de8019eab1" providerId="ADAL" clId="{675A18D8-4606-490B-B197-ECE7E84AA4EA}" dt="2026-10-07T22:31:01.170" v="7" actId="47"/>
        <pc:sldMkLst>
          <pc:docMk/>
          <pc:sldMk cId="2586150805" sldId="2147482938"/>
        </pc:sldMkLst>
      </pc:sldChg>
      <pc:sldMasterChg chg="modSldLayout sldLayoutOrd">
        <pc:chgData name="Vinay Kumar" userId="fc0dd98f-5f4d-4520-b687-f2de8019eab1" providerId="ADAL" clId="{675A18D8-4606-490B-B197-ECE7E84AA4EA}" dt="2026-10-07T22:30:19.715" v="5"/>
        <pc:sldMasterMkLst>
          <pc:docMk/>
          <pc:sldMasterMk cId="2764527432" sldId="2147483648"/>
        </pc:sldMasterMkLst>
        <pc:sldLayoutChg chg="modSp mod ord">
          <pc:chgData name="Vinay Kumar" userId="fc0dd98f-5f4d-4520-b687-f2de8019eab1" providerId="ADAL" clId="{675A18D8-4606-490B-B197-ECE7E84AA4EA}" dt="2026-10-07T22:30:19.715" v="5"/>
          <pc:sldLayoutMkLst>
            <pc:docMk/>
            <pc:sldMasterMk cId="2764527432" sldId="2147483648"/>
            <pc:sldLayoutMk cId="2495888418" sldId="2147483731"/>
          </pc:sldLayoutMkLst>
          <pc:spChg chg="mod">
            <ac:chgData name="Vinay Kumar" userId="fc0dd98f-5f4d-4520-b687-f2de8019eab1" providerId="ADAL" clId="{675A18D8-4606-490B-B197-ECE7E84AA4EA}" dt="2026-10-07T22:30:19.715" v="5"/>
            <ac:spMkLst>
              <pc:docMk/>
              <pc:sldMasterMk cId="2764527432" sldId="2147483648"/>
              <pc:sldLayoutMk cId="2495888418" sldId="2147483731"/>
              <ac:spMk id="4" creationId="{D4945255-4D54-BD6F-F948-3B2AF5A407AD}"/>
            </ac:spMkLst>
          </pc:spChg>
          <pc:spChg chg="mod">
            <ac:chgData name="Vinay Kumar" userId="fc0dd98f-5f4d-4520-b687-f2de8019eab1" providerId="ADAL" clId="{675A18D8-4606-490B-B197-ECE7E84AA4EA}" dt="2026-10-07T22:30:19.715" v="5"/>
            <ac:spMkLst>
              <pc:docMk/>
              <pc:sldMasterMk cId="2764527432" sldId="2147483648"/>
              <pc:sldLayoutMk cId="2495888418" sldId="2147483731"/>
              <ac:spMk id="6" creationId="{D0E6E8BE-2736-1222-838E-6E63376063C9}"/>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4244816013" sldId="2147483732"/>
          </pc:sldLayoutMkLst>
          <pc:spChg chg="mod">
            <ac:chgData name="Vinay Kumar" userId="fc0dd98f-5f4d-4520-b687-f2de8019eab1" providerId="ADAL" clId="{675A18D8-4606-490B-B197-ECE7E84AA4EA}" dt="2026-10-07T22:30:19.715" v="5"/>
            <ac:spMkLst>
              <pc:docMk/>
              <pc:sldMasterMk cId="2764527432" sldId="2147483648"/>
              <pc:sldLayoutMk cId="4244816013" sldId="2147483732"/>
              <ac:spMk id="4" creationId="{D4945255-4D54-BD6F-F948-3B2AF5A407AD}"/>
            </ac:spMkLst>
          </pc:spChg>
          <pc:spChg chg="mod">
            <ac:chgData name="Vinay Kumar" userId="fc0dd98f-5f4d-4520-b687-f2de8019eab1" providerId="ADAL" clId="{675A18D8-4606-490B-B197-ECE7E84AA4EA}" dt="2026-10-07T22:30:19.715" v="5"/>
            <ac:spMkLst>
              <pc:docMk/>
              <pc:sldMasterMk cId="2764527432" sldId="2147483648"/>
              <pc:sldLayoutMk cId="4244816013" sldId="2147483732"/>
              <ac:spMk id="6" creationId="{D0E6E8BE-2736-1222-838E-6E63376063C9}"/>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2716586086" sldId="2147483733"/>
          </pc:sldLayoutMkLst>
          <pc:spChg chg="mod">
            <ac:chgData name="Vinay Kumar" userId="fc0dd98f-5f4d-4520-b687-f2de8019eab1" providerId="ADAL" clId="{675A18D8-4606-490B-B197-ECE7E84AA4EA}" dt="2026-10-07T22:30:19.715" v="5"/>
            <ac:spMkLst>
              <pc:docMk/>
              <pc:sldMasterMk cId="2764527432" sldId="2147483648"/>
              <pc:sldLayoutMk cId="2716586086" sldId="2147483733"/>
              <ac:spMk id="3" creationId="{1A92E810-A64D-864A-E713-F5B7065D4E11}"/>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2068781028" sldId="2147483734"/>
          </pc:sldLayoutMkLst>
          <pc:spChg chg="mod">
            <ac:chgData name="Vinay Kumar" userId="fc0dd98f-5f4d-4520-b687-f2de8019eab1" providerId="ADAL" clId="{675A18D8-4606-490B-B197-ECE7E84AA4EA}" dt="2026-10-07T22:30:19.715" v="5"/>
            <ac:spMkLst>
              <pc:docMk/>
              <pc:sldMasterMk cId="2764527432" sldId="2147483648"/>
              <pc:sldLayoutMk cId="2068781028" sldId="2147483734"/>
              <ac:spMk id="2" creationId="{07CFC0FC-EE3C-B83B-D888-70A4672B3CAC}"/>
            </ac:spMkLst>
          </pc:spChg>
          <pc:spChg chg="mod">
            <ac:chgData name="Vinay Kumar" userId="fc0dd98f-5f4d-4520-b687-f2de8019eab1" providerId="ADAL" clId="{675A18D8-4606-490B-B197-ECE7E84AA4EA}" dt="2026-10-07T22:30:19.715" v="5"/>
            <ac:spMkLst>
              <pc:docMk/>
              <pc:sldMasterMk cId="2764527432" sldId="2147483648"/>
              <pc:sldLayoutMk cId="2068781028" sldId="2147483734"/>
              <ac:spMk id="3" creationId="{F8A799FA-C73D-ED39-C551-268E9A6FE34C}"/>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1925498146" sldId="2147483735"/>
          </pc:sldLayoutMkLst>
          <pc:spChg chg="mod">
            <ac:chgData name="Vinay Kumar" userId="fc0dd98f-5f4d-4520-b687-f2de8019eab1" providerId="ADAL" clId="{675A18D8-4606-490B-B197-ECE7E84AA4EA}" dt="2026-10-07T22:30:19.715" v="5"/>
            <ac:spMkLst>
              <pc:docMk/>
              <pc:sldMasterMk cId="2764527432" sldId="2147483648"/>
              <pc:sldLayoutMk cId="1925498146" sldId="2147483735"/>
              <ac:spMk id="3" creationId="{DD50AA0C-0C3E-74E8-926C-4A0ADFFEE62A}"/>
            </ac:spMkLst>
          </pc:spChg>
          <pc:spChg chg="mod">
            <ac:chgData name="Vinay Kumar" userId="fc0dd98f-5f4d-4520-b687-f2de8019eab1" providerId="ADAL" clId="{675A18D8-4606-490B-B197-ECE7E84AA4EA}" dt="2026-10-07T22:30:19.715" v="5"/>
            <ac:spMkLst>
              <pc:docMk/>
              <pc:sldMasterMk cId="2764527432" sldId="2147483648"/>
              <pc:sldLayoutMk cId="1925498146" sldId="2147483735"/>
              <ac:spMk id="4" creationId="{D4945255-4D54-BD6F-F948-3B2AF5A407AD}"/>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304344787" sldId="2147483736"/>
          </pc:sldLayoutMkLst>
          <pc:spChg chg="mod">
            <ac:chgData name="Vinay Kumar" userId="fc0dd98f-5f4d-4520-b687-f2de8019eab1" providerId="ADAL" clId="{675A18D8-4606-490B-B197-ECE7E84AA4EA}" dt="2026-10-07T22:30:19.715" v="5"/>
            <ac:spMkLst>
              <pc:docMk/>
              <pc:sldMasterMk cId="2764527432" sldId="2147483648"/>
              <pc:sldLayoutMk cId="304344787" sldId="2147483736"/>
              <ac:spMk id="3" creationId="{DD50AA0C-0C3E-74E8-926C-4A0ADFFEE62A}"/>
            </ac:spMkLst>
          </pc:spChg>
          <pc:spChg chg="mod">
            <ac:chgData name="Vinay Kumar" userId="fc0dd98f-5f4d-4520-b687-f2de8019eab1" providerId="ADAL" clId="{675A18D8-4606-490B-B197-ECE7E84AA4EA}" dt="2026-10-07T22:30:19.715" v="5"/>
            <ac:spMkLst>
              <pc:docMk/>
              <pc:sldMasterMk cId="2764527432" sldId="2147483648"/>
              <pc:sldLayoutMk cId="304344787" sldId="2147483736"/>
              <ac:spMk id="4" creationId="{D4945255-4D54-BD6F-F948-3B2AF5A407AD}"/>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2894403533" sldId="2147483737"/>
          </pc:sldLayoutMkLst>
          <pc:spChg chg="mod">
            <ac:chgData name="Vinay Kumar" userId="fc0dd98f-5f4d-4520-b687-f2de8019eab1" providerId="ADAL" clId="{675A18D8-4606-490B-B197-ECE7E84AA4EA}" dt="2026-10-07T22:30:19.715" v="5"/>
            <ac:spMkLst>
              <pc:docMk/>
              <pc:sldMasterMk cId="2764527432" sldId="2147483648"/>
              <pc:sldLayoutMk cId="2894403533" sldId="2147483737"/>
              <ac:spMk id="2" creationId="{07CFC0FC-EE3C-B83B-D888-70A4672B3CAC}"/>
            </ac:spMkLst>
          </pc:spChg>
          <pc:spChg chg="mod">
            <ac:chgData name="Vinay Kumar" userId="fc0dd98f-5f4d-4520-b687-f2de8019eab1" providerId="ADAL" clId="{675A18D8-4606-490B-B197-ECE7E84AA4EA}" dt="2026-10-07T22:30:19.715" v="5"/>
            <ac:spMkLst>
              <pc:docMk/>
              <pc:sldMasterMk cId="2764527432" sldId="2147483648"/>
              <pc:sldLayoutMk cId="2894403533" sldId="2147483737"/>
              <ac:spMk id="3" creationId="{F8A799FA-C73D-ED39-C551-268E9A6FE34C}"/>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824907399" sldId="2147483738"/>
          </pc:sldLayoutMkLst>
          <pc:spChg chg="mod">
            <ac:chgData name="Vinay Kumar" userId="fc0dd98f-5f4d-4520-b687-f2de8019eab1" providerId="ADAL" clId="{675A18D8-4606-490B-B197-ECE7E84AA4EA}" dt="2026-10-07T22:30:19.715" v="5"/>
            <ac:spMkLst>
              <pc:docMk/>
              <pc:sldMasterMk cId="2764527432" sldId="2147483648"/>
              <pc:sldLayoutMk cId="824907399" sldId="2147483738"/>
              <ac:spMk id="2" creationId="{07CFC0FC-EE3C-B83B-D888-70A4672B3CAC}"/>
            </ac:spMkLst>
          </pc:spChg>
          <pc:spChg chg="mod">
            <ac:chgData name="Vinay Kumar" userId="fc0dd98f-5f4d-4520-b687-f2de8019eab1" providerId="ADAL" clId="{675A18D8-4606-490B-B197-ECE7E84AA4EA}" dt="2026-10-07T22:30:19.715" v="5"/>
            <ac:spMkLst>
              <pc:docMk/>
              <pc:sldMasterMk cId="2764527432" sldId="2147483648"/>
              <pc:sldLayoutMk cId="824907399" sldId="2147483738"/>
              <ac:spMk id="3" creationId="{F8A799FA-C73D-ED39-C551-268E9A6FE34C}"/>
            </ac:spMkLst>
          </pc:spChg>
          <pc:spChg chg="mod">
            <ac:chgData name="Vinay Kumar" userId="fc0dd98f-5f4d-4520-b687-f2de8019eab1" providerId="ADAL" clId="{675A18D8-4606-490B-B197-ECE7E84AA4EA}" dt="2026-10-07T22:30:19.715" v="5"/>
            <ac:spMkLst>
              <pc:docMk/>
              <pc:sldMasterMk cId="2764527432" sldId="2147483648"/>
              <pc:sldLayoutMk cId="824907399" sldId="2147483738"/>
              <ac:spMk id="9" creationId="{E0C4611E-F017-7C1D-2FF4-E1E27846092D}"/>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2347827536" sldId="2147483739"/>
          </pc:sldLayoutMkLst>
          <pc:spChg chg="mod">
            <ac:chgData name="Vinay Kumar" userId="fc0dd98f-5f4d-4520-b687-f2de8019eab1" providerId="ADAL" clId="{675A18D8-4606-490B-B197-ECE7E84AA4EA}" dt="2026-10-07T22:30:19.715" v="5"/>
            <ac:spMkLst>
              <pc:docMk/>
              <pc:sldMasterMk cId="2764527432" sldId="2147483648"/>
              <pc:sldLayoutMk cId="2347827536" sldId="2147483739"/>
              <ac:spMk id="2" creationId="{07CFC0FC-EE3C-B83B-D888-70A4672B3CAC}"/>
            </ac:spMkLst>
          </pc:spChg>
          <pc:spChg chg="mod">
            <ac:chgData name="Vinay Kumar" userId="fc0dd98f-5f4d-4520-b687-f2de8019eab1" providerId="ADAL" clId="{675A18D8-4606-490B-B197-ECE7E84AA4EA}" dt="2026-10-07T22:30:19.715" v="5"/>
            <ac:spMkLst>
              <pc:docMk/>
              <pc:sldMasterMk cId="2764527432" sldId="2147483648"/>
              <pc:sldLayoutMk cId="2347827536" sldId="2147483739"/>
              <ac:spMk id="3" creationId="{F8A799FA-C73D-ED39-C551-268E9A6FE34C}"/>
            </ac:spMkLst>
          </pc:spChg>
          <pc:spChg chg="mod">
            <ac:chgData name="Vinay Kumar" userId="fc0dd98f-5f4d-4520-b687-f2de8019eab1" providerId="ADAL" clId="{675A18D8-4606-490B-B197-ECE7E84AA4EA}" dt="2026-10-07T22:30:19.715" v="5"/>
            <ac:spMkLst>
              <pc:docMk/>
              <pc:sldMasterMk cId="2764527432" sldId="2147483648"/>
              <pc:sldLayoutMk cId="2347827536" sldId="2147483739"/>
              <ac:spMk id="9" creationId="{E0C4611E-F017-7C1D-2FF4-E1E27846092D}"/>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2907007621" sldId="2147483740"/>
          </pc:sldLayoutMkLst>
          <pc:spChg chg="mod">
            <ac:chgData name="Vinay Kumar" userId="fc0dd98f-5f4d-4520-b687-f2de8019eab1" providerId="ADAL" clId="{675A18D8-4606-490B-B197-ECE7E84AA4EA}" dt="2026-10-07T22:30:19.715" v="5"/>
            <ac:spMkLst>
              <pc:docMk/>
              <pc:sldMasterMk cId="2764527432" sldId="2147483648"/>
              <pc:sldLayoutMk cId="2907007621" sldId="2147483740"/>
              <ac:spMk id="3" creationId="{9B8C8614-A292-2DEB-B2B8-6FE164A0B9A2}"/>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4" creationId="{9D067813-582A-4E3A-EF66-EF9F8971DFC5}"/>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5" creationId="{AE124A95-9614-9995-E872-AA3631F0E166}"/>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6" creationId="{73BF58F6-5870-8D4C-28A5-5AB0669CF4F4}"/>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8" creationId="{3BC94BD8-ABAB-BE04-A141-5BF408AB2339}"/>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9" creationId="{9BA14879-AD6D-EF65-00C1-295476E83177}"/>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10" creationId="{DC7151D7-4F9C-C74E-F631-96155478821F}"/>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11" creationId="{72023F31-09AA-E6AB-E198-AAEB6FE7887E}"/>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14" creationId="{44699355-78E0-0732-ED34-4CC5E8D01C83}"/>
            </ac:spMkLst>
          </pc:spChg>
          <pc:spChg chg="mod">
            <ac:chgData name="Vinay Kumar" userId="fc0dd98f-5f4d-4520-b687-f2de8019eab1" providerId="ADAL" clId="{675A18D8-4606-490B-B197-ECE7E84AA4EA}" dt="2026-10-07T22:30:19.715" v="5"/>
            <ac:spMkLst>
              <pc:docMk/>
              <pc:sldMasterMk cId="2764527432" sldId="2147483648"/>
              <pc:sldLayoutMk cId="2907007621" sldId="2147483740"/>
              <ac:spMk id="20" creationId="{086C7F59-CC8C-1CFD-C8BF-9B5247BFC605}"/>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3142500608" sldId="2147483741"/>
          </pc:sldLayoutMkLst>
          <pc:spChg chg="mod">
            <ac:chgData name="Vinay Kumar" userId="fc0dd98f-5f4d-4520-b687-f2de8019eab1" providerId="ADAL" clId="{675A18D8-4606-490B-B197-ECE7E84AA4EA}" dt="2026-10-07T22:30:19.715" v="5"/>
            <ac:spMkLst>
              <pc:docMk/>
              <pc:sldMasterMk cId="2764527432" sldId="2147483648"/>
              <pc:sldLayoutMk cId="3142500608" sldId="2147483741"/>
              <ac:spMk id="2" creationId="{50C99C6E-EBA2-8BAD-9F81-2D0DB0A48CF6}"/>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3" creationId="{9B8C8614-A292-2DEB-B2B8-6FE164A0B9A2}"/>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4" creationId="{9D067813-582A-4E3A-EF66-EF9F8971DFC5}"/>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5" creationId="{AE124A95-9614-9995-E872-AA3631F0E166}"/>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6" creationId="{73BF58F6-5870-8D4C-28A5-5AB0669CF4F4}"/>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11" creationId="{72023F31-09AA-E6AB-E198-AAEB6FE7887E}"/>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13" creationId="{86F02B4B-DEA1-2B1E-63A6-AE70D545D018}"/>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14" creationId="{44699355-78E0-0732-ED34-4CC5E8D01C83}"/>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17" creationId="{AB14D727-AE35-74B6-7123-2B8ADA30FEC1}"/>
            </ac:spMkLst>
          </pc:spChg>
          <pc:spChg chg="mod">
            <ac:chgData name="Vinay Kumar" userId="fc0dd98f-5f4d-4520-b687-f2de8019eab1" providerId="ADAL" clId="{675A18D8-4606-490B-B197-ECE7E84AA4EA}" dt="2026-10-07T22:30:19.715" v="5"/>
            <ac:spMkLst>
              <pc:docMk/>
              <pc:sldMasterMk cId="2764527432" sldId="2147483648"/>
              <pc:sldLayoutMk cId="3142500608" sldId="2147483741"/>
              <ac:spMk id="20" creationId="{086C7F59-CC8C-1CFD-C8BF-9B5247BFC605}"/>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3159694471" sldId="2147483742"/>
          </pc:sldLayoutMkLst>
          <pc:spChg chg="mod">
            <ac:chgData name="Vinay Kumar" userId="fc0dd98f-5f4d-4520-b687-f2de8019eab1" providerId="ADAL" clId="{675A18D8-4606-490B-B197-ECE7E84AA4EA}" dt="2026-10-07T22:30:19.715" v="5"/>
            <ac:spMkLst>
              <pc:docMk/>
              <pc:sldMasterMk cId="2764527432" sldId="2147483648"/>
              <pc:sldLayoutMk cId="3159694471" sldId="2147483742"/>
              <ac:spMk id="2" creationId="{598F0E86-E33C-1C9A-B1D6-25E39CA4FF73}"/>
            </ac:spMkLst>
          </pc:spChg>
          <pc:spChg chg="mod">
            <ac:chgData name="Vinay Kumar" userId="fc0dd98f-5f4d-4520-b687-f2de8019eab1" providerId="ADAL" clId="{675A18D8-4606-490B-B197-ECE7E84AA4EA}" dt="2026-10-07T22:30:19.715" v="5"/>
            <ac:spMkLst>
              <pc:docMk/>
              <pc:sldMasterMk cId="2764527432" sldId="2147483648"/>
              <pc:sldLayoutMk cId="3159694471" sldId="2147483742"/>
              <ac:spMk id="3" creationId="{0023B6BF-6BEC-44B3-16FD-D8AD3240A4D5}"/>
            </ac:spMkLst>
          </pc:spChg>
          <pc:spChg chg="mod">
            <ac:chgData name="Vinay Kumar" userId="fc0dd98f-5f4d-4520-b687-f2de8019eab1" providerId="ADAL" clId="{675A18D8-4606-490B-B197-ECE7E84AA4EA}" dt="2026-10-07T22:30:19.715" v="5"/>
            <ac:spMkLst>
              <pc:docMk/>
              <pc:sldMasterMk cId="2764527432" sldId="2147483648"/>
              <pc:sldLayoutMk cId="3159694471" sldId="2147483742"/>
              <ac:spMk id="19" creationId="{89B85627-C772-5EFB-A063-1191C3E2A3B3}"/>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2540720273" sldId="2147483743"/>
          </pc:sldLayoutMkLst>
          <pc:spChg chg="mod">
            <ac:chgData name="Vinay Kumar" userId="fc0dd98f-5f4d-4520-b687-f2de8019eab1" providerId="ADAL" clId="{675A18D8-4606-490B-B197-ECE7E84AA4EA}" dt="2026-10-07T22:30:19.715" v="5"/>
            <ac:spMkLst>
              <pc:docMk/>
              <pc:sldMasterMk cId="2764527432" sldId="2147483648"/>
              <pc:sldLayoutMk cId="2540720273" sldId="2147483743"/>
              <ac:spMk id="4" creationId="{D4945255-4D54-BD6F-F948-3B2AF5A407AD}"/>
            </ac:spMkLst>
          </pc:spChg>
          <pc:spChg chg="mod">
            <ac:chgData name="Vinay Kumar" userId="fc0dd98f-5f4d-4520-b687-f2de8019eab1" providerId="ADAL" clId="{675A18D8-4606-490B-B197-ECE7E84AA4EA}" dt="2026-10-07T22:30:19.715" v="5"/>
            <ac:spMkLst>
              <pc:docMk/>
              <pc:sldMasterMk cId="2764527432" sldId="2147483648"/>
              <pc:sldLayoutMk cId="2540720273" sldId="2147483743"/>
              <ac:spMk id="6" creationId="{D0E6E8BE-2736-1222-838E-6E63376063C9}"/>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3292649633" sldId="2147483744"/>
          </pc:sldLayoutMkLst>
          <pc:spChg chg="mod">
            <ac:chgData name="Vinay Kumar" userId="fc0dd98f-5f4d-4520-b687-f2de8019eab1" providerId="ADAL" clId="{675A18D8-4606-490B-B197-ECE7E84AA4EA}" dt="2026-10-07T22:30:19.715" v="5"/>
            <ac:spMkLst>
              <pc:docMk/>
              <pc:sldMasterMk cId="2764527432" sldId="2147483648"/>
              <pc:sldLayoutMk cId="3292649633" sldId="2147483744"/>
              <ac:spMk id="3" creationId="{111B5BBF-3656-D3C3-5A83-CACD136FC2CA}"/>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4177835427" sldId="2147483745"/>
          </pc:sldLayoutMkLst>
          <pc:spChg chg="mod">
            <ac:chgData name="Vinay Kumar" userId="fc0dd98f-5f4d-4520-b687-f2de8019eab1" providerId="ADAL" clId="{675A18D8-4606-490B-B197-ECE7E84AA4EA}" dt="2026-10-07T22:30:19.715" v="5"/>
            <ac:spMkLst>
              <pc:docMk/>
              <pc:sldMasterMk cId="2764527432" sldId="2147483648"/>
              <pc:sldLayoutMk cId="4177835427" sldId="2147483745"/>
              <ac:spMk id="3" creationId="{111B5BBF-3656-D3C3-5A83-CACD136FC2CA}"/>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1990126673" sldId="2147483746"/>
          </pc:sldLayoutMkLst>
          <pc:spChg chg="mod">
            <ac:chgData name="Vinay Kumar" userId="fc0dd98f-5f4d-4520-b687-f2de8019eab1" providerId="ADAL" clId="{675A18D8-4606-490B-B197-ECE7E84AA4EA}" dt="2026-10-07T22:30:19.715" v="5"/>
            <ac:spMkLst>
              <pc:docMk/>
              <pc:sldMasterMk cId="2764527432" sldId="2147483648"/>
              <pc:sldLayoutMk cId="1990126673" sldId="2147483746"/>
              <ac:spMk id="2" creationId="{598F0E86-E33C-1C9A-B1D6-25E39CA4FF73}"/>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260589453" sldId="2147483747"/>
          </pc:sldLayoutMkLst>
          <pc:spChg chg="mod">
            <ac:chgData name="Vinay Kumar" userId="fc0dd98f-5f4d-4520-b687-f2de8019eab1" providerId="ADAL" clId="{675A18D8-4606-490B-B197-ECE7E84AA4EA}" dt="2026-10-07T22:30:19.715" v="5"/>
            <ac:spMkLst>
              <pc:docMk/>
              <pc:sldMasterMk cId="2764527432" sldId="2147483648"/>
              <pc:sldLayoutMk cId="260589453" sldId="2147483747"/>
              <ac:spMk id="3" creationId="{1A92E810-A64D-864A-E713-F5B7065D4E11}"/>
            </ac:spMkLst>
          </pc:spChg>
          <pc:spChg chg="mod">
            <ac:chgData name="Vinay Kumar" userId="fc0dd98f-5f4d-4520-b687-f2de8019eab1" providerId="ADAL" clId="{675A18D8-4606-490B-B197-ECE7E84AA4EA}" dt="2026-10-07T22:30:19.715" v="5"/>
            <ac:spMkLst>
              <pc:docMk/>
              <pc:sldMasterMk cId="2764527432" sldId="2147483648"/>
              <pc:sldLayoutMk cId="260589453" sldId="2147483747"/>
              <ac:spMk id="13" creationId="{96D0FD0B-1E7F-BAAE-1D8E-B5A4CF90CE39}"/>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3031795084" sldId="2147483748"/>
          </pc:sldLayoutMkLst>
          <pc:spChg chg="mod">
            <ac:chgData name="Vinay Kumar" userId="fc0dd98f-5f4d-4520-b687-f2de8019eab1" providerId="ADAL" clId="{675A18D8-4606-490B-B197-ECE7E84AA4EA}" dt="2026-10-07T22:30:19.715" v="5"/>
            <ac:spMkLst>
              <pc:docMk/>
              <pc:sldMasterMk cId="2764527432" sldId="2147483648"/>
              <pc:sldLayoutMk cId="3031795084" sldId="2147483748"/>
              <ac:spMk id="2" creationId="{50C99C6E-EBA2-8BAD-9F81-2D0DB0A48CF6}"/>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3" creationId="{9B8C8614-A292-2DEB-B2B8-6FE164A0B9A2}"/>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4" creationId="{9D067813-582A-4E3A-EF66-EF9F8971DFC5}"/>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8" creationId="{3BC94BD8-ABAB-BE04-A141-5BF408AB2339}"/>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9" creationId="{9BA14879-AD6D-EF65-00C1-295476E83177}"/>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11" creationId="{72023F31-09AA-E6AB-E198-AAEB6FE7887E}"/>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12" creationId="{C356DA4B-68E0-8CE3-407A-E24FC24779DF}"/>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13" creationId="{86F02B4B-DEA1-2B1E-63A6-AE70D545D018}"/>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14" creationId="{44699355-78E0-0732-ED34-4CC5E8D01C83}"/>
            </ac:spMkLst>
          </pc:spChg>
          <pc:spChg chg="mod">
            <ac:chgData name="Vinay Kumar" userId="fc0dd98f-5f4d-4520-b687-f2de8019eab1" providerId="ADAL" clId="{675A18D8-4606-490B-B197-ECE7E84AA4EA}" dt="2026-10-07T22:30:19.715" v="5"/>
            <ac:spMkLst>
              <pc:docMk/>
              <pc:sldMasterMk cId="2764527432" sldId="2147483648"/>
              <pc:sldLayoutMk cId="3031795084" sldId="2147483748"/>
              <ac:spMk id="20" creationId="{086C7F59-CC8C-1CFD-C8BF-9B5247BFC605}"/>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2342348652" sldId="2147483749"/>
          </pc:sldLayoutMkLst>
          <pc:spChg chg="mod">
            <ac:chgData name="Vinay Kumar" userId="fc0dd98f-5f4d-4520-b687-f2de8019eab1" providerId="ADAL" clId="{675A18D8-4606-490B-B197-ECE7E84AA4EA}" dt="2026-10-07T22:30:19.715" v="5"/>
            <ac:spMkLst>
              <pc:docMk/>
              <pc:sldMasterMk cId="2764527432" sldId="2147483648"/>
              <pc:sldLayoutMk cId="2342348652" sldId="2147483749"/>
              <ac:spMk id="3" creationId="{9B8C8614-A292-2DEB-B2B8-6FE164A0B9A2}"/>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4" creationId="{9D067813-582A-4E3A-EF66-EF9F8971DFC5}"/>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5" creationId="{AE124A95-9614-9995-E872-AA3631F0E166}"/>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6" creationId="{73BF58F6-5870-8D4C-28A5-5AB0669CF4F4}"/>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9" creationId="{9BA14879-AD6D-EF65-00C1-295476E83177}"/>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12" creationId="{C356DA4B-68E0-8CE3-407A-E24FC24779DF}"/>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13" creationId="{86F02B4B-DEA1-2B1E-63A6-AE70D545D018}"/>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14" creationId="{44699355-78E0-0732-ED34-4CC5E8D01C83}"/>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17" creationId="{AB14D727-AE35-74B6-7123-2B8ADA30FEC1}"/>
            </ac:spMkLst>
          </pc:spChg>
          <pc:spChg chg="mod">
            <ac:chgData name="Vinay Kumar" userId="fc0dd98f-5f4d-4520-b687-f2de8019eab1" providerId="ADAL" clId="{675A18D8-4606-490B-B197-ECE7E84AA4EA}" dt="2026-10-07T22:30:19.715" v="5"/>
            <ac:spMkLst>
              <pc:docMk/>
              <pc:sldMasterMk cId="2764527432" sldId="2147483648"/>
              <pc:sldLayoutMk cId="2342348652" sldId="2147483749"/>
              <ac:spMk id="20" creationId="{086C7F59-CC8C-1CFD-C8BF-9B5247BFC605}"/>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1454153084" sldId="2147483750"/>
          </pc:sldLayoutMkLst>
          <pc:spChg chg="mod">
            <ac:chgData name="Vinay Kumar" userId="fc0dd98f-5f4d-4520-b687-f2de8019eab1" providerId="ADAL" clId="{675A18D8-4606-490B-B197-ECE7E84AA4EA}" dt="2026-10-07T22:30:19.715" v="5"/>
            <ac:spMkLst>
              <pc:docMk/>
              <pc:sldMasterMk cId="2764527432" sldId="2147483648"/>
              <pc:sldLayoutMk cId="1454153084" sldId="2147483750"/>
              <ac:spMk id="2" creationId="{598F0E86-E33C-1C9A-B1D6-25E39CA4FF73}"/>
            </ac:spMkLst>
          </pc:spChg>
          <pc:spChg chg="mod">
            <ac:chgData name="Vinay Kumar" userId="fc0dd98f-5f4d-4520-b687-f2de8019eab1" providerId="ADAL" clId="{675A18D8-4606-490B-B197-ECE7E84AA4EA}" dt="2026-10-07T22:30:19.715" v="5"/>
            <ac:spMkLst>
              <pc:docMk/>
              <pc:sldMasterMk cId="2764527432" sldId="2147483648"/>
              <pc:sldLayoutMk cId="1454153084" sldId="2147483750"/>
              <ac:spMk id="3" creationId="{0023B6BF-6BEC-44B3-16FD-D8AD3240A4D5}"/>
            </ac:spMkLst>
          </pc:spChg>
          <pc:spChg chg="mod">
            <ac:chgData name="Vinay Kumar" userId="fc0dd98f-5f4d-4520-b687-f2de8019eab1" providerId="ADAL" clId="{675A18D8-4606-490B-B197-ECE7E84AA4EA}" dt="2026-10-07T22:30:19.715" v="5"/>
            <ac:spMkLst>
              <pc:docMk/>
              <pc:sldMasterMk cId="2764527432" sldId="2147483648"/>
              <pc:sldLayoutMk cId="1454153084" sldId="2147483750"/>
              <ac:spMk id="19" creationId="{89B85627-C772-5EFB-A063-1191C3E2A3B3}"/>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617142463" sldId="2147483751"/>
          </pc:sldLayoutMkLst>
          <pc:spChg chg="mod">
            <ac:chgData name="Vinay Kumar" userId="fc0dd98f-5f4d-4520-b687-f2de8019eab1" providerId="ADAL" clId="{675A18D8-4606-490B-B197-ECE7E84AA4EA}" dt="2026-10-07T22:30:19.715" v="5"/>
            <ac:spMkLst>
              <pc:docMk/>
              <pc:sldMasterMk cId="2764527432" sldId="2147483648"/>
              <pc:sldLayoutMk cId="617142463" sldId="2147483751"/>
              <ac:spMk id="4" creationId="{D4945255-4D54-BD6F-F948-3B2AF5A407AD}"/>
            </ac:spMkLst>
          </pc:spChg>
          <pc:spChg chg="mod">
            <ac:chgData name="Vinay Kumar" userId="fc0dd98f-5f4d-4520-b687-f2de8019eab1" providerId="ADAL" clId="{675A18D8-4606-490B-B197-ECE7E84AA4EA}" dt="2026-10-07T22:30:19.715" v="5"/>
            <ac:spMkLst>
              <pc:docMk/>
              <pc:sldMasterMk cId="2764527432" sldId="2147483648"/>
              <pc:sldLayoutMk cId="617142463" sldId="2147483751"/>
              <ac:spMk id="6" creationId="{D0E6E8BE-2736-1222-838E-6E63376063C9}"/>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874121702" sldId="2147483752"/>
          </pc:sldLayoutMkLst>
          <pc:spChg chg="mod">
            <ac:chgData name="Vinay Kumar" userId="fc0dd98f-5f4d-4520-b687-f2de8019eab1" providerId="ADAL" clId="{675A18D8-4606-490B-B197-ECE7E84AA4EA}" dt="2026-10-07T22:30:19.715" v="5"/>
            <ac:spMkLst>
              <pc:docMk/>
              <pc:sldMasterMk cId="2764527432" sldId="2147483648"/>
              <pc:sldLayoutMk cId="874121702" sldId="2147483752"/>
              <ac:spMk id="3" creationId="{111B5BBF-3656-D3C3-5A83-CACD136FC2CA}"/>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3338396376" sldId="2147483753"/>
          </pc:sldLayoutMkLst>
          <pc:spChg chg="mod">
            <ac:chgData name="Vinay Kumar" userId="fc0dd98f-5f4d-4520-b687-f2de8019eab1" providerId="ADAL" clId="{675A18D8-4606-490B-B197-ECE7E84AA4EA}" dt="2026-10-07T22:30:19.715" v="5"/>
            <ac:spMkLst>
              <pc:docMk/>
              <pc:sldMasterMk cId="2764527432" sldId="2147483648"/>
              <pc:sldLayoutMk cId="3338396376" sldId="2147483753"/>
              <ac:spMk id="3" creationId="{111B5BBF-3656-D3C3-5A83-CACD136FC2CA}"/>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1358013123" sldId="2147483754"/>
          </pc:sldLayoutMkLst>
          <pc:spChg chg="mod">
            <ac:chgData name="Vinay Kumar" userId="fc0dd98f-5f4d-4520-b687-f2de8019eab1" providerId="ADAL" clId="{675A18D8-4606-490B-B197-ECE7E84AA4EA}" dt="2026-10-07T22:30:19.715" v="5"/>
            <ac:spMkLst>
              <pc:docMk/>
              <pc:sldMasterMk cId="2764527432" sldId="2147483648"/>
              <pc:sldLayoutMk cId="1358013123" sldId="2147483754"/>
              <ac:spMk id="2" creationId="{598F0E86-E33C-1C9A-B1D6-25E39CA4FF73}"/>
            </ac:spMkLst>
          </pc:spChg>
        </pc:sldLayoutChg>
        <pc:sldLayoutChg chg="modSp mod ord">
          <pc:chgData name="Vinay Kumar" userId="fc0dd98f-5f4d-4520-b687-f2de8019eab1" providerId="ADAL" clId="{675A18D8-4606-490B-B197-ECE7E84AA4EA}" dt="2026-10-07T22:30:19.715" v="5"/>
          <pc:sldLayoutMkLst>
            <pc:docMk/>
            <pc:sldMasterMk cId="2764527432" sldId="2147483648"/>
            <pc:sldLayoutMk cId="3889746259" sldId="2147483755"/>
          </pc:sldLayoutMkLst>
          <pc:spChg chg="mod">
            <ac:chgData name="Vinay Kumar" userId="fc0dd98f-5f4d-4520-b687-f2de8019eab1" providerId="ADAL" clId="{675A18D8-4606-490B-B197-ECE7E84AA4EA}" dt="2026-10-07T22:30:19.715" v="5"/>
            <ac:spMkLst>
              <pc:docMk/>
              <pc:sldMasterMk cId="2764527432" sldId="2147483648"/>
              <pc:sldLayoutMk cId="3889746259" sldId="2147483755"/>
              <ac:spMk id="2" creationId="{50C99C6E-EBA2-8BAD-9F81-2D0DB0A48CF6}"/>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3" creationId="{9B8C8614-A292-2DEB-B2B8-6FE164A0B9A2}"/>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4" creationId="{9D067813-582A-4E3A-EF66-EF9F8971DFC5}"/>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5" creationId="{AE124A95-9614-9995-E872-AA3631F0E166}"/>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6" creationId="{73BF58F6-5870-8D4C-28A5-5AB0669CF4F4}"/>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8" creationId="{3BC94BD8-ABAB-BE04-A141-5BF408AB2339}"/>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9" creationId="{9BA14879-AD6D-EF65-00C1-295476E83177}"/>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11" creationId="{72023F31-09AA-E6AB-E198-AAEB6FE7887E}"/>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14" creationId="{44699355-78E0-0732-ED34-4CC5E8D01C83}"/>
            </ac:spMkLst>
          </pc:spChg>
          <pc:spChg chg="mod">
            <ac:chgData name="Vinay Kumar" userId="fc0dd98f-5f4d-4520-b687-f2de8019eab1" providerId="ADAL" clId="{675A18D8-4606-490B-B197-ECE7E84AA4EA}" dt="2026-10-07T22:30:19.715" v="5"/>
            <ac:spMkLst>
              <pc:docMk/>
              <pc:sldMasterMk cId="2764527432" sldId="2147483648"/>
              <pc:sldLayoutMk cId="3889746259" sldId="2147483755"/>
              <ac:spMk id="20" creationId="{086C7F59-CC8C-1CFD-C8BF-9B5247BFC605}"/>
            </ac:spMkLst>
          </pc:spChg>
        </pc:sldLayoutChg>
      </pc:sldMasterChg>
      <pc:sldMasterChg chg="del delSldLayout">
        <pc:chgData name="Vinay Kumar" userId="fc0dd98f-5f4d-4520-b687-f2de8019eab1" providerId="ADAL" clId="{675A18D8-4606-490B-B197-ECE7E84AA4EA}" dt="2026-10-07T22:30:19.671" v="4"/>
        <pc:sldMasterMkLst>
          <pc:docMk/>
          <pc:sldMasterMk cId="3604589896" sldId="2147483680"/>
        </pc:sldMasterMkLst>
        <pc:sldLayoutChg chg="del">
          <pc:chgData name="Vinay Kumar" userId="fc0dd98f-5f4d-4520-b687-f2de8019eab1" providerId="ADAL" clId="{675A18D8-4606-490B-B197-ECE7E84AA4EA}" dt="2026-10-07T22:30:19.671" v="4"/>
          <pc:sldLayoutMkLst>
            <pc:docMk/>
            <pc:sldMasterMk cId="3604589896" sldId="2147483680"/>
            <pc:sldLayoutMk cId="1050399030" sldId="2147483708"/>
          </pc:sldLayoutMkLst>
        </pc:sldLayoutChg>
        <pc:sldLayoutChg chg="del">
          <pc:chgData name="Vinay Kumar" userId="fc0dd98f-5f4d-4520-b687-f2de8019eab1" providerId="ADAL" clId="{675A18D8-4606-490B-B197-ECE7E84AA4EA}" dt="2026-10-07T22:30:19.671" v="4"/>
          <pc:sldLayoutMkLst>
            <pc:docMk/>
            <pc:sldMasterMk cId="3604589896" sldId="2147483680"/>
            <pc:sldLayoutMk cId="3675909200" sldId="2147483709"/>
          </pc:sldLayoutMkLst>
        </pc:sldLayoutChg>
        <pc:sldLayoutChg chg="del">
          <pc:chgData name="Vinay Kumar" userId="fc0dd98f-5f4d-4520-b687-f2de8019eab1" providerId="ADAL" clId="{675A18D8-4606-490B-B197-ECE7E84AA4EA}" dt="2026-10-07T22:30:19.671" v="4"/>
          <pc:sldLayoutMkLst>
            <pc:docMk/>
            <pc:sldMasterMk cId="3604589896" sldId="2147483680"/>
            <pc:sldLayoutMk cId="3817225595" sldId="2147483710"/>
          </pc:sldLayoutMkLst>
        </pc:sldLayoutChg>
        <pc:sldLayoutChg chg="del">
          <pc:chgData name="Vinay Kumar" userId="fc0dd98f-5f4d-4520-b687-f2de8019eab1" providerId="ADAL" clId="{675A18D8-4606-490B-B197-ECE7E84AA4EA}" dt="2026-10-07T22:30:19.671" v="4"/>
          <pc:sldLayoutMkLst>
            <pc:docMk/>
            <pc:sldMasterMk cId="3604589896" sldId="2147483680"/>
            <pc:sldLayoutMk cId="3486546106" sldId="2147483711"/>
          </pc:sldLayoutMkLst>
        </pc:sldLayoutChg>
      </pc:sldMasterChg>
      <pc:sldMasterChg chg="modSldLayout sldLayoutOrd">
        <pc:chgData name="Vinay Kumar" userId="fc0dd98f-5f4d-4520-b687-f2de8019eab1" providerId="ADAL" clId="{675A18D8-4606-490B-B197-ECE7E84AA4EA}" dt="2026-10-07T22:30:19.715" v="5"/>
        <pc:sldMasterMkLst>
          <pc:docMk/>
          <pc:sldMasterMk cId="617807056" sldId="2147483717"/>
        </pc:sldMasterMkLst>
        <pc:sldLayoutChg chg="modSp mod ord">
          <pc:chgData name="Vinay Kumar" userId="fc0dd98f-5f4d-4520-b687-f2de8019eab1" providerId="ADAL" clId="{675A18D8-4606-490B-B197-ECE7E84AA4EA}" dt="2026-10-07T22:30:19.715" v="5"/>
          <pc:sldLayoutMkLst>
            <pc:docMk/>
            <pc:sldMasterMk cId="617807056" sldId="2147483717"/>
            <pc:sldLayoutMk cId="1908084563" sldId="2147483757"/>
          </pc:sldLayoutMkLst>
          <pc:spChg chg="mod">
            <ac:chgData name="Vinay Kumar" userId="fc0dd98f-5f4d-4520-b687-f2de8019eab1" providerId="ADAL" clId="{675A18D8-4606-490B-B197-ECE7E84AA4EA}" dt="2026-10-07T22:30:19.715" v="5"/>
            <ac:spMkLst>
              <pc:docMk/>
              <pc:sldMasterMk cId="617807056" sldId="2147483717"/>
              <pc:sldLayoutMk cId="1908084563" sldId="2147483757"/>
              <ac:spMk id="4" creationId="{D4945255-4D54-BD6F-F948-3B2AF5A407AD}"/>
            </ac:spMkLst>
          </pc:spChg>
          <pc:spChg chg="mod">
            <ac:chgData name="Vinay Kumar" userId="fc0dd98f-5f4d-4520-b687-f2de8019eab1" providerId="ADAL" clId="{675A18D8-4606-490B-B197-ECE7E84AA4EA}" dt="2026-10-07T22:30:19.715" v="5"/>
            <ac:spMkLst>
              <pc:docMk/>
              <pc:sldMasterMk cId="617807056" sldId="2147483717"/>
              <pc:sldLayoutMk cId="1908084563" sldId="2147483757"/>
              <ac:spMk id="6" creationId="{D0E6E8BE-2736-1222-838E-6E63376063C9}"/>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232904294" sldId="2147483758"/>
          </pc:sldLayoutMkLst>
          <pc:spChg chg="mod">
            <ac:chgData name="Vinay Kumar" userId="fc0dd98f-5f4d-4520-b687-f2de8019eab1" providerId="ADAL" clId="{675A18D8-4606-490B-B197-ECE7E84AA4EA}" dt="2026-10-07T22:30:19.715" v="5"/>
            <ac:spMkLst>
              <pc:docMk/>
              <pc:sldMasterMk cId="617807056" sldId="2147483717"/>
              <pc:sldLayoutMk cId="232904294" sldId="2147483758"/>
              <ac:spMk id="3" creationId="{DD50AA0C-0C3E-74E8-926C-4A0ADFFEE62A}"/>
            </ac:spMkLst>
          </pc:spChg>
          <pc:spChg chg="mod">
            <ac:chgData name="Vinay Kumar" userId="fc0dd98f-5f4d-4520-b687-f2de8019eab1" providerId="ADAL" clId="{675A18D8-4606-490B-B197-ECE7E84AA4EA}" dt="2026-10-07T22:30:19.715" v="5"/>
            <ac:spMkLst>
              <pc:docMk/>
              <pc:sldMasterMk cId="617807056" sldId="2147483717"/>
              <pc:sldLayoutMk cId="232904294" sldId="2147483758"/>
              <ac:spMk id="4" creationId="{D4945255-4D54-BD6F-F948-3B2AF5A407AD}"/>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2625200218" sldId="2147483759"/>
          </pc:sldLayoutMkLst>
          <pc:spChg chg="mod">
            <ac:chgData name="Vinay Kumar" userId="fc0dd98f-5f4d-4520-b687-f2de8019eab1" providerId="ADAL" clId="{675A18D8-4606-490B-B197-ECE7E84AA4EA}" dt="2026-10-07T22:30:19.715" v="5"/>
            <ac:spMkLst>
              <pc:docMk/>
              <pc:sldMasterMk cId="617807056" sldId="2147483717"/>
              <pc:sldLayoutMk cId="2625200218" sldId="2147483759"/>
              <ac:spMk id="3" creationId="{1A92E810-A64D-864A-E713-F5B7065D4E11}"/>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89290084" sldId="2147483760"/>
          </pc:sldLayoutMkLst>
          <pc:spChg chg="mod">
            <ac:chgData name="Vinay Kumar" userId="fc0dd98f-5f4d-4520-b687-f2de8019eab1" providerId="ADAL" clId="{675A18D8-4606-490B-B197-ECE7E84AA4EA}" dt="2026-10-07T22:30:19.715" v="5"/>
            <ac:spMkLst>
              <pc:docMk/>
              <pc:sldMasterMk cId="617807056" sldId="2147483717"/>
              <pc:sldLayoutMk cId="89290084" sldId="2147483760"/>
              <ac:spMk id="2" creationId="{07CFC0FC-EE3C-B83B-D888-70A4672B3CAC}"/>
            </ac:spMkLst>
          </pc:spChg>
          <pc:spChg chg="mod">
            <ac:chgData name="Vinay Kumar" userId="fc0dd98f-5f4d-4520-b687-f2de8019eab1" providerId="ADAL" clId="{675A18D8-4606-490B-B197-ECE7E84AA4EA}" dt="2026-10-07T22:30:19.715" v="5"/>
            <ac:spMkLst>
              <pc:docMk/>
              <pc:sldMasterMk cId="617807056" sldId="2147483717"/>
              <pc:sldLayoutMk cId="89290084" sldId="2147483760"/>
              <ac:spMk id="3" creationId="{F8A799FA-C73D-ED39-C551-268E9A6FE34C}"/>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4269629688" sldId="2147483761"/>
          </pc:sldLayoutMkLst>
          <pc:spChg chg="mod">
            <ac:chgData name="Vinay Kumar" userId="fc0dd98f-5f4d-4520-b687-f2de8019eab1" providerId="ADAL" clId="{675A18D8-4606-490B-B197-ECE7E84AA4EA}" dt="2026-10-07T22:30:19.715" v="5"/>
            <ac:spMkLst>
              <pc:docMk/>
              <pc:sldMasterMk cId="617807056" sldId="2147483717"/>
              <pc:sldLayoutMk cId="4269629688" sldId="2147483761"/>
              <ac:spMk id="2" creationId="{07CFC0FC-EE3C-B83B-D888-70A4672B3CAC}"/>
            </ac:spMkLst>
          </pc:spChg>
          <pc:spChg chg="mod">
            <ac:chgData name="Vinay Kumar" userId="fc0dd98f-5f4d-4520-b687-f2de8019eab1" providerId="ADAL" clId="{675A18D8-4606-490B-B197-ECE7E84AA4EA}" dt="2026-10-07T22:30:19.715" v="5"/>
            <ac:spMkLst>
              <pc:docMk/>
              <pc:sldMasterMk cId="617807056" sldId="2147483717"/>
              <pc:sldLayoutMk cId="4269629688" sldId="2147483761"/>
              <ac:spMk id="3" creationId="{F8A799FA-C73D-ED39-C551-268E9A6FE34C}"/>
            </ac:spMkLst>
          </pc:spChg>
          <pc:spChg chg="mod">
            <ac:chgData name="Vinay Kumar" userId="fc0dd98f-5f4d-4520-b687-f2de8019eab1" providerId="ADAL" clId="{675A18D8-4606-490B-B197-ECE7E84AA4EA}" dt="2026-10-07T22:30:19.715" v="5"/>
            <ac:spMkLst>
              <pc:docMk/>
              <pc:sldMasterMk cId="617807056" sldId="2147483717"/>
              <pc:sldLayoutMk cId="4269629688" sldId="2147483761"/>
              <ac:spMk id="9" creationId="{E0C4611E-F017-7C1D-2FF4-E1E27846092D}"/>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1647786887" sldId="2147483762"/>
          </pc:sldLayoutMkLst>
          <pc:spChg chg="mod">
            <ac:chgData name="Vinay Kumar" userId="fc0dd98f-5f4d-4520-b687-f2de8019eab1" providerId="ADAL" clId="{675A18D8-4606-490B-B197-ECE7E84AA4EA}" dt="2026-10-07T22:30:19.715" v="5"/>
            <ac:spMkLst>
              <pc:docMk/>
              <pc:sldMasterMk cId="617807056" sldId="2147483717"/>
              <pc:sldLayoutMk cId="1647786887" sldId="2147483762"/>
              <ac:spMk id="2" creationId="{07CFC0FC-EE3C-B83B-D888-70A4672B3CAC}"/>
            </ac:spMkLst>
          </pc:spChg>
          <pc:spChg chg="mod">
            <ac:chgData name="Vinay Kumar" userId="fc0dd98f-5f4d-4520-b687-f2de8019eab1" providerId="ADAL" clId="{675A18D8-4606-490B-B197-ECE7E84AA4EA}" dt="2026-10-07T22:30:19.715" v="5"/>
            <ac:spMkLst>
              <pc:docMk/>
              <pc:sldMasterMk cId="617807056" sldId="2147483717"/>
              <pc:sldLayoutMk cId="1647786887" sldId="2147483762"/>
              <ac:spMk id="3" creationId="{F8A799FA-C73D-ED39-C551-268E9A6FE34C}"/>
            </ac:spMkLst>
          </pc:spChg>
          <pc:spChg chg="mod">
            <ac:chgData name="Vinay Kumar" userId="fc0dd98f-5f4d-4520-b687-f2de8019eab1" providerId="ADAL" clId="{675A18D8-4606-490B-B197-ECE7E84AA4EA}" dt="2026-10-07T22:30:19.715" v="5"/>
            <ac:spMkLst>
              <pc:docMk/>
              <pc:sldMasterMk cId="617807056" sldId="2147483717"/>
              <pc:sldLayoutMk cId="1647786887" sldId="2147483762"/>
              <ac:spMk id="9" creationId="{E0C4611E-F017-7C1D-2FF4-E1E27846092D}"/>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633414949" sldId="2147483763"/>
          </pc:sldLayoutMkLst>
          <pc:spChg chg="mod">
            <ac:chgData name="Vinay Kumar" userId="fc0dd98f-5f4d-4520-b687-f2de8019eab1" providerId="ADAL" clId="{675A18D8-4606-490B-B197-ECE7E84AA4EA}" dt="2026-10-07T22:30:19.715" v="5"/>
            <ac:spMkLst>
              <pc:docMk/>
              <pc:sldMasterMk cId="617807056" sldId="2147483717"/>
              <pc:sldLayoutMk cId="633414949" sldId="2147483763"/>
              <ac:spMk id="2" creationId="{50C99C6E-EBA2-8BAD-9F81-2D0DB0A48CF6}"/>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3" creationId="{9B8C8614-A292-2DEB-B2B8-6FE164A0B9A2}"/>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4" creationId="{9D067813-582A-4E3A-EF66-EF9F8971DFC5}"/>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6" creationId="{73BF58F6-5870-8D4C-28A5-5AB0669CF4F4}"/>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8" creationId="{3BC94BD8-ABAB-BE04-A141-5BF408AB2339}"/>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9" creationId="{9BA14879-AD6D-EF65-00C1-295476E83177}"/>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11" creationId="{72023F31-09AA-E6AB-E198-AAEB6FE7887E}"/>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12" creationId="{C356DA4B-68E0-8CE3-407A-E24FC24779DF}"/>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14" creationId="{44699355-78E0-0732-ED34-4CC5E8D01C83}"/>
            </ac:spMkLst>
          </pc:spChg>
          <pc:spChg chg="mod">
            <ac:chgData name="Vinay Kumar" userId="fc0dd98f-5f4d-4520-b687-f2de8019eab1" providerId="ADAL" clId="{675A18D8-4606-490B-B197-ECE7E84AA4EA}" dt="2026-10-07T22:30:19.715" v="5"/>
            <ac:spMkLst>
              <pc:docMk/>
              <pc:sldMasterMk cId="617807056" sldId="2147483717"/>
              <pc:sldLayoutMk cId="633414949" sldId="2147483763"/>
              <ac:spMk id="20" creationId="{086C7F59-CC8C-1CFD-C8BF-9B5247BFC605}"/>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2226398372" sldId="2147483764"/>
          </pc:sldLayoutMkLst>
          <pc:spChg chg="mod">
            <ac:chgData name="Vinay Kumar" userId="fc0dd98f-5f4d-4520-b687-f2de8019eab1" providerId="ADAL" clId="{675A18D8-4606-490B-B197-ECE7E84AA4EA}" dt="2026-10-07T22:30:19.715" v="5"/>
            <ac:spMkLst>
              <pc:docMk/>
              <pc:sldMasterMk cId="617807056" sldId="2147483717"/>
              <pc:sldLayoutMk cId="2226398372" sldId="2147483764"/>
              <ac:spMk id="2" creationId="{50C99C6E-EBA2-8BAD-9F81-2D0DB0A48CF6}"/>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4" creationId="{9D067813-582A-4E3A-EF66-EF9F8971DFC5}"/>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5" creationId="{AE124A95-9614-9995-E872-AA3631F0E166}"/>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6" creationId="{73BF58F6-5870-8D4C-28A5-5AB0669CF4F4}"/>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8" creationId="{3BC94BD8-ABAB-BE04-A141-5BF408AB2339}"/>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9" creationId="{9BA14879-AD6D-EF65-00C1-295476E83177}"/>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11" creationId="{72023F31-09AA-E6AB-E198-AAEB6FE7887E}"/>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12" creationId="{C356DA4B-68E0-8CE3-407A-E24FC24779DF}"/>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17" creationId="{AB14D727-AE35-74B6-7123-2B8ADA30FEC1}"/>
            </ac:spMkLst>
          </pc:spChg>
          <pc:spChg chg="mod">
            <ac:chgData name="Vinay Kumar" userId="fc0dd98f-5f4d-4520-b687-f2de8019eab1" providerId="ADAL" clId="{675A18D8-4606-490B-B197-ECE7E84AA4EA}" dt="2026-10-07T22:30:19.715" v="5"/>
            <ac:spMkLst>
              <pc:docMk/>
              <pc:sldMasterMk cId="617807056" sldId="2147483717"/>
              <pc:sldLayoutMk cId="2226398372" sldId="2147483764"/>
              <ac:spMk id="20" creationId="{086C7F59-CC8C-1CFD-C8BF-9B5247BFC605}"/>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2283157397" sldId="2147483765"/>
          </pc:sldLayoutMkLst>
          <pc:spChg chg="mod">
            <ac:chgData name="Vinay Kumar" userId="fc0dd98f-5f4d-4520-b687-f2de8019eab1" providerId="ADAL" clId="{675A18D8-4606-490B-B197-ECE7E84AA4EA}" dt="2026-10-07T22:30:19.715" v="5"/>
            <ac:spMkLst>
              <pc:docMk/>
              <pc:sldMasterMk cId="617807056" sldId="2147483717"/>
              <pc:sldLayoutMk cId="2283157397" sldId="2147483765"/>
              <ac:spMk id="2" creationId="{598F0E86-E33C-1C9A-B1D6-25E39CA4FF73}"/>
            </ac:spMkLst>
          </pc:spChg>
          <pc:spChg chg="mod">
            <ac:chgData name="Vinay Kumar" userId="fc0dd98f-5f4d-4520-b687-f2de8019eab1" providerId="ADAL" clId="{675A18D8-4606-490B-B197-ECE7E84AA4EA}" dt="2026-10-07T22:30:19.715" v="5"/>
            <ac:spMkLst>
              <pc:docMk/>
              <pc:sldMasterMk cId="617807056" sldId="2147483717"/>
              <pc:sldLayoutMk cId="2283157397" sldId="2147483765"/>
              <ac:spMk id="3" creationId="{0023B6BF-6BEC-44B3-16FD-D8AD3240A4D5}"/>
            </ac:spMkLst>
          </pc:spChg>
          <pc:spChg chg="mod">
            <ac:chgData name="Vinay Kumar" userId="fc0dd98f-5f4d-4520-b687-f2de8019eab1" providerId="ADAL" clId="{675A18D8-4606-490B-B197-ECE7E84AA4EA}" dt="2026-10-07T22:30:19.715" v="5"/>
            <ac:spMkLst>
              <pc:docMk/>
              <pc:sldMasterMk cId="617807056" sldId="2147483717"/>
              <pc:sldLayoutMk cId="2283157397" sldId="2147483765"/>
              <ac:spMk id="19" creationId="{89B85627-C772-5EFB-A063-1191C3E2A3B3}"/>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2536050113" sldId="2147483766"/>
          </pc:sldLayoutMkLst>
          <pc:spChg chg="mod">
            <ac:chgData name="Vinay Kumar" userId="fc0dd98f-5f4d-4520-b687-f2de8019eab1" providerId="ADAL" clId="{675A18D8-4606-490B-B197-ECE7E84AA4EA}" dt="2026-10-07T22:30:19.715" v="5"/>
            <ac:spMkLst>
              <pc:docMk/>
              <pc:sldMasterMk cId="617807056" sldId="2147483717"/>
              <pc:sldLayoutMk cId="2536050113" sldId="2147483766"/>
              <ac:spMk id="4" creationId="{D4945255-4D54-BD6F-F948-3B2AF5A407AD}"/>
            </ac:spMkLst>
          </pc:spChg>
          <pc:spChg chg="mod">
            <ac:chgData name="Vinay Kumar" userId="fc0dd98f-5f4d-4520-b687-f2de8019eab1" providerId="ADAL" clId="{675A18D8-4606-490B-B197-ECE7E84AA4EA}" dt="2026-10-07T22:30:19.715" v="5"/>
            <ac:spMkLst>
              <pc:docMk/>
              <pc:sldMasterMk cId="617807056" sldId="2147483717"/>
              <pc:sldLayoutMk cId="2536050113" sldId="2147483766"/>
              <ac:spMk id="6" creationId="{D0E6E8BE-2736-1222-838E-6E63376063C9}"/>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1713357719" sldId="2147483767"/>
          </pc:sldLayoutMkLst>
          <pc:spChg chg="mod">
            <ac:chgData name="Vinay Kumar" userId="fc0dd98f-5f4d-4520-b687-f2de8019eab1" providerId="ADAL" clId="{675A18D8-4606-490B-B197-ECE7E84AA4EA}" dt="2026-10-07T22:30:19.715" v="5"/>
            <ac:spMkLst>
              <pc:docMk/>
              <pc:sldMasterMk cId="617807056" sldId="2147483717"/>
              <pc:sldLayoutMk cId="1713357719" sldId="2147483767"/>
              <ac:spMk id="3" creationId="{111B5BBF-3656-D3C3-5A83-CACD136FC2CA}"/>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2134430629" sldId="2147483768"/>
          </pc:sldLayoutMkLst>
          <pc:spChg chg="mod">
            <ac:chgData name="Vinay Kumar" userId="fc0dd98f-5f4d-4520-b687-f2de8019eab1" providerId="ADAL" clId="{675A18D8-4606-490B-B197-ECE7E84AA4EA}" dt="2026-10-07T22:30:19.715" v="5"/>
            <ac:spMkLst>
              <pc:docMk/>
              <pc:sldMasterMk cId="617807056" sldId="2147483717"/>
              <pc:sldLayoutMk cId="2134430629" sldId="2147483768"/>
              <ac:spMk id="3" creationId="{111B5BBF-3656-D3C3-5A83-CACD136FC2CA}"/>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206945954" sldId="2147483769"/>
          </pc:sldLayoutMkLst>
          <pc:spChg chg="mod">
            <ac:chgData name="Vinay Kumar" userId="fc0dd98f-5f4d-4520-b687-f2de8019eab1" providerId="ADAL" clId="{675A18D8-4606-490B-B197-ECE7E84AA4EA}" dt="2026-10-07T22:30:19.715" v="5"/>
            <ac:spMkLst>
              <pc:docMk/>
              <pc:sldMasterMk cId="617807056" sldId="2147483717"/>
              <pc:sldLayoutMk cId="206945954" sldId="2147483769"/>
              <ac:spMk id="2" creationId="{598F0E86-E33C-1C9A-B1D6-25E39CA4FF73}"/>
            </ac:spMkLst>
          </pc:spChg>
        </pc:sldLayoutChg>
        <pc:sldLayoutChg chg="modSp mod ord">
          <pc:chgData name="Vinay Kumar" userId="fc0dd98f-5f4d-4520-b687-f2de8019eab1" providerId="ADAL" clId="{675A18D8-4606-490B-B197-ECE7E84AA4EA}" dt="2026-10-07T22:30:19.715" v="5"/>
          <pc:sldLayoutMkLst>
            <pc:docMk/>
            <pc:sldMasterMk cId="617807056" sldId="2147483717"/>
            <pc:sldLayoutMk cId="2022628616" sldId="2147483770"/>
          </pc:sldLayoutMkLst>
          <pc:spChg chg="mod">
            <ac:chgData name="Vinay Kumar" userId="fc0dd98f-5f4d-4520-b687-f2de8019eab1" providerId="ADAL" clId="{675A18D8-4606-490B-B197-ECE7E84AA4EA}" dt="2026-10-07T22:30:19.715" v="5"/>
            <ac:spMkLst>
              <pc:docMk/>
              <pc:sldMasterMk cId="617807056" sldId="2147483717"/>
              <pc:sldLayoutMk cId="2022628616" sldId="2147483770"/>
              <ac:spMk id="170" creationId="{00000000-0000-0000-0000-000000000000}"/>
            </ac:spMkLst>
          </pc:spChg>
        </pc:sldLayoutChg>
      </pc:sldMasterChg>
      <pc:sldMasterChg chg="del sldLayoutOrd">
        <pc:chgData name="Vinay Kumar" userId="fc0dd98f-5f4d-4520-b687-f2de8019eab1" providerId="ADAL" clId="{675A18D8-4606-490B-B197-ECE7E84AA4EA}" dt="2026-10-07T22:30:19.737" v="6"/>
        <pc:sldMasterMkLst>
          <pc:docMk/>
          <pc:sldMasterMk cId="1973136967" sldId="2147483730"/>
        </pc:sldMasterMkLst>
      </pc:sldMasterChg>
      <pc:sldMasterChg chg="del sldLayoutOrd">
        <pc:chgData name="Vinay Kumar" userId="fc0dd98f-5f4d-4520-b687-f2de8019eab1" providerId="ADAL" clId="{675A18D8-4606-490B-B197-ECE7E84AA4EA}" dt="2026-10-07T22:30:19.737" v="6"/>
        <pc:sldMasterMkLst>
          <pc:docMk/>
          <pc:sldMasterMk cId="3592627373" sldId="2147483756"/>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1B2259-9883-6F94-1165-B4F149D910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EC2DFEC-917D-E7FD-8926-11E6D834EB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3DF90-B6E1-4448-A065-6EC0CBAAEEAA}" type="datetimeFigureOut">
              <a:rPr lang="en-US" smtClean="0"/>
              <a:t>10/8/2026</a:t>
            </a:fld>
            <a:endParaRPr lang="en-US"/>
          </a:p>
        </p:txBody>
      </p:sp>
      <p:sp>
        <p:nvSpPr>
          <p:cNvPr id="4" name="Footer Placeholder 3">
            <a:extLst>
              <a:ext uri="{FF2B5EF4-FFF2-40B4-BE49-F238E27FC236}">
                <a16:creationId xmlns:a16="http://schemas.microsoft.com/office/drawing/2014/main" id="{CC588B84-9FF3-B2B6-03B4-760A9E1406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4CFA06-FBBA-EA5B-5C6A-264498FA203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DF99D79-6FE1-1B41-9FA7-F185D9BA747C}" type="slidenum">
              <a:rPr lang="en-US" smtClean="0"/>
              <a:t>‹#›</a:t>
            </a:fld>
            <a:endParaRPr lang="en-US"/>
          </a:p>
        </p:txBody>
      </p:sp>
    </p:spTree>
    <p:extLst>
      <p:ext uri="{BB962C8B-B14F-4D97-AF65-F5344CB8AC3E}">
        <p14:creationId xmlns:p14="http://schemas.microsoft.com/office/powerpoint/2010/main" val="39958755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anrope"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anrope" pitchFamily="2" charset="0"/>
              </a:defRPr>
            </a:lvl1pPr>
          </a:lstStyle>
          <a:p>
            <a:fld id="{ECAE251F-E50B-4AA0-A361-BF69B56A7095}" type="datetimeFigureOut">
              <a:rPr lang="en-US" smtClean="0"/>
              <a:pPr/>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anrope"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anrope" pitchFamily="2" charset="0"/>
              </a:defRPr>
            </a:lvl1pPr>
          </a:lstStyle>
          <a:p>
            <a:fld id="{331CD59D-0597-43DC-9404-9BA5D1B50171}" type="slidenum">
              <a:rPr lang="en-US" smtClean="0"/>
              <a:pPr/>
              <a:t>‹#›</a:t>
            </a:fld>
            <a:endParaRPr lang="en-US"/>
          </a:p>
        </p:txBody>
      </p:sp>
    </p:spTree>
    <p:extLst>
      <p:ext uri="{BB962C8B-B14F-4D97-AF65-F5344CB8AC3E}">
        <p14:creationId xmlns:p14="http://schemas.microsoft.com/office/powerpoint/2010/main" val="2699819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anrope" pitchFamily="2" charset="0"/>
        <a:ea typeface="+mn-ea"/>
        <a:cs typeface="+mn-cs"/>
      </a:defRPr>
    </a:lvl1pPr>
    <a:lvl2pPr marL="457200" algn="l" defTabSz="914400" rtl="0" eaLnBrk="1" latinLnBrk="0" hangingPunct="1">
      <a:defRPr sz="1200" kern="1200">
        <a:solidFill>
          <a:schemeClr val="tx1"/>
        </a:solidFill>
        <a:latin typeface="Manrope" pitchFamily="2" charset="0"/>
        <a:ea typeface="+mn-ea"/>
        <a:cs typeface="+mn-cs"/>
      </a:defRPr>
    </a:lvl2pPr>
    <a:lvl3pPr marL="914400" algn="l" defTabSz="914400" rtl="0" eaLnBrk="1" latinLnBrk="0" hangingPunct="1">
      <a:defRPr sz="1200" kern="1200">
        <a:solidFill>
          <a:schemeClr val="tx1"/>
        </a:solidFill>
        <a:latin typeface="Manrope" pitchFamily="2" charset="0"/>
        <a:ea typeface="+mn-ea"/>
        <a:cs typeface="+mn-cs"/>
      </a:defRPr>
    </a:lvl3pPr>
    <a:lvl4pPr marL="1371600" algn="l" defTabSz="914400" rtl="0" eaLnBrk="1" latinLnBrk="0" hangingPunct="1">
      <a:defRPr sz="1200" kern="1200">
        <a:solidFill>
          <a:schemeClr val="tx1"/>
        </a:solidFill>
        <a:latin typeface="Manrope" pitchFamily="2" charset="0"/>
        <a:ea typeface="+mn-ea"/>
        <a:cs typeface="+mn-cs"/>
      </a:defRPr>
    </a:lvl4pPr>
    <a:lvl5pPr marL="1828800" algn="l" defTabSz="914400" rtl="0" eaLnBrk="1" latinLnBrk="0" hangingPunct="1">
      <a:defRPr sz="1200" kern="1200">
        <a:solidFill>
          <a:schemeClr val="tx1"/>
        </a:solidFill>
        <a:latin typeface="Manrope"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4247100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5BC04D-0D78-49A3-B1E0-AE3C7BA6C3E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6442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E8B4D-5027-4985-69E6-0C1413737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74589-A55C-AFAB-945E-58E2FB47F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9F591-CC73-8F3C-9C53-00E884BBCF80}"/>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BACB20C9-E80F-1F53-013A-1CF75FFFD0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2322784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664AE4C3-EAD6-4A73-B96D-788C1ABBBF67}" type="slidenum">
              <a:rPr lang="en-US" smtClean="0"/>
              <a:t>4</a:t>
            </a:fld>
            <a:endParaRPr lang="en-US"/>
          </a:p>
        </p:txBody>
      </p:sp>
    </p:spTree>
    <p:extLst>
      <p:ext uri="{BB962C8B-B14F-4D97-AF65-F5344CB8AC3E}">
        <p14:creationId xmlns:p14="http://schemas.microsoft.com/office/powerpoint/2010/main" val="2673530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50B7-073A-2E25-D78B-FB5603D72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F3BE7-8D62-7E51-707E-3B8F850246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C5BC4A-20FC-A237-BB8D-33A7B22F1E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0A2A84-0550-7A3A-0F6E-C1DAC73008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0A7755-F93B-B949-AC21-50ADC7A3FC3B}"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1362521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812AA-4192-BBA7-0DBE-9B3E4D2D6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AB4F9-6482-0BEF-FD41-1C52CDC2F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E88A36-66E9-5F3A-5C31-83FA0059D0BE}"/>
              </a:ext>
            </a:extLst>
          </p:cNvPr>
          <p:cNvSpPr>
            <a:spLocks noGrp="1"/>
          </p:cNvSpPr>
          <p:nvPr>
            <p:ph type="body" idx="1"/>
          </p:nvPr>
        </p:nvSpPr>
        <p:spPr/>
        <p:txBody>
          <a:bodyPr/>
          <a:lstStyle/>
          <a:p>
            <a:pPr marL="0" indent="0">
              <a:buNone/>
            </a:pPr>
            <a:endParaRPr lang="en-US" sz="1000" b="0"/>
          </a:p>
        </p:txBody>
      </p:sp>
      <p:sp>
        <p:nvSpPr>
          <p:cNvPr id="4" name="Slide Number Placeholder 3">
            <a:extLst>
              <a:ext uri="{FF2B5EF4-FFF2-40B4-BE49-F238E27FC236}">
                <a16:creationId xmlns:a16="http://schemas.microsoft.com/office/drawing/2014/main" id="{3833747F-A3F9-4216-20D6-B204A132E7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3488690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7</a:t>
            </a:fld>
            <a:endParaRPr lang="en-US"/>
          </a:p>
        </p:txBody>
      </p:sp>
    </p:spTree>
    <p:extLst>
      <p:ext uri="{BB962C8B-B14F-4D97-AF65-F5344CB8AC3E}">
        <p14:creationId xmlns:p14="http://schemas.microsoft.com/office/powerpoint/2010/main" val="2803209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1B9AB-C925-316D-AF5C-B00EC5526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4151C-85C3-9905-9B07-E0FDEF5F4B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4BC6B-E730-B04D-6A62-D11FB0307A94}"/>
              </a:ext>
            </a:extLst>
          </p:cNvPr>
          <p:cNvSpPr>
            <a:spLocks noGrp="1"/>
          </p:cNvSpPr>
          <p:nvPr>
            <p:ph type="body" idx="1"/>
          </p:nvPr>
        </p:nvSpPr>
        <p:spPr/>
        <p:txBody>
          <a:bodyPr/>
          <a:lstStyle/>
          <a:p>
            <a:pPr marL="0" indent="0">
              <a:buNone/>
            </a:pPr>
            <a:endParaRPr lang="en-US" sz="1000" b="0"/>
          </a:p>
        </p:txBody>
      </p:sp>
      <p:sp>
        <p:nvSpPr>
          <p:cNvPr id="4" name="Slide Number Placeholder 3">
            <a:extLst>
              <a:ext uri="{FF2B5EF4-FFF2-40B4-BE49-F238E27FC236}">
                <a16:creationId xmlns:a16="http://schemas.microsoft.com/office/drawing/2014/main" id="{AD4EED37-E1E0-0CE9-901A-6B7E22C9EC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3861003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9DE1A-1F55-ABD4-E15A-09322FA02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6C731-B451-E815-E31C-4F950EF73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2CE418-1BD4-5743-50F3-CA23C457EAE1}"/>
              </a:ext>
            </a:extLst>
          </p:cNvPr>
          <p:cNvSpPr>
            <a:spLocks noGrp="1"/>
          </p:cNvSpPr>
          <p:nvPr>
            <p:ph type="body" idx="1"/>
          </p:nvPr>
        </p:nvSpPr>
        <p:spPr/>
        <p:txBody>
          <a:bodyPr/>
          <a:lstStyle/>
          <a:p>
            <a:pPr marL="0" indent="0">
              <a:buNone/>
            </a:pPr>
            <a:endParaRPr lang="en-US" sz="1000" b="0"/>
          </a:p>
        </p:txBody>
      </p:sp>
      <p:sp>
        <p:nvSpPr>
          <p:cNvPr id="4" name="Slide Number Placeholder 3">
            <a:extLst>
              <a:ext uri="{FF2B5EF4-FFF2-40B4-BE49-F238E27FC236}">
                <a16:creationId xmlns:a16="http://schemas.microsoft.com/office/drawing/2014/main" id="{E81485C9-FF6A-E687-43CF-03F2B78FB1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2608215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876E2-E127-4668-180B-FF6D79EFF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92E50-34DF-0358-17C3-8C77FAA3C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A51E3-20FF-7C52-92C0-72CD82A0A460}"/>
              </a:ext>
            </a:extLst>
          </p:cNvPr>
          <p:cNvSpPr>
            <a:spLocks noGrp="1"/>
          </p:cNvSpPr>
          <p:nvPr>
            <p:ph type="body" idx="1"/>
          </p:nvPr>
        </p:nvSpPr>
        <p:spPr/>
        <p:txBody>
          <a:bodyPr/>
          <a:lstStyle/>
          <a:p>
            <a:pPr marL="0" indent="0">
              <a:buNone/>
            </a:pPr>
            <a:endParaRPr lang="en-US" sz="1000" b="0"/>
          </a:p>
        </p:txBody>
      </p:sp>
      <p:sp>
        <p:nvSpPr>
          <p:cNvPr id="4" name="Slide Number Placeholder 3">
            <a:extLst>
              <a:ext uri="{FF2B5EF4-FFF2-40B4-BE49-F238E27FC236}">
                <a16:creationId xmlns:a16="http://schemas.microsoft.com/office/drawing/2014/main" id="{C375DDE9-7EDE-86A1-7846-E38B6A2715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629837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68B46-08DE-AD93-EE92-7E2ABC407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FAF07-5553-919B-B6A3-7CDAA65D7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6A25A-03DD-28A5-F87E-C0AB97ED65A7}"/>
              </a:ext>
            </a:extLst>
          </p:cNvPr>
          <p:cNvSpPr>
            <a:spLocks noGrp="1"/>
          </p:cNvSpPr>
          <p:nvPr>
            <p:ph type="body" idx="1"/>
          </p:nvPr>
        </p:nvSpPr>
        <p:spPr/>
        <p:txBody>
          <a:bodyPr/>
          <a:lstStyle/>
          <a:p>
            <a:pPr marL="0" indent="0">
              <a:buNone/>
            </a:pPr>
            <a:endParaRPr lang="en-US" sz="1000" b="0"/>
          </a:p>
        </p:txBody>
      </p:sp>
      <p:sp>
        <p:nvSpPr>
          <p:cNvPr id="4" name="Slide Number Placeholder 3">
            <a:extLst>
              <a:ext uri="{FF2B5EF4-FFF2-40B4-BE49-F238E27FC236}">
                <a16:creationId xmlns:a16="http://schemas.microsoft.com/office/drawing/2014/main" id="{ECC788C2-544B-A153-A7CA-D46F2ED03B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2294425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378CD-3690-FB38-E9CB-782AA975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D9CFE-7CCE-38A1-E9EB-77499CF9A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BE792-F7BF-7C32-43E0-AC346A539D38}"/>
              </a:ext>
            </a:extLst>
          </p:cNvPr>
          <p:cNvSpPr>
            <a:spLocks noGrp="1"/>
          </p:cNvSpPr>
          <p:nvPr>
            <p:ph type="body" idx="1"/>
          </p:nvPr>
        </p:nvSpPr>
        <p:spPr/>
        <p:txBody>
          <a:bodyPr/>
          <a:lstStyle/>
          <a:p>
            <a:pPr marL="0" indent="0">
              <a:buNone/>
            </a:pPr>
            <a:endParaRPr lang="en-US" sz="1000" b="0"/>
          </a:p>
        </p:txBody>
      </p:sp>
      <p:sp>
        <p:nvSpPr>
          <p:cNvPr id="4" name="Slide Number Placeholder 3">
            <a:extLst>
              <a:ext uri="{FF2B5EF4-FFF2-40B4-BE49-F238E27FC236}">
                <a16:creationId xmlns:a16="http://schemas.microsoft.com/office/drawing/2014/main" id="{457995B0-2CDB-285C-2EE9-7DBA071807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1941912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17</a:t>
            </a:fld>
            <a:endParaRPr lang="en-US"/>
          </a:p>
        </p:txBody>
      </p:sp>
    </p:spTree>
    <p:extLst>
      <p:ext uri="{BB962C8B-B14F-4D97-AF65-F5344CB8AC3E}">
        <p14:creationId xmlns:p14="http://schemas.microsoft.com/office/powerpoint/2010/main" val="1500829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3570759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2B54B-EA7D-AD5F-D46B-DA7A36EA9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85C4F-0ACE-4BA8-B7CD-04370081B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86885-033C-B035-77FA-8482BC25DF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4802BD-1D47-C72A-E03D-3304A72676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2648642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E92E6-D9FB-41E5-0C9C-C05FE024B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8D656-4820-35E3-0A20-E78996C99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9BE384-83E4-8AA1-05A7-4DB5394E9D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4B8F66-70B3-2813-A38F-F32B8AA1B9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2559394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4AE4C3-EAD6-4A73-B96D-788C1ABBBF6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9810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2444706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83860-2C48-807B-2451-329A8DA5F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B6D0B-CDCB-531A-0F54-900AD422C4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2912FD-1ED8-5BA7-B0E0-E27CE8C436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1B2241-A55A-7C29-94C8-88D4FD6A53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1120751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B1479-645D-A556-1233-B73CCB1CE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29B28-2793-FF41-42B4-4AB6DA767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41021-A4C6-AD51-F956-5CAD9087AE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F78E98-39AA-490A-4FC3-EF9BA4A1C1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42241499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A7AEB-BACC-4C72-C741-EF22B94F1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E0BA4-73B4-854C-97A7-7E75F8482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BF49C-CC4F-AB4E-CCF5-039EE3F5AC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2D8405-8AD5-42EB-8718-064EC33A84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4AE4C3-EAD6-4A73-B96D-788C1ABBBF6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877071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6E19E-DD65-AE18-DCAE-EDF5F2F55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985E9-2AFE-C6A2-3B38-BEF5F2AC1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B5019-3906-557B-68A8-7D64B3967A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742936-A88B-AC52-DA5E-4449F8CD03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706C0D-1B49-4B03-845B-A0907DC2A74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26417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CD11D-7EAA-C958-F148-C3BA0BC39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68D4A-9B52-670A-FA47-6BFCF305D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211E0E-132F-7BDF-C47D-C16D9CAB1A7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C433C0-3740-4D59-790E-17B55A170F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706C0D-1B49-4B03-845B-A0907DC2A74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84141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5A824-3471-D16E-7A76-268053A45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E81F9-03F8-290B-06C5-4646D1E056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E45CD-1A66-0D38-0732-3E167DE8D7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8E6E96-9748-444A-B5EE-2BF95C6B5D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706C0D-1B49-4B03-845B-A0907DC2A74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72821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2604F-6F95-4DE8-81D9-10A0FC81A5D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1363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8EEB3-E38C-3F90-CF0F-93049D8A5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55192-4793-F68A-78B1-048F81D69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2E6AA-B334-6C61-A021-71BAD1546D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2726C5-3DC5-8A48-7B45-B42A96EB0F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33840917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F7447-9EF8-8E21-7F2B-62934F75E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EC0D7-6317-BD92-1719-84A38606E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67343-D351-72FE-1245-BC39EF5AE3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5DD205-2D5B-E34E-724E-DD28EBA7BC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2734931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34827-84EA-02B1-BD18-938B8A989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C4CC7-A9C1-13F5-8493-0C7F9CF5E0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1D692B-0751-9336-41C1-11F880E685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64A84D-AA6F-0839-0D30-CA80580E80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2604F-6F95-4DE8-81D9-10A0FC81A5D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12537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8BD01-F21E-4547-469A-6C163F66D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2B353-DC93-3647-3487-73F5CD4295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02409-56EA-D440-67AC-1A392FFC54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B0EB2B-4A2C-491B-08AE-8428DE8C294E}"/>
              </a:ext>
            </a:extLst>
          </p:cNvPr>
          <p:cNvSpPr>
            <a:spLocks noGrp="1"/>
          </p:cNvSpPr>
          <p:nvPr>
            <p:ph type="sldNum" sz="quarter" idx="5"/>
          </p:nvPr>
        </p:nvSpPr>
        <p:spPr/>
        <p:txBody>
          <a:bodyPr/>
          <a:lstStyle/>
          <a:p>
            <a:fld id="{331CD59D-0597-43DC-9404-9BA5D1B50171}" type="slidenum">
              <a:rPr lang="en-US" smtClean="0"/>
              <a:pPr/>
              <a:t>39</a:t>
            </a:fld>
            <a:endParaRPr lang="en-US"/>
          </a:p>
        </p:txBody>
      </p:sp>
    </p:spTree>
    <p:extLst>
      <p:ext uri="{BB962C8B-B14F-4D97-AF65-F5344CB8AC3E}">
        <p14:creationId xmlns:p14="http://schemas.microsoft.com/office/powerpoint/2010/main" val="11043781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40</a:t>
            </a:fld>
            <a:endParaRPr lang="en-US"/>
          </a:p>
        </p:txBody>
      </p:sp>
    </p:spTree>
    <p:extLst>
      <p:ext uri="{BB962C8B-B14F-4D97-AF65-F5344CB8AC3E}">
        <p14:creationId xmlns:p14="http://schemas.microsoft.com/office/powerpoint/2010/main" val="9673561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2B12C-4469-2542-1A63-BC522AC27B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B9ECD-0560-0F10-949A-AB9F6303D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7FD5BD-3223-2901-5A20-57C214D90D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0547B0E-DEE2-F3E9-1777-FCF97CD7B37B}"/>
              </a:ext>
            </a:extLst>
          </p:cNvPr>
          <p:cNvSpPr>
            <a:spLocks noGrp="1"/>
          </p:cNvSpPr>
          <p:nvPr>
            <p:ph type="sldNum" sz="quarter" idx="5"/>
          </p:nvPr>
        </p:nvSpPr>
        <p:spPr/>
        <p:txBody>
          <a:bodyPr/>
          <a:lstStyle/>
          <a:p>
            <a:fld id="{331CD59D-0597-43DC-9404-9BA5D1B50171}" type="slidenum">
              <a:rPr lang="en-US" smtClean="0"/>
              <a:pPr/>
              <a:t>41</a:t>
            </a:fld>
            <a:endParaRPr lang="en-US"/>
          </a:p>
        </p:txBody>
      </p:sp>
    </p:spTree>
    <p:extLst>
      <p:ext uri="{BB962C8B-B14F-4D97-AF65-F5344CB8AC3E}">
        <p14:creationId xmlns:p14="http://schemas.microsoft.com/office/powerpoint/2010/main" val="21804329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D0CDE-375F-6414-049B-265868713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0F163-5B94-4F32-CEA7-767B10DB1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C564F-065F-783E-D996-4D88252D5C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DBEC2C-A052-0CDA-5361-F667B39F7D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2604F-6F95-4DE8-81D9-10A0FC81A5D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49534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D7F-5348-CB5C-4CF3-3CA13BE24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FE3AC-7293-7E12-53F4-E19C6EF9F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3A8ED-BC90-FF2C-E976-A15B4F145A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FC4ABD-A35B-89F1-6DA7-A6676FBBE7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1207813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1B394-A0BE-3EF0-3BB7-EE18E1ADF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445DD-4315-DEAE-37FA-DD15AB77E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BCEFF0-39CD-C849-94F7-8CE39C023E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045168-EF10-7974-D957-86F78BD98D7B}"/>
              </a:ext>
            </a:extLst>
          </p:cNvPr>
          <p:cNvSpPr>
            <a:spLocks noGrp="1"/>
          </p:cNvSpPr>
          <p:nvPr>
            <p:ph type="sldNum" sz="quarter" idx="5"/>
          </p:nvPr>
        </p:nvSpPr>
        <p:spPr/>
        <p:txBody>
          <a:bodyPr/>
          <a:lstStyle/>
          <a:p>
            <a:fld id="{331CD59D-0597-43DC-9404-9BA5D1B50171}" type="slidenum">
              <a:rPr lang="en-US" smtClean="0"/>
              <a:pPr/>
              <a:t>44</a:t>
            </a:fld>
            <a:endParaRPr lang="en-US"/>
          </a:p>
        </p:txBody>
      </p:sp>
    </p:spTree>
    <p:extLst>
      <p:ext uri="{BB962C8B-B14F-4D97-AF65-F5344CB8AC3E}">
        <p14:creationId xmlns:p14="http://schemas.microsoft.com/office/powerpoint/2010/main" val="27951177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AA3C-EC08-DA13-6CF9-9601C408D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DADC7-2700-CF5A-F0C4-474645079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B65C0-9A23-C9A1-6B9F-E5677DF7CF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72B7C7-A6A9-643A-E9A4-B3F4768D25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19616197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0B77-46E8-48D3-644F-C9CD29120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F5AD3-433C-EB78-093E-3B109544E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3D22C-74BA-F64F-673D-D75F62B7DF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ED2ED1-52F7-9F9A-5162-4FD30E3F83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2604F-6F95-4DE8-81D9-10A0FC81A5D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5290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7E80F-A53B-4DA3-C85A-D97BAF7CC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DC81F-6871-AA04-7474-6EC3107BD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E6508-274F-A308-3B1E-B05221887C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D7677C-4425-49A4-529B-C24CC2D3E4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2604F-6F95-4DE8-81D9-10A0FC81A5D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25900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FCF06-0972-A9BD-F0F3-865F21983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C244F-F6D0-4612-F56B-098461C75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ADE6F-109E-EAF8-B46D-BB921137D8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E16D12-40FA-BEE7-F041-C1C689E4DE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2604F-6F95-4DE8-81D9-10A0FC81A5D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8684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283D1-B61B-F147-25B8-30726554F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17693-F4B7-D8C0-3D8C-677BDCBF3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045FD-56A1-8231-C921-1DAABDA11C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9987B2-6A13-3DA7-50D0-F426B54C6C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2604F-6F95-4DE8-81D9-10A0FC81A5D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47305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9F8F9-0565-4A14-B830-17C01F6391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476A0-1342-9DD7-513F-9A383394C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2E733-388C-9778-6A8E-80B20404D9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ECA5E4-BDEB-0871-611E-F76BC06468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2604F-6F95-4DE8-81D9-10A0FC81A5D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84603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C362-91D5-5266-59BE-AE4975093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999D3-7D47-F312-7FDC-468E5B23F9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2DB8F-45B6-28ED-A647-AC93987D66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1E9F43-8543-FD3C-88B0-C0C4EE172994}"/>
              </a:ext>
            </a:extLst>
          </p:cNvPr>
          <p:cNvSpPr>
            <a:spLocks noGrp="1"/>
          </p:cNvSpPr>
          <p:nvPr>
            <p:ph type="sldNum" sz="quarter" idx="5"/>
          </p:nvPr>
        </p:nvSpPr>
        <p:spPr/>
        <p:txBody>
          <a:bodyPr/>
          <a:lstStyle/>
          <a:p>
            <a:fld id="{331CD59D-0597-43DC-9404-9BA5D1B50171}" type="slidenum">
              <a:rPr lang="en-US" smtClean="0"/>
              <a:pPr/>
              <a:t>51</a:t>
            </a:fld>
            <a:endParaRPr lang="en-US"/>
          </a:p>
        </p:txBody>
      </p:sp>
    </p:spTree>
    <p:extLst>
      <p:ext uri="{BB962C8B-B14F-4D97-AF65-F5344CB8AC3E}">
        <p14:creationId xmlns:p14="http://schemas.microsoft.com/office/powerpoint/2010/main" val="29924885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0F1F3-E612-ADCC-C164-F89E55985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95C28-D1A8-2AD9-86FA-0C5320D6B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03294-C354-1B13-679F-F965E08FEC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F666DF-B96E-0F5C-0F15-0E2B9B75690E}"/>
              </a:ext>
            </a:extLst>
          </p:cNvPr>
          <p:cNvSpPr>
            <a:spLocks noGrp="1"/>
          </p:cNvSpPr>
          <p:nvPr>
            <p:ph type="sldNum" sz="quarter" idx="5"/>
          </p:nvPr>
        </p:nvSpPr>
        <p:spPr/>
        <p:txBody>
          <a:bodyPr/>
          <a:lstStyle/>
          <a:p>
            <a:fld id="{331CD59D-0597-43DC-9404-9BA5D1B50171}" type="slidenum">
              <a:rPr lang="en-US" smtClean="0"/>
              <a:pPr/>
              <a:t>52</a:t>
            </a:fld>
            <a:endParaRPr lang="en-US"/>
          </a:p>
        </p:txBody>
      </p:sp>
    </p:spTree>
    <p:extLst>
      <p:ext uri="{BB962C8B-B14F-4D97-AF65-F5344CB8AC3E}">
        <p14:creationId xmlns:p14="http://schemas.microsoft.com/office/powerpoint/2010/main" val="4203714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4287A-1D92-4916-F09C-AF4E860967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3C009-BA44-6AA8-4C99-9B6FA27D0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978D3C-3BFF-1452-61A6-0188CB7E39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C79526-A689-36E2-762C-BBA4CFF2590F}"/>
              </a:ext>
            </a:extLst>
          </p:cNvPr>
          <p:cNvSpPr>
            <a:spLocks noGrp="1"/>
          </p:cNvSpPr>
          <p:nvPr>
            <p:ph type="sldNum" sz="quarter" idx="5"/>
          </p:nvPr>
        </p:nvSpPr>
        <p:spPr/>
        <p:txBody>
          <a:bodyPr/>
          <a:lstStyle/>
          <a:p>
            <a:fld id="{331CD59D-0597-43DC-9404-9BA5D1B50171}" type="slidenum">
              <a:rPr lang="en-US" smtClean="0"/>
              <a:pPr/>
              <a:t>53</a:t>
            </a:fld>
            <a:endParaRPr lang="en-US"/>
          </a:p>
        </p:txBody>
      </p:sp>
    </p:spTree>
    <p:extLst>
      <p:ext uri="{BB962C8B-B14F-4D97-AF65-F5344CB8AC3E}">
        <p14:creationId xmlns:p14="http://schemas.microsoft.com/office/powerpoint/2010/main" val="10530833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7A34A-4034-8777-543B-97324107C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91BB9-22BE-EF77-882E-9996BB646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FA09D-C1EE-60B6-2EBF-633F51D65130}"/>
              </a:ext>
            </a:extLst>
          </p:cNvPr>
          <p:cNvSpPr>
            <a:spLocks noGrp="1"/>
          </p:cNvSpPr>
          <p:nvPr>
            <p:ph type="body" idx="1"/>
          </p:nvPr>
        </p:nvSpPr>
        <p:spPr/>
        <p:txBody>
          <a:bodyPr/>
          <a:lstStyle/>
          <a:p>
            <a:pPr algn="l"/>
            <a:endParaRPr lang="en-US"/>
          </a:p>
        </p:txBody>
      </p:sp>
      <p:sp>
        <p:nvSpPr>
          <p:cNvPr id="4" name="Slide Number Placeholder 3">
            <a:extLst>
              <a:ext uri="{FF2B5EF4-FFF2-40B4-BE49-F238E27FC236}">
                <a16:creationId xmlns:a16="http://schemas.microsoft.com/office/drawing/2014/main" id="{C5B254D4-C59C-99A3-4821-7671F2B52D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1CD59D-0597-43DC-9404-9BA5D1B50171}" type="slidenum">
              <a:rPr kumimoji="0" lang="en-US" sz="1200" b="0" i="0" u="none" strike="noStrike" kern="1200" cap="none" spc="0" normalizeH="0" baseline="0" noProof="0" smtClean="0">
                <a:ln>
                  <a:noFill/>
                </a:ln>
                <a:solidFill>
                  <a:prstClr val="black"/>
                </a:solidFill>
                <a:effectLst/>
                <a:uLnTx/>
                <a:uFillTx/>
                <a:latin typeface="Manrop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Manrope" pitchFamily="2" charset="0"/>
              <a:ea typeface="+mn-ea"/>
              <a:cs typeface="+mn-cs"/>
            </a:endParaRPr>
          </a:p>
        </p:txBody>
      </p:sp>
    </p:spTree>
    <p:extLst>
      <p:ext uri="{BB962C8B-B14F-4D97-AF65-F5344CB8AC3E}">
        <p14:creationId xmlns:p14="http://schemas.microsoft.com/office/powerpoint/2010/main" val="38502807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a:t>Click to edit title</a:t>
            </a:r>
          </a:p>
        </p:txBody>
      </p:sp>
    </p:spTree>
    <p:extLst>
      <p:ext uri="{BB962C8B-B14F-4D97-AF65-F5344CB8AC3E}">
        <p14:creationId xmlns:p14="http://schemas.microsoft.com/office/powerpoint/2010/main" val="400784543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874428058"/>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1829FC-B089-D2DD-3CC6-A69756EF7DC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bg1"/>
                </a:solidFill>
                <a:latin typeface="+mn-lt"/>
                <a:ea typeface="+mn-ea"/>
                <a:cs typeface="Heebo" pitchFamily="2" charset="-79"/>
              </a:rPr>
              <a:t>© Hexaware Technologies. Confidential briefing. </a:t>
            </a:r>
            <a:endParaRPr lang="en-US" sz="700" kern="0" spc="50" baseline="0">
              <a:solidFill>
                <a:schemeClr val="bg1"/>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32421695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296452225"/>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Tree>
    <p:extLst>
      <p:ext uri="{BB962C8B-B14F-4D97-AF65-F5344CB8AC3E}">
        <p14:creationId xmlns:p14="http://schemas.microsoft.com/office/powerpoint/2010/main" val="1008626794"/>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814176257"/>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0512412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40" userDrawn="1">
          <p15:clr>
            <a:srgbClr val="FBAE40"/>
          </p15:clr>
        </p15:guide>
        <p15:guide id="5" orient="horz" pos="572" userDrawn="1">
          <p15:clr>
            <a:srgbClr val="FBAE40"/>
          </p15:clr>
        </p15:guide>
        <p15:guide id="6" pos="3795" userDrawn="1">
          <p15:clr>
            <a:srgbClr val="FBAE40"/>
          </p15:clr>
        </p15:guide>
        <p15:guide id="7" pos="40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1300655491"/>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40" userDrawn="1">
          <p15:clr>
            <a:srgbClr val="FBAE40"/>
          </p15:clr>
        </p15:guide>
        <p15:guide id="5" orient="horz" pos="572" userDrawn="1">
          <p15:clr>
            <a:srgbClr val="FBAE40"/>
          </p15:clr>
        </p15:guide>
        <p15:guide id="6" pos="3795" userDrawn="1">
          <p15:clr>
            <a:srgbClr val="FBAE40"/>
          </p15:clr>
        </p15:guide>
        <p15:guide id="7" pos="405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18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527092611"/>
      </p:ext>
    </p:extLst>
  </p:cSld>
  <p:clrMapOvr>
    <a:masterClrMapping/>
  </p:clrMapOvr>
  <p:extLst>
    <p:ext uri="{DCECCB84-F9BA-43D5-87BE-67443E8EF086}">
      <p15:sldGuideLst xmlns:p15="http://schemas.microsoft.com/office/powerpoint/2012/main">
        <p15:guide id="1" orient="horz" pos="3929" userDrawn="1">
          <p15:clr>
            <a:srgbClr val="FBAE40"/>
          </p15:clr>
        </p15:guide>
        <p15:guide id="2" pos="393" userDrawn="1">
          <p15:clr>
            <a:srgbClr val="FBAE40"/>
          </p15:clr>
        </p15:guide>
        <p15:guide id="3" orient="horz" pos="572" userDrawn="1">
          <p15:clr>
            <a:srgbClr val="FBAE40"/>
          </p15:clr>
        </p15:guide>
        <p15:guide id="4" pos="72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9658567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207398985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37702706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3442587381"/>
      </p:ext>
    </p:extLst>
  </p:cSld>
  <p:clrMapOvr>
    <a:masterClrMapping/>
  </p:clrMapOvr>
  <p:extLst>
    <p:ext uri="{DCECCB84-F9BA-43D5-87BE-67443E8EF086}">
      <p15:sldGuideLst xmlns:p15="http://schemas.microsoft.com/office/powerpoint/2012/main">
        <p15:guide id="1" orient="horz" pos="3929" userDrawn="1">
          <p15:clr>
            <a:srgbClr val="FBAE40"/>
          </p15:clr>
        </p15:guide>
        <p15:guide id="2" pos="393" userDrawn="1">
          <p15:clr>
            <a:srgbClr val="FBAE40"/>
          </p15:clr>
        </p15:guide>
        <p15:guide id="3" orient="horz" pos="232" userDrawn="1">
          <p15:clr>
            <a:srgbClr val="FBAE40"/>
          </p15:clr>
        </p15:guide>
        <p15:guide id="4" pos="728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1850668"/>
            <a:ext cx="5400675" cy="2983459"/>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9601925-951F-4EA8-91E5-A517312BFAAA}" type="slidenum">
              <a:rPr kumimoji="0" lang="en-US" sz="900" b="0" i="0" u="none" strike="noStrike" kern="1200" cap="none" spc="0" normalizeH="0" baseline="0" noProof="0" smtClean="0">
                <a:ln>
                  <a:noFill/>
                </a:ln>
                <a:solidFill>
                  <a:srgbClr val="000000"/>
                </a:solidFill>
                <a:effectLst/>
                <a:uLnTx/>
                <a:uFillTx/>
                <a:latin typeface="Manrope"/>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Manrope"/>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914401"/>
            <a:ext cx="540067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7" y="457200"/>
            <a:ext cx="5400675"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r>
              <a:rPr lang="en-US"/>
              <a:t>Case study: Client description</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700" b="0" i="0" u="none" strike="noStrike" kern="0" cap="none" spc="50" normalizeH="0" baseline="0" noProof="0">
                <a:ln>
                  <a:noFill/>
                </a:ln>
                <a:solidFill>
                  <a:srgbClr val="8088A7">
                    <a:lumMod val="75000"/>
                  </a:srgbClr>
                </a:solidFill>
                <a:effectLst/>
                <a:uLnTx/>
                <a:uFillTx/>
                <a:latin typeface="Manrope"/>
                <a:ea typeface="+mn-ea"/>
                <a:cs typeface="Heebo" pitchFamily="2" charset="-79"/>
              </a:rPr>
              <a:t>© Hexaware Technologies. Confidential briefing. </a:t>
            </a:r>
            <a:endParaRPr kumimoji="0" lang="en-US" sz="700" b="0" i="0" u="none" strike="noStrike" kern="0" cap="none" spc="50" normalizeH="0" baseline="0" noProof="0">
              <a:ln>
                <a:noFill/>
              </a:ln>
              <a:solidFill>
                <a:srgbClr val="8088A7">
                  <a:lumMod val="75000"/>
                </a:srgbClr>
              </a:solidFill>
              <a:effectLst/>
              <a:uLnTx/>
              <a:uFillTx/>
              <a:latin typeface="Manrope"/>
              <a:ea typeface="+mn-ea"/>
              <a:cs typeface="Heebo" pitchFamily="2" charset="-79"/>
            </a:endParaRPr>
          </a:p>
        </p:txBody>
      </p:sp>
    </p:spTree>
    <p:extLst>
      <p:ext uri="{BB962C8B-B14F-4D97-AF65-F5344CB8AC3E}">
        <p14:creationId xmlns:p14="http://schemas.microsoft.com/office/powerpoint/2010/main" val="3267711432"/>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035A9-CA38-4D1C-8252-136F6BB95F6D}"/>
              </a:ext>
            </a:extLst>
          </p:cNvPr>
          <p:cNvSpPr>
            <a:spLocks noGrp="1"/>
          </p:cNvSpPr>
          <p:nvPr>
            <p:ph type="ctrTitle"/>
          </p:nvPr>
        </p:nvSpPr>
        <p:spPr>
          <a:xfrm>
            <a:off x="745845" y="322729"/>
            <a:ext cx="9144000" cy="405934"/>
          </a:xfrm>
        </p:spPr>
        <p:txBody>
          <a:bodyPr anchor="ctr">
            <a:normAutofit/>
          </a:bodyPr>
          <a:lstStyle>
            <a:lvl1pPr algn="l">
              <a:lnSpc>
                <a:spcPct val="100000"/>
              </a:lnSpc>
              <a:defRPr sz="3600"/>
            </a:lvl1pPr>
          </a:lstStyle>
          <a:p>
            <a:r>
              <a:rPr lang="en-US"/>
              <a:t>Click to edit Master title style</a:t>
            </a:r>
            <a:endParaRPr lang="en-IN"/>
          </a:p>
        </p:txBody>
      </p:sp>
      <p:sp>
        <p:nvSpPr>
          <p:cNvPr id="3" name="Subtitle 2">
            <a:extLst>
              <a:ext uri="{FF2B5EF4-FFF2-40B4-BE49-F238E27FC236}">
                <a16:creationId xmlns:a16="http://schemas.microsoft.com/office/drawing/2014/main" id="{28B052BB-90FF-4680-800B-57BA80EA3D27}"/>
              </a:ext>
            </a:extLst>
          </p:cNvPr>
          <p:cNvSpPr>
            <a:spLocks noGrp="1"/>
          </p:cNvSpPr>
          <p:nvPr>
            <p:ph type="subTitle" idx="1"/>
          </p:nvPr>
        </p:nvSpPr>
        <p:spPr>
          <a:xfrm>
            <a:off x="745845" y="847445"/>
            <a:ext cx="9144000" cy="405934"/>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Slide Number Placeholder 5">
            <a:extLst>
              <a:ext uri="{FF2B5EF4-FFF2-40B4-BE49-F238E27FC236}">
                <a16:creationId xmlns:a16="http://schemas.microsoft.com/office/drawing/2014/main" id="{A4CD915B-9226-235B-87EE-306673D767B7}"/>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9601925-951F-4EA8-91E5-A517312BFAAA}" type="slidenum">
              <a:rPr kumimoji="0" lang="en-US" sz="900" b="0" i="0" u="none" strike="noStrike" kern="1200" cap="none" spc="0" normalizeH="0" baseline="0" noProof="0" smtClean="0">
                <a:ln>
                  <a:noFill/>
                </a:ln>
                <a:solidFill>
                  <a:srgbClr val="000000"/>
                </a:solidFill>
                <a:effectLst/>
                <a:uLnTx/>
                <a:uFillTx/>
                <a:latin typeface="Manrope"/>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Manrope"/>
            </a:endParaRPr>
          </a:p>
        </p:txBody>
      </p:sp>
    </p:spTree>
    <p:extLst>
      <p:ext uri="{BB962C8B-B14F-4D97-AF65-F5344CB8AC3E}">
        <p14:creationId xmlns:p14="http://schemas.microsoft.com/office/powerpoint/2010/main" val="421601303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410101317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Blank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9064912-4637-6B5D-9861-A0DF8DC73BDF}"/>
              </a:ext>
            </a:extLst>
          </p:cNvPr>
          <p:cNvSpPr>
            <a:spLocks noGrp="1"/>
          </p:cNvSpPr>
          <p:nvPr>
            <p:ph type="title"/>
          </p:nvPr>
        </p:nvSpPr>
        <p:spPr>
          <a:xfrm>
            <a:off x="339150" y="71502"/>
            <a:ext cx="9029703" cy="452432"/>
          </a:xfrm>
          <a:prstGeom prst="rect">
            <a:avLst/>
          </a:prstGeom>
        </p:spPr>
        <p:txBody>
          <a:bodyPr wrap="square" tIns="91440" bIns="91440" anchor="t" anchorCtr="0">
            <a:noAutofit/>
          </a:bodyPr>
          <a:lstStyle>
            <a:lvl1pPr>
              <a:lnSpc>
                <a:spcPct val="150000"/>
              </a:lnSpc>
              <a:defRPr lang="en-US" sz="1400" b="0" dirty="0">
                <a:solidFill>
                  <a:srgbClr val="73145C"/>
                </a:solidFill>
                <a:latin typeface="+mn-lt"/>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Click to edit Master title style</a:t>
            </a:r>
          </a:p>
        </p:txBody>
      </p:sp>
      <p:sp>
        <p:nvSpPr>
          <p:cNvPr id="7" name="Slide Number Placeholder 5">
            <a:extLst>
              <a:ext uri="{FF2B5EF4-FFF2-40B4-BE49-F238E27FC236}">
                <a16:creationId xmlns:a16="http://schemas.microsoft.com/office/drawing/2014/main" id="{2ADF4BEB-ADF7-B575-58C9-F68D49972D7A}"/>
              </a:ext>
            </a:extLst>
          </p:cNvPr>
          <p:cNvSpPr txBox="1">
            <a:spLocks/>
          </p:cNvSpPr>
          <p:nvPr userDrawn="1"/>
        </p:nvSpPr>
        <p:spPr>
          <a:xfrm>
            <a:off x="11602365" y="6622784"/>
            <a:ext cx="246862" cy="138499"/>
          </a:xfrm>
          <a:prstGeom prst="rect">
            <a:avLst/>
          </a:prstGeom>
          <a:noFill/>
          <a:ln w="9525">
            <a:noFill/>
            <a:miter lim="800000"/>
            <a:headEnd/>
            <a:tailEnd/>
          </a:ln>
          <a:effectLst/>
        </p:spPr>
        <p:txBody>
          <a:bodyPr wrap="non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kern="1200" smtClean="0">
                <a:solidFill>
                  <a:schemeClr val="tx1"/>
                </a:solidFill>
                <a:latin typeface="+mn-lt"/>
                <a:ea typeface="+mn-ea"/>
                <a:cs typeface="Calibri" panose="020F0502020204030204" pitchFamily="34" charset="0"/>
              </a:rPr>
              <a:pPr lvl="0" algn="r"/>
              <a:t>‹#›</a:t>
            </a:fld>
            <a:endParaRPr lang="en-US" sz="900" kern="1200">
              <a:solidFill>
                <a:schemeClr val="tx1"/>
              </a:solidFill>
              <a:latin typeface="+mn-lt"/>
              <a:ea typeface="+mn-ea"/>
              <a:cs typeface="Calibri" panose="020F0502020204030204" pitchFamily="34" charset="0"/>
            </a:endParaRPr>
          </a:p>
        </p:txBody>
      </p:sp>
      <p:pic>
        <p:nvPicPr>
          <p:cNvPr id="11" name="Graphic 10">
            <a:extLst>
              <a:ext uri="{FF2B5EF4-FFF2-40B4-BE49-F238E27FC236}">
                <a16:creationId xmlns:a16="http://schemas.microsoft.com/office/drawing/2014/main" id="{D6DA3588-98D6-284D-E9CC-8FF57943AC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32519" y="417403"/>
            <a:ext cx="1267023" cy="170071"/>
          </a:xfrm>
          <a:prstGeom prst="rect">
            <a:avLst/>
          </a:prstGeom>
        </p:spPr>
      </p:pic>
    </p:spTree>
    <p:extLst>
      <p:ext uri="{BB962C8B-B14F-4D97-AF65-F5344CB8AC3E}">
        <p14:creationId xmlns:p14="http://schemas.microsoft.com/office/powerpoint/2010/main" val="243619281"/>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a:t>Click to edit title</a:t>
            </a:r>
          </a:p>
        </p:txBody>
      </p:sp>
    </p:spTree>
    <p:extLst>
      <p:ext uri="{BB962C8B-B14F-4D97-AF65-F5344CB8AC3E}">
        <p14:creationId xmlns:p14="http://schemas.microsoft.com/office/powerpoint/2010/main" val="249588841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a:t>Click to edit title</a:t>
            </a:r>
          </a:p>
        </p:txBody>
      </p:sp>
    </p:spTree>
    <p:extLst>
      <p:ext uri="{BB962C8B-B14F-4D97-AF65-F5344CB8AC3E}">
        <p14:creationId xmlns:p14="http://schemas.microsoft.com/office/powerpoint/2010/main" val="424481601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716586086"/>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06878102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ver - Dark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2" name="Graphic 1">
            <a:extLst>
              <a:ext uri="{FF2B5EF4-FFF2-40B4-BE49-F238E27FC236}">
                <a16:creationId xmlns:a16="http://schemas.microsoft.com/office/drawing/2014/main" id="{996AE751-2F54-4367-5763-1CA2907051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3" name="Title 5">
            <a:extLst>
              <a:ext uri="{FF2B5EF4-FFF2-40B4-BE49-F238E27FC236}">
                <a16:creationId xmlns:a16="http://schemas.microsoft.com/office/drawing/2014/main" id="{DD50AA0C-0C3E-74E8-926C-4A0ADFFEE62A}"/>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bg1"/>
                </a:solidFill>
              </a:defRPr>
            </a:lvl1pPr>
          </a:lstStyle>
          <a:p>
            <a:pPr lvl="0"/>
            <a:r>
              <a:rPr lang="en-US"/>
              <a:t>Click to edit title</a:t>
            </a:r>
          </a:p>
        </p:txBody>
      </p:sp>
    </p:spTree>
    <p:extLst>
      <p:ext uri="{BB962C8B-B14F-4D97-AF65-F5344CB8AC3E}">
        <p14:creationId xmlns:p14="http://schemas.microsoft.com/office/powerpoint/2010/main" val="1925498146"/>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over - Dark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2" name="Graphic 1">
            <a:extLst>
              <a:ext uri="{FF2B5EF4-FFF2-40B4-BE49-F238E27FC236}">
                <a16:creationId xmlns:a16="http://schemas.microsoft.com/office/drawing/2014/main" id="{996AE751-2F54-4367-5763-1CA2907051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3" name="Title 5">
            <a:extLst>
              <a:ext uri="{FF2B5EF4-FFF2-40B4-BE49-F238E27FC236}">
                <a16:creationId xmlns:a16="http://schemas.microsoft.com/office/drawing/2014/main" id="{DD50AA0C-0C3E-74E8-926C-4A0ADFFEE62A}"/>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bg1"/>
                </a:solidFill>
              </a:defRPr>
            </a:lvl1pPr>
          </a:lstStyle>
          <a:p>
            <a:pPr lvl="0"/>
            <a:r>
              <a:rPr lang="en-US"/>
              <a:t>Click to edit title</a:t>
            </a:r>
          </a:p>
        </p:txBody>
      </p:sp>
    </p:spTree>
    <p:extLst>
      <p:ext uri="{BB962C8B-B14F-4D97-AF65-F5344CB8AC3E}">
        <p14:creationId xmlns:p14="http://schemas.microsoft.com/office/powerpoint/2010/main" val="304344787"/>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89440353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Tree>
    <p:extLst>
      <p:ext uri="{BB962C8B-B14F-4D97-AF65-F5344CB8AC3E}">
        <p14:creationId xmlns:p14="http://schemas.microsoft.com/office/powerpoint/2010/main" val="82490739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347827536"/>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907007621"/>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314250060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18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159694471"/>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572">
          <p15:clr>
            <a:srgbClr val="FBAE40"/>
          </p15:clr>
        </p15:guide>
        <p15:guide id="4" pos="728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54072027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329264963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4177835427"/>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1990126673"/>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232">
          <p15:clr>
            <a:srgbClr val="FBAE40"/>
          </p15:clr>
        </p15:guide>
        <p15:guide id="4" pos="728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3" name="Picture Placeholder 10">
            <a:extLst>
              <a:ext uri="{FF2B5EF4-FFF2-40B4-BE49-F238E27FC236}">
                <a16:creationId xmlns:a16="http://schemas.microsoft.com/office/drawing/2014/main" id="{96D0FD0B-1E7F-BAAE-1D8E-B5A4CF90CE39}"/>
              </a:ext>
            </a:extLst>
          </p:cNvPr>
          <p:cNvSpPr>
            <a:spLocks noGrp="1"/>
          </p:cNvSpPr>
          <p:nvPr>
            <p:ph type="pic" sz="quarter" idx="17" hasCustomPrompt="1"/>
          </p:nvPr>
        </p:nvSpPr>
        <p:spPr>
          <a:xfrm>
            <a:off x="7731760" y="890904"/>
            <a:ext cx="4460240" cy="5076191"/>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Tree>
    <p:extLst>
      <p:ext uri="{BB962C8B-B14F-4D97-AF65-F5344CB8AC3E}">
        <p14:creationId xmlns:p14="http://schemas.microsoft.com/office/powerpoint/2010/main" val="26058945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031795084"/>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2342348652"/>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18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1454153084"/>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572">
          <p15:clr>
            <a:srgbClr val="FBAE40"/>
          </p15:clr>
        </p15:guide>
        <p15:guide id="4" pos="728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61714246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874121702"/>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338396376"/>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1358013123"/>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232">
          <p15:clr>
            <a:srgbClr val="FBAE40"/>
          </p15:clr>
        </p15:guide>
        <p15:guide id="4" pos="728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1850668"/>
            <a:ext cx="5400675" cy="2983459"/>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914401"/>
            <a:ext cx="540067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7" y="457200"/>
            <a:ext cx="5400675"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r>
              <a:rPr lang="en-US"/>
              <a:t>Case study: Client description</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88974625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a:t>Click to edit title</a:t>
            </a:r>
          </a:p>
        </p:txBody>
      </p:sp>
    </p:spTree>
    <p:extLst>
      <p:ext uri="{BB962C8B-B14F-4D97-AF65-F5344CB8AC3E}">
        <p14:creationId xmlns:p14="http://schemas.microsoft.com/office/powerpoint/2010/main" val="600636517"/>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5" name="TextBox 4">
            <a:extLst>
              <a:ext uri="{FF2B5EF4-FFF2-40B4-BE49-F238E27FC236}">
                <a16:creationId xmlns:a16="http://schemas.microsoft.com/office/drawing/2014/main" id="{C8425869-D0D7-F515-1F59-E20A693944E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700" b="0" i="0" u="none" strike="noStrike" kern="0" cap="none" spc="50" normalizeH="0" baseline="0" noProof="0">
                <a:ln>
                  <a:noFill/>
                </a:ln>
                <a:solidFill>
                  <a:srgbClr val="8088A7">
                    <a:lumMod val="75000"/>
                  </a:srgbClr>
                </a:solidFill>
                <a:effectLst/>
                <a:uLnTx/>
                <a:uFillTx/>
                <a:latin typeface="Manrope"/>
                <a:ea typeface="+mn-ea"/>
                <a:cs typeface="Heebo" pitchFamily="2" charset="-79"/>
              </a:rPr>
              <a:t>© Hexaware Technologies. Confidential briefing. </a:t>
            </a:r>
            <a:endParaRPr kumimoji="0" lang="en-US" sz="700" b="0" i="0" u="none" strike="noStrike" kern="0" cap="none" spc="50" normalizeH="0" baseline="0" noProof="0">
              <a:ln>
                <a:noFill/>
              </a:ln>
              <a:solidFill>
                <a:srgbClr val="8088A7">
                  <a:lumMod val="75000"/>
                </a:srgbClr>
              </a:solidFill>
              <a:effectLst/>
              <a:uLnTx/>
              <a:uFillTx/>
              <a:latin typeface="Manrope"/>
              <a:ea typeface="+mn-ea"/>
              <a:cs typeface="Heebo" pitchFamily="2" charset="-79"/>
            </a:endParaRPr>
          </a:p>
        </p:txBody>
      </p:sp>
    </p:spTree>
    <p:extLst>
      <p:ext uri="{BB962C8B-B14F-4D97-AF65-F5344CB8AC3E}">
        <p14:creationId xmlns:p14="http://schemas.microsoft.com/office/powerpoint/2010/main" val="1105407312"/>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48586429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Tree>
    <p:extLst>
      <p:ext uri="{BB962C8B-B14F-4D97-AF65-F5344CB8AC3E}">
        <p14:creationId xmlns:p14="http://schemas.microsoft.com/office/powerpoint/2010/main" val="3634592380"/>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862587622"/>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1246230761"/>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a:t>
            </a:r>
            <a:endParaRPr lang="en-US" sz="700" kern="0" spc="50" baseline="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3766055112"/>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22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622749604"/>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572">
          <p15:clr>
            <a:srgbClr val="FBAE40"/>
          </p15:clr>
        </p15:guide>
        <p15:guide id="4" pos="728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87152676"/>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2047026535"/>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1651988161"/>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3846349029"/>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232">
          <p15:clr>
            <a:srgbClr val="FBAE40"/>
          </p15:clr>
        </p15:guide>
        <p15:guide id="4" pos="728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a:t>Click to edit title</a:t>
            </a:r>
          </a:p>
        </p:txBody>
      </p:sp>
    </p:spTree>
    <p:extLst>
      <p:ext uri="{BB962C8B-B14F-4D97-AF65-F5344CB8AC3E}">
        <p14:creationId xmlns:p14="http://schemas.microsoft.com/office/powerpoint/2010/main" val="190808456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Cover - Dark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2" name="Graphic 1">
            <a:extLst>
              <a:ext uri="{FF2B5EF4-FFF2-40B4-BE49-F238E27FC236}">
                <a16:creationId xmlns:a16="http://schemas.microsoft.com/office/drawing/2014/main" id="{996AE751-2F54-4367-5763-1CA2907051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3" name="Title 5">
            <a:extLst>
              <a:ext uri="{FF2B5EF4-FFF2-40B4-BE49-F238E27FC236}">
                <a16:creationId xmlns:a16="http://schemas.microsoft.com/office/drawing/2014/main" id="{DD50AA0C-0C3E-74E8-926C-4A0ADFFEE62A}"/>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bg1"/>
                </a:solidFill>
              </a:defRPr>
            </a:lvl1pPr>
          </a:lstStyle>
          <a:p>
            <a:pPr lvl="0"/>
            <a:r>
              <a:rPr lang="en-US"/>
              <a:t>Click to edit title</a:t>
            </a:r>
          </a:p>
        </p:txBody>
      </p:sp>
    </p:spTree>
    <p:extLst>
      <p:ext uri="{BB962C8B-B14F-4D97-AF65-F5344CB8AC3E}">
        <p14:creationId xmlns:p14="http://schemas.microsoft.com/office/powerpoint/2010/main" val="232904294"/>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62520021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89290084"/>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Tree>
    <p:extLst>
      <p:ext uri="{BB962C8B-B14F-4D97-AF65-F5344CB8AC3E}">
        <p14:creationId xmlns:p14="http://schemas.microsoft.com/office/powerpoint/2010/main" val="4269629688"/>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1647786887"/>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63341494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a:t>
            </a:r>
            <a:endParaRPr lang="en-US" sz="700" kern="0" spc="50" baseline="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2226398372"/>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40">
          <p15:clr>
            <a:srgbClr val="FBAE40"/>
          </p15:clr>
        </p15:guide>
        <p15:guide id="5" orient="horz" pos="572">
          <p15:clr>
            <a:srgbClr val="FBAE40"/>
          </p15:clr>
        </p15:guide>
        <p15:guide id="6" pos="3795">
          <p15:clr>
            <a:srgbClr val="FBAE40"/>
          </p15:clr>
        </p15:guide>
        <p15:guide id="7" pos="4056">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22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283157397"/>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572">
          <p15:clr>
            <a:srgbClr val="FBAE40"/>
          </p15:clr>
        </p15:guide>
        <p15:guide id="4" pos="728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53605011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171335771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a:t>
            </a:r>
            <a:endParaRPr lang="en-US" sz="700" kern="0" spc="50" baseline="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13443062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206945954"/>
      </p:ext>
    </p:extLst>
  </p:cSld>
  <p:clrMapOvr>
    <a:masterClrMapping/>
  </p:clrMapOvr>
  <p:extLst>
    <p:ext uri="{DCECCB84-F9BA-43D5-87BE-67443E8EF086}">
      <p15:sldGuideLst xmlns:p15="http://schemas.microsoft.com/office/powerpoint/2012/main">
        <p15:guide id="1" orient="horz" pos="3929">
          <p15:clr>
            <a:srgbClr val="FBAE40"/>
          </p15:clr>
        </p15:guide>
        <p15:guide id="2" pos="393">
          <p15:clr>
            <a:srgbClr val="FBAE40"/>
          </p15:clr>
        </p15:guide>
        <p15:guide id="3" orient="horz" pos="232">
          <p15:clr>
            <a:srgbClr val="FBAE40"/>
          </p15:clr>
        </p15:guide>
        <p15:guide id="4" pos="728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pic>
        <p:nvPicPr>
          <p:cNvPr id="169" name="Image" descr="Imag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598397" y="394801"/>
            <a:ext cx="664161" cy="87729"/>
          </a:xfrm>
          <a:prstGeom prst="rect">
            <a:avLst/>
          </a:prstGeom>
          <a:ln w="12700">
            <a:miter lim="400000"/>
          </a:ln>
        </p:spPr>
      </p:pic>
      <p:sp>
        <p:nvSpPr>
          <p:cNvPr id="170" name="Slide Number"/>
          <p:cNvSpPr txBox="1">
            <a:spLocks noGrp="1"/>
          </p:cNvSpPr>
          <p:nvPr>
            <p:ph type="sldNum" sz="quarter" idx="2"/>
          </p:nvPr>
        </p:nvSpPr>
        <p:spPr>
          <a:xfrm>
            <a:off x="6092825" y="6540500"/>
            <a:ext cx="184150" cy="222250"/>
          </a:xfrm>
          <a:prstGeom prst="rect">
            <a:avLst/>
          </a:prstGeom>
        </p:spPr>
        <p:txBody>
          <a:bodyPr anchor="t"/>
          <a:lstStyle>
            <a:lvl1pPr algn="l" defTabSz="412750">
              <a:defRPr sz="1000">
                <a:solidFill>
                  <a:srgbClr val="31B0E5"/>
                </a:solidFill>
                <a:latin typeface="Manrope Regular"/>
                <a:ea typeface="Manrope Regular"/>
                <a:cs typeface="Manrope Regular"/>
                <a:sym typeface="Manrope Regular"/>
              </a:defRPr>
            </a:lvl1pPr>
          </a:lstStyle>
          <a:p>
            <a:fld id="{86CB4B4D-7CA3-9044-876B-883B54F8677D}" type="slidenum">
              <a:t>‹#›</a:t>
            </a:fld>
            <a:endParaRPr/>
          </a:p>
        </p:txBody>
      </p:sp>
    </p:spTree>
    <p:extLst>
      <p:ext uri="{BB962C8B-B14F-4D97-AF65-F5344CB8AC3E}">
        <p14:creationId xmlns:p14="http://schemas.microsoft.com/office/powerpoint/2010/main" val="2022628616"/>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5" name="TextBox 4">
            <a:extLst>
              <a:ext uri="{FF2B5EF4-FFF2-40B4-BE49-F238E27FC236}">
                <a16:creationId xmlns:a16="http://schemas.microsoft.com/office/drawing/2014/main" id="{968409DB-CB7B-4169-181C-8AC7B3B37EC7}"/>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3112467597"/>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 Type="http://schemas.openxmlformats.org/officeDocument/2006/relationships/slideLayout" Target="../slideLayouts/slideLayout45.xml"/><Relationship Id="rId21" Type="http://schemas.openxmlformats.org/officeDocument/2006/relationships/slideLayout" Target="../slideLayouts/slideLayout63.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4527432"/>
      </p:ext>
    </p:extLst>
  </p:cSld>
  <p:clrMap bg1="lt1" tx1="dk1" bg2="lt2" tx2="dk2" accent1="accent1" accent2="accent2" accent3="accent3" accent4="accent4" accent5="accent5" accent6="accent6" hlink="hlink" folHlink="folHlink"/>
  <p:sldLayoutIdLst>
    <p:sldLayoutId id="2147483701" r:id="rId1"/>
    <p:sldLayoutId id="2147483678" r:id="rId2"/>
    <p:sldLayoutId id="2147483712" r:id="rId3"/>
    <p:sldLayoutId id="2147483679" r:id="rId4"/>
    <p:sldLayoutId id="2147483704" r:id="rId5"/>
    <p:sldLayoutId id="2147483705" r:id="rId6"/>
    <p:sldLayoutId id="2147483674" r:id="rId7"/>
    <p:sldLayoutId id="2147483703" r:id="rId8"/>
    <p:sldLayoutId id="2147483657" r:id="rId9"/>
    <p:sldLayoutId id="2147483706" r:id="rId10"/>
    <p:sldLayoutId id="2147483658" r:id="rId11"/>
    <p:sldLayoutId id="2147483707" r:id="rId12"/>
    <p:sldLayoutId id="2147483656" r:id="rId13"/>
    <p:sldLayoutId id="2147483713" r:id="rId14"/>
    <p:sldLayoutId id="2147483714" r:id="rId15"/>
    <p:sldLayoutId id="2147483715" r:id="rId16"/>
    <p:sldLayoutId id="2147483716"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7807056"/>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80929"/>
      </p:ext>
    </p:extLst>
  </p:cSld>
  <p:clrMap bg1="lt1" tx1="dk1" bg2="lt2" tx2="dk2" accent1="accent1" accent2="accent2" accent3="accent3" accent4="accent4" accent5="accent5" accent6="accent6" hlink="hlink" folHlink="folHlink"/>
  <p:sldLayoutIdLst>
    <p:sldLayoutId id="2147483772"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56.xml"/><Relationship Id="rId5" Type="http://schemas.openxmlformats.org/officeDocument/2006/relationships/image" Target="../media/image4.sv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jpeg"/><Relationship Id="rId26" Type="http://schemas.openxmlformats.org/officeDocument/2006/relationships/image" Target="../media/image33.png"/><Relationship Id="rId21" Type="http://schemas.openxmlformats.org/officeDocument/2006/relationships/image" Target="../media/image28.png"/><Relationship Id="rId34" Type="http://schemas.openxmlformats.org/officeDocument/2006/relationships/image" Target="../media/image4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39.png"/><Relationship Id="rId2" Type="http://schemas.openxmlformats.org/officeDocument/2006/relationships/notesSlide" Target="../notesSlides/notesSlide2.xml"/><Relationship Id="rId16" Type="http://schemas.openxmlformats.org/officeDocument/2006/relationships/image" Target="../media/image23.svg"/><Relationship Id="rId20" Type="http://schemas.openxmlformats.org/officeDocument/2006/relationships/image" Target="../media/image27.png"/><Relationship Id="rId29"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8.png"/><Relationship Id="rId37" Type="http://schemas.openxmlformats.org/officeDocument/2006/relationships/image" Target="../media/image43.png"/><Relationship Id="rId5" Type="http://schemas.openxmlformats.org/officeDocument/2006/relationships/image" Target="../media/image12.sv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36" Type="http://schemas.openxmlformats.org/officeDocument/2006/relationships/image" Target="../media/image42.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7.png"/><Relationship Id="rId4" Type="http://schemas.openxmlformats.org/officeDocument/2006/relationships/image" Target="../media/image11.svg"/><Relationship Id="rId9" Type="http://schemas.openxmlformats.org/officeDocument/2006/relationships/image" Target="../media/image16.sv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hyperlink" Target="https://hexaware.com/press-release/hexaware-strengthens-data-capabilities-with-acquisition-of-softcrylic/" TargetMode="External"/><Relationship Id="rId35" Type="http://schemas.openxmlformats.org/officeDocument/2006/relationships/image" Target="../media/image41.png"/><Relationship Id="rId8" Type="http://schemas.openxmlformats.org/officeDocument/2006/relationships/image" Target="../media/image15.png"/><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4.png"/><Relationship Id="rId21" Type="http://schemas.openxmlformats.org/officeDocument/2006/relationships/image" Target="../media/image61.png"/><Relationship Id="rId7" Type="http://schemas.openxmlformats.org/officeDocument/2006/relationships/image" Target="../media/image47.png"/><Relationship Id="rId12" Type="http://schemas.openxmlformats.org/officeDocument/2006/relationships/image" Target="../media/image52.jpeg"/><Relationship Id="rId17" Type="http://schemas.openxmlformats.org/officeDocument/2006/relationships/image" Target="../media/image57.png"/><Relationship Id="rId2" Type="http://schemas.openxmlformats.org/officeDocument/2006/relationships/notesSlide" Target="../notesSlides/notesSlide3.xml"/><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jpeg"/><Relationship Id="rId15" Type="http://schemas.openxmlformats.org/officeDocument/2006/relationships/image" Target="../media/image55.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hyperlink" Target="https://hexaware.com/press-release/hexaware-strengthens-data-capabilities-with-acquisition-of-softcrylic/" TargetMode="External"/><Relationship Id="rId9" Type="http://schemas.openxmlformats.org/officeDocument/2006/relationships/image" Target="../media/image49.png"/><Relationship Id="rId14" Type="http://schemas.openxmlformats.org/officeDocument/2006/relationships/image" Target="../media/image54.png"/></Relationships>
</file>

<file path=ppt/slides/_rels/slide4.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5.png"/><Relationship Id="rId3" Type="http://schemas.openxmlformats.org/officeDocument/2006/relationships/image" Target="../media/image49.png"/><Relationship Id="rId7" Type="http://schemas.openxmlformats.org/officeDocument/2006/relationships/image" Target="../media/image63.jpeg"/><Relationship Id="rId12" Type="http://schemas.openxmlformats.org/officeDocument/2006/relationships/image" Target="../media/image6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61.png"/><Relationship Id="rId5" Type="http://schemas.openxmlformats.org/officeDocument/2006/relationships/image" Target="../media/image62.png"/><Relationship Id="rId10" Type="http://schemas.openxmlformats.org/officeDocument/2006/relationships/image" Target="../media/image51.png"/><Relationship Id="rId4" Type="http://schemas.openxmlformats.org/officeDocument/2006/relationships/image" Target="../media/image47.png"/><Relationship Id="rId9" Type="http://schemas.openxmlformats.org/officeDocument/2006/relationships/image" Target="../media/image65.jpeg"/><Relationship Id="rId14" Type="http://schemas.openxmlformats.org/officeDocument/2006/relationships/image" Target="../media/image67.png"/></Relationships>
</file>

<file path=ppt/slides/_rels/slide5.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72.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1.svg"/><Relationship Id="rId5" Type="http://schemas.openxmlformats.org/officeDocument/2006/relationships/image" Target="../media/image70.svg"/><Relationship Id="rId4" Type="http://schemas.openxmlformats.org/officeDocument/2006/relationships/image" Target="../media/image69.svg"/></Relationships>
</file>

<file path=ppt/slides/_rels/slide6.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3.png"/><Relationship Id="rId7" Type="http://schemas.openxmlformats.org/officeDocument/2006/relationships/image" Target="../media/image75.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74.png"/><Relationship Id="rId10" Type="http://schemas.openxmlformats.org/officeDocument/2006/relationships/image" Target="../media/image78.png"/><Relationship Id="rId4" Type="http://schemas.openxmlformats.org/officeDocument/2006/relationships/image" Target="../media/image51.png"/><Relationship Id="rId9" Type="http://schemas.openxmlformats.org/officeDocument/2006/relationships/image" Target="../media/image77.png"/></Relationships>
</file>

<file path=ppt/slides/_rels/slide7.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0.jpeg"/><Relationship Id="rId5" Type="http://schemas.openxmlformats.org/officeDocument/2006/relationships/image" Target="../media/image51.png"/><Relationship Id="rId4" Type="http://schemas.openxmlformats.org/officeDocument/2006/relationships/image" Target="../media/image50.png"/></Relationships>
</file>

<file path=ppt/slides/_rels/slide8.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hyperlink" Target="https://app.snowflake.com/marketplace/listing/GZTYZGP22T0/hexaware-technologies-digital-copilot-for-insurance-brokers-agents" TargetMode="External"/><Relationship Id="rId3" Type="http://schemas.openxmlformats.org/officeDocument/2006/relationships/image" Target="../media/image75.svg"/><Relationship Id="rId7" Type="http://schemas.openxmlformats.org/officeDocument/2006/relationships/image" Target="../media/image84.png"/><Relationship Id="rId12" Type="http://schemas.openxmlformats.org/officeDocument/2006/relationships/image" Target="../media/image8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7.png"/><Relationship Id="rId5" Type="http://schemas.openxmlformats.org/officeDocument/2006/relationships/image" Target="../media/image51.png"/><Relationship Id="rId10" Type="http://schemas.openxmlformats.org/officeDocument/2006/relationships/image" Target="../media/image50.png"/><Relationship Id="rId4" Type="http://schemas.openxmlformats.org/officeDocument/2006/relationships/image" Target="../media/image82.png"/><Relationship Id="rId9" Type="http://schemas.openxmlformats.org/officeDocument/2006/relationships/image" Target="../media/image86.jpeg"/></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92.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91.png"/><Relationship Id="rId4" Type="http://schemas.openxmlformats.org/officeDocument/2006/relationships/image" Target="../media/image90.jpeg"/></Relationships>
</file>

<file path=ppt/slides/_rels/slide10.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7.jpeg"/><Relationship Id="rId18" Type="http://schemas.openxmlformats.org/officeDocument/2006/relationships/image" Target="../media/image100.png"/><Relationship Id="rId3" Type="http://schemas.openxmlformats.org/officeDocument/2006/relationships/image" Target="../media/image75.svg"/><Relationship Id="rId7" Type="http://schemas.openxmlformats.org/officeDocument/2006/relationships/image" Target="../media/image95.png"/><Relationship Id="rId12" Type="http://schemas.openxmlformats.org/officeDocument/2006/relationships/image" Target="../media/image59.png"/><Relationship Id="rId17" Type="http://schemas.openxmlformats.org/officeDocument/2006/relationships/image" Target="../media/image99.png"/><Relationship Id="rId2" Type="http://schemas.openxmlformats.org/officeDocument/2006/relationships/notesSlide" Target="../notesSlides/notesSlide9.xml"/><Relationship Id="rId16"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94.png"/><Relationship Id="rId11" Type="http://schemas.openxmlformats.org/officeDocument/2006/relationships/image" Target="../media/image46.png"/><Relationship Id="rId5" Type="http://schemas.openxmlformats.org/officeDocument/2006/relationships/image" Target="../media/image51.png"/><Relationship Id="rId15" Type="http://schemas.openxmlformats.org/officeDocument/2006/relationships/image" Target="../media/image45.jpeg"/><Relationship Id="rId10" Type="http://schemas.openxmlformats.org/officeDocument/2006/relationships/image" Target="../media/image50.png"/><Relationship Id="rId19" Type="http://schemas.openxmlformats.org/officeDocument/2006/relationships/image" Target="../media/image54.png"/><Relationship Id="rId4" Type="http://schemas.openxmlformats.org/officeDocument/2006/relationships/image" Target="../media/image93.png"/><Relationship Id="rId9" Type="http://schemas.openxmlformats.org/officeDocument/2006/relationships/image" Target="../media/image96.jpeg"/><Relationship Id="rId14" Type="http://schemas.openxmlformats.org/officeDocument/2006/relationships/image" Target="../media/image55.png"/></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55.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3.jpeg"/><Relationship Id="rId5" Type="http://schemas.openxmlformats.org/officeDocument/2006/relationships/image" Target="../media/image102.jpeg"/><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109.png"/><Relationship Id="rId3" Type="http://schemas.openxmlformats.org/officeDocument/2006/relationships/image" Target="../media/image75.svg"/><Relationship Id="rId7" Type="http://schemas.openxmlformats.org/officeDocument/2006/relationships/image" Target="../media/image105.jpeg"/><Relationship Id="rId12" Type="http://schemas.openxmlformats.org/officeDocument/2006/relationships/image" Target="../media/image108.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4.png"/><Relationship Id="rId11" Type="http://schemas.openxmlformats.org/officeDocument/2006/relationships/image" Target="../media/image107.png"/><Relationship Id="rId5" Type="http://schemas.openxmlformats.org/officeDocument/2006/relationships/image" Target="../media/image84.png"/><Relationship Id="rId15" Type="http://schemas.openxmlformats.org/officeDocument/2006/relationships/image" Target="../media/image61.png"/><Relationship Id="rId10" Type="http://schemas.openxmlformats.org/officeDocument/2006/relationships/image" Target="../media/image100.png"/><Relationship Id="rId4" Type="http://schemas.openxmlformats.org/officeDocument/2006/relationships/image" Target="../media/image51.png"/><Relationship Id="rId9" Type="http://schemas.openxmlformats.org/officeDocument/2006/relationships/image" Target="../media/image106.png"/><Relationship Id="rId14" Type="http://schemas.openxmlformats.org/officeDocument/2006/relationships/image" Target="../media/image50.png"/></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61.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jpe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116.png"/><Relationship Id="rId3" Type="http://schemas.openxmlformats.org/officeDocument/2006/relationships/image" Target="../media/image75.svg"/><Relationship Id="rId7" Type="http://schemas.openxmlformats.org/officeDocument/2006/relationships/image" Target="../media/image51.png"/><Relationship Id="rId12" Type="http://schemas.openxmlformats.org/officeDocument/2006/relationships/image" Target="../media/image1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2.jpeg"/><Relationship Id="rId11" Type="http://schemas.openxmlformats.org/officeDocument/2006/relationships/image" Target="../media/image114.png"/><Relationship Id="rId5" Type="http://schemas.openxmlformats.org/officeDocument/2006/relationships/image" Target="../media/image50.png"/><Relationship Id="rId10" Type="http://schemas.openxmlformats.org/officeDocument/2006/relationships/image" Target="../media/image59.png"/><Relationship Id="rId4" Type="http://schemas.openxmlformats.org/officeDocument/2006/relationships/image" Target="../media/image47.png"/><Relationship Id="rId9" Type="http://schemas.openxmlformats.org/officeDocument/2006/relationships/image" Target="../media/image113.png"/><Relationship Id="rId14" Type="http://schemas.openxmlformats.org/officeDocument/2006/relationships/image" Target="../media/image61.png"/></Relationships>
</file>

<file path=ppt/slides/_rels/slide15.xml.rels><?xml version="1.0" encoding="UTF-8" standalone="yes"?>
<Relationships xmlns="http://schemas.openxmlformats.org/package/2006/relationships"><Relationship Id="rId3" Type="http://schemas.openxmlformats.org/officeDocument/2006/relationships/image" Target="../media/image112.jpeg"/><Relationship Id="rId7" Type="http://schemas.openxmlformats.org/officeDocument/2006/relationships/image" Target="../media/image61.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47.png"/><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image" Target="../media/image75.svg"/><Relationship Id="rId7"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1.png"/><Relationship Id="rId4" Type="http://schemas.openxmlformats.org/officeDocument/2006/relationships/image" Target="../media/image117.png"/></Relationships>
</file>

<file path=ppt/slides/_rels/slide1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7.png"/></Relationships>
</file>

<file path=ppt/slides/_rels/slide18.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5.png"/><Relationship Id="rId7" Type="http://schemas.openxmlformats.org/officeDocument/2006/relationships/image" Target="../media/image129.png"/><Relationship Id="rId2" Type="http://schemas.openxmlformats.org/officeDocument/2006/relationships/notesSlide" Target="../notesSlides/notesSlide17.xml"/><Relationship Id="rId1" Type="http://schemas.openxmlformats.org/officeDocument/2006/relationships/slideLayout" Target="../slideLayouts/slideLayout44.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 Id="rId9" Type="http://schemas.openxmlformats.org/officeDocument/2006/relationships/image" Target="../media/image131.png"/></Relationships>
</file>

<file path=ppt/slides/_rels/slide23.xml.rels><?xml version="1.0" encoding="UTF-8" standalone="yes"?>
<Relationships xmlns="http://schemas.openxmlformats.org/package/2006/relationships"><Relationship Id="rId13" Type="http://schemas.openxmlformats.org/officeDocument/2006/relationships/image" Target="../media/image1210.png"/><Relationship Id="rId3" Type="http://schemas.openxmlformats.org/officeDocument/2006/relationships/image" Target="../media/image133.svg"/><Relationship Id="rId12" Type="http://schemas.openxmlformats.org/officeDocument/2006/relationships/slide" Target="slide58.xml"/><Relationship Id="rId2" Type="http://schemas.openxmlformats.org/officeDocument/2006/relationships/image" Target="../media/image132.svg"/><Relationship Id="rId16" Type="http://schemas.openxmlformats.org/officeDocument/2006/relationships/image" Target="../media/image1220.png"/><Relationship Id="rId1" Type="http://schemas.openxmlformats.org/officeDocument/2006/relationships/slideLayout" Target="../slideLayouts/slideLayout2.xml"/><Relationship Id="rId5" Type="http://schemas.openxmlformats.org/officeDocument/2006/relationships/image" Target="../media/image135.png"/><Relationship Id="rId15" Type="http://schemas.openxmlformats.org/officeDocument/2006/relationships/slide" Target="slide60.xml"/><Relationship Id="rId10" Type="http://schemas.openxmlformats.org/officeDocument/2006/relationships/image" Target="../media/image1200.png"/><Relationship Id="rId4" Type="http://schemas.openxmlformats.org/officeDocument/2006/relationships/image" Target="../media/image134.svg"/><Relationship Id="rId9" Type="http://schemas.openxmlformats.org/officeDocument/2006/relationships/slide" Target="slide5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41.png"/><Relationship Id="rId13" Type="http://schemas.openxmlformats.org/officeDocument/2006/relationships/image" Target="../media/image146.png"/><Relationship Id="rId18" Type="http://schemas.openxmlformats.org/officeDocument/2006/relationships/image" Target="../media/image151.png"/><Relationship Id="rId3" Type="http://schemas.openxmlformats.org/officeDocument/2006/relationships/image" Target="../media/image136.jpeg"/><Relationship Id="rId21" Type="http://schemas.openxmlformats.org/officeDocument/2006/relationships/image" Target="../media/image154.png"/><Relationship Id="rId7" Type="http://schemas.openxmlformats.org/officeDocument/2006/relationships/image" Target="../media/image140.png"/><Relationship Id="rId12" Type="http://schemas.openxmlformats.org/officeDocument/2006/relationships/image" Target="../media/image145.png"/><Relationship Id="rId17" Type="http://schemas.openxmlformats.org/officeDocument/2006/relationships/image" Target="../media/image150.svg"/><Relationship Id="rId2" Type="http://schemas.openxmlformats.org/officeDocument/2006/relationships/notesSlide" Target="../notesSlides/notesSlide18.xml"/><Relationship Id="rId16" Type="http://schemas.openxmlformats.org/officeDocument/2006/relationships/image" Target="../media/image149.png"/><Relationship Id="rId20" Type="http://schemas.openxmlformats.org/officeDocument/2006/relationships/image" Target="../media/image153.svg"/><Relationship Id="rId1" Type="http://schemas.openxmlformats.org/officeDocument/2006/relationships/slideLayout" Target="../slideLayouts/slideLayout2.xml"/><Relationship Id="rId6" Type="http://schemas.openxmlformats.org/officeDocument/2006/relationships/image" Target="../media/image139.png"/><Relationship Id="rId11" Type="http://schemas.openxmlformats.org/officeDocument/2006/relationships/image" Target="../media/image144.png"/><Relationship Id="rId5" Type="http://schemas.openxmlformats.org/officeDocument/2006/relationships/image" Target="../media/image138.jpeg"/><Relationship Id="rId15" Type="http://schemas.openxmlformats.org/officeDocument/2006/relationships/image" Target="../media/image148.png"/><Relationship Id="rId10" Type="http://schemas.openxmlformats.org/officeDocument/2006/relationships/image" Target="../media/image143.png"/><Relationship Id="rId19" Type="http://schemas.openxmlformats.org/officeDocument/2006/relationships/image" Target="../media/image152.png"/><Relationship Id="rId4" Type="http://schemas.openxmlformats.org/officeDocument/2006/relationships/image" Target="../media/image137.png"/><Relationship Id="rId9" Type="http://schemas.openxmlformats.org/officeDocument/2006/relationships/image" Target="../media/image142.png"/><Relationship Id="rId14" Type="http://schemas.openxmlformats.org/officeDocument/2006/relationships/image" Target="../media/image147.png"/><Relationship Id="rId22" Type="http://schemas.openxmlformats.org/officeDocument/2006/relationships/image" Target="../media/image155.jpeg"/></Relationships>
</file>

<file path=ppt/slides/_rels/slide26.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9.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168.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162.png"/><Relationship Id="rId11" Type="http://schemas.openxmlformats.org/officeDocument/2006/relationships/image" Target="../media/image167.png"/><Relationship Id="rId5" Type="http://schemas.openxmlformats.org/officeDocument/2006/relationships/image" Target="../media/image161.svg"/><Relationship Id="rId10" Type="http://schemas.openxmlformats.org/officeDocument/2006/relationships/image" Target="../media/image166.png"/><Relationship Id="rId4" Type="http://schemas.openxmlformats.org/officeDocument/2006/relationships/image" Target="../media/image160.png"/><Relationship Id="rId9" Type="http://schemas.openxmlformats.org/officeDocument/2006/relationships/image" Target="../media/image165.png"/></Relationships>
</file>

<file path=ppt/slides/_rels/slide29.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20.xml"/><Relationship Id="rId1" Type="http://schemas.openxmlformats.org/officeDocument/2006/relationships/slideLayout" Target="../slideLayouts/slideLayout42.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image" Target="../media/image178.png"/><Relationship Id="rId18" Type="http://schemas.openxmlformats.org/officeDocument/2006/relationships/image" Target="../media/image164.png"/><Relationship Id="rId3" Type="http://schemas.openxmlformats.org/officeDocument/2006/relationships/image" Target="../media/image172.svg"/><Relationship Id="rId7" Type="http://schemas.openxmlformats.org/officeDocument/2006/relationships/image" Target="../media/image160.png"/><Relationship Id="rId12" Type="http://schemas.openxmlformats.org/officeDocument/2006/relationships/image" Target="../media/image162.png"/><Relationship Id="rId17" Type="http://schemas.openxmlformats.org/officeDocument/2006/relationships/image" Target="../media/image126.png"/><Relationship Id="rId2" Type="http://schemas.openxmlformats.org/officeDocument/2006/relationships/notesSlide" Target="../notesSlides/notesSlide21.xml"/><Relationship Id="rId16" Type="http://schemas.openxmlformats.org/officeDocument/2006/relationships/image" Target="../media/image47.png"/><Relationship Id="rId1" Type="http://schemas.openxmlformats.org/officeDocument/2006/relationships/slideLayout" Target="../slideLayouts/slideLayout15.xml"/><Relationship Id="rId6" Type="http://schemas.openxmlformats.org/officeDocument/2006/relationships/image" Target="../media/image174.png"/><Relationship Id="rId11" Type="http://schemas.openxmlformats.org/officeDocument/2006/relationships/image" Target="../media/image161.svg"/><Relationship Id="rId5" Type="http://schemas.openxmlformats.org/officeDocument/2006/relationships/image" Target="../media/image173.jpeg"/><Relationship Id="rId15" Type="http://schemas.openxmlformats.org/officeDocument/2006/relationships/image" Target="../media/image163.png"/><Relationship Id="rId10" Type="http://schemas.openxmlformats.org/officeDocument/2006/relationships/image" Target="../media/image177.png"/><Relationship Id="rId4" Type="http://schemas.openxmlformats.org/officeDocument/2006/relationships/image" Target="../media/image159.png"/><Relationship Id="rId9" Type="http://schemas.openxmlformats.org/officeDocument/2006/relationships/image" Target="../media/image176.png"/><Relationship Id="rId14" Type="http://schemas.openxmlformats.org/officeDocument/2006/relationships/image" Target="../media/image179.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image" Target="../media/image180.jpeg"/></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181.jpe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image" Target="../media/image182.jpeg"/></Relationships>
</file>

<file path=ppt/slides/_rels/slide35.xml.rels><?xml version="1.0" encoding="UTF-8" standalone="yes"?>
<Relationships xmlns="http://schemas.openxmlformats.org/package/2006/relationships"><Relationship Id="rId3" Type="http://schemas.openxmlformats.org/officeDocument/2006/relationships/image" Target="../media/image183.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87.jpeg"/></Relationships>
</file>

<file path=ppt/slides/_rels/slide39.xml.rels><?xml version="1.0" encoding="UTF-8" standalone="yes"?>
<Relationships xmlns="http://schemas.openxmlformats.org/package/2006/relationships"><Relationship Id="rId3" Type="http://schemas.openxmlformats.org/officeDocument/2006/relationships/image" Target="../media/image188.jpeg"/><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189.jpeg"/></Relationships>
</file>

<file path=ppt/slides/_rels/slide40.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91.jpeg"/></Relationships>
</file>

<file path=ppt/slides/_rels/slide41.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image" Target="../media/image191.jpeg"/></Relationships>
</file>

<file path=ppt/slides/_rels/slide42.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43.xml.rels><?xml version="1.0" encoding="UTF-8" standalone="yes"?>
<Relationships xmlns="http://schemas.openxmlformats.org/package/2006/relationships"><Relationship Id="rId3" Type="http://schemas.openxmlformats.org/officeDocument/2006/relationships/image" Target="../media/image194.jpe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195.jpeg"/></Relationships>
</file>

<file path=ppt/slides/_rels/slide44.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197.jpeg"/></Relationships>
</file>

<file path=ppt/slides/_rels/slide45.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199.jpeg"/></Relationships>
</file>

<file path=ppt/slides/_rels/slide4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02.png"/></Relationships>
</file>

<file path=ppt/slides/_rels/slide48.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05.jpeg"/></Relationships>
</file>

<file path=ppt/slides/_rels/slide50.xml.rels><?xml version="1.0" encoding="UTF-8" standalone="yes"?>
<Relationships xmlns="http://schemas.openxmlformats.org/package/2006/relationships"><Relationship Id="rId3" Type="http://schemas.openxmlformats.org/officeDocument/2006/relationships/image" Target="../media/image206.jpe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07.jpeg"/></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openxmlformats.org/officeDocument/2006/relationships/image" Target="../media/image208.jpeg"/></Relationships>
</file>

<file path=ppt/slides/_rels/slide52.xml.rels><?xml version="1.0" encoding="UTF-8" standalone="yes"?>
<Relationships xmlns="http://schemas.openxmlformats.org/package/2006/relationships"><Relationship Id="rId3" Type="http://schemas.openxmlformats.org/officeDocument/2006/relationships/image" Target="../media/image209.jpeg"/><Relationship Id="rId2" Type="http://schemas.openxmlformats.org/officeDocument/2006/relationships/notesSlide" Target="../notesSlides/notesSlide42.xml"/><Relationship Id="rId1" Type="http://schemas.openxmlformats.org/officeDocument/2006/relationships/slideLayout" Target="../slideLayouts/slideLayout14.xml"/><Relationship Id="rId4" Type="http://schemas.openxmlformats.org/officeDocument/2006/relationships/image" Target="../media/image51.png"/></Relationships>
</file>

<file path=ppt/slides/_rels/slide53.xml.rels><?xml version="1.0" encoding="UTF-8" standalone="yes"?>
<Relationships xmlns="http://schemas.openxmlformats.org/package/2006/relationships"><Relationship Id="rId3" Type="http://schemas.openxmlformats.org/officeDocument/2006/relationships/image" Target="../media/image210.jpeg"/><Relationship Id="rId2" Type="http://schemas.openxmlformats.org/officeDocument/2006/relationships/notesSlide" Target="../notesSlides/notesSlide43.xml"/><Relationship Id="rId1" Type="http://schemas.openxmlformats.org/officeDocument/2006/relationships/slideLayout" Target="../slideLayouts/slideLayout14.xml"/><Relationship Id="rId4" Type="http://schemas.openxmlformats.org/officeDocument/2006/relationships/image" Target="../media/image51.png"/></Relationships>
</file>

<file path=ppt/slides/_rels/slide58.xml.rels><?xml version="1.0" encoding="UTF-8" standalone="yes"?>
<Relationships xmlns="http://schemas.openxmlformats.org/package/2006/relationships"><Relationship Id="rId2" Type="http://schemas.openxmlformats.org/officeDocument/2006/relationships/image" Target="../media/image171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1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177.svg"/><Relationship Id="rId3" Type="http://schemas.openxmlformats.org/officeDocument/2006/relationships/image" Target="../media/image1720.svg"/><Relationship Id="rId7" Type="http://schemas.openxmlformats.org/officeDocument/2006/relationships/image" Target="../media/image176.svg"/><Relationship Id="rId12" Type="http://schemas.openxmlformats.org/officeDocument/2006/relationships/image" Target="../media/image181.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75.svg"/><Relationship Id="rId11" Type="http://schemas.openxmlformats.org/officeDocument/2006/relationships/image" Target="../media/image180.png"/><Relationship Id="rId5" Type="http://schemas.openxmlformats.org/officeDocument/2006/relationships/image" Target="../media/image174.svg"/><Relationship Id="rId10" Type="http://schemas.openxmlformats.org/officeDocument/2006/relationships/image" Target="../media/image179.svg"/><Relationship Id="rId4" Type="http://schemas.openxmlformats.org/officeDocument/2006/relationships/image" Target="../media/image173.svg"/><Relationship Id="rId9" Type="http://schemas.openxmlformats.org/officeDocument/2006/relationships/image" Target="../media/image17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7E35AECF-196C-B3DD-25CC-00FE37FDC430}"/>
              </a:ext>
            </a:extLst>
          </p:cNvPr>
          <p:cNvPicPr>
            <a:picLocks noGrp="1" noChangeAspect="1"/>
          </p:cNvPicPr>
          <p:nvPr>
            <p:ph type="pic" sz="quarter" idx="16"/>
          </p:nvPr>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p:spPr>
      </p:pic>
      <p:pic>
        <p:nvPicPr>
          <p:cNvPr id="5" name="Picture 4">
            <a:extLst>
              <a:ext uri="{FF2B5EF4-FFF2-40B4-BE49-F238E27FC236}">
                <a16:creationId xmlns:a16="http://schemas.microsoft.com/office/drawing/2014/main" id="{429B6B28-C97E-B751-A437-74F38528C99B}"/>
              </a:ext>
            </a:extLst>
          </p:cNvPr>
          <p:cNvPicPr>
            <a:picLocks noChangeAspect="1"/>
          </p:cNvPicPr>
          <p:nvPr/>
        </p:nvPicPr>
        <p:blipFill>
          <a:blip r:embed="rId4" cstate="email">
            <a:alphaModFix amt="63000"/>
            <a:extLst>
              <a:ext uri="{28A0092B-C50C-407E-A947-70E740481C1C}">
                <a14:useLocalDpi xmlns:a14="http://schemas.microsoft.com/office/drawing/2010/main"/>
              </a:ext>
            </a:extLst>
          </a:blip>
          <a:srcRect/>
          <a:stretch/>
        </p:blipFill>
        <p:spPr>
          <a:xfrm>
            <a:off x="0" y="0"/>
            <a:ext cx="7260116" cy="6857999"/>
          </a:xfrm>
          <a:prstGeom prst="rect">
            <a:avLst/>
          </a:prstGeom>
        </p:spPr>
      </p:pic>
      <p:sp>
        <p:nvSpPr>
          <p:cNvPr id="11" name="Title 10">
            <a:extLst>
              <a:ext uri="{FF2B5EF4-FFF2-40B4-BE49-F238E27FC236}">
                <a16:creationId xmlns:a16="http://schemas.microsoft.com/office/drawing/2014/main" id="{BAFA2D44-2AFA-6A6B-C9C6-825D4BED3158}"/>
              </a:ext>
            </a:extLst>
          </p:cNvPr>
          <p:cNvSpPr>
            <a:spLocks noGrp="1"/>
          </p:cNvSpPr>
          <p:nvPr>
            <p:ph type="title"/>
          </p:nvPr>
        </p:nvSpPr>
        <p:spPr>
          <a:xfrm>
            <a:off x="822960" y="1830044"/>
            <a:ext cx="5751261" cy="2077492"/>
          </a:xfrm>
          <a:prstGeom prst="rect">
            <a:avLst/>
          </a:prstGeom>
        </p:spPr>
        <p:txBody>
          <a:bodyPr/>
          <a:lstStyle/>
          <a:p>
            <a:pPr>
              <a:lnSpc>
                <a:spcPct val="100000"/>
              </a:lnSpc>
            </a:pPr>
            <a:r>
              <a:rPr lang="en-US"/>
              <a:t>Snowflake Ecosystem Capability</a:t>
            </a:r>
          </a:p>
        </p:txBody>
      </p:sp>
      <p:sp>
        <p:nvSpPr>
          <p:cNvPr id="2" name="August 2023">
            <a:extLst>
              <a:ext uri="{FF2B5EF4-FFF2-40B4-BE49-F238E27FC236}">
                <a16:creationId xmlns:a16="http://schemas.microsoft.com/office/drawing/2014/main" id="{64986BE6-D319-9594-F76A-A8917494F93C}"/>
              </a:ext>
            </a:extLst>
          </p:cNvPr>
          <p:cNvSpPr/>
          <p:nvPr/>
        </p:nvSpPr>
        <p:spPr>
          <a:xfrm>
            <a:off x="822960" y="4014090"/>
            <a:ext cx="1358380" cy="393682"/>
          </a:xfrm>
          <a:prstGeom prst="roundRect">
            <a:avLst>
              <a:gd name="adj" fmla="val 50000"/>
            </a:avLst>
          </a:prstGeom>
          <a:noFill/>
          <a:ln w="19050">
            <a:solidFill>
              <a:schemeClr val="bg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2438338">
              <a:spcBef>
                <a:spcPts val="0"/>
              </a:spcBef>
              <a:defRPr sz="2000" spc="39">
                <a:solidFill>
                  <a:srgbClr val="FFFFFF"/>
                </a:solidFill>
                <a:latin typeface="Heebo Regular Light"/>
                <a:ea typeface="Heebo Regular Light"/>
                <a:cs typeface="Heebo Regular Light"/>
                <a:sym typeface="Heebo Regular Light"/>
              </a:defRPr>
            </a:lvl1pPr>
          </a:lstStyle>
          <a:p>
            <a:pPr marL="0" marR="0" lvl="0" indent="0" algn="ctr" defTabSz="2438338"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39" normalizeH="0" baseline="0" noProof="0">
                <a:ln>
                  <a:noFill/>
                </a:ln>
                <a:solidFill>
                  <a:srgbClr val="FFFFFF"/>
                </a:solidFill>
                <a:effectLst/>
                <a:uLnTx/>
                <a:uFillTx/>
                <a:latin typeface="Manrope"/>
                <a:sym typeface="Heebo Regular Light"/>
              </a:rPr>
              <a:t>March 2025</a:t>
            </a:r>
          </a:p>
        </p:txBody>
      </p:sp>
      <p:pic>
        <p:nvPicPr>
          <p:cNvPr id="3" name="Graphic 2">
            <a:extLst>
              <a:ext uri="{FF2B5EF4-FFF2-40B4-BE49-F238E27FC236}">
                <a16:creationId xmlns:a16="http://schemas.microsoft.com/office/drawing/2014/main" id="{C7241648-4C0F-2BB4-442C-4C9A265870D1}"/>
              </a:ext>
            </a:extLst>
          </p:cNvPr>
          <p:cNvPicPr>
            <a:picLocks noChangeAspect="1"/>
          </p:cNvPicPr>
          <p:nvPr/>
        </p:nvPicPr>
        <p:blipFill>
          <a:blip>
            <a:lum bright="100000"/>
            <a:extLst>
              <a:ext uri="{96DAC541-7B7A-43D3-8B79-37D633B846F1}">
                <asvg:svgBlip xmlns:asvg="http://schemas.microsoft.com/office/drawing/2016/SVG/main" r:embed="rId5"/>
              </a:ext>
            </a:extLst>
          </a:blip>
          <a:stretch>
            <a:fillRect/>
          </a:stretch>
        </p:blipFill>
        <p:spPr>
          <a:xfrm>
            <a:off x="822960" y="731098"/>
            <a:ext cx="1554480" cy="208656"/>
          </a:xfrm>
          <a:prstGeom prst="rect">
            <a:avLst/>
          </a:prstGeom>
        </p:spPr>
      </p:pic>
    </p:spTree>
    <p:extLst>
      <p:ext uri="{BB962C8B-B14F-4D97-AF65-F5344CB8AC3E}">
        <p14:creationId xmlns:p14="http://schemas.microsoft.com/office/powerpoint/2010/main" val="3108301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E37269-3C2B-DE50-22C3-AA0A167440C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0" y="0"/>
            <a:ext cx="4391247" cy="6858000"/>
          </a:xfrm>
          <a:prstGeom prst="rect">
            <a:avLst/>
          </a:prstGeom>
        </p:spPr>
      </p:pic>
      <p:sp>
        <p:nvSpPr>
          <p:cNvPr id="2" name="Text Placeholder 1">
            <a:extLst>
              <a:ext uri="{FF2B5EF4-FFF2-40B4-BE49-F238E27FC236}">
                <a16:creationId xmlns:a16="http://schemas.microsoft.com/office/drawing/2014/main" id="{776CA5F1-5E60-9714-35D3-7FD707F5A355}"/>
              </a:ext>
            </a:extLst>
          </p:cNvPr>
          <p:cNvSpPr>
            <a:spLocks noGrp="1"/>
          </p:cNvSpPr>
          <p:nvPr>
            <p:ph type="body" sz="quarter" idx="15"/>
          </p:nvPr>
        </p:nvSpPr>
        <p:spPr>
          <a:xfrm flipH="1">
            <a:off x="623888" y="457200"/>
            <a:ext cx="8172450" cy="244101"/>
          </a:xfrm>
        </p:spPr>
        <p:txBody>
          <a:bodyPr/>
          <a:lstStyle/>
          <a:p>
            <a:r>
              <a:rPr lang="en-GB" noProof="0">
                <a:solidFill>
                  <a:schemeClr val="bg1"/>
                </a:solidFill>
              </a:rPr>
              <a:t>Our Capabilities In Numbers</a:t>
            </a:r>
          </a:p>
        </p:txBody>
      </p:sp>
      <p:grpSp>
        <p:nvGrpSpPr>
          <p:cNvPr id="106" name="Group 105">
            <a:extLst>
              <a:ext uri="{FF2B5EF4-FFF2-40B4-BE49-F238E27FC236}">
                <a16:creationId xmlns:a16="http://schemas.microsoft.com/office/drawing/2014/main" id="{7AE634AB-343B-5F45-3B21-F13DF8314DFC}"/>
              </a:ext>
            </a:extLst>
          </p:cNvPr>
          <p:cNvGrpSpPr/>
          <p:nvPr/>
        </p:nvGrpSpPr>
        <p:grpSpPr>
          <a:xfrm>
            <a:off x="622013" y="1093053"/>
            <a:ext cx="3534937" cy="5099978"/>
            <a:chOff x="292258" y="1158501"/>
            <a:chExt cx="3534937" cy="5099978"/>
          </a:xfrm>
        </p:grpSpPr>
        <p:grpSp>
          <p:nvGrpSpPr>
            <p:cNvPr id="9" name="Group 8">
              <a:extLst>
                <a:ext uri="{FF2B5EF4-FFF2-40B4-BE49-F238E27FC236}">
                  <a16:creationId xmlns:a16="http://schemas.microsoft.com/office/drawing/2014/main" id="{BEB9835F-7CA7-327D-5D28-B7B01EAF88D1}"/>
                </a:ext>
              </a:extLst>
            </p:cNvPr>
            <p:cNvGrpSpPr/>
            <p:nvPr/>
          </p:nvGrpSpPr>
          <p:grpSpPr>
            <a:xfrm>
              <a:off x="292258" y="1158501"/>
              <a:ext cx="1498576" cy="693556"/>
              <a:chOff x="390580" y="1158501"/>
              <a:chExt cx="1498576" cy="693556"/>
            </a:xfrm>
          </p:grpSpPr>
          <p:sp>
            <p:nvSpPr>
              <p:cNvPr id="7" name="Text Placeholder 1">
                <a:extLst>
                  <a:ext uri="{FF2B5EF4-FFF2-40B4-BE49-F238E27FC236}">
                    <a16:creationId xmlns:a16="http://schemas.microsoft.com/office/drawing/2014/main" id="{0C7D361C-3ED2-1950-0947-FA9F5538F5EB}"/>
                  </a:ext>
                </a:extLst>
              </p:cNvPr>
              <p:cNvSpPr txBox="1">
                <a:spLocks/>
              </p:cNvSpPr>
              <p:nvPr/>
            </p:nvSpPr>
            <p:spPr>
              <a:xfrm flipH="1">
                <a:off x="390580" y="1649506"/>
                <a:ext cx="1498576" cy="2025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Data &amp; AI Specialists</a:t>
                </a:r>
              </a:p>
            </p:txBody>
          </p:sp>
          <p:sp>
            <p:nvSpPr>
              <p:cNvPr id="8" name="Text Placeholder 1">
                <a:extLst>
                  <a:ext uri="{FF2B5EF4-FFF2-40B4-BE49-F238E27FC236}">
                    <a16:creationId xmlns:a16="http://schemas.microsoft.com/office/drawing/2014/main" id="{575C0E59-7303-E0F2-7A9B-4AA2E210E303}"/>
                  </a:ext>
                </a:extLst>
              </p:cNvPr>
              <p:cNvSpPr txBox="1">
                <a:spLocks/>
              </p:cNvSpPr>
              <p:nvPr/>
            </p:nvSpPr>
            <p:spPr>
              <a:xfrm flipH="1">
                <a:off x="390580" y="1158501"/>
                <a:ext cx="1498576" cy="4241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2800" i="0" u="none" strike="noStrike" kern="1200" cap="none" spc="0" normalizeH="0" baseline="0" noProof="0">
                    <a:ln>
                      <a:noFill/>
                    </a:ln>
                    <a:solidFill>
                      <a:schemeClr val="bg1"/>
                    </a:solidFill>
                    <a:effectLst/>
                    <a:uLnTx/>
                    <a:uFillTx/>
                    <a:latin typeface="Manrope"/>
                    <a:ea typeface="Helvetica Neue"/>
                    <a:cs typeface="Helvetica Neue"/>
                  </a:rPr>
                  <a:t>3300+ </a:t>
                </a:r>
              </a:p>
            </p:txBody>
          </p:sp>
        </p:grpSp>
        <p:grpSp>
          <p:nvGrpSpPr>
            <p:cNvPr id="10" name="Group 9">
              <a:extLst>
                <a:ext uri="{FF2B5EF4-FFF2-40B4-BE49-F238E27FC236}">
                  <a16:creationId xmlns:a16="http://schemas.microsoft.com/office/drawing/2014/main" id="{AAB0430F-D393-D3EE-4FC5-62C762549089}"/>
                </a:ext>
              </a:extLst>
            </p:cNvPr>
            <p:cNvGrpSpPr/>
            <p:nvPr/>
          </p:nvGrpSpPr>
          <p:grpSpPr>
            <a:xfrm>
              <a:off x="294133" y="2559598"/>
              <a:ext cx="1498575" cy="693556"/>
              <a:chOff x="392455" y="1158501"/>
              <a:chExt cx="1498575" cy="693556"/>
            </a:xfrm>
          </p:grpSpPr>
          <p:sp>
            <p:nvSpPr>
              <p:cNvPr id="11" name="Text Placeholder 1">
                <a:extLst>
                  <a:ext uri="{FF2B5EF4-FFF2-40B4-BE49-F238E27FC236}">
                    <a16:creationId xmlns:a16="http://schemas.microsoft.com/office/drawing/2014/main" id="{4957DB2A-02BF-A296-8235-CC913A26B2B6}"/>
                  </a:ext>
                </a:extLst>
              </p:cNvPr>
              <p:cNvSpPr txBox="1">
                <a:spLocks/>
              </p:cNvSpPr>
              <p:nvPr/>
            </p:nvSpPr>
            <p:spPr>
              <a:xfrm flipH="1">
                <a:off x="392455" y="1649506"/>
                <a:ext cx="1498575" cy="2025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Cloud Certifications</a:t>
                </a:r>
              </a:p>
            </p:txBody>
          </p:sp>
          <p:sp>
            <p:nvSpPr>
              <p:cNvPr id="12" name="Text Placeholder 1">
                <a:extLst>
                  <a:ext uri="{FF2B5EF4-FFF2-40B4-BE49-F238E27FC236}">
                    <a16:creationId xmlns:a16="http://schemas.microsoft.com/office/drawing/2014/main" id="{40EF2C57-F2A8-C026-42E4-8BBF4A224C18}"/>
                  </a:ext>
                </a:extLst>
              </p:cNvPr>
              <p:cNvSpPr txBox="1">
                <a:spLocks/>
              </p:cNvSpPr>
              <p:nvPr/>
            </p:nvSpPr>
            <p:spPr>
              <a:xfrm flipH="1">
                <a:off x="392455" y="1158501"/>
                <a:ext cx="1498575" cy="4241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2800" i="0" u="none" strike="noStrike" kern="1200" cap="none" spc="0" normalizeH="0" baseline="0" noProof="0">
                    <a:ln>
                      <a:noFill/>
                    </a:ln>
                    <a:solidFill>
                      <a:schemeClr val="bg1"/>
                    </a:solidFill>
                    <a:effectLst/>
                    <a:uLnTx/>
                    <a:uFillTx/>
                    <a:latin typeface="Manrope"/>
                    <a:ea typeface="Helvetica Neue"/>
                    <a:cs typeface="Helvetica Neue"/>
                  </a:rPr>
                  <a:t>2500+ </a:t>
                </a:r>
              </a:p>
            </p:txBody>
          </p:sp>
        </p:grpSp>
        <p:grpSp>
          <p:nvGrpSpPr>
            <p:cNvPr id="13" name="Group 12">
              <a:extLst>
                <a:ext uri="{FF2B5EF4-FFF2-40B4-BE49-F238E27FC236}">
                  <a16:creationId xmlns:a16="http://schemas.microsoft.com/office/drawing/2014/main" id="{6C120C74-6A6B-A40F-3118-A0FF94CD9B7A}"/>
                </a:ext>
              </a:extLst>
            </p:cNvPr>
            <p:cNvGrpSpPr/>
            <p:nvPr/>
          </p:nvGrpSpPr>
          <p:grpSpPr>
            <a:xfrm>
              <a:off x="292258" y="3960695"/>
              <a:ext cx="1895308" cy="693556"/>
              <a:chOff x="390580" y="1158501"/>
              <a:chExt cx="1895308" cy="693556"/>
            </a:xfrm>
          </p:grpSpPr>
          <p:sp>
            <p:nvSpPr>
              <p:cNvPr id="14" name="Text Placeholder 1">
                <a:extLst>
                  <a:ext uri="{FF2B5EF4-FFF2-40B4-BE49-F238E27FC236}">
                    <a16:creationId xmlns:a16="http://schemas.microsoft.com/office/drawing/2014/main" id="{F9F28534-6EE4-D970-770D-2E98F551AEB3}"/>
                  </a:ext>
                </a:extLst>
              </p:cNvPr>
              <p:cNvSpPr txBox="1">
                <a:spLocks/>
              </p:cNvSpPr>
              <p:nvPr/>
            </p:nvSpPr>
            <p:spPr>
              <a:xfrm flipH="1">
                <a:off x="390580" y="1649506"/>
                <a:ext cx="1895308" cy="2025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Engagements</a:t>
                </a:r>
              </a:p>
            </p:txBody>
          </p:sp>
          <p:sp>
            <p:nvSpPr>
              <p:cNvPr id="15" name="Text Placeholder 1">
                <a:extLst>
                  <a:ext uri="{FF2B5EF4-FFF2-40B4-BE49-F238E27FC236}">
                    <a16:creationId xmlns:a16="http://schemas.microsoft.com/office/drawing/2014/main" id="{A18900DA-5144-A75D-1F27-524F06690916}"/>
                  </a:ext>
                </a:extLst>
              </p:cNvPr>
              <p:cNvSpPr txBox="1">
                <a:spLocks/>
              </p:cNvSpPr>
              <p:nvPr/>
            </p:nvSpPr>
            <p:spPr>
              <a:xfrm flipH="1">
                <a:off x="390580" y="1158501"/>
                <a:ext cx="1895308" cy="4241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2800" i="0" u="none" strike="noStrike" kern="1200" cap="none" spc="0" normalizeH="0" baseline="0" noProof="0">
                    <a:ln>
                      <a:noFill/>
                    </a:ln>
                    <a:solidFill>
                      <a:schemeClr val="bg1"/>
                    </a:solidFill>
                    <a:effectLst/>
                    <a:uLnTx/>
                    <a:uFillTx/>
                    <a:latin typeface="Manrope"/>
                    <a:ea typeface="Helvetica Neue"/>
                    <a:cs typeface="Helvetica Neue"/>
                  </a:rPr>
                  <a:t>1800+</a:t>
                </a:r>
              </a:p>
            </p:txBody>
          </p:sp>
        </p:grpSp>
        <p:grpSp>
          <p:nvGrpSpPr>
            <p:cNvPr id="16" name="Group 15">
              <a:extLst>
                <a:ext uri="{FF2B5EF4-FFF2-40B4-BE49-F238E27FC236}">
                  <a16:creationId xmlns:a16="http://schemas.microsoft.com/office/drawing/2014/main" id="{7F0699B0-AC7C-27DB-8959-33A74519CE0B}"/>
                </a:ext>
              </a:extLst>
            </p:cNvPr>
            <p:cNvGrpSpPr/>
            <p:nvPr/>
          </p:nvGrpSpPr>
          <p:grpSpPr>
            <a:xfrm>
              <a:off x="292258" y="5361791"/>
              <a:ext cx="1498575" cy="896688"/>
              <a:chOff x="390580" y="1158501"/>
              <a:chExt cx="1498575" cy="896688"/>
            </a:xfrm>
          </p:grpSpPr>
          <p:sp>
            <p:nvSpPr>
              <p:cNvPr id="17" name="Text Placeholder 1">
                <a:extLst>
                  <a:ext uri="{FF2B5EF4-FFF2-40B4-BE49-F238E27FC236}">
                    <a16:creationId xmlns:a16="http://schemas.microsoft.com/office/drawing/2014/main" id="{30BEFCB9-3FEB-EAD4-2BC3-DCEC6C696E84}"/>
                  </a:ext>
                </a:extLst>
              </p:cNvPr>
              <p:cNvSpPr txBox="1">
                <a:spLocks/>
              </p:cNvSpPr>
              <p:nvPr/>
            </p:nvSpPr>
            <p:spPr>
              <a:xfrm flipH="1">
                <a:off x="390580" y="1649506"/>
                <a:ext cx="1498575" cy="405683"/>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1000"/>
                  </a:spcBef>
                  <a:spcAft>
                    <a:spcPts val="0"/>
                  </a:spcAft>
                  <a:buClr>
                    <a:srgbClr val="3C2DDA"/>
                  </a:buClr>
                  <a:buSzTx/>
                  <a:buFont typeface="Arial" panose="020B0604020202020204" pitchFamily="34" charset="0"/>
                  <a:buNone/>
                  <a:tabLst/>
                  <a:defRPr/>
                </a:pP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IP Tools, Platforms  Analytics Packs</a:t>
                </a:r>
              </a:p>
            </p:txBody>
          </p:sp>
          <p:sp>
            <p:nvSpPr>
              <p:cNvPr id="18" name="Text Placeholder 1">
                <a:extLst>
                  <a:ext uri="{FF2B5EF4-FFF2-40B4-BE49-F238E27FC236}">
                    <a16:creationId xmlns:a16="http://schemas.microsoft.com/office/drawing/2014/main" id="{DB4C309C-6A87-89F3-36F1-81EDFF3D9CDC}"/>
                  </a:ext>
                </a:extLst>
              </p:cNvPr>
              <p:cNvSpPr txBox="1">
                <a:spLocks/>
              </p:cNvSpPr>
              <p:nvPr/>
            </p:nvSpPr>
            <p:spPr>
              <a:xfrm flipH="1">
                <a:off x="390580" y="1158501"/>
                <a:ext cx="1498575" cy="4241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2800" i="0" u="none" strike="noStrike" kern="1200" cap="none" spc="0" normalizeH="0" baseline="0" noProof="0">
                    <a:ln>
                      <a:noFill/>
                    </a:ln>
                    <a:solidFill>
                      <a:schemeClr val="bg1"/>
                    </a:solidFill>
                    <a:effectLst/>
                    <a:uLnTx/>
                    <a:uFillTx/>
                    <a:latin typeface="Manrope"/>
                    <a:ea typeface="Helvetica Neue"/>
                    <a:cs typeface="Helvetica Neue"/>
                  </a:rPr>
                  <a:t>18+</a:t>
                </a:r>
              </a:p>
            </p:txBody>
          </p:sp>
        </p:grpSp>
        <p:grpSp>
          <p:nvGrpSpPr>
            <p:cNvPr id="19" name="Group 18">
              <a:extLst>
                <a:ext uri="{FF2B5EF4-FFF2-40B4-BE49-F238E27FC236}">
                  <a16:creationId xmlns:a16="http://schemas.microsoft.com/office/drawing/2014/main" id="{D181947F-BE38-27F7-4936-AEC1ECCF2F67}"/>
                </a:ext>
              </a:extLst>
            </p:cNvPr>
            <p:cNvGrpSpPr/>
            <p:nvPr/>
          </p:nvGrpSpPr>
          <p:grpSpPr>
            <a:xfrm>
              <a:off x="2328619" y="1158501"/>
              <a:ext cx="1498576" cy="896688"/>
              <a:chOff x="207896" y="1158501"/>
              <a:chExt cx="1498576" cy="896688"/>
            </a:xfrm>
          </p:grpSpPr>
          <p:sp>
            <p:nvSpPr>
              <p:cNvPr id="20" name="Text Placeholder 1">
                <a:extLst>
                  <a:ext uri="{FF2B5EF4-FFF2-40B4-BE49-F238E27FC236}">
                    <a16:creationId xmlns:a16="http://schemas.microsoft.com/office/drawing/2014/main" id="{7A3BE107-4379-0134-8044-3B5D4C1BA3ED}"/>
                  </a:ext>
                </a:extLst>
              </p:cNvPr>
              <p:cNvSpPr txBox="1">
                <a:spLocks/>
              </p:cNvSpPr>
              <p:nvPr/>
            </p:nvSpPr>
            <p:spPr>
              <a:xfrm flipH="1">
                <a:off x="207896" y="1649506"/>
                <a:ext cx="1498576" cy="405683"/>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1000"/>
                  </a:spcBef>
                  <a:spcAft>
                    <a:spcPts val="0"/>
                  </a:spcAft>
                  <a:buClr>
                    <a:srgbClr val="3C2DDA"/>
                  </a:buClr>
                  <a:buSzTx/>
                  <a:buFont typeface="Arial" panose="020B0604020202020204" pitchFamily="34" charset="0"/>
                  <a:buNone/>
                  <a:tabLst/>
                  <a:defRPr/>
                </a:pP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AI/GenAI Certified Employees</a:t>
                </a:r>
              </a:p>
            </p:txBody>
          </p:sp>
          <p:sp>
            <p:nvSpPr>
              <p:cNvPr id="21" name="Text Placeholder 1">
                <a:extLst>
                  <a:ext uri="{FF2B5EF4-FFF2-40B4-BE49-F238E27FC236}">
                    <a16:creationId xmlns:a16="http://schemas.microsoft.com/office/drawing/2014/main" id="{F16D675E-0D4D-0F2F-3154-7722B949EC5F}"/>
                  </a:ext>
                </a:extLst>
              </p:cNvPr>
              <p:cNvSpPr txBox="1">
                <a:spLocks/>
              </p:cNvSpPr>
              <p:nvPr/>
            </p:nvSpPr>
            <p:spPr>
              <a:xfrm flipH="1">
                <a:off x="207896" y="1158501"/>
                <a:ext cx="1498576" cy="4241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2800" i="0" u="none" strike="noStrike" kern="1200" cap="none" spc="0" normalizeH="0" baseline="0" noProof="0">
                    <a:ln>
                      <a:noFill/>
                    </a:ln>
                    <a:solidFill>
                      <a:schemeClr val="bg1"/>
                    </a:solidFill>
                    <a:effectLst/>
                    <a:uLnTx/>
                    <a:uFillTx/>
                    <a:latin typeface="Manrope"/>
                    <a:ea typeface="Helvetica Neue"/>
                    <a:cs typeface="Helvetica Neue"/>
                  </a:rPr>
                  <a:t>99%</a:t>
                </a:r>
              </a:p>
            </p:txBody>
          </p:sp>
        </p:grpSp>
        <p:grpSp>
          <p:nvGrpSpPr>
            <p:cNvPr id="22" name="Group 21">
              <a:extLst>
                <a:ext uri="{FF2B5EF4-FFF2-40B4-BE49-F238E27FC236}">
                  <a16:creationId xmlns:a16="http://schemas.microsoft.com/office/drawing/2014/main" id="{2268C222-419E-8F05-5062-2AE646B3218E}"/>
                </a:ext>
              </a:extLst>
            </p:cNvPr>
            <p:cNvGrpSpPr/>
            <p:nvPr/>
          </p:nvGrpSpPr>
          <p:grpSpPr>
            <a:xfrm>
              <a:off x="2328619" y="2559598"/>
              <a:ext cx="1498576" cy="896688"/>
              <a:chOff x="207896" y="1158501"/>
              <a:chExt cx="1498576" cy="896688"/>
            </a:xfrm>
          </p:grpSpPr>
          <p:sp>
            <p:nvSpPr>
              <p:cNvPr id="23" name="Text Placeholder 1">
                <a:extLst>
                  <a:ext uri="{FF2B5EF4-FFF2-40B4-BE49-F238E27FC236}">
                    <a16:creationId xmlns:a16="http://schemas.microsoft.com/office/drawing/2014/main" id="{2F920EA1-B9C2-7BC1-6EA4-628CBD29680F}"/>
                  </a:ext>
                </a:extLst>
              </p:cNvPr>
              <p:cNvSpPr txBox="1">
                <a:spLocks/>
              </p:cNvSpPr>
              <p:nvPr/>
            </p:nvSpPr>
            <p:spPr>
              <a:xfrm flipH="1">
                <a:off x="207896" y="1649506"/>
                <a:ext cx="1498576" cy="405683"/>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1000"/>
                  </a:spcBef>
                  <a:spcAft>
                    <a:spcPts val="0"/>
                  </a:spcAft>
                  <a:buClr>
                    <a:srgbClr val="3C2DDA"/>
                  </a:buClr>
                  <a:buSzTx/>
                  <a:buFont typeface="Arial" panose="020B0604020202020204" pitchFamily="34" charset="0"/>
                  <a:buNone/>
                  <a:tabLst/>
                  <a:defRPr/>
                </a:pP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Domain SME’s with </a:t>
                </a:r>
                <a:b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b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AI Specialisation</a:t>
                </a:r>
              </a:p>
            </p:txBody>
          </p:sp>
          <p:sp>
            <p:nvSpPr>
              <p:cNvPr id="24" name="Text Placeholder 1">
                <a:extLst>
                  <a:ext uri="{FF2B5EF4-FFF2-40B4-BE49-F238E27FC236}">
                    <a16:creationId xmlns:a16="http://schemas.microsoft.com/office/drawing/2014/main" id="{19DB69BE-09E3-8536-73D1-34060DFC992F}"/>
                  </a:ext>
                </a:extLst>
              </p:cNvPr>
              <p:cNvSpPr txBox="1">
                <a:spLocks/>
              </p:cNvSpPr>
              <p:nvPr/>
            </p:nvSpPr>
            <p:spPr>
              <a:xfrm flipH="1">
                <a:off x="207896" y="1158501"/>
                <a:ext cx="1498576" cy="4241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2800" i="0" u="none" strike="noStrike" kern="1200" cap="none" spc="0" normalizeH="0" baseline="0" noProof="0">
                    <a:ln>
                      <a:noFill/>
                    </a:ln>
                    <a:solidFill>
                      <a:schemeClr val="bg1"/>
                    </a:solidFill>
                    <a:effectLst/>
                    <a:uLnTx/>
                    <a:uFillTx/>
                    <a:latin typeface="Manrope"/>
                    <a:ea typeface="Helvetica Neue"/>
                    <a:cs typeface="Helvetica Neue"/>
                  </a:rPr>
                  <a:t>5000+</a:t>
                </a:r>
              </a:p>
            </p:txBody>
          </p:sp>
        </p:grpSp>
        <p:grpSp>
          <p:nvGrpSpPr>
            <p:cNvPr id="25" name="Group 24">
              <a:extLst>
                <a:ext uri="{FF2B5EF4-FFF2-40B4-BE49-F238E27FC236}">
                  <a16:creationId xmlns:a16="http://schemas.microsoft.com/office/drawing/2014/main" id="{C1DAE571-FC7E-A1C7-3AF0-D541828585F4}"/>
                </a:ext>
              </a:extLst>
            </p:cNvPr>
            <p:cNvGrpSpPr/>
            <p:nvPr/>
          </p:nvGrpSpPr>
          <p:grpSpPr>
            <a:xfrm>
              <a:off x="2328619" y="3960695"/>
              <a:ext cx="1498576" cy="896688"/>
              <a:chOff x="207896" y="1158501"/>
              <a:chExt cx="1498576" cy="896688"/>
            </a:xfrm>
          </p:grpSpPr>
          <p:sp>
            <p:nvSpPr>
              <p:cNvPr id="26" name="Text Placeholder 1">
                <a:extLst>
                  <a:ext uri="{FF2B5EF4-FFF2-40B4-BE49-F238E27FC236}">
                    <a16:creationId xmlns:a16="http://schemas.microsoft.com/office/drawing/2014/main" id="{7AD7EE2F-081E-3E05-65D0-7AF72581F189}"/>
                  </a:ext>
                </a:extLst>
              </p:cNvPr>
              <p:cNvSpPr txBox="1">
                <a:spLocks/>
              </p:cNvSpPr>
              <p:nvPr/>
            </p:nvSpPr>
            <p:spPr>
              <a:xfrm flipH="1">
                <a:off x="207896" y="1649506"/>
                <a:ext cx="1498576" cy="405683"/>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1000"/>
                  </a:spcBef>
                  <a:spcAft>
                    <a:spcPts val="0"/>
                  </a:spcAft>
                  <a:buClr>
                    <a:srgbClr val="3C2DDA"/>
                  </a:buClr>
                  <a:buSzTx/>
                  <a:buFont typeface="Arial" panose="020B0604020202020204" pitchFamily="34" charset="0"/>
                  <a:buNone/>
                  <a:tabLst/>
                  <a:defRPr/>
                </a:pP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GenAI </a:t>
                </a:r>
                <a:b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b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Accelerator kits</a:t>
                </a:r>
              </a:p>
            </p:txBody>
          </p:sp>
          <p:sp>
            <p:nvSpPr>
              <p:cNvPr id="27" name="Text Placeholder 1">
                <a:extLst>
                  <a:ext uri="{FF2B5EF4-FFF2-40B4-BE49-F238E27FC236}">
                    <a16:creationId xmlns:a16="http://schemas.microsoft.com/office/drawing/2014/main" id="{D912B6F1-5B00-F7B1-BFE2-AC1BAB7FC081}"/>
                  </a:ext>
                </a:extLst>
              </p:cNvPr>
              <p:cNvSpPr txBox="1">
                <a:spLocks/>
              </p:cNvSpPr>
              <p:nvPr/>
            </p:nvSpPr>
            <p:spPr>
              <a:xfrm flipH="1">
                <a:off x="207896" y="1158501"/>
                <a:ext cx="1498576" cy="4241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2800" i="0" u="none" strike="noStrike" kern="1200" cap="none" spc="0" normalizeH="0" baseline="0" noProof="0">
                    <a:ln>
                      <a:noFill/>
                    </a:ln>
                    <a:solidFill>
                      <a:schemeClr val="bg1"/>
                    </a:solidFill>
                    <a:effectLst/>
                    <a:uLnTx/>
                    <a:uFillTx/>
                    <a:latin typeface="Manrope"/>
                    <a:ea typeface="Helvetica Neue"/>
                    <a:cs typeface="Helvetica Neue"/>
                  </a:rPr>
                  <a:t>25+</a:t>
                </a:r>
              </a:p>
            </p:txBody>
          </p:sp>
        </p:grpSp>
        <p:grpSp>
          <p:nvGrpSpPr>
            <p:cNvPr id="28" name="Group 27">
              <a:extLst>
                <a:ext uri="{FF2B5EF4-FFF2-40B4-BE49-F238E27FC236}">
                  <a16:creationId xmlns:a16="http://schemas.microsoft.com/office/drawing/2014/main" id="{8BFACB72-2515-5270-775E-44F52D95FBAF}"/>
                </a:ext>
              </a:extLst>
            </p:cNvPr>
            <p:cNvGrpSpPr/>
            <p:nvPr/>
          </p:nvGrpSpPr>
          <p:grpSpPr>
            <a:xfrm>
              <a:off x="2328619" y="5361791"/>
              <a:ext cx="1498576" cy="896688"/>
              <a:chOff x="207896" y="1158501"/>
              <a:chExt cx="1498576" cy="896688"/>
            </a:xfrm>
          </p:grpSpPr>
          <p:sp>
            <p:nvSpPr>
              <p:cNvPr id="29" name="Text Placeholder 1">
                <a:extLst>
                  <a:ext uri="{FF2B5EF4-FFF2-40B4-BE49-F238E27FC236}">
                    <a16:creationId xmlns:a16="http://schemas.microsoft.com/office/drawing/2014/main" id="{77CA9651-9FB7-730E-174D-7512AA5EB3D6}"/>
                  </a:ext>
                </a:extLst>
              </p:cNvPr>
              <p:cNvSpPr txBox="1">
                <a:spLocks/>
              </p:cNvSpPr>
              <p:nvPr/>
            </p:nvSpPr>
            <p:spPr>
              <a:xfrm flipH="1">
                <a:off x="207896" y="1649506"/>
                <a:ext cx="1498576" cy="405683"/>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1000"/>
                  </a:spcBef>
                  <a:spcAft>
                    <a:spcPts val="0"/>
                  </a:spcAft>
                  <a:buClr>
                    <a:srgbClr val="3C2DDA"/>
                  </a:buClr>
                  <a:buSzTx/>
                  <a:buFont typeface="Arial" panose="020B0604020202020204" pitchFamily="34" charset="0"/>
                  <a:buNone/>
                  <a:tabLst/>
                  <a:defRPr/>
                </a:pPr>
                <a:r>
                  <a:rPr kumimoji="0" lang="en-GB" sz="1200" b="0" i="0" u="none" strike="noStrike" kern="1200" cap="none" spc="0" normalizeH="0" baseline="0" noProof="0">
                    <a:ln>
                      <a:noFill/>
                    </a:ln>
                    <a:solidFill>
                      <a:srgbClr val="FFFFFF"/>
                    </a:solidFill>
                    <a:effectLst/>
                    <a:uLnTx/>
                    <a:uFillTx/>
                    <a:latin typeface="Manrope"/>
                    <a:ea typeface="Helvetica Neue"/>
                    <a:cs typeface="Helvetica Neue"/>
                  </a:rPr>
                  <a:t>GenAI Production Deployments</a:t>
                </a:r>
              </a:p>
            </p:txBody>
          </p:sp>
          <p:sp>
            <p:nvSpPr>
              <p:cNvPr id="30" name="Text Placeholder 1">
                <a:extLst>
                  <a:ext uri="{FF2B5EF4-FFF2-40B4-BE49-F238E27FC236}">
                    <a16:creationId xmlns:a16="http://schemas.microsoft.com/office/drawing/2014/main" id="{9D125004-6C8D-D07E-5C4A-61B31DDFE09D}"/>
                  </a:ext>
                </a:extLst>
              </p:cNvPr>
              <p:cNvSpPr txBox="1">
                <a:spLocks/>
              </p:cNvSpPr>
              <p:nvPr/>
            </p:nvSpPr>
            <p:spPr>
              <a:xfrm flipH="1">
                <a:off x="207896" y="1158501"/>
                <a:ext cx="1498576" cy="4241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2800" i="0" u="none" strike="noStrike" kern="1200" cap="none" spc="0" normalizeH="0" baseline="0" noProof="0">
                    <a:ln>
                      <a:noFill/>
                    </a:ln>
                    <a:solidFill>
                      <a:schemeClr val="bg1"/>
                    </a:solidFill>
                    <a:effectLst/>
                    <a:uLnTx/>
                    <a:uFillTx/>
                    <a:latin typeface="Manrope"/>
                    <a:ea typeface="Helvetica Neue"/>
                    <a:cs typeface="Helvetica Neue"/>
                  </a:rPr>
                  <a:t>15+</a:t>
                </a:r>
              </a:p>
            </p:txBody>
          </p:sp>
        </p:grpSp>
      </p:grpSp>
      <p:grpSp>
        <p:nvGrpSpPr>
          <p:cNvPr id="123" name="Group 122">
            <a:extLst>
              <a:ext uri="{FF2B5EF4-FFF2-40B4-BE49-F238E27FC236}">
                <a16:creationId xmlns:a16="http://schemas.microsoft.com/office/drawing/2014/main" id="{C3ADFF4A-A6F9-EEC7-B0DA-9C49D4ECD8F3}"/>
              </a:ext>
            </a:extLst>
          </p:cNvPr>
          <p:cNvGrpSpPr/>
          <p:nvPr/>
        </p:nvGrpSpPr>
        <p:grpSpPr>
          <a:xfrm>
            <a:off x="4459042" y="1997015"/>
            <a:ext cx="1362375" cy="914437"/>
            <a:chOff x="4384568" y="2057303"/>
            <a:chExt cx="1498612" cy="914437"/>
          </a:xfrm>
        </p:grpSpPr>
        <p:sp>
          <p:nvSpPr>
            <p:cNvPr id="35" name="TextBox 34">
              <a:extLst>
                <a:ext uri="{FF2B5EF4-FFF2-40B4-BE49-F238E27FC236}">
                  <a16:creationId xmlns:a16="http://schemas.microsoft.com/office/drawing/2014/main" id="{3E3E6600-2DC9-D62F-7D58-FF6737940F51}"/>
                </a:ext>
              </a:extLst>
            </p:cNvPr>
            <p:cNvSpPr txBox="1"/>
            <p:nvPr/>
          </p:nvSpPr>
          <p:spPr>
            <a:xfrm>
              <a:off x="4384568" y="2057303"/>
              <a:ext cx="1178506" cy="27699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tx2"/>
                  </a:solidFill>
                  <a:effectLst/>
                  <a:uLnTx/>
                  <a:uFillTx/>
                  <a:latin typeface="Manrope"/>
                  <a:ea typeface="Helvetica Neue"/>
                  <a:cs typeface="Segoe UI" panose="020B0502040204020203" pitchFamily="34" charset="0"/>
                </a:rPr>
                <a:t>Advice</a:t>
              </a:r>
            </a:p>
          </p:txBody>
        </p:sp>
        <p:sp>
          <p:nvSpPr>
            <p:cNvPr id="36" name="TextBox 35">
              <a:extLst>
                <a:ext uri="{FF2B5EF4-FFF2-40B4-BE49-F238E27FC236}">
                  <a16:creationId xmlns:a16="http://schemas.microsoft.com/office/drawing/2014/main" id="{832250FD-D98C-C491-2936-92EF4C9B1976}"/>
                </a:ext>
              </a:extLst>
            </p:cNvPr>
            <p:cNvSpPr txBox="1"/>
            <p:nvPr/>
          </p:nvSpPr>
          <p:spPr>
            <a:xfrm>
              <a:off x="4384569" y="2263854"/>
              <a:ext cx="1498611" cy="707886"/>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75000"/>
                      <a:lumOff val="25000"/>
                    </a:srgbClr>
                  </a:solidFill>
                  <a:effectLst/>
                  <a:uLnTx/>
                  <a:uFillTx/>
                  <a:latin typeface="Manrope"/>
                  <a:ea typeface="Helvetica Neue"/>
                  <a:cs typeface="Segoe UI" panose="020B0502040204020203" pitchFamily="34" charset="0"/>
                </a:rPr>
                <a:t>Tailored Data &amp; AI strategy that aligns with client's business goals</a:t>
              </a:r>
            </a:p>
          </p:txBody>
        </p:sp>
      </p:grpSp>
      <p:grpSp>
        <p:nvGrpSpPr>
          <p:cNvPr id="124" name="Group 123">
            <a:extLst>
              <a:ext uri="{FF2B5EF4-FFF2-40B4-BE49-F238E27FC236}">
                <a16:creationId xmlns:a16="http://schemas.microsoft.com/office/drawing/2014/main" id="{86DCAA63-A478-9A83-D22E-A8ED47A35DE3}"/>
              </a:ext>
            </a:extLst>
          </p:cNvPr>
          <p:cNvGrpSpPr/>
          <p:nvPr/>
        </p:nvGrpSpPr>
        <p:grpSpPr>
          <a:xfrm>
            <a:off x="4529268" y="1283435"/>
            <a:ext cx="641184" cy="641184"/>
            <a:chOff x="4832713" y="1283435"/>
            <a:chExt cx="641184" cy="641184"/>
          </a:xfrm>
        </p:grpSpPr>
        <p:sp>
          <p:nvSpPr>
            <p:cNvPr id="107" name="Oval 106">
              <a:extLst>
                <a:ext uri="{FF2B5EF4-FFF2-40B4-BE49-F238E27FC236}">
                  <a16:creationId xmlns:a16="http://schemas.microsoft.com/office/drawing/2014/main" id="{8A839FED-FCDA-6A1B-2494-6C7DFB98D539}"/>
                </a:ext>
              </a:extLst>
            </p:cNvPr>
            <p:cNvSpPr/>
            <p:nvPr/>
          </p:nvSpPr>
          <p:spPr>
            <a:xfrm>
              <a:off x="4832713" y="1283435"/>
              <a:ext cx="641184" cy="641184"/>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c 41">
              <a:extLst>
                <a:ext uri="{FF2B5EF4-FFF2-40B4-BE49-F238E27FC236}">
                  <a16:creationId xmlns:a16="http://schemas.microsoft.com/office/drawing/2014/main" id="{8BB90C86-923A-7F76-57FD-E7A7A87AB3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83240" y="1425412"/>
              <a:ext cx="358852" cy="360196"/>
            </a:xfrm>
            <a:prstGeom prst="rect">
              <a:avLst/>
            </a:prstGeom>
          </p:spPr>
        </p:pic>
      </p:grpSp>
      <p:grpSp>
        <p:nvGrpSpPr>
          <p:cNvPr id="121" name="Group 120">
            <a:extLst>
              <a:ext uri="{FF2B5EF4-FFF2-40B4-BE49-F238E27FC236}">
                <a16:creationId xmlns:a16="http://schemas.microsoft.com/office/drawing/2014/main" id="{CD8A0348-DF76-B70E-F4F6-A3EB55B517E6}"/>
              </a:ext>
            </a:extLst>
          </p:cNvPr>
          <p:cNvGrpSpPr/>
          <p:nvPr/>
        </p:nvGrpSpPr>
        <p:grpSpPr>
          <a:xfrm>
            <a:off x="6189597" y="1994972"/>
            <a:ext cx="1362374" cy="916479"/>
            <a:chOff x="6339024" y="2055260"/>
            <a:chExt cx="1362374" cy="916479"/>
          </a:xfrm>
        </p:grpSpPr>
        <p:sp>
          <p:nvSpPr>
            <p:cNvPr id="45" name="TextBox 44">
              <a:extLst>
                <a:ext uri="{FF2B5EF4-FFF2-40B4-BE49-F238E27FC236}">
                  <a16:creationId xmlns:a16="http://schemas.microsoft.com/office/drawing/2014/main" id="{8FD8FAB2-F53C-D2F9-4BE8-0BBD87E7163A}"/>
                </a:ext>
              </a:extLst>
            </p:cNvPr>
            <p:cNvSpPr txBox="1"/>
            <p:nvPr/>
          </p:nvSpPr>
          <p:spPr>
            <a:xfrm>
              <a:off x="6339024" y="2055260"/>
              <a:ext cx="1178507" cy="27699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tx2"/>
                  </a:solidFill>
                  <a:effectLst/>
                  <a:uLnTx/>
                  <a:uFillTx/>
                  <a:latin typeface="Manrope"/>
                  <a:ea typeface="Helvetica Neue"/>
                  <a:cs typeface="Segoe UI" panose="020B0502040204020203" pitchFamily="34" charset="0"/>
                </a:rPr>
                <a:t>Modernise</a:t>
              </a:r>
            </a:p>
          </p:txBody>
        </p:sp>
        <p:sp>
          <p:nvSpPr>
            <p:cNvPr id="46" name="TextBox 45">
              <a:extLst>
                <a:ext uri="{FF2B5EF4-FFF2-40B4-BE49-F238E27FC236}">
                  <a16:creationId xmlns:a16="http://schemas.microsoft.com/office/drawing/2014/main" id="{28543D2B-79C0-F3CC-3C66-0EED47999836}"/>
                </a:ext>
              </a:extLst>
            </p:cNvPr>
            <p:cNvSpPr txBox="1"/>
            <p:nvPr/>
          </p:nvSpPr>
          <p:spPr>
            <a:xfrm>
              <a:off x="6339024" y="2263853"/>
              <a:ext cx="1362374" cy="707886"/>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75000"/>
                      <a:lumOff val="25000"/>
                    </a:srgbClr>
                  </a:solidFill>
                  <a:effectLst/>
                  <a:uLnTx/>
                  <a:uFillTx/>
                  <a:latin typeface="Manrope"/>
                  <a:ea typeface="Helvetica Neue"/>
                  <a:cs typeface="Segoe UI" panose="020B0502040204020203" pitchFamily="34" charset="0"/>
                </a:rPr>
                <a:t>Modernising client’s state-of-the-art Data &amp; AI ecosystems.</a:t>
              </a:r>
            </a:p>
          </p:txBody>
        </p:sp>
      </p:grpSp>
      <p:grpSp>
        <p:nvGrpSpPr>
          <p:cNvPr id="112" name="Group 111">
            <a:extLst>
              <a:ext uri="{FF2B5EF4-FFF2-40B4-BE49-F238E27FC236}">
                <a16:creationId xmlns:a16="http://schemas.microsoft.com/office/drawing/2014/main" id="{DC03AC00-8D1D-322F-3B4A-F911167C4DA1}"/>
              </a:ext>
            </a:extLst>
          </p:cNvPr>
          <p:cNvGrpSpPr/>
          <p:nvPr/>
        </p:nvGrpSpPr>
        <p:grpSpPr>
          <a:xfrm>
            <a:off x="6246608" y="1283435"/>
            <a:ext cx="641184" cy="641184"/>
            <a:chOff x="6617348" y="1283435"/>
            <a:chExt cx="641184" cy="641184"/>
          </a:xfrm>
        </p:grpSpPr>
        <p:sp>
          <p:nvSpPr>
            <p:cNvPr id="109" name="Oval 108">
              <a:extLst>
                <a:ext uri="{FF2B5EF4-FFF2-40B4-BE49-F238E27FC236}">
                  <a16:creationId xmlns:a16="http://schemas.microsoft.com/office/drawing/2014/main" id="{74DDB8C4-6C06-68C0-44CD-E152035F112D}"/>
                </a:ext>
              </a:extLst>
            </p:cNvPr>
            <p:cNvSpPr/>
            <p:nvPr/>
          </p:nvSpPr>
          <p:spPr>
            <a:xfrm>
              <a:off x="6617348" y="1283435"/>
              <a:ext cx="641184" cy="641184"/>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E03E8A91-BF96-1008-235A-839C9EB2B379}"/>
                </a:ext>
              </a:extLst>
            </p:cNvPr>
            <p:cNvSpPr/>
            <p:nvPr/>
          </p:nvSpPr>
          <p:spPr>
            <a:xfrm>
              <a:off x="6730968" y="1322854"/>
              <a:ext cx="499992" cy="499991"/>
            </a:xfrm>
            <a:custGeom>
              <a:avLst/>
              <a:gdLst>
                <a:gd name="connsiteX0" fmla="*/ 679689 w 1359377"/>
                <a:gd name="connsiteY0" fmla="*/ 1359377 h 1359376"/>
                <a:gd name="connsiteX1" fmla="*/ 199077 w 1359377"/>
                <a:gd name="connsiteY1" fmla="*/ 1160300 h 1359376"/>
                <a:gd name="connsiteX2" fmla="*/ 0 w 1359377"/>
                <a:gd name="connsiteY2" fmla="*/ 679688 h 1359376"/>
                <a:gd name="connsiteX3" fmla="*/ 199077 w 1359377"/>
                <a:gd name="connsiteY3" fmla="*/ 199077 h 1359376"/>
                <a:gd name="connsiteX4" fmla="*/ 679689 w 1359377"/>
                <a:gd name="connsiteY4" fmla="*/ 0 h 1359376"/>
                <a:gd name="connsiteX5" fmla="*/ 1160300 w 1359377"/>
                <a:gd name="connsiteY5" fmla="*/ 199077 h 1359376"/>
                <a:gd name="connsiteX6" fmla="*/ 1359377 w 1359377"/>
                <a:gd name="connsiteY6" fmla="*/ 679688 h 1359376"/>
                <a:gd name="connsiteX7" fmla="*/ 1160300 w 1359377"/>
                <a:gd name="connsiteY7" fmla="*/ 1160300 h 1359376"/>
                <a:gd name="connsiteX8" fmla="*/ 679689 w 1359377"/>
                <a:gd name="connsiteY8" fmla="*/ 1359377 h 1359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9377" h="1359376">
                  <a:moveTo>
                    <a:pt x="679689" y="1359377"/>
                  </a:moveTo>
                  <a:cubicBezTo>
                    <a:pt x="498146" y="1359377"/>
                    <a:pt x="327436" y="1288694"/>
                    <a:pt x="199077" y="1160300"/>
                  </a:cubicBezTo>
                  <a:cubicBezTo>
                    <a:pt x="70682" y="1031941"/>
                    <a:pt x="0" y="861231"/>
                    <a:pt x="0" y="679688"/>
                  </a:cubicBezTo>
                  <a:cubicBezTo>
                    <a:pt x="0" y="498146"/>
                    <a:pt x="70682" y="327436"/>
                    <a:pt x="199077" y="199077"/>
                  </a:cubicBezTo>
                  <a:cubicBezTo>
                    <a:pt x="327472" y="70682"/>
                    <a:pt x="498146" y="0"/>
                    <a:pt x="679689" y="0"/>
                  </a:cubicBezTo>
                  <a:cubicBezTo>
                    <a:pt x="861231" y="0"/>
                    <a:pt x="1031941" y="70682"/>
                    <a:pt x="1160300" y="199077"/>
                  </a:cubicBezTo>
                  <a:cubicBezTo>
                    <a:pt x="1288695" y="327472"/>
                    <a:pt x="1359377" y="498146"/>
                    <a:pt x="1359377" y="679688"/>
                  </a:cubicBezTo>
                  <a:cubicBezTo>
                    <a:pt x="1359377" y="861231"/>
                    <a:pt x="1288695" y="1031941"/>
                    <a:pt x="1160300" y="1160300"/>
                  </a:cubicBezTo>
                  <a:cubicBezTo>
                    <a:pt x="1031905" y="1288694"/>
                    <a:pt x="861231" y="1359377"/>
                    <a:pt x="679689" y="1359377"/>
                  </a:cubicBezTo>
                  <a:close/>
                </a:path>
              </a:pathLst>
            </a:custGeom>
            <a:solidFill>
              <a:schemeClr val="bg1"/>
            </a:solidFill>
            <a:ln w="36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grpSp>
          <p:nvGrpSpPr>
            <p:cNvPr id="47" name="Group 46">
              <a:extLst>
                <a:ext uri="{FF2B5EF4-FFF2-40B4-BE49-F238E27FC236}">
                  <a16:creationId xmlns:a16="http://schemas.microsoft.com/office/drawing/2014/main" id="{B64CF291-775F-D99F-AA30-9CEDCA498448}"/>
                </a:ext>
              </a:extLst>
            </p:cNvPr>
            <p:cNvGrpSpPr/>
            <p:nvPr/>
          </p:nvGrpSpPr>
          <p:grpSpPr>
            <a:xfrm>
              <a:off x="6735169" y="1398966"/>
              <a:ext cx="409446" cy="410122"/>
              <a:chOff x="4301200" y="2221258"/>
              <a:chExt cx="611168" cy="612176"/>
            </a:xfrm>
          </p:grpSpPr>
          <p:sp>
            <p:nvSpPr>
              <p:cNvPr id="48" name="Freeform: Shape 47">
                <a:extLst>
                  <a:ext uri="{FF2B5EF4-FFF2-40B4-BE49-F238E27FC236}">
                    <a16:creationId xmlns:a16="http://schemas.microsoft.com/office/drawing/2014/main" id="{E7A0B967-EAD5-A84E-D07C-D938BF1B71DC}"/>
                  </a:ext>
                </a:extLst>
              </p:cNvPr>
              <p:cNvSpPr/>
              <p:nvPr/>
            </p:nvSpPr>
            <p:spPr>
              <a:xfrm>
                <a:off x="4301200" y="2221258"/>
                <a:ext cx="611168" cy="612176"/>
              </a:xfrm>
              <a:custGeom>
                <a:avLst/>
                <a:gdLst>
                  <a:gd name="connsiteX0" fmla="*/ 360105 w 611168"/>
                  <a:gd name="connsiteY0" fmla="*/ 556286 h 612176"/>
                  <a:gd name="connsiteX1" fmla="*/ 360751 w 611168"/>
                  <a:gd name="connsiteY1" fmla="*/ 605054 h 612176"/>
                  <a:gd name="connsiteX2" fmla="*/ 353531 w 611168"/>
                  <a:gd name="connsiteY2" fmla="*/ 612176 h 612176"/>
                  <a:gd name="connsiteX3" fmla="*/ 254349 w 611168"/>
                  <a:gd name="connsiteY3" fmla="*/ 611483 h 612176"/>
                  <a:gd name="connsiteX4" fmla="*/ 247227 w 611168"/>
                  <a:gd name="connsiteY4" fmla="*/ 604262 h 612176"/>
                  <a:gd name="connsiteX5" fmla="*/ 247569 w 611168"/>
                  <a:gd name="connsiteY5" fmla="*/ 555498 h 612176"/>
                  <a:gd name="connsiteX6" fmla="*/ 206424 w 611168"/>
                  <a:gd name="connsiteY6" fmla="*/ 542121 h 612176"/>
                  <a:gd name="connsiteX7" fmla="*/ 168071 w 611168"/>
                  <a:gd name="connsiteY7" fmla="*/ 521907 h 612176"/>
                  <a:gd name="connsiteX8" fmla="*/ 133346 w 611168"/>
                  <a:gd name="connsiteY8" fmla="*/ 556154 h 612176"/>
                  <a:gd name="connsiteX9" fmla="*/ 123206 w 611168"/>
                  <a:gd name="connsiteY9" fmla="*/ 556084 h 612176"/>
                  <a:gd name="connsiteX10" fmla="*/ 53562 w 611168"/>
                  <a:gd name="connsiteY10" fmla="*/ 485461 h 612176"/>
                  <a:gd name="connsiteX11" fmla="*/ 53633 w 611168"/>
                  <a:gd name="connsiteY11" fmla="*/ 475321 h 612176"/>
                  <a:gd name="connsiteX12" fmla="*/ 88358 w 611168"/>
                  <a:gd name="connsiteY12" fmla="*/ 441078 h 612176"/>
                  <a:gd name="connsiteX13" fmla="*/ 68683 w 611168"/>
                  <a:gd name="connsiteY13" fmla="*/ 402440 h 612176"/>
                  <a:gd name="connsiteX14" fmla="*/ 55886 w 611168"/>
                  <a:gd name="connsiteY14" fmla="*/ 361117 h 612176"/>
                  <a:gd name="connsiteX15" fmla="*/ 7122 w 611168"/>
                  <a:gd name="connsiteY15" fmla="*/ 360775 h 612176"/>
                  <a:gd name="connsiteX16" fmla="*/ 0 w 611168"/>
                  <a:gd name="connsiteY16" fmla="*/ 353554 h 612176"/>
                  <a:gd name="connsiteX17" fmla="*/ 694 w 611168"/>
                  <a:gd name="connsiteY17" fmla="*/ 254372 h 612176"/>
                  <a:gd name="connsiteX18" fmla="*/ 7914 w 611168"/>
                  <a:gd name="connsiteY18" fmla="*/ 247250 h 612176"/>
                  <a:gd name="connsiteX19" fmla="*/ 56678 w 611168"/>
                  <a:gd name="connsiteY19" fmla="*/ 247592 h 612176"/>
                  <a:gd name="connsiteX20" fmla="*/ 70061 w 611168"/>
                  <a:gd name="connsiteY20" fmla="*/ 206438 h 612176"/>
                  <a:gd name="connsiteX21" fmla="*/ 90270 w 611168"/>
                  <a:gd name="connsiteY21" fmla="*/ 168090 h 612176"/>
                  <a:gd name="connsiteX22" fmla="*/ 56027 w 611168"/>
                  <a:gd name="connsiteY22" fmla="*/ 133364 h 612176"/>
                  <a:gd name="connsiteX23" fmla="*/ 56097 w 611168"/>
                  <a:gd name="connsiteY23" fmla="*/ 123225 h 612176"/>
                  <a:gd name="connsiteX24" fmla="*/ 126720 w 611168"/>
                  <a:gd name="connsiteY24" fmla="*/ 53581 h 612176"/>
                  <a:gd name="connsiteX25" fmla="*/ 136860 w 611168"/>
                  <a:gd name="connsiteY25" fmla="*/ 53651 h 612176"/>
                  <a:gd name="connsiteX26" fmla="*/ 171103 w 611168"/>
                  <a:gd name="connsiteY26" fmla="*/ 88377 h 612176"/>
                  <a:gd name="connsiteX27" fmla="*/ 209736 w 611168"/>
                  <a:gd name="connsiteY27" fmla="*/ 68702 h 612176"/>
                  <a:gd name="connsiteX28" fmla="*/ 251059 w 611168"/>
                  <a:gd name="connsiteY28" fmla="*/ 55900 h 612176"/>
                  <a:gd name="connsiteX29" fmla="*/ 251401 w 611168"/>
                  <a:gd name="connsiteY29" fmla="*/ 7136 h 612176"/>
                  <a:gd name="connsiteX30" fmla="*/ 258622 w 611168"/>
                  <a:gd name="connsiteY30" fmla="*/ 14 h 612176"/>
                  <a:gd name="connsiteX31" fmla="*/ 357804 w 611168"/>
                  <a:gd name="connsiteY31" fmla="*/ 708 h 612176"/>
                  <a:gd name="connsiteX32" fmla="*/ 364926 w 611168"/>
                  <a:gd name="connsiteY32" fmla="*/ 7928 h 612176"/>
                  <a:gd name="connsiteX33" fmla="*/ 363600 w 611168"/>
                  <a:gd name="connsiteY33" fmla="*/ 56683 h 612176"/>
                  <a:gd name="connsiteX34" fmla="*/ 246580 w 611168"/>
                  <a:gd name="connsiteY34" fmla="*/ 555264 h 612176"/>
                  <a:gd name="connsiteX35" fmla="*/ 246238 w 611168"/>
                  <a:gd name="connsiteY35" fmla="*/ 604253 h 612176"/>
                  <a:gd name="connsiteX36" fmla="*/ 253360 w 611168"/>
                  <a:gd name="connsiteY36" fmla="*/ 611474 h 612176"/>
                  <a:gd name="connsiteX37" fmla="*/ 352542 w 611168"/>
                  <a:gd name="connsiteY37" fmla="*/ 612167 h 612176"/>
                  <a:gd name="connsiteX38" fmla="*/ 359763 w 611168"/>
                  <a:gd name="connsiteY38" fmla="*/ 605045 h 612176"/>
                  <a:gd name="connsiteX39" fmla="*/ 360105 w 611168"/>
                  <a:gd name="connsiteY39" fmla="*/ 556281 h 612176"/>
                  <a:gd name="connsiteX40" fmla="*/ 401437 w 611168"/>
                  <a:gd name="connsiteY40" fmla="*/ 543480 h 612176"/>
                  <a:gd name="connsiteX41" fmla="*/ 440066 w 611168"/>
                  <a:gd name="connsiteY41" fmla="*/ 523804 h 612176"/>
                  <a:gd name="connsiteX42" fmla="*/ 474314 w 611168"/>
                  <a:gd name="connsiteY42" fmla="*/ 558530 h 612176"/>
                  <a:gd name="connsiteX43" fmla="*/ 484454 w 611168"/>
                  <a:gd name="connsiteY43" fmla="*/ 558600 h 612176"/>
                  <a:gd name="connsiteX44" fmla="*/ 555076 w 611168"/>
                  <a:gd name="connsiteY44" fmla="*/ 488957 h 612176"/>
                  <a:gd name="connsiteX45" fmla="*/ 555147 w 611168"/>
                  <a:gd name="connsiteY45" fmla="*/ 478817 h 612176"/>
                  <a:gd name="connsiteX46" fmla="*/ 520904 w 611168"/>
                  <a:gd name="connsiteY46" fmla="*/ 444091 h 612176"/>
                  <a:gd name="connsiteX47" fmla="*/ 541118 w 611168"/>
                  <a:gd name="connsiteY47" fmla="*/ 405734 h 612176"/>
                  <a:gd name="connsiteX48" fmla="*/ 554491 w 611168"/>
                  <a:gd name="connsiteY48" fmla="*/ 364594 h 612176"/>
                  <a:gd name="connsiteX49" fmla="*/ 603255 w 611168"/>
                  <a:gd name="connsiteY49" fmla="*/ 364936 h 612176"/>
                  <a:gd name="connsiteX50" fmla="*/ 610475 w 611168"/>
                  <a:gd name="connsiteY50" fmla="*/ 357814 h 612176"/>
                  <a:gd name="connsiteX51" fmla="*/ 611169 w 611168"/>
                  <a:gd name="connsiteY51" fmla="*/ 258632 h 612176"/>
                  <a:gd name="connsiteX52" fmla="*/ 604047 w 611168"/>
                  <a:gd name="connsiteY52" fmla="*/ 251411 h 612176"/>
                  <a:gd name="connsiteX53" fmla="*/ 555283 w 611168"/>
                  <a:gd name="connsiteY53" fmla="*/ 251069 h 612176"/>
                  <a:gd name="connsiteX54" fmla="*/ 542481 w 611168"/>
                  <a:gd name="connsiteY54" fmla="*/ 209732 h 612176"/>
                  <a:gd name="connsiteX55" fmla="*/ 522811 w 611168"/>
                  <a:gd name="connsiteY55" fmla="*/ 171108 h 612176"/>
                  <a:gd name="connsiteX56" fmla="*/ 557536 w 611168"/>
                  <a:gd name="connsiteY56" fmla="*/ 136865 h 612176"/>
                  <a:gd name="connsiteX57" fmla="*/ 557607 w 611168"/>
                  <a:gd name="connsiteY57" fmla="*/ 126720 h 612176"/>
                  <a:gd name="connsiteX58" fmla="*/ 487963 w 611168"/>
                  <a:gd name="connsiteY58" fmla="*/ 56097 h 612176"/>
                  <a:gd name="connsiteX59" fmla="*/ 477823 w 611168"/>
                  <a:gd name="connsiteY59" fmla="*/ 56027 h 612176"/>
                  <a:gd name="connsiteX60" fmla="*/ 443098 w 611168"/>
                  <a:gd name="connsiteY60" fmla="*/ 90270 h 612176"/>
                  <a:gd name="connsiteX61" fmla="*/ 404741 w 611168"/>
                  <a:gd name="connsiteY61" fmla="*/ 70056 h 612176"/>
                  <a:gd name="connsiteX62" fmla="*/ 363600 w 611168"/>
                  <a:gd name="connsiteY62" fmla="*/ 56678 h 612176"/>
                  <a:gd name="connsiteX63" fmla="*/ 363942 w 611168"/>
                  <a:gd name="connsiteY63" fmla="*/ 7914 h 612176"/>
                  <a:gd name="connsiteX64" fmla="*/ 356820 w 611168"/>
                  <a:gd name="connsiteY64" fmla="*/ 694 h 612176"/>
                  <a:gd name="connsiteX65" fmla="*/ 257638 w 611168"/>
                  <a:gd name="connsiteY65" fmla="*/ 0 h 612176"/>
                  <a:gd name="connsiteX66" fmla="*/ 250417 w 611168"/>
                  <a:gd name="connsiteY66" fmla="*/ 7122 h 612176"/>
                  <a:gd name="connsiteX67" fmla="*/ 250075 w 611168"/>
                  <a:gd name="connsiteY67" fmla="*/ 56111 h 612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11168" h="612176">
                    <a:moveTo>
                      <a:pt x="360105" y="556286"/>
                    </a:moveTo>
                    <a:lnTo>
                      <a:pt x="360751" y="605054"/>
                    </a:lnTo>
                    <a:cubicBezTo>
                      <a:pt x="360723" y="609014"/>
                      <a:pt x="357490" y="612205"/>
                      <a:pt x="353531" y="612176"/>
                    </a:cubicBezTo>
                    <a:lnTo>
                      <a:pt x="254349" y="611483"/>
                    </a:lnTo>
                    <a:cubicBezTo>
                      <a:pt x="250389" y="611455"/>
                      <a:pt x="247198" y="608222"/>
                      <a:pt x="247227" y="604262"/>
                    </a:cubicBezTo>
                    <a:lnTo>
                      <a:pt x="247569" y="555498"/>
                    </a:lnTo>
                    <a:cubicBezTo>
                      <a:pt x="233315" y="552172"/>
                      <a:pt x="219562" y="547673"/>
                      <a:pt x="206424" y="542121"/>
                    </a:cubicBezTo>
                    <a:cubicBezTo>
                      <a:pt x="193022" y="536456"/>
                      <a:pt x="180202" y="529680"/>
                      <a:pt x="168071" y="521907"/>
                    </a:cubicBezTo>
                    <a:lnTo>
                      <a:pt x="133346" y="556154"/>
                    </a:lnTo>
                    <a:cubicBezTo>
                      <a:pt x="130525" y="558933"/>
                      <a:pt x="125984" y="558905"/>
                      <a:pt x="123206" y="556084"/>
                    </a:cubicBezTo>
                    <a:lnTo>
                      <a:pt x="53562" y="485461"/>
                    </a:lnTo>
                    <a:cubicBezTo>
                      <a:pt x="50779" y="482641"/>
                      <a:pt x="50812" y="478100"/>
                      <a:pt x="53633" y="475321"/>
                    </a:cubicBezTo>
                    <a:lnTo>
                      <a:pt x="88358" y="441078"/>
                    </a:lnTo>
                    <a:cubicBezTo>
                      <a:pt x="80753" y="428839"/>
                      <a:pt x="74156" y="415926"/>
                      <a:pt x="68683" y="402440"/>
                    </a:cubicBezTo>
                    <a:cubicBezTo>
                      <a:pt x="63313" y="389222"/>
                      <a:pt x="59012" y="375413"/>
                      <a:pt x="55886" y="361117"/>
                    </a:cubicBezTo>
                    <a:lnTo>
                      <a:pt x="7122" y="360775"/>
                    </a:lnTo>
                    <a:cubicBezTo>
                      <a:pt x="3163" y="360747"/>
                      <a:pt x="-28" y="357514"/>
                      <a:pt x="0" y="353554"/>
                    </a:cubicBezTo>
                    <a:lnTo>
                      <a:pt x="694" y="254372"/>
                    </a:lnTo>
                    <a:cubicBezTo>
                      <a:pt x="722" y="250413"/>
                      <a:pt x="3955" y="247222"/>
                      <a:pt x="7914" y="247250"/>
                    </a:cubicBezTo>
                    <a:lnTo>
                      <a:pt x="56678" y="247592"/>
                    </a:lnTo>
                    <a:cubicBezTo>
                      <a:pt x="60005" y="233338"/>
                      <a:pt x="64503" y="219586"/>
                      <a:pt x="70061" y="206438"/>
                    </a:cubicBezTo>
                    <a:cubicBezTo>
                      <a:pt x="75726" y="193037"/>
                      <a:pt x="82501" y="180217"/>
                      <a:pt x="90270" y="168090"/>
                    </a:cubicBezTo>
                    <a:lnTo>
                      <a:pt x="56027" y="133364"/>
                    </a:lnTo>
                    <a:cubicBezTo>
                      <a:pt x="53244" y="130544"/>
                      <a:pt x="53276" y="126003"/>
                      <a:pt x="56097" y="123225"/>
                    </a:cubicBezTo>
                    <a:lnTo>
                      <a:pt x="126720" y="53581"/>
                    </a:lnTo>
                    <a:cubicBezTo>
                      <a:pt x="129541" y="50798"/>
                      <a:pt x="134081" y="50831"/>
                      <a:pt x="136860" y="53651"/>
                    </a:cubicBezTo>
                    <a:lnTo>
                      <a:pt x="171103" y="88377"/>
                    </a:lnTo>
                    <a:cubicBezTo>
                      <a:pt x="183337" y="80777"/>
                      <a:pt x="196256" y="74179"/>
                      <a:pt x="209736" y="68702"/>
                    </a:cubicBezTo>
                    <a:cubicBezTo>
                      <a:pt x="222955" y="63332"/>
                      <a:pt x="236763" y="59031"/>
                      <a:pt x="251059" y="55900"/>
                    </a:cubicBezTo>
                    <a:lnTo>
                      <a:pt x="251401" y="7136"/>
                    </a:lnTo>
                    <a:cubicBezTo>
                      <a:pt x="251430" y="3177"/>
                      <a:pt x="254663" y="-14"/>
                      <a:pt x="258622" y="14"/>
                    </a:cubicBezTo>
                    <a:lnTo>
                      <a:pt x="357804" y="708"/>
                    </a:lnTo>
                    <a:cubicBezTo>
                      <a:pt x="361764" y="736"/>
                      <a:pt x="364954" y="3969"/>
                      <a:pt x="364926" y="7928"/>
                    </a:cubicBezTo>
                    <a:lnTo>
                      <a:pt x="363600" y="56683"/>
                    </a:lnTo>
                    <a:moveTo>
                      <a:pt x="246580" y="555264"/>
                    </a:moveTo>
                    <a:lnTo>
                      <a:pt x="246238" y="604253"/>
                    </a:lnTo>
                    <a:cubicBezTo>
                      <a:pt x="246210" y="608212"/>
                      <a:pt x="249401" y="611446"/>
                      <a:pt x="253360" y="611474"/>
                    </a:cubicBezTo>
                    <a:lnTo>
                      <a:pt x="352542" y="612167"/>
                    </a:lnTo>
                    <a:cubicBezTo>
                      <a:pt x="356502" y="612195"/>
                      <a:pt x="359735" y="609004"/>
                      <a:pt x="359763" y="605045"/>
                    </a:cubicBezTo>
                    <a:lnTo>
                      <a:pt x="360105" y="556281"/>
                    </a:lnTo>
                    <a:cubicBezTo>
                      <a:pt x="374406" y="553151"/>
                      <a:pt x="388219" y="548849"/>
                      <a:pt x="401437" y="543480"/>
                    </a:cubicBezTo>
                    <a:cubicBezTo>
                      <a:pt x="414918" y="538002"/>
                      <a:pt x="427832" y="531409"/>
                      <a:pt x="440066" y="523804"/>
                    </a:cubicBezTo>
                    <a:lnTo>
                      <a:pt x="474314" y="558530"/>
                    </a:lnTo>
                    <a:cubicBezTo>
                      <a:pt x="477097" y="561351"/>
                      <a:pt x="481638" y="561384"/>
                      <a:pt x="484454" y="558600"/>
                    </a:cubicBezTo>
                    <a:lnTo>
                      <a:pt x="555076" y="488957"/>
                    </a:lnTo>
                    <a:cubicBezTo>
                      <a:pt x="557897" y="486178"/>
                      <a:pt x="557930" y="481633"/>
                      <a:pt x="555147" y="478817"/>
                    </a:cubicBezTo>
                    <a:lnTo>
                      <a:pt x="520904" y="444091"/>
                    </a:lnTo>
                    <a:cubicBezTo>
                      <a:pt x="528677" y="431960"/>
                      <a:pt x="535453" y="419135"/>
                      <a:pt x="541118" y="405734"/>
                    </a:cubicBezTo>
                    <a:cubicBezTo>
                      <a:pt x="546670" y="392596"/>
                      <a:pt x="551164" y="378848"/>
                      <a:pt x="554491" y="364594"/>
                    </a:cubicBezTo>
                    <a:lnTo>
                      <a:pt x="603255" y="364936"/>
                    </a:lnTo>
                    <a:cubicBezTo>
                      <a:pt x="607214" y="364964"/>
                      <a:pt x="610447" y="361773"/>
                      <a:pt x="610475" y="357814"/>
                    </a:cubicBezTo>
                    <a:lnTo>
                      <a:pt x="611169" y="258632"/>
                    </a:lnTo>
                    <a:cubicBezTo>
                      <a:pt x="611197" y="254672"/>
                      <a:pt x="608006" y="251439"/>
                      <a:pt x="604047" y="251411"/>
                    </a:cubicBezTo>
                    <a:lnTo>
                      <a:pt x="555283" y="251069"/>
                    </a:lnTo>
                    <a:cubicBezTo>
                      <a:pt x="552152" y="236768"/>
                      <a:pt x="547851" y="222955"/>
                      <a:pt x="542481" y="209732"/>
                    </a:cubicBezTo>
                    <a:cubicBezTo>
                      <a:pt x="537004" y="196256"/>
                      <a:pt x="530411" y="183342"/>
                      <a:pt x="522811" y="171108"/>
                    </a:cubicBezTo>
                    <a:lnTo>
                      <a:pt x="557536" y="136865"/>
                    </a:lnTo>
                    <a:cubicBezTo>
                      <a:pt x="560357" y="134081"/>
                      <a:pt x="560390" y="129541"/>
                      <a:pt x="557607" y="126720"/>
                    </a:cubicBezTo>
                    <a:lnTo>
                      <a:pt x="487963" y="56097"/>
                    </a:lnTo>
                    <a:cubicBezTo>
                      <a:pt x="485180" y="53277"/>
                      <a:pt x="480639" y="53244"/>
                      <a:pt x="477823" y="56027"/>
                    </a:cubicBezTo>
                    <a:lnTo>
                      <a:pt x="443098" y="90270"/>
                    </a:lnTo>
                    <a:cubicBezTo>
                      <a:pt x="430966" y="82496"/>
                      <a:pt x="418146" y="75721"/>
                      <a:pt x="404741" y="70056"/>
                    </a:cubicBezTo>
                    <a:cubicBezTo>
                      <a:pt x="391602" y="64503"/>
                      <a:pt x="377850" y="60005"/>
                      <a:pt x="363600" y="56678"/>
                    </a:cubicBezTo>
                    <a:lnTo>
                      <a:pt x="363942" y="7914"/>
                    </a:lnTo>
                    <a:cubicBezTo>
                      <a:pt x="363971" y="3955"/>
                      <a:pt x="360780" y="722"/>
                      <a:pt x="356820" y="694"/>
                    </a:cubicBezTo>
                    <a:lnTo>
                      <a:pt x="257638" y="0"/>
                    </a:lnTo>
                    <a:cubicBezTo>
                      <a:pt x="253679" y="-28"/>
                      <a:pt x="250446" y="3163"/>
                      <a:pt x="250417" y="7122"/>
                    </a:cubicBezTo>
                    <a:lnTo>
                      <a:pt x="250075" y="56111"/>
                    </a:lnTo>
                  </a:path>
                </a:pathLst>
              </a:custGeom>
              <a:solidFill>
                <a:schemeClr val="bg1"/>
              </a:solid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grpSp>
            <p:nvGrpSpPr>
              <p:cNvPr id="49" name="Graphic 116">
                <a:extLst>
                  <a:ext uri="{FF2B5EF4-FFF2-40B4-BE49-F238E27FC236}">
                    <a16:creationId xmlns:a16="http://schemas.microsoft.com/office/drawing/2014/main" id="{F00D87F9-AB13-BE42-049E-A2733B2AAA51}"/>
                  </a:ext>
                </a:extLst>
              </p:cNvPr>
              <p:cNvGrpSpPr/>
              <p:nvPr/>
            </p:nvGrpSpPr>
            <p:grpSpPr>
              <a:xfrm>
                <a:off x="4407929" y="2328492"/>
                <a:ext cx="397711" cy="397712"/>
                <a:chOff x="4407929" y="2328492"/>
                <a:chExt cx="397711" cy="397712"/>
              </a:xfrm>
            </p:grpSpPr>
            <p:sp>
              <p:nvSpPr>
                <p:cNvPr id="50" name="Freeform: Shape 49">
                  <a:extLst>
                    <a:ext uri="{FF2B5EF4-FFF2-40B4-BE49-F238E27FC236}">
                      <a16:creationId xmlns:a16="http://schemas.microsoft.com/office/drawing/2014/main" id="{6067D092-4CE7-68D9-039F-899DF8FCFB2B}"/>
                    </a:ext>
                  </a:extLst>
                </p:cNvPr>
                <p:cNvSpPr/>
                <p:nvPr/>
              </p:nvSpPr>
              <p:spPr>
                <a:xfrm>
                  <a:off x="4407929" y="2328492"/>
                  <a:ext cx="397711" cy="397712"/>
                </a:xfrm>
                <a:custGeom>
                  <a:avLst/>
                  <a:gdLst>
                    <a:gd name="connsiteX0" fmla="*/ 397712 w 397711"/>
                    <a:gd name="connsiteY0" fmla="*/ 198856 h 397712"/>
                    <a:gd name="connsiteX1" fmla="*/ 198856 w 397711"/>
                    <a:gd name="connsiteY1" fmla="*/ 397712 h 397712"/>
                    <a:gd name="connsiteX2" fmla="*/ 0 w 397711"/>
                    <a:gd name="connsiteY2" fmla="*/ 198856 h 397712"/>
                    <a:gd name="connsiteX3" fmla="*/ 198856 w 397711"/>
                    <a:gd name="connsiteY3" fmla="*/ 0 h 397712"/>
                    <a:gd name="connsiteX4" fmla="*/ 397712 w 397711"/>
                    <a:gd name="connsiteY4" fmla="*/ 198856 h 397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711" h="397712">
                      <a:moveTo>
                        <a:pt x="397712" y="198856"/>
                      </a:moveTo>
                      <a:cubicBezTo>
                        <a:pt x="397712" y="308681"/>
                        <a:pt x="308681" y="397712"/>
                        <a:pt x="198856" y="397712"/>
                      </a:cubicBezTo>
                      <a:cubicBezTo>
                        <a:pt x="89031" y="397712"/>
                        <a:pt x="0" y="308681"/>
                        <a:pt x="0" y="198856"/>
                      </a:cubicBezTo>
                      <a:cubicBezTo>
                        <a:pt x="0" y="89031"/>
                        <a:pt x="89031" y="0"/>
                        <a:pt x="198856" y="0"/>
                      </a:cubicBezTo>
                      <a:cubicBezTo>
                        <a:pt x="308681" y="0"/>
                        <a:pt x="397712" y="89031"/>
                        <a:pt x="397712" y="198856"/>
                      </a:cubicBezTo>
                      <a:close/>
                    </a:path>
                  </a:pathLst>
                </a:custGeom>
                <a:solidFill>
                  <a:schemeClr val="bg1"/>
                </a:solid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1" name="Freeform: Shape 50">
                  <a:extLst>
                    <a:ext uri="{FF2B5EF4-FFF2-40B4-BE49-F238E27FC236}">
                      <a16:creationId xmlns:a16="http://schemas.microsoft.com/office/drawing/2014/main" id="{47B57158-DD14-BEB1-403F-4935BA24E9D2}"/>
                    </a:ext>
                  </a:extLst>
                </p:cNvPr>
                <p:cNvSpPr/>
                <p:nvPr/>
              </p:nvSpPr>
              <p:spPr>
                <a:xfrm>
                  <a:off x="4636914" y="2538683"/>
                  <a:ext cx="116772" cy="121101"/>
                </a:xfrm>
                <a:custGeom>
                  <a:avLst/>
                  <a:gdLst>
                    <a:gd name="connsiteX0" fmla="*/ 116772 w 116772"/>
                    <a:gd name="connsiteY0" fmla="*/ 121102 h 121101"/>
                    <a:gd name="connsiteX1" fmla="*/ 27496 w 116772"/>
                    <a:gd name="connsiteY1" fmla="*/ 121102 h 121101"/>
                    <a:gd name="connsiteX2" fmla="*/ 0 w 116772"/>
                    <a:gd name="connsiteY2" fmla="*/ 93606 h 121101"/>
                    <a:gd name="connsiteX3" fmla="*/ 0 w 116772"/>
                    <a:gd name="connsiteY3" fmla="*/ 0 h 121101"/>
                  </a:gdLst>
                  <a:ahLst/>
                  <a:cxnLst>
                    <a:cxn ang="0">
                      <a:pos x="connsiteX0" y="connsiteY0"/>
                    </a:cxn>
                    <a:cxn ang="0">
                      <a:pos x="connsiteX1" y="connsiteY1"/>
                    </a:cxn>
                    <a:cxn ang="0">
                      <a:pos x="connsiteX2" y="connsiteY2"/>
                    </a:cxn>
                    <a:cxn ang="0">
                      <a:pos x="connsiteX3" y="connsiteY3"/>
                    </a:cxn>
                  </a:cxnLst>
                  <a:rect l="l" t="t" r="r" b="b"/>
                  <a:pathLst>
                    <a:path w="116772" h="121101">
                      <a:moveTo>
                        <a:pt x="116772" y="121102"/>
                      </a:moveTo>
                      <a:lnTo>
                        <a:pt x="27496" y="121102"/>
                      </a:lnTo>
                      <a:cubicBezTo>
                        <a:pt x="12375" y="121102"/>
                        <a:pt x="0" y="108731"/>
                        <a:pt x="0" y="93606"/>
                      </a:cubicBezTo>
                      <a:lnTo>
                        <a:pt x="0" y="0"/>
                      </a:lnTo>
                    </a:path>
                  </a:pathLst>
                </a:custGeom>
                <a:no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2" name="Freeform: Shape 51">
                  <a:extLst>
                    <a:ext uri="{FF2B5EF4-FFF2-40B4-BE49-F238E27FC236}">
                      <a16:creationId xmlns:a16="http://schemas.microsoft.com/office/drawing/2014/main" id="{D8318FC8-1E11-404C-94DF-A3609B175B72}"/>
                    </a:ext>
                  </a:extLst>
                </p:cNvPr>
                <p:cNvSpPr/>
                <p:nvPr/>
              </p:nvSpPr>
              <p:spPr>
                <a:xfrm>
                  <a:off x="4613458" y="2515222"/>
                  <a:ext cx="46922" cy="46922"/>
                </a:xfrm>
                <a:custGeom>
                  <a:avLst/>
                  <a:gdLst>
                    <a:gd name="connsiteX0" fmla="*/ 23461 w 46922"/>
                    <a:gd name="connsiteY0" fmla="*/ 46923 h 46922"/>
                    <a:gd name="connsiteX1" fmla="*/ 46923 w 46922"/>
                    <a:gd name="connsiteY1" fmla="*/ 23461 h 46922"/>
                    <a:gd name="connsiteX2" fmla="*/ 23461 w 46922"/>
                    <a:gd name="connsiteY2" fmla="*/ 0 h 46922"/>
                    <a:gd name="connsiteX3" fmla="*/ 0 w 46922"/>
                    <a:gd name="connsiteY3" fmla="*/ 23461 h 46922"/>
                    <a:gd name="connsiteX4" fmla="*/ 23461 w 46922"/>
                    <a:gd name="connsiteY4" fmla="*/ 46923 h 46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2" h="46922">
                      <a:moveTo>
                        <a:pt x="23461" y="46923"/>
                      </a:moveTo>
                      <a:cubicBezTo>
                        <a:pt x="36417" y="46923"/>
                        <a:pt x="46923" y="36417"/>
                        <a:pt x="46923" y="23461"/>
                      </a:cubicBezTo>
                      <a:cubicBezTo>
                        <a:pt x="46923" y="10505"/>
                        <a:pt x="36417" y="0"/>
                        <a:pt x="23461" y="0"/>
                      </a:cubicBezTo>
                      <a:cubicBezTo>
                        <a:pt x="10505" y="0"/>
                        <a:pt x="0" y="10505"/>
                        <a:pt x="0" y="23461"/>
                      </a:cubicBezTo>
                      <a:cubicBezTo>
                        <a:pt x="0" y="36417"/>
                        <a:pt x="10505" y="46923"/>
                        <a:pt x="23461" y="46923"/>
                      </a:cubicBezTo>
                      <a:close/>
                    </a:path>
                  </a:pathLst>
                </a:custGeom>
                <a:solidFill>
                  <a:srgbClr val="FFFFFF"/>
                </a:solid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3" name="Freeform: Shape 52">
                  <a:extLst>
                    <a:ext uri="{FF2B5EF4-FFF2-40B4-BE49-F238E27FC236}">
                      <a16:creationId xmlns:a16="http://schemas.microsoft.com/office/drawing/2014/main" id="{4CEF34CF-BB97-94ED-3180-4DF22BD411FA}"/>
                    </a:ext>
                  </a:extLst>
                </p:cNvPr>
                <p:cNvSpPr/>
                <p:nvPr/>
              </p:nvSpPr>
              <p:spPr>
                <a:xfrm>
                  <a:off x="4638367" y="2457911"/>
                  <a:ext cx="166182" cy="67947"/>
                </a:xfrm>
                <a:custGeom>
                  <a:avLst/>
                  <a:gdLst>
                    <a:gd name="connsiteX0" fmla="*/ 166183 w 166182"/>
                    <a:gd name="connsiteY0" fmla="*/ 67947 h 67947"/>
                    <a:gd name="connsiteX1" fmla="*/ 130604 w 166182"/>
                    <a:gd name="connsiteY1" fmla="*/ 67947 h 67947"/>
                    <a:gd name="connsiteX2" fmla="*/ 103109 w 166182"/>
                    <a:gd name="connsiteY2" fmla="*/ 40452 h 67947"/>
                    <a:gd name="connsiteX3" fmla="*/ 102959 w 166182"/>
                    <a:gd name="connsiteY3" fmla="*/ 27496 h 67947"/>
                    <a:gd name="connsiteX4" fmla="*/ 75463 w 166182"/>
                    <a:gd name="connsiteY4" fmla="*/ 0 h 67947"/>
                    <a:gd name="connsiteX5" fmla="*/ 0 w 166182"/>
                    <a:gd name="connsiteY5" fmla="*/ 0 h 6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182" h="67947">
                      <a:moveTo>
                        <a:pt x="166183" y="67947"/>
                      </a:moveTo>
                      <a:lnTo>
                        <a:pt x="130604" y="67947"/>
                      </a:lnTo>
                      <a:cubicBezTo>
                        <a:pt x="115484" y="67947"/>
                        <a:pt x="103109" y="55577"/>
                        <a:pt x="103109" y="40452"/>
                      </a:cubicBezTo>
                      <a:lnTo>
                        <a:pt x="102959" y="27496"/>
                      </a:lnTo>
                      <a:cubicBezTo>
                        <a:pt x="102959" y="12375"/>
                        <a:pt x="90588" y="0"/>
                        <a:pt x="75463" y="0"/>
                      </a:cubicBezTo>
                      <a:lnTo>
                        <a:pt x="0" y="0"/>
                      </a:lnTo>
                    </a:path>
                  </a:pathLst>
                </a:custGeom>
                <a:no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4" name="Freeform: Shape 53">
                  <a:extLst>
                    <a:ext uri="{FF2B5EF4-FFF2-40B4-BE49-F238E27FC236}">
                      <a16:creationId xmlns:a16="http://schemas.microsoft.com/office/drawing/2014/main" id="{4045CD70-E6FB-03E1-3B12-BFF49D18848D}"/>
                    </a:ext>
                  </a:extLst>
                </p:cNvPr>
                <p:cNvSpPr/>
                <p:nvPr/>
              </p:nvSpPr>
              <p:spPr>
                <a:xfrm rot="-2700000">
                  <a:off x="4614905" y="2434455"/>
                  <a:ext cx="46922" cy="46922"/>
                </a:xfrm>
                <a:custGeom>
                  <a:avLst/>
                  <a:gdLst>
                    <a:gd name="connsiteX0" fmla="*/ 46923 w 46922"/>
                    <a:gd name="connsiteY0" fmla="*/ 23461 h 46922"/>
                    <a:gd name="connsiteX1" fmla="*/ 23461 w 46922"/>
                    <a:gd name="connsiteY1" fmla="*/ 46923 h 46922"/>
                    <a:gd name="connsiteX2" fmla="*/ 0 w 46922"/>
                    <a:gd name="connsiteY2" fmla="*/ 23461 h 46922"/>
                    <a:gd name="connsiteX3" fmla="*/ 23461 w 46922"/>
                    <a:gd name="connsiteY3" fmla="*/ 0 h 46922"/>
                    <a:gd name="connsiteX4" fmla="*/ 46923 w 46922"/>
                    <a:gd name="connsiteY4" fmla="*/ 23461 h 46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2" h="46922">
                      <a:moveTo>
                        <a:pt x="46923" y="23461"/>
                      </a:moveTo>
                      <a:cubicBezTo>
                        <a:pt x="46923" y="36419"/>
                        <a:pt x="36419" y="46923"/>
                        <a:pt x="23461" y="46923"/>
                      </a:cubicBezTo>
                      <a:cubicBezTo>
                        <a:pt x="10504" y="46923"/>
                        <a:pt x="0" y="36419"/>
                        <a:pt x="0" y="23461"/>
                      </a:cubicBezTo>
                      <a:cubicBezTo>
                        <a:pt x="0" y="10504"/>
                        <a:pt x="10504" y="0"/>
                        <a:pt x="23461" y="0"/>
                      </a:cubicBezTo>
                      <a:cubicBezTo>
                        <a:pt x="36419" y="0"/>
                        <a:pt x="46923" y="10504"/>
                        <a:pt x="46923" y="23461"/>
                      </a:cubicBezTo>
                      <a:close/>
                    </a:path>
                  </a:pathLst>
                </a:custGeom>
                <a:solidFill>
                  <a:srgbClr val="FFFFFF"/>
                </a:solid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5" name="Freeform: Shape 54">
                  <a:extLst>
                    <a:ext uri="{FF2B5EF4-FFF2-40B4-BE49-F238E27FC236}">
                      <a16:creationId xmlns:a16="http://schemas.microsoft.com/office/drawing/2014/main" id="{1B17B02D-3468-E4AB-19BA-3E696BB6156B}"/>
                    </a:ext>
                  </a:extLst>
                </p:cNvPr>
                <p:cNvSpPr/>
                <p:nvPr/>
              </p:nvSpPr>
              <p:spPr>
                <a:xfrm>
                  <a:off x="4541725" y="2493728"/>
                  <a:ext cx="54747" cy="232087"/>
                </a:xfrm>
                <a:custGeom>
                  <a:avLst/>
                  <a:gdLst>
                    <a:gd name="connsiteX0" fmla="*/ 54748 w 54747"/>
                    <a:gd name="connsiteY0" fmla="*/ 232087 h 232087"/>
                    <a:gd name="connsiteX1" fmla="*/ 54748 w 54747"/>
                    <a:gd name="connsiteY1" fmla="*/ 130417 h 232087"/>
                    <a:gd name="connsiteX2" fmla="*/ 27496 w 54747"/>
                    <a:gd name="connsiteY2" fmla="*/ 102959 h 232087"/>
                    <a:gd name="connsiteX3" fmla="*/ 0 w 54747"/>
                    <a:gd name="connsiteY3" fmla="*/ 75463 h 232087"/>
                    <a:gd name="connsiteX4" fmla="*/ 0 w 54747"/>
                    <a:gd name="connsiteY4" fmla="*/ 0 h 232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47" h="232087">
                      <a:moveTo>
                        <a:pt x="54748" y="232087"/>
                      </a:moveTo>
                      <a:lnTo>
                        <a:pt x="54748" y="130417"/>
                      </a:lnTo>
                      <a:cubicBezTo>
                        <a:pt x="54748" y="115296"/>
                        <a:pt x="42616" y="102959"/>
                        <a:pt x="27496" y="102959"/>
                      </a:cubicBezTo>
                      <a:cubicBezTo>
                        <a:pt x="12375" y="102959"/>
                        <a:pt x="0" y="90588"/>
                        <a:pt x="0" y="75463"/>
                      </a:cubicBezTo>
                      <a:lnTo>
                        <a:pt x="0" y="0"/>
                      </a:lnTo>
                    </a:path>
                  </a:pathLst>
                </a:custGeom>
                <a:no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6" name="Freeform: Shape 55">
                  <a:extLst>
                    <a:ext uri="{FF2B5EF4-FFF2-40B4-BE49-F238E27FC236}">
                      <a16:creationId xmlns:a16="http://schemas.microsoft.com/office/drawing/2014/main" id="{31C3DDF7-3048-2E0C-7A65-45DF12C3A1E1}"/>
                    </a:ext>
                  </a:extLst>
                </p:cNvPr>
                <p:cNvSpPr/>
                <p:nvPr/>
              </p:nvSpPr>
              <p:spPr>
                <a:xfrm rot="-4240800">
                  <a:off x="4518254" y="2470244"/>
                  <a:ext cx="46922" cy="46922"/>
                </a:xfrm>
                <a:custGeom>
                  <a:avLst/>
                  <a:gdLst>
                    <a:gd name="connsiteX0" fmla="*/ 46922 w 46922"/>
                    <a:gd name="connsiteY0" fmla="*/ 23461 h 46922"/>
                    <a:gd name="connsiteX1" fmla="*/ 23461 w 46922"/>
                    <a:gd name="connsiteY1" fmla="*/ 46923 h 46922"/>
                    <a:gd name="connsiteX2" fmla="*/ 0 w 46922"/>
                    <a:gd name="connsiteY2" fmla="*/ 23461 h 46922"/>
                    <a:gd name="connsiteX3" fmla="*/ 23461 w 46922"/>
                    <a:gd name="connsiteY3" fmla="*/ 0 h 46922"/>
                    <a:gd name="connsiteX4" fmla="*/ 46922 w 46922"/>
                    <a:gd name="connsiteY4" fmla="*/ 23461 h 46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2" h="46922">
                      <a:moveTo>
                        <a:pt x="46922" y="23461"/>
                      </a:moveTo>
                      <a:cubicBezTo>
                        <a:pt x="46922" y="36419"/>
                        <a:pt x="36419" y="46923"/>
                        <a:pt x="23461" y="46923"/>
                      </a:cubicBezTo>
                      <a:cubicBezTo>
                        <a:pt x="10504" y="46923"/>
                        <a:pt x="0" y="36419"/>
                        <a:pt x="0" y="23461"/>
                      </a:cubicBezTo>
                      <a:cubicBezTo>
                        <a:pt x="0" y="10504"/>
                        <a:pt x="10504" y="0"/>
                        <a:pt x="23461" y="0"/>
                      </a:cubicBezTo>
                      <a:cubicBezTo>
                        <a:pt x="36419" y="0"/>
                        <a:pt x="46922" y="10504"/>
                        <a:pt x="46922" y="23461"/>
                      </a:cubicBezTo>
                      <a:close/>
                    </a:path>
                  </a:pathLst>
                </a:custGeom>
                <a:solidFill>
                  <a:srgbClr val="FFFFFF"/>
                </a:solid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7" name="Freeform: Shape 56">
                  <a:extLst>
                    <a:ext uri="{FF2B5EF4-FFF2-40B4-BE49-F238E27FC236}">
                      <a16:creationId xmlns:a16="http://schemas.microsoft.com/office/drawing/2014/main" id="{4F83E5D5-355C-AA5B-8916-DA67464AE75B}"/>
                    </a:ext>
                  </a:extLst>
                </p:cNvPr>
                <p:cNvSpPr/>
                <p:nvPr/>
              </p:nvSpPr>
              <p:spPr>
                <a:xfrm>
                  <a:off x="4710611" y="2590394"/>
                  <a:ext cx="83147" cy="468"/>
                </a:xfrm>
                <a:custGeom>
                  <a:avLst/>
                  <a:gdLst>
                    <a:gd name="connsiteX0" fmla="*/ 0 w 83147"/>
                    <a:gd name="connsiteY0" fmla="*/ 0 h 468"/>
                    <a:gd name="connsiteX1" fmla="*/ 83148 w 83147"/>
                    <a:gd name="connsiteY1" fmla="*/ 0 h 468"/>
                  </a:gdLst>
                  <a:ahLst/>
                  <a:cxnLst>
                    <a:cxn ang="0">
                      <a:pos x="connsiteX0" y="connsiteY0"/>
                    </a:cxn>
                    <a:cxn ang="0">
                      <a:pos x="connsiteX1" y="connsiteY1"/>
                    </a:cxn>
                  </a:cxnLst>
                  <a:rect l="l" t="t" r="r" b="b"/>
                  <a:pathLst>
                    <a:path w="83147" h="468">
                      <a:moveTo>
                        <a:pt x="0" y="0"/>
                      </a:moveTo>
                      <a:lnTo>
                        <a:pt x="83148" y="0"/>
                      </a:lnTo>
                    </a:path>
                  </a:pathLst>
                </a:custGeom>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8" name="Freeform: Shape 57">
                  <a:extLst>
                    <a:ext uri="{FF2B5EF4-FFF2-40B4-BE49-F238E27FC236}">
                      <a16:creationId xmlns:a16="http://schemas.microsoft.com/office/drawing/2014/main" id="{4AEE4F63-3EA1-8743-34A2-2A3D4D6914E0}"/>
                    </a:ext>
                  </a:extLst>
                </p:cNvPr>
                <p:cNvSpPr/>
                <p:nvPr/>
              </p:nvSpPr>
              <p:spPr>
                <a:xfrm rot="-292200">
                  <a:off x="4687144" y="2566940"/>
                  <a:ext cx="46922" cy="46922"/>
                </a:xfrm>
                <a:custGeom>
                  <a:avLst/>
                  <a:gdLst>
                    <a:gd name="connsiteX0" fmla="*/ 46922 w 46922"/>
                    <a:gd name="connsiteY0" fmla="*/ 23461 h 46922"/>
                    <a:gd name="connsiteX1" fmla="*/ 23461 w 46922"/>
                    <a:gd name="connsiteY1" fmla="*/ 46923 h 46922"/>
                    <a:gd name="connsiteX2" fmla="*/ 0 w 46922"/>
                    <a:gd name="connsiteY2" fmla="*/ 23461 h 46922"/>
                    <a:gd name="connsiteX3" fmla="*/ 23461 w 46922"/>
                    <a:gd name="connsiteY3" fmla="*/ 0 h 46922"/>
                    <a:gd name="connsiteX4" fmla="*/ 46922 w 46922"/>
                    <a:gd name="connsiteY4" fmla="*/ 23461 h 46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2" h="46922">
                      <a:moveTo>
                        <a:pt x="46922" y="23461"/>
                      </a:moveTo>
                      <a:cubicBezTo>
                        <a:pt x="46922" y="36419"/>
                        <a:pt x="36419" y="46923"/>
                        <a:pt x="23461" y="46923"/>
                      </a:cubicBezTo>
                      <a:cubicBezTo>
                        <a:pt x="10504" y="46923"/>
                        <a:pt x="0" y="36419"/>
                        <a:pt x="0" y="23461"/>
                      </a:cubicBezTo>
                      <a:cubicBezTo>
                        <a:pt x="0" y="10504"/>
                        <a:pt x="10504" y="0"/>
                        <a:pt x="23461" y="0"/>
                      </a:cubicBezTo>
                      <a:cubicBezTo>
                        <a:pt x="36419" y="0"/>
                        <a:pt x="46922" y="10504"/>
                        <a:pt x="46922" y="23461"/>
                      </a:cubicBezTo>
                      <a:close/>
                    </a:path>
                  </a:pathLst>
                </a:custGeom>
                <a:solidFill>
                  <a:srgbClr val="FFFFFF"/>
                </a:solid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59" name="Freeform: Shape 58">
                  <a:extLst>
                    <a:ext uri="{FF2B5EF4-FFF2-40B4-BE49-F238E27FC236}">
                      <a16:creationId xmlns:a16="http://schemas.microsoft.com/office/drawing/2014/main" id="{5AC88D06-0A64-6CF6-B189-BFB5B28BA93D}"/>
                    </a:ext>
                  </a:extLst>
                </p:cNvPr>
                <p:cNvSpPr/>
                <p:nvPr/>
              </p:nvSpPr>
              <p:spPr>
                <a:xfrm>
                  <a:off x="4591791" y="2329050"/>
                  <a:ext cx="167672" cy="70941"/>
                </a:xfrm>
                <a:custGeom>
                  <a:avLst/>
                  <a:gdLst>
                    <a:gd name="connsiteX0" fmla="*/ 0 w 167672"/>
                    <a:gd name="connsiteY0" fmla="*/ 0 h 70941"/>
                    <a:gd name="connsiteX1" fmla="*/ 98 w 167672"/>
                    <a:gd name="connsiteY1" fmla="*/ 43446 h 70941"/>
                    <a:gd name="connsiteX2" fmla="*/ 27594 w 167672"/>
                    <a:gd name="connsiteY2" fmla="*/ 70941 h 70941"/>
                    <a:gd name="connsiteX3" fmla="*/ 167673 w 167672"/>
                    <a:gd name="connsiteY3" fmla="*/ 70941 h 70941"/>
                  </a:gdLst>
                  <a:ahLst/>
                  <a:cxnLst>
                    <a:cxn ang="0">
                      <a:pos x="connsiteX0" y="connsiteY0"/>
                    </a:cxn>
                    <a:cxn ang="0">
                      <a:pos x="connsiteX1" y="connsiteY1"/>
                    </a:cxn>
                    <a:cxn ang="0">
                      <a:pos x="connsiteX2" y="connsiteY2"/>
                    </a:cxn>
                    <a:cxn ang="0">
                      <a:pos x="connsiteX3" y="connsiteY3"/>
                    </a:cxn>
                  </a:cxnLst>
                  <a:rect l="l" t="t" r="r" b="b"/>
                  <a:pathLst>
                    <a:path w="167672" h="70941">
                      <a:moveTo>
                        <a:pt x="0" y="0"/>
                      </a:moveTo>
                      <a:lnTo>
                        <a:pt x="98" y="43446"/>
                      </a:lnTo>
                      <a:cubicBezTo>
                        <a:pt x="131" y="58566"/>
                        <a:pt x="12469" y="70941"/>
                        <a:pt x="27594" y="70941"/>
                      </a:cubicBezTo>
                      <a:lnTo>
                        <a:pt x="167673" y="70941"/>
                      </a:lnTo>
                    </a:path>
                  </a:pathLst>
                </a:custGeom>
                <a:no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60" name="Freeform: Shape 59">
                  <a:extLst>
                    <a:ext uri="{FF2B5EF4-FFF2-40B4-BE49-F238E27FC236}">
                      <a16:creationId xmlns:a16="http://schemas.microsoft.com/office/drawing/2014/main" id="{047E0D3A-0FB9-AD61-4280-4D7284187DD0}"/>
                    </a:ext>
                  </a:extLst>
                </p:cNvPr>
                <p:cNvSpPr/>
                <p:nvPr/>
              </p:nvSpPr>
              <p:spPr>
                <a:xfrm>
                  <a:off x="4476523" y="2341462"/>
                  <a:ext cx="67947" cy="219529"/>
                </a:xfrm>
                <a:custGeom>
                  <a:avLst/>
                  <a:gdLst>
                    <a:gd name="connsiteX0" fmla="*/ 67947 w 67947"/>
                    <a:gd name="connsiteY0" fmla="*/ 0 h 219529"/>
                    <a:gd name="connsiteX1" fmla="*/ 67947 w 67947"/>
                    <a:gd name="connsiteY1" fmla="*/ 60633 h 219529"/>
                    <a:gd name="connsiteX2" fmla="*/ 40452 w 67947"/>
                    <a:gd name="connsiteY2" fmla="*/ 88129 h 219529"/>
                    <a:gd name="connsiteX3" fmla="*/ 27496 w 67947"/>
                    <a:gd name="connsiteY3" fmla="*/ 88278 h 219529"/>
                    <a:gd name="connsiteX4" fmla="*/ 0 w 67947"/>
                    <a:gd name="connsiteY4" fmla="*/ 115774 h 219529"/>
                    <a:gd name="connsiteX5" fmla="*/ 0 w 67947"/>
                    <a:gd name="connsiteY5" fmla="*/ 219529 h 219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947" h="219529">
                      <a:moveTo>
                        <a:pt x="67947" y="0"/>
                      </a:moveTo>
                      <a:lnTo>
                        <a:pt x="67947" y="60633"/>
                      </a:lnTo>
                      <a:cubicBezTo>
                        <a:pt x="67947" y="75754"/>
                        <a:pt x="55577" y="88129"/>
                        <a:pt x="40452" y="88129"/>
                      </a:cubicBezTo>
                      <a:lnTo>
                        <a:pt x="27496" y="88278"/>
                      </a:lnTo>
                      <a:cubicBezTo>
                        <a:pt x="12375" y="88278"/>
                        <a:pt x="0" y="100649"/>
                        <a:pt x="0" y="115774"/>
                      </a:cubicBezTo>
                      <a:lnTo>
                        <a:pt x="0" y="219529"/>
                      </a:lnTo>
                    </a:path>
                  </a:pathLst>
                </a:custGeom>
                <a:no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sp>
              <p:nvSpPr>
                <p:cNvPr id="61" name="Freeform: Shape 60">
                  <a:extLst>
                    <a:ext uri="{FF2B5EF4-FFF2-40B4-BE49-F238E27FC236}">
                      <a16:creationId xmlns:a16="http://schemas.microsoft.com/office/drawing/2014/main" id="{EFD00504-359F-6D43-CCE0-CC965FDEDF79}"/>
                    </a:ext>
                  </a:extLst>
                </p:cNvPr>
                <p:cNvSpPr/>
                <p:nvPr/>
              </p:nvSpPr>
              <p:spPr>
                <a:xfrm rot="-170400">
                  <a:off x="4453063" y="2537527"/>
                  <a:ext cx="46922" cy="46922"/>
                </a:xfrm>
                <a:custGeom>
                  <a:avLst/>
                  <a:gdLst>
                    <a:gd name="connsiteX0" fmla="*/ 46923 w 46922"/>
                    <a:gd name="connsiteY0" fmla="*/ 23461 h 46922"/>
                    <a:gd name="connsiteX1" fmla="*/ 23461 w 46922"/>
                    <a:gd name="connsiteY1" fmla="*/ 46923 h 46922"/>
                    <a:gd name="connsiteX2" fmla="*/ 0 w 46922"/>
                    <a:gd name="connsiteY2" fmla="*/ 23461 h 46922"/>
                    <a:gd name="connsiteX3" fmla="*/ 23461 w 46922"/>
                    <a:gd name="connsiteY3" fmla="*/ 0 h 46922"/>
                    <a:gd name="connsiteX4" fmla="*/ 46923 w 46922"/>
                    <a:gd name="connsiteY4" fmla="*/ 23461 h 46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22" h="46922">
                      <a:moveTo>
                        <a:pt x="46923" y="23461"/>
                      </a:moveTo>
                      <a:cubicBezTo>
                        <a:pt x="46923" y="36419"/>
                        <a:pt x="36419" y="46923"/>
                        <a:pt x="23461" y="46923"/>
                      </a:cubicBezTo>
                      <a:cubicBezTo>
                        <a:pt x="10504" y="46923"/>
                        <a:pt x="0" y="36419"/>
                        <a:pt x="0" y="23461"/>
                      </a:cubicBezTo>
                      <a:cubicBezTo>
                        <a:pt x="0" y="10504"/>
                        <a:pt x="10504" y="0"/>
                        <a:pt x="23461" y="0"/>
                      </a:cubicBezTo>
                      <a:cubicBezTo>
                        <a:pt x="36419" y="0"/>
                        <a:pt x="46923" y="10504"/>
                        <a:pt x="46923" y="23461"/>
                      </a:cubicBezTo>
                      <a:close/>
                    </a:path>
                  </a:pathLst>
                </a:custGeom>
                <a:solidFill>
                  <a:srgbClr val="FFFFFF"/>
                </a:solidFill>
                <a:ln w="9525" cap="rnd">
                  <a:solidFill>
                    <a:schemeClr val="tx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Manrope"/>
                    <a:ea typeface="Helvetica Neue"/>
                    <a:cs typeface="Helvetica Neue"/>
                  </a:endParaRPr>
                </a:p>
              </p:txBody>
            </p:sp>
          </p:grpSp>
        </p:grpSp>
      </p:grpSp>
      <p:sp>
        <p:nvSpPr>
          <p:cNvPr id="69" name="TextBox 68">
            <a:extLst>
              <a:ext uri="{FF2B5EF4-FFF2-40B4-BE49-F238E27FC236}">
                <a16:creationId xmlns:a16="http://schemas.microsoft.com/office/drawing/2014/main" id="{ADC69EEB-30DA-8D2B-91A2-F0692E67656C}"/>
              </a:ext>
            </a:extLst>
          </p:cNvPr>
          <p:cNvSpPr txBox="1"/>
          <p:nvPr/>
        </p:nvSpPr>
        <p:spPr>
          <a:xfrm>
            <a:off x="7906626" y="1994971"/>
            <a:ext cx="1178506" cy="27699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tx2"/>
                </a:solidFill>
                <a:effectLst/>
                <a:uLnTx/>
                <a:uFillTx/>
                <a:latin typeface="Manrope"/>
                <a:ea typeface="Helvetica Neue"/>
                <a:cs typeface="Segoe UI" panose="020B0502040204020203" pitchFamily="34" charset="0"/>
              </a:rPr>
              <a:t>Intelligence</a:t>
            </a:r>
          </a:p>
        </p:txBody>
      </p:sp>
      <p:sp>
        <p:nvSpPr>
          <p:cNvPr id="70" name="TextBox 69">
            <a:extLst>
              <a:ext uri="{FF2B5EF4-FFF2-40B4-BE49-F238E27FC236}">
                <a16:creationId xmlns:a16="http://schemas.microsoft.com/office/drawing/2014/main" id="{24EF88F5-752C-8DF9-2AA9-7B42FC8B8EC3}"/>
              </a:ext>
            </a:extLst>
          </p:cNvPr>
          <p:cNvSpPr txBox="1"/>
          <p:nvPr/>
        </p:nvSpPr>
        <p:spPr>
          <a:xfrm>
            <a:off x="7906626" y="2203564"/>
            <a:ext cx="1638633" cy="707886"/>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75000"/>
                    <a:lumOff val="25000"/>
                  </a:srgbClr>
                </a:solidFill>
                <a:effectLst/>
                <a:uLnTx/>
                <a:uFillTx/>
                <a:latin typeface="Manrope"/>
                <a:ea typeface="Helvetica Neue"/>
                <a:cs typeface="Segoe UI" panose="020B0502040204020203" pitchFamily="34" charset="0"/>
              </a:rPr>
              <a:t>Establish an AI ecosystem that fosters growth &amp; operational excellence</a:t>
            </a:r>
          </a:p>
        </p:txBody>
      </p:sp>
      <p:grpSp>
        <p:nvGrpSpPr>
          <p:cNvPr id="120" name="Group 119">
            <a:extLst>
              <a:ext uri="{FF2B5EF4-FFF2-40B4-BE49-F238E27FC236}">
                <a16:creationId xmlns:a16="http://schemas.microsoft.com/office/drawing/2014/main" id="{555EE031-C8B2-BA24-F7CF-62D68FAAF4A6}"/>
              </a:ext>
            </a:extLst>
          </p:cNvPr>
          <p:cNvGrpSpPr/>
          <p:nvPr/>
        </p:nvGrpSpPr>
        <p:grpSpPr>
          <a:xfrm>
            <a:off x="7963948" y="1250778"/>
            <a:ext cx="641184" cy="641184"/>
            <a:chOff x="8415908" y="1250778"/>
            <a:chExt cx="641184" cy="641184"/>
          </a:xfrm>
        </p:grpSpPr>
        <p:sp>
          <p:nvSpPr>
            <p:cNvPr id="117" name="Oval 116">
              <a:extLst>
                <a:ext uri="{FF2B5EF4-FFF2-40B4-BE49-F238E27FC236}">
                  <a16:creationId xmlns:a16="http://schemas.microsoft.com/office/drawing/2014/main" id="{7F628ADC-886A-DFDA-3A0D-E63617FB46F6}"/>
                </a:ext>
              </a:extLst>
            </p:cNvPr>
            <p:cNvSpPr/>
            <p:nvPr/>
          </p:nvSpPr>
          <p:spPr>
            <a:xfrm>
              <a:off x="8415908" y="1250778"/>
              <a:ext cx="641184" cy="641184"/>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Graphic 70">
              <a:extLst>
                <a:ext uri="{FF2B5EF4-FFF2-40B4-BE49-F238E27FC236}">
                  <a16:creationId xmlns:a16="http://schemas.microsoft.com/office/drawing/2014/main" id="{1C18BBF7-D232-9845-0330-E5228A512E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59354" y="1375610"/>
              <a:ext cx="374502" cy="387824"/>
            </a:xfrm>
            <a:prstGeom prst="rect">
              <a:avLst/>
            </a:prstGeom>
          </p:spPr>
        </p:pic>
      </p:grpSp>
      <p:sp>
        <p:nvSpPr>
          <p:cNvPr id="79" name="TextBox 78">
            <a:extLst>
              <a:ext uri="{FF2B5EF4-FFF2-40B4-BE49-F238E27FC236}">
                <a16:creationId xmlns:a16="http://schemas.microsoft.com/office/drawing/2014/main" id="{68AAA763-2228-28D6-E47F-3EAB5923DEAA}"/>
              </a:ext>
            </a:extLst>
          </p:cNvPr>
          <p:cNvSpPr txBox="1"/>
          <p:nvPr/>
        </p:nvSpPr>
        <p:spPr>
          <a:xfrm>
            <a:off x="9900313" y="2001905"/>
            <a:ext cx="1178506" cy="27699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chemeClr val="tx2"/>
                </a:solidFill>
                <a:effectLst/>
                <a:uLnTx/>
                <a:uFillTx/>
                <a:latin typeface="Manrope"/>
                <a:ea typeface="Helvetica Neue"/>
                <a:cs typeface="Segoe UI" panose="020B0502040204020203" pitchFamily="34" charset="0"/>
              </a:rPr>
              <a:t>Manage</a:t>
            </a:r>
          </a:p>
        </p:txBody>
      </p:sp>
      <p:sp>
        <p:nvSpPr>
          <p:cNvPr id="80" name="TextBox 79">
            <a:extLst>
              <a:ext uri="{FF2B5EF4-FFF2-40B4-BE49-F238E27FC236}">
                <a16:creationId xmlns:a16="http://schemas.microsoft.com/office/drawing/2014/main" id="{2649063A-2A83-1F0B-CE58-4B227E647630}"/>
              </a:ext>
            </a:extLst>
          </p:cNvPr>
          <p:cNvSpPr txBox="1"/>
          <p:nvPr/>
        </p:nvSpPr>
        <p:spPr>
          <a:xfrm>
            <a:off x="9900170" y="2203564"/>
            <a:ext cx="1547967" cy="707886"/>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lumMod val="75000"/>
                    <a:lumOff val="25000"/>
                  </a:srgbClr>
                </a:solidFill>
                <a:effectLst/>
                <a:uLnTx/>
                <a:uFillTx/>
                <a:latin typeface="Manrope"/>
                <a:ea typeface="Helvetica Neue"/>
                <a:cs typeface="Segoe UI" panose="020B0502040204020203" pitchFamily="34" charset="0"/>
              </a:rPr>
              <a:t>Managing client’s state-of-the-art Data</a:t>
            </a:r>
            <a:br>
              <a:rPr kumimoji="0" lang="en-GB" sz="1000" b="0" i="0" u="none" strike="noStrike" kern="1200" cap="none" spc="0" normalizeH="0" baseline="0" noProof="0">
                <a:ln>
                  <a:noFill/>
                </a:ln>
                <a:solidFill>
                  <a:srgbClr val="000000">
                    <a:lumMod val="75000"/>
                    <a:lumOff val="25000"/>
                  </a:srgbClr>
                </a:solidFill>
                <a:effectLst/>
                <a:uLnTx/>
                <a:uFillTx/>
                <a:latin typeface="Manrope"/>
                <a:ea typeface="Helvetica Neue"/>
                <a:cs typeface="Segoe UI" panose="020B0502040204020203" pitchFamily="34" charset="0"/>
              </a:rPr>
            </a:br>
            <a:r>
              <a:rPr kumimoji="0" lang="en-GB" sz="1000" b="0" i="0" u="none" strike="noStrike" kern="1200" cap="none" spc="0" normalizeH="0" baseline="0" noProof="0">
                <a:ln>
                  <a:noFill/>
                </a:ln>
                <a:solidFill>
                  <a:srgbClr val="000000">
                    <a:lumMod val="75000"/>
                    <a:lumOff val="25000"/>
                  </a:srgbClr>
                </a:solidFill>
                <a:effectLst/>
                <a:uLnTx/>
                <a:uFillTx/>
                <a:latin typeface="Manrope"/>
                <a:ea typeface="Helvetica Neue"/>
                <a:cs typeface="Segoe UI" panose="020B0502040204020203" pitchFamily="34" charset="0"/>
              </a:rPr>
              <a:t>&amp; AI platforms / ecosystems.</a:t>
            </a:r>
          </a:p>
        </p:txBody>
      </p:sp>
      <p:grpSp>
        <p:nvGrpSpPr>
          <p:cNvPr id="119" name="Group 118">
            <a:extLst>
              <a:ext uri="{FF2B5EF4-FFF2-40B4-BE49-F238E27FC236}">
                <a16:creationId xmlns:a16="http://schemas.microsoft.com/office/drawing/2014/main" id="{FB0C83D0-F3CC-4D0B-FCE5-FA22CB1B9C5B}"/>
              </a:ext>
            </a:extLst>
          </p:cNvPr>
          <p:cNvGrpSpPr/>
          <p:nvPr/>
        </p:nvGrpSpPr>
        <p:grpSpPr>
          <a:xfrm>
            <a:off x="9967437" y="1250778"/>
            <a:ext cx="641184" cy="641184"/>
            <a:chOff x="10347492" y="1250778"/>
            <a:chExt cx="641184" cy="641184"/>
          </a:xfrm>
        </p:grpSpPr>
        <p:sp>
          <p:nvSpPr>
            <p:cNvPr id="118" name="Oval 117">
              <a:extLst>
                <a:ext uri="{FF2B5EF4-FFF2-40B4-BE49-F238E27FC236}">
                  <a16:creationId xmlns:a16="http://schemas.microsoft.com/office/drawing/2014/main" id="{0AA3157F-8668-B22A-0DB0-8AAEC9A347B8}"/>
                </a:ext>
              </a:extLst>
            </p:cNvPr>
            <p:cNvSpPr/>
            <p:nvPr/>
          </p:nvSpPr>
          <p:spPr>
            <a:xfrm>
              <a:off x="10347492" y="1250778"/>
              <a:ext cx="641184" cy="641184"/>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Graphic 80">
              <a:extLst>
                <a:ext uri="{FF2B5EF4-FFF2-40B4-BE49-F238E27FC236}">
                  <a16:creationId xmlns:a16="http://schemas.microsoft.com/office/drawing/2014/main" id="{97FE6F14-7910-B99A-3DAF-9D62A30BD5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75201" y="1362522"/>
              <a:ext cx="396627" cy="402349"/>
            </a:xfrm>
            <a:prstGeom prst="rect">
              <a:avLst/>
            </a:prstGeom>
          </p:spPr>
        </p:pic>
      </p:grpSp>
      <p:sp>
        <p:nvSpPr>
          <p:cNvPr id="89" name="Text Placeholder 1">
            <a:extLst>
              <a:ext uri="{FF2B5EF4-FFF2-40B4-BE49-F238E27FC236}">
                <a16:creationId xmlns:a16="http://schemas.microsoft.com/office/drawing/2014/main" id="{755D6A6B-454A-D443-B553-9DC0DA39B14D}"/>
              </a:ext>
            </a:extLst>
          </p:cNvPr>
          <p:cNvSpPr txBox="1">
            <a:spLocks/>
          </p:cNvSpPr>
          <p:nvPr/>
        </p:nvSpPr>
        <p:spPr>
          <a:xfrm flipH="1">
            <a:off x="4529268" y="457200"/>
            <a:ext cx="5877255" cy="243227"/>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GB" sz="1500" b="0" i="0" u="none" strike="noStrike" kern="1200" cap="none" spc="0" normalizeH="0" baseline="0" noProof="0">
                <a:ln>
                  <a:noFill/>
                </a:ln>
                <a:solidFill>
                  <a:srgbClr val="000000"/>
                </a:solidFill>
                <a:effectLst/>
                <a:uLnTx/>
                <a:uFillTx/>
                <a:latin typeface="Manrope"/>
                <a:ea typeface="Helvetica Neue"/>
                <a:cs typeface="Helvetica Neue"/>
              </a:rPr>
              <a:t>Data, AI &amp; Gen AI: Practice Snapshot</a:t>
            </a:r>
          </a:p>
        </p:txBody>
      </p:sp>
      <p:sp>
        <p:nvSpPr>
          <p:cNvPr id="90" name="TextBox 89">
            <a:extLst>
              <a:ext uri="{FF2B5EF4-FFF2-40B4-BE49-F238E27FC236}">
                <a16:creationId xmlns:a16="http://schemas.microsoft.com/office/drawing/2014/main" id="{271E4723-602B-764A-2DA0-B9BE35DBAA3F}"/>
              </a:ext>
            </a:extLst>
          </p:cNvPr>
          <p:cNvSpPr txBox="1"/>
          <p:nvPr/>
        </p:nvSpPr>
        <p:spPr>
          <a:xfrm>
            <a:off x="4529268" y="916745"/>
            <a:ext cx="3504884"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kern="1200" cap="none" spc="0" normalizeH="0" baseline="0" noProof="0">
                <a:ln>
                  <a:noFill/>
                </a:ln>
                <a:solidFill>
                  <a:schemeClr val="accent1"/>
                </a:solidFill>
                <a:effectLst/>
                <a:uLnTx/>
                <a:uFillTx/>
                <a:latin typeface="Manrope Medium" pitchFamily="2" charset="0"/>
                <a:ea typeface="Helvetica Neue"/>
                <a:cs typeface="Helvetica Neue"/>
              </a:rPr>
              <a:t>What we do?</a:t>
            </a:r>
          </a:p>
        </p:txBody>
      </p:sp>
      <p:sp>
        <p:nvSpPr>
          <p:cNvPr id="93" name="TextBox 92">
            <a:extLst>
              <a:ext uri="{FF2B5EF4-FFF2-40B4-BE49-F238E27FC236}">
                <a16:creationId xmlns:a16="http://schemas.microsoft.com/office/drawing/2014/main" id="{A7219C30-51AF-7F93-4D78-F19F42D14073}"/>
              </a:ext>
            </a:extLst>
          </p:cNvPr>
          <p:cNvSpPr txBox="1"/>
          <p:nvPr/>
        </p:nvSpPr>
        <p:spPr>
          <a:xfrm>
            <a:off x="4529268" y="3069740"/>
            <a:ext cx="543666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kern="1200" cap="none" spc="0" normalizeH="0" baseline="0" noProof="0">
                <a:ln>
                  <a:noFill/>
                </a:ln>
                <a:solidFill>
                  <a:schemeClr val="accent1"/>
                </a:solidFill>
                <a:effectLst/>
                <a:uLnTx/>
                <a:uFillTx/>
                <a:latin typeface="Manrope Medium" pitchFamily="2" charset="0"/>
                <a:ea typeface="Helvetica Neue"/>
                <a:cs typeface="Helvetica Neue"/>
              </a:rPr>
              <a:t>Based on our proven and recognised service quality</a:t>
            </a:r>
          </a:p>
        </p:txBody>
      </p:sp>
      <p:sp>
        <p:nvSpPr>
          <p:cNvPr id="122" name="TextBox 121">
            <a:extLst>
              <a:ext uri="{FF2B5EF4-FFF2-40B4-BE49-F238E27FC236}">
                <a16:creationId xmlns:a16="http://schemas.microsoft.com/office/drawing/2014/main" id="{8626D894-9F26-CFCB-5788-29E76EBDF459}"/>
              </a:ext>
            </a:extLst>
          </p:cNvPr>
          <p:cNvSpPr txBox="1"/>
          <p:nvPr/>
        </p:nvSpPr>
        <p:spPr>
          <a:xfrm>
            <a:off x="4529268" y="4159315"/>
            <a:ext cx="6800485"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kern="1200" cap="none" spc="0" normalizeH="0" baseline="0" noProof="0">
                <a:ln>
                  <a:noFill/>
                </a:ln>
                <a:solidFill>
                  <a:schemeClr val="accent1"/>
                </a:solidFill>
                <a:effectLst/>
                <a:uLnTx/>
                <a:uFillTx/>
                <a:latin typeface="Manrope Medium" pitchFamily="2" charset="0"/>
                <a:ea typeface="Helvetica Neue"/>
                <a:cs typeface="Helvetica Neue"/>
              </a:rPr>
              <a:t>Working in a network of  partners that accelerate Snowflake time-to-value</a:t>
            </a:r>
          </a:p>
        </p:txBody>
      </p:sp>
      <p:sp>
        <p:nvSpPr>
          <p:cNvPr id="126" name="Rectangle 125">
            <a:extLst>
              <a:ext uri="{FF2B5EF4-FFF2-40B4-BE49-F238E27FC236}">
                <a16:creationId xmlns:a16="http://schemas.microsoft.com/office/drawing/2014/main" id="{FB3675F2-D87D-1264-1E13-C877D89B30DA}"/>
              </a:ext>
            </a:extLst>
          </p:cNvPr>
          <p:cNvSpPr/>
          <p:nvPr/>
        </p:nvSpPr>
        <p:spPr>
          <a:xfrm>
            <a:off x="4486473" y="4566152"/>
            <a:ext cx="7081640" cy="1363258"/>
          </a:xfrm>
          <a:prstGeom prst="rect">
            <a:avLst/>
          </a:prstGeom>
          <a:solidFill>
            <a:schemeClr val="bg1"/>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anrope"/>
              <a:ea typeface="Helvetica Neue"/>
              <a:cs typeface="Helvetica Neue"/>
            </a:endParaRPr>
          </a:p>
        </p:txBody>
      </p:sp>
      <p:sp>
        <p:nvSpPr>
          <p:cNvPr id="127" name="Freeform: Shape 126">
            <a:extLst>
              <a:ext uri="{FF2B5EF4-FFF2-40B4-BE49-F238E27FC236}">
                <a16:creationId xmlns:a16="http://schemas.microsoft.com/office/drawing/2014/main" id="{5D23DF1A-5C19-2C48-A446-40F0F802E8BD}"/>
              </a:ext>
            </a:extLst>
          </p:cNvPr>
          <p:cNvSpPr/>
          <p:nvPr/>
        </p:nvSpPr>
        <p:spPr>
          <a:xfrm>
            <a:off x="4480896" y="4572198"/>
            <a:ext cx="969995" cy="1357212"/>
          </a:xfrm>
          <a:custGeom>
            <a:avLst/>
            <a:gdLst>
              <a:gd name="connsiteX0" fmla="*/ 0 w 1211404"/>
              <a:gd name="connsiteY0" fmla="*/ 0 h 940833"/>
              <a:gd name="connsiteX1" fmla="*/ 1122480 w 1211404"/>
              <a:gd name="connsiteY1" fmla="*/ 0 h 940833"/>
              <a:gd name="connsiteX2" fmla="*/ 1122480 w 1211404"/>
              <a:gd name="connsiteY2" fmla="*/ 378816 h 940833"/>
              <a:gd name="connsiteX3" fmla="*/ 1211404 w 1211404"/>
              <a:gd name="connsiteY3" fmla="*/ 470417 h 940833"/>
              <a:gd name="connsiteX4" fmla="*/ 1122480 w 1211404"/>
              <a:gd name="connsiteY4" fmla="*/ 562018 h 940833"/>
              <a:gd name="connsiteX5" fmla="*/ 1122480 w 1211404"/>
              <a:gd name="connsiteY5" fmla="*/ 940833 h 940833"/>
              <a:gd name="connsiteX6" fmla="*/ 0 w 1211404"/>
              <a:gd name="connsiteY6" fmla="*/ 940833 h 94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1404" h="940833">
                <a:moveTo>
                  <a:pt x="0" y="0"/>
                </a:moveTo>
                <a:lnTo>
                  <a:pt x="1122480" y="0"/>
                </a:lnTo>
                <a:lnTo>
                  <a:pt x="1122480" y="378816"/>
                </a:lnTo>
                <a:lnTo>
                  <a:pt x="1211404" y="470417"/>
                </a:lnTo>
                <a:lnTo>
                  <a:pt x="1122480" y="562018"/>
                </a:lnTo>
                <a:lnTo>
                  <a:pt x="1122480" y="940833"/>
                </a:lnTo>
                <a:lnTo>
                  <a:pt x="0" y="940833"/>
                </a:lnTo>
                <a:close/>
              </a:path>
            </a:pathLst>
          </a:custGeom>
          <a:solidFill>
            <a:schemeClr val="accent4"/>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anrope"/>
              <a:ea typeface="Helvetica Neue"/>
              <a:cs typeface="Helvetica Neue"/>
            </a:endParaRPr>
          </a:p>
        </p:txBody>
      </p:sp>
      <p:sp>
        <p:nvSpPr>
          <p:cNvPr id="128" name="Text Placeholder 1">
            <a:extLst>
              <a:ext uri="{FF2B5EF4-FFF2-40B4-BE49-F238E27FC236}">
                <a16:creationId xmlns:a16="http://schemas.microsoft.com/office/drawing/2014/main" id="{36F8A362-4C60-4EED-EA00-51398019B94B}"/>
              </a:ext>
            </a:extLst>
          </p:cNvPr>
          <p:cNvSpPr txBox="1">
            <a:spLocks/>
          </p:cNvSpPr>
          <p:nvPr/>
        </p:nvSpPr>
        <p:spPr>
          <a:xfrm flipH="1">
            <a:off x="4531028" y="5106744"/>
            <a:ext cx="761399" cy="21640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GB" sz="1300" b="0" i="0" u="none" strike="noStrike" kern="1200" cap="none" spc="0" normalizeH="0" baseline="0" noProof="0">
                <a:ln>
                  <a:noFill/>
                </a:ln>
                <a:solidFill>
                  <a:schemeClr val="bg1"/>
                </a:solidFill>
                <a:effectLst/>
                <a:uLnTx/>
                <a:uFillTx/>
                <a:latin typeface="Manrope"/>
                <a:ea typeface="Helvetica Neue"/>
                <a:cs typeface="Helvetica Neue"/>
              </a:rPr>
              <a:t>Partners</a:t>
            </a:r>
          </a:p>
        </p:txBody>
      </p:sp>
      <p:pic>
        <p:nvPicPr>
          <p:cNvPr id="129" name="Picture 128" descr="A close up of a logo&#10;&#10;Description automatically generated">
            <a:extLst>
              <a:ext uri="{FF2B5EF4-FFF2-40B4-BE49-F238E27FC236}">
                <a16:creationId xmlns:a16="http://schemas.microsoft.com/office/drawing/2014/main" id="{394CA5D7-4379-D88D-A83F-41257240863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510910" y="4721702"/>
            <a:ext cx="670476" cy="172611"/>
          </a:xfrm>
          <a:prstGeom prst="rect">
            <a:avLst/>
          </a:prstGeom>
        </p:spPr>
      </p:pic>
      <p:pic>
        <p:nvPicPr>
          <p:cNvPr id="130" name="Picture 2">
            <a:extLst>
              <a:ext uri="{FF2B5EF4-FFF2-40B4-BE49-F238E27FC236}">
                <a16:creationId xmlns:a16="http://schemas.microsoft.com/office/drawing/2014/main" id="{48808A52-8631-8D64-BC07-D235CDD4FA51}"/>
              </a:ext>
            </a:extLst>
          </p:cNvPr>
          <p:cNvPicPr>
            <a:picLocks noChangeAspect="1" noChangeArrowheads="1"/>
          </p:cNvPicPr>
          <p:nvPr/>
        </p:nvPicPr>
        <p:blipFill rotWithShape="1">
          <a:blip r:embed="rId8" cstate="email">
            <a:extLst>
              <a:ext uri="{28A0092B-C50C-407E-A947-70E740481C1C}">
                <a14:useLocalDpi xmlns:a14="http://schemas.microsoft.com/office/drawing/2010/main"/>
              </a:ext>
            </a:extLst>
          </a:blip>
          <a:srcRect/>
          <a:stretch/>
        </p:blipFill>
        <p:spPr bwMode="auto">
          <a:xfrm>
            <a:off x="7488364" y="4658249"/>
            <a:ext cx="602297" cy="233611"/>
          </a:xfrm>
          <a:prstGeom prst="rect">
            <a:avLst/>
          </a:prstGeom>
          <a:noFill/>
          <a:extLst>
            <a:ext uri="{909E8E84-426E-40DD-AFC4-6F175D3DCCD1}">
              <a14:hiddenFill xmlns:a14="http://schemas.microsoft.com/office/drawing/2010/main">
                <a:solidFill>
                  <a:srgbClr val="FFFFFF"/>
                </a:solidFill>
              </a14:hiddenFill>
            </a:ext>
          </a:extLst>
        </p:spPr>
      </p:pic>
      <p:pic>
        <p:nvPicPr>
          <p:cNvPr id="131" name="Graphic 130">
            <a:extLst>
              <a:ext uri="{FF2B5EF4-FFF2-40B4-BE49-F238E27FC236}">
                <a16:creationId xmlns:a16="http://schemas.microsoft.com/office/drawing/2014/main" id="{2FFE8AA0-D8BE-8525-530A-F2ACD2480B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29716" y="4751043"/>
            <a:ext cx="712885" cy="123980"/>
          </a:xfrm>
          <a:prstGeom prst="rect">
            <a:avLst/>
          </a:prstGeom>
        </p:spPr>
      </p:pic>
      <p:pic>
        <p:nvPicPr>
          <p:cNvPr id="132" name="Picture 131">
            <a:extLst>
              <a:ext uri="{FF2B5EF4-FFF2-40B4-BE49-F238E27FC236}">
                <a16:creationId xmlns:a16="http://schemas.microsoft.com/office/drawing/2014/main" id="{499227C6-4068-CA4B-D868-EABE77036FAA}"/>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090581" y="4748308"/>
            <a:ext cx="712885" cy="85464"/>
          </a:xfrm>
          <a:prstGeom prst="rect">
            <a:avLst/>
          </a:prstGeom>
        </p:spPr>
      </p:pic>
      <p:pic>
        <p:nvPicPr>
          <p:cNvPr id="133" name="Picture 132">
            <a:extLst>
              <a:ext uri="{FF2B5EF4-FFF2-40B4-BE49-F238E27FC236}">
                <a16:creationId xmlns:a16="http://schemas.microsoft.com/office/drawing/2014/main" id="{51F20F55-11E6-0DFA-8891-934F8127351F}"/>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6525825" y="5031265"/>
            <a:ext cx="670476" cy="174676"/>
          </a:xfrm>
          <a:prstGeom prst="rect">
            <a:avLst/>
          </a:prstGeom>
        </p:spPr>
      </p:pic>
      <p:pic>
        <p:nvPicPr>
          <p:cNvPr id="134" name="Picture 133">
            <a:extLst>
              <a:ext uri="{FF2B5EF4-FFF2-40B4-BE49-F238E27FC236}">
                <a16:creationId xmlns:a16="http://schemas.microsoft.com/office/drawing/2014/main" id="{7C98787B-21EF-3F84-E488-3E784C04EE46}"/>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001337" y="5331493"/>
            <a:ext cx="543922" cy="236177"/>
          </a:xfrm>
          <a:prstGeom prst="rect">
            <a:avLst/>
          </a:prstGeom>
        </p:spPr>
      </p:pic>
      <p:pic>
        <p:nvPicPr>
          <p:cNvPr id="137" name="Picture 2">
            <a:extLst>
              <a:ext uri="{FF2B5EF4-FFF2-40B4-BE49-F238E27FC236}">
                <a16:creationId xmlns:a16="http://schemas.microsoft.com/office/drawing/2014/main" id="{C03C6FAF-B12F-01A7-EEE9-23052E5596BB}"/>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7472795" y="5063616"/>
            <a:ext cx="574444" cy="96075"/>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137">
            <a:extLst>
              <a:ext uri="{FF2B5EF4-FFF2-40B4-BE49-F238E27FC236}">
                <a16:creationId xmlns:a16="http://schemas.microsoft.com/office/drawing/2014/main" id="{8F37C7E7-268F-77AF-F6E7-F83E937AE18E}"/>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5495446" y="5014255"/>
            <a:ext cx="712885" cy="227662"/>
          </a:xfrm>
          <a:prstGeom prst="rect">
            <a:avLst/>
          </a:prstGeom>
        </p:spPr>
      </p:pic>
      <p:pic>
        <p:nvPicPr>
          <p:cNvPr id="139" name="Picture 138">
            <a:extLst>
              <a:ext uri="{FF2B5EF4-FFF2-40B4-BE49-F238E27FC236}">
                <a16:creationId xmlns:a16="http://schemas.microsoft.com/office/drawing/2014/main" id="{430CA980-EF58-7285-C840-F3E99CB3B1B5}"/>
              </a:ext>
            </a:extLst>
          </p:cNvPr>
          <p:cNvPicPr>
            <a:picLocks noChangeAspect="1"/>
          </p:cNvPicPr>
          <p:nvPr/>
        </p:nvPicPr>
        <p:blipFill rotWithShape="1">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247265" y="5293745"/>
            <a:ext cx="907152" cy="298824"/>
          </a:xfrm>
          <a:prstGeom prst="rect">
            <a:avLst/>
          </a:prstGeom>
        </p:spPr>
      </p:pic>
      <p:pic>
        <p:nvPicPr>
          <p:cNvPr id="140" name="Graphic 139">
            <a:extLst>
              <a:ext uri="{FF2B5EF4-FFF2-40B4-BE49-F238E27FC236}">
                <a16:creationId xmlns:a16="http://schemas.microsoft.com/office/drawing/2014/main" id="{F4A9FAAA-F99A-5689-B766-8CD242455F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266133" y="4754839"/>
            <a:ext cx="669302" cy="106075"/>
          </a:xfrm>
          <a:prstGeom prst="rect">
            <a:avLst/>
          </a:prstGeom>
        </p:spPr>
      </p:pic>
      <p:pic>
        <p:nvPicPr>
          <p:cNvPr id="141" name="Picture 140" descr="Unravel DataOps, Cloud Migration, &amp; Data Performance ...">
            <a:extLst>
              <a:ext uri="{FF2B5EF4-FFF2-40B4-BE49-F238E27FC236}">
                <a16:creationId xmlns:a16="http://schemas.microsoft.com/office/drawing/2014/main" id="{9CB563D5-5BD7-5786-AF72-772855086378}"/>
              </a:ext>
            </a:extLst>
          </p:cNvPr>
          <p:cNvPicPr>
            <a:picLocks noChangeAspect="1" noChangeArrowheads="1"/>
          </p:cNvPicPr>
          <p:nvPr/>
        </p:nvPicPr>
        <p:blipFill rotWithShape="1">
          <a:blip r:embed="rId17" cstate="email">
            <a:extLst>
              <a:ext uri="{28A0092B-C50C-407E-A947-70E740481C1C}">
                <a14:useLocalDpi xmlns:a14="http://schemas.microsoft.com/office/drawing/2010/main"/>
              </a:ext>
            </a:extLst>
          </a:blip>
          <a:srcRect t="27483" b="28739"/>
          <a:stretch/>
        </p:blipFill>
        <p:spPr bwMode="auto">
          <a:xfrm>
            <a:off x="10139255" y="5014255"/>
            <a:ext cx="555296" cy="167712"/>
          </a:xfrm>
          <a:prstGeom prst="rect">
            <a:avLst/>
          </a:prstGeom>
          <a:extLst>
            <a:ext uri="{909E8E84-426E-40DD-AFC4-6F175D3DCCD1}">
              <a14:hiddenFill xmlns:a14="http://schemas.microsoft.com/office/drawing/2010/main">
                <a:solidFill>
                  <a:srgbClr val="FFFFFF"/>
                </a:solidFill>
              </a14:hiddenFill>
            </a:ext>
          </a:extLst>
        </p:spPr>
      </p:pic>
      <p:sp>
        <p:nvSpPr>
          <p:cNvPr id="148" name="TextBox 147">
            <a:extLst>
              <a:ext uri="{FF2B5EF4-FFF2-40B4-BE49-F238E27FC236}">
                <a16:creationId xmlns:a16="http://schemas.microsoft.com/office/drawing/2014/main" id="{A861D300-C576-AA11-91C8-22ED25486E6F}"/>
              </a:ext>
            </a:extLst>
          </p:cNvPr>
          <p:cNvSpPr txBox="1">
            <a:spLocks noGrp="1" noRot="1" noMove="1" noResize="1" noEditPoints="1" noAdjustHandles="1" noChangeArrowheads="1" noChangeShapeType="1"/>
          </p:cNvSpPr>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700" b="0" i="0" u="none" strike="noStrike" kern="0" cap="none" spc="50" normalizeH="0" baseline="0" noProof="0">
                <a:ln>
                  <a:noFill/>
                </a:ln>
                <a:solidFill>
                  <a:srgbClr val="FFFFFF"/>
                </a:solidFill>
                <a:effectLst/>
                <a:uLnTx/>
                <a:uFillTx/>
                <a:latin typeface="Manrope"/>
                <a:ea typeface="Helvetica Neue"/>
                <a:cs typeface="Heebo" pitchFamily="2" charset="-79"/>
              </a:rPr>
              <a:t>© Hexaware Technologies. Confidential briefing. </a:t>
            </a:r>
          </a:p>
        </p:txBody>
      </p:sp>
      <p:pic>
        <p:nvPicPr>
          <p:cNvPr id="31" name="Picture 30" descr="A black and purple logo&#10;&#10;Description automatically generated">
            <a:extLst>
              <a:ext uri="{FF2B5EF4-FFF2-40B4-BE49-F238E27FC236}">
                <a16:creationId xmlns:a16="http://schemas.microsoft.com/office/drawing/2014/main" id="{A4429822-95D9-A4E9-D343-1E019392174E}"/>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8158949" y="5381941"/>
            <a:ext cx="738552" cy="183859"/>
          </a:xfrm>
          <a:prstGeom prst="rect">
            <a:avLst/>
          </a:prstGeom>
        </p:spPr>
      </p:pic>
      <p:pic>
        <p:nvPicPr>
          <p:cNvPr id="3" name="Picture 2" descr="A red letters on a black background&#10;&#10;Description automatically generated">
            <a:extLst>
              <a:ext uri="{FF2B5EF4-FFF2-40B4-BE49-F238E27FC236}">
                <a16:creationId xmlns:a16="http://schemas.microsoft.com/office/drawing/2014/main" id="{35153DAD-65A9-883E-DE4A-B4789ADB7529}"/>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8392505" y="4738723"/>
            <a:ext cx="718482" cy="179753"/>
          </a:xfrm>
          <a:prstGeom prst="rect">
            <a:avLst/>
          </a:prstGeom>
        </p:spPr>
      </p:pic>
      <p:pic>
        <p:nvPicPr>
          <p:cNvPr id="32" name="Picture 31">
            <a:extLst>
              <a:ext uri="{FF2B5EF4-FFF2-40B4-BE49-F238E27FC236}">
                <a16:creationId xmlns:a16="http://schemas.microsoft.com/office/drawing/2014/main" id="{56F528B6-2A22-5F39-7C01-768066633F34}"/>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10915029" y="4711090"/>
            <a:ext cx="485685" cy="220235"/>
          </a:xfrm>
          <a:prstGeom prst="rect">
            <a:avLst/>
          </a:prstGeom>
          <a:solidFill>
            <a:schemeClr val="accent2"/>
          </a:solidFill>
        </p:spPr>
      </p:pic>
      <p:pic>
        <p:nvPicPr>
          <p:cNvPr id="67" name="Picture 66">
            <a:extLst>
              <a:ext uri="{FF2B5EF4-FFF2-40B4-BE49-F238E27FC236}">
                <a16:creationId xmlns:a16="http://schemas.microsoft.com/office/drawing/2014/main" id="{FC4192E9-6155-0B30-0F7F-42A86F27C1D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5402670" y="5645559"/>
            <a:ext cx="1033914" cy="216890"/>
          </a:xfrm>
          <a:prstGeom prst="rect">
            <a:avLst/>
          </a:prstGeom>
        </p:spPr>
      </p:pic>
      <p:pic>
        <p:nvPicPr>
          <p:cNvPr id="77" name="Picture 76">
            <a:extLst>
              <a:ext uri="{FF2B5EF4-FFF2-40B4-BE49-F238E27FC236}">
                <a16:creationId xmlns:a16="http://schemas.microsoft.com/office/drawing/2014/main" id="{AA8070C1-E780-24DF-4942-A0F55695A36B}"/>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6578894" y="5650365"/>
            <a:ext cx="374781" cy="207935"/>
          </a:xfrm>
          <a:prstGeom prst="rect">
            <a:avLst/>
          </a:prstGeom>
        </p:spPr>
      </p:pic>
      <p:pic>
        <p:nvPicPr>
          <p:cNvPr id="87" name="Picture 2" descr="PwC and Alteryx">
            <a:extLst>
              <a:ext uri="{FF2B5EF4-FFF2-40B4-BE49-F238E27FC236}">
                <a16:creationId xmlns:a16="http://schemas.microsoft.com/office/drawing/2014/main" id="{3BED2761-1276-36FE-8356-7D0521F9245C}"/>
              </a:ext>
            </a:extLst>
          </p:cNvPr>
          <p:cNvPicPr>
            <a:picLocks noChangeAspect="1" noChangeArrowheads="1"/>
          </p:cNvPicPr>
          <p:nvPr/>
        </p:nvPicPr>
        <p:blipFill>
          <a:blip r:embed="rId23" cstate="email">
            <a:extLst>
              <a:ext uri="{28A0092B-C50C-407E-A947-70E740481C1C}">
                <a14:useLocalDpi xmlns:a14="http://schemas.microsoft.com/office/drawing/2010/main"/>
              </a:ext>
            </a:extLst>
          </a:blip>
          <a:srcRect/>
          <a:stretch>
            <a:fillRect/>
          </a:stretch>
        </p:blipFill>
        <p:spPr bwMode="auto">
          <a:xfrm>
            <a:off x="7747077" y="5578672"/>
            <a:ext cx="669302" cy="376482"/>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AccuRanker — AccuRanker">
            <a:extLst>
              <a:ext uri="{FF2B5EF4-FFF2-40B4-BE49-F238E27FC236}">
                <a16:creationId xmlns:a16="http://schemas.microsoft.com/office/drawing/2014/main" id="{21FE4CF8-DA5D-D128-0EC0-4BACC48F653F}"/>
              </a:ext>
            </a:extLst>
          </p:cNvPr>
          <p:cNvPicPr>
            <a:picLocks noChangeAspect="1" noChangeArrowheads="1"/>
          </p:cNvPicPr>
          <p:nvPr/>
        </p:nvPicPr>
        <p:blipFill>
          <a:blip r:embed="rId24" cstate="email">
            <a:extLst>
              <a:ext uri="{28A0092B-C50C-407E-A947-70E740481C1C}">
                <a14:useLocalDpi xmlns:a14="http://schemas.microsoft.com/office/drawing/2010/main"/>
              </a:ext>
            </a:extLst>
          </a:blip>
          <a:srcRect/>
          <a:stretch>
            <a:fillRect/>
          </a:stretch>
        </p:blipFill>
        <p:spPr bwMode="auto">
          <a:xfrm>
            <a:off x="7177455" y="5623730"/>
            <a:ext cx="480675" cy="274519"/>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Sigma Computing – the newest data visualisation tool? - Snap Analytics">
            <a:extLst>
              <a:ext uri="{FF2B5EF4-FFF2-40B4-BE49-F238E27FC236}">
                <a16:creationId xmlns:a16="http://schemas.microsoft.com/office/drawing/2014/main" id="{E110C098-83F5-832D-C2AA-901855F9870A}"/>
              </a:ext>
            </a:extLst>
          </p:cNvPr>
          <p:cNvPicPr>
            <a:picLocks noChangeAspect="1" noChangeArrowheads="1"/>
          </p:cNvPicPr>
          <p:nvPr/>
        </p:nvPicPr>
        <p:blipFill>
          <a:blip r:embed="rId25" cstate="email">
            <a:extLst>
              <a:ext uri="{28A0092B-C50C-407E-A947-70E740481C1C}">
                <a14:useLocalDpi xmlns:a14="http://schemas.microsoft.com/office/drawing/2010/main"/>
              </a:ext>
            </a:extLst>
          </a:blip>
          <a:srcRect/>
          <a:stretch>
            <a:fillRect/>
          </a:stretch>
        </p:blipFill>
        <p:spPr bwMode="auto">
          <a:xfrm>
            <a:off x="8484563" y="5628281"/>
            <a:ext cx="516852" cy="258426"/>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a:extLst>
              <a:ext uri="{FF2B5EF4-FFF2-40B4-BE49-F238E27FC236}">
                <a16:creationId xmlns:a16="http://schemas.microsoft.com/office/drawing/2014/main" id="{D8D05C7C-C7F0-8B45-80B3-FB78DA840C0A}"/>
              </a:ext>
            </a:extLst>
          </p:cNvPr>
          <p:cNvPicPr>
            <a:picLocks noChangeAspect="1"/>
          </p:cNvPicPr>
          <p:nvPr/>
        </p:nvPicPr>
        <p:blipFill rotWithShape="1">
          <a:blip r:embed="rId26" cstate="email">
            <a:extLst>
              <a:ext uri="{28A0092B-C50C-407E-A947-70E740481C1C}">
                <a14:useLocalDpi xmlns:a14="http://schemas.microsoft.com/office/drawing/2010/main"/>
              </a:ext>
            </a:extLst>
          </a:blip>
          <a:srcRect/>
          <a:stretch/>
        </p:blipFill>
        <p:spPr>
          <a:xfrm>
            <a:off x="5486880" y="5354378"/>
            <a:ext cx="607314" cy="175385"/>
          </a:xfrm>
          <a:prstGeom prst="rect">
            <a:avLst/>
          </a:prstGeom>
        </p:spPr>
      </p:pic>
      <p:pic>
        <p:nvPicPr>
          <p:cNvPr id="99" name="Picture 2" descr="Matillion Logo - EqualEngineers">
            <a:extLst>
              <a:ext uri="{FF2B5EF4-FFF2-40B4-BE49-F238E27FC236}">
                <a16:creationId xmlns:a16="http://schemas.microsoft.com/office/drawing/2014/main" id="{56702588-B707-E88C-ED30-11EBFDE63BD7}"/>
              </a:ext>
            </a:extLst>
          </p:cNvPr>
          <p:cNvPicPr>
            <a:picLocks noChangeAspect="1" noChangeArrowheads="1"/>
          </p:cNvPicPr>
          <p:nvPr/>
        </p:nvPicPr>
        <p:blipFill>
          <a:blip r:embed="rId27" cstate="email">
            <a:extLst>
              <a:ext uri="{28A0092B-C50C-407E-A947-70E740481C1C}">
                <a14:useLocalDpi xmlns:a14="http://schemas.microsoft.com/office/drawing/2010/main"/>
              </a:ext>
            </a:extLst>
          </a:blip>
          <a:srcRect/>
          <a:stretch>
            <a:fillRect/>
          </a:stretch>
        </p:blipFill>
        <p:spPr bwMode="auto">
          <a:xfrm>
            <a:off x="5903669" y="9249203"/>
            <a:ext cx="429010" cy="212327"/>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 descr="Matillion Logo - EqualEngineers">
            <a:extLst>
              <a:ext uri="{FF2B5EF4-FFF2-40B4-BE49-F238E27FC236}">
                <a16:creationId xmlns:a16="http://schemas.microsoft.com/office/drawing/2014/main" id="{ED73DF83-81BD-46AC-8EF7-AEE79A1CA740}"/>
              </a:ext>
            </a:extLst>
          </p:cNvPr>
          <p:cNvPicPr>
            <a:picLocks noChangeAspect="1" noChangeArrowheads="1"/>
          </p:cNvPicPr>
          <p:nvPr/>
        </p:nvPicPr>
        <p:blipFill>
          <a:blip r:embed="rId28" cstate="email">
            <a:extLst>
              <a:ext uri="{28A0092B-C50C-407E-A947-70E740481C1C}">
                <a14:useLocalDpi xmlns:a14="http://schemas.microsoft.com/office/drawing/2010/main"/>
              </a:ext>
            </a:extLst>
          </a:blip>
          <a:srcRect/>
          <a:stretch>
            <a:fillRect/>
          </a:stretch>
        </p:blipFill>
        <p:spPr bwMode="auto">
          <a:xfrm>
            <a:off x="7400218" y="5293586"/>
            <a:ext cx="603781" cy="298824"/>
          </a:xfrm>
          <a:prstGeom prst="rect">
            <a:avLst/>
          </a:prstGeom>
          <a:noFill/>
          <a:extLst>
            <a:ext uri="{909E8E84-426E-40DD-AFC4-6F175D3DCCD1}">
              <a14:hiddenFill xmlns:a14="http://schemas.microsoft.com/office/drawing/2010/main">
                <a:solidFill>
                  <a:srgbClr val="FFFFFF"/>
                </a:solidFill>
              </a14:hiddenFill>
            </a:ext>
          </a:extLst>
        </p:spPr>
      </p:pic>
      <p:grpSp>
        <p:nvGrpSpPr>
          <p:cNvPr id="103" name="Group 102">
            <a:extLst>
              <a:ext uri="{FF2B5EF4-FFF2-40B4-BE49-F238E27FC236}">
                <a16:creationId xmlns:a16="http://schemas.microsoft.com/office/drawing/2014/main" id="{5CB6AD06-B688-BFBF-F0C7-683D0B44AFB5}"/>
              </a:ext>
            </a:extLst>
          </p:cNvPr>
          <p:cNvGrpSpPr/>
          <p:nvPr/>
        </p:nvGrpSpPr>
        <p:grpSpPr>
          <a:xfrm>
            <a:off x="4484327" y="6081308"/>
            <a:ext cx="7079240" cy="330668"/>
            <a:chOff x="4689044" y="6341715"/>
            <a:chExt cx="7079240" cy="330668"/>
          </a:xfrm>
        </p:grpSpPr>
        <p:sp>
          <p:nvSpPr>
            <p:cNvPr id="43" name="Rectangle 42">
              <a:extLst>
                <a:ext uri="{FF2B5EF4-FFF2-40B4-BE49-F238E27FC236}">
                  <a16:creationId xmlns:a16="http://schemas.microsoft.com/office/drawing/2014/main" id="{B2F7821C-128F-BC28-B089-B45C687A20F7}"/>
                </a:ext>
              </a:extLst>
            </p:cNvPr>
            <p:cNvSpPr/>
            <p:nvPr/>
          </p:nvSpPr>
          <p:spPr>
            <a:xfrm>
              <a:off x="4689044" y="6341715"/>
              <a:ext cx="7079240" cy="33066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solidFill>
                    <a:srgbClr val="FFFFFF"/>
                  </a:solidFill>
                  <a:effectLst/>
                  <a:uLnTx/>
                  <a:uFillTx/>
                  <a:latin typeface="Manrope" pitchFamily="2" charset="0"/>
                </a:rPr>
                <a:t>Hexaware Strengthens Data Capabilities with  Acquisition of Softcrylic</a:t>
              </a:r>
            </a:p>
          </p:txBody>
        </p:sp>
        <p:pic>
          <p:nvPicPr>
            <p:cNvPr id="97" name="Picture 96" descr="A black and white logo&#10;&#10;Description automatically generated">
              <a:extLst>
                <a:ext uri="{FF2B5EF4-FFF2-40B4-BE49-F238E27FC236}">
                  <a16:creationId xmlns:a16="http://schemas.microsoft.com/office/drawing/2014/main" id="{6E70095C-92F6-5989-91E5-696FC18A0D8E}"/>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9502142" y="6378504"/>
              <a:ext cx="1276019" cy="236137"/>
            </a:xfrm>
            <a:prstGeom prst="rect">
              <a:avLst/>
            </a:prstGeom>
            <a:solidFill>
              <a:schemeClr val="accent4"/>
            </a:solidFill>
          </p:spPr>
        </p:pic>
        <p:sp>
          <p:nvSpPr>
            <p:cNvPr id="102" name="TextBox 101">
              <a:hlinkClick r:id="rId30"/>
              <a:extLst>
                <a:ext uri="{FF2B5EF4-FFF2-40B4-BE49-F238E27FC236}">
                  <a16:creationId xmlns:a16="http://schemas.microsoft.com/office/drawing/2014/main" id="{6170503E-2662-D145-FCA7-37DDAD8FE5D7}"/>
                </a:ext>
              </a:extLst>
            </p:cNvPr>
            <p:cNvSpPr txBox="1"/>
            <p:nvPr/>
          </p:nvSpPr>
          <p:spPr>
            <a:xfrm>
              <a:off x="8729844" y="6407021"/>
              <a:ext cx="1457591"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sng" strike="noStrike" kern="1200" cap="none" spc="0" normalizeH="0" baseline="0" noProof="0">
                  <a:ln>
                    <a:noFill/>
                  </a:ln>
                  <a:solidFill>
                    <a:srgbClr val="FFFFFF"/>
                  </a:solidFill>
                  <a:effectLst/>
                  <a:uLnTx/>
                  <a:uFillTx/>
                  <a:latin typeface="Manrope" pitchFamily="2" charset="0"/>
                </a:rPr>
                <a:t>Learn more </a:t>
              </a:r>
            </a:p>
          </p:txBody>
        </p:sp>
      </p:grpSp>
      <p:grpSp>
        <p:nvGrpSpPr>
          <p:cNvPr id="146" name="Group 145">
            <a:extLst>
              <a:ext uri="{FF2B5EF4-FFF2-40B4-BE49-F238E27FC236}">
                <a16:creationId xmlns:a16="http://schemas.microsoft.com/office/drawing/2014/main" id="{F36AC30D-2569-AB5D-A318-428F4FCC294C}"/>
              </a:ext>
            </a:extLst>
          </p:cNvPr>
          <p:cNvGrpSpPr/>
          <p:nvPr/>
        </p:nvGrpSpPr>
        <p:grpSpPr>
          <a:xfrm>
            <a:off x="4486814" y="3492200"/>
            <a:ext cx="3707824" cy="369082"/>
            <a:chOff x="4786595" y="4255088"/>
            <a:chExt cx="4143596" cy="485239"/>
          </a:xfrm>
        </p:grpSpPr>
        <p:pic>
          <p:nvPicPr>
            <p:cNvPr id="152" name="Picture 2" descr="The AIconics Awards Logo">
              <a:extLst>
                <a:ext uri="{FF2B5EF4-FFF2-40B4-BE49-F238E27FC236}">
                  <a16:creationId xmlns:a16="http://schemas.microsoft.com/office/drawing/2014/main" id="{FBA86F15-49DB-13C9-9862-8CB33F16A8FA}"/>
                </a:ext>
              </a:extLst>
            </p:cNvPr>
            <p:cNvPicPr>
              <a:picLocks noChangeAspect="1" noChangeArrowheads="1"/>
            </p:cNvPicPr>
            <p:nvPr/>
          </p:nvPicPr>
          <p:blipFill rotWithShape="1">
            <a:blip r:embed="rId31" cstate="email">
              <a:extLst>
                <a:ext uri="{28A0092B-C50C-407E-A947-70E740481C1C}">
                  <a14:useLocalDpi xmlns:a14="http://schemas.microsoft.com/office/drawing/2010/main"/>
                </a:ext>
              </a:extLst>
            </a:blip>
            <a:srcRect/>
            <a:stretch/>
          </p:blipFill>
          <p:spPr bwMode="auto">
            <a:xfrm>
              <a:off x="4786595" y="4255088"/>
              <a:ext cx="1170129" cy="485239"/>
            </a:xfrm>
            <a:prstGeom prst="rect">
              <a:avLst/>
            </a:prstGeom>
            <a:noFill/>
            <a:extLst>
              <a:ext uri="{909E8E84-426E-40DD-AFC4-6F175D3DCCD1}">
                <a14:hiddenFill xmlns:a14="http://schemas.microsoft.com/office/drawing/2010/main">
                  <a:solidFill>
                    <a:srgbClr val="FFFFFF"/>
                  </a:solidFill>
                </a14:hiddenFill>
              </a:ext>
            </a:extLst>
          </p:spPr>
        </p:pic>
        <p:sp>
          <p:nvSpPr>
            <p:cNvPr id="153" name="TextBox 152">
              <a:extLst>
                <a:ext uri="{FF2B5EF4-FFF2-40B4-BE49-F238E27FC236}">
                  <a16:creationId xmlns:a16="http://schemas.microsoft.com/office/drawing/2014/main" id="{1561F2A3-4B08-4A67-E406-A028EE8FF77C}"/>
                </a:ext>
              </a:extLst>
            </p:cNvPr>
            <p:cNvSpPr txBox="1"/>
            <p:nvPr/>
          </p:nvSpPr>
          <p:spPr>
            <a:xfrm>
              <a:off x="6438470" y="4413071"/>
              <a:ext cx="2491721" cy="242784"/>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Manrope"/>
                  <a:ea typeface="Helvetica Neue"/>
                  <a:cs typeface="Helvetica Neue"/>
                </a:rPr>
                <a:t>AI Implementer of the year</a:t>
              </a:r>
            </a:p>
          </p:txBody>
        </p:sp>
      </p:grpSp>
      <p:pic>
        <p:nvPicPr>
          <p:cNvPr id="155" name="Picture 154">
            <a:extLst>
              <a:ext uri="{FF2B5EF4-FFF2-40B4-BE49-F238E27FC236}">
                <a16:creationId xmlns:a16="http://schemas.microsoft.com/office/drawing/2014/main" id="{C6F5B517-A6AA-40E3-D832-927F14905B76}"/>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8357585" y="5014255"/>
            <a:ext cx="712885" cy="190541"/>
          </a:xfrm>
          <a:prstGeom prst="rect">
            <a:avLst/>
          </a:prstGeom>
        </p:spPr>
      </p:pic>
      <p:pic>
        <p:nvPicPr>
          <p:cNvPr id="2050" name="Picture 2" descr="Fivetran | Untitled Firm">
            <a:extLst>
              <a:ext uri="{FF2B5EF4-FFF2-40B4-BE49-F238E27FC236}">
                <a16:creationId xmlns:a16="http://schemas.microsoft.com/office/drawing/2014/main" id="{A359B413-9CF2-33BB-08AF-759FCDC90252}"/>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9641609" y="5304391"/>
            <a:ext cx="738552" cy="29246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AD76AFA-A31E-BAC7-54C1-248DEB6127C1}"/>
              </a:ext>
            </a:extLst>
          </p:cNvPr>
          <p:cNvPicPr>
            <a:picLocks noChangeAspect="1" noChangeArrowheads="1"/>
          </p:cNvPicPr>
          <p:nvPr/>
        </p:nvPicPr>
        <p:blipFill>
          <a:blip r:embed="rId34" cstate="email">
            <a:extLst>
              <a:ext uri="{28A0092B-C50C-407E-A947-70E740481C1C}">
                <a14:useLocalDpi xmlns:a14="http://schemas.microsoft.com/office/drawing/2010/main"/>
              </a:ext>
            </a:extLst>
          </a:blip>
          <a:srcRect/>
          <a:stretch>
            <a:fillRect/>
          </a:stretch>
        </p:blipFill>
        <p:spPr bwMode="auto">
          <a:xfrm>
            <a:off x="9265095" y="5042180"/>
            <a:ext cx="555296" cy="171812"/>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155">
            <a:extLst>
              <a:ext uri="{FF2B5EF4-FFF2-40B4-BE49-F238E27FC236}">
                <a16:creationId xmlns:a16="http://schemas.microsoft.com/office/drawing/2014/main" id="{7C9A387D-F31C-3BBD-A4AA-054D63FF52D8}"/>
              </a:ext>
            </a:extLst>
          </p:cNvPr>
          <p:cNvPicPr>
            <a:picLocks noChangeAspect="1"/>
          </p:cNvPicPr>
          <p:nvPr/>
        </p:nvPicPr>
        <p:blipFill rotWithShape="1">
          <a:blip r:embed="rId35" cstate="email">
            <a:extLst>
              <a:ext uri="{28A0092B-C50C-407E-A947-70E740481C1C}">
                <a14:useLocalDpi xmlns:a14="http://schemas.microsoft.com/office/drawing/2010/main"/>
              </a:ext>
            </a:extLst>
          </a:blip>
          <a:srcRect/>
          <a:stretch/>
        </p:blipFill>
        <p:spPr>
          <a:xfrm>
            <a:off x="10428602" y="5250518"/>
            <a:ext cx="374429" cy="305343"/>
          </a:xfrm>
          <a:prstGeom prst="rect">
            <a:avLst/>
          </a:prstGeom>
        </p:spPr>
      </p:pic>
      <p:sp>
        <p:nvSpPr>
          <p:cNvPr id="33" name="TextBox 32">
            <a:extLst>
              <a:ext uri="{FF2B5EF4-FFF2-40B4-BE49-F238E27FC236}">
                <a16:creationId xmlns:a16="http://schemas.microsoft.com/office/drawing/2014/main" id="{9064E12D-E3C4-DE9F-2DFA-EADA6D87DAC9}"/>
              </a:ext>
            </a:extLst>
          </p:cNvPr>
          <p:cNvSpPr txBox="1"/>
          <p:nvPr/>
        </p:nvSpPr>
        <p:spPr>
          <a:xfrm>
            <a:off x="9070470" y="3438930"/>
            <a:ext cx="2616199" cy="261610"/>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1100" b="1" i="0" u="none" strike="noStrike" cap="none" spc="0" normalizeH="0" baseline="0">
                <a:ln>
                  <a:noFill/>
                </a:ln>
                <a:solidFill>
                  <a:prstClr val="black"/>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anrope"/>
              </a:rPr>
              <a:t>AI GAME CHANGER AWARD</a:t>
            </a:r>
          </a:p>
        </p:txBody>
      </p:sp>
      <p:pic>
        <p:nvPicPr>
          <p:cNvPr id="98" name="Picture 97">
            <a:extLst>
              <a:ext uri="{FF2B5EF4-FFF2-40B4-BE49-F238E27FC236}">
                <a16:creationId xmlns:a16="http://schemas.microsoft.com/office/drawing/2014/main" id="{778DA0D7-68C4-D390-A198-4468F48E320D}"/>
              </a:ext>
            </a:extLst>
          </p:cNvPr>
          <p:cNvPicPr>
            <a:picLocks noChangeAspect="1"/>
          </p:cNvPicPr>
          <p:nvPr/>
        </p:nvPicPr>
        <p:blipFill>
          <a:blip r:embed="rId36" cstate="email">
            <a:clrChange>
              <a:clrFrom>
                <a:srgbClr val="F7F7F7"/>
              </a:clrFrom>
              <a:clrTo>
                <a:srgbClr val="F7F7F7">
                  <a:alpha val="0"/>
                </a:srgbClr>
              </a:clrTo>
            </a:clrChange>
            <a:extLst>
              <a:ext uri="{28A0092B-C50C-407E-A947-70E740481C1C}">
                <a14:useLocalDpi xmlns:a14="http://schemas.microsoft.com/office/drawing/2010/main"/>
              </a:ext>
            </a:extLst>
          </a:blip>
          <a:stretch>
            <a:fillRect/>
          </a:stretch>
        </p:blipFill>
        <p:spPr>
          <a:xfrm>
            <a:off x="9147088" y="3761565"/>
            <a:ext cx="992167" cy="206357"/>
          </a:xfrm>
          <a:prstGeom prst="rect">
            <a:avLst/>
          </a:prstGeom>
        </p:spPr>
      </p:pic>
      <p:cxnSp>
        <p:nvCxnSpPr>
          <p:cNvPr id="143" name="Straight Connector 142">
            <a:extLst>
              <a:ext uri="{FF2B5EF4-FFF2-40B4-BE49-F238E27FC236}">
                <a16:creationId xmlns:a16="http://schemas.microsoft.com/office/drawing/2014/main" id="{91B6D124-E0F0-DD49-EC4E-6FD246216489}"/>
              </a:ext>
            </a:extLst>
          </p:cNvPr>
          <p:cNvCxnSpPr>
            <a:cxnSpLocks/>
          </p:cNvCxnSpPr>
          <p:nvPr/>
        </p:nvCxnSpPr>
        <p:spPr>
          <a:xfrm>
            <a:off x="8498924" y="3390148"/>
            <a:ext cx="0" cy="604562"/>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1567EBA-9479-B71F-3F78-3E78D8C969DC}"/>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10818985" y="5013232"/>
            <a:ext cx="702952" cy="233084"/>
          </a:xfrm>
          <a:prstGeom prst="rect">
            <a:avLst/>
          </a:prstGeom>
        </p:spPr>
      </p:pic>
    </p:spTree>
    <p:extLst>
      <p:ext uri="{BB962C8B-B14F-4D97-AF65-F5344CB8AC3E}">
        <p14:creationId xmlns:p14="http://schemas.microsoft.com/office/powerpoint/2010/main" val="4239976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52934-9B00-CAD0-0D69-4B2BFF4452CD}"/>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2C9F6F42-3D0E-F565-0905-9A142D130ED4}"/>
              </a:ext>
            </a:extLst>
          </p:cNvPr>
          <p:cNvSpPr/>
          <p:nvPr/>
        </p:nvSpPr>
        <p:spPr>
          <a:xfrm>
            <a:off x="639573" y="1402234"/>
            <a:ext cx="3338674" cy="2246584"/>
          </a:xfrm>
          <a:prstGeom prst="rect">
            <a:avLst/>
          </a:prstGeom>
          <a:solidFill>
            <a:schemeClr val="accent5">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06524A-B404-BBEC-6090-BB9A0B61139F}"/>
              </a:ext>
            </a:extLst>
          </p:cNvPr>
          <p:cNvSpPr/>
          <p:nvPr/>
        </p:nvSpPr>
        <p:spPr>
          <a:xfrm>
            <a:off x="4451426" y="1396114"/>
            <a:ext cx="7126259" cy="37887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anrope" pitchFamily="2" charset="0"/>
              </a:rPr>
              <a:t>Service Spectrum</a:t>
            </a:r>
          </a:p>
        </p:txBody>
      </p:sp>
      <p:sp>
        <p:nvSpPr>
          <p:cNvPr id="2" name="Text Placeholder 1">
            <a:extLst>
              <a:ext uri="{FF2B5EF4-FFF2-40B4-BE49-F238E27FC236}">
                <a16:creationId xmlns:a16="http://schemas.microsoft.com/office/drawing/2014/main" id="{D0D4E98B-FF47-10DA-ECF8-C4BC2DA2FB41}"/>
              </a:ext>
            </a:extLst>
          </p:cNvPr>
          <p:cNvSpPr>
            <a:spLocks noGrp="1"/>
          </p:cNvSpPr>
          <p:nvPr>
            <p:ph type="body" sz="quarter" idx="15"/>
          </p:nvPr>
        </p:nvSpPr>
        <p:spPr>
          <a:xfrm flipH="1">
            <a:off x="623888" y="457200"/>
            <a:ext cx="8172450" cy="244101"/>
          </a:xfrm>
        </p:spPr>
        <p:txBody>
          <a:bodyPr wrap="square" lIns="0" tIns="36000" rIns="0" bIns="0" anchor="t" anchorCtr="0">
            <a:spAutoFit/>
          </a:bodyPr>
          <a:lstStyle/>
          <a:p>
            <a:r>
              <a:rPr lang="en-US"/>
              <a:t>Snowflake Practice Overview</a:t>
            </a:r>
          </a:p>
        </p:txBody>
      </p:sp>
      <p:sp>
        <p:nvSpPr>
          <p:cNvPr id="3" name="TextBox 37">
            <a:extLst>
              <a:ext uri="{FF2B5EF4-FFF2-40B4-BE49-F238E27FC236}">
                <a16:creationId xmlns:a16="http://schemas.microsoft.com/office/drawing/2014/main" id="{ED6B8828-6A8B-7D62-AF79-10662C57DF45}"/>
              </a:ext>
            </a:extLst>
          </p:cNvPr>
          <p:cNvSpPr txBox="1"/>
          <p:nvPr/>
        </p:nvSpPr>
        <p:spPr>
          <a:xfrm>
            <a:off x="623887" y="944853"/>
            <a:ext cx="10997694" cy="36933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95959"/>
                </a:solidFill>
                <a:effectLst/>
                <a:uLnTx/>
                <a:uFillTx/>
                <a:latin typeface="Manrope" pitchFamily="2" charset="0"/>
              </a:rPr>
              <a:t>Hexaware has a strategic partnership with Snowflake and is a </a:t>
            </a:r>
            <a:r>
              <a:rPr kumimoji="0" lang="en-US" sz="1200" b="1" i="0" u="none" strike="noStrike" kern="1200" cap="none" spc="0" normalizeH="0" baseline="0" noProof="0">
                <a:ln>
                  <a:noFill/>
                </a:ln>
                <a:solidFill>
                  <a:srgbClr val="3C2CDA"/>
                </a:solidFill>
                <a:effectLst/>
                <a:uLnTx/>
                <a:uFillTx/>
                <a:latin typeface="Manrope" pitchFamily="2" charset="0"/>
              </a:rPr>
              <a:t>Premier Service Partner</a:t>
            </a:r>
            <a:r>
              <a:rPr kumimoji="0" lang="en-US" sz="1200" b="0" i="0" u="none" strike="noStrike" kern="1200" cap="none" spc="0" normalizeH="0" baseline="0" noProof="0">
                <a:ln>
                  <a:noFill/>
                </a:ln>
                <a:solidFill>
                  <a:srgbClr val="595959"/>
                </a:solidFill>
                <a:effectLst/>
                <a:uLnTx/>
                <a:uFillTx/>
                <a:latin typeface="Manrope" pitchFamily="2" charset="0"/>
              </a:rPr>
              <a:t>. We have built multiple in-house IP tools on top of the Snowflake Cloud Platform to bring in automation efficiencies. </a:t>
            </a:r>
          </a:p>
        </p:txBody>
      </p:sp>
      <p:sp>
        <p:nvSpPr>
          <p:cNvPr id="4" name="Rectangle 3">
            <a:extLst>
              <a:ext uri="{FF2B5EF4-FFF2-40B4-BE49-F238E27FC236}">
                <a16:creationId xmlns:a16="http://schemas.microsoft.com/office/drawing/2014/main" id="{1A3A577F-1940-1041-E59B-D971E9C812D4}"/>
              </a:ext>
            </a:extLst>
          </p:cNvPr>
          <p:cNvSpPr/>
          <p:nvPr/>
        </p:nvSpPr>
        <p:spPr>
          <a:xfrm>
            <a:off x="779799" y="1564751"/>
            <a:ext cx="1410679" cy="82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50" normalizeH="0" baseline="0" noProof="0">
                <a:ln>
                  <a:noFill/>
                </a:ln>
                <a:solidFill>
                  <a:srgbClr val="3C2CDA"/>
                </a:solidFill>
                <a:effectLst/>
                <a:uLnTx/>
                <a:uFillTx/>
                <a:latin typeface="Manrope" pitchFamily="2" charset="0"/>
                <a:cs typeface="Segoe UI" panose="020B0502040204020203" pitchFamily="34" charset="0"/>
              </a:rPr>
              <a:t>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7125E"/>
                </a:solidFill>
                <a:effectLst/>
                <a:uLnTx/>
                <a:uFillTx/>
                <a:latin typeface="Manrope" pitchFamily="2" charset="0"/>
              </a:rPr>
              <a:t>Revenue Growth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7125E"/>
                </a:solidFill>
                <a:effectLst/>
                <a:uLnTx/>
                <a:uFillTx/>
                <a:latin typeface="Manrope" pitchFamily="2" charset="0"/>
              </a:rPr>
              <a:t>over last year</a:t>
            </a:r>
          </a:p>
        </p:txBody>
      </p:sp>
      <p:sp>
        <p:nvSpPr>
          <p:cNvPr id="5" name="Rectangle 4">
            <a:extLst>
              <a:ext uri="{FF2B5EF4-FFF2-40B4-BE49-F238E27FC236}">
                <a16:creationId xmlns:a16="http://schemas.microsoft.com/office/drawing/2014/main" id="{73710C8A-784D-E19F-F9BF-44A96F57399E}"/>
              </a:ext>
            </a:extLst>
          </p:cNvPr>
          <p:cNvSpPr/>
          <p:nvPr/>
        </p:nvSpPr>
        <p:spPr>
          <a:xfrm>
            <a:off x="2389152" y="1564751"/>
            <a:ext cx="1578146" cy="8610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50" normalizeH="0" baseline="0" noProof="0">
                <a:ln>
                  <a:noFill/>
                </a:ln>
                <a:solidFill>
                  <a:srgbClr val="3C2CDA"/>
                </a:solidFill>
                <a:effectLst/>
                <a:uLnTx/>
                <a:uFillTx/>
                <a:latin typeface="Manrope" pitchFamily="2" charset="0"/>
                <a:cs typeface="Segoe UI" panose="020B0502040204020203" pitchFamily="34" charset="0"/>
              </a:rPr>
              <a:t>475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7125E"/>
                </a:solidFill>
                <a:effectLst/>
                <a:uLnTx/>
                <a:uFillTx/>
                <a:latin typeface="Manrope" pitchFamily="2" charset="0"/>
              </a:rPr>
              <a:t>Snowflake Consultants</a:t>
            </a:r>
          </a:p>
        </p:txBody>
      </p:sp>
      <p:sp>
        <p:nvSpPr>
          <p:cNvPr id="6" name="Rectangle 5">
            <a:extLst>
              <a:ext uri="{FF2B5EF4-FFF2-40B4-BE49-F238E27FC236}">
                <a16:creationId xmlns:a16="http://schemas.microsoft.com/office/drawing/2014/main" id="{0850A3FF-929E-8FC1-4616-D8FDD7302D56}"/>
              </a:ext>
            </a:extLst>
          </p:cNvPr>
          <p:cNvSpPr/>
          <p:nvPr/>
        </p:nvSpPr>
        <p:spPr>
          <a:xfrm>
            <a:off x="779799" y="2666609"/>
            <a:ext cx="1040356" cy="82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50" normalizeH="0" baseline="0" noProof="0">
                <a:ln>
                  <a:noFill/>
                </a:ln>
                <a:solidFill>
                  <a:srgbClr val="3C2CDA"/>
                </a:solidFill>
                <a:effectLst/>
                <a:uLnTx/>
                <a:uFillTx/>
                <a:latin typeface="Manrope" pitchFamily="2" charset="0"/>
                <a:cs typeface="Segoe UI" panose="020B0502040204020203" pitchFamily="34" charset="0"/>
              </a:rPr>
              <a:t>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7125E"/>
                </a:solidFill>
                <a:effectLst/>
                <a:uLnTx/>
                <a:uFillTx/>
                <a:latin typeface="Manrope" pitchFamily="2" charset="0"/>
              </a:rPr>
              <a:t>Active Clients</a:t>
            </a:r>
          </a:p>
        </p:txBody>
      </p:sp>
      <p:sp>
        <p:nvSpPr>
          <p:cNvPr id="7" name="Rectangle 6">
            <a:extLst>
              <a:ext uri="{FF2B5EF4-FFF2-40B4-BE49-F238E27FC236}">
                <a16:creationId xmlns:a16="http://schemas.microsoft.com/office/drawing/2014/main" id="{64CDA2B2-DDF4-00C5-2795-270BC8096977}"/>
              </a:ext>
            </a:extLst>
          </p:cNvPr>
          <p:cNvSpPr/>
          <p:nvPr/>
        </p:nvSpPr>
        <p:spPr>
          <a:xfrm>
            <a:off x="2389152" y="2668896"/>
            <a:ext cx="1406476" cy="82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50" normalizeH="0" baseline="0" noProof="0">
                <a:ln>
                  <a:noFill/>
                </a:ln>
                <a:solidFill>
                  <a:srgbClr val="3C2CDA"/>
                </a:solidFill>
                <a:effectLst/>
                <a:uLnTx/>
                <a:uFillTx/>
                <a:latin typeface="Manrope" pitchFamily="2" charset="0"/>
                <a:cs typeface="Segoe UI" panose="020B0502040204020203" pitchFamily="34" charset="0"/>
              </a:rPr>
              <a:t>250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7125E"/>
                </a:solidFill>
                <a:effectLst/>
                <a:uLnTx/>
                <a:uFillTx/>
                <a:latin typeface="Manrope" pitchFamily="2" charset="0"/>
              </a:rPr>
              <a:t>Snowflake certifications</a:t>
            </a:r>
          </a:p>
        </p:txBody>
      </p:sp>
      <p:cxnSp>
        <p:nvCxnSpPr>
          <p:cNvPr id="22" name="Straight Connector 21">
            <a:extLst>
              <a:ext uri="{FF2B5EF4-FFF2-40B4-BE49-F238E27FC236}">
                <a16:creationId xmlns:a16="http://schemas.microsoft.com/office/drawing/2014/main" id="{E91A83EF-2A93-B252-06FC-91423A537A01}"/>
              </a:ext>
            </a:extLst>
          </p:cNvPr>
          <p:cNvCxnSpPr>
            <a:cxnSpLocks/>
          </p:cNvCxnSpPr>
          <p:nvPr/>
        </p:nvCxnSpPr>
        <p:spPr>
          <a:xfrm>
            <a:off x="4165960" y="1408485"/>
            <a:ext cx="0" cy="22860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1">
            <a:extLst>
              <a:ext uri="{FF2B5EF4-FFF2-40B4-BE49-F238E27FC236}">
                <a16:creationId xmlns:a16="http://schemas.microsoft.com/office/drawing/2014/main" id="{004DB62B-83B8-0191-4C5A-0A22CFB4DDE2}"/>
              </a:ext>
            </a:extLst>
          </p:cNvPr>
          <p:cNvSpPr txBox="1">
            <a:spLocks/>
          </p:cNvSpPr>
          <p:nvPr/>
        </p:nvSpPr>
        <p:spPr>
          <a:xfrm flipH="1">
            <a:off x="610688" y="5078579"/>
            <a:ext cx="8172450" cy="2302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400" i="0" u="none" strike="noStrike" kern="1200" cap="none" spc="0" normalizeH="0" baseline="0" noProof="0">
                <a:ln>
                  <a:noFill/>
                </a:ln>
                <a:solidFill>
                  <a:schemeClr val="accent1"/>
                </a:solidFill>
                <a:effectLst/>
                <a:uLnTx/>
                <a:uFillTx/>
                <a:latin typeface="Manrope" pitchFamily="2" charset="0"/>
              </a:rPr>
              <a:t>A sample of our Customers</a:t>
            </a:r>
          </a:p>
        </p:txBody>
      </p:sp>
      <p:grpSp>
        <p:nvGrpSpPr>
          <p:cNvPr id="17" name="Group 16">
            <a:extLst>
              <a:ext uri="{FF2B5EF4-FFF2-40B4-BE49-F238E27FC236}">
                <a16:creationId xmlns:a16="http://schemas.microsoft.com/office/drawing/2014/main" id="{0AF6BABE-EBDD-12ED-E6DD-1BD95FF7246D}"/>
              </a:ext>
            </a:extLst>
          </p:cNvPr>
          <p:cNvGrpSpPr/>
          <p:nvPr/>
        </p:nvGrpSpPr>
        <p:grpSpPr>
          <a:xfrm>
            <a:off x="623888" y="3740557"/>
            <a:ext cx="10953797" cy="1225283"/>
            <a:chOff x="158249" y="3790775"/>
            <a:chExt cx="11663485" cy="1301203"/>
          </a:xfrm>
        </p:grpSpPr>
        <p:sp>
          <p:nvSpPr>
            <p:cNvPr id="9" name="Rectangle">
              <a:extLst>
                <a:ext uri="{FF2B5EF4-FFF2-40B4-BE49-F238E27FC236}">
                  <a16:creationId xmlns:a16="http://schemas.microsoft.com/office/drawing/2014/main" id="{31DF68ED-422E-0962-DD1C-0F4D30F90772}"/>
                </a:ext>
              </a:extLst>
            </p:cNvPr>
            <p:cNvSpPr/>
            <p:nvPr/>
          </p:nvSpPr>
          <p:spPr>
            <a:xfrm>
              <a:off x="158249" y="3824425"/>
              <a:ext cx="11663485" cy="1267553"/>
            </a:xfrm>
            <a:prstGeom prst="roundRect">
              <a:avLst>
                <a:gd name="adj" fmla="val 0"/>
              </a:avLst>
            </a:prstGeom>
            <a:solidFill>
              <a:schemeClr val="bg1"/>
            </a:solidFill>
            <a:ln w="12700" cap="flat">
              <a:solidFill>
                <a:schemeClr val="accent5"/>
              </a:solidFill>
              <a:miter lim="400000"/>
            </a:ln>
            <a:effectLst/>
          </p:spPr>
          <p:txBody>
            <a:bodyPr wrap="square" lIns="45719" tIns="45719" rIns="45719" bIns="45719" numCol="1" anchor="ctr">
              <a:noAutofit/>
            </a:bodyPr>
            <a:lstStyle/>
            <a:p>
              <a:pPr marL="0" marR="0" lvl="1" algn="ctr" defTabSz="533400" rtl="0" eaLnBrk="1" fontAlgn="auto" latinLnBrk="0" hangingPunct="1">
                <a:lnSpc>
                  <a:spcPct val="90000"/>
                </a:lnSpc>
                <a:spcBef>
                  <a:spcPct val="0"/>
                </a:spcBef>
                <a:spcAft>
                  <a:spcPct val="15000"/>
                </a:spcAft>
                <a:buClrTx/>
                <a:buSzTx/>
                <a:tabLst/>
                <a:defRPr/>
              </a:pPr>
              <a:endParaRPr kumimoji="0" lang="en-US" sz="1000" b="0" i="0" u="none" strike="noStrike" kern="1200" cap="none" spc="0" normalizeH="0" baseline="0" noProof="0">
                <a:ln>
                  <a:noFill/>
                </a:ln>
                <a:solidFill>
                  <a:srgbClr val="000000"/>
                </a:solidFill>
                <a:effectLst/>
                <a:uLnTx/>
                <a:uFillTx/>
                <a:latin typeface="Manrope" pitchFamily="2" charset="0"/>
              </a:endParaRPr>
            </a:p>
          </p:txBody>
        </p:sp>
        <p:pic>
          <p:nvPicPr>
            <p:cNvPr id="87" name="Picture 86">
              <a:extLst>
                <a:ext uri="{FF2B5EF4-FFF2-40B4-BE49-F238E27FC236}">
                  <a16:creationId xmlns:a16="http://schemas.microsoft.com/office/drawing/2014/main" id="{E14D7321-DC4E-5EF7-8328-C24382C62D3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35906" y="4440899"/>
              <a:ext cx="1032729" cy="556085"/>
            </a:xfrm>
            <a:prstGeom prst="rect">
              <a:avLst/>
            </a:prstGeom>
          </p:spPr>
        </p:pic>
        <p:sp>
          <p:nvSpPr>
            <p:cNvPr id="16" name="TextBox 15">
              <a:hlinkClick r:id="rId4"/>
              <a:extLst>
                <a:ext uri="{FF2B5EF4-FFF2-40B4-BE49-F238E27FC236}">
                  <a16:creationId xmlns:a16="http://schemas.microsoft.com/office/drawing/2014/main" id="{EEA06787-7F78-83E4-16FD-A931035A4781}"/>
                </a:ext>
              </a:extLst>
            </p:cNvPr>
            <p:cNvSpPr txBox="1"/>
            <p:nvPr/>
          </p:nvSpPr>
          <p:spPr>
            <a:xfrm>
              <a:off x="8375174" y="3790775"/>
              <a:ext cx="1457591"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1" u="sng" strike="noStrike" kern="1200" cap="none" spc="0" normalizeH="0" baseline="0" noProof="0">
                  <a:ln>
                    <a:noFill/>
                  </a:ln>
                  <a:solidFill>
                    <a:srgbClr val="FFFFFF"/>
                  </a:solidFill>
                  <a:effectLst/>
                  <a:uLnTx/>
                  <a:uFillTx/>
                  <a:latin typeface="Manrope" pitchFamily="2" charset="0"/>
                </a:rPr>
                <a:t>Learn more </a:t>
              </a:r>
            </a:p>
          </p:txBody>
        </p:sp>
        <p:sp>
          <p:nvSpPr>
            <p:cNvPr id="72" name="Text Placeholder 1">
              <a:extLst>
                <a:ext uri="{FF2B5EF4-FFF2-40B4-BE49-F238E27FC236}">
                  <a16:creationId xmlns:a16="http://schemas.microsoft.com/office/drawing/2014/main" id="{FE8FD7E0-C879-AA04-D831-CF5BCBF2D3FC}"/>
                </a:ext>
              </a:extLst>
            </p:cNvPr>
            <p:cNvSpPr txBox="1">
              <a:spLocks/>
            </p:cNvSpPr>
            <p:nvPr/>
          </p:nvSpPr>
          <p:spPr>
            <a:xfrm flipH="1">
              <a:off x="270556" y="4291593"/>
              <a:ext cx="1406449" cy="45043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lang="en-US" sz="1400">
                  <a:solidFill>
                    <a:schemeClr val="accent1"/>
                  </a:solidFill>
                  <a:latin typeface="Manrope Medium" pitchFamily="2" charset="0"/>
                </a:rPr>
                <a:t>Our Differentiators</a:t>
              </a:r>
              <a:endParaRPr kumimoji="0" lang="en-US" sz="1400" u="none" strike="noStrike" kern="1200" cap="none" spc="0" normalizeH="0" baseline="0" noProof="0">
                <a:ln>
                  <a:noFill/>
                </a:ln>
                <a:solidFill>
                  <a:schemeClr val="accent1"/>
                </a:solidFill>
                <a:effectLst/>
                <a:uLnTx/>
                <a:uFillTx/>
                <a:latin typeface="Manrope Medium" pitchFamily="2" charset="0"/>
              </a:endParaRPr>
            </a:p>
          </p:txBody>
        </p:sp>
        <p:grpSp>
          <p:nvGrpSpPr>
            <p:cNvPr id="73" name="Group 72">
              <a:extLst>
                <a:ext uri="{FF2B5EF4-FFF2-40B4-BE49-F238E27FC236}">
                  <a16:creationId xmlns:a16="http://schemas.microsoft.com/office/drawing/2014/main" id="{4BC6ADAA-8A58-F02F-1D79-F5CD1B5044D7}"/>
                </a:ext>
              </a:extLst>
            </p:cNvPr>
            <p:cNvGrpSpPr/>
            <p:nvPr/>
          </p:nvGrpSpPr>
          <p:grpSpPr>
            <a:xfrm>
              <a:off x="1922609" y="3917930"/>
              <a:ext cx="1807325" cy="612795"/>
              <a:chOff x="1359406" y="4903870"/>
              <a:chExt cx="1807325" cy="612795"/>
            </a:xfrm>
          </p:grpSpPr>
          <p:sp>
            <p:nvSpPr>
              <p:cNvPr id="74" name="Text Placeholder 1">
                <a:extLst>
                  <a:ext uri="{FF2B5EF4-FFF2-40B4-BE49-F238E27FC236}">
                    <a16:creationId xmlns:a16="http://schemas.microsoft.com/office/drawing/2014/main" id="{81CB3010-80E5-FF81-4280-A5F9FB6EE886}"/>
                  </a:ext>
                </a:extLst>
              </p:cNvPr>
              <p:cNvSpPr txBox="1">
                <a:spLocks/>
              </p:cNvSpPr>
              <p:nvPr/>
            </p:nvSpPr>
            <p:spPr>
              <a:xfrm flipH="1">
                <a:off x="1359406" y="4903870"/>
                <a:ext cx="1807325" cy="21510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u="none" strike="noStrike" kern="1200" cap="none" spc="0" normalizeH="0" baseline="0" noProof="0">
                    <a:ln>
                      <a:noFill/>
                    </a:ln>
                    <a:solidFill>
                      <a:schemeClr val="accent1"/>
                    </a:solidFill>
                    <a:effectLst/>
                    <a:uLnTx/>
                    <a:uFillTx/>
                    <a:latin typeface="Manrope Medium" pitchFamily="2" charset="0"/>
                  </a:rPr>
                  <a:t>Migration Platform</a:t>
                </a:r>
              </a:p>
            </p:txBody>
          </p:sp>
          <p:sp>
            <p:nvSpPr>
              <p:cNvPr id="75" name="TextBox 74">
                <a:extLst>
                  <a:ext uri="{FF2B5EF4-FFF2-40B4-BE49-F238E27FC236}">
                    <a16:creationId xmlns:a16="http://schemas.microsoft.com/office/drawing/2014/main" id="{9290A1FE-EE9B-F613-E4DB-B0092806C1B3}"/>
                  </a:ext>
                </a:extLst>
              </p:cNvPr>
              <p:cNvSpPr txBox="1"/>
              <p:nvPr/>
            </p:nvSpPr>
            <p:spPr>
              <a:xfrm>
                <a:off x="1412760" y="5264176"/>
                <a:ext cx="1700617" cy="252489"/>
              </a:xfrm>
              <a:prstGeom prst="rect">
                <a:avLst/>
              </a:prstGeom>
              <a:noFill/>
            </p:spPr>
            <p:txBody>
              <a:bodyPr wrap="square">
                <a:spAutoFit/>
              </a:bodyPr>
              <a:lstStyle/>
              <a:p>
                <a:pPr marL="0" marR="0" lvl="1" algn="ctr"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Amaze® for Snowflake</a:t>
                </a:r>
              </a:p>
            </p:txBody>
          </p:sp>
        </p:grpSp>
        <p:sp>
          <p:nvSpPr>
            <p:cNvPr id="76" name="Text Placeholder 1">
              <a:extLst>
                <a:ext uri="{FF2B5EF4-FFF2-40B4-BE49-F238E27FC236}">
                  <a16:creationId xmlns:a16="http://schemas.microsoft.com/office/drawing/2014/main" id="{1B768D26-AF1C-DB31-0199-DD9C49BADBA9}"/>
                </a:ext>
              </a:extLst>
            </p:cNvPr>
            <p:cNvSpPr txBox="1">
              <a:spLocks/>
            </p:cNvSpPr>
            <p:nvPr/>
          </p:nvSpPr>
          <p:spPr>
            <a:xfrm flipH="1">
              <a:off x="4233770" y="3917928"/>
              <a:ext cx="3184649" cy="21510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u="none" strike="noStrike" kern="1200" cap="none" spc="0" normalizeH="0" baseline="0" noProof="0">
                  <a:ln>
                    <a:noFill/>
                  </a:ln>
                  <a:solidFill>
                    <a:schemeClr val="accent1"/>
                  </a:solidFill>
                  <a:effectLst/>
                  <a:uLnTx/>
                  <a:uFillTx/>
                  <a:latin typeface="Manrope Medium" pitchFamily="2" charset="0"/>
                </a:rPr>
                <a:t>Industry Offerings</a:t>
              </a:r>
            </a:p>
          </p:txBody>
        </p:sp>
        <p:grpSp>
          <p:nvGrpSpPr>
            <p:cNvPr id="77" name="Group 76">
              <a:extLst>
                <a:ext uri="{FF2B5EF4-FFF2-40B4-BE49-F238E27FC236}">
                  <a16:creationId xmlns:a16="http://schemas.microsoft.com/office/drawing/2014/main" id="{4E3C510D-416C-E6D6-484A-7AB53E4FED08}"/>
                </a:ext>
              </a:extLst>
            </p:cNvPr>
            <p:cNvGrpSpPr/>
            <p:nvPr/>
          </p:nvGrpSpPr>
          <p:grpSpPr>
            <a:xfrm>
              <a:off x="8858788" y="3917930"/>
              <a:ext cx="2813083" cy="1051250"/>
              <a:chOff x="1908688" y="4865449"/>
              <a:chExt cx="1596456" cy="1051250"/>
            </a:xfrm>
          </p:grpSpPr>
          <p:sp>
            <p:nvSpPr>
              <p:cNvPr id="78" name="Text Placeholder 1">
                <a:extLst>
                  <a:ext uri="{FF2B5EF4-FFF2-40B4-BE49-F238E27FC236}">
                    <a16:creationId xmlns:a16="http://schemas.microsoft.com/office/drawing/2014/main" id="{6A88B174-F798-49E0-A17C-9A57BCD9151D}"/>
                  </a:ext>
                </a:extLst>
              </p:cNvPr>
              <p:cNvSpPr txBox="1">
                <a:spLocks/>
              </p:cNvSpPr>
              <p:nvPr/>
            </p:nvSpPr>
            <p:spPr>
              <a:xfrm flipH="1">
                <a:off x="1956458" y="4865449"/>
                <a:ext cx="946842" cy="21510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u="none" strike="noStrike" kern="1200" cap="none" spc="0" normalizeH="0" baseline="0" noProof="0">
                    <a:ln>
                      <a:noFill/>
                    </a:ln>
                    <a:solidFill>
                      <a:schemeClr val="accent1"/>
                    </a:solidFill>
                    <a:effectLst/>
                    <a:uLnTx/>
                    <a:uFillTx/>
                    <a:latin typeface="Manrope Medium" pitchFamily="2" charset="0"/>
                  </a:rPr>
                  <a:t>Modernization Tools</a:t>
                </a:r>
              </a:p>
            </p:txBody>
          </p:sp>
          <p:sp>
            <p:nvSpPr>
              <p:cNvPr id="79" name="TextBox 78">
                <a:extLst>
                  <a:ext uri="{FF2B5EF4-FFF2-40B4-BE49-F238E27FC236}">
                    <a16:creationId xmlns:a16="http://schemas.microsoft.com/office/drawing/2014/main" id="{340CADF9-7058-BDD5-9A2D-EA30C0C6C5A3}"/>
                  </a:ext>
                </a:extLst>
              </p:cNvPr>
              <p:cNvSpPr txBox="1"/>
              <p:nvPr/>
            </p:nvSpPr>
            <p:spPr>
              <a:xfrm>
                <a:off x="1908688" y="5156780"/>
                <a:ext cx="1596456" cy="759919"/>
              </a:xfrm>
              <a:prstGeom prst="rect">
                <a:avLst/>
              </a:prstGeom>
              <a:noFill/>
            </p:spPr>
            <p:txBody>
              <a:bodyPr wrap="square">
                <a:spAutoFit/>
              </a:bodyPr>
              <a:lstStyle/>
              <a:p>
                <a:pPr marL="171450" marR="0" lvl="1" indent="-171450" algn="l" defTabSz="533400" rtl="0" eaLnBrk="1" fontAlgn="auto" latinLnBrk="0" hangingPunct="1">
                  <a:lnSpc>
                    <a:spcPct val="90000"/>
                  </a:lnSpc>
                  <a:spcBef>
                    <a:spcPct val="0"/>
                  </a:spcBef>
                  <a:spcAft>
                    <a:spcPct val="15000"/>
                  </a:spcAft>
                  <a:buClr>
                    <a:schemeClr val="accent1"/>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pitchFamily="2" charset="0"/>
                  </a:rPr>
                  <a:t>Metadata Ingestion Framework</a:t>
                </a:r>
              </a:p>
              <a:p>
                <a:pPr marL="171450" marR="0" lvl="1" indent="-171450" algn="l" defTabSz="533400" rtl="0" eaLnBrk="1" fontAlgn="auto" latinLnBrk="0" hangingPunct="1">
                  <a:lnSpc>
                    <a:spcPct val="90000"/>
                  </a:lnSpc>
                  <a:spcBef>
                    <a:spcPct val="0"/>
                  </a:spcBef>
                  <a:spcAft>
                    <a:spcPct val="15000"/>
                  </a:spcAft>
                  <a:buClr>
                    <a:schemeClr val="accent1"/>
                  </a:buClr>
                  <a:buSzTx/>
                  <a:buFont typeface="Arial" panose="020B0604020202020204" pitchFamily="34" charset="0"/>
                  <a:buChar char="•"/>
                  <a:tabLst/>
                  <a:defRPr/>
                </a:pPr>
                <a:r>
                  <a:rPr lang="en-US" sz="1000">
                    <a:solidFill>
                      <a:srgbClr val="000000"/>
                    </a:solidFill>
                    <a:latin typeface="Manrope" pitchFamily="2" charset="0"/>
                  </a:rPr>
                  <a:t>Dimensional &amp; Data Vault Generators</a:t>
                </a:r>
                <a:endParaRPr kumimoji="0" lang="en-US" sz="1000" b="0" i="0" u="none" strike="noStrike" kern="1200" cap="none" spc="0" normalizeH="0" baseline="0" noProof="0">
                  <a:ln>
                    <a:noFill/>
                  </a:ln>
                  <a:solidFill>
                    <a:srgbClr val="000000"/>
                  </a:solidFill>
                  <a:effectLst/>
                  <a:uLnTx/>
                  <a:uFillTx/>
                  <a:latin typeface="Manrope" pitchFamily="2" charset="0"/>
                </a:endParaRPr>
              </a:p>
              <a:p>
                <a:pPr marL="171450" marR="0" lvl="1" indent="-171450" algn="l" defTabSz="533400" rtl="0" eaLnBrk="1" fontAlgn="auto" latinLnBrk="0" hangingPunct="1">
                  <a:lnSpc>
                    <a:spcPct val="90000"/>
                  </a:lnSpc>
                  <a:spcBef>
                    <a:spcPct val="0"/>
                  </a:spcBef>
                  <a:spcAft>
                    <a:spcPct val="15000"/>
                  </a:spcAft>
                  <a:buClr>
                    <a:schemeClr val="accent1"/>
                  </a:buClr>
                  <a:buSzTx/>
                  <a:buFont typeface="Arial" panose="020B0604020202020204" pitchFamily="34" charset="0"/>
                  <a:buChar char="•"/>
                  <a:tabLst/>
                  <a:defRPr/>
                </a:pPr>
                <a:r>
                  <a:rPr lang="en-US" sz="1000">
                    <a:solidFill>
                      <a:srgbClr val="000000"/>
                    </a:solidFill>
                    <a:latin typeface="Manrope" pitchFamily="2" charset="0"/>
                  </a:rPr>
                  <a:t>Observability &amp; FinOps</a:t>
                </a:r>
              </a:p>
              <a:p>
                <a:pPr marL="171450" marR="0" lvl="1" indent="-171450" algn="l" defTabSz="533400" rtl="0" eaLnBrk="1" fontAlgn="auto" latinLnBrk="0" hangingPunct="1">
                  <a:lnSpc>
                    <a:spcPct val="90000"/>
                  </a:lnSpc>
                  <a:spcBef>
                    <a:spcPct val="0"/>
                  </a:spcBef>
                  <a:spcAft>
                    <a:spcPct val="15000"/>
                  </a:spcAft>
                  <a:buClr>
                    <a:schemeClr val="accent1"/>
                  </a:buClr>
                  <a:buSzTx/>
                  <a:buFont typeface="Arial" panose="020B0604020202020204" pitchFamily="34" charset="0"/>
                  <a:buChar char="•"/>
                  <a:tabLst/>
                  <a:defRPr/>
                </a:pPr>
                <a:r>
                  <a:rPr lang="en-US" sz="1000">
                    <a:solidFill>
                      <a:srgbClr val="000000"/>
                    </a:solidFill>
                    <a:latin typeface="Manrope" pitchFamily="2" charset="0"/>
                  </a:rPr>
                  <a:t>Marketing Data Foundation</a:t>
                </a:r>
              </a:p>
            </p:txBody>
          </p:sp>
        </p:grpSp>
        <p:cxnSp>
          <p:nvCxnSpPr>
            <p:cNvPr id="80" name="Straight Connector 79">
              <a:extLst>
                <a:ext uri="{FF2B5EF4-FFF2-40B4-BE49-F238E27FC236}">
                  <a16:creationId xmlns:a16="http://schemas.microsoft.com/office/drawing/2014/main" id="{0596A0B6-6EA2-CF55-C0B3-046A0731443B}"/>
                </a:ext>
              </a:extLst>
            </p:cNvPr>
            <p:cNvCxnSpPr>
              <a:cxnSpLocks/>
            </p:cNvCxnSpPr>
            <p:nvPr/>
          </p:nvCxnSpPr>
          <p:spPr>
            <a:xfrm>
              <a:off x="8512177" y="3983480"/>
              <a:ext cx="0" cy="96105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E05D9CA-0ADD-D48C-9F30-3218E935B656}"/>
                </a:ext>
              </a:extLst>
            </p:cNvPr>
            <p:cNvCxnSpPr>
              <a:cxnSpLocks/>
            </p:cNvCxnSpPr>
            <p:nvPr/>
          </p:nvCxnSpPr>
          <p:spPr>
            <a:xfrm>
              <a:off x="3942453" y="4006640"/>
              <a:ext cx="0" cy="89310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6ACEBCC-EB6F-4CFC-320C-95BA19029C37}"/>
                </a:ext>
              </a:extLst>
            </p:cNvPr>
            <p:cNvCxnSpPr>
              <a:cxnSpLocks/>
            </p:cNvCxnSpPr>
            <p:nvPr/>
          </p:nvCxnSpPr>
          <p:spPr>
            <a:xfrm>
              <a:off x="1810279" y="4006640"/>
              <a:ext cx="0" cy="89310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A986417A-A021-2D0C-A9AA-78A2FA1AC37D}"/>
                </a:ext>
              </a:extLst>
            </p:cNvPr>
            <p:cNvSpPr txBox="1"/>
            <p:nvPr/>
          </p:nvSpPr>
          <p:spPr>
            <a:xfrm>
              <a:off x="6698637" y="4341527"/>
              <a:ext cx="1828800" cy="424901"/>
            </a:xfrm>
            <a:prstGeom prst="rect">
              <a:avLst/>
            </a:prstGeom>
            <a:noFill/>
          </p:spPr>
          <p:txBody>
            <a:bodyPr wrap="square">
              <a:spAutoFit/>
            </a:bodyPr>
            <a:lstStyle/>
            <a:p>
              <a:r>
                <a:rPr lang="en-US" sz="1000">
                  <a:solidFill>
                    <a:srgbClr val="000000"/>
                  </a:solidFill>
                  <a:latin typeface="Manrope" pitchFamily="2" charset="0"/>
                </a:rPr>
                <a:t>Digital Co-Pilot for Brokers and Agents</a:t>
              </a:r>
              <a:endParaRPr lang="en-GB" sz="1000">
                <a:latin typeface="Manrope" pitchFamily="2" charset="0"/>
              </a:endParaRPr>
            </a:p>
          </p:txBody>
        </p:sp>
        <p:sp>
          <p:nvSpPr>
            <p:cNvPr id="84" name="TextBox 83">
              <a:extLst>
                <a:ext uri="{FF2B5EF4-FFF2-40B4-BE49-F238E27FC236}">
                  <a16:creationId xmlns:a16="http://schemas.microsoft.com/office/drawing/2014/main" id="{A2A36979-537C-62D3-3E2B-0BBB1A6DFDD4}"/>
                </a:ext>
              </a:extLst>
            </p:cNvPr>
            <p:cNvSpPr txBox="1"/>
            <p:nvPr/>
          </p:nvSpPr>
          <p:spPr>
            <a:xfrm>
              <a:off x="4150656" y="4346913"/>
              <a:ext cx="1558912" cy="416730"/>
            </a:xfrm>
            <a:prstGeom prst="rect">
              <a:avLst/>
            </a:prstGeom>
            <a:noFill/>
          </p:spPr>
          <p:txBody>
            <a:bodyPr wrap="square">
              <a:spAutoFit/>
            </a:bodyPr>
            <a:lstStyle/>
            <a:p>
              <a:pPr marL="0" marR="0" lvl="1" defTabSz="533400" rtl="0" eaLnBrk="1" fontAlgn="auto" latinLnBrk="0" hangingPunct="1">
                <a:lnSpc>
                  <a:spcPct val="90000"/>
                </a:lnSpc>
                <a:spcBef>
                  <a:spcPct val="0"/>
                </a:spcBef>
                <a:spcAft>
                  <a:spcPct val="15000"/>
                </a:spcAft>
                <a:buClrTx/>
                <a:buSzTx/>
                <a:tabLst/>
                <a:defRPr/>
              </a:pPr>
              <a:r>
                <a:rPr kumimoji="0" lang="en-US" sz="1000" b="0" i="0" u="none" strike="noStrike" kern="1200" cap="none" spc="0" normalizeH="0" baseline="0" noProof="0">
                  <a:ln>
                    <a:noFill/>
                  </a:ln>
                  <a:solidFill>
                    <a:srgbClr val="000000"/>
                  </a:solidFill>
                  <a:effectLst/>
                  <a:uLnTx/>
                  <a:uFillTx/>
                  <a:latin typeface="Manrope" pitchFamily="2" charset="0"/>
                </a:rPr>
                <a:t>Paymatix </a:t>
              </a:r>
            </a:p>
            <a:p>
              <a:pPr marL="0" marR="0" lvl="1" defTabSz="533400" rtl="0" eaLnBrk="1" fontAlgn="auto" latinLnBrk="0" hangingPunct="1">
                <a:lnSpc>
                  <a:spcPct val="90000"/>
                </a:lnSpc>
                <a:spcBef>
                  <a:spcPct val="0"/>
                </a:spcBef>
                <a:spcAft>
                  <a:spcPct val="15000"/>
                </a:spcAft>
                <a:buClrTx/>
                <a:buSzTx/>
                <a:tabLst/>
                <a:defRPr/>
              </a:pPr>
              <a:r>
                <a:rPr kumimoji="0" lang="en-US" sz="1000" b="0" i="0" u="none" strike="noStrike" kern="1200" cap="none" spc="0" normalizeH="0" baseline="0" noProof="0">
                  <a:ln>
                    <a:noFill/>
                  </a:ln>
                  <a:solidFill>
                    <a:srgbClr val="000000"/>
                  </a:solidFill>
                  <a:effectLst/>
                  <a:uLnTx/>
                  <a:uFillTx/>
                  <a:latin typeface="Manrope" pitchFamily="2" charset="0"/>
                </a:rPr>
                <a:t>Card Analytics</a:t>
              </a:r>
            </a:p>
          </p:txBody>
        </p:sp>
        <p:sp>
          <p:nvSpPr>
            <p:cNvPr id="85" name="TextBox 84">
              <a:extLst>
                <a:ext uri="{FF2B5EF4-FFF2-40B4-BE49-F238E27FC236}">
                  <a16:creationId xmlns:a16="http://schemas.microsoft.com/office/drawing/2014/main" id="{45C47857-2967-7C74-8AF8-E40087140DE3}"/>
                </a:ext>
              </a:extLst>
            </p:cNvPr>
            <p:cNvSpPr txBox="1"/>
            <p:nvPr/>
          </p:nvSpPr>
          <p:spPr>
            <a:xfrm>
              <a:off x="5378929" y="4363072"/>
              <a:ext cx="1213137" cy="392216"/>
            </a:xfrm>
            <a:prstGeom prst="rect">
              <a:avLst/>
            </a:prstGeom>
            <a:noFill/>
          </p:spPr>
          <p:txBody>
            <a:bodyPr wrap="square">
              <a:spAutoFit/>
            </a:bodyPr>
            <a:lstStyle/>
            <a:p>
              <a:pPr marL="0" marR="0" lvl="1" defTabSz="533400" rtl="0" eaLnBrk="1" fontAlgn="auto" latinLnBrk="0" hangingPunct="1">
                <a:lnSpc>
                  <a:spcPct val="90000"/>
                </a:lnSpc>
                <a:spcBef>
                  <a:spcPct val="0"/>
                </a:spcBef>
                <a:spcAft>
                  <a:spcPct val="15000"/>
                </a:spcAft>
                <a:buClrTx/>
                <a:buSzTx/>
                <a:tabLst/>
                <a:defRPr/>
              </a:pPr>
              <a:r>
                <a:rPr lang="en-US" sz="1000">
                  <a:solidFill>
                    <a:srgbClr val="000000"/>
                  </a:solidFill>
                  <a:latin typeface="Manrope" pitchFamily="2" charset="0"/>
                </a:rPr>
                <a:t>Clinical Data as a Service</a:t>
              </a:r>
              <a:endParaRPr kumimoji="0" lang="en-US" sz="1000" b="0" i="0" u="none" strike="noStrike" kern="1200" cap="none" spc="0" normalizeH="0" baseline="0" noProof="0">
                <a:ln>
                  <a:noFill/>
                </a:ln>
                <a:solidFill>
                  <a:srgbClr val="000000"/>
                </a:solidFill>
                <a:effectLst/>
                <a:uLnTx/>
                <a:uFillTx/>
                <a:latin typeface="Manrope" pitchFamily="2" charset="0"/>
              </a:endParaRPr>
            </a:p>
          </p:txBody>
        </p:sp>
      </p:grpSp>
      <p:grpSp>
        <p:nvGrpSpPr>
          <p:cNvPr id="24" name="Group 23">
            <a:extLst>
              <a:ext uri="{FF2B5EF4-FFF2-40B4-BE49-F238E27FC236}">
                <a16:creationId xmlns:a16="http://schemas.microsoft.com/office/drawing/2014/main" id="{7A58522C-A167-E2FA-3FCE-EF48C88F0AA8}"/>
              </a:ext>
            </a:extLst>
          </p:cNvPr>
          <p:cNvGrpSpPr/>
          <p:nvPr/>
        </p:nvGrpSpPr>
        <p:grpSpPr>
          <a:xfrm>
            <a:off x="4473187" y="1853027"/>
            <a:ext cx="7079240" cy="1621817"/>
            <a:chOff x="4473187" y="1853027"/>
            <a:chExt cx="5998353" cy="1621817"/>
          </a:xfrm>
        </p:grpSpPr>
        <p:sp>
          <p:nvSpPr>
            <p:cNvPr id="51" name="Rectangle">
              <a:extLst>
                <a:ext uri="{FF2B5EF4-FFF2-40B4-BE49-F238E27FC236}">
                  <a16:creationId xmlns:a16="http://schemas.microsoft.com/office/drawing/2014/main" id="{9BD835D9-1024-5582-6B02-3D34016173E7}"/>
                </a:ext>
              </a:extLst>
            </p:cNvPr>
            <p:cNvSpPr/>
            <p:nvPr/>
          </p:nvSpPr>
          <p:spPr>
            <a:xfrm>
              <a:off x="4473187" y="1853027"/>
              <a:ext cx="2926080" cy="415636"/>
            </a:xfrm>
            <a:prstGeom prst="roundRect">
              <a:avLst>
                <a:gd name="adj" fmla="val 0"/>
              </a:avLst>
            </a:prstGeom>
            <a:solidFill>
              <a:schemeClr val="accent5">
                <a:lumMod val="20000"/>
                <a:lumOff val="80000"/>
                <a:alpha val="50000"/>
              </a:schemeClr>
            </a:solidFill>
            <a:ln w="12700" cap="flat">
              <a:noFill/>
              <a:miter lim="400000"/>
            </a:ln>
            <a:effectLst/>
          </p:spPr>
          <p:txBody>
            <a:bodyPr wrap="square" lIns="108000" tIns="45719" rIns="45719" bIns="45719" numCol="1"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Manrope" pitchFamily="2" charset="0"/>
                </a:rPr>
                <a:t>Strategy and Advisory on Snowflake</a:t>
              </a:r>
              <a:endParaRPr kumimoji="0" lang="en-US" sz="1200" i="0" u="none" strike="noStrike" kern="1200" cap="none" spc="0" normalizeH="0" baseline="0" noProof="0">
                <a:ln>
                  <a:noFill/>
                </a:ln>
                <a:solidFill>
                  <a:srgbClr val="000000"/>
                </a:solidFill>
                <a:effectLst/>
                <a:uLnTx/>
                <a:uFillTx/>
                <a:latin typeface="Manrope" pitchFamily="2" charset="0"/>
              </a:endParaRPr>
            </a:p>
          </p:txBody>
        </p:sp>
        <p:sp>
          <p:nvSpPr>
            <p:cNvPr id="18" name="Rectangle">
              <a:extLst>
                <a:ext uri="{FF2B5EF4-FFF2-40B4-BE49-F238E27FC236}">
                  <a16:creationId xmlns:a16="http://schemas.microsoft.com/office/drawing/2014/main" id="{3246872A-2F27-71A7-6031-E463EAB2E6E1}"/>
                </a:ext>
              </a:extLst>
            </p:cNvPr>
            <p:cNvSpPr/>
            <p:nvPr/>
          </p:nvSpPr>
          <p:spPr>
            <a:xfrm>
              <a:off x="7545460" y="1853027"/>
              <a:ext cx="2926080" cy="415636"/>
            </a:xfrm>
            <a:prstGeom prst="roundRect">
              <a:avLst>
                <a:gd name="adj" fmla="val 0"/>
              </a:avLst>
            </a:prstGeom>
            <a:solidFill>
              <a:schemeClr val="accent5">
                <a:lumMod val="20000"/>
                <a:lumOff val="80000"/>
                <a:alpha val="50000"/>
              </a:schemeClr>
            </a:solidFill>
            <a:ln w="12700" cap="flat">
              <a:noFill/>
              <a:miter lim="400000"/>
            </a:ln>
            <a:effectLst/>
          </p:spPr>
          <p:txBody>
            <a:bodyPr wrap="square" lIns="108000" tIns="45719" rIns="45719" bIns="45719" numCol="1"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anrope" pitchFamily="2" charset="0"/>
                </a:rPr>
                <a:t>Platform &amp; Data Migration for Snowflake</a:t>
              </a:r>
            </a:p>
          </p:txBody>
        </p:sp>
        <p:sp>
          <p:nvSpPr>
            <p:cNvPr id="19" name="Rectangle">
              <a:extLst>
                <a:ext uri="{FF2B5EF4-FFF2-40B4-BE49-F238E27FC236}">
                  <a16:creationId xmlns:a16="http://schemas.microsoft.com/office/drawing/2014/main" id="{1DCD558E-14A2-B61E-43C2-64279462EF61}"/>
                </a:ext>
              </a:extLst>
            </p:cNvPr>
            <p:cNvSpPr/>
            <p:nvPr/>
          </p:nvSpPr>
          <p:spPr>
            <a:xfrm>
              <a:off x="4473187" y="2456117"/>
              <a:ext cx="2926080" cy="415636"/>
            </a:xfrm>
            <a:prstGeom prst="roundRect">
              <a:avLst>
                <a:gd name="adj" fmla="val 0"/>
              </a:avLst>
            </a:prstGeom>
            <a:solidFill>
              <a:schemeClr val="accent5">
                <a:lumMod val="20000"/>
                <a:lumOff val="80000"/>
                <a:alpha val="50000"/>
              </a:schemeClr>
            </a:solidFill>
            <a:ln w="12700" cap="flat">
              <a:noFill/>
              <a:miter lim="400000"/>
            </a:ln>
            <a:effectLst/>
          </p:spPr>
          <p:txBody>
            <a:bodyPr wrap="square" lIns="108000" tIns="45719" rIns="45719" bIns="45719" numCol="1"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anrope" pitchFamily="2" charset="0"/>
                </a:rPr>
                <a:t>Data Engineering on Snowflake</a:t>
              </a:r>
            </a:p>
          </p:txBody>
        </p:sp>
        <p:sp>
          <p:nvSpPr>
            <p:cNvPr id="20" name="Rectangle">
              <a:extLst>
                <a:ext uri="{FF2B5EF4-FFF2-40B4-BE49-F238E27FC236}">
                  <a16:creationId xmlns:a16="http://schemas.microsoft.com/office/drawing/2014/main" id="{5B0DF569-0E03-7888-3C54-E97A163B7168}"/>
                </a:ext>
              </a:extLst>
            </p:cNvPr>
            <p:cNvSpPr/>
            <p:nvPr/>
          </p:nvSpPr>
          <p:spPr>
            <a:xfrm>
              <a:off x="7545460" y="2456117"/>
              <a:ext cx="2926080" cy="415636"/>
            </a:xfrm>
            <a:prstGeom prst="roundRect">
              <a:avLst>
                <a:gd name="adj" fmla="val 0"/>
              </a:avLst>
            </a:prstGeom>
            <a:solidFill>
              <a:schemeClr val="accent5">
                <a:lumMod val="20000"/>
                <a:lumOff val="80000"/>
                <a:alpha val="50000"/>
              </a:schemeClr>
            </a:solidFill>
            <a:ln w="12700" cap="flat">
              <a:noFill/>
              <a:miter lim="400000"/>
            </a:ln>
            <a:effectLst/>
          </p:spPr>
          <p:txBody>
            <a:bodyPr wrap="square" lIns="108000" tIns="45719" rIns="45719" bIns="45719" numCol="1"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anrope" pitchFamily="2" charset="0"/>
                </a:rPr>
                <a:t>Snowflake AI ML Capability</a:t>
              </a:r>
            </a:p>
          </p:txBody>
        </p:sp>
        <p:sp>
          <p:nvSpPr>
            <p:cNvPr id="21" name="Rectangle">
              <a:extLst>
                <a:ext uri="{FF2B5EF4-FFF2-40B4-BE49-F238E27FC236}">
                  <a16:creationId xmlns:a16="http://schemas.microsoft.com/office/drawing/2014/main" id="{45EE8BCA-9CF7-90EF-F265-A6DAAFBB05C9}"/>
                </a:ext>
              </a:extLst>
            </p:cNvPr>
            <p:cNvSpPr/>
            <p:nvPr/>
          </p:nvSpPr>
          <p:spPr>
            <a:xfrm>
              <a:off x="4473187" y="3059208"/>
              <a:ext cx="2926080" cy="415636"/>
            </a:xfrm>
            <a:prstGeom prst="roundRect">
              <a:avLst>
                <a:gd name="adj" fmla="val 0"/>
              </a:avLst>
            </a:prstGeom>
            <a:solidFill>
              <a:schemeClr val="accent5">
                <a:lumMod val="20000"/>
                <a:lumOff val="80000"/>
                <a:alpha val="50000"/>
              </a:schemeClr>
            </a:solidFill>
            <a:ln w="12700" cap="flat">
              <a:noFill/>
              <a:miter lim="400000"/>
            </a:ln>
            <a:effectLst/>
          </p:spPr>
          <p:txBody>
            <a:bodyPr wrap="square" lIns="108000" tIns="45719" rIns="45719" bIns="45719" numCol="1"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anrope" pitchFamily="2" charset="0"/>
                </a:rPr>
                <a:t>Data Ops &amp; Managed Services</a:t>
              </a:r>
            </a:p>
          </p:txBody>
        </p:sp>
        <p:sp>
          <p:nvSpPr>
            <p:cNvPr id="8" name="Rectangle">
              <a:extLst>
                <a:ext uri="{FF2B5EF4-FFF2-40B4-BE49-F238E27FC236}">
                  <a16:creationId xmlns:a16="http://schemas.microsoft.com/office/drawing/2014/main" id="{117B1DE8-CA4C-D8B0-2EAA-0E435B9D192D}"/>
                </a:ext>
              </a:extLst>
            </p:cNvPr>
            <p:cNvSpPr/>
            <p:nvPr/>
          </p:nvSpPr>
          <p:spPr>
            <a:xfrm>
              <a:off x="7545460" y="3059208"/>
              <a:ext cx="2926080" cy="415636"/>
            </a:xfrm>
            <a:prstGeom prst="roundRect">
              <a:avLst>
                <a:gd name="adj" fmla="val 0"/>
              </a:avLst>
            </a:prstGeom>
            <a:solidFill>
              <a:schemeClr val="accent5">
                <a:lumMod val="20000"/>
                <a:lumOff val="80000"/>
                <a:alpha val="50000"/>
              </a:schemeClr>
            </a:solidFill>
            <a:ln w="12700" cap="flat">
              <a:noFill/>
              <a:miter lim="400000"/>
            </a:ln>
            <a:effectLst/>
          </p:spPr>
          <p:txBody>
            <a:bodyPr wrap="square" lIns="108000" tIns="45719" rIns="45719" bIns="45719" numCol="1"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anrope" pitchFamily="2" charset="0"/>
                </a:rPr>
                <a:t>Data Products and Monetization</a:t>
              </a:r>
            </a:p>
          </p:txBody>
        </p:sp>
      </p:grpSp>
      <p:grpSp>
        <p:nvGrpSpPr>
          <p:cNvPr id="26" name="Group 25">
            <a:extLst>
              <a:ext uri="{FF2B5EF4-FFF2-40B4-BE49-F238E27FC236}">
                <a16:creationId xmlns:a16="http://schemas.microsoft.com/office/drawing/2014/main" id="{37D9992F-A000-6A0B-86ED-F2E12E4979ED}"/>
              </a:ext>
            </a:extLst>
          </p:cNvPr>
          <p:cNvGrpSpPr/>
          <p:nvPr/>
        </p:nvGrpSpPr>
        <p:grpSpPr>
          <a:xfrm>
            <a:off x="551031" y="5404262"/>
            <a:ext cx="11026652" cy="1065997"/>
            <a:chOff x="545728" y="5350389"/>
            <a:chExt cx="11556240" cy="1117194"/>
          </a:xfrm>
        </p:grpSpPr>
        <p:pic>
          <p:nvPicPr>
            <p:cNvPr id="10" name="Picture 9" descr="A close up of a logo&#10;&#10;Description automatically generated">
              <a:extLst>
                <a:ext uri="{FF2B5EF4-FFF2-40B4-BE49-F238E27FC236}">
                  <a16:creationId xmlns:a16="http://schemas.microsoft.com/office/drawing/2014/main" id="{51514EC6-E694-F5AE-0EF0-2AC6F68D6C0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b="-7241"/>
            <a:stretch/>
          </p:blipFill>
          <p:spPr>
            <a:xfrm>
              <a:off x="3154840" y="5379729"/>
              <a:ext cx="1130956" cy="419925"/>
            </a:xfrm>
            <a:prstGeom prst="rect">
              <a:avLst/>
            </a:prstGeom>
          </p:spPr>
        </p:pic>
        <p:pic>
          <p:nvPicPr>
            <p:cNvPr id="25" name="Picture 24" descr="A close up of a sign&#10;&#10;Description automatically generated">
              <a:extLst>
                <a:ext uri="{FF2B5EF4-FFF2-40B4-BE49-F238E27FC236}">
                  <a16:creationId xmlns:a16="http://schemas.microsoft.com/office/drawing/2014/main" id="{D92E44D6-9426-0A10-6158-1CA37C3A65B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071115" y="5408416"/>
              <a:ext cx="1136169" cy="362546"/>
            </a:xfrm>
            <a:prstGeom prst="rect">
              <a:avLst/>
            </a:prstGeom>
          </p:spPr>
        </p:pic>
        <p:pic>
          <p:nvPicPr>
            <p:cNvPr id="28" name="Picture 27" descr="A close up of a logo&#10;&#10;Description automatically generated">
              <a:extLst>
                <a:ext uri="{FF2B5EF4-FFF2-40B4-BE49-F238E27FC236}">
                  <a16:creationId xmlns:a16="http://schemas.microsoft.com/office/drawing/2014/main" id="{7F2DD257-64E6-810D-4F7F-16722E9328D2}"/>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486325" y="5366445"/>
              <a:ext cx="1615643" cy="446494"/>
            </a:xfrm>
            <a:prstGeom prst="rect">
              <a:avLst/>
            </a:prstGeom>
          </p:spPr>
        </p:pic>
        <p:pic>
          <p:nvPicPr>
            <p:cNvPr id="29" name="Picture 28" descr="A picture containing drawing&#10;&#10;Description automatically generated">
              <a:extLst>
                <a:ext uri="{FF2B5EF4-FFF2-40B4-BE49-F238E27FC236}">
                  <a16:creationId xmlns:a16="http://schemas.microsoft.com/office/drawing/2014/main" id="{6B9B72A4-FBCF-4751-0341-E4539532458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845624" y="5387360"/>
              <a:ext cx="809320" cy="404659"/>
            </a:xfrm>
            <a:prstGeom prst="rect">
              <a:avLst/>
            </a:prstGeom>
          </p:spPr>
        </p:pic>
        <p:pic>
          <p:nvPicPr>
            <p:cNvPr id="30" name="Picture 29" descr="A close up of a logo&#10;&#10;Description automatically generated">
              <a:extLst>
                <a:ext uri="{FF2B5EF4-FFF2-40B4-BE49-F238E27FC236}">
                  <a16:creationId xmlns:a16="http://schemas.microsoft.com/office/drawing/2014/main" id="{87425C5D-2808-70CF-71B2-EB881103D15F}"/>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882436" y="5350389"/>
              <a:ext cx="1130956" cy="478607"/>
            </a:xfrm>
            <a:prstGeom prst="rect">
              <a:avLst/>
            </a:prstGeom>
          </p:spPr>
        </p:pic>
        <p:pic>
          <p:nvPicPr>
            <p:cNvPr id="49" name="Picture 22" descr="Carlyle Group logo in transparent PNG and vectorized SVG formats">
              <a:extLst>
                <a:ext uri="{FF2B5EF4-FFF2-40B4-BE49-F238E27FC236}">
                  <a16:creationId xmlns:a16="http://schemas.microsoft.com/office/drawing/2014/main" id="{AAB6D401-A863-B1AA-1719-F6EEE260D73A}"/>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661440" y="5525099"/>
              <a:ext cx="1028142" cy="129187"/>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a:extLst>
                <a:ext uri="{FF2B5EF4-FFF2-40B4-BE49-F238E27FC236}">
                  <a16:creationId xmlns:a16="http://schemas.microsoft.com/office/drawing/2014/main" id="{7BD42A99-8E87-64B6-964B-E3779BB21291}"/>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7883949" y="5428238"/>
              <a:ext cx="941818" cy="32290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13A01F20-778B-14C3-7CB3-9D28AD599A7C}"/>
                </a:ext>
              </a:extLst>
            </p:cNvPr>
            <p:cNvPicPr>
              <a:picLocks noChangeAspect="1" noChangeArrowheads="1"/>
            </p:cNvPicPr>
            <p:nvPr/>
          </p:nvPicPr>
          <p:blipFill>
            <a:blip r:embed="rId1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948815" y="5453936"/>
              <a:ext cx="680852" cy="271508"/>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10">
              <a:extLst>
                <a:ext uri="{FF2B5EF4-FFF2-40B4-BE49-F238E27FC236}">
                  <a16:creationId xmlns:a16="http://schemas.microsoft.com/office/drawing/2014/main" id="{7ABA4A07-DA80-3323-0550-6289CC8651B9}"/>
                </a:ext>
              </a:extLst>
            </p:cNvPr>
            <p:cNvPicPr>
              <a:picLocks noChangeAspect="1" noChangeArrowheads="1"/>
            </p:cNvPicPr>
            <p:nvPr/>
          </p:nvPicPr>
          <p:blipFill rotWithShape="1">
            <a:blip r:embed="rId13" cstate="email">
              <a:extLst>
                <a:ext uri="{28A0092B-C50C-407E-A947-70E740481C1C}">
                  <a14:useLocalDpi xmlns:a14="http://schemas.microsoft.com/office/drawing/2010/main"/>
                </a:ext>
              </a:extLst>
            </a:blip>
            <a:srcRect r="29301"/>
            <a:stretch/>
          </p:blipFill>
          <p:spPr bwMode="auto">
            <a:xfrm>
              <a:off x="3372158" y="6000803"/>
              <a:ext cx="1296120" cy="24282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 descr="Fidelity Logo and symbol, meaning, history, PNG, brand">
              <a:extLst>
                <a:ext uri="{FF2B5EF4-FFF2-40B4-BE49-F238E27FC236}">
                  <a16:creationId xmlns:a16="http://schemas.microsoft.com/office/drawing/2014/main" id="{709BE08A-BE64-77F8-E00D-1184A6482E80}"/>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1967153" y="5840461"/>
              <a:ext cx="949984" cy="534364"/>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12" descr="PenFed Debt Consolidation Loan Review">
              <a:extLst>
                <a:ext uri="{FF2B5EF4-FFF2-40B4-BE49-F238E27FC236}">
                  <a16:creationId xmlns:a16="http://schemas.microsoft.com/office/drawing/2014/main" id="{14EFF18C-0C2C-790E-EC9F-066954F2D3F7}"/>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5070903" y="5762782"/>
              <a:ext cx="1057202" cy="704801"/>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90" descr="Crown Agents Bank - CWEIC">
              <a:extLst>
                <a:ext uri="{FF2B5EF4-FFF2-40B4-BE49-F238E27FC236}">
                  <a16:creationId xmlns:a16="http://schemas.microsoft.com/office/drawing/2014/main" id="{49680094-F043-9ABE-50EF-58D77ABB3DE9}"/>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545728" y="5850413"/>
              <a:ext cx="1177162" cy="496462"/>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Williams Racing | Logopedia | Fandom">
              <a:extLst>
                <a:ext uri="{FF2B5EF4-FFF2-40B4-BE49-F238E27FC236}">
                  <a16:creationId xmlns:a16="http://schemas.microsoft.com/office/drawing/2014/main" id="{10B37D00-35C7-1D4F-A0C9-25291233E0E6}"/>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6634684" y="5979838"/>
              <a:ext cx="900611" cy="315951"/>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4">
              <a:extLst>
                <a:ext uri="{FF2B5EF4-FFF2-40B4-BE49-F238E27FC236}">
                  <a16:creationId xmlns:a16="http://schemas.microsoft.com/office/drawing/2014/main" id="{EB68EA00-907E-0FB9-47EA-BDA0D7AB6B9A}"/>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10580976" y="5996719"/>
              <a:ext cx="941819" cy="23692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Asset Manager | State Street">
              <a:extLst>
                <a:ext uri="{FF2B5EF4-FFF2-40B4-BE49-F238E27FC236}">
                  <a16:creationId xmlns:a16="http://schemas.microsoft.com/office/drawing/2014/main" id="{D6640C0B-15DA-1DFC-673D-093A040A9862}"/>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8079562" y="5982941"/>
              <a:ext cx="914484" cy="24940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UMB Mobile – Apps on Google Play">
              <a:extLst>
                <a:ext uri="{FF2B5EF4-FFF2-40B4-BE49-F238E27FC236}">
                  <a16:creationId xmlns:a16="http://schemas.microsoft.com/office/drawing/2014/main" id="{72A44B7E-8515-1132-06C7-E62D4CA68DE1}"/>
                </a:ext>
              </a:extLst>
            </p:cNvPr>
            <p:cNvPicPr>
              <a:picLocks noChangeAspect="1" noChangeArrowheads="1"/>
            </p:cNvPicPr>
            <p:nvPr/>
          </p:nvPicPr>
          <p:blipFill rotWithShape="1">
            <a:blip r:embed="rId20"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9337811" y="5975308"/>
              <a:ext cx="805870" cy="293813"/>
            </a:xfrm>
            <a:prstGeom prst="rect">
              <a:avLst/>
            </a:prstGeom>
            <a:noFill/>
            <a:extLst>
              <a:ext uri="{909E8E84-426E-40DD-AFC4-6F175D3DCCD1}">
                <a14:hiddenFill xmlns:a14="http://schemas.microsoft.com/office/drawing/2010/main">
                  <a:solidFill>
                    <a:srgbClr val="FFFFFF"/>
                  </a:solidFill>
                </a14:hiddenFill>
              </a:ext>
            </a:extLst>
          </p:spPr>
        </p:pic>
      </p:grpSp>
      <p:pic>
        <p:nvPicPr>
          <p:cNvPr id="14" name="Picture 13">
            <a:extLst>
              <a:ext uri="{FF2B5EF4-FFF2-40B4-BE49-F238E27FC236}">
                <a16:creationId xmlns:a16="http://schemas.microsoft.com/office/drawing/2014/main" id="{6C62CECD-7A47-5C1F-E011-DDE4B8399021}"/>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4451426" y="5444045"/>
            <a:ext cx="905043" cy="377102"/>
          </a:xfrm>
          <a:prstGeom prst="rect">
            <a:avLst/>
          </a:prstGeom>
        </p:spPr>
      </p:pic>
    </p:spTree>
    <p:extLst>
      <p:ext uri="{BB962C8B-B14F-4D97-AF65-F5344CB8AC3E}">
        <p14:creationId xmlns:p14="http://schemas.microsoft.com/office/powerpoint/2010/main" val="1085247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9DE147-5798-A260-8292-5CB6753EDB30}"/>
              </a:ext>
            </a:extLst>
          </p:cNvPr>
          <p:cNvSpPr>
            <a:spLocks noGrp="1"/>
          </p:cNvSpPr>
          <p:nvPr>
            <p:ph type="body" sz="quarter" idx="15"/>
          </p:nvPr>
        </p:nvSpPr>
        <p:spPr>
          <a:xfrm flipH="1">
            <a:off x="623888" y="457200"/>
            <a:ext cx="8172450" cy="244101"/>
          </a:xfrm>
        </p:spPr>
        <p:txBody>
          <a:bodyPr/>
          <a:lstStyle/>
          <a:p>
            <a:r>
              <a:rPr lang="en-US"/>
              <a:t>Hexaware drives real impact for our customers with Snowflake</a:t>
            </a:r>
          </a:p>
        </p:txBody>
      </p:sp>
      <p:sp>
        <p:nvSpPr>
          <p:cNvPr id="77" name="Rectangle: Rounded Corners 76">
            <a:extLst>
              <a:ext uri="{FF2B5EF4-FFF2-40B4-BE49-F238E27FC236}">
                <a16:creationId xmlns:a16="http://schemas.microsoft.com/office/drawing/2014/main" id="{5BB79C8B-B642-7B36-4450-F9CA26A25A88}"/>
              </a:ext>
            </a:extLst>
          </p:cNvPr>
          <p:cNvSpPr/>
          <p:nvPr/>
        </p:nvSpPr>
        <p:spPr>
          <a:xfrm>
            <a:off x="4420490" y="956550"/>
            <a:ext cx="3083023" cy="371961"/>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pt-BR" sz="1050" b="1" u="none" strike="noStrike" kern="0" cap="none" spc="0" normalizeH="0" baseline="0" noProof="0">
                <a:ln>
                  <a:noFill/>
                </a:ln>
                <a:solidFill>
                  <a:srgbClr val="FFFFFF"/>
                </a:solidFill>
                <a:effectLst/>
                <a:uLnTx/>
                <a:uFillTx/>
              </a:rPr>
              <a:t>Clinical Data as a Service </a:t>
            </a:r>
            <a:r>
              <a:rPr kumimoji="0" lang="en-US" sz="1050" b="1" u="none" strike="noStrike" kern="0" cap="none" spc="0" normalizeH="0" baseline="0" noProof="0">
                <a:ln>
                  <a:noFill/>
                </a:ln>
                <a:solidFill>
                  <a:srgbClr val="FFFFFF"/>
                </a:solidFill>
                <a:effectLst/>
                <a:uLnTx/>
                <a:uFillTx/>
              </a:rPr>
              <a:t>Healthcare Lifesciences</a:t>
            </a:r>
          </a:p>
        </p:txBody>
      </p:sp>
      <p:sp>
        <p:nvSpPr>
          <p:cNvPr id="79" name="TextBox 78">
            <a:extLst>
              <a:ext uri="{FF2B5EF4-FFF2-40B4-BE49-F238E27FC236}">
                <a16:creationId xmlns:a16="http://schemas.microsoft.com/office/drawing/2014/main" id="{A429D17F-AB62-0792-5F02-2FB42E1EF191}"/>
              </a:ext>
            </a:extLst>
          </p:cNvPr>
          <p:cNvSpPr txBox="1"/>
          <p:nvPr/>
        </p:nvSpPr>
        <p:spPr>
          <a:xfrm>
            <a:off x="4424522" y="1424959"/>
            <a:ext cx="2879223" cy="411214"/>
          </a:xfrm>
          <a:prstGeom prst="rect">
            <a:avLst/>
          </a:prstGeom>
          <a:noFill/>
        </p:spPr>
        <p:txBody>
          <a:bodyPr wrap="square">
            <a:spAutoFit/>
          </a:bodyPr>
          <a:lstStyle>
            <a:defPPr>
              <a:defRPr lang="en-US"/>
            </a:defPPr>
            <a:lvl2pPr marL="0" marR="0" lvl="1" defTabSz="533400" fontAlgn="auto">
              <a:lnSpc>
                <a:spcPct val="90000"/>
              </a:lnSpc>
              <a:spcBef>
                <a:spcPct val="0"/>
              </a:spcBef>
              <a:spcAft>
                <a:spcPct val="15000"/>
              </a:spcAft>
              <a:buClrTx/>
              <a:buSzTx/>
              <a:tabLst/>
              <a:defRPr kumimoji="0" sz="1100" b="0" i="0" u="none" strike="noStrike" cap="none" spc="0" normalizeH="0" baseline="0">
                <a:ln>
                  <a:noFill/>
                </a:ln>
                <a:solidFill>
                  <a:srgbClr val="000000"/>
                </a:solidFill>
                <a:effectLst/>
                <a:uLnTx/>
                <a:uFillTx/>
                <a:latin typeface="Manrope" pitchFamily="2" charset="0"/>
              </a:defRPr>
            </a:lvl2pPr>
          </a:lstStyle>
          <a:p>
            <a:pPr lvl="1"/>
            <a:r>
              <a:rPr lang="en-US" sz="1050"/>
              <a:t>A Data-as-a-Service solution in clinical and preclinical data management</a:t>
            </a:r>
          </a:p>
        </p:txBody>
      </p:sp>
      <p:sp>
        <p:nvSpPr>
          <p:cNvPr id="80" name="Rectangle: Rounded Corners 79">
            <a:extLst>
              <a:ext uri="{FF2B5EF4-FFF2-40B4-BE49-F238E27FC236}">
                <a16:creationId xmlns:a16="http://schemas.microsoft.com/office/drawing/2014/main" id="{2E932450-A788-A8AE-7A58-C7FA18061D1B}"/>
              </a:ext>
            </a:extLst>
          </p:cNvPr>
          <p:cNvSpPr/>
          <p:nvPr/>
        </p:nvSpPr>
        <p:spPr>
          <a:xfrm>
            <a:off x="7654307" y="956550"/>
            <a:ext cx="3856048" cy="371961"/>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FFFFFF"/>
                </a:solidFill>
                <a:effectLst/>
                <a:uLnTx/>
                <a:uFillTx/>
              </a:rPr>
              <a:t>Digital Co-Pilot for Insurance Brokers and Agents</a:t>
            </a:r>
          </a:p>
        </p:txBody>
      </p:sp>
      <p:sp>
        <p:nvSpPr>
          <p:cNvPr id="82" name="TextBox 81">
            <a:extLst>
              <a:ext uri="{FF2B5EF4-FFF2-40B4-BE49-F238E27FC236}">
                <a16:creationId xmlns:a16="http://schemas.microsoft.com/office/drawing/2014/main" id="{8D1EF11A-9BCF-65EC-550F-DB0FAC25A008}"/>
              </a:ext>
            </a:extLst>
          </p:cNvPr>
          <p:cNvSpPr txBox="1"/>
          <p:nvPr/>
        </p:nvSpPr>
        <p:spPr>
          <a:xfrm>
            <a:off x="7665994" y="1457728"/>
            <a:ext cx="3840250" cy="528606"/>
          </a:xfrm>
          <a:prstGeom prst="rect">
            <a:avLst/>
          </a:prstGeom>
          <a:noFill/>
        </p:spPr>
        <p:txBody>
          <a:bodyPr wrap="square">
            <a:spAutoFit/>
          </a:bodyPr>
          <a:lstStyle/>
          <a:p>
            <a:pPr marL="0" marR="0" lvl="1" algn="l"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Co pilot solution  built on Snowflake Cortex to perform discrepancy check and provide quick answers (Q&amp;A) to underwriter queries</a:t>
            </a:r>
          </a:p>
        </p:txBody>
      </p:sp>
      <p:sp>
        <p:nvSpPr>
          <p:cNvPr id="25" name="Rectangle: Rounded Corners 24">
            <a:extLst>
              <a:ext uri="{FF2B5EF4-FFF2-40B4-BE49-F238E27FC236}">
                <a16:creationId xmlns:a16="http://schemas.microsoft.com/office/drawing/2014/main" id="{2DF9A4F2-ACBF-4A95-DAEF-9CE4DC42FE0B}"/>
              </a:ext>
            </a:extLst>
          </p:cNvPr>
          <p:cNvSpPr/>
          <p:nvPr/>
        </p:nvSpPr>
        <p:spPr>
          <a:xfrm>
            <a:off x="681643" y="2770404"/>
            <a:ext cx="3593016" cy="369496"/>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FFFFFF"/>
                </a:solidFill>
                <a:effectLst/>
                <a:uLnTx/>
                <a:uFillTx/>
              </a:rPr>
              <a:t>Amaze for Migration </a:t>
            </a:r>
          </a:p>
        </p:txBody>
      </p:sp>
      <p:sp>
        <p:nvSpPr>
          <p:cNvPr id="26" name="Text Placeholder 1">
            <a:extLst>
              <a:ext uri="{FF2B5EF4-FFF2-40B4-BE49-F238E27FC236}">
                <a16:creationId xmlns:a16="http://schemas.microsoft.com/office/drawing/2014/main" id="{FAE71DC8-4D37-475C-02CB-5BBCAA5DFF99}"/>
              </a:ext>
            </a:extLst>
          </p:cNvPr>
          <p:cNvSpPr txBox="1">
            <a:spLocks/>
          </p:cNvSpPr>
          <p:nvPr/>
        </p:nvSpPr>
        <p:spPr>
          <a:xfrm flipH="1">
            <a:off x="1974953" y="3531978"/>
            <a:ext cx="1918318" cy="253320"/>
          </a:xfrm>
          <a:prstGeom prst="rect">
            <a:avLst/>
          </a:prstGeom>
        </p:spPr>
        <p:txBody>
          <a:bodyPr lIns="0" tIns="0" rIns="0" bIns="0">
            <a:normAutofit/>
          </a:bodyPr>
          <a:lstStyle>
            <a:lvl1pPr indent="0">
              <a:lnSpc>
                <a:spcPct val="110000"/>
              </a:lnSpc>
              <a:spcBef>
                <a:spcPts val="1000"/>
              </a:spcBef>
              <a:buClr>
                <a:schemeClr val="tx1"/>
              </a:buClr>
              <a:buFont typeface="Arial" panose="020B0604020202020204" pitchFamily="34" charset="0"/>
              <a:buNone/>
              <a:defRPr lang="en-US" sz="1400" spc="10" baseline="0" dirty="0">
                <a:solidFill>
                  <a:schemeClr val="accent1"/>
                </a:solidFill>
                <a:latin typeface="Manrope Medium" pitchFamily="2" charset="0"/>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endParaRPr kumimoji="0" lang="en-US" sz="1100" b="0" i="0" u="none" strike="noStrike" kern="1200" cap="none" spc="10" normalizeH="0" baseline="0" noProof="0">
              <a:ln>
                <a:noFill/>
              </a:ln>
              <a:solidFill>
                <a:srgbClr val="3C2CDA"/>
              </a:solidFill>
              <a:effectLst/>
              <a:uLnTx/>
              <a:uFillTx/>
              <a:latin typeface="Manrope" pitchFamily="2" charset="0"/>
            </a:endParaRPr>
          </a:p>
        </p:txBody>
      </p:sp>
      <p:sp>
        <p:nvSpPr>
          <p:cNvPr id="27" name="TextBox 26">
            <a:extLst>
              <a:ext uri="{FF2B5EF4-FFF2-40B4-BE49-F238E27FC236}">
                <a16:creationId xmlns:a16="http://schemas.microsoft.com/office/drawing/2014/main" id="{84821F16-4899-427A-375C-2116849017D5}"/>
              </a:ext>
            </a:extLst>
          </p:cNvPr>
          <p:cNvSpPr txBox="1"/>
          <p:nvPr/>
        </p:nvSpPr>
        <p:spPr>
          <a:xfrm>
            <a:off x="602778" y="3212096"/>
            <a:ext cx="3393313" cy="411214"/>
          </a:xfrm>
          <a:prstGeom prst="rect">
            <a:avLst/>
          </a:prstGeom>
          <a:noFill/>
        </p:spPr>
        <p:txBody>
          <a:bodyPr wrap="square">
            <a:spAutoFit/>
          </a:bodyPr>
          <a:lstStyle/>
          <a:p>
            <a:pPr marL="0" marR="0" lvl="1" algn="l"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Deep Discovery, Automation led Migration and Re -platforming with Hexaware IP accelerator</a:t>
            </a:r>
          </a:p>
        </p:txBody>
      </p:sp>
      <p:sp>
        <p:nvSpPr>
          <p:cNvPr id="30" name="Rectangle: Rounded Corners 29">
            <a:extLst>
              <a:ext uri="{FF2B5EF4-FFF2-40B4-BE49-F238E27FC236}">
                <a16:creationId xmlns:a16="http://schemas.microsoft.com/office/drawing/2014/main" id="{0092F8D3-A21B-6483-BED2-A154A8A153CE}"/>
              </a:ext>
            </a:extLst>
          </p:cNvPr>
          <p:cNvSpPr/>
          <p:nvPr/>
        </p:nvSpPr>
        <p:spPr>
          <a:xfrm>
            <a:off x="7654307" y="2769172"/>
            <a:ext cx="3856048" cy="371961"/>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FFFFFF"/>
                </a:solidFill>
                <a:effectLst/>
                <a:uLnTx/>
                <a:uFillTx/>
              </a:rPr>
              <a:t>Data Vault / Data Model Copilot</a:t>
            </a:r>
          </a:p>
        </p:txBody>
      </p:sp>
      <p:sp>
        <p:nvSpPr>
          <p:cNvPr id="31" name="TextBox 30">
            <a:extLst>
              <a:ext uri="{FF2B5EF4-FFF2-40B4-BE49-F238E27FC236}">
                <a16:creationId xmlns:a16="http://schemas.microsoft.com/office/drawing/2014/main" id="{433D1CDF-949A-B328-B7F7-BF40B38F72A3}"/>
              </a:ext>
            </a:extLst>
          </p:cNvPr>
          <p:cNvSpPr txBox="1"/>
          <p:nvPr/>
        </p:nvSpPr>
        <p:spPr>
          <a:xfrm>
            <a:off x="7661445" y="3210499"/>
            <a:ext cx="3567080" cy="383182"/>
          </a:xfrm>
          <a:prstGeom prst="rect">
            <a:avLst/>
          </a:prstGeom>
          <a:noFill/>
        </p:spPr>
        <p:txBody>
          <a:bodyPr wrap="square">
            <a:spAutoFit/>
          </a:bodyPr>
          <a:lstStyle/>
          <a:p>
            <a:pPr marL="0" marR="0" lvl="1" algn="l"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Helps migrate traditional models from various databases to the Data Vault 2.0 model in Snowflake.</a:t>
            </a:r>
          </a:p>
        </p:txBody>
      </p:sp>
      <p:sp>
        <p:nvSpPr>
          <p:cNvPr id="36" name="Rectangle: Rounded Corners 35">
            <a:extLst>
              <a:ext uri="{FF2B5EF4-FFF2-40B4-BE49-F238E27FC236}">
                <a16:creationId xmlns:a16="http://schemas.microsoft.com/office/drawing/2014/main" id="{1B7ADDBC-B91D-10A8-DA38-6D1530051AE0}"/>
              </a:ext>
            </a:extLst>
          </p:cNvPr>
          <p:cNvSpPr/>
          <p:nvPr/>
        </p:nvSpPr>
        <p:spPr>
          <a:xfrm>
            <a:off x="681643" y="4658295"/>
            <a:ext cx="3593016" cy="379897"/>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50" b="1" kern="0">
                <a:solidFill>
                  <a:srgbClr val="FFFFFF"/>
                </a:solidFill>
              </a:rPr>
              <a:t>Observability Starter Kit</a:t>
            </a:r>
            <a:endParaRPr kumimoji="0" lang="en-US" sz="1050" b="1" u="none" strike="noStrike" kern="0" cap="none" spc="0" normalizeH="0" baseline="0" noProof="0">
              <a:ln>
                <a:noFill/>
              </a:ln>
              <a:solidFill>
                <a:srgbClr val="FFFFFF"/>
              </a:solidFill>
              <a:effectLst/>
              <a:uLnTx/>
              <a:uFillTx/>
            </a:endParaRPr>
          </a:p>
        </p:txBody>
      </p:sp>
      <p:sp>
        <p:nvSpPr>
          <p:cNvPr id="37" name="Text Placeholder 1">
            <a:extLst>
              <a:ext uri="{FF2B5EF4-FFF2-40B4-BE49-F238E27FC236}">
                <a16:creationId xmlns:a16="http://schemas.microsoft.com/office/drawing/2014/main" id="{72B9BEBF-D2EA-EA12-F027-178CA2C23F52}"/>
              </a:ext>
            </a:extLst>
          </p:cNvPr>
          <p:cNvSpPr txBox="1">
            <a:spLocks/>
          </p:cNvSpPr>
          <p:nvPr/>
        </p:nvSpPr>
        <p:spPr>
          <a:xfrm flipH="1">
            <a:off x="1931382" y="5425069"/>
            <a:ext cx="1918318" cy="253320"/>
          </a:xfrm>
          <a:prstGeom prst="rect">
            <a:avLst/>
          </a:prstGeom>
        </p:spPr>
        <p:txBody>
          <a:bodyPr lIns="0" tIns="0" rIns="0" bIns="0">
            <a:normAutofit/>
          </a:bodyPr>
          <a:lstStyle>
            <a:lvl1pPr indent="0">
              <a:lnSpc>
                <a:spcPct val="110000"/>
              </a:lnSpc>
              <a:spcBef>
                <a:spcPts val="1000"/>
              </a:spcBef>
              <a:buClr>
                <a:schemeClr val="tx1"/>
              </a:buClr>
              <a:buFont typeface="Arial" panose="020B0604020202020204" pitchFamily="34" charset="0"/>
              <a:buNone/>
              <a:defRPr lang="en-US" sz="1400" spc="10" baseline="0" dirty="0">
                <a:solidFill>
                  <a:schemeClr val="accent1"/>
                </a:solidFill>
                <a:latin typeface="Manrope Medium" pitchFamily="2" charset="0"/>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endParaRPr kumimoji="0" lang="en-US" sz="1100" b="0" i="0" u="none" strike="noStrike" kern="1200" cap="none" spc="10" normalizeH="0" baseline="0" noProof="0">
              <a:ln>
                <a:noFill/>
              </a:ln>
              <a:solidFill>
                <a:srgbClr val="3C2CDA"/>
              </a:solidFill>
              <a:effectLst/>
              <a:uLnTx/>
              <a:uFillTx/>
              <a:latin typeface="Manrope" pitchFamily="2" charset="0"/>
            </a:endParaRPr>
          </a:p>
        </p:txBody>
      </p:sp>
      <p:sp>
        <p:nvSpPr>
          <p:cNvPr id="38" name="TextBox 37">
            <a:extLst>
              <a:ext uri="{FF2B5EF4-FFF2-40B4-BE49-F238E27FC236}">
                <a16:creationId xmlns:a16="http://schemas.microsoft.com/office/drawing/2014/main" id="{BF73259D-522E-EB27-E192-176D28F9CFBA}"/>
              </a:ext>
            </a:extLst>
          </p:cNvPr>
          <p:cNvSpPr txBox="1"/>
          <p:nvPr/>
        </p:nvSpPr>
        <p:spPr>
          <a:xfrm>
            <a:off x="602778" y="5105847"/>
            <a:ext cx="3393311" cy="547488"/>
          </a:xfrm>
          <a:prstGeom prst="rect">
            <a:avLst/>
          </a:prstGeom>
          <a:noFill/>
        </p:spPr>
        <p:txBody>
          <a:bodyPr wrap="square">
            <a:spAutoFit/>
          </a:bodyPr>
          <a:lstStyle/>
          <a:p>
            <a:pPr marL="0" marR="0" lvl="1" algn="l"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Develop metadata queries and visualization dashboards, that gives insights about consumption and performance of Snowflake account.</a:t>
            </a:r>
          </a:p>
        </p:txBody>
      </p:sp>
      <p:sp>
        <p:nvSpPr>
          <p:cNvPr id="39" name="Rectangle: Rounded Corners 38">
            <a:extLst>
              <a:ext uri="{FF2B5EF4-FFF2-40B4-BE49-F238E27FC236}">
                <a16:creationId xmlns:a16="http://schemas.microsoft.com/office/drawing/2014/main" id="{EE1BB6B4-751D-20F5-7A67-8FD791DF39D7}"/>
              </a:ext>
            </a:extLst>
          </p:cNvPr>
          <p:cNvSpPr/>
          <p:nvPr/>
        </p:nvSpPr>
        <p:spPr>
          <a:xfrm>
            <a:off x="4420490" y="4662263"/>
            <a:ext cx="3083023" cy="371961"/>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pt-BR" sz="1050" b="1" u="none" strike="noStrike" kern="0" cap="none" spc="0" normalizeH="0" baseline="0" noProof="0">
                <a:ln>
                  <a:noFill/>
                </a:ln>
                <a:solidFill>
                  <a:srgbClr val="FFFFFF"/>
                </a:solidFill>
                <a:effectLst/>
                <a:uLnTx/>
                <a:uFillTx/>
              </a:rPr>
              <a:t>Finops Partner Solution</a:t>
            </a:r>
          </a:p>
        </p:txBody>
      </p:sp>
      <p:sp>
        <p:nvSpPr>
          <p:cNvPr id="40" name="TextBox 39">
            <a:extLst>
              <a:ext uri="{FF2B5EF4-FFF2-40B4-BE49-F238E27FC236}">
                <a16:creationId xmlns:a16="http://schemas.microsoft.com/office/drawing/2014/main" id="{2B4F4A77-F39D-7EEB-F19C-5F35496DEB80}"/>
              </a:ext>
            </a:extLst>
          </p:cNvPr>
          <p:cNvSpPr txBox="1"/>
          <p:nvPr/>
        </p:nvSpPr>
        <p:spPr>
          <a:xfrm>
            <a:off x="4424522" y="5121710"/>
            <a:ext cx="3001699" cy="411214"/>
          </a:xfrm>
          <a:prstGeom prst="rect">
            <a:avLst/>
          </a:prstGeom>
          <a:noFill/>
        </p:spPr>
        <p:txBody>
          <a:bodyPr wrap="square">
            <a:spAutoFit/>
          </a:bodyPr>
          <a:lstStyle/>
          <a:p>
            <a:pPr marL="0" marR="0" lvl="1" algn="l"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Unravel and Chaos Genius Data observability solution</a:t>
            </a:r>
          </a:p>
        </p:txBody>
      </p:sp>
      <p:sp>
        <p:nvSpPr>
          <p:cNvPr id="41" name="Rectangle: Rounded Corners 40">
            <a:extLst>
              <a:ext uri="{FF2B5EF4-FFF2-40B4-BE49-F238E27FC236}">
                <a16:creationId xmlns:a16="http://schemas.microsoft.com/office/drawing/2014/main" id="{A7ED6FF8-F57E-CEC5-5249-58FC650CD48A}"/>
              </a:ext>
            </a:extLst>
          </p:cNvPr>
          <p:cNvSpPr/>
          <p:nvPr/>
        </p:nvSpPr>
        <p:spPr>
          <a:xfrm>
            <a:off x="7654307" y="4662263"/>
            <a:ext cx="3856048" cy="371961"/>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FFFFFF"/>
                </a:solidFill>
                <a:effectLst/>
                <a:uLnTx/>
                <a:uFillTx/>
              </a:rPr>
              <a:t>Marketing Data Foundation </a:t>
            </a:r>
          </a:p>
        </p:txBody>
      </p:sp>
      <p:sp>
        <p:nvSpPr>
          <p:cNvPr id="42" name="TextBox 41">
            <a:extLst>
              <a:ext uri="{FF2B5EF4-FFF2-40B4-BE49-F238E27FC236}">
                <a16:creationId xmlns:a16="http://schemas.microsoft.com/office/drawing/2014/main" id="{76E23223-490D-1A0C-AF3A-44BBE9D7D086}"/>
              </a:ext>
            </a:extLst>
          </p:cNvPr>
          <p:cNvSpPr txBox="1"/>
          <p:nvPr/>
        </p:nvSpPr>
        <p:spPr>
          <a:xfrm>
            <a:off x="7683872" y="5091180"/>
            <a:ext cx="3567081" cy="528606"/>
          </a:xfrm>
          <a:prstGeom prst="rect">
            <a:avLst/>
          </a:prstGeom>
          <a:noFill/>
        </p:spPr>
        <p:txBody>
          <a:bodyPr wrap="square">
            <a:spAutoFit/>
          </a:bodyPr>
          <a:lstStyle/>
          <a:p>
            <a:pPr marL="0" marR="0" lvl="1" algn="l"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A centralized and organized framework on Snowflake that helps businesses effectively manage, analyze, and utilize their marketing data</a:t>
            </a:r>
          </a:p>
        </p:txBody>
      </p:sp>
      <p:cxnSp>
        <p:nvCxnSpPr>
          <p:cNvPr id="59" name="Straight Connector 58">
            <a:extLst>
              <a:ext uri="{FF2B5EF4-FFF2-40B4-BE49-F238E27FC236}">
                <a16:creationId xmlns:a16="http://schemas.microsoft.com/office/drawing/2014/main" id="{DFEE29B4-17CE-D398-FBA9-B3C81E1FD15F}"/>
              </a:ext>
            </a:extLst>
          </p:cNvPr>
          <p:cNvCxnSpPr>
            <a:cxnSpLocks/>
          </p:cNvCxnSpPr>
          <p:nvPr/>
        </p:nvCxnSpPr>
        <p:spPr>
          <a:xfrm>
            <a:off x="4350052" y="980257"/>
            <a:ext cx="0" cy="5387901"/>
          </a:xfrm>
          <a:prstGeom prst="line">
            <a:avLst/>
          </a:prstGeom>
          <a:noFill/>
          <a:ln w="9525" cap="flat" cmpd="sng" algn="ctr">
            <a:solidFill>
              <a:schemeClr val="accent5">
                <a:lumMod val="40000"/>
                <a:lumOff val="60000"/>
              </a:schemeClr>
            </a:solidFill>
            <a:prstDash val="solid"/>
            <a:round/>
            <a:headEnd type="none" w="med" len="med"/>
            <a:tailEnd type="none" w="med" len="med"/>
          </a:ln>
          <a:effectLst/>
        </p:spPr>
      </p:cxnSp>
      <p:sp>
        <p:nvSpPr>
          <p:cNvPr id="5" name="TextBox 4">
            <a:extLst>
              <a:ext uri="{FF2B5EF4-FFF2-40B4-BE49-F238E27FC236}">
                <a16:creationId xmlns:a16="http://schemas.microsoft.com/office/drawing/2014/main" id="{8E449770-1D4C-899C-B0D3-77C17646182D}"/>
              </a:ext>
            </a:extLst>
          </p:cNvPr>
          <p:cNvSpPr txBox="1"/>
          <p:nvPr/>
        </p:nvSpPr>
        <p:spPr>
          <a:xfrm>
            <a:off x="10402690" y="6463382"/>
            <a:ext cx="1680399" cy="143447"/>
          </a:xfrm>
          <a:prstGeom prst="rect">
            <a:avLst/>
          </a:prstGeom>
          <a:noFill/>
        </p:spPr>
        <p:txBody>
          <a:bodyPr wrap="square" lIns="0" tIns="0" rIns="0" bIns="0" rtlCol="0">
            <a:spAutoFit/>
          </a:bodyPr>
          <a:lstStyle/>
          <a:p>
            <a:pPr algn="l"/>
            <a:r>
              <a:rPr lang="en-US" sz="900">
                <a:latin typeface="Manrope" pitchFamily="2" charset="0"/>
              </a:rPr>
              <a:t>Average Cost Savings</a:t>
            </a:r>
          </a:p>
        </p:txBody>
      </p:sp>
      <p:sp>
        <p:nvSpPr>
          <p:cNvPr id="8" name="TextBox 7">
            <a:extLst>
              <a:ext uri="{FF2B5EF4-FFF2-40B4-BE49-F238E27FC236}">
                <a16:creationId xmlns:a16="http://schemas.microsoft.com/office/drawing/2014/main" id="{6678A7C2-2011-2F91-9FE2-44D1F4650CFD}"/>
              </a:ext>
            </a:extLst>
          </p:cNvPr>
          <p:cNvSpPr txBox="1"/>
          <p:nvPr/>
        </p:nvSpPr>
        <p:spPr>
          <a:xfrm>
            <a:off x="4533380" y="2000902"/>
            <a:ext cx="1465606" cy="246221"/>
          </a:xfrm>
          <a:prstGeom prst="rect">
            <a:avLst/>
          </a:prstGeom>
          <a:noFill/>
        </p:spPr>
        <p:txBody>
          <a:bodyPr wrap="square" lIns="0" tIns="0" rIns="0" bIns="0" rtlCol="0">
            <a:spAutoFit/>
          </a:bodyPr>
          <a:lstStyle/>
          <a:p>
            <a:pPr algn="l"/>
            <a:r>
              <a:rPr lang="en-US" sz="1600">
                <a:solidFill>
                  <a:schemeClr val="accent2"/>
                </a:solidFill>
                <a:latin typeface="Manrope Medium" pitchFamily="2" charset="0"/>
              </a:rPr>
              <a:t>20 – 30% *</a:t>
            </a:r>
          </a:p>
        </p:txBody>
      </p:sp>
      <p:sp>
        <p:nvSpPr>
          <p:cNvPr id="9" name="TextBox 8">
            <a:extLst>
              <a:ext uri="{FF2B5EF4-FFF2-40B4-BE49-F238E27FC236}">
                <a16:creationId xmlns:a16="http://schemas.microsoft.com/office/drawing/2014/main" id="{DA3D1948-FD63-00DD-A3F1-AE5FC11E0408}"/>
              </a:ext>
            </a:extLst>
          </p:cNvPr>
          <p:cNvSpPr txBox="1"/>
          <p:nvPr/>
        </p:nvSpPr>
        <p:spPr>
          <a:xfrm>
            <a:off x="7765579" y="2000902"/>
            <a:ext cx="1465606" cy="246221"/>
          </a:xfrm>
          <a:prstGeom prst="rect">
            <a:avLst/>
          </a:prstGeom>
          <a:noFill/>
        </p:spPr>
        <p:txBody>
          <a:bodyPr wrap="square" lIns="0" tIns="0" rIns="0" bIns="0" rtlCol="0">
            <a:spAutoFit/>
          </a:bodyPr>
          <a:lstStyle/>
          <a:p>
            <a:pPr algn="l"/>
            <a:r>
              <a:rPr lang="en-US" sz="1600">
                <a:solidFill>
                  <a:schemeClr val="accent2"/>
                </a:solidFill>
                <a:latin typeface="Manrope Medium" pitchFamily="2" charset="0"/>
              </a:rPr>
              <a:t>30 – 40% *</a:t>
            </a:r>
          </a:p>
        </p:txBody>
      </p:sp>
      <p:sp>
        <p:nvSpPr>
          <p:cNvPr id="11" name="TextBox 10">
            <a:extLst>
              <a:ext uri="{FF2B5EF4-FFF2-40B4-BE49-F238E27FC236}">
                <a16:creationId xmlns:a16="http://schemas.microsoft.com/office/drawing/2014/main" id="{37EA38DE-35E9-C822-D08D-FE79A0835085}"/>
              </a:ext>
            </a:extLst>
          </p:cNvPr>
          <p:cNvSpPr txBox="1"/>
          <p:nvPr/>
        </p:nvSpPr>
        <p:spPr>
          <a:xfrm>
            <a:off x="700108" y="3697617"/>
            <a:ext cx="1465606" cy="246221"/>
          </a:xfrm>
          <a:prstGeom prst="rect">
            <a:avLst/>
          </a:prstGeom>
          <a:noFill/>
        </p:spPr>
        <p:txBody>
          <a:bodyPr wrap="square" lIns="0" tIns="0" rIns="0" bIns="0" rtlCol="0">
            <a:spAutoFit/>
          </a:bodyPr>
          <a:lstStyle/>
          <a:p>
            <a:pPr algn="l"/>
            <a:r>
              <a:rPr lang="en-US" sz="1600">
                <a:solidFill>
                  <a:schemeClr val="accent2"/>
                </a:solidFill>
                <a:latin typeface="Manrope Medium" pitchFamily="2" charset="0"/>
              </a:rPr>
              <a:t>50 – 80% *</a:t>
            </a:r>
          </a:p>
        </p:txBody>
      </p:sp>
      <p:sp>
        <p:nvSpPr>
          <p:cNvPr id="13" name="TextBox 12">
            <a:extLst>
              <a:ext uri="{FF2B5EF4-FFF2-40B4-BE49-F238E27FC236}">
                <a16:creationId xmlns:a16="http://schemas.microsoft.com/office/drawing/2014/main" id="{D07B5F99-7FB6-0AA2-0754-371B0A0062D4}"/>
              </a:ext>
            </a:extLst>
          </p:cNvPr>
          <p:cNvSpPr txBox="1"/>
          <p:nvPr/>
        </p:nvSpPr>
        <p:spPr>
          <a:xfrm>
            <a:off x="7782883" y="3697617"/>
            <a:ext cx="1465606" cy="246221"/>
          </a:xfrm>
          <a:prstGeom prst="rect">
            <a:avLst/>
          </a:prstGeom>
          <a:noFill/>
        </p:spPr>
        <p:txBody>
          <a:bodyPr wrap="square" lIns="0" tIns="0" rIns="0" bIns="0" rtlCol="0">
            <a:spAutoFit/>
          </a:bodyPr>
          <a:lstStyle/>
          <a:p>
            <a:pPr algn="l"/>
            <a:r>
              <a:rPr lang="en-US" sz="1600">
                <a:solidFill>
                  <a:schemeClr val="accent2"/>
                </a:solidFill>
                <a:latin typeface="Manrope Medium" pitchFamily="2" charset="0"/>
              </a:rPr>
              <a:t>40 – 50% *</a:t>
            </a:r>
          </a:p>
        </p:txBody>
      </p:sp>
      <p:sp>
        <p:nvSpPr>
          <p:cNvPr id="15" name="TextBox 14">
            <a:extLst>
              <a:ext uri="{FF2B5EF4-FFF2-40B4-BE49-F238E27FC236}">
                <a16:creationId xmlns:a16="http://schemas.microsoft.com/office/drawing/2014/main" id="{B8F6C720-1232-E753-BD32-C8EE477A1BC1}"/>
              </a:ext>
            </a:extLst>
          </p:cNvPr>
          <p:cNvSpPr txBox="1"/>
          <p:nvPr/>
        </p:nvSpPr>
        <p:spPr>
          <a:xfrm>
            <a:off x="4533380" y="5592196"/>
            <a:ext cx="1465606" cy="246221"/>
          </a:xfrm>
          <a:prstGeom prst="rect">
            <a:avLst/>
          </a:prstGeom>
          <a:noFill/>
        </p:spPr>
        <p:txBody>
          <a:bodyPr wrap="square" lIns="0" tIns="0" rIns="0" bIns="0" rtlCol="0">
            <a:spAutoFit/>
          </a:bodyPr>
          <a:lstStyle/>
          <a:p>
            <a:pPr algn="l"/>
            <a:r>
              <a:rPr lang="en-US" sz="1600">
                <a:solidFill>
                  <a:schemeClr val="accent2"/>
                </a:solidFill>
                <a:latin typeface="Manrope Medium" pitchFamily="2" charset="0"/>
              </a:rPr>
              <a:t>30 – 40% *</a:t>
            </a:r>
          </a:p>
        </p:txBody>
      </p:sp>
      <p:sp>
        <p:nvSpPr>
          <p:cNvPr id="16" name="TextBox 15">
            <a:extLst>
              <a:ext uri="{FF2B5EF4-FFF2-40B4-BE49-F238E27FC236}">
                <a16:creationId xmlns:a16="http://schemas.microsoft.com/office/drawing/2014/main" id="{D5099665-CAC3-8B69-7360-C538C249B8D8}"/>
              </a:ext>
            </a:extLst>
          </p:cNvPr>
          <p:cNvSpPr txBox="1"/>
          <p:nvPr/>
        </p:nvSpPr>
        <p:spPr>
          <a:xfrm>
            <a:off x="7837634" y="5622467"/>
            <a:ext cx="1465606" cy="246221"/>
          </a:xfrm>
          <a:prstGeom prst="rect">
            <a:avLst/>
          </a:prstGeom>
          <a:noFill/>
        </p:spPr>
        <p:txBody>
          <a:bodyPr wrap="square" lIns="0" tIns="0" rIns="0" bIns="0" rtlCol="0">
            <a:spAutoFit/>
          </a:bodyPr>
          <a:lstStyle/>
          <a:p>
            <a:pPr algn="l"/>
            <a:r>
              <a:rPr lang="en-US" sz="1600">
                <a:solidFill>
                  <a:schemeClr val="accent2"/>
                </a:solidFill>
                <a:latin typeface="Manrope Medium" pitchFamily="2" charset="0"/>
              </a:rPr>
              <a:t>20 – 30% *</a:t>
            </a:r>
          </a:p>
        </p:txBody>
      </p:sp>
      <p:pic>
        <p:nvPicPr>
          <p:cNvPr id="17" name="Picture 16" descr="A close up of a logo&#10;&#10;Description automatically generated">
            <a:extLst>
              <a:ext uri="{FF2B5EF4-FFF2-40B4-BE49-F238E27FC236}">
                <a16:creationId xmlns:a16="http://schemas.microsoft.com/office/drawing/2014/main" id="{F821AE5C-1550-1295-E5C4-4F4947BBD17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55373" y="4061101"/>
            <a:ext cx="1012510" cy="443787"/>
          </a:xfrm>
          <a:prstGeom prst="rect">
            <a:avLst/>
          </a:prstGeom>
        </p:spPr>
      </p:pic>
      <p:pic>
        <p:nvPicPr>
          <p:cNvPr id="19" name="Picture 18" descr="A close up of a logo&#10;&#10;Description automatically generated">
            <a:extLst>
              <a:ext uri="{FF2B5EF4-FFF2-40B4-BE49-F238E27FC236}">
                <a16:creationId xmlns:a16="http://schemas.microsoft.com/office/drawing/2014/main" id="{9F1828D3-4953-EE8A-4B24-C68C76635F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957711" y="4114706"/>
            <a:ext cx="1175893" cy="336576"/>
          </a:xfrm>
          <a:prstGeom prst="rect">
            <a:avLst/>
          </a:prstGeom>
        </p:spPr>
      </p:pic>
      <p:pic>
        <p:nvPicPr>
          <p:cNvPr id="44" name="Picture 6" descr="Winning Innovative Workforce Solutions | ManpowerGroup">
            <a:extLst>
              <a:ext uri="{FF2B5EF4-FFF2-40B4-BE49-F238E27FC236}">
                <a16:creationId xmlns:a16="http://schemas.microsoft.com/office/drawing/2014/main" id="{CA5341AD-C5A9-0C7B-544F-92C9BB51E7B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742196" y="4094254"/>
            <a:ext cx="673701" cy="37748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A close up of a sign&#10;&#10;Description automatically generated">
            <a:extLst>
              <a:ext uri="{FF2B5EF4-FFF2-40B4-BE49-F238E27FC236}">
                <a16:creationId xmlns:a16="http://schemas.microsoft.com/office/drawing/2014/main" id="{A8D15BFC-C799-FA61-CE13-E9D46DE831B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785427" y="4150182"/>
            <a:ext cx="803724" cy="265625"/>
          </a:xfrm>
          <a:prstGeom prst="rect">
            <a:avLst/>
          </a:prstGeom>
        </p:spPr>
      </p:pic>
      <p:cxnSp>
        <p:nvCxnSpPr>
          <p:cNvPr id="48" name="Straight Connector 47">
            <a:extLst>
              <a:ext uri="{FF2B5EF4-FFF2-40B4-BE49-F238E27FC236}">
                <a16:creationId xmlns:a16="http://schemas.microsoft.com/office/drawing/2014/main" id="{5DB3E564-3932-D986-6C4F-0E6A4DDE77ED}"/>
              </a:ext>
            </a:extLst>
          </p:cNvPr>
          <p:cNvCxnSpPr>
            <a:cxnSpLocks/>
          </p:cNvCxnSpPr>
          <p:nvPr/>
        </p:nvCxnSpPr>
        <p:spPr>
          <a:xfrm>
            <a:off x="7578913" y="908050"/>
            <a:ext cx="0" cy="5473700"/>
          </a:xfrm>
          <a:prstGeom prst="line">
            <a:avLst/>
          </a:prstGeom>
          <a:noFill/>
          <a:ln w="9525" cap="flat" cmpd="sng" algn="ctr">
            <a:solidFill>
              <a:schemeClr val="accent5">
                <a:lumMod val="40000"/>
                <a:lumOff val="60000"/>
              </a:schemeClr>
            </a:solidFill>
            <a:prstDash val="solid"/>
            <a:round/>
            <a:headEnd type="none" w="med" len="med"/>
            <a:tailEnd type="none" w="med" len="med"/>
          </a:ln>
          <a:effectLst/>
        </p:spPr>
      </p:cxnSp>
      <p:pic>
        <p:nvPicPr>
          <p:cNvPr id="50" name="Picture 49" descr="A close up of a logo&#10;&#10;Description automatically generated">
            <a:extLst>
              <a:ext uri="{FF2B5EF4-FFF2-40B4-BE49-F238E27FC236}">
                <a16:creationId xmlns:a16="http://schemas.microsoft.com/office/drawing/2014/main" id="{E0E60D16-6A99-0CFC-4C80-3CB3F7DDFC1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0808" y="5847268"/>
            <a:ext cx="1267164" cy="362700"/>
          </a:xfrm>
          <a:prstGeom prst="rect">
            <a:avLst/>
          </a:prstGeom>
        </p:spPr>
      </p:pic>
      <p:pic>
        <p:nvPicPr>
          <p:cNvPr id="52" name="Picture 51">
            <a:extLst>
              <a:ext uri="{FF2B5EF4-FFF2-40B4-BE49-F238E27FC236}">
                <a16:creationId xmlns:a16="http://schemas.microsoft.com/office/drawing/2014/main" id="{9F924329-D834-9D90-87C8-EDBDE764128E}"/>
              </a:ext>
            </a:extLst>
          </p:cNvPr>
          <p:cNvPicPr>
            <a:picLocks noChangeAspect="1" noChangeArrowheads="1"/>
          </p:cNvPicPr>
          <p:nvPr/>
        </p:nvPicPr>
        <p:blipFill>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058772" y="5908675"/>
            <a:ext cx="580809" cy="23988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descr="A close up of a logo&#10;&#10;Description automatically generated">
            <a:extLst>
              <a:ext uri="{FF2B5EF4-FFF2-40B4-BE49-F238E27FC236}">
                <a16:creationId xmlns:a16="http://schemas.microsoft.com/office/drawing/2014/main" id="{F08DB731-83FF-6942-DA2A-C292B9F431A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96288" y="2255383"/>
            <a:ext cx="898286" cy="393722"/>
          </a:xfrm>
          <a:prstGeom prst="rect">
            <a:avLst/>
          </a:prstGeom>
        </p:spPr>
      </p:pic>
      <p:pic>
        <p:nvPicPr>
          <p:cNvPr id="62" name="Picture 2" descr="Williams Racing | Logopedia | Fandom">
            <a:extLst>
              <a:ext uri="{FF2B5EF4-FFF2-40B4-BE49-F238E27FC236}">
                <a16:creationId xmlns:a16="http://schemas.microsoft.com/office/drawing/2014/main" id="{A8E6F59B-DD63-3636-F2CA-BB09B26B9E7A}"/>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7790774" y="5972892"/>
            <a:ext cx="939333" cy="341305"/>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a:extLst>
              <a:ext uri="{FF2B5EF4-FFF2-40B4-BE49-F238E27FC236}">
                <a16:creationId xmlns:a16="http://schemas.microsoft.com/office/drawing/2014/main" id="{A8CF1A9A-6DB7-792C-36F7-9D0FC3A4698C}"/>
              </a:ext>
            </a:extLst>
          </p:cNvPr>
          <p:cNvPicPr>
            <a:picLocks noChangeAspect="1" noChangeArrowheads="1"/>
          </p:cNvPicPr>
          <p:nvPr/>
        </p:nvPicPr>
        <p:blipFill>
          <a:blip r:embed="rId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420107" y="6028618"/>
            <a:ext cx="556514" cy="22985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0E9F22A6-F3AE-5B29-90D2-80656EB2BF31}"/>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4547107" y="6019307"/>
            <a:ext cx="699719" cy="24847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C98B42C6-FA9A-F743-2EBD-1AB365A63061}"/>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684906" y="4064146"/>
            <a:ext cx="905043" cy="377102"/>
          </a:xfrm>
          <a:prstGeom prst="rect">
            <a:avLst/>
          </a:prstGeom>
        </p:spPr>
      </p:pic>
      <p:sp>
        <p:nvSpPr>
          <p:cNvPr id="18" name="TextBox 17">
            <a:extLst>
              <a:ext uri="{FF2B5EF4-FFF2-40B4-BE49-F238E27FC236}">
                <a16:creationId xmlns:a16="http://schemas.microsoft.com/office/drawing/2014/main" id="{5BCA6AD4-80CA-61AA-26DD-A69764DB374D}"/>
              </a:ext>
            </a:extLst>
          </p:cNvPr>
          <p:cNvSpPr txBox="1"/>
          <p:nvPr/>
        </p:nvSpPr>
        <p:spPr>
          <a:xfrm>
            <a:off x="10131477" y="6381750"/>
            <a:ext cx="318511" cy="369332"/>
          </a:xfrm>
          <a:prstGeom prst="rect">
            <a:avLst/>
          </a:prstGeom>
          <a:noFill/>
        </p:spPr>
        <p:txBody>
          <a:bodyPr wrap="square">
            <a:spAutoFit/>
          </a:bodyPr>
          <a:lstStyle/>
          <a:p>
            <a:r>
              <a:rPr lang="en-US" sz="1800">
                <a:solidFill>
                  <a:schemeClr val="accent2"/>
                </a:solidFill>
                <a:latin typeface="Manrope Medium" pitchFamily="2" charset="0"/>
              </a:rPr>
              <a:t>*</a:t>
            </a:r>
            <a:endParaRPr lang="en-US"/>
          </a:p>
        </p:txBody>
      </p:sp>
      <p:pic>
        <p:nvPicPr>
          <p:cNvPr id="10" name="Picture 9">
            <a:extLst>
              <a:ext uri="{FF2B5EF4-FFF2-40B4-BE49-F238E27FC236}">
                <a16:creationId xmlns:a16="http://schemas.microsoft.com/office/drawing/2014/main" id="{7A0D6584-98AF-1225-374B-9923F81D1D73}"/>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7666653" y="2238837"/>
            <a:ext cx="1063454" cy="323991"/>
          </a:xfrm>
          <a:prstGeom prst="rect">
            <a:avLst/>
          </a:prstGeom>
        </p:spPr>
      </p:pic>
      <p:grpSp>
        <p:nvGrpSpPr>
          <p:cNvPr id="24" name="Group 23">
            <a:extLst>
              <a:ext uri="{FF2B5EF4-FFF2-40B4-BE49-F238E27FC236}">
                <a16:creationId xmlns:a16="http://schemas.microsoft.com/office/drawing/2014/main" id="{F5FC66D7-D58C-9A0C-4B43-7357813B53FC}"/>
              </a:ext>
            </a:extLst>
          </p:cNvPr>
          <p:cNvGrpSpPr/>
          <p:nvPr/>
        </p:nvGrpSpPr>
        <p:grpSpPr>
          <a:xfrm>
            <a:off x="602778" y="956550"/>
            <a:ext cx="3671881" cy="1738809"/>
            <a:chOff x="602778" y="956550"/>
            <a:chExt cx="3671881" cy="1738809"/>
          </a:xfrm>
        </p:grpSpPr>
        <p:sp>
          <p:nvSpPr>
            <p:cNvPr id="74" name="Rectangle: Rounded Corners 73">
              <a:extLst>
                <a:ext uri="{FF2B5EF4-FFF2-40B4-BE49-F238E27FC236}">
                  <a16:creationId xmlns:a16="http://schemas.microsoft.com/office/drawing/2014/main" id="{E65DE52E-5258-28C9-A031-AF2DDE2645E8}"/>
                </a:ext>
              </a:extLst>
            </p:cNvPr>
            <p:cNvSpPr/>
            <p:nvPr/>
          </p:nvSpPr>
          <p:spPr>
            <a:xfrm>
              <a:off x="681643" y="956550"/>
              <a:ext cx="3593016" cy="371960"/>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FFFFFF"/>
                  </a:solidFill>
                  <a:effectLst/>
                  <a:uLnTx/>
                  <a:uFillTx/>
                </a:rPr>
                <a:t>Paymatix - Banking </a:t>
              </a:r>
            </a:p>
          </p:txBody>
        </p:sp>
        <p:sp>
          <p:nvSpPr>
            <p:cNvPr id="75" name="Text Placeholder 1">
              <a:extLst>
                <a:ext uri="{FF2B5EF4-FFF2-40B4-BE49-F238E27FC236}">
                  <a16:creationId xmlns:a16="http://schemas.microsoft.com/office/drawing/2014/main" id="{1113910A-B01F-C4B6-414A-4D48D0BA02D8}"/>
                </a:ext>
              </a:extLst>
            </p:cNvPr>
            <p:cNvSpPr txBox="1">
              <a:spLocks/>
            </p:cNvSpPr>
            <p:nvPr/>
          </p:nvSpPr>
          <p:spPr>
            <a:xfrm flipH="1">
              <a:off x="1974953" y="1752014"/>
              <a:ext cx="1918318" cy="253320"/>
            </a:xfrm>
            <a:prstGeom prst="rect">
              <a:avLst/>
            </a:prstGeom>
          </p:spPr>
          <p:txBody>
            <a:bodyPr lIns="0" tIns="0" rIns="0" bIns="0">
              <a:normAutofit/>
            </a:bodyPr>
            <a:lstStyle>
              <a:lvl1pPr indent="0">
                <a:lnSpc>
                  <a:spcPct val="110000"/>
                </a:lnSpc>
                <a:spcBef>
                  <a:spcPts val="1000"/>
                </a:spcBef>
                <a:buClr>
                  <a:schemeClr val="tx1"/>
                </a:buClr>
                <a:buFont typeface="Arial" panose="020B0604020202020204" pitchFamily="34" charset="0"/>
                <a:buNone/>
                <a:defRPr lang="en-US" sz="1400" spc="10" baseline="0" dirty="0">
                  <a:solidFill>
                    <a:schemeClr val="accent1"/>
                  </a:solidFill>
                  <a:latin typeface="Manrope Medium" pitchFamily="2" charset="0"/>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endParaRPr kumimoji="0" lang="en-US" sz="1100" b="0" i="0" u="none" strike="noStrike" kern="1200" cap="none" spc="10" normalizeH="0" baseline="0" noProof="0">
                <a:ln>
                  <a:noFill/>
                </a:ln>
                <a:solidFill>
                  <a:srgbClr val="3C2CDA"/>
                </a:solidFill>
                <a:effectLst/>
                <a:uLnTx/>
                <a:uFillTx/>
                <a:latin typeface="Manrope" pitchFamily="2" charset="0"/>
              </a:endParaRPr>
            </a:p>
          </p:txBody>
        </p:sp>
        <p:sp>
          <p:nvSpPr>
            <p:cNvPr id="76" name="TextBox 75">
              <a:extLst>
                <a:ext uri="{FF2B5EF4-FFF2-40B4-BE49-F238E27FC236}">
                  <a16:creationId xmlns:a16="http://schemas.microsoft.com/office/drawing/2014/main" id="{E9913BF4-9C61-5E8D-530D-905AFDC62705}"/>
                </a:ext>
              </a:extLst>
            </p:cNvPr>
            <p:cNvSpPr txBox="1"/>
            <p:nvPr/>
          </p:nvSpPr>
          <p:spPr>
            <a:xfrm>
              <a:off x="602778" y="1402384"/>
              <a:ext cx="3393312" cy="383182"/>
            </a:xfrm>
            <a:prstGeom prst="rect">
              <a:avLst/>
            </a:prstGeom>
            <a:noFill/>
          </p:spPr>
          <p:txBody>
            <a:bodyPr wrap="square">
              <a:spAutoFit/>
            </a:bodyPr>
            <a:lstStyle/>
            <a:p>
              <a:pPr marL="0" marR="0" lvl="1" algn="l"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An integrated Data and Analytics platform designed for cards and payment services</a:t>
              </a:r>
            </a:p>
          </p:txBody>
        </p:sp>
        <p:sp>
          <p:nvSpPr>
            <p:cNvPr id="7" name="TextBox 6">
              <a:extLst>
                <a:ext uri="{FF2B5EF4-FFF2-40B4-BE49-F238E27FC236}">
                  <a16:creationId xmlns:a16="http://schemas.microsoft.com/office/drawing/2014/main" id="{BE2789FD-C721-67CB-F9AD-C664A5B891A7}"/>
                </a:ext>
              </a:extLst>
            </p:cNvPr>
            <p:cNvSpPr txBox="1"/>
            <p:nvPr/>
          </p:nvSpPr>
          <p:spPr>
            <a:xfrm>
              <a:off x="700108" y="2000902"/>
              <a:ext cx="1465606" cy="246221"/>
            </a:xfrm>
            <a:prstGeom prst="rect">
              <a:avLst/>
            </a:prstGeom>
            <a:noFill/>
          </p:spPr>
          <p:txBody>
            <a:bodyPr wrap="square" lIns="0" tIns="0" rIns="0" bIns="0" rtlCol="0">
              <a:spAutoFit/>
            </a:bodyPr>
            <a:lstStyle/>
            <a:p>
              <a:pPr algn="l"/>
              <a:r>
                <a:rPr lang="en-US" sz="1600">
                  <a:solidFill>
                    <a:schemeClr val="accent2"/>
                  </a:solidFill>
                  <a:latin typeface="Manrope Medium" pitchFamily="2" charset="0"/>
                </a:rPr>
                <a:t>65 – 75% *</a:t>
              </a:r>
            </a:p>
          </p:txBody>
        </p:sp>
        <p:pic>
          <p:nvPicPr>
            <p:cNvPr id="54" name="Picture 12" descr="PenFed Debt Consolidation Loan Review">
              <a:extLst>
                <a:ext uri="{FF2B5EF4-FFF2-40B4-BE49-F238E27FC236}">
                  <a16:creationId xmlns:a16="http://schemas.microsoft.com/office/drawing/2014/main" id="{9EEFC59F-71B6-6ABF-4321-1C821AF88253}"/>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662115" y="2116697"/>
              <a:ext cx="838057" cy="57866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B2834328-B360-EA40-5655-0E6DB0665D74}"/>
                </a:ext>
              </a:extLst>
            </p:cNvPr>
            <p:cNvSpPr txBox="1"/>
            <p:nvPr/>
          </p:nvSpPr>
          <p:spPr>
            <a:xfrm>
              <a:off x="2478151" y="1974233"/>
              <a:ext cx="1465606" cy="553998"/>
            </a:xfrm>
            <a:prstGeom prst="rect">
              <a:avLst/>
            </a:prstGeom>
            <a:noFill/>
          </p:spPr>
          <p:txBody>
            <a:bodyPr wrap="square" lIns="0" tIns="0" rIns="0" bIns="0" rtlCol="0">
              <a:spAutoFit/>
            </a:bodyPr>
            <a:lstStyle/>
            <a:p>
              <a:pPr algn="l"/>
              <a:r>
                <a:rPr lang="en-US" sz="1400">
                  <a:ln w="0"/>
                  <a:effectLst>
                    <a:outerShdw blurRad="38100" dist="19050" dir="2700000" algn="tl" rotWithShape="0">
                      <a:schemeClr val="dk1">
                        <a:alpha val="40000"/>
                      </a:schemeClr>
                    </a:outerShdw>
                  </a:effectLst>
                  <a:latin typeface="Manrope Medium" pitchFamily="2" charset="0"/>
                </a:rPr>
                <a:t>$ 900K </a:t>
              </a:r>
              <a:r>
                <a:rPr lang="en-US" sz="1100">
                  <a:ln w="0"/>
                  <a:effectLst>
                    <a:outerShdw blurRad="38100" dist="19050" dir="2700000" algn="tl" rotWithShape="0">
                      <a:schemeClr val="dk1">
                        <a:alpha val="40000"/>
                      </a:schemeClr>
                    </a:outerShdw>
                  </a:effectLst>
                  <a:latin typeface="Manrope Medium" pitchFamily="2" charset="0"/>
                </a:rPr>
                <a:t>Savings per year on Platform Support</a:t>
              </a:r>
            </a:p>
          </p:txBody>
        </p:sp>
      </p:grpSp>
      <p:cxnSp>
        <p:nvCxnSpPr>
          <p:cNvPr id="60" name="Straight Connector 59">
            <a:extLst>
              <a:ext uri="{FF2B5EF4-FFF2-40B4-BE49-F238E27FC236}">
                <a16:creationId xmlns:a16="http://schemas.microsoft.com/office/drawing/2014/main" id="{A147EDA8-7A1C-313F-BB69-2391152122E3}"/>
              </a:ext>
            </a:extLst>
          </p:cNvPr>
          <p:cNvCxnSpPr>
            <a:cxnSpLocks/>
          </p:cNvCxnSpPr>
          <p:nvPr/>
        </p:nvCxnSpPr>
        <p:spPr>
          <a:xfrm rot="16200000">
            <a:off x="6107418" y="-2812193"/>
            <a:ext cx="0" cy="10924364"/>
          </a:xfrm>
          <a:prstGeom prst="line">
            <a:avLst/>
          </a:prstGeom>
          <a:noFill/>
          <a:ln w="9525" cap="flat" cmpd="sng" algn="ctr">
            <a:solidFill>
              <a:schemeClr val="accent5">
                <a:lumMod val="40000"/>
                <a:lumOff val="60000"/>
              </a:schemeClr>
            </a:soli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092C3E01-1B82-E2DF-F8DB-25DC3C13BFF6}"/>
              </a:ext>
            </a:extLst>
          </p:cNvPr>
          <p:cNvCxnSpPr>
            <a:cxnSpLocks/>
          </p:cNvCxnSpPr>
          <p:nvPr/>
        </p:nvCxnSpPr>
        <p:spPr>
          <a:xfrm rot="16200000">
            <a:off x="6044061" y="-905497"/>
            <a:ext cx="0" cy="10924365"/>
          </a:xfrm>
          <a:prstGeom prst="line">
            <a:avLst/>
          </a:prstGeom>
          <a:noFill/>
          <a:ln w="9525" cap="flat" cmpd="sng" algn="ctr">
            <a:solidFill>
              <a:schemeClr val="accent5">
                <a:lumMod val="40000"/>
                <a:lumOff val="60000"/>
              </a:schemeClr>
            </a:solidFill>
            <a:prstDash val="solid"/>
            <a:round/>
            <a:headEnd type="none" w="med" len="med"/>
            <a:tailEnd type="none" w="med" len="med"/>
          </a:ln>
          <a:effectLst/>
        </p:spPr>
      </p:cxnSp>
      <p:grpSp>
        <p:nvGrpSpPr>
          <p:cNvPr id="33" name="Group 32">
            <a:extLst>
              <a:ext uri="{FF2B5EF4-FFF2-40B4-BE49-F238E27FC236}">
                <a16:creationId xmlns:a16="http://schemas.microsoft.com/office/drawing/2014/main" id="{102F5C68-84B5-E3F3-7E69-45135FBC865B}"/>
              </a:ext>
            </a:extLst>
          </p:cNvPr>
          <p:cNvGrpSpPr/>
          <p:nvPr/>
        </p:nvGrpSpPr>
        <p:grpSpPr>
          <a:xfrm>
            <a:off x="4420490" y="2750574"/>
            <a:ext cx="3273123" cy="1808334"/>
            <a:chOff x="4420490" y="2750574"/>
            <a:chExt cx="3273123" cy="1808334"/>
          </a:xfrm>
        </p:grpSpPr>
        <p:sp>
          <p:nvSpPr>
            <p:cNvPr id="28" name="Rectangle: Rounded Corners 27">
              <a:extLst>
                <a:ext uri="{FF2B5EF4-FFF2-40B4-BE49-F238E27FC236}">
                  <a16:creationId xmlns:a16="http://schemas.microsoft.com/office/drawing/2014/main" id="{813818A6-EDD2-A026-51FF-8AA709310742}"/>
                </a:ext>
              </a:extLst>
            </p:cNvPr>
            <p:cNvSpPr/>
            <p:nvPr/>
          </p:nvSpPr>
          <p:spPr>
            <a:xfrm>
              <a:off x="4420490" y="2750574"/>
              <a:ext cx="3083023" cy="409157"/>
            </a:xfrm>
            <a:prstGeom prst="roundRect">
              <a:avLst>
                <a:gd name="adj" fmla="val 0"/>
              </a:avLst>
            </a:prstGeom>
            <a:solidFill>
              <a:schemeClr val="tx2"/>
            </a:solidFill>
            <a:ln w="12700"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pt-BR" sz="1100" b="1" u="none" strike="noStrike" kern="0" cap="none" spc="0" normalizeH="0" baseline="0" noProof="0">
                  <a:ln>
                    <a:noFill/>
                  </a:ln>
                  <a:solidFill>
                    <a:srgbClr val="FFFFFF"/>
                  </a:solidFill>
                  <a:effectLst/>
                  <a:uLnTx/>
                  <a:uFillTx/>
                </a:rPr>
                <a:t>Metadata Based Ingestion Framework</a:t>
              </a:r>
            </a:p>
          </p:txBody>
        </p:sp>
        <p:sp>
          <p:nvSpPr>
            <p:cNvPr id="29" name="TextBox 28">
              <a:extLst>
                <a:ext uri="{FF2B5EF4-FFF2-40B4-BE49-F238E27FC236}">
                  <a16:creationId xmlns:a16="http://schemas.microsoft.com/office/drawing/2014/main" id="{49596817-E32A-FB69-F575-99F7AD4F4179}"/>
                </a:ext>
              </a:extLst>
            </p:cNvPr>
            <p:cNvSpPr txBox="1"/>
            <p:nvPr/>
          </p:nvSpPr>
          <p:spPr>
            <a:xfrm>
              <a:off x="4424522" y="3188793"/>
              <a:ext cx="3001698" cy="569006"/>
            </a:xfrm>
            <a:prstGeom prst="rect">
              <a:avLst/>
            </a:prstGeom>
            <a:noFill/>
          </p:spPr>
          <p:txBody>
            <a:bodyPr wrap="square">
              <a:spAutoFit/>
            </a:bodyPr>
            <a:lstStyle/>
            <a:p>
              <a:pPr marL="0" marR="0" lvl="1" algn="l" defTabSz="533400" rtl="0" eaLnBrk="1" fontAlgn="auto" latinLnBrk="0" hangingPunct="1">
                <a:lnSpc>
                  <a:spcPct val="90000"/>
                </a:lnSpc>
                <a:spcBef>
                  <a:spcPct val="0"/>
                </a:spcBef>
                <a:spcAft>
                  <a:spcPct val="15000"/>
                </a:spcAft>
                <a:buClrTx/>
                <a:buSzTx/>
                <a:tabLst/>
                <a:defRPr/>
              </a:pPr>
              <a:r>
                <a:rPr kumimoji="0" lang="en-US" sz="1050" b="0" i="0" u="none" strike="noStrike" kern="1200" cap="none" spc="0" normalizeH="0" baseline="0" noProof="0">
                  <a:ln>
                    <a:noFill/>
                  </a:ln>
                  <a:solidFill>
                    <a:srgbClr val="000000"/>
                  </a:solidFill>
                  <a:effectLst/>
                  <a:uLnTx/>
                  <a:uFillTx/>
                  <a:latin typeface="Manrope" pitchFamily="2" charset="0"/>
                </a:rPr>
                <a:t>Data ingestion framework to load data into snowflake using ADF and Snowflake Native Scripts</a:t>
              </a:r>
            </a:p>
          </p:txBody>
        </p:sp>
        <p:sp>
          <p:nvSpPr>
            <p:cNvPr id="12" name="TextBox 11">
              <a:extLst>
                <a:ext uri="{FF2B5EF4-FFF2-40B4-BE49-F238E27FC236}">
                  <a16:creationId xmlns:a16="http://schemas.microsoft.com/office/drawing/2014/main" id="{2568C7E8-F75F-5C9B-1D01-3CEFC9CA043B}"/>
                </a:ext>
              </a:extLst>
            </p:cNvPr>
            <p:cNvSpPr txBox="1"/>
            <p:nvPr/>
          </p:nvSpPr>
          <p:spPr>
            <a:xfrm>
              <a:off x="6089370" y="3602071"/>
              <a:ext cx="1079379" cy="246221"/>
            </a:xfrm>
            <a:prstGeom prst="rect">
              <a:avLst/>
            </a:prstGeom>
            <a:noFill/>
          </p:spPr>
          <p:txBody>
            <a:bodyPr wrap="square" lIns="0" tIns="0" rIns="0" bIns="0" rtlCol="0">
              <a:spAutoFit/>
            </a:bodyPr>
            <a:lstStyle/>
            <a:p>
              <a:pPr algn="l"/>
              <a:r>
                <a:rPr lang="en-US" sz="1600">
                  <a:solidFill>
                    <a:schemeClr val="accent2"/>
                  </a:solidFill>
                  <a:latin typeface="Manrope Medium" pitchFamily="2" charset="0"/>
                </a:rPr>
                <a:t>60 – 70% *</a:t>
              </a:r>
            </a:p>
          </p:txBody>
        </p:sp>
        <p:pic>
          <p:nvPicPr>
            <p:cNvPr id="43" name="Picture 8" descr="Patelco Credit Union">
              <a:extLst>
                <a:ext uri="{FF2B5EF4-FFF2-40B4-BE49-F238E27FC236}">
                  <a16:creationId xmlns:a16="http://schemas.microsoft.com/office/drawing/2014/main" id="{72763D91-AABB-5EDE-DACE-A90498AB1419}"/>
                </a:ext>
              </a:extLst>
            </p:cNvPr>
            <p:cNvPicPr>
              <a:picLocks noChangeAspect="1" noChangeArrowheads="1"/>
            </p:cNvPicPr>
            <p:nvPr/>
          </p:nvPicPr>
          <p:blipFill rotWithShape="1">
            <a:blip r:embed="rId14" cstate="email">
              <a:extLst>
                <a:ext uri="{28A0092B-C50C-407E-A947-70E740481C1C}">
                  <a14:useLocalDpi xmlns:a14="http://schemas.microsoft.com/office/drawing/2010/main"/>
                </a:ext>
              </a:extLst>
            </a:blip>
            <a:srcRect t="31822" b="31427"/>
            <a:stretch/>
          </p:blipFill>
          <p:spPr bwMode="auto">
            <a:xfrm>
              <a:off x="4513335" y="4282994"/>
              <a:ext cx="722848" cy="2091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C83546FC-CF9D-8CC3-E011-E1619AD7B7DA}"/>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4566545" y="3898677"/>
              <a:ext cx="697727" cy="247766"/>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1F34B256-AF0C-CBDE-7B6E-046BE4208440}"/>
                </a:ext>
              </a:extLst>
            </p:cNvPr>
            <p:cNvSpPr txBox="1"/>
            <p:nvPr/>
          </p:nvSpPr>
          <p:spPr>
            <a:xfrm>
              <a:off x="5972242" y="4051077"/>
              <a:ext cx="1721371" cy="507831"/>
            </a:xfrm>
            <a:prstGeom prst="rect">
              <a:avLst/>
            </a:prstGeom>
            <a:noFill/>
          </p:spPr>
          <p:txBody>
            <a:bodyPr wrap="square" lIns="0" tIns="0" rIns="0" bIns="0" rtlCol="0">
              <a:spAutoFit/>
            </a:bodyPr>
            <a:lstStyle/>
            <a:p>
              <a:pPr marL="285750" indent="-285750" algn="l">
                <a:spcBef>
                  <a:spcPts val="600"/>
                </a:spcBef>
                <a:buFont typeface="Arial" panose="020B0604020202020204" pitchFamily="34" charset="0"/>
                <a:buChar char="•"/>
              </a:pPr>
              <a:r>
                <a:rPr lang="en-US" sz="1400">
                  <a:ln w="0"/>
                  <a:effectLst>
                    <a:outerShdw blurRad="38100" dist="19050" dir="2700000" algn="tl" rotWithShape="0">
                      <a:schemeClr val="dk1">
                        <a:alpha val="40000"/>
                      </a:schemeClr>
                    </a:outerShdw>
                  </a:effectLst>
                  <a:latin typeface="Manrope Medium" pitchFamily="2" charset="0"/>
                </a:rPr>
                <a:t>$ 80 K </a:t>
              </a:r>
              <a:r>
                <a:rPr lang="en-US" sz="1100">
                  <a:ln w="0"/>
                  <a:effectLst>
                    <a:outerShdw blurRad="38100" dist="19050" dir="2700000" algn="tl" rotWithShape="0">
                      <a:schemeClr val="dk1">
                        <a:alpha val="40000"/>
                      </a:schemeClr>
                    </a:outerShdw>
                  </a:effectLst>
                  <a:latin typeface="Manrope Medium" pitchFamily="2" charset="0"/>
                </a:rPr>
                <a:t>per year</a:t>
              </a:r>
            </a:p>
            <a:p>
              <a:pPr marL="285750" indent="-285750" algn="l">
                <a:spcBef>
                  <a:spcPts val="600"/>
                </a:spcBef>
                <a:buFont typeface="Arial" panose="020B0604020202020204" pitchFamily="34" charset="0"/>
                <a:buChar char="•"/>
              </a:pPr>
              <a:r>
                <a:rPr lang="en-US" sz="1400">
                  <a:ln w="0"/>
                  <a:effectLst>
                    <a:outerShdw blurRad="38100" dist="19050" dir="2700000" algn="tl" rotWithShape="0">
                      <a:schemeClr val="dk1">
                        <a:alpha val="40000"/>
                      </a:schemeClr>
                    </a:outerShdw>
                  </a:effectLst>
                  <a:latin typeface="Manrope Medium" pitchFamily="2" charset="0"/>
                </a:rPr>
                <a:t>$ 120 K </a:t>
              </a:r>
              <a:r>
                <a:rPr lang="en-US" sz="1100">
                  <a:ln w="0"/>
                  <a:effectLst>
                    <a:outerShdw blurRad="38100" dist="19050" dir="2700000" algn="tl" rotWithShape="0">
                      <a:schemeClr val="dk1">
                        <a:alpha val="40000"/>
                      </a:schemeClr>
                    </a:outerShdw>
                  </a:effectLst>
                  <a:latin typeface="Manrope Medium" pitchFamily="2" charset="0"/>
                </a:rPr>
                <a:t>per year</a:t>
              </a:r>
            </a:p>
          </p:txBody>
        </p:sp>
      </p:grpSp>
    </p:spTree>
    <p:extLst>
      <p:ext uri="{BB962C8B-B14F-4D97-AF65-F5344CB8AC3E}">
        <p14:creationId xmlns:p14="http://schemas.microsoft.com/office/powerpoint/2010/main" val="2672876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62F8C-64C3-AED9-47A1-A863655F064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968A9631-10D7-6AF7-40F2-8C3F2A0DD658}"/>
              </a:ext>
            </a:extLst>
          </p:cNvPr>
          <p:cNvSpPr/>
          <p:nvPr/>
        </p:nvSpPr>
        <p:spPr>
          <a:xfrm>
            <a:off x="619980" y="960023"/>
            <a:ext cx="2612052" cy="4271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14CBDE">
                    <a:lumMod val="60000"/>
                    <a:lumOff val="40000"/>
                  </a:srgbClr>
                </a:solidFill>
                <a:effectLst/>
                <a:uLnTx/>
                <a:uFillTx/>
                <a:latin typeface="Manrope" pitchFamily="2" charset="0"/>
              </a:rPr>
              <a:t>S</a:t>
            </a:r>
            <a:r>
              <a:rPr kumimoji="0" lang="en-US" sz="1400" b="1" i="0" u="none" strike="noStrike" kern="1200" cap="none" spc="0" normalizeH="0" baseline="0" noProof="0">
                <a:ln>
                  <a:noFill/>
                </a:ln>
                <a:solidFill>
                  <a:srgbClr val="FFFFFF"/>
                </a:solidFill>
                <a:effectLst/>
                <a:uLnTx/>
                <a:uFillTx/>
                <a:latin typeface="Manrope" pitchFamily="2" charset="0"/>
              </a:rPr>
              <a:t>implify Solutions</a:t>
            </a:r>
          </a:p>
        </p:txBody>
      </p:sp>
      <p:sp>
        <p:nvSpPr>
          <p:cNvPr id="28" name="Rectangle 27">
            <a:extLst>
              <a:ext uri="{FF2B5EF4-FFF2-40B4-BE49-F238E27FC236}">
                <a16:creationId xmlns:a16="http://schemas.microsoft.com/office/drawing/2014/main" id="{B3A9A8EA-E328-D70D-F8EE-C67EAA29A5E5}"/>
              </a:ext>
            </a:extLst>
          </p:cNvPr>
          <p:cNvSpPr/>
          <p:nvPr/>
        </p:nvSpPr>
        <p:spPr>
          <a:xfrm>
            <a:off x="619980" y="2545699"/>
            <a:ext cx="2612052" cy="2554517"/>
          </a:xfrm>
          <a:prstGeom prst="rect">
            <a:avLst/>
          </a:prstGeom>
          <a:solidFill>
            <a:schemeClr val="accent5">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ctr"/>
          <a:lstStyle/>
          <a:p>
            <a:pPr marL="0" marR="0" lvl="0" indent="0" defTabSz="914400" rtl="0" eaLnBrk="1" fontAlgn="auto" latinLnBrk="0" hangingPunct="1">
              <a:lnSpc>
                <a:spcPct val="110000"/>
              </a:lnSpc>
              <a:spcBef>
                <a:spcPts val="1200"/>
              </a:spcBef>
              <a:spcAft>
                <a:spcPts val="0"/>
              </a:spcAft>
              <a:buClr>
                <a:srgbClr val="3C2CDA"/>
              </a:buClr>
              <a:buSzTx/>
              <a:buFontTx/>
              <a:buNone/>
              <a:tabLst/>
              <a:defRPr/>
            </a:pPr>
            <a:r>
              <a:rPr kumimoji="0" lang="en-US" sz="1300" b="0" i="0" u="none" strike="noStrike" kern="1200" cap="none" spc="0" normalizeH="0" baseline="0" noProof="0">
                <a:ln>
                  <a:noFill/>
                </a:ln>
                <a:solidFill>
                  <a:srgbClr val="282828"/>
                </a:solidFill>
                <a:effectLst/>
                <a:uLnTx/>
                <a:uFillTx/>
                <a:latin typeface="Manrope" pitchFamily="2" charset="0"/>
              </a:rPr>
              <a:t>Simplify Data Solution architectures for our customers in a hybrid, multi cloud Data &amp; AI eco system which is overcrowded with multiple tools and technologies for each component.</a:t>
            </a:r>
          </a:p>
        </p:txBody>
      </p:sp>
      <p:sp>
        <p:nvSpPr>
          <p:cNvPr id="24" name="Rectangle 23">
            <a:extLst>
              <a:ext uri="{FF2B5EF4-FFF2-40B4-BE49-F238E27FC236}">
                <a16:creationId xmlns:a16="http://schemas.microsoft.com/office/drawing/2014/main" id="{B8F65A47-B3A9-8F06-12C6-38C5FF30D38A}"/>
              </a:ext>
            </a:extLst>
          </p:cNvPr>
          <p:cNvSpPr/>
          <p:nvPr/>
        </p:nvSpPr>
        <p:spPr>
          <a:xfrm>
            <a:off x="3402133" y="960023"/>
            <a:ext cx="2612052" cy="4271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14CBDE">
                    <a:lumMod val="60000"/>
                    <a:lumOff val="40000"/>
                  </a:srgbClr>
                </a:solidFill>
                <a:effectLst/>
                <a:uLnTx/>
                <a:uFillTx/>
                <a:latin typeface="Manrope" pitchFamily="2" charset="0"/>
              </a:rPr>
              <a:t>A</a:t>
            </a:r>
            <a:r>
              <a:rPr kumimoji="0" lang="en-US" sz="1400" b="1" i="0" u="none" strike="noStrike" kern="1200" cap="none" spc="0" normalizeH="0" baseline="0" noProof="0">
                <a:ln>
                  <a:noFill/>
                </a:ln>
                <a:solidFill>
                  <a:srgbClr val="FFFFFF"/>
                </a:solidFill>
                <a:effectLst/>
                <a:uLnTx/>
                <a:uFillTx/>
                <a:latin typeface="Manrope" pitchFamily="2" charset="0"/>
              </a:rPr>
              <a:t>ccelerate Adoption</a:t>
            </a:r>
          </a:p>
        </p:txBody>
      </p:sp>
      <p:sp>
        <p:nvSpPr>
          <p:cNvPr id="30" name="Rectangle 29">
            <a:extLst>
              <a:ext uri="{FF2B5EF4-FFF2-40B4-BE49-F238E27FC236}">
                <a16:creationId xmlns:a16="http://schemas.microsoft.com/office/drawing/2014/main" id="{E81BF1AD-8551-4B41-540A-0B7A58CA6E4B}"/>
              </a:ext>
            </a:extLst>
          </p:cNvPr>
          <p:cNvSpPr/>
          <p:nvPr/>
        </p:nvSpPr>
        <p:spPr>
          <a:xfrm>
            <a:off x="3402133" y="2545699"/>
            <a:ext cx="2612052" cy="2554517"/>
          </a:xfrm>
          <a:prstGeom prst="rect">
            <a:avLst/>
          </a:prstGeom>
          <a:solidFill>
            <a:schemeClr val="accent5">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ctr"/>
          <a:lstStyle/>
          <a:p>
            <a:pPr marL="0" marR="0" lvl="0" indent="0" defTabSz="914400" rtl="0" eaLnBrk="1" fontAlgn="auto" latinLnBrk="0" hangingPunct="1">
              <a:lnSpc>
                <a:spcPct val="110000"/>
              </a:lnSpc>
              <a:spcBef>
                <a:spcPts val="1200"/>
              </a:spcBef>
              <a:spcAft>
                <a:spcPts val="0"/>
              </a:spcAft>
              <a:buClr>
                <a:srgbClr val="3C2CDA"/>
              </a:buClr>
              <a:buSzTx/>
              <a:buFontTx/>
              <a:buNone/>
              <a:tabLst/>
              <a:defRPr/>
            </a:pPr>
            <a:r>
              <a:rPr kumimoji="0" lang="en-US" sz="1300" b="0" i="0" u="none" strike="noStrike" kern="1200" cap="none" spc="0" normalizeH="0" baseline="0" noProof="0">
                <a:ln>
                  <a:noFill/>
                </a:ln>
                <a:solidFill>
                  <a:srgbClr val="282828"/>
                </a:solidFill>
                <a:effectLst/>
                <a:uLnTx/>
                <a:uFillTx/>
                <a:latin typeface="Manrope" pitchFamily="2" charset="0"/>
              </a:rPr>
              <a:t>Accelerate our customer implementation programs for migration, green field developments of Data, Apps and AI solutions leveraging Hexaware IP Platforms (Amaze) to accelerate adoption to Snowflake. </a:t>
            </a:r>
            <a:endParaRPr kumimoji="0" lang="en-US" sz="1300" b="0" i="0" u="none" strike="noStrike" kern="1200" cap="none" spc="0" normalizeH="0" baseline="0" noProof="0">
              <a:ln>
                <a:noFill/>
              </a:ln>
              <a:solidFill>
                <a:srgbClr val="FFFFFF"/>
              </a:solidFill>
              <a:effectLst/>
              <a:uLnTx/>
              <a:uFillTx/>
              <a:latin typeface="Manrope" pitchFamily="2" charset="0"/>
            </a:endParaRPr>
          </a:p>
        </p:txBody>
      </p:sp>
      <p:sp>
        <p:nvSpPr>
          <p:cNvPr id="25" name="Rectangle 24">
            <a:extLst>
              <a:ext uri="{FF2B5EF4-FFF2-40B4-BE49-F238E27FC236}">
                <a16:creationId xmlns:a16="http://schemas.microsoft.com/office/drawing/2014/main" id="{EA023373-4A9F-D43C-214C-7712096B4990}"/>
              </a:ext>
            </a:extLst>
          </p:cNvPr>
          <p:cNvSpPr/>
          <p:nvPr/>
        </p:nvSpPr>
        <p:spPr>
          <a:xfrm>
            <a:off x="8966438" y="960023"/>
            <a:ext cx="2612052" cy="4271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14CBDE">
                    <a:lumMod val="60000"/>
                    <a:lumOff val="40000"/>
                  </a:srgbClr>
                </a:solidFill>
                <a:effectLst/>
                <a:uLnTx/>
                <a:uFillTx/>
                <a:latin typeface="Manrope" pitchFamily="2" charset="0"/>
              </a:rPr>
              <a:t>O</a:t>
            </a:r>
            <a:r>
              <a:rPr kumimoji="0" lang="en-US" sz="1400" b="1" i="0" u="none" strike="noStrike" kern="1200" cap="none" spc="0" normalizeH="0" baseline="0" noProof="0">
                <a:ln>
                  <a:noFill/>
                </a:ln>
                <a:solidFill>
                  <a:srgbClr val="FFFFFF"/>
                </a:solidFill>
                <a:effectLst/>
                <a:uLnTx/>
                <a:uFillTx/>
                <a:latin typeface="Manrope" pitchFamily="2" charset="0"/>
              </a:rPr>
              <a:t>ptimize Spend</a:t>
            </a:r>
          </a:p>
        </p:txBody>
      </p:sp>
      <p:sp>
        <p:nvSpPr>
          <p:cNvPr id="31" name="Rectangle 30">
            <a:extLst>
              <a:ext uri="{FF2B5EF4-FFF2-40B4-BE49-F238E27FC236}">
                <a16:creationId xmlns:a16="http://schemas.microsoft.com/office/drawing/2014/main" id="{6D356591-9521-5C0B-D242-71F17540B7C0}"/>
              </a:ext>
            </a:extLst>
          </p:cNvPr>
          <p:cNvSpPr/>
          <p:nvPr/>
        </p:nvSpPr>
        <p:spPr>
          <a:xfrm>
            <a:off x="8966438" y="2545699"/>
            <a:ext cx="2612052" cy="2554517"/>
          </a:xfrm>
          <a:prstGeom prst="rect">
            <a:avLst/>
          </a:prstGeom>
          <a:solidFill>
            <a:schemeClr val="accent5">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ctr"/>
          <a:lstStyle/>
          <a:p>
            <a:pPr marL="0" marR="0" lvl="0" indent="0" defTabSz="914400" rtl="0" eaLnBrk="1" fontAlgn="auto" latinLnBrk="0" hangingPunct="1">
              <a:lnSpc>
                <a:spcPct val="110000"/>
              </a:lnSpc>
              <a:spcBef>
                <a:spcPts val="1200"/>
              </a:spcBef>
              <a:spcAft>
                <a:spcPts val="0"/>
              </a:spcAft>
              <a:buClr>
                <a:srgbClr val="3C2CDA"/>
              </a:buClr>
              <a:buSzTx/>
              <a:buFontTx/>
              <a:buNone/>
              <a:tabLst/>
              <a:defRPr/>
            </a:pPr>
            <a:r>
              <a:rPr kumimoji="0" lang="en-US" sz="1300" b="0" i="0" u="none" strike="noStrike" kern="1200" cap="none" spc="0" normalizeH="0" baseline="0" noProof="0">
                <a:ln>
                  <a:noFill/>
                </a:ln>
                <a:solidFill>
                  <a:srgbClr val="282828"/>
                </a:solidFill>
                <a:effectLst/>
                <a:uLnTx/>
                <a:uFillTx/>
                <a:latin typeface="Manrope" pitchFamily="2" charset="0"/>
              </a:rPr>
              <a:t>Build, Monitor and Recommend options and solutions for customers to optimize their spend, help better forecast future spend on Snowflake consumption by leveraging partner FinOps solutions and custom solutions as needed.</a:t>
            </a:r>
            <a:endParaRPr kumimoji="0" lang="en-US" sz="1300" b="0" i="0" u="none" strike="noStrike" kern="1200" cap="none" spc="0" normalizeH="0" baseline="0" noProof="0">
              <a:ln>
                <a:noFill/>
              </a:ln>
              <a:solidFill>
                <a:srgbClr val="FFFFFF"/>
              </a:solidFill>
              <a:effectLst/>
              <a:uLnTx/>
              <a:uFillTx/>
              <a:latin typeface="Manrope" pitchFamily="2" charset="0"/>
            </a:endParaRPr>
          </a:p>
        </p:txBody>
      </p:sp>
      <p:sp>
        <p:nvSpPr>
          <p:cNvPr id="23" name="Rectangle 22">
            <a:extLst>
              <a:ext uri="{FF2B5EF4-FFF2-40B4-BE49-F238E27FC236}">
                <a16:creationId xmlns:a16="http://schemas.microsoft.com/office/drawing/2014/main" id="{41A2E25B-484B-6C32-EA7A-211440ECDACD}"/>
              </a:ext>
            </a:extLst>
          </p:cNvPr>
          <p:cNvSpPr/>
          <p:nvPr/>
        </p:nvSpPr>
        <p:spPr>
          <a:xfrm>
            <a:off x="6184286" y="960023"/>
            <a:ext cx="2612052" cy="4271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14CBDE">
                    <a:lumMod val="60000"/>
                    <a:lumOff val="40000"/>
                  </a:srgbClr>
                </a:solidFill>
                <a:effectLst/>
                <a:uLnTx/>
                <a:uFillTx/>
                <a:latin typeface="Manrope" pitchFamily="2" charset="0"/>
              </a:rPr>
              <a:t>M</a:t>
            </a:r>
            <a:r>
              <a:rPr kumimoji="0" lang="en-US" sz="1400" b="1" i="0" u="none" strike="noStrike" kern="1200" cap="none" spc="0" normalizeH="0" baseline="0" noProof="0">
                <a:ln>
                  <a:noFill/>
                </a:ln>
                <a:solidFill>
                  <a:srgbClr val="FFFFFF"/>
                </a:solidFill>
                <a:effectLst/>
                <a:uLnTx/>
                <a:uFillTx/>
                <a:latin typeface="Manrope" pitchFamily="2" charset="0"/>
              </a:rPr>
              <a:t>aximize Value</a:t>
            </a:r>
          </a:p>
        </p:txBody>
      </p:sp>
      <p:sp>
        <p:nvSpPr>
          <p:cNvPr id="29" name="Rectangle 28">
            <a:extLst>
              <a:ext uri="{FF2B5EF4-FFF2-40B4-BE49-F238E27FC236}">
                <a16:creationId xmlns:a16="http://schemas.microsoft.com/office/drawing/2014/main" id="{6001BEB1-5106-0ECF-1DB1-B38F7350E62C}"/>
              </a:ext>
            </a:extLst>
          </p:cNvPr>
          <p:cNvSpPr/>
          <p:nvPr/>
        </p:nvSpPr>
        <p:spPr>
          <a:xfrm>
            <a:off x="6184286" y="2545699"/>
            <a:ext cx="2612052" cy="2554517"/>
          </a:xfrm>
          <a:prstGeom prst="rect">
            <a:avLst/>
          </a:prstGeom>
          <a:solidFill>
            <a:schemeClr val="accent5">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ctr"/>
          <a:lstStyle/>
          <a:p>
            <a:pPr marL="0" marR="0" lvl="0" indent="0" defTabSz="914400" rtl="0" eaLnBrk="1" fontAlgn="auto" latinLnBrk="0" hangingPunct="1">
              <a:lnSpc>
                <a:spcPct val="110000"/>
              </a:lnSpc>
              <a:spcBef>
                <a:spcPts val="1200"/>
              </a:spcBef>
              <a:spcAft>
                <a:spcPts val="0"/>
              </a:spcAft>
              <a:buClr>
                <a:srgbClr val="3C2CDA"/>
              </a:buClr>
              <a:buSzTx/>
              <a:buFontTx/>
              <a:buNone/>
              <a:tabLst/>
              <a:defRPr/>
            </a:pPr>
            <a:r>
              <a:rPr kumimoji="0" lang="en-US" sz="1300" b="0" i="0" u="none" strike="noStrike" kern="1200" cap="none" spc="0" normalizeH="0" baseline="0" noProof="0">
                <a:ln>
                  <a:noFill/>
                </a:ln>
                <a:solidFill>
                  <a:srgbClr val="282828"/>
                </a:solidFill>
                <a:effectLst/>
                <a:uLnTx/>
                <a:uFillTx/>
                <a:latin typeface="Manrope" pitchFamily="2" charset="0"/>
              </a:rPr>
              <a:t>Maximize customer investments in Snowflake Data &amp; AI cloud by delivering actionable insights, enabling customers to make right business decisions at right time, by leveraging Snowflake platform capabilities and features.</a:t>
            </a:r>
            <a:endParaRPr kumimoji="0" lang="en-US" sz="1300" b="0" i="0" u="none" strike="noStrike" kern="1200" cap="none" spc="0" normalizeH="0" baseline="0" noProof="0">
              <a:ln>
                <a:noFill/>
              </a:ln>
              <a:solidFill>
                <a:srgbClr val="FFFFFF"/>
              </a:solidFill>
              <a:effectLst/>
              <a:uLnTx/>
              <a:uFillTx/>
              <a:latin typeface="Manrope" pitchFamily="2" charset="0"/>
            </a:endParaRPr>
          </a:p>
        </p:txBody>
      </p:sp>
      <p:sp>
        <p:nvSpPr>
          <p:cNvPr id="3" name="Text Placeholder 2">
            <a:extLst>
              <a:ext uri="{FF2B5EF4-FFF2-40B4-BE49-F238E27FC236}">
                <a16:creationId xmlns:a16="http://schemas.microsoft.com/office/drawing/2014/main" id="{7CECDF54-D7A5-DF74-10CA-9E9543CD54EC}"/>
              </a:ext>
            </a:extLst>
          </p:cNvPr>
          <p:cNvSpPr>
            <a:spLocks noGrp="1"/>
          </p:cNvSpPr>
          <p:nvPr>
            <p:ph type="body" sz="quarter" idx="15"/>
          </p:nvPr>
        </p:nvSpPr>
        <p:spPr>
          <a:xfrm flipH="1">
            <a:off x="623888" y="457200"/>
            <a:ext cx="8172450" cy="244101"/>
          </a:xfrm>
        </p:spPr>
        <p:txBody>
          <a:bodyPr/>
          <a:lstStyle/>
          <a:p>
            <a:r>
              <a:rPr lang="en-US">
                <a:latin typeface="Manrope" pitchFamily="2" charset="0"/>
              </a:rPr>
              <a:t>Our Strategy &amp; Themes driving our advocacy for our Snowflake Customers </a:t>
            </a:r>
          </a:p>
        </p:txBody>
      </p:sp>
      <p:grpSp>
        <p:nvGrpSpPr>
          <p:cNvPr id="50" name="Group 49">
            <a:extLst>
              <a:ext uri="{FF2B5EF4-FFF2-40B4-BE49-F238E27FC236}">
                <a16:creationId xmlns:a16="http://schemas.microsoft.com/office/drawing/2014/main" id="{5FB3252D-E4B4-01D1-3A84-C2149B07AEBF}"/>
              </a:ext>
            </a:extLst>
          </p:cNvPr>
          <p:cNvGrpSpPr/>
          <p:nvPr/>
        </p:nvGrpSpPr>
        <p:grpSpPr>
          <a:xfrm>
            <a:off x="1450992" y="1491427"/>
            <a:ext cx="950026" cy="950026"/>
            <a:chOff x="1450992" y="1491427"/>
            <a:chExt cx="950026" cy="950026"/>
          </a:xfrm>
        </p:grpSpPr>
        <p:sp>
          <p:nvSpPr>
            <p:cNvPr id="10" name="Oval 9">
              <a:extLst>
                <a:ext uri="{FF2B5EF4-FFF2-40B4-BE49-F238E27FC236}">
                  <a16:creationId xmlns:a16="http://schemas.microsoft.com/office/drawing/2014/main" id="{8566615A-AE1D-79D4-78D6-511E49B47298}"/>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3C9ACFE-1B04-4616-7CC9-9A6ADD44CA52}"/>
                </a:ext>
              </a:extLst>
            </p:cNvPr>
            <p:cNvGrpSpPr/>
            <p:nvPr/>
          </p:nvGrpSpPr>
          <p:grpSpPr>
            <a:xfrm>
              <a:off x="1533434" y="1573868"/>
              <a:ext cx="785145" cy="785145"/>
              <a:chOff x="1450993" y="1491427"/>
              <a:chExt cx="950026" cy="950026"/>
            </a:xfrm>
          </p:grpSpPr>
          <p:sp>
            <p:nvSpPr>
              <p:cNvPr id="8" name="Oval 7">
                <a:extLst>
                  <a:ext uri="{FF2B5EF4-FFF2-40B4-BE49-F238E27FC236}">
                    <a16:creationId xmlns:a16="http://schemas.microsoft.com/office/drawing/2014/main" id="{0850E64B-47C4-289C-4878-1F00C2655D63}"/>
                  </a:ext>
                </a:extLst>
              </p:cNvPr>
              <p:cNvSpPr/>
              <p:nvPr/>
            </p:nvSpPr>
            <p:spPr>
              <a:xfrm>
                <a:off x="1450993" y="1491427"/>
                <a:ext cx="950026" cy="95002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A34EB6F6-86E8-358D-C8E6-03B496FA66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95508" y="1629946"/>
                <a:ext cx="460995" cy="579358"/>
              </a:xfrm>
              <a:prstGeom prst="rect">
                <a:avLst/>
              </a:prstGeom>
            </p:spPr>
          </p:pic>
        </p:grpSp>
      </p:grpSp>
      <p:grpSp>
        <p:nvGrpSpPr>
          <p:cNvPr id="20" name="Group 19">
            <a:extLst>
              <a:ext uri="{FF2B5EF4-FFF2-40B4-BE49-F238E27FC236}">
                <a16:creationId xmlns:a16="http://schemas.microsoft.com/office/drawing/2014/main" id="{5696D9A6-F041-CB8A-9F29-37E32597ADD0}"/>
              </a:ext>
            </a:extLst>
          </p:cNvPr>
          <p:cNvGrpSpPr/>
          <p:nvPr/>
        </p:nvGrpSpPr>
        <p:grpSpPr>
          <a:xfrm>
            <a:off x="4273470" y="1534610"/>
            <a:ext cx="863660" cy="863660"/>
            <a:chOff x="4230287" y="1491427"/>
            <a:chExt cx="950026" cy="950026"/>
          </a:xfrm>
        </p:grpSpPr>
        <p:grpSp>
          <p:nvGrpSpPr>
            <p:cNvPr id="19" name="Group 18">
              <a:extLst>
                <a:ext uri="{FF2B5EF4-FFF2-40B4-BE49-F238E27FC236}">
                  <a16:creationId xmlns:a16="http://schemas.microsoft.com/office/drawing/2014/main" id="{C76F139D-666B-07E0-90AA-71ECE86DECF2}"/>
                </a:ext>
              </a:extLst>
            </p:cNvPr>
            <p:cNvGrpSpPr/>
            <p:nvPr/>
          </p:nvGrpSpPr>
          <p:grpSpPr>
            <a:xfrm>
              <a:off x="4230287" y="1491427"/>
              <a:ext cx="950026" cy="950026"/>
              <a:chOff x="4508299" y="1491427"/>
              <a:chExt cx="950026" cy="950026"/>
            </a:xfrm>
          </p:grpSpPr>
          <p:sp>
            <p:nvSpPr>
              <p:cNvPr id="15" name="Oval 14">
                <a:extLst>
                  <a:ext uri="{FF2B5EF4-FFF2-40B4-BE49-F238E27FC236}">
                    <a16:creationId xmlns:a16="http://schemas.microsoft.com/office/drawing/2014/main" id="{107EC22C-85DD-3A38-190C-F5E31A6AF3BC}"/>
                  </a:ext>
                </a:extLst>
              </p:cNvPr>
              <p:cNvSpPr/>
              <p:nvPr/>
            </p:nvSpPr>
            <p:spPr>
              <a:xfrm>
                <a:off x="4508299"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8804B5E-B05A-92FD-DC66-B72E3514BD51}"/>
                  </a:ext>
                </a:extLst>
              </p:cNvPr>
              <p:cNvSpPr/>
              <p:nvPr/>
            </p:nvSpPr>
            <p:spPr>
              <a:xfrm>
                <a:off x="4551482" y="1534610"/>
                <a:ext cx="863660" cy="86366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Graphic 13">
              <a:extLst>
                <a:ext uri="{FF2B5EF4-FFF2-40B4-BE49-F238E27FC236}">
                  <a16:creationId xmlns:a16="http://schemas.microsoft.com/office/drawing/2014/main" id="{4D6C55A9-DA2E-1DE3-41D6-6C0AAE037A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81420" y="1742559"/>
              <a:ext cx="447760" cy="447760"/>
            </a:xfrm>
            <a:prstGeom prst="rect">
              <a:avLst/>
            </a:prstGeom>
          </p:spPr>
        </p:pic>
      </p:grpSp>
      <p:grpSp>
        <p:nvGrpSpPr>
          <p:cNvPr id="47" name="Group 46">
            <a:extLst>
              <a:ext uri="{FF2B5EF4-FFF2-40B4-BE49-F238E27FC236}">
                <a16:creationId xmlns:a16="http://schemas.microsoft.com/office/drawing/2014/main" id="{31951DCA-4C34-FAEA-AD0D-05D2E23BF7BF}"/>
              </a:ext>
            </a:extLst>
          </p:cNvPr>
          <p:cNvGrpSpPr/>
          <p:nvPr/>
        </p:nvGrpSpPr>
        <p:grpSpPr>
          <a:xfrm>
            <a:off x="7058482" y="1534610"/>
            <a:ext cx="863660" cy="863660"/>
            <a:chOff x="7015299" y="1491427"/>
            <a:chExt cx="950026" cy="950026"/>
          </a:xfrm>
        </p:grpSpPr>
        <p:grpSp>
          <p:nvGrpSpPr>
            <p:cNvPr id="33" name="Group 32">
              <a:extLst>
                <a:ext uri="{FF2B5EF4-FFF2-40B4-BE49-F238E27FC236}">
                  <a16:creationId xmlns:a16="http://schemas.microsoft.com/office/drawing/2014/main" id="{495B709D-AC1F-9455-AB48-76B83509644B}"/>
                </a:ext>
              </a:extLst>
            </p:cNvPr>
            <p:cNvGrpSpPr/>
            <p:nvPr/>
          </p:nvGrpSpPr>
          <p:grpSpPr>
            <a:xfrm>
              <a:off x="7015299" y="1491427"/>
              <a:ext cx="950026" cy="950026"/>
              <a:chOff x="4508299" y="1491427"/>
              <a:chExt cx="950026" cy="950026"/>
            </a:xfrm>
          </p:grpSpPr>
          <p:sp>
            <p:nvSpPr>
              <p:cNvPr id="35" name="Oval 34">
                <a:extLst>
                  <a:ext uri="{FF2B5EF4-FFF2-40B4-BE49-F238E27FC236}">
                    <a16:creationId xmlns:a16="http://schemas.microsoft.com/office/drawing/2014/main" id="{DA007DFA-0DF1-70E1-AE76-D323FE10D0DD}"/>
                  </a:ext>
                </a:extLst>
              </p:cNvPr>
              <p:cNvSpPr/>
              <p:nvPr/>
            </p:nvSpPr>
            <p:spPr>
              <a:xfrm>
                <a:off x="4508299"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FF7CD47-B02D-A11A-C9B5-5EE5E5A160A7}"/>
                  </a:ext>
                </a:extLst>
              </p:cNvPr>
              <p:cNvSpPr/>
              <p:nvPr/>
            </p:nvSpPr>
            <p:spPr>
              <a:xfrm>
                <a:off x="4551482" y="1534610"/>
                <a:ext cx="863660" cy="86366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c 38">
              <a:extLst>
                <a:ext uri="{FF2B5EF4-FFF2-40B4-BE49-F238E27FC236}">
                  <a16:creationId xmlns:a16="http://schemas.microsoft.com/office/drawing/2014/main" id="{C17A3695-F80C-46AC-17DE-4A69FC8DCD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2465" y="1678593"/>
              <a:ext cx="575694" cy="575694"/>
            </a:xfrm>
            <a:prstGeom prst="rect">
              <a:avLst/>
            </a:prstGeom>
          </p:spPr>
        </p:pic>
      </p:grpSp>
      <p:grpSp>
        <p:nvGrpSpPr>
          <p:cNvPr id="46" name="Group 45">
            <a:extLst>
              <a:ext uri="{FF2B5EF4-FFF2-40B4-BE49-F238E27FC236}">
                <a16:creationId xmlns:a16="http://schemas.microsoft.com/office/drawing/2014/main" id="{93B52150-64F9-26C6-9046-653860B68C73}"/>
              </a:ext>
            </a:extLst>
          </p:cNvPr>
          <p:cNvGrpSpPr/>
          <p:nvPr/>
        </p:nvGrpSpPr>
        <p:grpSpPr>
          <a:xfrm>
            <a:off x="9736368" y="1534610"/>
            <a:ext cx="863660" cy="863660"/>
            <a:chOff x="9693185" y="1491427"/>
            <a:chExt cx="950026" cy="950026"/>
          </a:xfrm>
        </p:grpSpPr>
        <p:grpSp>
          <p:nvGrpSpPr>
            <p:cNvPr id="42" name="Group 41">
              <a:extLst>
                <a:ext uri="{FF2B5EF4-FFF2-40B4-BE49-F238E27FC236}">
                  <a16:creationId xmlns:a16="http://schemas.microsoft.com/office/drawing/2014/main" id="{00BF51D3-D212-782B-D6D7-6DA30C516E97}"/>
                </a:ext>
              </a:extLst>
            </p:cNvPr>
            <p:cNvGrpSpPr/>
            <p:nvPr/>
          </p:nvGrpSpPr>
          <p:grpSpPr>
            <a:xfrm>
              <a:off x="9693185" y="1491427"/>
              <a:ext cx="950026" cy="950026"/>
              <a:chOff x="4508299" y="1491427"/>
              <a:chExt cx="950026" cy="950026"/>
            </a:xfrm>
          </p:grpSpPr>
          <p:sp>
            <p:nvSpPr>
              <p:cNvPr id="43" name="Oval 42">
                <a:extLst>
                  <a:ext uri="{FF2B5EF4-FFF2-40B4-BE49-F238E27FC236}">
                    <a16:creationId xmlns:a16="http://schemas.microsoft.com/office/drawing/2014/main" id="{E1737846-938D-9DEF-CDCA-1AD5B28F2080}"/>
                  </a:ext>
                </a:extLst>
              </p:cNvPr>
              <p:cNvSpPr/>
              <p:nvPr/>
            </p:nvSpPr>
            <p:spPr>
              <a:xfrm>
                <a:off x="4508299"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8BB7493-9D99-5B52-2A86-E7445769D47E}"/>
                  </a:ext>
                </a:extLst>
              </p:cNvPr>
              <p:cNvSpPr/>
              <p:nvPr/>
            </p:nvSpPr>
            <p:spPr>
              <a:xfrm>
                <a:off x="4551482" y="1534610"/>
                <a:ext cx="863660" cy="86366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1" name="Graphic 40">
              <a:extLst>
                <a:ext uri="{FF2B5EF4-FFF2-40B4-BE49-F238E27FC236}">
                  <a16:creationId xmlns:a16="http://schemas.microsoft.com/office/drawing/2014/main" id="{57654802-61BF-35EA-BE1F-51DDB794239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05797" y="1712533"/>
              <a:ext cx="524801" cy="507811"/>
            </a:xfrm>
            <a:prstGeom prst="rect">
              <a:avLst/>
            </a:prstGeom>
          </p:spPr>
        </p:pic>
      </p:grpSp>
      <p:pic>
        <p:nvPicPr>
          <p:cNvPr id="49" name="Picture 48" descr="A blurry image of a blue and orange wave&#10;&#10;AI-generated content may be incorrect.">
            <a:extLst>
              <a:ext uri="{FF2B5EF4-FFF2-40B4-BE49-F238E27FC236}">
                <a16:creationId xmlns:a16="http://schemas.microsoft.com/office/drawing/2014/main" id="{A6ECEC1D-A8FA-116E-7EFE-81D42A4F4BB1}"/>
              </a:ext>
            </a:extLst>
          </p:cNvPr>
          <p:cNvPicPr>
            <a:picLocks noChangeAspect="1"/>
          </p:cNvPicPr>
          <p:nvPr/>
        </p:nvPicPr>
        <p:blipFill>
          <a:blip r:embed="rId7" cstate="email">
            <a:extLst>
              <a:ext uri="{28A0092B-C50C-407E-A947-70E740481C1C}">
                <a14:useLocalDpi xmlns:a14="http://schemas.microsoft.com/office/drawing/2010/main"/>
              </a:ext>
            </a:extLst>
          </a:blip>
          <a:srcRect/>
          <a:stretch/>
        </p:blipFill>
        <p:spPr>
          <a:xfrm>
            <a:off x="619980" y="5247645"/>
            <a:ext cx="10962336" cy="1135929"/>
          </a:xfrm>
          <a:prstGeom prst="rect">
            <a:avLst/>
          </a:prstGeom>
        </p:spPr>
      </p:pic>
    </p:spTree>
    <p:extLst>
      <p:ext uri="{BB962C8B-B14F-4D97-AF65-F5344CB8AC3E}">
        <p14:creationId xmlns:p14="http://schemas.microsoft.com/office/powerpoint/2010/main" val="976257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4DD08-967A-5C96-E881-A6C98808AE23}"/>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6A4B358D-93FB-B52F-02AB-2BAD69C0BED4}"/>
              </a:ext>
            </a:extLst>
          </p:cNvPr>
          <p:cNvGrpSpPr/>
          <p:nvPr/>
        </p:nvGrpSpPr>
        <p:grpSpPr>
          <a:xfrm>
            <a:off x="652880" y="926342"/>
            <a:ext cx="785145" cy="785145"/>
            <a:chOff x="1450992" y="1491427"/>
            <a:chExt cx="950026" cy="950026"/>
          </a:xfrm>
        </p:grpSpPr>
        <p:sp>
          <p:nvSpPr>
            <p:cNvPr id="32" name="Oval 31">
              <a:extLst>
                <a:ext uri="{FF2B5EF4-FFF2-40B4-BE49-F238E27FC236}">
                  <a16:creationId xmlns:a16="http://schemas.microsoft.com/office/drawing/2014/main" id="{69A8D568-0D82-E4A9-CC62-44A8493D91ED}"/>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2530A54-AA58-7A90-244C-FFA72B868621}"/>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Placeholder 1">
            <a:extLst>
              <a:ext uri="{FF2B5EF4-FFF2-40B4-BE49-F238E27FC236}">
                <a16:creationId xmlns:a16="http://schemas.microsoft.com/office/drawing/2014/main" id="{B621BEE6-1A5A-2FA5-B481-271EA7D62C23}"/>
              </a:ext>
            </a:extLst>
          </p:cNvPr>
          <p:cNvSpPr>
            <a:spLocks noGrp="1"/>
          </p:cNvSpPr>
          <p:nvPr>
            <p:ph type="body" sz="quarter" idx="15"/>
          </p:nvPr>
        </p:nvSpPr>
        <p:spPr>
          <a:xfrm flipH="1">
            <a:off x="623888" y="457200"/>
            <a:ext cx="8172450" cy="244101"/>
          </a:xfrm>
        </p:spPr>
        <p:txBody>
          <a:bodyPr/>
          <a:lstStyle/>
          <a:p>
            <a:r>
              <a:rPr lang="en-US"/>
              <a:t> Strategy &amp; Advisory on Snowflake</a:t>
            </a:r>
            <a:endParaRPr lang="en-US" noProof="0"/>
          </a:p>
        </p:txBody>
      </p:sp>
      <p:sp>
        <p:nvSpPr>
          <p:cNvPr id="10" name="Rectangle: Rounded Corners 18">
            <a:extLst>
              <a:ext uri="{FF2B5EF4-FFF2-40B4-BE49-F238E27FC236}">
                <a16:creationId xmlns:a16="http://schemas.microsoft.com/office/drawing/2014/main" id="{AF42CFCC-688D-C2D3-07EC-1486B4C26907}"/>
              </a:ext>
            </a:extLst>
          </p:cNvPr>
          <p:cNvSpPr/>
          <p:nvPr/>
        </p:nvSpPr>
        <p:spPr>
          <a:xfrm>
            <a:off x="623888" y="1812336"/>
            <a:ext cx="10932238" cy="944976"/>
          </a:xfrm>
          <a:prstGeom prst="roundRect">
            <a:avLst>
              <a:gd name="adj" fmla="val 0"/>
            </a:avLst>
          </a:prstGeom>
          <a:solidFill>
            <a:srgbClr val="EEEFF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anrope"/>
              <a:ea typeface="Helvetica Neue"/>
              <a:cs typeface="Helvetica Neue"/>
            </a:endParaRPr>
          </a:p>
        </p:txBody>
      </p:sp>
      <p:sp>
        <p:nvSpPr>
          <p:cNvPr id="20" name="TextBox 19">
            <a:extLst>
              <a:ext uri="{FF2B5EF4-FFF2-40B4-BE49-F238E27FC236}">
                <a16:creationId xmlns:a16="http://schemas.microsoft.com/office/drawing/2014/main" id="{0E11C03C-6892-BB01-678D-63DE31C7777A}"/>
              </a:ext>
            </a:extLst>
          </p:cNvPr>
          <p:cNvSpPr txBox="1"/>
          <p:nvPr/>
        </p:nvSpPr>
        <p:spPr>
          <a:xfrm>
            <a:off x="6725862" y="1923618"/>
            <a:ext cx="4502277" cy="646331"/>
          </a:xfrm>
          <a:prstGeom prst="rect">
            <a:avLst/>
          </a:prstGeom>
          <a:noFill/>
        </p:spPr>
        <p:txBody>
          <a:bodyPr wrap="square">
            <a:spAutoFit/>
          </a:body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Tiger Team of consultants </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Prebuilt Assessment Questionnaires </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Platforms and Partnership play</a:t>
            </a:r>
          </a:p>
        </p:txBody>
      </p:sp>
      <p:sp>
        <p:nvSpPr>
          <p:cNvPr id="46" name="Title 29">
            <a:extLst>
              <a:ext uri="{FF2B5EF4-FFF2-40B4-BE49-F238E27FC236}">
                <a16:creationId xmlns:a16="http://schemas.microsoft.com/office/drawing/2014/main" id="{36C32082-127E-6D94-DB64-C71C47633DFB}"/>
              </a:ext>
            </a:extLst>
          </p:cNvPr>
          <p:cNvSpPr txBox="1">
            <a:spLocks/>
          </p:cNvSpPr>
          <p:nvPr/>
        </p:nvSpPr>
        <p:spPr>
          <a:xfrm>
            <a:off x="1568267" y="1170132"/>
            <a:ext cx="9999847"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400" b="0" u="none" strike="noStrike" kern="1200" cap="none" spc="0" normalizeH="0" baseline="0" noProof="0">
                <a:ln>
                  <a:noFill/>
                </a:ln>
                <a:solidFill>
                  <a:srgbClr val="000000"/>
                </a:solidFill>
                <a:effectLst/>
                <a:uLnTx/>
                <a:uFillTx/>
                <a:latin typeface="Manrope"/>
                <a:ea typeface="Helvetica Neue Medium"/>
                <a:cs typeface="Helvetica Neue Medium"/>
              </a:rPr>
              <a:t>We want to be a trusted advisor to CDOs/CIOs on choosing </a:t>
            </a:r>
            <a:r>
              <a:rPr lang="en-US" sz="1400">
                <a:solidFill>
                  <a:srgbClr val="000000"/>
                </a:solidFill>
                <a:latin typeface="Manrope"/>
                <a:ea typeface="Helvetica Neue Medium"/>
                <a:cs typeface="Helvetica Neue Medium"/>
              </a:rPr>
              <a:t>right Data &amp; AI platform and maximize the platform adoption to deliver intended business outcomes.</a:t>
            </a:r>
            <a:endParaRPr kumimoji="0" lang="en-US" sz="1400" b="0" u="none" strike="noStrike" kern="1200" cap="none" spc="0" normalizeH="0" baseline="0" noProof="0">
              <a:ln>
                <a:noFill/>
              </a:ln>
              <a:solidFill>
                <a:srgbClr val="000000"/>
              </a:solidFill>
              <a:effectLst/>
              <a:uLnTx/>
              <a:uFillTx/>
              <a:latin typeface="Manrope"/>
              <a:ea typeface="Helvetica Neue Medium"/>
              <a:cs typeface="Helvetica Neue Medium"/>
            </a:endParaRPr>
          </a:p>
        </p:txBody>
      </p:sp>
      <p:grpSp>
        <p:nvGrpSpPr>
          <p:cNvPr id="21" name="Group 20">
            <a:extLst>
              <a:ext uri="{FF2B5EF4-FFF2-40B4-BE49-F238E27FC236}">
                <a16:creationId xmlns:a16="http://schemas.microsoft.com/office/drawing/2014/main" id="{BBC68ADD-C957-F424-89D7-8DB37078A2C0}"/>
              </a:ext>
            </a:extLst>
          </p:cNvPr>
          <p:cNvGrpSpPr/>
          <p:nvPr/>
        </p:nvGrpSpPr>
        <p:grpSpPr>
          <a:xfrm>
            <a:off x="623887" y="2989338"/>
            <a:ext cx="2759761" cy="3384869"/>
            <a:chOff x="382469" y="2434148"/>
            <a:chExt cx="2727736" cy="3384869"/>
          </a:xfrm>
        </p:grpSpPr>
        <p:sp>
          <p:nvSpPr>
            <p:cNvPr id="6" name="Rectangle: Rounded Corners 18">
              <a:extLst>
                <a:ext uri="{FF2B5EF4-FFF2-40B4-BE49-F238E27FC236}">
                  <a16:creationId xmlns:a16="http://schemas.microsoft.com/office/drawing/2014/main" id="{683D4A0A-72FD-0254-1DDC-B01C64DC4D20}"/>
                </a:ext>
              </a:extLst>
            </p:cNvPr>
            <p:cNvSpPr/>
            <p:nvPr/>
          </p:nvSpPr>
          <p:spPr>
            <a:xfrm>
              <a:off x="382469" y="2525605"/>
              <a:ext cx="2727736" cy="3293412"/>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7" name="Rectangle: Rounded Corners 18">
              <a:extLst>
                <a:ext uri="{FF2B5EF4-FFF2-40B4-BE49-F238E27FC236}">
                  <a16:creationId xmlns:a16="http://schemas.microsoft.com/office/drawing/2014/main" id="{5FCA60C7-F0F0-5388-85CC-5DFDC4A424AA}"/>
                </a:ext>
              </a:extLst>
            </p:cNvPr>
            <p:cNvSpPr/>
            <p:nvPr/>
          </p:nvSpPr>
          <p:spPr>
            <a:xfrm>
              <a:off x="395157" y="2434148"/>
              <a:ext cx="2715048" cy="356878"/>
            </a:xfrm>
            <a:prstGeom prst="roundRect">
              <a:avLst>
                <a:gd name="adj" fmla="val 0"/>
              </a:avLst>
            </a:prstGeom>
            <a:solidFill>
              <a:srgbClr val="08126E"/>
            </a:solidFill>
            <a:ln w="3175">
              <a:noFill/>
            </a:ln>
            <a:effectLst/>
          </p:spPr>
          <p:txBody>
            <a:bodyPr lIns="0" tIns="0" rIns="0" bIns="0" anchor="ctr" anchorCtr="0"/>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Our Offerings</a:t>
              </a:r>
            </a:p>
          </p:txBody>
        </p:sp>
        <p:sp>
          <p:nvSpPr>
            <p:cNvPr id="45" name="TextBox 44">
              <a:extLst>
                <a:ext uri="{FF2B5EF4-FFF2-40B4-BE49-F238E27FC236}">
                  <a16:creationId xmlns:a16="http://schemas.microsoft.com/office/drawing/2014/main" id="{27FA7934-05E1-DC5C-BABA-FD0A69FEF1D2}"/>
                </a:ext>
              </a:extLst>
            </p:cNvPr>
            <p:cNvSpPr txBox="1"/>
            <p:nvPr/>
          </p:nvSpPr>
          <p:spPr>
            <a:xfrm>
              <a:off x="491810" y="3025616"/>
              <a:ext cx="2268242" cy="2246769"/>
            </a:xfrm>
            <a:prstGeom prst="rect">
              <a:avLst/>
            </a:prstGeom>
            <a:noFill/>
          </p:spPr>
          <p:txBody>
            <a:bodyPr wrap="square" lIns="91440" tIns="0" rIns="0" bIns="0" rtlCol="0">
              <a:spAutoFit/>
            </a:bodyPr>
            <a:lstStyle/>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&amp; AI Strategy on Snowflake</a:t>
              </a:r>
            </a:p>
            <a:p>
              <a:pPr marL="171450" indent="-171450">
                <a:spcBef>
                  <a:spcPts val="600"/>
                </a:spcBef>
                <a:buClr>
                  <a:schemeClr val="accent1"/>
                </a:buClr>
                <a:buFont typeface="Arial" panose="020B0604020202020204" pitchFamily="34" charset="0"/>
                <a:buChar char="•"/>
                <a:defRPr/>
              </a:pPr>
              <a:r>
                <a:rPr kumimoji="0" lang="en-US" sz="1050" b="0" i="0" u="none" strike="noStrike" kern="1200" cap="none" spc="0" normalizeH="0" baseline="0" noProof="0">
                  <a:ln w="0"/>
                  <a:solidFill>
                    <a:srgbClr val="000000"/>
                  </a:solidFill>
                  <a:effectLst/>
                  <a:uLnTx/>
                  <a:uFillTx/>
                  <a:latin typeface="Manrope"/>
                  <a:ea typeface="Helvetica Neue"/>
                  <a:cs typeface="Calibri" panose="020F0502020204030204" pitchFamily="34" charset="0"/>
                </a:rPr>
                <a:t>Implementation Roadmap</a:t>
              </a:r>
            </a:p>
            <a:p>
              <a:pPr marL="171450" indent="-171450">
                <a:spcBef>
                  <a:spcPts val="600"/>
                </a:spcBef>
                <a:buClr>
                  <a:schemeClr val="accent1"/>
                </a:buClr>
                <a:buFont typeface="Arial" panose="020B0604020202020204" pitchFamily="34" charset="0"/>
                <a:buChar char="•"/>
                <a:defRPr/>
              </a:pPr>
              <a:r>
                <a:rPr kumimoji="0" lang="en-US" sz="1050" b="0" i="0" u="none" strike="noStrike" kern="1200" cap="none" spc="0" normalizeH="0" baseline="0" noProof="0">
                  <a:ln w="0"/>
                  <a:solidFill>
                    <a:srgbClr val="000000"/>
                  </a:solidFill>
                  <a:effectLst/>
                  <a:uLnTx/>
                  <a:uFillTx/>
                  <a:latin typeface="Manrope"/>
                  <a:ea typeface="Helvetica Neue"/>
                  <a:cs typeface="Calibri" panose="020F0502020204030204" pitchFamily="34" charset="0"/>
                </a:rPr>
                <a:t>Platform Readiness Assessment</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kumimoji="0" lang="en-US" sz="1050" b="0" i="0" u="none" strike="noStrike" kern="1200" cap="none" spc="0" normalizeH="0" baseline="0" noProof="0">
                  <a:ln w="0"/>
                  <a:solidFill>
                    <a:srgbClr val="000000"/>
                  </a:solidFill>
                  <a:effectLst/>
                  <a:uLnTx/>
                  <a:uFillTx/>
                  <a:latin typeface="Manrope"/>
                  <a:ea typeface="Helvetica Neue"/>
                  <a:cs typeface="Calibri" panose="020F0502020204030204" pitchFamily="34" charset="0"/>
                </a:rPr>
                <a:t>Health Check Assessment</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kumimoji="0" lang="en-US" sz="1050" b="0" i="0" u="none" strike="noStrike" kern="1200" cap="none" spc="0" normalizeH="0" baseline="0" noProof="0">
                  <a:ln w="0"/>
                  <a:solidFill>
                    <a:srgbClr val="000000"/>
                  </a:solidFill>
                  <a:effectLst/>
                  <a:uLnTx/>
                  <a:uFillTx/>
                  <a:latin typeface="Manrope"/>
                  <a:ea typeface="Helvetica Neue"/>
                  <a:cs typeface="Calibri" panose="020F0502020204030204" pitchFamily="34" charset="0"/>
                </a:rPr>
                <a:t> </a:t>
              </a:r>
              <a:r>
                <a:rPr lang="en-US" sz="1050">
                  <a:ln w="0"/>
                  <a:solidFill>
                    <a:srgbClr val="000000"/>
                  </a:solidFill>
                  <a:latin typeface="Manrope"/>
                  <a:ea typeface="Helvetica Neue"/>
                  <a:cs typeface="Calibri" panose="020F0502020204030204" pitchFamily="34" charset="0"/>
                </a:rPr>
                <a:t>Data Observability &amp; FinOps on Snowflake</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Ecosystem Technology evaluation</a:t>
              </a:r>
            </a:p>
            <a:p>
              <a:pPr marR="0" lvl="0" algn="l" defTabSz="914400" rtl="0" eaLnBrk="1" fontAlgn="auto" latinLnBrk="0" hangingPunct="1">
                <a:spcBef>
                  <a:spcPts val="600"/>
                </a:spcBef>
                <a:buClr>
                  <a:schemeClr val="accent1"/>
                </a:buClr>
                <a:buSzTx/>
                <a:tabLst/>
                <a:defRPr/>
              </a:pPr>
              <a:endParaRPr lang="en-US" sz="1100">
                <a:ln w="0"/>
                <a:solidFill>
                  <a:srgbClr val="000000"/>
                </a:solidFill>
                <a:latin typeface="Manrope"/>
                <a:ea typeface="Helvetica Neue"/>
                <a:cs typeface="Calibri" panose="020F0502020204030204" pitchFamily="34" charset="0"/>
              </a:endParaRPr>
            </a:p>
          </p:txBody>
        </p:sp>
      </p:grpSp>
      <p:grpSp>
        <p:nvGrpSpPr>
          <p:cNvPr id="27" name="Group 26">
            <a:extLst>
              <a:ext uri="{FF2B5EF4-FFF2-40B4-BE49-F238E27FC236}">
                <a16:creationId xmlns:a16="http://schemas.microsoft.com/office/drawing/2014/main" id="{02195C56-527A-A9C8-5680-430618BE1930}"/>
              </a:ext>
            </a:extLst>
          </p:cNvPr>
          <p:cNvGrpSpPr/>
          <p:nvPr/>
        </p:nvGrpSpPr>
        <p:grpSpPr>
          <a:xfrm>
            <a:off x="8716905" y="2998685"/>
            <a:ext cx="2851209" cy="3375522"/>
            <a:chOff x="9036899" y="2430426"/>
            <a:chExt cx="2823201" cy="3375522"/>
          </a:xfrm>
        </p:grpSpPr>
        <p:sp>
          <p:nvSpPr>
            <p:cNvPr id="16" name="Rectangle: Rounded Corners 18">
              <a:extLst>
                <a:ext uri="{FF2B5EF4-FFF2-40B4-BE49-F238E27FC236}">
                  <a16:creationId xmlns:a16="http://schemas.microsoft.com/office/drawing/2014/main" id="{A90BAE79-0F1C-099A-49EB-D85F4DD2F737}"/>
                </a:ext>
              </a:extLst>
            </p:cNvPr>
            <p:cNvSpPr/>
            <p:nvPr/>
          </p:nvSpPr>
          <p:spPr>
            <a:xfrm>
              <a:off x="9036899" y="2785278"/>
              <a:ext cx="2823201" cy="3020670"/>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28" name="Rectangle: Rounded Corners 18">
              <a:extLst>
                <a:ext uri="{FF2B5EF4-FFF2-40B4-BE49-F238E27FC236}">
                  <a16:creationId xmlns:a16="http://schemas.microsoft.com/office/drawing/2014/main" id="{5D86E450-2DA9-4D1B-7666-C80A69B4CCFB}"/>
                </a:ext>
              </a:extLst>
            </p:cNvPr>
            <p:cNvSpPr/>
            <p:nvPr/>
          </p:nvSpPr>
          <p:spPr>
            <a:xfrm>
              <a:off x="9036899" y="2430426"/>
              <a:ext cx="2823201" cy="356878"/>
            </a:xfrm>
            <a:prstGeom prst="roundRect">
              <a:avLst>
                <a:gd name="adj" fmla="val 0"/>
              </a:avLst>
            </a:prstGeom>
            <a:solidFill>
              <a:srgbClr val="08126E"/>
            </a:solidFill>
            <a:ln w="3175">
              <a:noFill/>
            </a:ln>
            <a:effectLst/>
          </p:spPr>
          <p:txBody>
            <a:bodyPr lIns="0" tIns="0" rIns="0" bIns="0" anchor="ctr" anchorCtr="0"/>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Outcomes Delivered</a:t>
              </a:r>
            </a:p>
          </p:txBody>
        </p:sp>
        <p:sp>
          <p:nvSpPr>
            <p:cNvPr id="15" name="Rectangle: Rounded Corners 18">
              <a:extLst>
                <a:ext uri="{FF2B5EF4-FFF2-40B4-BE49-F238E27FC236}">
                  <a16:creationId xmlns:a16="http://schemas.microsoft.com/office/drawing/2014/main" id="{1925B0D4-314B-4966-172F-7C92F096AF55}"/>
                </a:ext>
              </a:extLst>
            </p:cNvPr>
            <p:cNvSpPr/>
            <p:nvPr/>
          </p:nvSpPr>
          <p:spPr>
            <a:xfrm>
              <a:off x="9135312" y="2925518"/>
              <a:ext cx="2435792" cy="2239074"/>
            </a:xfrm>
            <a:prstGeom prst="roundRect">
              <a:avLst>
                <a:gd name="adj" fmla="val 0"/>
              </a:avLst>
            </a:prstGeom>
            <a:noFill/>
          </p:spPr>
          <p:txBody>
            <a:bodyPr wrap="square" lIns="91440" tIns="0" rIns="0" bIns="0" rtlCol="0">
              <a:spAutoFit/>
            </a:bodyPr>
            <a:lstStyle/>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Scaled 6+ accounts into 5M USD in Snowflake specific engagements</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$2</a:t>
              </a:r>
              <a:r>
                <a:rPr lang="en-US" sz="1050">
                  <a:solidFill>
                    <a:srgbClr val="000000"/>
                  </a:solidFill>
                  <a:latin typeface="Manrope"/>
                </a:rPr>
                <a:t> </a:t>
              </a:r>
              <a:r>
                <a:rPr kumimoji="0" lang="en-US" sz="1050" b="0" i="0" u="none" strike="noStrike" kern="1200" cap="none" spc="0" normalizeH="0" baseline="0" noProof="0">
                  <a:ln>
                    <a:noFill/>
                  </a:ln>
                  <a:solidFill>
                    <a:srgbClr val="000000"/>
                  </a:solidFill>
                  <a:effectLst/>
                  <a:uLnTx/>
                  <a:uFillTx/>
                  <a:latin typeface="Manrope"/>
                </a:rPr>
                <a:t>M Worth of Tech Debt Reduction for a Private Equity Customers.</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Evaluation and Pilots in Data Governance and Catalog space for a Mining customer</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lang="en-US" sz="1050">
                  <a:solidFill>
                    <a:srgbClr val="000000"/>
                  </a:solidFill>
                  <a:latin typeface="Manrope"/>
                </a:rPr>
                <a:t>Helped CDOs/CIOs for multiple customers to securing investments in Data &amp; AI by building successful ROI pitches.</a:t>
              </a:r>
              <a:endParaRPr kumimoji="0" lang="en-US" sz="1050" b="0" i="0" u="none" strike="noStrike" kern="1200" cap="none" spc="0" normalizeH="0" baseline="0" noProof="0">
                <a:ln>
                  <a:noFill/>
                </a:ln>
                <a:solidFill>
                  <a:srgbClr val="000000"/>
                </a:solidFill>
                <a:effectLst/>
                <a:uLnTx/>
                <a:uFillTx/>
                <a:latin typeface="Manrope"/>
              </a:endParaRP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endParaRPr kumimoji="0" lang="en-US" sz="1000" b="0" i="0" u="none" strike="noStrike" kern="1200" cap="none" spc="0" normalizeH="0" baseline="0" noProof="0">
                <a:ln w="0"/>
                <a:solidFill>
                  <a:srgbClr val="000000"/>
                </a:solidFill>
                <a:effectLst/>
                <a:uLnTx/>
                <a:uFillTx/>
                <a:latin typeface="Manrope"/>
                <a:ea typeface="Helvetica Neue"/>
                <a:cs typeface="Calibri" panose="020F0502020204030204" pitchFamily="34" charset="0"/>
              </a:endParaRPr>
            </a:p>
          </p:txBody>
        </p:sp>
      </p:grpSp>
      <p:pic>
        <p:nvPicPr>
          <p:cNvPr id="18" name="Picture 2" descr="undefined">
            <a:extLst>
              <a:ext uri="{FF2B5EF4-FFF2-40B4-BE49-F238E27FC236}">
                <a16:creationId xmlns:a16="http://schemas.microsoft.com/office/drawing/2014/main" id="{B4610C20-C116-8C80-C786-B06442B9249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22651" y="4771304"/>
            <a:ext cx="1235937" cy="22757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C60D9B36-EE8B-98B1-FFB3-C962F2AACC7D}"/>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307101" y="3597361"/>
            <a:ext cx="918108" cy="333189"/>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a:extLst>
              <a:ext uri="{FF2B5EF4-FFF2-40B4-BE49-F238E27FC236}">
                <a16:creationId xmlns:a16="http://schemas.microsoft.com/office/drawing/2014/main" id="{D930A39E-2210-83DD-79B4-A5CDDF5A118F}"/>
              </a:ext>
            </a:extLst>
          </p:cNvPr>
          <p:cNvGrpSpPr/>
          <p:nvPr/>
        </p:nvGrpSpPr>
        <p:grpSpPr>
          <a:xfrm>
            <a:off x="3431255" y="2985616"/>
            <a:ext cx="5242363" cy="3388591"/>
            <a:chOff x="3381720" y="2430426"/>
            <a:chExt cx="2639669" cy="3388591"/>
          </a:xfrm>
        </p:grpSpPr>
        <p:sp>
          <p:nvSpPr>
            <p:cNvPr id="38" name="Rectangle: Rounded Corners 18">
              <a:extLst>
                <a:ext uri="{FF2B5EF4-FFF2-40B4-BE49-F238E27FC236}">
                  <a16:creationId xmlns:a16="http://schemas.microsoft.com/office/drawing/2014/main" id="{300CF0E2-AE26-CDED-E014-BF7A2246695D}"/>
                </a:ext>
              </a:extLst>
            </p:cNvPr>
            <p:cNvSpPr/>
            <p:nvPr/>
          </p:nvSpPr>
          <p:spPr>
            <a:xfrm>
              <a:off x="3381720" y="2791025"/>
              <a:ext cx="2639669" cy="3027992"/>
            </a:xfrm>
            <a:prstGeom prst="roundRect">
              <a:avLst>
                <a:gd name="adj" fmla="val 0"/>
              </a:avLst>
            </a:prstGeom>
            <a:noFill/>
            <a:ln w="6350">
              <a:solidFill>
                <a:schemeClr val="accent5"/>
              </a:solid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1027" name="Rectangle: Rounded Corners 18">
              <a:extLst>
                <a:ext uri="{FF2B5EF4-FFF2-40B4-BE49-F238E27FC236}">
                  <a16:creationId xmlns:a16="http://schemas.microsoft.com/office/drawing/2014/main" id="{6A7506BF-4009-A098-0EEF-FBC0BE94BF8F}"/>
                </a:ext>
              </a:extLst>
            </p:cNvPr>
            <p:cNvSpPr/>
            <p:nvPr/>
          </p:nvSpPr>
          <p:spPr>
            <a:xfrm>
              <a:off x="3381720" y="2430426"/>
              <a:ext cx="2639669" cy="346870"/>
            </a:xfrm>
            <a:prstGeom prst="roundRect">
              <a:avLst>
                <a:gd name="adj" fmla="val 0"/>
              </a:avLst>
            </a:prstGeom>
            <a:solidFill>
              <a:srgbClr val="08126E"/>
            </a:solidFill>
            <a:ln w="3175">
              <a:noFill/>
            </a:ln>
            <a:effectLst/>
          </p:spPr>
          <p:txBody>
            <a:bodyPr lIns="0" tIns="0" rIns="0" bIns="0" anchor="ctr" anchorCtr="0"/>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Key Customers</a:t>
              </a:r>
            </a:p>
          </p:txBody>
        </p:sp>
      </p:grpSp>
      <p:sp>
        <p:nvSpPr>
          <p:cNvPr id="8" name="TextBox 7">
            <a:extLst>
              <a:ext uri="{FF2B5EF4-FFF2-40B4-BE49-F238E27FC236}">
                <a16:creationId xmlns:a16="http://schemas.microsoft.com/office/drawing/2014/main" id="{46CB3C20-66E1-1148-8A2E-3608A2CA0092}"/>
              </a:ext>
            </a:extLst>
          </p:cNvPr>
          <p:cNvSpPr txBox="1"/>
          <p:nvPr/>
        </p:nvSpPr>
        <p:spPr>
          <a:xfrm>
            <a:off x="2348206" y="1862684"/>
            <a:ext cx="1241830"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2400" spc="-100">
                <a:solidFill>
                  <a:srgbClr val="3C2CDA"/>
                </a:solidFill>
                <a:latin typeface="Manrope"/>
              </a:rPr>
              <a:t>10</a:t>
            </a:r>
            <a:r>
              <a:rPr kumimoji="0" lang="en-IN" sz="2400" i="0" u="none" strike="noStrike" kern="1200" cap="none" spc="-100" normalizeH="0" baseline="0" noProof="0">
                <a:ln>
                  <a:noFill/>
                </a:ln>
                <a:solidFill>
                  <a:srgbClr val="3C2CDA"/>
                </a:solidFill>
                <a:effectLst/>
                <a:uLnTx/>
                <a:uFillTx/>
                <a:latin typeface="Manrope"/>
              </a:rPr>
              <a: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New Workload Adoption</a:t>
            </a:r>
          </a:p>
        </p:txBody>
      </p:sp>
      <p:sp>
        <p:nvSpPr>
          <p:cNvPr id="12" name="TextBox 11">
            <a:extLst>
              <a:ext uri="{FF2B5EF4-FFF2-40B4-BE49-F238E27FC236}">
                <a16:creationId xmlns:a16="http://schemas.microsoft.com/office/drawing/2014/main" id="{8BAD7988-17DF-9EF7-BFB7-A3FCA6B30D6B}"/>
              </a:ext>
            </a:extLst>
          </p:cNvPr>
          <p:cNvSpPr txBox="1"/>
          <p:nvPr/>
        </p:nvSpPr>
        <p:spPr>
          <a:xfrm>
            <a:off x="3956396" y="1862684"/>
            <a:ext cx="1363582"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5+</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GenAI Solutions on Snowflake</a:t>
            </a:r>
          </a:p>
        </p:txBody>
      </p:sp>
      <p:sp>
        <p:nvSpPr>
          <p:cNvPr id="53" name="Rectangle 52">
            <a:extLst>
              <a:ext uri="{FF2B5EF4-FFF2-40B4-BE49-F238E27FC236}">
                <a16:creationId xmlns:a16="http://schemas.microsoft.com/office/drawing/2014/main" id="{B9297082-EED9-33B7-D110-9D874F13D2D7}"/>
              </a:ext>
            </a:extLst>
          </p:cNvPr>
          <p:cNvSpPr/>
          <p:nvPr/>
        </p:nvSpPr>
        <p:spPr>
          <a:xfrm>
            <a:off x="4692703" y="4813620"/>
            <a:ext cx="1350504" cy="17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1216916" rtl="0" eaLnBrk="1" fontAlgn="base" latinLnBrk="0" hangingPunct="1">
              <a:lnSpc>
                <a:spcPts val="1300"/>
              </a:lnSpc>
              <a:spcBef>
                <a:spcPts val="200"/>
              </a:spcBef>
              <a:spcAft>
                <a:spcPct val="0"/>
              </a:spcAft>
              <a:buClr>
                <a:srgbClr val="002060"/>
              </a:buClr>
              <a:buSzTx/>
              <a:buFontTx/>
              <a:buNone/>
              <a:tabLst/>
              <a:defRPr/>
            </a:pPr>
            <a:r>
              <a:rPr kumimoji="0" lang="en-US" sz="1200" b="1" i="0" u="none" strike="noStrike" kern="1200" cap="none" spc="0" normalizeH="0" baseline="0" noProof="0">
                <a:ln>
                  <a:noFill/>
                </a:ln>
                <a:solidFill>
                  <a:srgbClr val="FFFFFF"/>
                </a:solidFill>
                <a:effectLst/>
                <a:uLnTx/>
                <a:uFillTx/>
                <a:latin typeface="Manrope" pitchFamily="2" charset="0"/>
                <a:ea typeface="+mj-ea"/>
                <a:cs typeface="Segoe UI Semibold" panose="020B0502040204020203" pitchFamily="34" charset="0"/>
              </a:rPr>
              <a:t>Accelerators</a:t>
            </a:r>
          </a:p>
        </p:txBody>
      </p:sp>
      <p:pic>
        <p:nvPicPr>
          <p:cNvPr id="9" name="Picture 2">
            <a:extLst>
              <a:ext uri="{FF2B5EF4-FFF2-40B4-BE49-F238E27FC236}">
                <a16:creationId xmlns:a16="http://schemas.microsoft.com/office/drawing/2014/main" id="{36965428-3EB1-A668-363C-5BF264FE7742}"/>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515951" y="4630211"/>
            <a:ext cx="1597161" cy="4600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1BA5B337-6FA4-025A-F368-2602099DAB86}"/>
              </a:ext>
            </a:extLst>
          </p:cNvPr>
          <p:cNvSpPr txBox="1"/>
          <p:nvPr/>
        </p:nvSpPr>
        <p:spPr>
          <a:xfrm>
            <a:off x="686024" y="1862684"/>
            <a:ext cx="1295822"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20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Consulting Engagements</a:t>
            </a:r>
          </a:p>
        </p:txBody>
      </p:sp>
      <p:pic>
        <p:nvPicPr>
          <p:cNvPr id="4" name="Picture 22" descr="Carlyle Group logo in transparent PNG and vectorized SVG formats">
            <a:extLst>
              <a:ext uri="{FF2B5EF4-FFF2-40B4-BE49-F238E27FC236}">
                <a16:creationId xmlns:a16="http://schemas.microsoft.com/office/drawing/2014/main" id="{C1DB1853-95F0-A965-C59E-582178F6ADC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675512" y="3677938"/>
            <a:ext cx="1150472" cy="153012"/>
          </a:xfrm>
          <a:prstGeom prst="rect">
            <a:avLst/>
          </a:prstGeom>
          <a:noFill/>
          <a:extLst>
            <a:ext uri="{909E8E84-426E-40DD-AFC4-6F175D3DCCD1}">
              <a14:hiddenFill xmlns:a14="http://schemas.microsoft.com/office/drawing/2010/main">
                <a:solidFill>
                  <a:srgbClr val="FFFFFF"/>
                </a:solidFill>
              </a14:hiddenFill>
            </a:ext>
          </a:extLst>
        </p:spPr>
      </p:pic>
      <p:pic>
        <p:nvPicPr>
          <p:cNvPr id="23" name="Graphic 22" descr="Eye outline">
            <a:extLst>
              <a:ext uri="{FF2B5EF4-FFF2-40B4-BE49-F238E27FC236}">
                <a16:creationId xmlns:a16="http://schemas.microsoft.com/office/drawing/2014/main" id="{452E2B89-854B-FE57-3BFC-F2336D5A75E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3625" y="1030425"/>
            <a:ext cx="515918" cy="546088"/>
          </a:xfrm>
          <a:prstGeom prst="rect">
            <a:avLst/>
          </a:prstGeom>
        </p:spPr>
      </p:pic>
      <p:pic>
        <p:nvPicPr>
          <p:cNvPr id="3074" name="Picture 2" descr="Northern Trust logo in transparent PNG and vectorized SVG ...">
            <a:extLst>
              <a:ext uri="{FF2B5EF4-FFF2-40B4-BE49-F238E27FC236}">
                <a16:creationId xmlns:a16="http://schemas.microsoft.com/office/drawing/2014/main" id="{FC9BDBDD-9A12-701D-9A2C-08CC1CCEC8A5}"/>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5521686" y="4698994"/>
            <a:ext cx="1285936" cy="4016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F330BC8-BA63-DDD2-B65C-A70649B68932}"/>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5563006" y="5547599"/>
            <a:ext cx="1162856" cy="66363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4EBB52D-4EBF-E894-5AF1-C702E98CD566}"/>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563006" y="3560790"/>
            <a:ext cx="1079428" cy="449762"/>
          </a:xfrm>
          <a:prstGeom prst="rect">
            <a:avLst/>
          </a:prstGeom>
        </p:spPr>
      </p:pic>
    </p:spTree>
    <p:extLst>
      <p:ext uri="{BB962C8B-B14F-4D97-AF65-F5344CB8AC3E}">
        <p14:creationId xmlns:p14="http://schemas.microsoft.com/office/powerpoint/2010/main" val="2239181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0DEAF0-B166-45E5-C719-5B8376EE67FB}"/>
              </a:ext>
            </a:extLst>
          </p:cNvPr>
          <p:cNvSpPr>
            <a:spLocks noGrp="1"/>
          </p:cNvSpPr>
          <p:nvPr>
            <p:ph type="body" sz="quarter" idx="15"/>
          </p:nvPr>
        </p:nvSpPr>
        <p:spPr>
          <a:xfrm flipH="1">
            <a:off x="623887" y="457200"/>
            <a:ext cx="5618557" cy="244101"/>
          </a:xfrm>
        </p:spPr>
        <p:txBody>
          <a:bodyPr/>
          <a:lstStyle/>
          <a:p>
            <a:r>
              <a:rPr lang="en-US" noProof="0"/>
              <a:t>Key Success Stories – Strategy &amp; Advisory</a:t>
            </a:r>
          </a:p>
        </p:txBody>
      </p:sp>
      <p:sp>
        <p:nvSpPr>
          <p:cNvPr id="6" name="Rectangle 5">
            <a:extLst>
              <a:ext uri="{FF2B5EF4-FFF2-40B4-BE49-F238E27FC236}">
                <a16:creationId xmlns:a16="http://schemas.microsoft.com/office/drawing/2014/main" id="{5273118A-8A75-B4B3-4C88-FE291B1B085B}"/>
              </a:ext>
            </a:extLst>
          </p:cNvPr>
          <p:cNvSpPr/>
          <p:nvPr/>
        </p:nvSpPr>
        <p:spPr>
          <a:xfrm>
            <a:off x="623887" y="908050"/>
            <a:ext cx="4886462" cy="2463773"/>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1" name="Rectangle 10">
            <a:extLst>
              <a:ext uri="{FF2B5EF4-FFF2-40B4-BE49-F238E27FC236}">
                <a16:creationId xmlns:a16="http://schemas.microsoft.com/office/drawing/2014/main" id="{91443F98-7243-7873-2921-8A0DD8EBB8C6}"/>
              </a:ext>
            </a:extLst>
          </p:cNvPr>
          <p:cNvSpPr/>
          <p:nvPr/>
        </p:nvSpPr>
        <p:spPr>
          <a:xfrm>
            <a:off x="623887"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ED0BC5B-4709-8896-9EA7-333393B0F4D3}"/>
              </a:ext>
            </a:extLst>
          </p:cNvPr>
          <p:cNvSpPr txBox="1"/>
          <p:nvPr/>
        </p:nvSpPr>
        <p:spPr>
          <a:xfrm>
            <a:off x="718152"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8" name="TextBox 7">
            <a:extLst>
              <a:ext uri="{FF2B5EF4-FFF2-40B4-BE49-F238E27FC236}">
                <a16:creationId xmlns:a16="http://schemas.microsoft.com/office/drawing/2014/main" id="{27953D83-CB15-6758-8C36-4DA2E7DCDA92}"/>
              </a:ext>
            </a:extLst>
          </p:cNvPr>
          <p:cNvSpPr txBox="1"/>
          <p:nvPr/>
        </p:nvSpPr>
        <p:spPr>
          <a:xfrm>
            <a:off x="623886" y="1464325"/>
            <a:ext cx="4886462" cy="2015936"/>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Consulting partner for Major Cloud &amp; Data initiatives at LSEG. </a:t>
            </a:r>
          </a:p>
          <a:p>
            <a:pPr marL="171450" indent="-171450">
              <a:spcBef>
                <a:spcPts val="600"/>
              </a:spcBef>
              <a:buClr>
                <a:schemeClr val="accent1"/>
              </a:buClr>
              <a:buFont typeface="Arial" panose="020B0604020202020204" pitchFamily="34" charset="0"/>
              <a:buChar char="•"/>
            </a:pPr>
            <a:r>
              <a:rPr lang="en-US" sz="1000">
                <a:latin typeface="Manrope" pitchFamily="2" charset="0"/>
              </a:rPr>
              <a:t>First consultation, followed by execution for their migration of SQL Server based Data Platform to AWS Cloud resulting in </a:t>
            </a:r>
            <a:r>
              <a:rPr lang="en-US" sz="1000" b="1">
                <a:latin typeface="Manrope" pitchFamily="2" charset="0"/>
              </a:rPr>
              <a:t>1.2 M </a:t>
            </a:r>
            <a:r>
              <a:rPr lang="en-US" sz="1000" b="1"/>
              <a:t>Cost &amp; OPEX Savings.</a:t>
            </a:r>
            <a:endParaRPr lang="en-US" sz="1000" b="1">
              <a:latin typeface="Manrope" pitchFamily="2" charset="0"/>
            </a:endParaRPr>
          </a:p>
          <a:p>
            <a:pPr marL="171450" indent="-171450">
              <a:spcBef>
                <a:spcPts val="600"/>
              </a:spcBef>
              <a:buClr>
                <a:schemeClr val="accent1"/>
              </a:buClr>
              <a:buFont typeface="Arial" panose="020B0604020202020204" pitchFamily="34" charset="0"/>
              <a:buChar char="•"/>
            </a:pPr>
            <a:r>
              <a:rPr lang="en-US" sz="1000">
                <a:latin typeface="Manrope" pitchFamily="2" charset="0"/>
              </a:rPr>
              <a:t>Consulted for the migration of legacy finance applications to Snowflake resulting in more than</a:t>
            </a:r>
            <a:r>
              <a:rPr lang="en-US" sz="1000" b="1">
                <a:latin typeface="Manrope" pitchFamily="2" charset="0"/>
              </a:rPr>
              <a:t> 700K GBP per year on savings</a:t>
            </a:r>
          </a:p>
          <a:p>
            <a:pPr marL="171450" indent="-171450">
              <a:spcBef>
                <a:spcPts val="600"/>
              </a:spcBef>
              <a:buClr>
                <a:schemeClr val="accent1"/>
              </a:buClr>
              <a:buFont typeface="Arial" panose="020B0604020202020204" pitchFamily="34" charset="0"/>
              <a:buChar char="•"/>
            </a:pPr>
            <a:r>
              <a:rPr lang="en-US" sz="1000">
                <a:latin typeface="Manrope" pitchFamily="2" charset="0"/>
              </a:rPr>
              <a:t>Worked with CDO office to define the Center for Enablement for Snowflake.</a:t>
            </a:r>
          </a:p>
          <a:p>
            <a:pPr marL="171450" indent="-171450">
              <a:spcBef>
                <a:spcPts val="600"/>
              </a:spcBef>
              <a:buClr>
                <a:schemeClr val="accent1"/>
              </a:buClr>
              <a:buFont typeface="Arial" panose="020B0604020202020204" pitchFamily="34" charset="0"/>
              <a:buChar char="•"/>
            </a:pPr>
            <a:r>
              <a:rPr lang="en-US" sz="1000">
                <a:latin typeface="Manrope" pitchFamily="2" charset="0"/>
              </a:rPr>
              <a:t>Defined operating models, did maturity assessment and defined 6 months plan for Snowflake C4E at LSEG.</a:t>
            </a:r>
          </a:p>
          <a:p>
            <a:pPr marL="171450" indent="-171450">
              <a:spcBef>
                <a:spcPts val="600"/>
              </a:spcBef>
              <a:buClr>
                <a:schemeClr val="accent1"/>
              </a:buClr>
              <a:buFont typeface="Arial" panose="020B0604020202020204" pitchFamily="34" charset="0"/>
              <a:buChar char="•"/>
            </a:pPr>
            <a:r>
              <a:rPr lang="en-US" sz="1000">
                <a:latin typeface="Manrope" pitchFamily="2" charset="0"/>
              </a:rPr>
              <a:t>Also defined the initial security setup on Snowflake &amp; AWS to meet first Snowflake rollout requirements.</a:t>
            </a:r>
          </a:p>
        </p:txBody>
      </p:sp>
      <p:sp>
        <p:nvSpPr>
          <p:cNvPr id="15" name="Rectangle 14">
            <a:extLst>
              <a:ext uri="{FF2B5EF4-FFF2-40B4-BE49-F238E27FC236}">
                <a16:creationId xmlns:a16="http://schemas.microsoft.com/office/drawing/2014/main" id="{3608E998-3023-1A1F-2656-8C6335A8FA9E}"/>
              </a:ext>
            </a:extLst>
          </p:cNvPr>
          <p:cNvSpPr/>
          <p:nvPr/>
        </p:nvSpPr>
        <p:spPr>
          <a:xfrm>
            <a:off x="5639936" y="908050"/>
            <a:ext cx="4886462" cy="2463773"/>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6" name="Rectangle 15">
            <a:extLst>
              <a:ext uri="{FF2B5EF4-FFF2-40B4-BE49-F238E27FC236}">
                <a16:creationId xmlns:a16="http://schemas.microsoft.com/office/drawing/2014/main" id="{ABB9EFA9-99FF-5B82-0769-EED10E5FDB8F}"/>
              </a:ext>
            </a:extLst>
          </p:cNvPr>
          <p:cNvSpPr/>
          <p:nvPr/>
        </p:nvSpPr>
        <p:spPr>
          <a:xfrm>
            <a:off x="5639936"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8B97FF7-3C80-301C-A405-62F4CF4E4021}"/>
              </a:ext>
            </a:extLst>
          </p:cNvPr>
          <p:cNvSpPr txBox="1"/>
          <p:nvPr/>
        </p:nvSpPr>
        <p:spPr>
          <a:xfrm>
            <a:off x="5734201"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18" name="TextBox 17">
            <a:extLst>
              <a:ext uri="{FF2B5EF4-FFF2-40B4-BE49-F238E27FC236}">
                <a16:creationId xmlns:a16="http://schemas.microsoft.com/office/drawing/2014/main" id="{0E2A792D-AEDC-6296-056E-37FEBAD53A1A}"/>
              </a:ext>
            </a:extLst>
          </p:cNvPr>
          <p:cNvSpPr txBox="1"/>
          <p:nvPr/>
        </p:nvSpPr>
        <p:spPr>
          <a:xfrm>
            <a:off x="5629614" y="1509629"/>
            <a:ext cx="4907105" cy="1785104"/>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Performed initial assessment of their Teradata and Hadoop infrastructure for migration.</a:t>
            </a:r>
          </a:p>
          <a:p>
            <a:pPr marL="171450" indent="-171450">
              <a:spcBef>
                <a:spcPts val="600"/>
              </a:spcBef>
              <a:buClr>
                <a:schemeClr val="accent1"/>
              </a:buClr>
              <a:buFont typeface="Arial" panose="020B0604020202020204" pitchFamily="34" charset="0"/>
              <a:buChar char="•"/>
            </a:pPr>
            <a:r>
              <a:rPr lang="en-US" sz="1000">
                <a:latin typeface="Manrope" pitchFamily="2" charset="0"/>
              </a:rPr>
              <a:t>Co-developed conversion tools for migrating Hadoop into Snowflake and Databricks.</a:t>
            </a:r>
          </a:p>
          <a:p>
            <a:pPr marL="171450" indent="-171450">
              <a:spcBef>
                <a:spcPts val="600"/>
              </a:spcBef>
              <a:buClr>
                <a:schemeClr val="accent1"/>
              </a:buClr>
              <a:buFont typeface="Arial" panose="020B0604020202020204" pitchFamily="34" charset="0"/>
              <a:buChar char="•"/>
            </a:pPr>
            <a:r>
              <a:rPr lang="en-US" sz="1000">
                <a:latin typeface="Manrope" pitchFamily="2" charset="0"/>
              </a:rPr>
              <a:t>Consulted for the assessment of data catalog solutions </a:t>
            </a:r>
          </a:p>
          <a:p>
            <a:pPr marL="171450" indent="-171450">
              <a:spcBef>
                <a:spcPts val="600"/>
              </a:spcBef>
              <a:buClr>
                <a:schemeClr val="accent1"/>
              </a:buClr>
              <a:buFont typeface="Arial" panose="020B0604020202020204" pitchFamily="34" charset="0"/>
              <a:buChar char="•"/>
            </a:pPr>
            <a:r>
              <a:rPr lang="en-US" sz="1000">
                <a:latin typeface="Manrope" pitchFamily="2" charset="0"/>
              </a:rPr>
              <a:t>Consulted for improving the Copper production output in their Leach Analytics initiative,. </a:t>
            </a:r>
          </a:p>
          <a:p>
            <a:pPr marL="171450" indent="-171450">
              <a:spcBef>
                <a:spcPts val="600"/>
              </a:spcBef>
              <a:buClr>
                <a:schemeClr val="accent1"/>
              </a:buClr>
              <a:buFont typeface="Arial" panose="020B0604020202020204" pitchFamily="34" charset="0"/>
              <a:buChar char="•"/>
            </a:pPr>
            <a:r>
              <a:rPr lang="en-US" sz="1000" b="1">
                <a:latin typeface="Manrope" pitchFamily="2" charset="0"/>
              </a:rPr>
              <a:t>Outcomes:  Improvised production of Copper Capacity by 200 M pounds which saved more than 1B USD if they had to go for a new facility. </a:t>
            </a:r>
          </a:p>
        </p:txBody>
      </p:sp>
      <p:pic>
        <p:nvPicPr>
          <p:cNvPr id="20" name="Picture 2">
            <a:extLst>
              <a:ext uri="{FF2B5EF4-FFF2-40B4-BE49-F238E27FC236}">
                <a16:creationId xmlns:a16="http://schemas.microsoft.com/office/drawing/2014/main" id="{7132C1F3-B90A-5F4A-1E72-5E3FB47CA52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95264" y="979868"/>
            <a:ext cx="1514775" cy="397523"/>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20C8CC77-6696-B352-21F3-3C48A6B83C72}"/>
              </a:ext>
            </a:extLst>
          </p:cNvPr>
          <p:cNvSpPr/>
          <p:nvPr/>
        </p:nvSpPr>
        <p:spPr>
          <a:xfrm>
            <a:off x="623887" y="3522278"/>
            <a:ext cx="4886462" cy="2859472"/>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22" name="Rectangle 21">
            <a:extLst>
              <a:ext uri="{FF2B5EF4-FFF2-40B4-BE49-F238E27FC236}">
                <a16:creationId xmlns:a16="http://schemas.microsoft.com/office/drawing/2014/main" id="{FD1027A4-AC08-52FB-D602-35793FCFCEA9}"/>
              </a:ext>
            </a:extLst>
          </p:cNvPr>
          <p:cNvSpPr/>
          <p:nvPr/>
        </p:nvSpPr>
        <p:spPr>
          <a:xfrm>
            <a:off x="623887"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315F0FB-D4E3-1669-AD44-EC34E7022BFB}"/>
              </a:ext>
            </a:extLst>
          </p:cNvPr>
          <p:cNvSpPr txBox="1"/>
          <p:nvPr/>
        </p:nvSpPr>
        <p:spPr>
          <a:xfrm>
            <a:off x="718152"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4" name="TextBox 23">
            <a:extLst>
              <a:ext uri="{FF2B5EF4-FFF2-40B4-BE49-F238E27FC236}">
                <a16:creationId xmlns:a16="http://schemas.microsoft.com/office/drawing/2014/main" id="{B29C5AB1-B5C2-31A2-CD0A-697CD4141D83}"/>
              </a:ext>
            </a:extLst>
          </p:cNvPr>
          <p:cNvSpPr txBox="1"/>
          <p:nvPr/>
        </p:nvSpPr>
        <p:spPr>
          <a:xfrm>
            <a:off x="627992" y="4204027"/>
            <a:ext cx="4381330" cy="1708160"/>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Performed complete assessment according to 4 pillar framework of Data strategy. </a:t>
            </a:r>
          </a:p>
          <a:p>
            <a:pPr marL="171450" indent="-171450">
              <a:spcBef>
                <a:spcPts val="600"/>
              </a:spcBef>
              <a:buClr>
                <a:schemeClr val="accent1"/>
              </a:buClr>
              <a:buFont typeface="Arial" panose="020B0604020202020204" pitchFamily="34" charset="0"/>
              <a:buChar char="•"/>
            </a:pPr>
            <a:r>
              <a:rPr lang="en-US" sz="1000">
                <a:latin typeface="Manrope" pitchFamily="2" charset="0"/>
              </a:rPr>
              <a:t>Assessment report provided with recommendations for accelerating Data &amp; AI initiatives around Snowflake.</a:t>
            </a:r>
          </a:p>
          <a:p>
            <a:pPr marL="171450" indent="-171450">
              <a:spcBef>
                <a:spcPts val="600"/>
              </a:spcBef>
              <a:buClr>
                <a:schemeClr val="accent1"/>
              </a:buClr>
              <a:buFont typeface="Arial" panose="020B0604020202020204" pitchFamily="34" charset="0"/>
              <a:buChar char="•"/>
            </a:pPr>
            <a:r>
              <a:rPr lang="en-US" sz="1000">
                <a:latin typeface="Manrope" pitchFamily="2" charset="0"/>
              </a:rPr>
              <a:t>Recommendations covering Snowflake and eco system migration, build and adoption to deliver the expected business outcomes. \</a:t>
            </a:r>
          </a:p>
          <a:p>
            <a:pPr marL="171450" indent="-171450">
              <a:spcBef>
                <a:spcPts val="600"/>
              </a:spcBef>
              <a:buClr>
                <a:schemeClr val="accent1"/>
              </a:buClr>
              <a:buFont typeface="Arial" panose="020B0604020202020204" pitchFamily="34" charset="0"/>
              <a:buChar char="•"/>
            </a:pPr>
            <a:r>
              <a:rPr lang="en-US" sz="1000" b="1">
                <a:latin typeface="Manrope" pitchFamily="2" charset="0"/>
              </a:rPr>
              <a:t>4M USD </a:t>
            </a:r>
            <a:r>
              <a:rPr lang="en-US" sz="1000">
                <a:latin typeface="Manrope" pitchFamily="2" charset="0"/>
              </a:rPr>
              <a:t>budget for transformation initiatives approved. Savings through Technology rationalization delivered close to </a:t>
            </a:r>
            <a:r>
              <a:rPr lang="en-US" sz="1000" b="1">
                <a:latin typeface="Manrope" pitchFamily="2" charset="0"/>
              </a:rPr>
              <a:t>1.25 M per Year.</a:t>
            </a:r>
          </a:p>
        </p:txBody>
      </p:sp>
      <p:sp>
        <p:nvSpPr>
          <p:cNvPr id="26" name="Rectangle 25">
            <a:extLst>
              <a:ext uri="{FF2B5EF4-FFF2-40B4-BE49-F238E27FC236}">
                <a16:creationId xmlns:a16="http://schemas.microsoft.com/office/drawing/2014/main" id="{427ED7F7-5348-1D09-46E1-A5D02EC47278}"/>
              </a:ext>
            </a:extLst>
          </p:cNvPr>
          <p:cNvSpPr/>
          <p:nvPr/>
        </p:nvSpPr>
        <p:spPr>
          <a:xfrm>
            <a:off x="5639936" y="3522278"/>
            <a:ext cx="4886462" cy="2859472"/>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27" name="Rectangle 26">
            <a:extLst>
              <a:ext uri="{FF2B5EF4-FFF2-40B4-BE49-F238E27FC236}">
                <a16:creationId xmlns:a16="http://schemas.microsoft.com/office/drawing/2014/main" id="{EFDDF1FC-AB4E-61E4-BAE9-39DC8224FE9B}"/>
              </a:ext>
            </a:extLst>
          </p:cNvPr>
          <p:cNvSpPr/>
          <p:nvPr/>
        </p:nvSpPr>
        <p:spPr>
          <a:xfrm>
            <a:off x="5639936"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F44A360-6ED0-D457-C201-0343446E85D8}"/>
              </a:ext>
            </a:extLst>
          </p:cNvPr>
          <p:cNvSpPr txBox="1"/>
          <p:nvPr/>
        </p:nvSpPr>
        <p:spPr>
          <a:xfrm>
            <a:off x="5734201"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9" name="TextBox 28">
            <a:extLst>
              <a:ext uri="{FF2B5EF4-FFF2-40B4-BE49-F238E27FC236}">
                <a16:creationId xmlns:a16="http://schemas.microsoft.com/office/drawing/2014/main" id="{3C5FEDBC-07C7-D0B9-F6BC-66467313A5C6}"/>
              </a:ext>
            </a:extLst>
          </p:cNvPr>
          <p:cNvSpPr txBox="1"/>
          <p:nvPr/>
        </p:nvSpPr>
        <p:spPr>
          <a:xfrm>
            <a:off x="5721027" y="4204027"/>
            <a:ext cx="4463251" cy="2169825"/>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t>Workshops with Demand Gen, Digital Marketing, Strategic Planning, Analytics &amp; Marketing Tech Teams.</a:t>
            </a:r>
          </a:p>
          <a:p>
            <a:pPr marL="171450" indent="-171450">
              <a:spcBef>
                <a:spcPts val="600"/>
              </a:spcBef>
              <a:buClr>
                <a:schemeClr val="accent1"/>
              </a:buClr>
              <a:buFont typeface="Arial" panose="020B0604020202020204" pitchFamily="34" charset="0"/>
              <a:buChar char="•"/>
            </a:pPr>
            <a:r>
              <a:rPr lang="en-US" sz="1000"/>
              <a:t>Marketing Datamart data model covering entities across demand generation and demand management.</a:t>
            </a:r>
          </a:p>
          <a:p>
            <a:pPr marL="171450" indent="-171450">
              <a:spcBef>
                <a:spcPts val="600"/>
              </a:spcBef>
              <a:buClr>
                <a:schemeClr val="accent1"/>
              </a:buClr>
              <a:buFont typeface="Arial" panose="020B0604020202020204" pitchFamily="34" charset="0"/>
              <a:buChar char="•"/>
            </a:pPr>
            <a:r>
              <a:rPr lang="en-US" sz="1000"/>
              <a:t>Delivered a logical DM for the Marketing data mart which was crucial to start the Cloud DWH solution on Snowflake. </a:t>
            </a:r>
          </a:p>
          <a:p>
            <a:pPr marL="171450" indent="-171450">
              <a:spcBef>
                <a:spcPts val="600"/>
              </a:spcBef>
              <a:buClr>
                <a:schemeClr val="accent1"/>
              </a:buClr>
              <a:buFont typeface="Arial" panose="020B0604020202020204" pitchFamily="34" charset="0"/>
              <a:buChar char="•"/>
            </a:pPr>
            <a:r>
              <a:rPr lang="en-US" sz="1000"/>
              <a:t>Defined data governance approach and recommendations for building the data catalog.</a:t>
            </a:r>
          </a:p>
          <a:p>
            <a:pPr marL="171450" indent="-171450">
              <a:spcBef>
                <a:spcPts val="600"/>
              </a:spcBef>
              <a:buClr>
                <a:schemeClr val="accent1"/>
              </a:buClr>
              <a:buFont typeface="Arial" panose="020B0604020202020204" pitchFamily="34" charset="0"/>
              <a:buChar char="•"/>
            </a:pPr>
            <a:r>
              <a:rPr lang="en-US" sz="1000" b="1"/>
              <a:t>Our recommend architecture saved 500-600k yearly savings on Data Infrastructure for the first workload migration to Snowflake</a:t>
            </a:r>
          </a:p>
          <a:p>
            <a:pPr marL="171450" indent="-171450">
              <a:spcBef>
                <a:spcPts val="600"/>
              </a:spcBef>
              <a:buClr>
                <a:schemeClr val="accent1"/>
              </a:buClr>
              <a:buFont typeface="Arial" panose="020B0604020202020204" pitchFamily="34" charset="0"/>
              <a:buChar char="•"/>
            </a:pPr>
            <a:r>
              <a:rPr lang="en-US" sz="1000" b="1"/>
              <a:t>Our Ingestion framework saved 100K USD per year savings on ETL</a:t>
            </a:r>
          </a:p>
        </p:txBody>
      </p:sp>
      <p:pic>
        <p:nvPicPr>
          <p:cNvPr id="33" name="Picture 32" descr="Carlyle Group logo in transparent PNG and vectorized SVG formats">
            <a:extLst>
              <a:ext uri="{FF2B5EF4-FFF2-40B4-BE49-F238E27FC236}">
                <a16:creationId xmlns:a16="http://schemas.microsoft.com/office/drawing/2014/main" id="{65E8BC02-D6F2-D043-7B4F-97735E2E3661}"/>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517691" y="3695853"/>
            <a:ext cx="1098854" cy="13807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AFAA711F-F062-AE4D-F576-854F0739B31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577427" y="3649157"/>
            <a:ext cx="750448" cy="257296"/>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034975FC-AC86-8CB0-CFEA-922B1CC238F8}"/>
              </a:ext>
            </a:extLst>
          </p:cNvPr>
          <p:cNvSpPr/>
          <p:nvPr/>
        </p:nvSpPr>
        <p:spPr>
          <a:xfrm>
            <a:off x="10635343" y="908050"/>
            <a:ext cx="932770" cy="5473700"/>
          </a:xfrm>
          <a:prstGeom prst="rect">
            <a:avLst/>
          </a:prstGeom>
          <a:blipFill>
            <a:blip r:embed="rId6" cstate="email">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4" descr="London Stock Exchange New Logo PNG vector in SVG, PDF, AI ...">
            <a:extLst>
              <a:ext uri="{FF2B5EF4-FFF2-40B4-BE49-F238E27FC236}">
                <a16:creationId xmlns:a16="http://schemas.microsoft.com/office/drawing/2014/main" id="{C38453A8-FFE7-2951-BF05-9C3F84EA2BAA}"/>
              </a:ext>
            </a:extLst>
          </p:cNvPr>
          <p:cNvSpPr>
            <a:spLocks noChangeAspect="1" noChangeArrowheads="1"/>
          </p:cNvSpPr>
          <p:nvPr/>
        </p:nvSpPr>
        <p:spPr bwMode="auto">
          <a:xfrm>
            <a:off x="4450825" y="615019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E4E423EE-DA1D-3912-8626-360C176F5714}"/>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55700" y="1007709"/>
            <a:ext cx="776613" cy="323589"/>
          </a:xfrm>
          <a:prstGeom prst="rect">
            <a:avLst/>
          </a:prstGeom>
        </p:spPr>
      </p:pic>
    </p:spTree>
    <p:extLst>
      <p:ext uri="{BB962C8B-B14F-4D97-AF65-F5344CB8AC3E}">
        <p14:creationId xmlns:p14="http://schemas.microsoft.com/office/powerpoint/2010/main" val="3820942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04FB3-6E12-1911-B889-8E76CC170F98}"/>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67EA5B4C-6AF8-B965-95ED-14D6706A979D}"/>
              </a:ext>
            </a:extLst>
          </p:cNvPr>
          <p:cNvGrpSpPr/>
          <p:nvPr/>
        </p:nvGrpSpPr>
        <p:grpSpPr>
          <a:xfrm>
            <a:off x="652880" y="926342"/>
            <a:ext cx="785145" cy="785145"/>
            <a:chOff x="1450992" y="1491427"/>
            <a:chExt cx="950026" cy="950026"/>
          </a:xfrm>
        </p:grpSpPr>
        <p:sp>
          <p:nvSpPr>
            <p:cNvPr id="32" name="Oval 31">
              <a:extLst>
                <a:ext uri="{FF2B5EF4-FFF2-40B4-BE49-F238E27FC236}">
                  <a16:creationId xmlns:a16="http://schemas.microsoft.com/office/drawing/2014/main" id="{57511311-1A9D-4A5B-3961-23089C5E9383}"/>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7C88EB1C-676F-974A-C117-80303B2B3447}"/>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Placeholder 1">
            <a:extLst>
              <a:ext uri="{FF2B5EF4-FFF2-40B4-BE49-F238E27FC236}">
                <a16:creationId xmlns:a16="http://schemas.microsoft.com/office/drawing/2014/main" id="{758E2995-EB30-8A9D-6800-392C5BF4CBFE}"/>
              </a:ext>
            </a:extLst>
          </p:cNvPr>
          <p:cNvSpPr>
            <a:spLocks noGrp="1"/>
          </p:cNvSpPr>
          <p:nvPr>
            <p:ph type="body" sz="quarter" idx="15"/>
          </p:nvPr>
        </p:nvSpPr>
        <p:spPr>
          <a:xfrm flipH="1">
            <a:off x="623888" y="457200"/>
            <a:ext cx="8172450" cy="244101"/>
          </a:xfrm>
        </p:spPr>
        <p:txBody>
          <a:bodyPr/>
          <a:lstStyle/>
          <a:p>
            <a:r>
              <a:rPr lang="en-US"/>
              <a:t>Snowflake AI ML Capability</a:t>
            </a:r>
          </a:p>
        </p:txBody>
      </p:sp>
      <p:sp>
        <p:nvSpPr>
          <p:cNvPr id="10" name="Rectangle: Rounded Corners 18">
            <a:extLst>
              <a:ext uri="{FF2B5EF4-FFF2-40B4-BE49-F238E27FC236}">
                <a16:creationId xmlns:a16="http://schemas.microsoft.com/office/drawing/2014/main" id="{E067F9EF-0F45-44E6-B845-967FC790557F}"/>
              </a:ext>
            </a:extLst>
          </p:cNvPr>
          <p:cNvSpPr/>
          <p:nvPr/>
        </p:nvSpPr>
        <p:spPr>
          <a:xfrm>
            <a:off x="623888" y="1812336"/>
            <a:ext cx="10932238" cy="944976"/>
          </a:xfrm>
          <a:prstGeom prst="roundRect">
            <a:avLst>
              <a:gd name="adj" fmla="val 0"/>
            </a:avLst>
          </a:prstGeom>
          <a:solidFill>
            <a:srgbClr val="EEEFF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anrope"/>
              <a:ea typeface="Helvetica Neue"/>
              <a:cs typeface="Helvetica Neue"/>
            </a:endParaRPr>
          </a:p>
        </p:txBody>
      </p:sp>
      <p:sp>
        <p:nvSpPr>
          <p:cNvPr id="20" name="TextBox 19">
            <a:extLst>
              <a:ext uri="{FF2B5EF4-FFF2-40B4-BE49-F238E27FC236}">
                <a16:creationId xmlns:a16="http://schemas.microsoft.com/office/drawing/2014/main" id="{C19F87DA-E7BC-5F24-4815-55D0D0522A27}"/>
              </a:ext>
            </a:extLst>
          </p:cNvPr>
          <p:cNvSpPr txBox="1"/>
          <p:nvPr/>
        </p:nvSpPr>
        <p:spPr>
          <a:xfrm>
            <a:off x="5640232" y="2043796"/>
            <a:ext cx="4502277" cy="461665"/>
          </a:xfrm>
          <a:prstGeom prst="rect">
            <a:avLst/>
          </a:prstGeom>
          <a:noFill/>
        </p:spPr>
        <p:txBody>
          <a:bodyPr wrap="square">
            <a:spAutoFit/>
          </a:body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Faster Execution, Time to Market and Democratize &amp; build Market facing AI products to monetize Data</a:t>
            </a:r>
          </a:p>
        </p:txBody>
      </p:sp>
      <p:sp>
        <p:nvSpPr>
          <p:cNvPr id="46" name="Title 29">
            <a:extLst>
              <a:ext uri="{FF2B5EF4-FFF2-40B4-BE49-F238E27FC236}">
                <a16:creationId xmlns:a16="http://schemas.microsoft.com/office/drawing/2014/main" id="{7C6AAA6C-9276-26D8-2C88-318E78A5BA3B}"/>
              </a:ext>
            </a:extLst>
          </p:cNvPr>
          <p:cNvSpPr txBox="1">
            <a:spLocks/>
          </p:cNvSpPr>
          <p:nvPr/>
        </p:nvSpPr>
        <p:spPr>
          <a:xfrm>
            <a:off x="1568267" y="1248408"/>
            <a:ext cx="9999847" cy="193899"/>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400" b="0" u="none" strike="noStrike" kern="1200" cap="none" spc="0" normalizeH="0" baseline="0" noProof="0">
                <a:ln>
                  <a:noFill/>
                </a:ln>
                <a:solidFill>
                  <a:srgbClr val="000000"/>
                </a:solidFill>
                <a:effectLst/>
                <a:uLnTx/>
                <a:uFillTx/>
                <a:latin typeface="Manrope"/>
                <a:ea typeface="Helvetica Neue Medium"/>
                <a:cs typeface="Helvetica Neue Medium"/>
              </a:rPr>
              <a:t>We bring together the potential of AI with power of Snowflake to help clients create business value</a:t>
            </a:r>
          </a:p>
        </p:txBody>
      </p:sp>
      <p:grpSp>
        <p:nvGrpSpPr>
          <p:cNvPr id="21" name="Group 20">
            <a:extLst>
              <a:ext uri="{FF2B5EF4-FFF2-40B4-BE49-F238E27FC236}">
                <a16:creationId xmlns:a16="http://schemas.microsoft.com/office/drawing/2014/main" id="{999438AE-75FA-9065-A8AA-AC595FA66C8B}"/>
              </a:ext>
            </a:extLst>
          </p:cNvPr>
          <p:cNvGrpSpPr/>
          <p:nvPr/>
        </p:nvGrpSpPr>
        <p:grpSpPr>
          <a:xfrm>
            <a:off x="623887" y="2869596"/>
            <a:ext cx="2759761" cy="2903109"/>
            <a:chOff x="382469" y="2434148"/>
            <a:chExt cx="2727736" cy="2903109"/>
          </a:xfrm>
        </p:grpSpPr>
        <p:sp>
          <p:nvSpPr>
            <p:cNvPr id="6" name="Rectangle: Rounded Corners 18">
              <a:extLst>
                <a:ext uri="{FF2B5EF4-FFF2-40B4-BE49-F238E27FC236}">
                  <a16:creationId xmlns:a16="http://schemas.microsoft.com/office/drawing/2014/main" id="{9BC08480-A748-18C0-0439-E6B5965AF1B5}"/>
                </a:ext>
              </a:extLst>
            </p:cNvPr>
            <p:cNvSpPr/>
            <p:nvPr/>
          </p:nvSpPr>
          <p:spPr>
            <a:xfrm>
              <a:off x="382469" y="2525605"/>
              <a:ext cx="2727736" cy="2811652"/>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7" name="Rectangle: Rounded Corners 18">
              <a:extLst>
                <a:ext uri="{FF2B5EF4-FFF2-40B4-BE49-F238E27FC236}">
                  <a16:creationId xmlns:a16="http://schemas.microsoft.com/office/drawing/2014/main" id="{778D882E-E7A9-91D6-CC70-F310B8AB80E3}"/>
                </a:ext>
              </a:extLst>
            </p:cNvPr>
            <p:cNvSpPr/>
            <p:nvPr/>
          </p:nvSpPr>
          <p:spPr>
            <a:xfrm>
              <a:off x="395157" y="2434148"/>
              <a:ext cx="2715048" cy="356878"/>
            </a:xfrm>
            <a:prstGeom prst="roundRect">
              <a:avLst>
                <a:gd name="adj" fmla="val 0"/>
              </a:avLst>
            </a:prstGeom>
            <a:solidFill>
              <a:srgbClr val="08126E"/>
            </a:solidFill>
            <a:ln w="3175">
              <a:noFill/>
            </a:ln>
            <a:effectLst/>
          </p:spPr>
          <p:txBody>
            <a:bodyPr lIns="0" tIns="0" rIns="0" bIns="0" anchor="ctr" anchorCtr="0"/>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Our Offerings</a:t>
              </a:r>
            </a:p>
          </p:txBody>
        </p:sp>
        <p:sp>
          <p:nvSpPr>
            <p:cNvPr id="45" name="TextBox 44">
              <a:extLst>
                <a:ext uri="{FF2B5EF4-FFF2-40B4-BE49-F238E27FC236}">
                  <a16:creationId xmlns:a16="http://schemas.microsoft.com/office/drawing/2014/main" id="{33291CFB-CF3F-A11F-C86C-B1B2ACD1F0CD}"/>
                </a:ext>
              </a:extLst>
            </p:cNvPr>
            <p:cNvSpPr txBox="1"/>
            <p:nvPr/>
          </p:nvSpPr>
          <p:spPr>
            <a:xfrm>
              <a:off x="491810" y="2916756"/>
              <a:ext cx="2268242" cy="1354217"/>
            </a:xfrm>
            <a:prstGeom prst="rect">
              <a:avLst/>
            </a:prstGeom>
            <a:noFill/>
          </p:spPr>
          <p:txBody>
            <a:bodyPr wrap="square" lIns="91440" tIns="0" rIns="0" bIns="0" rtlCol="0">
              <a:spAutoFit/>
            </a:bodyPr>
            <a:lstStyle/>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SAS to </a:t>
              </a:r>
              <a:r>
                <a:rPr lang="en-US" sz="1050" err="1">
                  <a:ln w="0"/>
                  <a:solidFill>
                    <a:srgbClr val="000000"/>
                  </a:solidFill>
                  <a:latin typeface="Manrope"/>
                  <a:ea typeface="Helvetica Neue"/>
                  <a:cs typeface="Calibri" panose="020F0502020204030204" pitchFamily="34" charset="0"/>
                </a:rPr>
                <a:t>Py</a:t>
              </a:r>
              <a:r>
                <a:rPr lang="en-US" sz="1050">
                  <a:ln w="0"/>
                  <a:solidFill>
                    <a:srgbClr val="000000"/>
                  </a:solidFill>
                  <a:latin typeface="Manrope"/>
                  <a:ea typeface="Helvetica Neue"/>
                  <a:cs typeface="Calibri" panose="020F0502020204030204" pitchFamily="34" charset="0"/>
                </a:rPr>
                <a:t> conversion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Science &amp; AI/ML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MLOps &amp; LLMOps</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Responsible AI</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Centre of Excellence</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POD delivery model</a:t>
              </a:r>
            </a:p>
          </p:txBody>
        </p:sp>
      </p:grpSp>
      <p:grpSp>
        <p:nvGrpSpPr>
          <p:cNvPr id="27" name="Group 26">
            <a:extLst>
              <a:ext uri="{FF2B5EF4-FFF2-40B4-BE49-F238E27FC236}">
                <a16:creationId xmlns:a16="http://schemas.microsoft.com/office/drawing/2014/main" id="{0FB81EF7-9BED-9CF1-555C-102EEE46892F}"/>
              </a:ext>
            </a:extLst>
          </p:cNvPr>
          <p:cNvGrpSpPr/>
          <p:nvPr/>
        </p:nvGrpSpPr>
        <p:grpSpPr>
          <a:xfrm>
            <a:off x="8716905" y="2878943"/>
            <a:ext cx="2851209" cy="2893762"/>
            <a:chOff x="9036899" y="2430426"/>
            <a:chExt cx="2823201" cy="2893762"/>
          </a:xfrm>
        </p:grpSpPr>
        <p:sp>
          <p:nvSpPr>
            <p:cNvPr id="16" name="Rectangle: Rounded Corners 18">
              <a:extLst>
                <a:ext uri="{FF2B5EF4-FFF2-40B4-BE49-F238E27FC236}">
                  <a16:creationId xmlns:a16="http://schemas.microsoft.com/office/drawing/2014/main" id="{1AFA598E-1615-63F1-5CDD-5300FC3A225C}"/>
                </a:ext>
              </a:extLst>
            </p:cNvPr>
            <p:cNvSpPr/>
            <p:nvPr/>
          </p:nvSpPr>
          <p:spPr>
            <a:xfrm>
              <a:off x="9036899" y="2785278"/>
              <a:ext cx="2823201" cy="2538910"/>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28" name="Rectangle: Rounded Corners 18">
              <a:extLst>
                <a:ext uri="{FF2B5EF4-FFF2-40B4-BE49-F238E27FC236}">
                  <a16:creationId xmlns:a16="http://schemas.microsoft.com/office/drawing/2014/main" id="{5557837F-654F-4846-D406-9C97625D408E}"/>
                </a:ext>
              </a:extLst>
            </p:cNvPr>
            <p:cNvSpPr/>
            <p:nvPr/>
          </p:nvSpPr>
          <p:spPr>
            <a:xfrm>
              <a:off x="9036899" y="2430426"/>
              <a:ext cx="2823201" cy="356878"/>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Outcomes Delivered</a:t>
              </a:r>
            </a:p>
          </p:txBody>
        </p:sp>
        <p:sp>
          <p:nvSpPr>
            <p:cNvPr id="15" name="Rectangle: Rounded Corners 18">
              <a:extLst>
                <a:ext uri="{FF2B5EF4-FFF2-40B4-BE49-F238E27FC236}">
                  <a16:creationId xmlns:a16="http://schemas.microsoft.com/office/drawing/2014/main" id="{760DDB74-BA1E-6D3E-A9B7-B29CAC47E472}"/>
                </a:ext>
              </a:extLst>
            </p:cNvPr>
            <p:cNvSpPr/>
            <p:nvPr/>
          </p:nvSpPr>
          <p:spPr>
            <a:xfrm>
              <a:off x="9135312" y="2871088"/>
              <a:ext cx="2435792" cy="1769715"/>
            </a:xfrm>
            <a:prstGeom prst="roundRect">
              <a:avLst>
                <a:gd name="adj" fmla="val 0"/>
              </a:avLst>
            </a:prstGeom>
            <a:noFill/>
          </p:spPr>
          <p:txBody>
            <a:bodyPr wrap="square" lIns="91440" tIns="0" rIns="0" bIns="0" rtlCol="0">
              <a:spAutoFit/>
            </a:bodyPr>
            <a:lstStyle/>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$3.3M Worth of opportunities  recommendation per month using  win/loss prediction model</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80% Reduction in reliance on manual process to predict opportunity win/loss</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150 days And above waiting period for high value USD  opportunities to convert to order based on duration prediction model</a:t>
              </a:r>
            </a:p>
          </p:txBody>
        </p:sp>
      </p:grpSp>
      <p:grpSp>
        <p:nvGrpSpPr>
          <p:cNvPr id="25" name="Group 24">
            <a:extLst>
              <a:ext uri="{FF2B5EF4-FFF2-40B4-BE49-F238E27FC236}">
                <a16:creationId xmlns:a16="http://schemas.microsoft.com/office/drawing/2014/main" id="{E824349D-BC5E-B70C-7710-84775704C572}"/>
              </a:ext>
            </a:extLst>
          </p:cNvPr>
          <p:cNvGrpSpPr/>
          <p:nvPr/>
        </p:nvGrpSpPr>
        <p:grpSpPr>
          <a:xfrm>
            <a:off x="3431255" y="2865874"/>
            <a:ext cx="5242363" cy="2906831"/>
            <a:chOff x="3381720" y="2430426"/>
            <a:chExt cx="2639669" cy="2906831"/>
          </a:xfrm>
        </p:grpSpPr>
        <p:sp>
          <p:nvSpPr>
            <p:cNvPr id="38" name="Rectangle: Rounded Corners 18">
              <a:extLst>
                <a:ext uri="{FF2B5EF4-FFF2-40B4-BE49-F238E27FC236}">
                  <a16:creationId xmlns:a16="http://schemas.microsoft.com/office/drawing/2014/main" id="{79E5C192-F285-7FB3-6467-F41256AB800A}"/>
                </a:ext>
              </a:extLst>
            </p:cNvPr>
            <p:cNvSpPr/>
            <p:nvPr/>
          </p:nvSpPr>
          <p:spPr>
            <a:xfrm>
              <a:off x="3381720" y="2791025"/>
              <a:ext cx="2639669" cy="2546232"/>
            </a:xfrm>
            <a:prstGeom prst="roundRect">
              <a:avLst>
                <a:gd name="adj" fmla="val 0"/>
              </a:avLst>
            </a:prstGeom>
            <a:noFill/>
            <a:ln w="6350">
              <a:solidFill>
                <a:schemeClr val="accent5"/>
              </a:solid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1027" name="Rectangle: Rounded Corners 18">
              <a:extLst>
                <a:ext uri="{FF2B5EF4-FFF2-40B4-BE49-F238E27FC236}">
                  <a16:creationId xmlns:a16="http://schemas.microsoft.com/office/drawing/2014/main" id="{31907F0B-0C17-E0F7-4190-4E8ECDDE107D}"/>
                </a:ext>
              </a:extLst>
            </p:cNvPr>
            <p:cNvSpPr/>
            <p:nvPr/>
          </p:nvSpPr>
          <p:spPr>
            <a:xfrm>
              <a:off x="3381720" y="2430426"/>
              <a:ext cx="2639669" cy="346870"/>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Key Customers</a:t>
              </a:r>
            </a:p>
          </p:txBody>
        </p:sp>
      </p:grpSp>
      <p:sp>
        <p:nvSpPr>
          <p:cNvPr id="8" name="TextBox 7">
            <a:extLst>
              <a:ext uri="{FF2B5EF4-FFF2-40B4-BE49-F238E27FC236}">
                <a16:creationId xmlns:a16="http://schemas.microsoft.com/office/drawing/2014/main" id="{B8ACCBE1-E7D3-9E34-9865-55B13224A1B0}"/>
              </a:ext>
            </a:extLst>
          </p:cNvPr>
          <p:cNvSpPr txBox="1"/>
          <p:nvPr/>
        </p:nvSpPr>
        <p:spPr>
          <a:xfrm>
            <a:off x="2348206" y="1862684"/>
            <a:ext cx="1241830"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2400" spc="-100">
                <a:solidFill>
                  <a:srgbClr val="3C2CDA"/>
                </a:solidFill>
                <a:latin typeface="Manrope"/>
              </a:rPr>
              <a:t>5X</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Faster data pre-processing </a:t>
            </a:r>
          </a:p>
        </p:txBody>
      </p:sp>
      <p:sp>
        <p:nvSpPr>
          <p:cNvPr id="12" name="TextBox 11">
            <a:extLst>
              <a:ext uri="{FF2B5EF4-FFF2-40B4-BE49-F238E27FC236}">
                <a16:creationId xmlns:a16="http://schemas.microsoft.com/office/drawing/2014/main" id="{7EDE9C0F-B4B1-7491-70D1-C017BB1F16A5}"/>
              </a:ext>
            </a:extLst>
          </p:cNvPr>
          <p:cNvSpPr txBox="1"/>
          <p:nvPr/>
        </p:nvSpPr>
        <p:spPr>
          <a:xfrm>
            <a:off x="4018377" y="1862684"/>
            <a:ext cx="1239620" cy="630942"/>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2X</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Faster modelling</a:t>
            </a:r>
          </a:p>
        </p:txBody>
      </p:sp>
      <p:sp>
        <p:nvSpPr>
          <p:cNvPr id="53" name="Rectangle 52">
            <a:extLst>
              <a:ext uri="{FF2B5EF4-FFF2-40B4-BE49-F238E27FC236}">
                <a16:creationId xmlns:a16="http://schemas.microsoft.com/office/drawing/2014/main" id="{768005AB-F54D-07CE-4271-FF52C71FB839}"/>
              </a:ext>
            </a:extLst>
          </p:cNvPr>
          <p:cNvSpPr/>
          <p:nvPr/>
        </p:nvSpPr>
        <p:spPr>
          <a:xfrm>
            <a:off x="4692703" y="4693878"/>
            <a:ext cx="1350504" cy="17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1216916" rtl="0" eaLnBrk="1" fontAlgn="base" latinLnBrk="0" hangingPunct="1">
              <a:lnSpc>
                <a:spcPts val="1300"/>
              </a:lnSpc>
              <a:spcBef>
                <a:spcPts val="200"/>
              </a:spcBef>
              <a:spcAft>
                <a:spcPct val="0"/>
              </a:spcAft>
              <a:buClr>
                <a:srgbClr val="002060"/>
              </a:buClr>
              <a:buSzTx/>
              <a:buFontTx/>
              <a:buNone/>
              <a:tabLst/>
              <a:defRPr/>
            </a:pPr>
            <a:r>
              <a:rPr kumimoji="0" lang="en-US" sz="1200" b="1" i="0" u="none" strike="noStrike" kern="1200" cap="none" spc="0" normalizeH="0" baseline="0" noProof="0">
                <a:ln>
                  <a:noFill/>
                </a:ln>
                <a:solidFill>
                  <a:srgbClr val="FFFFFF"/>
                </a:solidFill>
                <a:effectLst/>
                <a:uLnTx/>
                <a:uFillTx/>
                <a:latin typeface="Manrope" pitchFamily="2" charset="0"/>
                <a:ea typeface="+mj-ea"/>
                <a:cs typeface="Segoe UI Semibold" panose="020B0502040204020203" pitchFamily="34" charset="0"/>
              </a:rPr>
              <a:t>Accelerators</a:t>
            </a:r>
          </a:p>
        </p:txBody>
      </p:sp>
      <p:sp>
        <p:nvSpPr>
          <p:cNvPr id="17" name="TextBox 16">
            <a:extLst>
              <a:ext uri="{FF2B5EF4-FFF2-40B4-BE49-F238E27FC236}">
                <a16:creationId xmlns:a16="http://schemas.microsoft.com/office/drawing/2014/main" id="{7D6BF44D-88D7-6CB5-61B8-C0CF375E6C13}"/>
              </a:ext>
            </a:extLst>
          </p:cNvPr>
          <p:cNvSpPr txBox="1"/>
          <p:nvPr/>
        </p:nvSpPr>
        <p:spPr>
          <a:xfrm>
            <a:off x="686024" y="1862684"/>
            <a:ext cx="1295822"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70%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Clients leveraging AI ML</a:t>
            </a:r>
          </a:p>
        </p:txBody>
      </p:sp>
      <p:pic>
        <p:nvPicPr>
          <p:cNvPr id="23" name="Graphic 22" descr="Eye outline">
            <a:extLst>
              <a:ext uri="{FF2B5EF4-FFF2-40B4-BE49-F238E27FC236}">
                <a16:creationId xmlns:a16="http://schemas.microsoft.com/office/drawing/2014/main" id="{B3D98F1C-65B7-D72E-7E2D-E62511DA11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625" y="1030425"/>
            <a:ext cx="515918" cy="546088"/>
          </a:xfrm>
          <a:prstGeom prst="rect">
            <a:avLst/>
          </a:prstGeom>
        </p:spPr>
      </p:pic>
      <p:pic>
        <p:nvPicPr>
          <p:cNvPr id="3" name="Picture 2" descr="undefined">
            <a:extLst>
              <a:ext uri="{FF2B5EF4-FFF2-40B4-BE49-F238E27FC236}">
                <a16:creationId xmlns:a16="http://schemas.microsoft.com/office/drawing/2014/main" id="{785CD31C-385E-1536-D05F-B3BADD747CC5}"/>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745298" y="4279864"/>
            <a:ext cx="1046766" cy="1820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7F62D3F-41A5-3E80-8F21-F4281407EBD6}"/>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525595" y="3385460"/>
            <a:ext cx="810636" cy="27793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C0C9145D-0A09-B086-64CE-B7316C15D162}"/>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980451" y="3374035"/>
            <a:ext cx="576461" cy="24787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AAEAF41E-7338-318A-70CA-1AEE587EF1B0}"/>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6778187" y="4131374"/>
            <a:ext cx="1690561" cy="31353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MarineMax - Overview, News &amp; Competitors | ZoomInfo.com">
            <a:extLst>
              <a:ext uri="{FF2B5EF4-FFF2-40B4-BE49-F238E27FC236}">
                <a16:creationId xmlns:a16="http://schemas.microsoft.com/office/drawing/2014/main" id="{B6EDDE66-A9E1-5C66-1FF6-9A731400AD37}"/>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5431855" y="5051139"/>
            <a:ext cx="1050630" cy="32453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4">
            <a:extLst>
              <a:ext uri="{FF2B5EF4-FFF2-40B4-BE49-F238E27FC236}">
                <a16:creationId xmlns:a16="http://schemas.microsoft.com/office/drawing/2014/main" id="{81783DC8-2CF1-6849-9F2D-2E05F8329DB6}"/>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5402044" y="4116570"/>
            <a:ext cx="1080441" cy="30767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2" descr="Carlyle Group logo in transparent PNG and vectorized SVG formats">
            <a:extLst>
              <a:ext uri="{FF2B5EF4-FFF2-40B4-BE49-F238E27FC236}">
                <a16:creationId xmlns:a16="http://schemas.microsoft.com/office/drawing/2014/main" id="{430F8499-77F8-D96F-8886-4CA0C92A0275}"/>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6983057" y="3444500"/>
            <a:ext cx="1217750" cy="15301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9F5A07A3-B238-1E42-606E-A5954FEB9609}"/>
              </a:ext>
            </a:extLst>
          </p:cNvPr>
          <p:cNvSpPr txBox="1"/>
          <p:nvPr/>
        </p:nvSpPr>
        <p:spPr>
          <a:xfrm>
            <a:off x="547685" y="5805349"/>
            <a:ext cx="2616199" cy="261610"/>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1100" b="1" i="0" u="none" strike="noStrike" cap="none" spc="0" normalizeH="0" baseline="0">
                <a:ln>
                  <a:noFill/>
                </a:ln>
                <a:solidFill>
                  <a:prstClr val="black"/>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anrope"/>
              </a:rPr>
              <a:t>AI GAME CHANGER AWARD</a:t>
            </a:r>
          </a:p>
        </p:txBody>
      </p:sp>
      <p:pic>
        <p:nvPicPr>
          <p:cNvPr id="30" name="Picture 29">
            <a:extLst>
              <a:ext uri="{FF2B5EF4-FFF2-40B4-BE49-F238E27FC236}">
                <a16:creationId xmlns:a16="http://schemas.microsoft.com/office/drawing/2014/main" id="{A92DDFBA-2BCA-56E9-6CB6-609508F0EC85}"/>
              </a:ext>
            </a:extLst>
          </p:cNvPr>
          <p:cNvPicPr>
            <a:picLocks noChangeAspect="1"/>
          </p:cNvPicPr>
          <p:nvPr/>
        </p:nvPicPr>
        <p:blipFill>
          <a:blip r:embed="rId11" cstate="email">
            <a:clrChange>
              <a:clrFrom>
                <a:srgbClr val="F7F7F7"/>
              </a:clrFrom>
              <a:clrTo>
                <a:srgbClr val="F7F7F7">
                  <a:alpha val="0"/>
                </a:srgbClr>
              </a:clrTo>
            </a:clrChange>
            <a:extLst>
              <a:ext uri="{28A0092B-C50C-407E-A947-70E740481C1C}">
                <a14:useLocalDpi xmlns:a14="http://schemas.microsoft.com/office/drawing/2010/main"/>
              </a:ext>
            </a:extLst>
          </a:blip>
          <a:stretch>
            <a:fillRect/>
          </a:stretch>
        </p:blipFill>
        <p:spPr>
          <a:xfrm>
            <a:off x="3395205" y="6066959"/>
            <a:ext cx="1169913" cy="304671"/>
          </a:xfrm>
          <a:prstGeom prst="rect">
            <a:avLst/>
          </a:prstGeom>
        </p:spPr>
      </p:pic>
      <p:pic>
        <p:nvPicPr>
          <p:cNvPr id="33" name="Picture 32">
            <a:extLst>
              <a:ext uri="{FF2B5EF4-FFF2-40B4-BE49-F238E27FC236}">
                <a16:creationId xmlns:a16="http://schemas.microsoft.com/office/drawing/2014/main" id="{668EBC6B-AA7F-449A-83F4-7797AE6A3A92}"/>
              </a:ext>
            </a:extLst>
          </p:cNvPr>
          <p:cNvPicPr>
            <a:picLocks noChangeAspect="1"/>
          </p:cNvPicPr>
          <p:nvPr/>
        </p:nvPicPr>
        <p:blipFill>
          <a:blip r:embed="rId12" cstate="email">
            <a:clrChange>
              <a:clrFrom>
                <a:srgbClr val="F7F7F7"/>
              </a:clrFrom>
              <a:clrTo>
                <a:srgbClr val="F7F7F7">
                  <a:alpha val="0"/>
                </a:srgbClr>
              </a:clrTo>
            </a:clrChange>
            <a:extLst>
              <a:ext uri="{28A0092B-C50C-407E-A947-70E740481C1C}">
                <a14:useLocalDpi xmlns:a14="http://schemas.microsoft.com/office/drawing/2010/main"/>
              </a:ext>
            </a:extLst>
          </a:blip>
          <a:stretch>
            <a:fillRect/>
          </a:stretch>
        </p:blipFill>
        <p:spPr>
          <a:xfrm>
            <a:off x="623887" y="6073265"/>
            <a:ext cx="1200522" cy="249692"/>
          </a:xfrm>
          <a:prstGeom prst="rect">
            <a:avLst/>
          </a:prstGeom>
        </p:spPr>
      </p:pic>
      <p:sp>
        <p:nvSpPr>
          <p:cNvPr id="35" name="TextBox 34">
            <a:extLst>
              <a:ext uri="{FF2B5EF4-FFF2-40B4-BE49-F238E27FC236}">
                <a16:creationId xmlns:a16="http://schemas.microsoft.com/office/drawing/2014/main" id="{D48F3EAC-50F7-D73C-1B67-BBF429F7D428}"/>
              </a:ext>
            </a:extLst>
          </p:cNvPr>
          <p:cNvSpPr txBox="1"/>
          <p:nvPr/>
        </p:nvSpPr>
        <p:spPr>
          <a:xfrm>
            <a:off x="3314714" y="5833381"/>
            <a:ext cx="2616199" cy="261610"/>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1100" b="1" i="0" u="none" strike="noStrike" cap="none" spc="0" normalizeH="0" baseline="0">
                <a:ln>
                  <a:noFill/>
                </a:ln>
                <a:solidFill>
                  <a:prstClr val="black"/>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anrope"/>
              </a:rPr>
              <a:t>MARKETPLACE POSTINGS  </a:t>
            </a:r>
          </a:p>
        </p:txBody>
      </p:sp>
      <p:sp>
        <p:nvSpPr>
          <p:cNvPr id="36" name="TextBox 35">
            <a:extLst>
              <a:ext uri="{FF2B5EF4-FFF2-40B4-BE49-F238E27FC236}">
                <a16:creationId xmlns:a16="http://schemas.microsoft.com/office/drawing/2014/main" id="{B8C60E30-FE32-E5A2-6235-B63D16A68F1E}"/>
              </a:ext>
            </a:extLst>
          </p:cNvPr>
          <p:cNvSpPr txBox="1"/>
          <p:nvPr/>
        </p:nvSpPr>
        <p:spPr>
          <a:xfrm>
            <a:off x="5501774" y="5987263"/>
            <a:ext cx="350261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C2CDA">
                    <a:lumMod val="50000"/>
                  </a:srgbClr>
                </a:solidFill>
                <a:effectLst/>
                <a:uLnTx/>
                <a:uFillTx/>
                <a:latin typeface="Heebo Medium" pitchFamily="2" charset="-79"/>
                <a:cs typeface="Heebo Medium" pitchFamily="2" charset="-79"/>
                <a:hlinkClick r:id="rId13">
                  <a:extLst>
                    <a:ext uri="{A12FA001-AC4F-418D-AE19-62706E023703}">
                      <ahyp:hlinkClr xmlns:ahyp="http://schemas.microsoft.com/office/drawing/2018/hyperlinkcolor" val="tx"/>
                    </a:ext>
                  </a:extLst>
                </a:hlinkClick>
              </a:rPr>
              <a:t>Digital Copilot for Insurance Brokers</a:t>
            </a:r>
            <a:endParaRPr kumimoji="0" lang="en-US" sz="1200" b="0" i="0" u="none" strike="noStrike" kern="1200" cap="none" spc="0" normalizeH="0" baseline="0" noProof="0">
              <a:ln>
                <a:noFill/>
              </a:ln>
              <a:solidFill>
                <a:srgbClr val="3C2CDA">
                  <a:lumMod val="50000"/>
                </a:srgbClr>
              </a:solidFill>
              <a:effectLst/>
              <a:uLnTx/>
              <a:uFillTx/>
              <a:latin typeface="Heebo Medium" pitchFamily="2" charset="-79"/>
              <a:cs typeface="Heebo Medium" pitchFamily="2" charset="-79"/>
            </a:endParaRPr>
          </a:p>
        </p:txBody>
      </p:sp>
    </p:spTree>
    <p:extLst>
      <p:ext uri="{BB962C8B-B14F-4D97-AF65-F5344CB8AC3E}">
        <p14:creationId xmlns:p14="http://schemas.microsoft.com/office/powerpoint/2010/main" val="4150170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13D7-A171-907F-243C-3F32CBD49E4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A7DC27-9496-AF91-56A1-42E168982A18}"/>
              </a:ext>
            </a:extLst>
          </p:cNvPr>
          <p:cNvSpPr>
            <a:spLocks noGrp="1"/>
          </p:cNvSpPr>
          <p:nvPr>
            <p:ph type="body" sz="quarter" idx="15"/>
          </p:nvPr>
        </p:nvSpPr>
        <p:spPr>
          <a:xfrm flipH="1">
            <a:off x="623887" y="457200"/>
            <a:ext cx="5618557" cy="244101"/>
          </a:xfrm>
        </p:spPr>
        <p:txBody>
          <a:bodyPr/>
          <a:lstStyle/>
          <a:p>
            <a:r>
              <a:rPr lang="en-US" noProof="0"/>
              <a:t>Key Success Stories - AI ML</a:t>
            </a:r>
          </a:p>
        </p:txBody>
      </p:sp>
      <p:grpSp>
        <p:nvGrpSpPr>
          <p:cNvPr id="3" name="Group 2">
            <a:extLst>
              <a:ext uri="{FF2B5EF4-FFF2-40B4-BE49-F238E27FC236}">
                <a16:creationId xmlns:a16="http://schemas.microsoft.com/office/drawing/2014/main" id="{4A5B055A-57EC-4E5B-F978-1D676C5E6743}"/>
              </a:ext>
            </a:extLst>
          </p:cNvPr>
          <p:cNvGrpSpPr/>
          <p:nvPr/>
        </p:nvGrpSpPr>
        <p:grpSpPr>
          <a:xfrm>
            <a:off x="623887" y="908050"/>
            <a:ext cx="10944226" cy="5473700"/>
            <a:chOff x="623887" y="908050"/>
            <a:chExt cx="14915223" cy="5473700"/>
          </a:xfrm>
        </p:grpSpPr>
        <p:sp>
          <p:nvSpPr>
            <p:cNvPr id="6" name="Rectangle 5">
              <a:extLst>
                <a:ext uri="{FF2B5EF4-FFF2-40B4-BE49-F238E27FC236}">
                  <a16:creationId xmlns:a16="http://schemas.microsoft.com/office/drawing/2014/main" id="{E661B5F4-04A6-3974-B301-0253ED967675}"/>
                </a:ext>
              </a:extLst>
            </p:cNvPr>
            <p:cNvSpPr/>
            <p:nvPr/>
          </p:nvSpPr>
          <p:spPr>
            <a:xfrm>
              <a:off x="623887" y="908050"/>
              <a:ext cx="4886462" cy="2463773"/>
            </a:xfrm>
            <a:prstGeom prst="rect">
              <a:avLst/>
            </a:prstGeom>
            <a:solidFill>
              <a:schemeClr val="accent5">
                <a:lumMod val="20000"/>
                <a:lumOff val="80000"/>
                <a:alpha val="50044"/>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1" name="Rectangle 10">
              <a:extLst>
                <a:ext uri="{FF2B5EF4-FFF2-40B4-BE49-F238E27FC236}">
                  <a16:creationId xmlns:a16="http://schemas.microsoft.com/office/drawing/2014/main" id="{F847356E-3BAF-A585-32E6-B5CFEDC8DF07}"/>
                </a:ext>
              </a:extLst>
            </p:cNvPr>
            <p:cNvSpPr/>
            <p:nvPr/>
          </p:nvSpPr>
          <p:spPr>
            <a:xfrm>
              <a:off x="623887"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6BA13EC-0397-37A3-A37D-1C182E9A207D}"/>
                </a:ext>
              </a:extLst>
            </p:cNvPr>
            <p:cNvSpPr txBox="1"/>
            <p:nvPr/>
          </p:nvSpPr>
          <p:spPr>
            <a:xfrm>
              <a:off x="718152"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8" name="TextBox 7">
              <a:extLst>
                <a:ext uri="{FF2B5EF4-FFF2-40B4-BE49-F238E27FC236}">
                  <a16:creationId xmlns:a16="http://schemas.microsoft.com/office/drawing/2014/main" id="{8256AEA8-9D6E-6F3E-BB7E-185A672D0503}"/>
                </a:ext>
              </a:extLst>
            </p:cNvPr>
            <p:cNvSpPr txBox="1"/>
            <p:nvPr/>
          </p:nvSpPr>
          <p:spPr>
            <a:xfrm>
              <a:off x="627992" y="1589799"/>
              <a:ext cx="4723777" cy="147732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Implemented the use cases of Propensity to Buy, Time to Order Conversion and Revenue Forecasting</a:t>
              </a:r>
            </a:p>
            <a:p>
              <a:pPr marL="171450" indent="-171450">
                <a:spcBef>
                  <a:spcPts val="600"/>
                </a:spcBef>
                <a:buClr>
                  <a:schemeClr val="accent1"/>
                </a:buClr>
                <a:buFont typeface="Arial" panose="020B0604020202020204" pitchFamily="34" charset="0"/>
                <a:buChar char="•"/>
              </a:pPr>
              <a:r>
                <a:rPr lang="en-US" sz="1000">
                  <a:latin typeface="Manrope" pitchFamily="2" charset="0"/>
                </a:rPr>
                <a:t>Preprocessed the data in Snowflake and built a machine learning model using a stacking classifier and arrived at predictions</a:t>
              </a:r>
            </a:p>
            <a:p>
              <a:pPr marL="171450" indent="-171450">
                <a:spcBef>
                  <a:spcPts val="600"/>
                </a:spcBef>
                <a:buClr>
                  <a:schemeClr val="accent1"/>
                </a:buClr>
                <a:buFont typeface="Arial" panose="020B0604020202020204" pitchFamily="34" charset="0"/>
                <a:buChar char="•"/>
              </a:pPr>
              <a:r>
                <a:rPr lang="en-US" sz="1000" b="1">
                  <a:latin typeface="Manrope" pitchFamily="2" charset="0"/>
                </a:rPr>
                <a:t>80 percent Reduction in reliance on manual process to predict the opportunity to order 90% accurate revenue forecasting prediction</a:t>
              </a:r>
            </a:p>
          </p:txBody>
        </p:sp>
        <p:sp>
          <p:nvSpPr>
            <p:cNvPr id="15" name="Rectangle 14">
              <a:extLst>
                <a:ext uri="{FF2B5EF4-FFF2-40B4-BE49-F238E27FC236}">
                  <a16:creationId xmlns:a16="http://schemas.microsoft.com/office/drawing/2014/main" id="{B1B6C79A-87AD-EA1E-99DF-73A0B370F880}"/>
                </a:ext>
              </a:extLst>
            </p:cNvPr>
            <p:cNvSpPr/>
            <p:nvPr/>
          </p:nvSpPr>
          <p:spPr>
            <a:xfrm>
              <a:off x="5639936" y="908050"/>
              <a:ext cx="4886462" cy="2463773"/>
            </a:xfrm>
            <a:prstGeom prst="rect">
              <a:avLst/>
            </a:prstGeom>
            <a:solidFill>
              <a:schemeClr val="accent5">
                <a:lumMod val="20000"/>
                <a:lumOff val="80000"/>
                <a:alpha val="50044"/>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6" name="Rectangle 15">
              <a:extLst>
                <a:ext uri="{FF2B5EF4-FFF2-40B4-BE49-F238E27FC236}">
                  <a16:creationId xmlns:a16="http://schemas.microsoft.com/office/drawing/2014/main" id="{7052AEE0-EAF4-B620-A266-DC73DA192855}"/>
                </a:ext>
              </a:extLst>
            </p:cNvPr>
            <p:cNvSpPr/>
            <p:nvPr/>
          </p:nvSpPr>
          <p:spPr>
            <a:xfrm>
              <a:off x="5639936"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3DAB56F-D45E-6670-03B2-A105F00F13B3}"/>
                </a:ext>
              </a:extLst>
            </p:cNvPr>
            <p:cNvSpPr txBox="1"/>
            <p:nvPr/>
          </p:nvSpPr>
          <p:spPr>
            <a:xfrm>
              <a:off x="5734201"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18" name="TextBox 17">
              <a:extLst>
                <a:ext uri="{FF2B5EF4-FFF2-40B4-BE49-F238E27FC236}">
                  <a16:creationId xmlns:a16="http://schemas.microsoft.com/office/drawing/2014/main" id="{D80C05D4-538D-2407-6030-3B5497486C89}"/>
                </a:ext>
              </a:extLst>
            </p:cNvPr>
            <p:cNvSpPr txBox="1"/>
            <p:nvPr/>
          </p:nvSpPr>
          <p:spPr>
            <a:xfrm>
              <a:off x="5644042" y="1589799"/>
              <a:ext cx="4463250" cy="1708160"/>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The problem statement revolves around creating test scripts for HR SA work in both English and Spanish</a:t>
              </a:r>
            </a:p>
            <a:p>
              <a:pPr marL="171450" indent="-171450">
                <a:spcBef>
                  <a:spcPts val="600"/>
                </a:spcBef>
                <a:buClr>
                  <a:schemeClr val="accent1"/>
                </a:buClr>
                <a:buFont typeface="Arial" panose="020B0604020202020204" pitchFamily="34" charset="0"/>
                <a:buChar char="•"/>
              </a:pPr>
              <a:r>
                <a:rPr lang="en-US" sz="1000">
                  <a:latin typeface="Manrope" pitchFamily="2" charset="0"/>
                </a:rPr>
                <a:t>Input was list of excel files with different test cases are given to be fed into a translation model. </a:t>
              </a:r>
            </a:p>
            <a:p>
              <a:pPr marL="171450" indent="-171450">
                <a:spcBef>
                  <a:spcPts val="600"/>
                </a:spcBef>
                <a:buClr>
                  <a:schemeClr val="accent1"/>
                </a:buClr>
                <a:buFont typeface="Arial" panose="020B0604020202020204" pitchFamily="34" charset="0"/>
                <a:buChar char="•"/>
              </a:pPr>
              <a:r>
                <a:rPr lang="en-US" sz="1000">
                  <a:latin typeface="Manrope" pitchFamily="2" charset="0"/>
                </a:rPr>
                <a:t>Used Microsoft Azure OpenAI large language model to translate the test cases </a:t>
              </a:r>
            </a:p>
            <a:p>
              <a:pPr marL="171450" indent="-171450">
                <a:spcBef>
                  <a:spcPts val="600"/>
                </a:spcBef>
                <a:buClr>
                  <a:schemeClr val="accent1"/>
                </a:buClr>
                <a:buFont typeface="Arial" panose="020B0604020202020204" pitchFamily="34" charset="0"/>
                <a:buChar char="•"/>
              </a:pPr>
              <a:r>
                <a:rPr lang="en-US" sz="1000" b="1">
                  <a:latin typeface="Manrope" pitchFamily="2" charset="0"/>
                </a:rPr>
                <a:t>95 % Accuracy in Translations , 2X increase of speed in testing </a:t>
              </a:r>
            </a:p>
          </p:txBody>
        </p:sp>
        <p:pic>
          <p:nvPicPr>
            <p:cNvPr id="20" name="Picture 2">
              <a:extLst>
                <a:ext uri="{FF2B5EF4-FFF2-40B4-BE49-F238E27FC236}">
                  <a16:creationId xmlns:a16="http://schemas.microsoft.com/office/drawing/2014/main" id="{612C208E-C722-049D-0E16-C0B8EEECAA19}"/>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06389" y="968204"/>
              <a:ext cx="2144574" cy="397523"/>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C0FB50B6-73AA-9183-FD21-E063E3850F2A}"/>
                </a:ext>
              </a:extLst>
            </p:cNvPr>
            <p:cNvSpPr/>
            <p:nvPr/>
          </p:nvSpPr>
          <p:spPr>
            <a:xfrm>
              <a:off x="623887" y="3522278"/>
              <a:ext cx="4886462" cy="2859472"/>
            </a:xfrm>
            <a:prstGeom prst="rect">
              <a:avLst/>
            </a:prstGeom>
            <a:solidFill>
              <a:schemeClr val="accent5">
                <a:lumMod val="20000"/>
                <a:lumOff val="80000"/>
                <a:alpha val="50044"/>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22" name="Rectangle 21">
              <a:extLst>
                <a:ext uri="{FF2B5EF4-FFF2-40B4-BE49-F238E27FC236}">
                  <a16:creationId xmlns:a16="http://schemas.microsoft.com/office/drawing/2014/main" id="{08D56164-A181-1419-4CD8-C7DE69253A5A}"/>
                </a:ext>
              </a:extLst>
            </p:cNvPr>
            <p:cNvSpPr/>
            <p:nvPr/>
          </p:nvSpPr>
          <p:spPr>
            <a:xfrm>
              <a:off x="623887"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8D2D355-B0F6-FE72-1A37-3344E96DDEDE}"/>
                </a:ext>
              </a:extLst>
            </p:cNvPr>
            <p:cNvSpPr txBox="1"/>
            <p:nvPr/>
          </p:nvSpPr>
          <p:spPr>
            <a:xfrm>
              <a:off x="718152"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4" name="TextBox 23">
              <a:extLst>
                <a:ext uri="{FF2B5EF4-FFF2-40B4-BE49-F238E27FC236}">
                  <a16:creationId xmlns:a16="http://schemas.microsoft.com/office/drawing/2014/main" id="{C8B17C29-471B-5B2E-83D2-3A9D525182ED}"/>
                </a:ext>
              </a:extLst>
            </p:cNvPr>
            <p:cNvSpPr txBox="1"/>
            <p:nvPr/>
          </p:nvSpPr>
          <p:spPr>
            <a:xfrm>
              <a:off x="627992" y="4204027"/>
              <a:ext cx="4723777" cy="1708160"/>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Input data is enriched with supplementary data from marketplace </a:t>
              </a:r>
            </a:p>
            <a:p>
              <a:pPr marL="171450" indent="-171450">
                <a:spcBef>
                  <a:spcPts val="600"/>
                </a:spcBef>
                <a:buClr>
                  <a:schemeClr val="accent1"/>
                </a:buClr>
                <a:buFont typeface="Arial" panose="020B0604020202020204" pitchFamily="34" charset="0"/>
                <a:buChar char="•"/>
              </a:pPr>
              <a:r>
                <a:rPr lang="en-US" sz="1000">
                  <a:latin typeface="Manrope" pitchFamily="2" charset="0"/>
                </a:rPr>
                <a:t>Machine learning (ML) model is built to predict volume of claims to be processed based on Weather, Geographical and Census data.</a:t>
              </a:r>
            </a:p>
            <a:p>
              <a:pPr marL="171450" indent="-171450">
                <a:spcBef>
                  <a:spcPts val="600"/>
                </a:spcBef>
                <a:buClr>
                  <a:schemeClr val="accent1"/>
                </a:buClr>
                <a:buFont typeface="Arial" panose="020B0604020202020204" pitchFamily="34" charset="0"/>
                <a:buChar char="•"/>
              </a:pPr>
              <a:r>
                <a:rPr lang="en-US" sz="1000">
                  <a:latin typeface="Manrope" pitchFamily="2" charset="0"/>
                </a:rPr>
                <a:t>Using Streamset, ML output is loaded back to Snowflake and shared with using data sharing.</a:t>
              </a:r>
            </a:p>
            <a:p>
              <a:pPr marL="171450" indent="-171450">
                <a:spcBef>
                  <a:spcPts val="600"/>
                </a:spcBef>
                <a:buClr>
                  <a:schemeClr val="accent1"/>
                </a:buClr>
                <a:buFont typeface="Arial" panose="020B0604020202020204" pitchFamily="34" charset="0"/>
                <a:buChar char="•"/>
              </a:pPr>
              <a:r>
                <a:rPr lang="en-US" sz="1000" b="1">
                  <a:latin typeface="Manrope" pitchFamily="2" charset="0"/>
                </a:rPr>
                <a:t>30 percent Savings in sharing the data client customers</a:t>
              </a:r>
            </a:p>
          </p:txBody>
        </p:sp>
        <p:sp>
          <p:nvSpPr>
            <p:cNvPr id="26" name="Rectangle 25">
              <a:extLst>
                <a:ext uri="{FF2B5EF4-FFF2-40B4-BE49-F238E27FC236}">
                  <a16:creationId xmlns:a16="http://schemas.microsoft.com/office/drawing/2014/main" id="{B4A88D87-03C7-57E8-8184-F9304CB42EA5}"/>
                </a:ext>
              </a:extLst>
            </p:cNvPr>
            <p:cNvSpPr/>
            <p:nvPr/>
          </p:nvSpPr>
          <p:spPr>
            <a:xfrm>
              <a:off x="5639936" y="3522278"/>
              <a:ext cx="4886462" cy="2859472"/>
            </a:xfrm>
            <a:prstGeom prst="rect">
              <a:avLst/>
            </a:prstGeom>
            <a:solidFill>
              <a:schemeClr val="accent5">
                <a:lumMod val="20000"/>
                <a:lumOff val="80000"/>
                <a:alpha val="50044"/>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27" name="Rectangle 26">
              <a:extLst>
                <a:ext uri="{FF2B5EF4-FFF2-40B4-BE49-F238E27FC236}">
                  <a16:creationId xmlns:a16="http://schemas.microsoft.com/office/drawing/2014/main" id="{3636F620-0C2F-5322-E3EC-5F60611E6DA8}"/>
                </a:ext>
              </a:extLst>
            </p:cNvPr>
            <p:cNvSpPr/>
            <p:nvPr/>
          </p:nvSpPr>
          <p:spPr>
            <a:xfrm>
              <a:off x="5639936"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A90B36E-25CA-F1CF-FE45-E9D466EF368C}"/>
                </a:ext>
              </a:extLst>
            </p:cNvPr>
            <p:cNvSpPr txBox="1"/>
            <p:nvPr/>
          </p:nvSpPr>
          <p:spPr>
            <a:xfrm>
              <a:off x="5734201"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9" name="TextBox 28">
              <a:extLst>
                <a:ext uri="{FF2B5EF4-FFF2-40B4-BE49-F238E27FC236}">
                  <a16:creationId xmlns:a16="http://schemas.microsoft.com/office/drawing/2014/main" id="{8ACA77BD-577C-EC95-92B8-58526F259133}"/>
                </a:ext>
              </a:extLst>
            </p:cNvPr>
            <p:cNvSpPr txBox="1"/>
            <p:nvPr/>
          </p:nvSpPr>
          <p:spPr>
            <a:xfrm>
              <a:off x="5721026" y="4204027"/>
              <a:ext cx="4463252" cy="1708160"/>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t>Predictive Analytics for a Private equity, Alternative asset management and Financial services Firm</a:t>
              </a:r>
            </a:p>
            <a:p>
              <a:pPr marL="171450" indent="-171450">
                <a:spcBef>
                  <a:spcPts val="600"/>
                </a:spcBef>
                <a:buClr>
                  <a:schemeClr val="accent1"/>
                </a:buClr>
                <a:buFont typeface="Arial" panose="020B0604020202020204" pitchFamily="34" charset="0"/>
                <a:buChar char="•"/>
              </a:pPr>
              <a:r>
                <a:rPr lang="en-US" sz="1000"/>
                <a:t>Developed Advanced Analytics Model and Simulation apps for private equity research in Global research team</a:t>
              </a:r>
            </a:p>
            <a:p>
              <a:pPr marL="171450" indent="-171450">
                <a:spcBef>
                  <a:spcPts val="600"/>
                </a:spcBef>
                <a:buClr>
                  <a:schemeClr val="accent1"/>
                </a:buClr>
                <a:buFont typeface="Arial" panose="020B0604020202020204" pitchFamily="34" charset="0"/>
                <a:buChar char="•"/>
              </a:pPr>
              <a:r>
                <a:rPr lang="en-US" sz="1000"/>
                <a:t>The technology used are R, Shiny and Snowflake.</a:t>
              </a:r>
            </a:p>
            <a:p>
              <a:pPr marL="171450" indent="-171450">
                <a:spcBef>
                  <a:spcPts val="600"/>
                </a:spcBef>
                <a:buClr>
                  <a:schemeClr val="accent1"/>
                </a:buClr>
                <a:buFont typeface="Arial" panose="020B0604020202020204" pitchFamily="34" charset="0"/>
                <a:buChar char="•"/>
              </a:pPr>
              <a:r>
                <a:rPr lang="en-US" sz="1000" b="1"/>
                <a:t>Enhanced Portfolio Performance forecasting by 20 percent</a:t>
              </a:r>
            </a:p>
          </p:txBody>
        </p:sp>
        <p:sp>
          <p:nvSpPr>
            <p:cNvPr id="4" name="Rectangle 3">
              <a:extLst>
                <a:ext uri="{FF2B5EF4-FFF2-40B4-BE49-F238E27FC236}">
                  <a16:creationId xmlns:a16="http://schemas.microsoft.com/office/drawing/2014/main" id="{24108AE0-02DA-2F13-5AF9-936AB8D868F8}"/>
                </a:ext>
              </a:extLst>
            </p:cNvPr>
            <p:cNvSpPr/>
            <p:nvPr/>
          </p:nvSpPr>
          <p:spPr>
            <a:xfrm>
              <a:off x="10652648" y="908050"/>
              <a:ext cx="4886462" cy="2463773"/>
            </a:xfrm>
            <a:prstGeom prst="rect">
              <a:avLst/>
            </a:prstGeom>
            <a:solidFill>
              <a:schemeClr val="accent5">
                <a:lumMod val="20000"/>
                <a:lumOff val="80000"/>
                <a:alpha val="50044"/>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5" name="Rectangle 4">
              <a:extLst>
                <a:ext uri="{FF2B5EF4-FFF2-40B4-BE49-F238E27FC236}">
                  <a16:creationId xmlns:a16="http://schemas.microsoft.com/office/drawing/2014/main" id="{9A1048E4-973F-F2CB-7939-AC9AF854B611}"/>
                </a:ext>
              </a:extLst>
            </p:cNvPr>
            <p:cNvSpPr/>
            <p:nvPr/>
          </p:nvSpPr>
          <p:spPr>
            <a:xfrm>
              <a:off x="10652648"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BA27A5D-1D3B-0AA1-61DF-0C61CE562D7A}"/>
                </a:ext>
              </a:extLst>
            </p:cNvPr>
            <p:cNvSpPr/>
            <p:nvPr/>
          </p:nvSpPr>
          <p:spPr>
            <a:xfrm>
              <a:off x="10652648" y="3522278"/>
              <a:ext cx="4886462" cy="2859472"/>
            </a:xfrm>
            <a:prstGeom prst="rect">
              <a:avLst/>
            </a:prstGeom>
            <a:solidFill>
              <a:schemeClr val="accent5">
                <a:lumMod val="20000"/>
                <a:lumOff val="80000"/>
                <a:alpha val="50044"/>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2" name="Rectangle 11">
              <a:extLst>
                <a:ext uri="{FF2B5EF4-FFF2-40B4-BE49-F238E27FC236}">
                  <a16:creationId xmlns:a16="http://schemas.microsoft.com/office/drawing/2014/main" id="{623B474E-5C75-C032-D8C8-DBA83EDBAEDD}"/>
                </a:ext>
              </a:extLst>
            </p:cNvPr>
            <p:cNvSpPr/>
            <p:nvPr/>
          </p:nvSpPr>
          <p:spPr>
            <a:xfrm>
              <a:off x="10652648"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8E06ED6-0F4A-E097-25BB-FE69E2F15D48}"/>
                </a:ext>
              </a:extLst>
            </p:cNvPr>
            <p:cNvSpPr txBox="1"/>
            <p:nvPr/>
          </p:nvSpPr>
          <p:spPr>
            <a:xfrm>
              <a:off x="10732611" y="1589799"/>
              <a:ext cx="4463250" cy="147732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Design of Data Marts  and Feature Marts for Marketing Analytics and Customer Insights for use cases on Lead Scoring, Customer Propensity &amp; LTV and ML Ops on DataRobot and Snowpark. </a:t>
              </a:r>
            </a:p>
            <a:p>
              <a:pPr marL="171450" indent="-171450">
                <a:spcBef>
                  <a:spcPts val="600"/>
                </a:spcBef>
                <a:buClr>
                  <a:schemeClr val="accent1"/>
                </a:buClr>
                <a:buFont typeface="Arial" panose="020B0604020202020204" pitchFamily="34" charset="0"/>
                <a:buChar char="•"/>
              </a:pPr>
              <a:r>
                <a:rPr lang="en-US" sz="1000">
                  <a:latin typeface="Manrope" pitchFamily="2" charset="0"/>
                </a:rPr>
                <a:t>Worked with marketing business SMEs to fine tune models, evaluate features, inferences and outcomes</a:t>
              </a:r>
            </a:p>
            <a:p>
              <a:pPr marL="171450" indent="-171450">
                <a:spcBef>
                  <a:spcPts val="600"/>
                </a:spcBef>
                <a:buClr>
                  <a:schemeClr val="accent1"/>
                </a:buClr>
                <a:buFont typeface="Arial" panose="020B0604020202020204" pitchFamily="34" charset="0"/>
                <a:buChar char="•"/>
              </a:pPr>
              <a:r>
                <a:rPr lang="en-US" sz="1000" b="1">
                  <a:latin typeface="Manrope" pitchFamily="2" charset="0"/>
                </a:rPr>
                <a:t>30%+ faster customer insights delivery</a:t>
              </a:r>
            </a:p>
          </p:txBody>
        </p:sp>
        <p:sp>
          <p:nvSpPr>
            <p:cNvPr id="32" name="TextBox 31">
              <a:extLst>
                <a:ext uri="{FF2B5EF4-FFF2-40B4-BE49-F238E27FC236}">
                  <a16:creationId xmlns:a16="http://schemas.microsoft.com/office/drawing/2014/main" id="{67AF6DA8-8534-AC1F-A155-BB1C3FE2C5F7}"/>
                </a:ext>
              </a:extLst>
            </p:cNvPr>
            <p:cNvSpPr txBox="1"/>
            <p:nvPr/>
          </p:nvSpPr>
          <p:spPr>
            <a:xfrm>
              <a:off x="10779926" y="4204027"/>
              <a:ext cx="4463252" cy="1554272"/>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t>The Clinical Data stored in snowflake is utilized for multiple projects in IQVIA</a:t>
              </a:r>
            </a:p>
            <a:p>
              <a:pPr marL="171450" indent="-171450">
                <a:spcBef>
                  <a:spcPts val="600"/>
                </a:spcBef>
                <a:buClr>
                  <a:schemeClr val="accent1"/>
                </a:buClr>
                <a:buFont typeface="Arial" panose="020B0604020202020204" pitchFamily="34" charset="0"/>
                <a:buChar char="•"/>
              </a:pPr>
              <a:r>
                <a:rPr lang="en-US" sz="1000"/>
                <a:t>The Projects are QA Generator, Project Artefact Creation, Document Generation , Monitoring Assist, Clinical Trail Document Auto Classification</a:t>
              </a:r>
            </a:p>
            <a:p>
              <a:pPr marL="171450" indent="-171450">
                <a:spcBef>
                  <a:spcPts val="600"/>
                </a:spcBef>
                <a:buClr>
                  <a:schemeClr val="accent1"/>
                </a:buClr>
                <a:buFont typeface="Arial" panose="020B0604020202020204" pitchFamily="34" charset="0"/>
                <a:buChar char="•"/>
              </a:pPr>
              <a:r>
                <a:rPr lang="en-US" sz="1000"/>
                <a:t>The benefits observed are 41 percent cost saving annually due t o Gen AI assisted Approach</a:t>
              </a:r>
            </a:p>
            <a:p>
              <a:pPr marL="171450" indent="-171450">
                <a:spcBef>
                  <a:spcPts val="600"/>
                </a:spcBef>
                <a:buClr>
                  <a:schemeClr val="accent1"/>
                </a:buClr>
                <a:buFont typeface="Arial" panose="020B0604020202020204" pitchFamily="34" charset="0"/>
                <a:buChar char="•"/>
              </a:pPr>
              <a:r>
                <a:rPr lang="en-US" sz="1000" b="1"/>
                <a:t>12 percent of tickets saved annually.</a:t>
              </a:r>
            </a:p>
          </p:txBody>
        </p:sp>
      </p:grpSp>
      <p:pic>
        <p:nvPicPr>
          <p:cNvPr id="13" name="Picture 12">
            <a:extLst>
              <a:ext uri="{FF2B5EF4-FFF2-40B4-BE49-F238E27FC236}">
                <a16:creationId xmlns:a16="http://schemas.microsoft.com/office/drawing/2014/main" id="{1FE921EB-D6B2-D0A3-CFB1-ADF60A37325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808492" y="1047036"/>
            <a:ext cx="750448" cy="25729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8" descr="MarineMax Reports Record Fiscal Third Quarter Results | Business Wire">
            <a:extLst>
              <a:ext uri="{FF2B5EF4-FFF2-40B4-BE49-F238E27FC236}">
                <a16:creationId xmlns:a16="http://schemas.microsoft.com/office/drawing/2014/main" id="{4F523430-29C6-0C0B-6356-37C4DFFAA775}"/>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418552" y="1034132"/>
            <a:ext cx="701857" cy="38460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Better Decisions - Commercial Risk - Health - Reinsurance - Wealth | Aon">
            <a:extLst>
              <a:ext uri="{FF2B5EF4-FFF2-40B4-BE49-F238E27FC236}">
                <a16:creationId xmlns:a16="http://schemas.microsoft.com/office/drawing/2014/main" id="{266FA400-E733-5D6A-D527-5D124FEF0A52}"/>
              </a:ext>
            </a:extLst>
          </p:cNvPr>
          <p:cNvPicPr>
            <a:picLocks noChangeAspect="1" noChangeArrowheads="1"/>
          </p:cNvPicPr>
          <p:nvPr/>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901257" y="3668945"/>
            <a:ext cx="610124" cy="26241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Carlyle Group logo in transparent PNG and vectorized SVG formats">
            <a:extLst>
              <a:ext uri="{FF2B5EF4-FFF2-40B4-BE49-F238E27FC236}">
                <a16:creationId xmlns:a16="http://schemas.microsoft.com/office/drawing/2014/main" id="{A3FF6110-0775-412F-229F-358E36B1B4E9}"/>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539340" y="3731115"/>
            <a:ext cx="1098854" cy="13807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undefined">
            <a:extLst>
              <a:ext uri="{FF2B5EF4-FFF2-40B4-BE49-F238E27FC236}">
                <a16:creationId xmlns:a16="http://schemas.microsoft.com/office/drawing/2014/main" id="{D662F04F-B09E-326E-3F72-B4D8B3B00A8A}"/>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9127875" y="3713821"/>
            <a:ext cx="992534" cy="172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8261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F00B-0170-7126-BE38-9E639BC4250A}"/>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0A9B6292-B01A-DC6B-0064-6C416D91C3D3}"/>
              </a:ext>
            </a:extLst>
          </p:cNvPr>
          <p:cNvGrpSpPr/>
          <p:nvPr/>
        </p:nvGrpSpPr>
        <p:grpSpPr>
          <a:xfrm>
            <a:off x="652880" y="926342"/>
            <a:ext cx="785145" cy="785145"/>
            <a:chOff x="1450992" y="1491427"/>
            <a:chExt cx="950026" cy="950026"/>
          </a:xfrm>
        </p:grpSpPr>
        <p:sp>
          <p:nvSpPr>
            <p:cNvPr id="32" name="Oval 31">
              <a:extLst>
                <a:ext uri="{FF2B5EF4-FFF2-40B4-BE49-F238E27FC236}">
                  <a16:creationId xmlns:a16="http://schemas.microsoft.com/office/drawing/2014/main" id="{1421F3BC-CA3A-CA13-6F4F-206F2F0A6A72}"/>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25F2438-3241-AB3C-9159-F57B02F1EF91}"/>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Placeholder 1">
            <a:extLst>
              <a:ext uri="{FF2B5EF4-FFF2-40B4-BE49-F238E27FC236}">
                <a16:creationId xmlns:a16="http://schemas.microsoft.com/office/drawing/2014/main" id="{B4F581B6-A088-E233-4B96-7CE97FB80E79}"/>
              </a:ext>
            </a:extLst>
          </p:cNvPr>
          <p:cNvSpPr>
            <a:spLocks noGrp="1"/>
          </p:cNvSpPr>
          <p:nvPr>
            <p:ph type="body" sz="quarter" idx="15"/>
          </p:nvPr>
        </p:nvSpPr>
        <p:spPr>
          <a:xfrm flipH="1">
            <a:off x="623888" y="457200"/>
            <a:ext cx="8172450" cy="244101"/>
          </a:xfrm>
        </p:spPr>
        <p:txBody>
          <a:bodyPr/>
          <a:lstStyle/>
          <a:p>
            <a:r>
              <a:rPr lang="en-US"/>
              <a:t>Data Engineering Services On Snowflake</a:t>
            </a:r>
          </a:p>
        </p:txBody>
      </p:sp>
      <p:sp>
        <p:nvSpPr>
          <p:cNvPr id="10" name="Rectangle: Rounded Corners 18">
            <a:extLst>
              <a:ext uri="{FF2B5EF4-FFF2-40B4-BE49-F238E27FC236}">
                <a16:creationId xmlns:a16="http://schemas.microsoft.com/office/drawing/2014/main" id="{B6AA798D-57CF-E0FB-ADBF-B0092D079A34}"/>
              </a:ext>
            </a:extLst>
          </p:cNvPr>
          <p:cNvSpPr/>
          <p:nvPr/>
        </p:nvSpPr>
        <p:spPr>
          <a:xfrm>
            <a:off x="623888" y="1812336"/>
            <a:ext cx="10932238" cy="944976"/>
          </a:xfrm>
          <a:prstGeom prst="roundRect">
            <a:avLst>
              <a:gd name="adj" fmla="val 0"/>
            </a:avLst>
          </a:prstGeom>
          <a:solidFill>
            <a:srgbClr val="EEEFF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anrope"/>
              <a:ea typeface="Helvetica Neue"/>
              <a:cs typeface="Helvetica Neue"/>
            </a:endParaRPr>
          </a:p>
        </p:txBody>
      </p:sp>
      <p:sp>
        <p:nvSpPr>
          <p:cNvPr id="20" name="TextBox 19">
            <a:extLst>
              <a:ext uri="{FF2B5EF4-FFF2-40B4-BE49-F238E27FC236}">
                <a16:creationId xmlns:a16="http://schemas.microsoft.com/office/drawing/2014/main" id="{71CB99EF-3DED-1632-75D9-3FAE4E5D8D33}"/>
              </a:ext>
            </a:extLst>
          </p:cNvPr>
          <p:cNvSpPr txBox="1"/>
          <p:nvPr/>
        </p:nvSpPr>
        <p:spPr>
          <a:xfrm>
            <a:off x="7053849" y="1970551"/>
            <a:ext cx="4502277" cy="646331"/>
          </a:xfrm>
          <a:prstGeom prst="rect">
            <a:avLst/>
          </a:prstGeom>
          <a:noFill/>
        </p:spPr>
        <p:txBody>
          <a:bodyPr wrap="square">
            <a:spAutoFit/>
          </a:body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Simplified Data Architectures. </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Frameworks and Accelerators tested in Real world. </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Gen AI powered for AI Data Pipelines</a:t>
            </a:r>
          </a:p>
        </p:txBody>
      </p:sp>
      <p:sp>
        <p:nvSpPr>
          <p:cNvPr id="46" name="Title 29">
            <a:extLst>
              <a:ext uri="{FF2B5EF4-FFF2-40B4-BE49-F238E27FC236}">
                <a16:creationId xmlns:a16="http://schemas.microsoft.com/office/drawing/2014/main" id="{CC544AE9-25D1-6FFE-1091-9047FFC35C18}"/>
              </a:ext>
            </a:extLst>
          </p:cNvPr>
          <p:cNvSpPr txBox="1">
            <a:spLocks/>
          </p:cNvSpPr>
          <p:nvPr/>
        </p:nvSpPr>
        <p:spPr>
          <a:xfrm>
            <a:off x="1568267" y="1161026"/>
            <a:ext cx="9999847"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400" b="0" u="none" strike="noStrike" kern="1200" cap="none" spc="0" normalizeH="0" baseline="0" noProof="0">
                <a:ln>
                  <a:noFill/>
                </a:ln>
                <a:solidFill>
                  <a:srgbClr val="000000"/>
                </a:solidFill>
                <a:effectLst/>
                <a:uLnTx/>
                <a:uFillTx/>
                <a:latin typeface="Manrope"/>
                <a:ea typeface="Helvetica Neue Medium"/>
                <a:cs typeface="Helvetica Neue Medium"/>
              </a:rPr>
              <a:t>We leverage our inhouse custom frameworks and tools for faster data onboarding and Gen AI powered AI data pipelines to accelerate development across data value chain.</a:t>
            </a:r>
          </a:p>
        </p:txBody>
      </p:sp>
      <p:grpSp>
        <p:nvGrpSpPr>
          <p:cNvPr id="21" name="Group 20">
            <a:extLst>
              <a:ext uri="{FF2B5EF4-FFF2-40B4-BE49-F238E27FC236}">
                <a16:creationId xmlns:a16="http://schemas.microsoft.com/office/drawing/2014/main" id="{2A8B2726-5C98-4C20-7B67-6C5E6D706D6D}"/>
              </a:ext>
            </a:extLst>
          </p:cNvPr>
          <p:cNvGrpSpPr/>
          <p:nvPr/>
        </p:nvGrpSpPr>
        <p:grpSpPr>
          <a:xfrm>
            <a:off x="623887" y="2869596"/>
            <a:ext cx="2759761" cy="2903109"/>
            <a:chOff x="382469" y="2434148"/>
            <a:chExt cx="2727736" cy="2903109"/>
          </a:xfrm>
        </p:grpSpPr>
        <p:sp>
          <p:nvSpPr>
            <p:cNvPr id="6" name="Rectangle: Rounded Corners 18">
              <a:extLst>
                <a:ext uri="{FF2B5EF4-FFF2-40B4-BE49-F238E27FC236}">
                  <a16:creationId xmlns:a16="http://schemas.microsoft.com/office/drawing/2014/main" id="{069C6302-9E35-A169-AB91-39842DB2B568}"/>
                </a:ext>
              </a:extLst>
            </p:cNvPr>
            <p:cNvSpPr/>
            <p:nvPr/>
          </p:nvSpPr>
          <p:spPr>
            <a:xfrm>
              <a:off x="382469" y="2525605"/>
              <a:ext cx="2727736" cy="2811652"/>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7" name="Rectangle: Rounded Corners 18">
              <a:extLst>
                <a:ext uri="{FF2B5EF4-FFF2-40B4-BE49-F238E27FC236}">
                  <a16:creationId xmlns:a16="http://schemas.microsoft.com/office/drawing/2014/main" id="{2B53FCFB-B965-8DDC-38D7-7A87370CC72C}"/>
                </a:ext>
              </a:extLst>
            </p:cNvPr>
            <p:cNvSpPr/>
            <p:nvPr/>
          </p:nvSpPr>
          <p:spPr>
            <a:xfrm>
              <a:off x="395157" y="2434148"/>
              <a:ext cx="2715048" cy="356878"/>
            </a:xfrm>
            <a:prstGeom prst="roundRect">
              <a:avLst>
                <a:gd name="adj" fmla="val 0"/>
              </a:avLst>
            </a:prstGeom>
            <a:solidFill>
              <a:srgbClr val="08126E"/>
            </a:solidFill>
            <a:ln w="3175">
              <a:noFill/>
            </a:ln>
            <a:effectLst/>
          </p:spPr>
          <p:txBody>
            <a:bodyPr lIns="0" tIns="0" rIns="0" bIns="0" anchor="ctr" anchorCtr="0"/>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Our Offerings</a:t>
              </a:r>
            </a:p>
          </p:txBody>
        </p:sp>
        <p:sp>
          <p:nvSpPr>
            <p:cNvPr id="45" name="TextBox 44">
              <a:extLst>
                <a:ext uri="{FF2B5EF4-FFF2-40B4-BE49-F238E27FC236}">
                  <a16:creationId xmlns:a16="http://schemas.microsoft.com/office/drawing/2014/main" id="{7093E4AE-EDC2-C324-D9FB-8F00858ED746}"/>
                </a:ext>
              </a:extLst>
            </p:cNvPr>
            <p:cNvSpPr txBox="1"/>
            <p:nvPr/>
          </p:nvSpPr>
          <p:spPr>
            <a:xfrm>
              <a:off x="491810" y="2916756"/>
              <a:ext cx="2358534" cy="2316019"/>
            </a:xfrm>
            <a:prstGeom prst="rect">
              <a:avLst/>
            </a:prstGeom>
            <a:noFill/>
          </p:spPr>
          <p:txBody>
            <a:bodyPr wrap="square" lIns="91440" tIns="0" rIns="0" bIns="0" rtlCol="0">
              <a:spAutoFit/>
            </a:bodyPr>
            <a:lstStyle/>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Warehouse &amp; Analytical Marts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Lakes &amp; Lakehouse Solutions</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Model Designs – Dimensional, Data Vault etc.</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Ingestion – On Prem and Cloud Solutions</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Transformation – ELT</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Custom frameworks and tools</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Greenfield Builds</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Tool / Code Conversions</a:t>
              </a:r>
            </a:p>
          </p:txBody>
        </p:sp>
      </p:grpSp>
      <p:grpSp>
        <p:nvGrpSpPr>
          <p:cNvPr id="27" name="Group 26">
            <a:extLst>
              <a:ext uri="{FF2B5EF4-FFF2-40B4-BE49-F238E27FC236}">
                <a16:creationId xmlns:a16="http://schemas.microsoft.com/office/drawing/2014/main" id="{113844CB-45D4-0EFE-3027-12C9A3ADE851}"/>
              </a:ext>
            </a:extLst>
          </p:cNvPr>
          <p:cNvGrpSpPr/>
          <p:nvPr/>
        </p:nvGrpSpPr>
        <p:grpSpPr>
          <a:xfrm>
            <a:off x="8716905" y="2878943"/>
            <a:ext cx="2851209" cy="2893762"/>
            <a:chOff x="9036899" y="2430426"/>
            <a:chExt cx="2823201" cy="3521856"/>
          </a:xfrm>
        </p:grpSpPr>
        <p:sp>
          <p:nvSpPr>
            <p:cNvPr id="16" name="Rectangle: Rounded Corners 18">
              <a:extLst>
                <a:ext uri="{FF2B5EF4-FFF2-40B4-BE49-F238E27FC236}">
                  <a16:creationId xmlns:a16="http://schemas.microsoft.com/office/drawing/2014/main" id="{EE82879E-4CE0-E87B-2A17-3CAF7F100FE3}"/>
                </a:ext>
              </a:extLst>
            </p:cNvPr>
            <p:cNvSpPr/>
            <p:nvPr/>
          </p:nvSpPr>
          <p:spPr>
            <a:xfrm>
              <a:off x="9036899" y="2785277"/>
              <a:ext cx="2823201" cy="3167005"/>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28" name="Rectangle: Rounded Corners 18">
              <a:extLst>
                <a:ext uri="{FF2B5EF4-FFF2-40B4-BE49-F238E27FC236}">
                  <a16:creationId xmlns:a16="http://schemas.microsoft.com/office/drawing/2014/main" id="{4A6708E9-600D-CF72-0C63-645A6DAD2A51}"/>
                </a:ext>
              </a:extLst>
            </p:cNvPr>
            <p:cNvSpPr/>
            <p:nvPr/>
          </p:nvSpPr>
          <p:spPr>
            <a:xfrm>
              <a:off x="9036899" y="2430426"/>
              <a:ext cx="2823201" cy="356878"/>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Outcomes Delivered</a:t>
              </a:r>
            </a:p>
          </p:txBody>
        </p:sp>
        <p:sp>
          <p:nvSpPr>
            <p:cNvPr id="15" name="Rectangle: Rounded Corners 18">
              <a:extLst>
                <a:ext uri="{FF2B5EF4-FFF2-40B4-BE49-F238E27FC236}">
                  <a16:creationId xmlns:a16="http://schemas.microsoft.com/office/drawing/2014/main" id="{86B1C9BD-A2AE-B1B2-E5A1-1DC6E186CED0}"/>
                </a:ext>
              </a:extLst>
            </p:cNvPr>
            <p:cNvSpPr/>
            <p:nvPr/>
          </p:nvSpPr>
          <p:spPr>
            <a:xfrm>
              <a:off x="9041179" y="2871088"/>
              <a:ext cx="2749995" cy="2246769"/>
            </a:xfrm>
            <a:prstGeom prst="roundRect">
              <a:avLst>
                <a:gd name="adj" fmla="val 0"/>
              </a:avLst>
            </a:prstGeom>
            <a:noFill/>
          </p:spPr>
          <p:txBody>
            <a:bodyPr wrap="square" lIns="91440" tIns="0" rIns="0" bIns="0" rtlCol="0">
              <a:spAutoFit/>
            </a:bodyPr>
            <a:lstStyle/>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600 K per year of savings for a customer from a commercial data ingestion tool, replaced with our ADF framework</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 saving for a customer by replacing tools like </a:t>
              </a:r>
              <a:r>
                <a:rPr kumimoji="0" lang="en-US" sz="1050" b="0" i="0" u="none" strike="noStrike" kern="1200" cap="none" spc="0" normalizeH="0" baseline="0" noProof="0" err="1">
                  <a:ln>
                    <a:noFill/>
                  </a:ln>
                  <a:solidFill>
                    <a:srgbClr val="000000"/>
                  </a:solidFill>
                  <a:effectLst/>
                  <a:uLnTx/>
                  <a:uFillTx/>
                  <a:latin typeface="Manrope"/>
                </a:rPr>
                <a:t>Fivetran</a:t>
              </a:r>
              <a:r>
                <a:rPr kumimoji="0" lang="en-US" sz="1050" b="0" i="0" u="none" strike="noStrike" kern="1200" cap="none" spc="0" normalizeH="0" baseline="0" noProof="0">
                  <a:ln>
                    <a:noFill/>
                  </a:ln>
                  <a:solidFill>
                    <a:srgbClr val="000000"/>
                  </a:solidFill>
                  <a:effectLst/>
                  <a:uLnTx/>
                  <a:uFillTx/>
                  <a:latin typeface="Manrope"/>
                </a:rPr>
                <a:t> for ingesting data from Cloud based SaaS systems. </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Reduced turnaround time for delivering data insights by 75%,</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Enabled 50% reduction in client costs and overhead </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75% reduction in data cleansing and processing times</a:t>
              </a:r>
            </a:p>
          </p:txBody>
        </p:sp>
      </p:grpSp>
      <p:grpSp>
        <p:nvGrpSpPr>
          <p:cNvPr id="25" name="Group 24">
            <a:extLst>
              <a:ext uri="{FF2B5EF4-FFF2-40B4-BE49-F238E27FC236}">
                <a16:creationId xmlns:a16="http://schemas.microsoft.com/office/drawing/2014/main" id="{1576A353-190C-889D-997D-341C439E4BAB}"/>
              </a:ext>
            </a:extLst>
          </p:cNvPr>
          <p:cNvGrpSpPr/>
          <p:nvPr/>
        </p:nvGrpSpPr>
        <p:grpSpPr>
          <a:xfrm>
            <a:off x="3431255" y="2865874"/>
            <a:ext cx="5242363" cy="2906831"/>
            <a:chOff x="3381720" y="2430426"/>
            <a:chExt cx="2639669" cy="2906831"/>
          </a:xfrm>
        </p:grpSpPr>
        <p:sp>
          <p:nvSpPr>
            <p:cNvPr id="38" name="Rectangle: Rounded Corners 18">
              <a:extLst>
                <a:ext uri="{FF2B5EF4-FFF2-40B4-BE49-F238E27FC236}">
                  <a16:creationId xmlns:a16="http://schemas.microsoft.com/office/drawing/2014/main" id="{AC47AEDF-EEFC-0A47-7446-4274DE3B73F0}"/>
                </a:ext>
              </a:extLst>
            </p:cNvPr>
            <p:cNvSpPr/>
            <p:nvPr/>
          </p:nvSpPr>
          <p:spPr>
            <a:xfrm>
              <a:off x="3381720" y="2791025"/>
              <a:ext cx="2639669" cy="2546232"/>
            </a:xfrm>
            <a:prstGeom prst="roundRect">
              <a:avLst>
                <a:gd name="adj" fmla="val 0"/>
              </a:avLst>
            </a:prstGeom>
            <a:noFill/>
            <a:ln w="6350">
              <a:solidFill>
                <a:schemeClr val="accent5"/>
              </a:solid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1027" name="Rectangle: Rounded Corners 18">
              <a:extLst>
                <a:ext uri="{FF2B5EF4-FFF2-40B4-BE49-F238E27FC236}">
                  <a16:creationId xmlns:a16="http://schemas.microsoft.com/office/drawing/2014/main" id="{D4EDB4DE-90B4-B89A-1EEE-4C6870569127}"/>
                </a:ext>
              </a:extLst>
            </p:cNvPr>
            <p:cNvSpPr/>
            <p:nvPr/>
          </p:nvSpPr>
          <p:spPr>
            <a:xfrm>
              <a:off x="3381720" y="2430426"/>
              <a:ext cx="2639669" cy="346870"/>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Key Customers</a:t>
              </a:r>
            </a:p>
          </p:txBody>
        </p:sp>
      </p:grpSp>
      <p:sp>
        <p:nvSpPr>
          <p:cNvPr id="12" name="TextBox 11">
            <a:extLst>
              <a:ext uri="{FF2B5EF4-FFF2-40B4-BE49-F238E27FC236}">
                <a16:creationId xmlns:a16="http://schemas.microsoft.com/office/drawing/2014/main" id="{C378E6A4-E094-BF47-4C01-466A95E94A3F}"/>
              </a:ext>
            </a:extLst>
          </p:cNvPr>
          <p:cNvSpPr txBox="1"/>
          <p:nvPr/>
        </p:nvSpPr>
        <p:spPr>
          <a:xfrm>
            <a:off x="2638395" y="1862684"/>
            <a:ext cx="1824946"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2X</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Faster data onboarding to Snowflake</a:t>
            </a:r>
          </a:p>
        </p:txBody>
      </p:sp>
      <p:sp>
        <p:nvSpPr>
          <p:cNvPr id="17" name="TextBox 16">
            <a:extLst>
              <a:ext uri="{FF2B5EF4-FFF2-40B4-BE49-F238E27FC236}">
                <a16:creationId xmlns:a16="http://schemas.microsoft.com/office/drawing/2014/main" id="{AF0B0D4C-7181-2323-A896-84EF7528062A}"/>
              </a:ext>
            </a:extLst>
          </p:cNvPr>
          <p:cNvSpPr txBox="1"/>
          <p:nvPr/>
        </p:nvSpPr>
        <p:spPr>
          <a:xfrm>
            <a:off x="686024" y="1862684"/>
            <a:ext cx="1918736"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90%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Snowflake Customers in Data Engineering Services</a:t>
            </a:r>
          </a:p>
        </p:txBody>
      </p:sp>
      <p:pic>
        <p:nvPicPr>
          <p:cNvPr id="23" name="Graphic 22" descr="Eye outline">
            <a:extLst>
              <a:ext uri="{FF2B5EF4-FFF2-40B4-BE49-F238E27FC236}">
                <a16:creationId xmlns:a16="http://schemas.microsoft.com/office/drawing/2014/main" id="{15B36213-18B3-3EBE-5781-E106E89AA9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625" y="1030425"/>
            <a:ext cx="515918" cy="546088"/>
          </a:xfrm>
          <a:prstGeom prst="rect">
            <a:avLst/>
          </a:prstGeom>
        </p:spPr>
      </p:pic>
      <p:sp>
        <p:nvSpPr>
          <p:cNvPr id="59" name="TextBox 58">
            <a:extLst>
              <a:ext uri="{FF2B5EF4-FFF2-40B4-BE49-F238E27FC236}">
                <a16:creationId xmlns:a16="http://schemas.microsoft.com/office/drawing/2014/main" id="{B0CA079A-DE00-B61F-6A4D-B3608A1CD88B}"/>
              </a:ext>
            </a:extLst>
          </p:cNvPr>
          <p:cNvSpPr txBox="1"/>
          <p:nvPr/>
        </p:nvSpPr>
        <p:spPr>
          <a:xfrm>
            <a:off x="533306" y="5884752"/>
            <a:ext cx="7914376" cy="455381"/>
          </a:xfrm>
          <a:prstGeom prst="rect">
            <a:avLst/>
          </a:prstGeom>
          <a:noFill/>
        </p:spPr>
        <p:txBody>
          <a:bodyPr wrap="square">
            <a:spAutoFit/>
          </a:bodyPr>
          <a:lstStyle/>
          <a:p>
            <a:pPr marL="0" marR="0" lvl="0" indent="0" defTabSz="914400" rtl="0" eaLnBrk="1" fontAlgn="auto" latinLnBrk="0" hangingPunct="1">
              <a:lnSpc>
                <a:spcPct val="110000"/>
              </a:lnSpc>
              <a:spcBef>
                <a:spcPts val="1200"/>
              </a:spcBef>
              <a:spcAft>
                <a:spcPts val="0"/>
              </a:spcAft>
              <a:buClr>
                <a:srgbClr val="3C2CDA"/>
              </a:buClr>
              <a:buSzTx/>
              <a:buFontTx/>
              <a:buNone/>
              <a:tabLst/>
              <a:defRPr/>
            </a:pPr>
            <a:r>
              <a:rPr kumimoji="0" lang="en-US" sz="1100" b="1" i="0" u="none" strike="noStrike" kern="1200" cap="none" spc="0" normalizeH="0" baseline="0" noProof="0">
                <a:ln>
                  <a:noFill/>
                </a:ln>
                <a:solidFill>
                  <a:schemeClr val="accent1"/>
                </a:solidFill>
                <a:effectLst/>
                <a:uLnTx/>
                <a:uFillTx/>
                <a:latin typeface="Manrope"/>
              </a:rPr>
              <a:t>Accelerators</a:t>
            </a:r>
            <a:r>
              <a:rPr kumimoji="0" lang="en-US" sz="1100" b="0" i="0" u="none" strike="noStrike" kern="1200" cap="none" spc="0" normalizeH="0" baseline="0" noProof="0">
                <a:ln>
                  <a:noFill/>
                </a:ln>
                <a:solidFill>
                  <a:schemeClr val="accent1"/>
                </a:solidFill>
                <a:effectLst/>
                <a:uLnTx/>
                <a:uFillTx/>
                <a:latin typeface="Manrope"/>
              </a:rPr>
              <a:t> : </a:t>
            </a:r>
            <a:r>
              <a:rPr kumimoji="0" lang="en-US" sz="1100" b="0" i="0" u="none" strike="noStrike" kern="1200" cap="none" spc="0" normalizeH="0" baseline="0" noProof="0">
                <a:ln>
                  <a:noFill/>
                </a:ln>
                <a:solidFill>
                  <a:srgbClr val="282828"/>
                </a:solidFill>
                <a:effectLst/>
                <a:uLnTx/>
                <a:uFillTx/>
                <a:latin typeface="Manrope"/>
              </a:rPr>
              <a:t>Amaze</a:t>
            </a:r>
            <a:r>
              <a:rPr kumimoji="0" lang="en-US" sz="1100" b="0" i="0" u="none" strike="noStrike" kern="1200" cap="none" spc="0" normalizeH="0" baseline="0" noProof="0">
                <a:ln>
                  <a:noFill/>
                </a:ln>
                <a:solidFill>
                  <a:srgbClr val="000000"/>
                </a:solidFill>
                <a:effectLst/>
                <a:uLnTx/>
                <a:uFillTx/>
                <a:latin typeface="Manrope" pitchFamily="2" charset="0"/>
              </a:rPr>
              <a:t>®</a:t>
            </a:r>
            <a:r>
              <a:rPr kumimoji="0" lang="en-US" sz="1100" b="0" i="0" u="none" strike="noStrike" kern="1200" cap="none" spc="0" normalizeH="0" baseline="0" noProof="0">
                <a:ln>
                  <a:noFill/>
                </a:ln>
                <a:solidFill>
                  <a:srgbClr val="282828"/>
                </a:solidFill>
                <a:effectLst/>
                <a:uLnTx/>
                <a:uFillTx/>
                <a:latin typeface="Manrope"/>
              </a:rPr>
              <a:t> for Data &amp; AI – Metadata based Ingestion Framework </a:t>
            </a:r>
            <a:br>
              <a:rPr kumimoji="0" lang="en-US" sz="1100" b="0" i="0" u="none" strike="noStrike" kern="1200" cap="none" spc="0" normalizeH="0" baseline="0" noProof="0">
                <a:ln>
                  <a:noFill/>
                </a:ln>
                <a:solidFill>
                  <a:srgbClr val="282828"/>
                </a:solidFill>
                <a:effectLst/>
                <a:uLnTx/>
                <a:uFillTx/>
                <a:latin typeface="Manrope"/>
              </a:rPr>
            </a:br>
            <a:r>
              <a:rPr kumimoji="0" lang="en-US" sz="1100" b="0" i="0" u="none" strike="noStrike" kern="1200" cap="none" spc="0" normalizeH="0" baseline="0" noProof="0">
                <a:ln>
                  <a:noFill/>
                </a:ln>
                <a:solidFill>
                  <a:srgbClr val="282828"/>
                </a:solidFill>
                <a:effectLst/>
                <a:uLnTx/>
                <a:uFillTx/>
                <a:latin typeface="Manrope"/>
              </a:rPr>
              <a:t>Data Engineering Co-pilots:  Data Model Assistant, Developer Copilot, Code Conversion </a:t>
            </a:r>
          </a:p>
        </p:txBody>
      </p:sp>
      <p:sp>
        <p:nvSpPr>
          <p:cNvPr id="60" name="TextBox 59">
            <a:extLst>
              <a:ext uri="{FF2B5EF4-FFF2-40B4-BE49-F238E27FC236}">
                <a16:creationId xmlns:a16="http://schemas.microsoft.com/office/drawing/2014/main" id="{21BE4AC0-06AA-873D-BDF4-5A89E80EBADA}"/>
              </a:ext>
            </a:extLst>
          </p:cNvPr>
          <p:cNvSpPr txBox="1"/>
          <p:nvPr/>
        </p:nvSpPr>
        <p:spPr>
          <a:xfrm>
            <a:off x="4592903" y="1862684"/>
            <a:ext cx="2043097"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40%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Reduction in development time with Copilots</a:t>
            </a:r>
          </a:p>
        </p:txBody>
      </p:sp>
      <p:grpSp>
        <p:nvGrpSpPr>
          <p:cNvPr id="1039" name="Group 1038">
            <a:extLst>
              <a:ext uri="{FF2B5EF4-FFF2-40B4-BE49-F238E27FC236}">
                <a16:creationId xmlns:a16="http://schemas.microsoft.com/office/drawing/2014/main" id="{682173C0-976E-0290-5B79-A304602ECFDB}"/>
              </a:ext>
            </a:extLst>
          </p:cNvPr>
          <p:cNvGrpSpPr/>
          <p:nvPr/>
        </p:nvGrpSpPr>
        <p:grpSpPr>
          <a:xfrm>
            <a:off x="3638426" y="3400039"/>
            <a:ext cx="4937155" cy="2138498"/>
            <a:chOff x="3391568" y="3293114"/>
            <a:chExt cx="5430871" cy="2352348"/>
          </a:xfrm>
        </p:grpSpPr>
        <p:pic>
          <p:nvPicPr>
            <p:cNvPr id="61" name="Picture 2" descr="undefined">
              <a:extLst>
                <a:ext uri="{FF2B5EF4-FFF2-40B4-BE49-F238E27FC236}">
                  <a16:creationId xmlns:a16="http://schemas.microsoft.com/office/drawing/2014/main" id="{30C068D5-3353-6870-58EB-05B4E0B67C6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442198" y="3362896"/>
              <a:ext cx="1308213" cy="22757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a:extLst>
                <a:ext uri="{FF2B5EF4-FFF2-40B4-BE49-F238E27FC236}">
                  <a16:creationId xmlns:a16="http://schemas.microsoft.com/office/drawing/2014/main" id="{3D563D83-4A89-5CE8-93F1-523B3ABB430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985268" y="3346222"/>
              <a:ext cx="971798" cy="33318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a:extLst>
                <a:ext uri="{FF2B5EF4-FFF2-40B4-BE49-F238E27FC236}">
                  <a16:creationId xmlns:a16="http://schemas.microsoft.com/office/drawing/2014/main" id="{8097C96B-27F8-C4A7-C67A-D7F212CD0D9E}"/>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419268" y="3326620"/>
              <a:ext cx="674230" cy="289918"/>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2">
              <a:extLst>
                <a:ext uri="{FF2B5EF4-FFF2-40B4-BE49-F238E27FC236}">
                  <a16:creationId xmlns:a16="http://schemas.microsoft.com/office/drawing/2014/main" id="{F0523EF5-33F2-5B80-7626-01323D5CAC1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4670478" y="4536064"/>
              <a:ext cx="1690561" cy="313534"/>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 descr="MarineMax - Overview, News &amp; Competitors | ZoomInfo.com">
              <a:extLst>
                <a:ext uri="{FF2B5EF4-FFF2-40B4-BE49-F238E27FC236}">
                  <a16:creationId xmlns:a16="http://schemas.microsoft.com/office/drawing/2014/main" id="{6895CA10-B63F-A883-27FF-0553C6B002EF}"/>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3391568" y="4536064"/>
              <a:ext cx="1050630" cy="32453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34">
              <a:extLst>
                <a:ext uri="{FF2B5EF4-FFF2-40B4-BE49-F238E27FC236}">
                  <a16:creationId xmlns:a16="http://schemas.microsoft.com/office/drawing/2014/main" id="{4A86BC6C-A32B-8D41-683F-30732AC83007}"/>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6491066" y="4536064"/>
              <a:ext cx="862662" cy="2456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22" descr="Carlyle Group logo in transparent PNG and vectorized SVG formats">
              <a:extLst>
                <a:ext uri="{FF2B5EF4-FFF2-40B4-BE49-F238E27FC236}">
                  <a16:creationId xmlns:a16="http://schemas.microsoft.com/office/drawing/2014/main" id="{3A12ED79-3683-16F4-9D7D-C449F7E009F4}"/>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4958897" y="5370751"/>
              <a:ext cx="1217750" cy="153012"/>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1028" descr="A close up of a sign&#10;&#10;Description automatically generated">
              <a:extLst>
                <a:ext uri="{FF2B5EF4-FFF2-40B4-BE49-F238E27FC236}">
                  <a16:creationId xmlns:a16="http://schemas.microsoft.com/office/drawing/2014/main" id="{FBAF7795-BBDE-633D-2FDA-BAA66BAD1E42}"/>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3538178" y="5279032"/>
              <a:ext cx="1017056" cy="324537"/>
            </a:xfrm>
            <a:prstGeom prst="rect">
              <a:avLst/>
            </a:prstGeom>
          </p:spPr>
        </p:pic>
        <p:pic>
          <p:nvPicPr>
            <p:cNvPr id="1030" name="Picture 2" descr="Asset Manager | State Street">
              <a:extLst>
                <a:ext uri="{FF2B5EF4-FFF2-40B4-BE49-F238E27FC236}">
                  <a16:creationId xmlns:a16="http://schemas.microsoft.com/office/drawing/2014/main" id="{34BE18F9-DB9E-4FE3-8DFB-E4D0C07298B7}"/>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6573173" y="5328547"/>
              <a:ext cx="862662" cy="22550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22" descr="Carlyle Group logo in transparent PNG and vectorized SVG formats">
              <a:extLst>
                <a:ext uri="{FF2B5EF4-FFF2-40B4-BE49-F238E27FC236}">
                  <a16:creationId xmlns:a16="http://schemas.microsoft.com/office/drawing/2014/main" id="{37479697-CDCA-F79F-E80C-AB857FC67B82}"/>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3471114" y="4062161"/>
              <a:ext cx="1244768" cy="1564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6" descr="Spark Networks (@SparkNetworks) / X">
              <a:extLst>
                <a:ext uri="{FF2B5EF4-FFF2-40B4-BE49-F238E27FC236}">
                  <a16:creationId xmlns:a16="http://schemas.microsoft.com/office/drawing/2014/main" id="{FE5DA759-7C5D-0B89-6944-E950AF3ECC42}"/>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5096305" y="3955680"/>
              <a:ext cx="419523" cy="419523"/>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12" descr="PenFed Debt Consolidation Loan Review">
              <a:extLst>
                <a:ext uri="{FF2B5EF4-FFF2-40B4-BE49-F238E27FC236}">
                  <a16:creationId xmlns:a16="http://schemas.microsoft.com/office/drawing/2014/main" id="{60334C82-C675-19ED-549F-3DCCBE1D6B68}"/>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5828477" y="3933477"/>
              <a:ext cx="662589" cy="44172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33" descr="A close up of a logo&#10;&#10;Description automatically generated">
              <a:extLst>
                <a:ext uri="{FF2B5EF4-FFF2-40B4-BE49-F238E27FC236}">
                  <a16:creationId xmlns:a16="http://schemas.microsoft.com/office/drawing/2014/main" id="{BE4D9407-47C2-C2A3-3AA1-FE54A761D666}"/>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b="-7241"/>
            <a:stretch/>
          </p:blipFill>
          <p:spPr>
            <a:xfrm>
              <a:off x="7200869" y="3293114"/>
              <a:ext cx="1183418" cy="439403"/>
            </a:xfrm>
            <a:prstGeom prst="rect">
              <a:avLst/>
            </a:prstGeom>
          </p:spPr>
        </p:pic>
        <p:pic>
          <p:nvPicPr>
            <p:cNvPr id="1035" name="Picture 2" descr="UMB Mobile – Apps on Google Play">
              <a:extLst>
                <a:ext uri="{FF2B5EF4-FFF2-40B4-BE49-F238E27FC236}">
                  <a16:creationId xmlns:a16="http://schemas.microsoft.com/office/drawing/2014/main" id="{18F12F83-5030-0014-A568-EEE9414B8082}"/>
                </a:ext>
              </a:extLst>
            </p:cNvPr>
            <p:cNvPicPr>
              <a:picLocks noChangeAspect="1" noChangeArrowheads="1"/>
            </p:cNvPicPr>
            <p:nvPr/>
          </p:nvPicPr>
          <p:blipFill rotWithShape="1">
            <a:blip r:embed="rId1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6675617" y="3945571"/>
              <a:ext cx="1098885" cy="29381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2" descr="Williams Racing | Logopedia | Fandom">
              <a:extLst>
                <a:ext uri="{FF2B5EF4-FFF2-40B4-BE49-F238E27FC236}">
                  <a16:creationId xmlns:a16="http://schemas.microsoft.com/office/drawing/2014/main" id="{1BF1DC3C-29D7-B93F-6249-EE1FA151443B}"/>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7732699" y="3957282"/>
              <a:ext cx="1089740" cy="382299"/>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0" descr="Simtra BioPharma Solutions | LinkedIn">
              <a:extLst>
                <a:ext uri="{FF2B5EF4-FFF2-40B4-BE49-F238E27FC236}">
                  <a16:creationId xmlns:a16="http://schemas.microsoft.com/office/drawing/2014/main" id="{2896D272-366B-A715-512B-5A2C0911ECC8}"/>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7670066" y="4386637"/>
              <a:ext cx="738272" cy="73827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2" descr="Fidelity Logo and symbol, meaning, history, PNG, brand">
              <a:extLst>
                <a:ext uri="{FF2B5EF4-FFF2-40B4-BE49-F238E27FC236}">
                  <a16:creationId xmlns:a16="http://schemas.microsoft.com/office/drawing/2014/main" id="{5261396A-23C7-B0F8-ED2B-4B686A0FECF6}"/>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7636768" y="5057660"/>
              <a:ext cx="1044982" cy="58780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74444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13D7-A171-907F-243C-3F32CBD49E4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A7DC27-9496-AF91-56A1-42E168982A18}"/>
              </a:ext>
            </a:extLst>
          </p:cNvPr>
          <p:cNvSpPr>
            <a:spLocks noGrp="1"/>
          </p:cNvSpPr>
          <p:nvPr>
            <p:ph type="body" sz="quarter" idx="15"/>
          </p:nvPr>
        </p:nvSpPr>
        <p:spPr>
          <a:xfrm flipH="1">
            <a:off x="623887" y="457200"/>
            <a:ext cx="5618557" cy="244101"/>
          </a:xfrm>
        </p:spPr>
        <p:txBody>
          <a:bodyPr/>
          <a:lstStyle/>
          <a:p>
            <a:r>
              <a:rPr lang="en-US" noProof="0"/>
              <a:t>Key Success Stories – Data Engineering</a:t>
            </a:r>
          </a:p>
        </p:txBody>
      </p:sp>
      <p:grpSp>
        <p:nvGrpSpPr>
          <p:cNvPr id="3" name="Group 2">
            <a:extLst>
              <a:ext uri="{FF2B5EF4-FFF2-40B4-BE49-F238E27FC236}">
                <a16:creationId xmlns:a16="http://schemas.microsoft.com/office/drawing/2014/main" id="{4A5B055A-57EC-4E5B-F978-1D676C5E6743}"/>
              </a:ext>
            </a:extLst>
          </p:cNvPr>
          <p:cNvGrpSpPr/>
          <p:nvPr/>
        </p:nvGrpSpPr>
        <p:grpSpPr>
          <a:xfrm>
            <a:off x="623887" y="908050"/>
            <a:ext cx="10944226" cy="5473700"/>
            <a:chOff x="623887" y="908050"/>
            <a:chExt cx="14915223" cy="5473700"/>
          </a:xfrm>
        </p:grpSpPr>
        <p:sp>
          <p:nvSpPr>
            <p:cNvPr id="6" name="Rectangle 5">
              <a:extLst>
                <a:ext uri="{FF2B5EF4-FFF2-40B4-BE49-F238E27FC236}">
                  <a16:creationId xmlns:a16="http://schemas.microsoft.com/office/drawing/2014/main" id="{E661B5F4-04A6-3974-B301-0253ED967675}"/>
                </a:ext>
              </a:extLst>
            </p:cNvPr>
            <p:cNvSpPr/>
            <p:nvPr/>
          </p:nvSpPr>
          <p:spPr>
            <a:xfrm>
              <a:off x="623887" y="908050"/>
              <a:ext cx="4886462" cy="2463773"/>
            </a:xfrm>
            <a:prstGeom prst="rect">
              <a:avLst/>
            </a:prstGeom>
            <a:solidFill>
              <a:schemeClr val="accent5">
                <a:lumMod val="20000"/>
                <a:lumOff val="80000"/>
                <a:alpha val="4975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anrope" pitchFamily="2" charset="0"/>
              </a:endParaRPr>
            </a:p>
          </p:txBody>
        </p:sp>
        <p:sp>
          <p:nvSpPr>
            <p:cNvPr id="11" name="Rectangle 10">
              <a:extLst>
                <a:ext uri="{FF2B5EF4-FFF2-40B4-BE49-F238E27FC236}">
                  <a16:creationId xmlns:a16="http://schemas.microsoft.com/office/drawing/2014/main" id="{F847356E-3BAF-A585-32E6-B5CFEDC8DF07}"/>
                </a:ext>
              </a:extLst>
            </p:cNvPr>
            <p:cNvSpPr/>
            <p:nvPr/>
          </p:nvSpPr>
          <p:spPr>
            <a:xfrm>
              <a:off x="623887"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6BA13EC-0397-37A3-A37D-1C182E9A207D}"/>
                </a:ext>
              </a:extLst>
            </p:cNvPr>
            <p:cNvSpPr txBox="1"/>
            <p:nvPr/>
          </p:nvSpPr>
          <p:spPr>
            <a:xfrm>
              <a:off x="718152"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8" name="TextBox 7">
              <a:extLst>
                <a:ext uri="{FF2B5EF4-FFF2-40B4-BE49-F238E27FC236}">
                  <a16:creationId xmlns:a16="http://schemas.microsoft.com/office/drawing/2014/main" id="{8256AEA8-9D6E-6F3E-BB7E-185A672D0503}"/>
                </a:ext>
              </a:extLst>
            </p:cNvPr>
            <p:cNvSpPr txBox="1"/>
            <p:nvPr/>
          </p:nvSpPr>
          <p:spPr>
            <a:xfrm>
              <a:off x="627992" y="1589799"/>
              <a:ext cx="4723777" cy="147732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tx2"/>
                </a:buClr>
                <a:buFont typeface="Arial" panose="020B0604020202020204" pitchFamily="34" charset="0"/>
                <a:buChar char="•"/>
              </a:pPr>
              <a:r>
                <a:rPr lang="en-US" sz="1000">
                  <a:latin typeface="Manrope" pitchFamily="2" charset="0"/>
                </a:rPr>
                <a:t>Consolidate data from providers &amp; Geos, building a common data model to deliver analytics as a service to consumers on Brand, Product strategy,  Prescription, Patient,  Sales&amp; Promotions.</a:t>
              </a:r>
            </a:p>
            <a:p>
              <a:pPr marL="171450" indent="-171450">
                <a:spcBef>
                  <a:spcPts val="600"/>
                </a:spcBef>
                <a:buClr>
                  <a:schemeClr val="tx2"/>
                </a:buClr>
                <a:buFont typeface="Arial" panose="020B0604020202020204" pitchFamily="34" charset="0"/>
                <a:buChar char="•"/>
              </a:pPr>
              <a:r>
                <a:rPr lang="en-US" sz="1000">
                  <a:latin typeface="Manrope" pitchFamily="2" charset="0"/>
                </a:rPr>
                <a:t>Built largest healthcare data cloud platform (80 PB+) that supports clinical development.</a:t>
              </a:r>
            </a:p>
            <a:p>
              <a:pPr marL="171450" indent="-171450">
                <a:spcBef>
                  <a:spcPts val="600"/>
                </a:spcBef>
                <a:buClr>
                  <a:schemeClr val="tx2"/>
                </a:buClr>
                <a:buFont typeface="Arial" panose="020B0604020202020204" pitchFamily="34" charset="0"/>
                <a:buChar char="•"/>
              </a:pPr>
              <a:r>
                <a:rPr lang="en-US" sz="1000" b="1">
                  <a:latin typeface="Manrope" pitchFamily="2" charset="0"/>
                </a:rPr>
                <a:t>75% Reduction in data cleansing &amp; processing times</a:t>
              </a:r>
            </a:p>
          </p:txBody>
        </p:sp>
        <p:sp>
          <p:nvSpPr>
            <p:cNvPr id="15" name="Rectangle 14">
              <a:extLst>
                <a:ext uri="{FF2B5EF4-FFF2-40B4-BE49-F238E27FC236}">
                  <a16:creationId xmlns:a16="http://schemas.microsoft.com/office/drawing/2014/main" id="{B1B6C79A-87AD-EA1E-99DF-73A0B370F880}"/>
                </a:ext>
              </a:extLst>
            </p:cNvPr>
            <p:cNvSpPr/>
            <p:nvPr/>
          </p:nvSpPr>
          <p:spPr>
            <a:xfrm>
              <a:off x="5639936" y="908050"/>
              <a:ext cx="4886462" cy="2463773"/>
            </a:xfrm>
            <a:prstGeom prst="rect">
              <a:avLst/>
            </a:prstGeom>
            <a:solidFill>
              <a:schemeClr val="accent5">
                <a:lumMod val="20000"/>
                <a:lumOff val="80000"/>
                <a:alpha val="4975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anrope" pitchFamily="2" charset="0"/>
              </a:endParaRPr>
            </a:p>
          </p:txBody>
        </p:sp>
        <p:sp>
          <p:nvSpPr>
            <p:cNvPr id="16" name="Rectangle 15">
              <a:extLst>
                <a:ext uri="{FF2B5EF4-FFF2-40B4-BE49-F238E27FC236}">
                  <a16:creationId xmlns:a16="http://schemas.microsoft.com/office/drawing/2014/main" id="{7052AEE0-EAF4-B620-A266-DC73DA192855}"/>
                </a:ext>
              </a:extLst>
            </p:cNvPr>
            <p:cNvSpPr/>
            <p:nvPr/>
          </p:nvSpPr>
          <p:spPr>
            <a:xfrm>
              <a:off x="5639936"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3DAB56F-D45E-6670-03B2-A105F00F13B3}"/>
                </a:ext>
              </a:extLst>
            </p:cNvPr>
            <p:cNvSpPr txBox="1"/>
            <p:nvPr/>
          </p:nvSpPr>
          <p:spPr>
            <a:xfrm>
              <a:off x="5734201"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18" name="TextBox 17">
              <a:extLst>
                <a:ext uri="{FF2B5EF4-FFF2-40B4-BE49-F238E27FC236}">
                  <a16:creationId xmlns:a16="http://schemas.microsoft.com/office/drawing/2014/main" id="{D80C05D4-538D-2407-6030-3B5497486C89}"/>
                </a:ext>
              </a:extLst>
            </p:cNvPr>
            <p:cNvSpPr txBox="1"/>
            <p:nvPr/>
          </p:nvSpPr>
          <p:spPr>
            <a:xfrm>
              <a:off x="5644042" y="1589799"/>
              <a:ext cx="4463250" cy="1323439"/>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tx2"/>
                </a:buClr>
                <a:buFont typeface="Arial" panose="020B0604020202020204" pitchFamily="34" charset="0"/>
                <a:buChar char="•"/>
              </a:pPr>
              <a:r>
                <a:rPr lang="en-US" sz="1000">
                  <a:latin typeface="Manrope" pitchFamily="2" charset="0"/>
                </a:rPr>
                <a:t>Implemented curation and business validation through different layers in Snowflake DWH. </a:t>
              </a:r>
            </a:p>
            <a:p>
              <a:pPr marL="171450" indent="-171450">
                <a:spcBef>
                  <a:spcPts val="600"/>
                </a:spcBef>
                <a:buClr>
                  <a:schemeClr val="tx2"/>
                </a:buClr>
                <a:buFont typeface="Arial" panose="020B0604020202020204" pitchFamily="34" charset="0"/>
                <a:buChar char="•"/>
              </a:pPr>
              <a:r>
                <a:rPr lang="en-US" sz="1000">
                  <a:latin typeface="Manrope" pitchFamily="2" charset="0"/>
                </a:rPr>
                <a:t>Access to Client specific DataMart's on Snowflake through Data Sharing with dedicated customer reader accounts. Self-service BI and analytics access to clients</a:t>
              </a:r>
            </a:p>
            <a:p>
              <a:pPr marL="171450" indent="-171450">
                <a:spcBef>
                  <a:spcPts val="600"/>
                </a:spcBef>
                <a:buClr>
                  <a:schemeClr val="tx2"/>
                </a:buClr>
                <a:buFont typeface="Arial" panose="020B0604020202020204" pitchFamily="34" charset="0"/>
                <a:buChar char="•"/>
              </a:pPr>
              <a:r>
                <a:rPr lang="en-US" sz="1000" b="1">
                  <a:latin typeface="Manrope" pitchFamily="2" charset="0"/>
                </a:rPr>
                <a:t>Securely share data with stakeholders </a:t>
              </a:r>
            </a:p>
          </p:txBody>
        </p:sp>
        <p:sp>
          <p:nvSpPr>
            <p:cNvPr id="21" name="Rectangle 20">
              <a:extLst>
                <a:ext uri="{FF2B5EF4-FFF2-40B4-BE49-F238E27FC236}">
                  <a16:creationId xmlns:a16="http://schemas.microsoft.com/office/drawing/2014/main" id="{C0FB50B6-73AA-9183-FD21-E063E3850F2A}"/>
                </a:ext>
              </a:extLst>
            </p:cNvPr>
            <p:cNvSpPr/>
            <p:nvPr/>
          </p:nvSpPr>
          <p:spPr>
            <a:xfrm>
              <a:off x="623887" y="3522278"/>
              <a:ext cx="4886462" cy="2859472"/>
            </a:xfrm>
            <a:prstGeom prst="rect">
              <a:avLst/>
            </a:prstGeom>
            <a:solidFill>
              <a:schemeClr val="accent5">
                <a:lumMod val="20000"/>
                <a:lumOff val="80000"/>
                <a:alpha val="4975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anrope" pitchFamily="2" charset="0"/>
              </a:endParaRPr>
            </a:p>
          </p:txBody>
        </p:sp>
        <p:sp>
          <p:nvSpPr>
            <p:cNvPr id="22" name="Rectangle 21">
              <a:extLst>
                <a:ext uri="{FF2B5EF4-FFF2-40B4-BE49-F238E27FC236}">
                  <a16:creationId xmlns:a16="http://schemas.microsoft.com/office/drawing/2014/main" id="{08D56164-A181-1419-4CD8-C7DE69253A5A}"/>
                </a:ext>
              </a:extLst>
            </p:cNvPr>
            <p:cNvSpPr/>
            <p:nvPr/>
          </p:nvSpPr>
          <p:spPr>
            <a:xfrm>
              <a:off x="623887"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8D2D355-B0F6-FE72-1A37-3344E96DDEDE}"/>
                </a:ext>
              </a:extLst>
            </p:cNvPr>
            <p:cNvSpPr txBox="1"/>
            <p:nvPr/>
          </p:nvSpPr>
          <p:spPr>
            <a:xfrm>
              <a:off x="718152"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4" name="TextBox 23">
              <a:extLst>
                <a:ext uri="{FF2B5EF4-FFF2-40B4-BE49-F238E27FC236}">
                  <a16:creationId xmlns:a16="http://schemas.microsoft.com/office/drawing/2014/main" id="{C8B17C29-471B-5B2E-83D2-3A9D525182ED}"/>
                </a:ext>
              </a:extLst>
            </p:cNvPr>
            <p:cNvSpPr txBox="1"/>
            <p:nvPr/>
          </p:nvSpPr>
          <p:spPr>
            <a:xfrm>
              <a:off x="627992" y="4204027"/>
              <a:ext cx="4723777" cy="1708160"/>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tx2"/>
                </a:buClr>
                <a:buFont typeface="Arial" panose="020B0604020202020204" pitchFamily="34" charset="0"/>
                <a:buChar char="•"/>
              </a:pPr>
              <a:r>
                <a:rPr lang="en-US" sz="1000">
                  <a:latin typeface="Manrope" pitchFamily="2" charset="0"/>
                </a:rPr>
                <a:t> Customer Profile using Profisee MDM and Snowflake</a:t>
              </a:r>
            </a:p>
            <a:p>
              <a:pPr marL="171450" indent="-171450">
                <a:spcBef>
                  <a:spcPts val="600"/>
                </a:spcBef>
                <a:buClr>
                  <a:schemeClr val="tx2"/>
                </a:buClr>
                <a:buFont typeface="Arial" panose="020B0604020202020204" pitchFamily="34" charset="0"/>
                <a:buChar char="•"/>
              </a:pPr>
              <a:r>
                <a:rPr lang="en-US" sz="1000">
                  <a:latin typeface="Manrope" pitchFamily="2" charset="0"/>
                </a:rPr>
                <a:t>Amazon S3 is used to store the Data from the data sources which are 7 in number. The Ingestion tool used here is Matillion to  later store in Snowflake</a:t>
              </a:r>
            </a:p>
            <a:p>
              <a:pPr marL="171450" indent="-171450">
                <a:spcBef>
                  <a:spcPts val="600"/>
                </a:spcBef>
                <a:buClr>
                  <a:schemeClr val="tx2"/>
                </a:buClr>
                <a:buFont typeface="Arial" panose="020B0604020202020204" pitchFamily="34" charset="0"/>
                <a:buChar char="•"/>
              </a:pPr>
              <a:r>
                <a:rPr lang="en-US" sz="1000">
                  <a:latin typeface="Manrope" pitchFamily="2" charset="0"/>
                </a:rPr>
                <a:t>Profisee MDM solution that can help in de-duplication of customer details and act as a single source of truth. </a:t>
              </a:r>
            </a:p>
            <a:p>
              <a:pPr marL="171450" indent="-171450">
                <a:spcBef>
                  <a:spcPts val="600"/>
                </a:spcBef>
                <a:buClr>
                  <a:schemeClr val="tx2"/>
                </a:buClr>
                <a:buFont typeface="Arial" panose="020B0604020202020204" pitchFamily="34" charset="0"/>
                <a:buChar char="•"/>
              </a:pPr>
              <a:r>
                <a:rPr lang="en-US" sz="1000" b="1">
                  <a:latin typeface="Manrope" pitchFamily="2" charset="0"/>
                </a:rPr>
                <a:t>60 percent faster for Mastered Customer Profile in 5 to 7 minutes form data across the globe</a:t>
              </a:r>
            </a:p>
          </p:txBody>
        </p:sp>
        <p:sp>
          <p:nvSpPr>
            <p:cNvPr id="26" name="Rectangle 25">
              <a:extLst>
                <a:ext uri="{FF2B5EF4-FFF2-40B4-BE49-F238E27FC236}">
                  <a16:creationId xmlns:a16="http://schemas.microsoft.com/office/drawing/2014/main" id="{B4A88D87-03C7-57E8-8184-F9304CB42EA5}"/>
                </a:ext>
              </a:extLst>
            </p:cNvPr>
            <p:cNvSpPr/>
            <p:nvPr/>
          </p:nvSpPr>
          <p:spPr>
            <a:xfrm>
              <a:off x="5639936" y="3522278"/>
              <a:ext cx="4886462" cy="2859472"/>
            </a:xfrm>
            <a:prstGeom prst="rect">
              <a:avLst/>
            </a:prstGeom>
            <a:solidFill>
              <a:schemeClr val="accent5">
                <a:lumMod val="20000"/>
                <a:lumOff val="80000"/>
                <a:alpha val="4975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anrope" pitchFamily="2" charset="0"/>
              </a:endParaRPr>
            </a:p>
          </p:txBody>
        </p:sp>
        <p:sp>
          <p:nvSpPr>
            <p:cNvPr id="27" name="Rectangle 26">
              <a:extLst>
                <a:ext uri="{FF2B5EF4-FFF2-40B4-BE49-F238E27FC236}">
                  <a16:creationId xmlns:a16="http://schemas.microsoft.com/office/drawing/2014/main" id="{3636F620-0C2F-5322-E3EC-5F60611E6DA8}"/>
                </a:ext>
              </a:extLst>
            </p:cNvPr>
            <p:cNvSpPr/>
            <p:nvPr/>
          </p:nvSpPr>
          <p:spPr>
            <a:xfrm>
              <a:off x="5639936"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A90B36E-25CA-F1CF-FE45-E9D466EF368C}"/>
                </a:ext>
              </a:extLst>
            </p:cNvPr>
            <p:cNvSpPr txBox="1"/>
            <p:nvPr/>
          </p:nvSpPr>
          <p:spPr>
            <a:xfrm>
              <a:off x="5734201"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9" name="TextBox 28">
              <a:extLst>
                <a:ext uri="{FF2B5EF4-FFF2-40B4-BE49-F238E27FC236}">
                  <a16:creationId xmlns:a16="http://schemas.microsoft.com/office/drawing/2014/main" id="{8ACA77BD-577C-EC95-92B8-58526F259133}"/>
                </a:ext>
              </a:extLst>
            </p:cNvPr>
            <p:cNvSpPr txBox="1"/>
            <p:nvPr/>
          </p:nvSpPr>
          <p:spPr>
            <a:xfrm>
              <a:off x="5721026" y="4204027"/>
              <a:ext cx="4463252" cy="1785104"/>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tx2"/>
                </a:buClr>
                <a:buFont typeface="Arial" panose="020B0604020202020204" pitchFamily="34" charset="0"/>
                <a:buChar char="•"/>
              </a:pPr>
              <a:r>
                <a:rPr lang="en-US" sz="1000">
                  <a:latin typeface="Manrope" pitchFamily="2" charset="0"/>
                </a:rPr>
                <a:t> Using Amaze® for Modernization’s automated assessment and transformation capabilities, we developed and implemented a next-generation data architecture that consolidated the client's disparate data into a unified platform on Snowflake</a:t>
              </a:r>
            </a:p>
            <a:p>
              <a:pPr marL="171450" indent="-171450">
                <a:spcBef>
                  <a:spcPts val="600"/>
                </a:spcBef>
                <a:buClr>
                  <a:schemeClr val="tx2"/>
                </a:buClr>
                <a:buFont typeface="Arial" panose="020B0604020202020204" pitchFamily="34" charset="0"/>
                <a:buChar char="•"/>
              </a:pPr>
              <a:r>
                <a:rPr lang="en-US" sz="1000">
                  <a:latin typeface="Manrope" pitchFamily="2" charset="0"/>
                </a:rPr>
                <a:t>2400 person hours saved annually with automation</a:t>
              </a:r>
            </a:p>
            <a:p>
              <a:pPr marL="171450" indent="-171450">
                <a:spcBef>
                  <a:spcPts val="600"/>
                </a:spcBef>
                <a:buClr>
                  <a:schemeClr val="tx2"/>
                </a:buClr>
                <a:buFont typeface="Arial" panose="020B0604020202020204" pitchFamily="34" charset="0"/>
                <a:buChar char="•"/>
              </a:pPr>
              <a:r>
                <a:rPr lang="en-US" sz="1000" b="1">
                  <a:latin typeface="Manrope" pitchFamily="2" charset="0"/>
                </a:rPr>
                <a:t>20 - 30 percent savings reduction in annual expenses</a:t>
              </a:r>
            </a:p>
          </p:txBody>
        </p:sp>
        <p:sp>
          <p:nvSpPr>
            <p:cNvPr id="4" name="Rectangle 3">
              <a:extLst>
                <a:ext uri="{FF2B5EF4-FFF2-40B4-BE49-F238E27FC236}">
                  <a16:creationId xmlns:a16="http://schemas.microsoft.com/office/drawing/2014/main" id="{24108AE0-02DA-2F13-5AF9-936AB8D868F8}"/>
                </a:ext>
              </a:extLst>
            </p:cNvPr>
            <p:cNvSpPr/>
            <p:nvPr/>
          </p:nvSpPr>
          <p:spPr>
            <a:xfrm>
              <a:off x="10652648" y="908050"/>
              <a:ext cx="4886462" cy="2463773"/>
            </a:xfrm>
            <a:prstGeom prst="rect">
              <a:avLst/>
            </a:prstGeom>
            <a:solidFill>
              <a:schemeClr val="accent5">
                <a:lumMod val="20000"/>
                <a:lumOff val="80000"/>
                <a:alpha val="4975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anrope" pitchFamily="2" charset="0"/>
              </a:endParaRPr>
            </a:p>
          </p:txBody>
        </p:sp>
        <p:sp>
          <p:nvSpPr>
            <p:cNvPr id="5" name="Rectangle 4">
              <a:extLst>
                <a:ext uri="{FF2B5EF4-FFF2-40B4-BE49-F238E27FC236}">
                  <a16:creationId xmlns:a16="http://schemas.microsoft.com/office/drawing/2014/main" id="{9A1048E4-973F-F2CB-7939-AC9AF854B611}"/>
                </a:ext>
              </a:extLst>
            </p:cNvPr>
            <p:cNvSpPr/>
            <p:nvPr/>
          </p:nvSpPr>
          <p:spPr>
            <a:xfrm>
              <a:off x="10652648"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BA27A5D-1D3B-0AA1-61DF-0C61CE562D7A}"/>
                </a:ext>
              </a:extLst>
            </p:cNvPr>
            <p:cNvSpPr/>
            <p:nvPr/>
          </p:nvSpPr>
          <p:spPr>
            <a:xfrm>
              <a:off x="10652648" y="3522278"/>
              <a:ext cx="4886462" cy="2859472"/>
            </a:xfrm>
            <a:prstGeom prst="rect">
              <a:avLst/>
            </a:prstGeom>
            <a:solidFill>
              <a:schemeClr val="accent5">
                <a:lumMod val="20000"/>
                <a:lumOff val="80000"/>
                <a:alpha val="4975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anrope" pitchFamily="2" charset="0"/>
              </a:endParaRPr>
            </a:p>
          </p:txBody>
        </p:sp>
        <p:sp>
          <p:nvSpPr>
            <p:cNvPr id="12" name="Rectangle 11">
              <a:extLst>
                <a:ext uri="{FF2B5EF4-FFF2-40B4-BE49-F238E27FC236}">
                  <a16:creationId xmlns:a16="http://schemas.microsoft.com/office/drawing/2014/main" id="{623B474E-5C75-C032-D8C8-DBA83EDBAEDD}"/>
                </a:ext>
              </a:extLst>
            </p:cNvPr>
            <p:cNvSpPr/>
            <p:nvPr/>
          </p:nvSpPr>
          <p:spPr>
            <a:xfrm>
              <a:off x="10652648"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8E06ED6-0F4A-E097-25BB-FE69E2F15D48}"/>
                </a:ext>
              </a:extLst>
            </p:cNvPr>
            <p:cNvSpPr txBox="1"/>
            <p:nvPr/>
          </p:nvSpPr>
          <p:spPr>
            <a:xfrm>
              <a:off x="10732611" y="1589799"/>
              <a:ext cx="4463250" cy="1708160"/>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tx2"/>
                </a:buClr>
                <a:buFont typeface="Arial" panose="020B0604020202020204" pitchFamily="34" charset="0"/>
                <a:buChar char="•"/>
              </a:pPr>
              <a:r>
                <a:rPr lang="en-US" sz="1000">
                  <a:latin typeface="Manrope" pitchFamily="2" charset="0"/>
                </a:rPr>
                <a:t>Enabled seamless integration of data from multiple sources to support advanced analytics and BI workflows</a:t>
              </a:r>
            </a:p>
            <a:p>
              <a:pPr marL="171450" indent="-171450">
                <a:spcBef>
                  <a:spcPts val="600"/>
                </a:spcBef>
                <a:buClr>
                  <a:schemeClr val="tx2"/>
                </a:buClr>
                <a:buFont typeface="Arial" panose="020B0604020202020204" pitchFamily="34" charset="0"/>
                <a:buChar char="•"/>
              </a:pPr>
              <a:r>
                <a:rPr lang="en-US" sz="1000">
                  <a:latin typeface="Manrope" pitchFamily="2" charset="0"/>
                </a:rPr>
                <a:t>Extracted data from the SQL Server on SAP cloud, transformed it using Snowflake </a:t>
              </a:r>
            </a:p>
            <a:p>
              <a:pPr marL="171450" indent="-171450">
                <a:spcBef>
                  <a:spcPts val="600"/>
                </a:spcBef>
                <a:buClr>
                  <a:schemeClr val="tx2"/>
                </a:buClr>
                <a:buFont typeface="Arial" panose="020B0604020202020204" pitchFamily="34" charset="0"/>
                <a:buChar char="•"/>
              </a:pPr>
              <a:r>
                <a:rPr lang="en-US" sz="1000">
                  <a:latin typeface="Manrope" pitchFamily="2" charset="0"/>
                </a:rPr>
                <a:t>Automated schema migration and data quality checks using a framework-driven approach </a:t>
              </a:r>
            </a:p>
            <a:p>
              <a:pPr marL="171450" indent="-171450">
                <a:spcBef>
                  <a:spcPts val="600"/>
                </a:spcBef>
                <a:buClr>
                  <a:schemeClr val="tx2"/>
                </a:buClr>
                <a:buFont typeface="Arial" panose="020B0604020202020204" pitchFamily="34" charset="0"/>
                <a:buChar char="•"/>
              </a:pPr>
              <a:r>
                <a:rPr lang="en-US" sz="1000" b="1">
                  <a:latin typeface="Manrope" pitchFamily="2" charset="0"/>
                </a:rPr>
                <a:t>40 percent faster query processing, 30 percent reduced cost of ownership</a:t>
              </a:r>
            </a:p>
          </p:txBody>
        </p:sp>
        <p:sp>
          <p:nvSpPr>
            <p:cNvPr id="32" name="TextBox 31">
              <a:extLst>
                <a:ext uri="{FF2B5EF4-FFF2-40B4-BE49-F238E27FC236}">
                  <a16:creationId xmlns:a16="http://schemas.microsoft.com/office/drawing/2014/main" id="{67AF6DA8-8534-AC1F-A155-BB1C3FE2C5F7}"/>
                </a:ext>
              </a:extLst>
            </p:cNvPr>
            <p:cNvSpPr txBox="1"/>
            <p:nvPr/>
          </p:nvSpPr>
          <p:spPr>
            <a:xfrm>
              <a:off x="10779926" y="4204027"/>
              <a:ext cx="4463252" cy="1554272"/>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tx2"/>
                </a:buClr>
                <a:buFont typeface="Arial" panose="020B0604020202020204" pitchFamily="34" charset="0"/>
                <a:buChar char="•"/>
              </a:pPr>
              <a:r>
                <a:rPr lang="en-US" sz="1000">
                  <a:latin typeface="Manrope" pitchFamily="2" charset="0"/>
                </a:rPr>
                <a:t> Increased Data Pipeline Efficiency and Savings in Financial Services &amp; Payments Processing </a:t>
              </a:r>
            </a:p>
            <a:p>
              <a:pPr marL="171450" indent="-171450">
                <a:spcBef>
                  <a:spcPts val="600"/>
                </a:spcBef>
                <a:buClr>
                  <a:schemeClr val="tx2"/>
                </a:buClr>
                <a:buFont typeface="Arial" panose="020B0604020202020204" pitchFamily="34" charset="0"/>
                <a:buChar char="•"/>
              </a:pPr>
              <a:r>
                <a:rPr lang="en-US" sz="1000">
                  <a:latin typeface="Manrope" pitchFamily="2" charset="0"/>
                </a:rPr>
                <a:t>Granular, real-time visibility and control over data pipelines are implemented.</a:t>
              </a:r>
            </a:p>
            <a:p>
              <a:pPr marL="171450" indent="-171450">
                <a:spcBef>
                  <a:spcPts val="600"/>
                </a:spcBef>
                <a:buClr>
                  <a:schemeClr val="tx2"/>
                </a:buClr>
                <a:buFont typeface="Arial" panose="020B0604020202020204" pitchFamily="34" charset="0"/>
                <a:buChar char="•"/>
              </a:pPr>
              <a:r>
                <a:rPr lang="en-US" sz="1000">
                  <a:latin typeface="Manrope" pitchFamily="2" charset="0"/>
                </a:rPr>
                <a:t>Upskilling users via AI-powered tuning recommendation systems</a:t>
              </a:r>
            </a:p>
            <a:p>
              <a:pPr marL="171450" indent="-171450">
                <a:spcBef>
                  <a:spcPts val="600"/>
                </a:spcBef>
                <a:buClr>
                  <a:schemeClr val="tx2"/>
                </a:buClr>
                <a:buFont typeface="Arial" panose="020B0604020202020204" pitchFamily="34" charset="0"/>
                <a:buChar char="•"/>
              </a:pPr>
              <a:r>
                <a:rPr lang="en-US" sz="1000" b="1">
                  <a:latin typeface="Manrope" pitchFamily="2" charset="0"/>
                </a:rPr>
                <a:t>10X ROI improved performance and cost governance</a:t>
              </a:r>
            </a:p>
          </p:txBody>
        </p:sp>
      </p:grpSp>
      <p:pic>
        <p:nvPicPr>
          <p:cNvPr id="9" name="Picture 2" descr="undefined">
            <a:extLst>
              <a:ext uri="{FF2B5EF4-FFF2-40B4-BE49-F238E27FC236}">
                <a16:creationId xmlns:a16="http://schemas.microsoft.com/office/drawing/2014/main" id="{42FACEE4-FE2D-5010-30A4-F6CB8284CC4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808492" y="1095177"/>
            <a:ext cx="1091787" cy="18992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Asset Manager | State Street">
            <a:extLst>
              <a:ext uri="{FF2B5EF4-FFF2-40B4-BE49-F238E27FC236}">
                <a16:creationId xmlns:a16="http://schemas.microsoft.com/office/drawing/2014/main" id="{E12DFCF5-A02E-1273-6B64-B202B83CB06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512837" y="1085322"/>
            <a:ext cx="862662" cy="22550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2" descr="Carlyle Group logo in transparent PNG and vectorized SVG formats">
            <a:extLst>
              <a:ext uri="{FF2B5EF4-FFF2-40B4-BE49-F238E27FC236}">
                <a16:creationId xmlns:a16="http://schemas.microsoft.com/office/drawing/2014/main" id="{1B83549D-9A40-6D88-1C80-0DD1E41249C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194134" y="1119871"/>
            <a:ext cx="1244768" cy="15640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FF565810-FB56-28C7-43FE-F3FFA8179502}"/>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808492" y="3638305"/>
            <a:ext cx="871498" cy="248176"/>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Spark Networks (@SparkNetworks) / X">
            <a:extLst>
              <a:ext uri="{FF2B5EF4-FFF2-40B4-BE49-F238E27FC236}">
                <a16:creationId xmlns:a16="http://schemas.microsoft.com/office/drawing/2014/main" id="{E9FA6582-2A1C-002B-6293-D7ED1D75591A}"/>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734406" y="3624572"/>
            <a:ext cx="419523" cy="41952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2" descr="PenFed Debt Consolidation Loan Review">
            <a:extLst>
              <a:ext uri="{FF2B5EF4-FFF2-40B4-BE49-F238E27FC236}">
                <a16:creationId xmlns:a16="http://schemas.microsoft.com/office/drawing/2014/main" id="{1530F003-6216-5466-CFD4-8826F005D805}"/>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9102726" y="3449418"/>
            <a:ext cx="970097" cy="646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742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45A8-0F2E-EFF8-4F60-7688067B65B2}"/>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FFD87089-4025-2878-D0E2-95A9F084FFD7}"/>
              </a:ext>
            </a:extLst>
          </p:cNvPr>
          <p:cNvGrpSpPr/>
          <p:nvPr/>
        </p:nvGrpSpPr>
        <p:grpSpPr>
          <a:xfrm>
            <a:off x="652880" y="926342"/>
            <a:ext cx="785145" cy="785145"/>
            <a:chOff x="1450992" y="1491427"/>
            <a:chExt cx="950026" cy="950026"/>
          </a:xfrm>
        </p:grpSpPr>
        <p:sp>
          <p:nvSpPr>
            <p:cNvPr id="32" name="Oval 31">
              <a:extLst>
                <a:ext uri="{FF2B5EF4-FFF2-40B4-BE49-F238E27FC236}">
                  <a16:creationId xmlns:a16="http://schemas.microsoft.com/office/drawing/2014/main" id="{FBE61112-EF60-1D5F-ADC3-1B815F17719E}"/>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9694A25-BB47-E3E8-71B8-8F4D60ACDD6D}"/>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Placeholder 1">
            <a:extLst>
              <a:ext uri="{FF2B5EF4-FFF2-40B4-BE49-F238E27FC236}">
                <a16:creationId xmlns:a16="http://schemas.microsoft.com/office/drawing/2014/main" id="{6BD0CDF6-F31C-241D-1F61-46FD73E10BF5}"/>
              </a:ext>
            </a:extLst>
          </p:cNvPr>
          <p:cNvSpPr>
            <a:spLocks noGrp="1"/>
          </p:cNvSpPr>
          <p:nvPr>
            <p:ph type="body" sz="quarter" idx="15"/>
          </p:nvPr>
        </p:nvSpPr>
        <p:spPr>
          <a:xfrm flipH="1">
            <a:off x="623888" y="457200"/>
            <a:ext cx="8172450" cy="244101"/>
          </a:xfrm>
        </p:spPr>
        <p:txBody>
          <a:bodyPr/>
          <a:lstStyle/>
          <a:p>
            <a:r>
              <a:rPr lang="en-US"/>
              <a:t>Platform &amp; Data Migration for Snowflake</a:t>
            </a:r>
          </a:p>
        </p:txBody>
      </p:sp>
      <p:sp>
        <p:nvSpPr>
          <p:cNvPr id="10" name="Rectangle: Rounded Corners 18">
            <a:extLst>
              <a:ext uri="{FF2B5EF4-FFF2-40B4-BE49-F238E27FC236}">
                <a16:creationId xmlns:a16="http://schemas.microsoft.com/office/drawing/2014/main" id="{03DA67E5-2FB6-F366-9303-569782089A5A}"/>
              </a:ext>
            </a:extLst>
          </p:cNvPr>
          <p:cNvSpPr/>
          <p:nvPr/>
        </p:nvSpPr>
        <p:spPr>
          <a:xfrm>
            <a:off x="623888" y="1812336"/>
            <a:ext cx="10932238" cy="944976"/>
          </a:xfrm>
          <a:prstGeom prst="roundRect">
            <a:avLst>
              <a:gd name="adj" fmla="val 0"/>
            </a:avLst>
          </a:prstGeom>
          <a:solidFill>
            <a:srgbClr val="EEEFF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anrope"/>
              <a:ea typeface="Helvetica Neue"/>
              <a:cs typeface="Helvetica Neue"/>
            </a:endParaRPr>
          </a:p>
        </p:txBody>
      </p:sp>
      <p:sp>
        <p:nvSpPr>
          <p:cNvPr id="20" name="TextBox 19">
            <a:extLst>
              <a:ext uri="{FF2B5EF4-FFF2-40B4-BE49-F238E27FC236}">
                <a16:creationId xmlns:a16="http://schemas.microsoft.com/office/drawing/2014/main" id="{7143325E-ECD4-87A2-5DA3-AF83BFFDF71D}"/>
              </a:ext>
            </a:extLst>
          </p:cNvPr>
          <p:cNvSpPr txBox="1"/>
          <p:nvPr/>
        </p:nvSpPr>
        <p:spPr>
          <a:xfrm>
            <a:off x="6844924" y="1970551"/>
            <a:ext cx="4502277" cy="646331"/>
          </a:xfrm>
          <a:prstGeom prst="rect">
            <a:avLst/>
          </a:prstGeom>
          <a:noFill/>
        </p:spPr>
        <p:txBody>
          <a:bodyPr wrap="square">
            <a:spAutoFit/>
          </a:body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Faster and Accelerated Conversions</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Finetuned conversion parameters-based environment</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Gen AI powered conversions </a:t>
            </a:r>
          </a:p>
        </p:txBody>
      </p:sp>
      <p:sp>
        <p:nvSpPr>
          <p:cNvPr id="46" name="Title 29">
            <a:extLst>
              <a:ext uri="{FF2B5EF4-FFF2-40B4-BE49-F238E27FC236}">
                <a16:creationId xmlns:a16="http://schemas.microsoft.com/office/drawing/2014/main" id="{5AEF7C58-D6BF-C4CE-D284-49FB4077E1CE}"/>
              </a:ext>
            </a:extLst>
          </p:cNvPr>
          <p:cNvSpPr txBox="1">
            <a:spLocks/>
          </p:cNvSpPr>
          <p:nvPr/>
        </p:nvSpPr>
        <p:spPr>
          <a:xfrm>
            <a:off x="1568267" y="1161026"/>
            <a:ext cx="9999847"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400" b="0" u="none" strike="noStrike" kern="1200" cap="none" spc="0" normalizeH="0" baseline="0" noProof="0">
                <a:ln>
                  <a:noFill/>
                </a:ln>
                <a:solidFill>
                  <a:srgbClr val="000000"/>
                </a:solidFill>
                <a:effectLst/>
                <a:uLnTx/>
                <a:uFillTx/>
                <a:latin typeface="Manrope"/>
                <a:ea typeface="Helvetica Neue Medium"/>
                <a:cs typeface="Helvetica Neue Medium"/>
              </a:rPr>
              <a:t>We leverage our inhouse tools and frameworks for seamless platform and data migration expertise on Snowflake for empowering businesses and transforming data ecosystems</a:t>
            </a:r>
          </a:p>
        </p:txBody>
      </p:sp>
      <p:grpSp>
        <p:nvGrpSpPr>
          <p:cNvPr id="21" name="Group 20">
            <a:extLst>
              <a:ext uri="{FF2B5EF4-FFF2-40B4-BE49-F238E27FC236}">
                <a16:creationId xmlns:a16="http://schemas.microsoft.com/office/drawing/2014/main" id="{0D53A384-51C2-7ABD-F096-64FB714C73B5}"/>
              </a:ext>
            </a:extLst>
          </p:cNvPr>
          <p:cNvGrpSpPr/>
          <p:nvPr/>
        </p:nvGrpSpPr>
        <p:grpSpPr>
          <a:xfrm>
            <a:off x="623887" y="2869596"/>
            <a:ext cx="2759761" cy="2903109"/>
            <a:chOff x="382469" y="2434148"/>
            <a:chExt cx="2727736" cy="2903109"/>
          </a:xfrm>
        </p:grpSpPr>
        <p:sp>
          <p:nvSpPr>
            <p:cNvPr id="6" name="Rectangle: Rounded Corners 18">
              <a:extLst>
                <a:ext uri="{FF2B5EF4-FFF2-40B4-BE49-F238E27FC236}">
                  <a16:creationId xmlns:a16="http://schemas.microsoft.com/office/drawing/2014/main" id="{74B3D7E7-D751-0546-468D-9C045BE92B5E}"/>
                </a:ext>
              </a:extLst>
            </p:cNvPr>
            <p:cNvSpPr/>
            <p:nvPr/>
          </p:nvSpPr>
          <p:spPr>
            <a:xfrm>
              <a:off x="382469" y="2525605"/>
              <a:ext cx="2727736" cy="2811652"/>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7" name="Rectangle: Rounded Corners 18">
              <a:extLst>
                <a:ext uri="{FF2B5EF4-FFF2-40B4-BE49-F238E27FC236}">
                  <a16:creationId xmlns:a16="http://schemas.microsoft.com/office/drawing/2014/main" id="{6C546F4C-B8B0-8826-0885-D34A6E4458F1}"/>
                </a:ext>
              </a:extLst>
            </p:cNvPr>
            <p:cNvSpPr/>
            <p:nvPr/>
          </p:nvSpPr>
          <p:spPr>
            <a:xfrm>
              <a:off x="395157" y="2434148"/>
              <a:ext cx="2715048" cy="356878"/>
            </a:xfrm>
            <a:prstGeom prst="roundRect">
              <a:avLst>
                <a:gd name="adj" fmla="val 0"/>
              </a:avLst>
            </a:prstGeom>
            <a:solidFill>
              <a:srgbClr val="08126E"/>
            </a:solidFill>
            <a:ln w="3175">
              <a:noFill/>
            </a:ln>
            <a:effectLst/>
          </p:spPr>
          <p:txBody>
            <a:bodyPr lIns="0" tIns="0" rIns="0" bIns="0" anchor="ctr" anchorCtr="0"/>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Our Offerings</a:t>
              </a:r>
            </a:p>
          </p:txBody>
        </p:sp>
        <p:sp>
          <p:nvSpPr>
            <p:cNvPr id="45" name="TextBox 44">
              <a:extLst>
                <a:ext uri="{FF2B5EF4-FFF2-40B4-BE49-F238E27FC236}">
                  <a16:creationId xmlns:a16="http://schemas.microsoft.com/office/drawing/2014/main" id="{0D2E1742-FEB0-ABC6-A278-D7A6A6C483D6}"/>
                </a:ext>
              </a:extLst>
            </p:cNvPr>
            <p:cNvSpPr txBox="1"/>
            <p:nvPr/>
          </p:nvSpPr>
          <p:spPr>
            <a:xfrm>
              <a:off x="491810" y="2916756"/>
              <a:ext cx="2268242" cy="2246769"/>
            </a:xfrm>
            <a:prstGeom prst="rect">
              <a:avLst/>
            </a:prstGeom>
            <a:noFill/>
          </p:spPr>
          <p:txBody>
            <a:bodyPr wrap="square" lIns="91440" tIns="0" rIns="0" bIns="0" rtlCol="0">
              <a:spAutoFit/>
            </a:bodyPr>
            <a:lstStyle/>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Database Modernization to Snowflake: Oracle, SQL Server, DB2 etc.</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Appliance Migration to Snowflake: Teradata, Exadata, Vertica</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Big Data Platforms Migration – Hadoop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Cloud DWH Migration – Redshift, Synapse to Snowflake</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ETL Conversion &amp; Report Repointing</a:t>
              </a:r>
            </a:p>
          </p:txBody>
        </p:sp>
      </p:grpSp>
      <p:grpSp>
        <p:nvGrpSpPr>
          <p:cNvPr id="27" name="Group 26">
            <a:extLst>
              <a:ext uri="{FF2B5EF4-FFF2-40B4-BE49-F238E27FC236}">
                <a16:creationId xmlns:a16="http://schemas.microsoft.com/office/drawing/2014/main" id="{39EE41C6-9A90-4133-EB51-7B1523FB71C9}"/>
              </a:ext>
            </a:extLst>
          </p:cNvPr>
          <p:cNvGrpSpPr/>
          <p:nvPr/>
        </p:nvGrpSpPr>
        <p:grpSpPr>
          <a:xfrm>
            <a:off x="8716905" y="2878943"/>
            <a:ext cx="2851209" cy="2893762"/>
            <a:chOff x="9036899" y="2430426"/>
            <a:chExt cx="2823201" cy="2893762"/>
          </a:xfrm>
        </p:grpSpPr>
        <p:sp>
          <p:nvSpPr>
            <p:cNvPr id="16" name="Rectangle: Rounded Corners 18">
              <a:extLst>
                <a:ext uri="{FF2B5EF4-FFF2-40B4-BE49-F238E27FC236}">
                  <a16:creationId xmlns:a16="http://schemas.microsoft.com/office/drawing/2014/main" id="{0833872D-9FB1-E6E3-C62B-595B0C67098A}"/>
                </a:ext>
              </a:extLst>
            </p:cNvPr>
            <p:cNvSpPr/>
            <p:nvPr/>
          </p:nvSpPr>
          <p:spPr>
            <a:xfrm>
              <a:off x="9036899" y="2785278"/>
              <a:ext cx="2823201" cy="2538910"/>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28" name="Rectangle: Rounded Corners 18">
              <a:extLst>
                <a:ext uri="{FF2B5EF4-FFF2-40B4-BE49-F238E27FC236}">
                  <a16:creationId xmlns:a16="http://schemas.microsoft.com/office/drawing/2014/main" id="{A397EB46-1EE4-05C5-29FC-02AB4EF0D9A5}"/>
                </a:ext>
              </a:extLst>
            </p:cNvPr>
            <p:cNvSpPr/>
            <p:nvPr/>
          </p:nvSpPr>
          <p:spPr>
            <a:xfrm>
              <a:off x="9036899" y="2430426"/>
              <a:ext cx="2823201" cy="356878"/>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Outcomes Delivered</a:t>
              </a:r>
            </a:p>
          </p:txBody>
        </p:sp>
        <p:sp>
          <p:nvSpPr>
            <p:cNvPr id="15" name="Rectangle: Rounded Corners 18">
              <a:extLst>
                <a:ext uri="{FF2B5EF4-FFF2-40B4-BE49-F238E27FC236}">
                  <a16:creationId xmlns:a16="http://schemas.microsoft.com/office/drawing/2014/main" id="{7394EBDE-8D90-1B78-57F3-59CBC889F5DD}"/>
                </a:ext>
              </a:extLst>
            </p:cNvPr>
            <p:cNvSpPr/>
            <p:nvPr/>
          </p:nvSpPr>
          <p:spPr>
            <a:xfrm>
              <a:off x="9135312" y="2871088"/>
              <a:ext cx="2615249" cy="1769715"/>
            </a:xfrm>
            <a:prstGeom prst="roundRect">
              <a:avLst>
                <a:gd name="adj" fmla="val 0"/>
              </a:avLst>
            </a:prstGeom>
            <a:noFill/>
          </p:spPr>
          <p:txBody>
            <a:bodyPr wrap="square" lIns="91440" tIns="0" rIns="0" bIns="0" rtlCol="0">
              <a:spAutoFit/>
            </a:bodyPr>
            <a:lstStyle/>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Achieved 75% reduction in data cleansing and processing times.</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Delivered 50% cost and overhead savings for clients by seamlessly centralizing global data assets on the Snowflake platform.</a:t>
              </a:r>
            </a:p>
            <a:p>
              <a:pPr marL="171450" marR="0" lvl="0" indent="-171450" algn="l" defTabSz="914400" rtl="0" eaLnBrk="1" fontAlgn="auto" latinLnBrk="0" hangingPunct="1">
                <a:spcBef>
                  <a:spcPts val="60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Accelerated development timelines by 30-40% through a framework-driven approach for populating data into Snowflake Data Warehouse.</a:t>
              </a:r>
            </a:p>
          </p:txBody>
        </p:sp>
      </p:grpSp>
      <p:grpSp>
        <p:nvGrpSpPr>
          <p:cNvPr id="25" name="Group 24">
            <a:extLst>
              <a:ext uri="{FF2B5EF4-FFF2-40B4-BE49-F238E27FC236}">
                <a16:creationId xmlns:a16="http://schemas.microsoft.com/office/drawing/2014/main" id="{FD96B222-4EFA-8313-7A74-C4907A4A776A}"/>
              </a:ext>
            </a:extLst>
          </p:cNvPr>
          <p:cNvGrpSpPr/>
          <p:nvPr/>
        </p:nvGrpSpPr>
        <p:grpSpPr>
          <a:xfrm>
            <a:off x="3431255" y="2865874"/>
            <a:ext cx="5242363" cy="2906831"/>
            <a:chOff x="3381720" y="2430426"/>
            <a:chExt cx="2639669" cy="2906831"/>
          </a:xfrm>
        </p:grpSpPr>
        <p:sp>
          <p:nvSpPr>
            <p:cNvPr id="38" name="Rectangle: Rounded Corners 18">
              <a:extLst>
                <a:ext uri="{FF2B5EF4-FFF2-40B4-BE49-F238E27FC236}">
                  <a16:creationId xmlns:a16="http://schemas.microsoft.com/office/drawing/2014/main" id="{246DEDE7-C54B-34E4-6999-D6CBD4D68E17}"/>
                </a:ext>
              </a:extLst>
            </p:cNvPr>
            <p:cNvSpPr/>
            <p:nvPr/>
          </p:nvSpPr>
          <p:spPr>
            <a:xfrm>
              <a:off x="3381720" y="2791025"/>
              <a:ext cx="2639669" cy="2546232"/>
            </a:xfrm>
            <a:prstGeom prst="roundRect">
              <a:avLst>
                <a:gd name="adj" fmla="val 0"/>
              </a:avLst>
            </a:prstGeom>
            <a:noFill/>
            <a:ln w="6350">
              <a:solidFill>
                <a:schemeClr val="accent5"/>
              </a:solid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1027" name="Rectangle: Rounded Corners 18">
              <a:extLst>
                <a:ext uri="{FF2B5EF4-FFF2-40B4-BE49-F238E27FC236}">
                  <a16:creationId xmlns:a16="http://schemas.microsoft.com/office/drawing/2014/main" id="{817181AD-8965-A9A8-0193-6C55F2345682}"/>
                </a:ext>
              </a:extLst>
            </p:cNvPr>
            <p:cNvSpPr/>
            <p:nvPr/>
          </p:nvSpPr>
          <p:spPr>
            <a:xfrm>
              <a:off x="3381720" y="2430426"/>
              <a:ext cx="2639669" cy="346870"/>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Key Customers</a:t>
              </a:r>
            </a:p>
          </p:txBody>
        </p:sp>
      </p:grpSp>
      <p:sp>
        <p:nvSpPr>
          <p:cNvPr id="53" name="Rectangle 52">
            <a:extLst>
              <a:ext uri="{FF2B5EF4-FFF2-40B4-BE49-F238E27FC236}">
                <a16:creationId xmlns:a16="http://schemas.microsoft.com/office/drawing/2014/main" id="{5E6656CA-BAC7-B9F4-358B-FF971A4C1AFD}"/>
              </a:ext>
            </a:extLst>
          </p:cNvPr>
          <p:cNvSpPr/>
          <p:nvPr/>
        </p:nvSpPr>
        <p:spPr>
          <a:xfrm>
            <a:off x="4692703" y="4693878"/>
            <a:ext cx="1350504" cy="17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1216916" rtl="0" eaLnBrk="1" fontAlgn="base" latinLnBrk="0" hangingPunct="1">
              <a:lnSpc>
                <a:spcPts val="1300"/>
              </a:lnSpc>
              <a:spcBef>
                <a:spcPts val="200"/>
              </a:spcBef>
              <a:spcAft>
                <a:spcPct val="0"/>
              </a:spcAft>
              <a:buClr>
                <a:srgbClr val="002060"/>
              </a:buClr>
              <a:buSzTx/>
              <a:buFontTx/>
              <a:buNone/>
              <a:tabLst/>
              <a:defRPr/>
            </a:pPr>
            <a:r>
              <a:rPr kumimoji="0" lang="en-US" sz="1200" b="1" i="0" u="none" strike="noStrike" kern="1200" cap="none" spc="0" normalizeH="0" baseline="0" noProof="0">
                <a:ln>
                  <a:noFill/>
                </a:ln>
                <a:solidFill>
                  <a:srgbClr val="FFFFFF"/>
                </a:solidFill>
                <a:effectLst/>
                <a:uLnTx/>
                <a:uFillTx/>
                <a:latin typeface="Manrope" pitchFamily="2" charset="0"/>
                <a:ea typeface="+mj-ea"/>
                <a:cs typeface="Segoe UI Semibold" panose="020B0502040204020203" pitchFamily="34" charset="0"/>
              </a:rPr>
              <a:t>Accelerators</a:t>
            </a:r>
          </a:p>
        </p:txBody>
      </p:sp>
      <p:pic>
        <p:nvPicPr>
          <p:cNvPr id="23" name="Graphic 22" descr="Eye outline">
            <a:extLst>
              <a:ext uri="{FF2B5EF4-FFF2-40B4-BE49-F238E27FC236}">
                <a16:creationId xmlns:a16="http://schemas.microsoft.com/office/drawing/2014/main" id="{0E1222D9-BC51-2AB4-5E14-49511FD396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625" y="1030425"/>
            <a:ext cx="515918" cy="546088"/>
          </a:xfrm>
          <a:prstGeom prst="rect">
            <a:avLst/>
          </a:prstGeom>
        </p:spPr>
      </p:pic>
      <p:sp>
        <p:nvSpPr>
          <p:cNvPr id="59" name="TextBox 58">
            <a:extLst>
              <a:ext uri="{FF2B5EF4-FFF2-40B4-BE49-F238E27FC236}">
                <a16:creationId xmlns:a16="http://schemas.microsoft.com/office/drawing/2014/main" id="{30A699EF-E137-5C89-CCF9-AE4B486C8C58}"/>
              </a:ext>
            </a:extLst>
          </p:cNvPr>
          <p:cNvSpPr txBox="1"/>
          <p:nvPr/>
        </p:nvSpPr>
        <p:spPr>
          <a:xfrm>
            <a:off x="533306" y="5961153"/>
            <a:ext cx="8263032" cy="269176"/>
          </a:xfrm>
          <a:prstGeom prst="rect">
            <a:avLst/>
          </a:prstGeom>
          <a:noFill/>
        </p:spPr>
        <p:txBody>
          <a:bodyPr wrap="square">
            <a:spAutoFit/>
          </a:bodyPr>
          <a:lstStyle/>
          <a:p>
            <a:pPr marL="0" marR="0" lvl="0" indent="0" defTabSz="914400" rtl="0" eaLnBrk="1" fontAlgn="auto" latinLnBrk="0" hangingPunct="1">
              <a:lnSpc>
                <a:spcPct val="110000"/>
              </a:lnSpc>
              <a:spcBef>
                <a:spcPts val="1200"/>
              </a:spcBef>
              <a:spcAft>
                <a:spcPts val="0"/>
              </a:spcAft>
              <a:buClr>
                <a:srgbClr val="3C2CDA"/>
              </a:buClr>
              <a:buSzTx/>
              <a:buFontTx/>
              <a:buNone/>
              <a:tabLst/>
              <a:defRPr/>
            </a:pPr>
            <a:r>
              <a:rPr kumimoji="0" lang="en-US" sz="1100" b="1" i="0" u="none" strike="noStrike" kern="1200" cap="none" spc="0" normalizeH="0" baseline="0" noProof="0">
                <a:ln>
                  <a:noFill/>
                </a:ln>
                <a:solidFill>
                  <a:schemeClr val="accent1"/>
                </a:solidFill>
                <a:effectLst/>
                <a:uLnTx/>
                <a:uFillTx/>
                <a:latin typeface="Manrope"/>
              </a:rPr>
              <a:t>Accelerators</a:t>
            </a:r>
            <a:r>
              <a:rPr kumimoji="0" lang="en-US" sz="1100" b="0" i="0" u="none" strike="noStrike" kern="1200" cap="none" spc="0" normalizeH="0" baseline="0" noProof="0">
                <a:ln>
                  <a:noFill/>
                </a:ln>
                <a:solidFill>
                  <a:schemeClr val="accent1"/>
                </a:solidFill>
                <a:effectLst/>
                <a:uLnTx/>
                <a:uFillTx/>
                <a:latin typeface="Manrope"/>
              </a:rPr>
              <a:t> : </a:t>
            </a:r>
            <a:r>
              <a:rPr kumimoji="0" lang="en-US" sz="1100" b="0" i="0" u="none" strike="noStrike" kern="1200" cap="none" spc="0" normalizeH="0" baseline="0" noProof="0">
                <a:ln>
                  <a:noFill/>
                </a:ln>
                <a:solidFill>
                  <a:srgbClr val="282828"/>
                </a:solidFill>
                <a:effectLst/>
                <a:uLnTx/>
                <a:uFillTx/>
                <a:latin typeface="Manrope"/>
              </a:rPr>
              <a:t>Amaze</a:t>
            </a:r>
            <a:r>
              <a:rPr kumimoji="0" lang="en-US" sz="1100" b="0" i="0" u="none" strike="noStrike" kern="1200" cap="none" spc="0" normalizeH="0" baseline="0" noProof="0">
                <a:ln>
                  <a:noFill/>
                </a:ln>
                <a:solidFill>
                  <a:srgbClr val="000000"/>
                </a:solidFill>
                <a:effectLst/>
                <a:uLnTx/>
                <a:uFillTx/>
                <a:latin typeface="Manrope" pitchFamily="2" charset="0"/>
              </a:rPr>
              <a:t>®</a:t>
            </a:r>
            <a:r>
              <a:rPr kumimoji="0" lang="en-US" sz="1100" b="0" i="0" u="none" strike="noStrike" kern="1200" cap="none" spc="0" normalizeH="0" baseline="0" noProof="0">
                <a:ln>
                  <a:noFill/>
                </a:ln>
                <a:solidFill>
                  <a:srgbClr val="282828"/>
                </a:solidFill>
                <a:effectLst/>
                <a:uLnTx/>
                <a:uFillTx/>
                <a:latin typeface="Manrope"/>
              </a:rPr>
              <a:t> for Data &amp; AI for Snowflake, </a:t>
            </a:r>
            <a:r>
              <a:rPr kumimoji="0" lang="en-US" sz="1100" b="0" i="0" u="none" strike="noStrike" kern="1200" cap="none" spc="0" normalizeH="0" baseline="0" noProof="0" err="1">
                <a:ln>
                  <a:noFill/>
                </a:ln>
                <a:solidFill>
                  <a:srgbClr val="282828"/>
                </a:solidFill>
                <a:effectLst/>
                <a:uLnTx/>
                <a:uFillTx/>
                <a:latin typeface="Manrope"/>
              </a:rPr>
              <a:t>SnowConvert</a:t>
            </a:r>
            <a:endParaRPr kumimoji="0" lang="en-US" sz="1100" b="0" i="0" u="none" strike="noStrike" kern="1200" cap="none" spc="0" normalizeH="0" baseline="0" noProof="0">
              <a:ln>
                <a:noFill/>
              </a:ln>
              <a:solidFill>
                <a:srgbClr val="282828"/>
              </a:solidFill>
              <a:effectLst/>
              <a:uLnTx/>
              <a:uFillTx/>
              <a:latin typeface="Manrope"/>
            </a:endParaRPr>
          </a:p>
        </p:txBody>
      </p:sp>
      <p:sp>
        <p:nvSpPr>
          <p:cNvPr id="3" name="TextBox 2">
            <a:extLst>
              <a:ext uri="{FF2B5EF4-FFF2-40B4-BE49-F238E27FC236}">
                <a16:creationId xmlns:a16="http://schemas.microsoft.com/office/drawing/2014/main" id="{88CAE3A7-5C89-A0F5-849D-BE40EC6B151C}"/>
              </a:ext>
            </a:extLst>
          </p:cNvPr>
          <p:cNvSpPr txBox="1"/>
          <p:nvPr/>
        </p:nvSpPr>
        <p:spPr>
          <a:xfrm>
            <a:off x="2638395" y="1862684"/>
            <a:ext cx="1824946"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~50%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Conversion rate in Teradata &amp; Hadoop</a:t>
            </a:r>
          </a:p>
        </p:txBody>
      </p:sp>
      <p:sp>
        <p:nvSpPr>
          <p:cNvPr id="4" name="TextBox 3">
            <a:extLst>
              <a:ext uri="{FF2B5EF4-FFF2-40B4-BE49-F238E27FC236}">
                <a16:creationId xmlns:a16="http://schemas.microsoft.com/office/drawing/2014/main" id="{6B5FB792-25B4-95CF-24C8-87D77D397020}"/>
              </a:ext>
            </a:extLst>
          </p:cNvPr>
          <p:cNvSpPr txBox="1"/>
          <p:nvPr/>
        </p:nvSpPr>
        <p:spPr>
          <a:xfrm>
            <a:off x="686024" y="1862684"/>
            <a:ext cx="1918736"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90%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Conversion  Rate with Schemas, DB objects</a:t>
            </a:r>
          </a:p>
        </p:txBody>
      </p:sp>
      <p:sp>
        <p:nvSpPr>
          <p:cNvPr id="5" name="TextBox 4">
            <a:extLst>
              <a:ext uri="{FF2B5EF4-FFF2-40B4-BE49-F238E27FC236}">
                <a16:creationId xmlns:a16="http://schemas.microsoft.com/office/drawing/2014/main" id="{AFB6B0C6-FE66-162D-6709-B0E308ADC793}"/>
              </a:ext>
            </a:extLst>
          </p:cNvPr>
          <p:cNvSpPr txBox="1"/>
          <p:nvPr/>
        </p:nvSpPr>
        <p:spPr>
          <a:xfrm>
            <a:off x="4592903" y="1862684"/>
            <a:ext cx="2043097"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2400" spc="-100">
                <a:solidFill>
                  <a:srgbClr val="3C2CDA"/>
                </a:solidFill>
                <a:latin typeface="Manrope"/>
              </a:rPr>
              <a:t>1</a:t>
            </a:r>
            <a:r>
              <a:rPr kumimoji="0" lang="en-IN" sz="2400" i="0" u="none" strike="noStrike" kern="1200" cap="none" spc="-100" normalizeH="0" baseline="0" noProof="0">
                <a:ln>
                  <a:noFill/>
                </a:ln>
                <a:solidFill>
                  <a:srgbClr val="3C2CDA"/>
                </a:solidFill>
                <a:effectLst/>
                <a:uLnTx/>
                <a:uFillTx/>
                <a:latin typeface="Manrope"/>
              </a:rPr>
              <a:t>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Migrations for ETL and Reporting</a:t>
            </a:r>
          </a:p>
        </p:txBody>
      </p:sp>
      <p:pic>
        <p:nvPicPr>
          <p:cNvPr id="8" name="Picture 2">
            <a:extLst>
              <a:ext uri="{FF2B5EF4-FFF2-40B4-BE49-F238E27FC236}">
                <a16:creationId xmlns:a16="http://schemas.microsoft.com/office/drawing/2014/main" id="{5B7F3CCE-99B3-D27B-1B6C-86C2195DA8B4}"/>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335639" y="3386659"/>
            <a:ext cx="971798" cy="33318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72FF907C-58B4-9264-2F70-D2680978F32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526324" y="4238668"/>
            <a:ext cx="1690561" cy="31353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undefined">
            <a:extLst>
              <a:ext uri="{FF2B5EF4-FFF2-40B4-BE49-F238E27FC236}">
                <a16:creationId xmlns:a16="http://schemas.microsoft.com/office/drawing/2014/main" id="{8109BF20-2E27-0468-0837-7BFA73D7E93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634277" y="3383878"/>
            <a:ext cx="1053227" cy="18321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close up of a logo&#10;&#10;Description automatically generated">
            <a:extLst>
              <a:ext uri="{FF2B5EF4-FFF2-40B4-BE49-F238E27FC236}">
                <a16:creationId xmlns:a16="http://schemas.microsoft.com/office/drawing/2014/main" id="{197B855E-F219-9865-DA00-819AD4B1275F}"/>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b="-7241"/>
          <a:stretch/>
        </p:blipFill>
        <p:spPr>
          <a:xfrm>
            <a:off x="3569181" y="3799265"/>
            <a:ext cx="1183418" cy="439403"/>
          </a:xfrm>
          <a:prstGeom prst="rect">
            <a:avLst/>
          </a:prstGeom>
        </p:spPr>
      </p:pic>
      <p:pic>
        <p:nvPicPr>
          <p:cNvPr id="18" name="Picture 17" descr="A close up of a sign&#10;&#10;Description automatically generated">
            <a:extLst>
              <a:ext uri="{FF2B5EF4-FFF2-40B4-BE49-F238E27FC236}">
                <a16:creationId xmlns:a16="http://schemas.microsoft.com/office/drawing/2014/main" id="{79A0E29E-3164-8DC1-E825-9ABBC2B9DB2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641474" y="5309379"/>
            <a:ext cx="1111125" cy="354554"/>
          </a:xfrm>
          <a:prstGeom prst="rect">
            <a:avLst/>
          </a:prstGeom>
        </p:spPr>
      </p:pic>
      <p:pic>
        <p:nvPicPr>
          <p:cNvPr id="19" name="Picture 2" descr="Patelco Credit Union Interest Checking Reviews (2024) - SuperMoney">
            <a:extLst>
              <a:ext uri="{FF2B5EF4-FFF2-40B4-BE49-F238E27FC236}">
                <a16:creationId xmlns:a16="http://schemas.microsoft.com/office/drawing/2014/main" id="{9FBF59AF-FBB9-73BD-DB52-9BBA2E73FCB3}"/>
              </a:ext>
            </a:extLst>
          </p:cNvPr>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3680009" y="4676292"/>
            <a:ext cx="1132934" cy="55776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0" descr="Simtra BioPharma Solutions | LinkedIn">
            <a:extLst>
              <a:ext uri="{FF2B5EF4-FFF2-40B4-BE49-F238E27FC236}">
                <a16:creationId xmlns:a16="http://schemas.microsoft.com/office/drawing/2014/main" id="{7AA58965-1F97-F39F-2E85-36CAC42E33B1}"/>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5447456" y="4312735"/>
            <a:ext cx="748163" cy="74816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Customs Support">
            <a:extLst>
              <a:ext uri="{FF2B5EF4-FFF2-40B4-BE49-F238E27FC236}">
                <a16:creationId xmlns:a16="http://schemas.microsoft.com/office/drawing/2014/main" id="{D68D0B34-8D2E-6A56-73C0-B1E72044CF7B}"/>
              </a:ext>
            </a:extLst>
          </p:cNvPr>
          <p:cNvPicPr>
            <a:picLocks noChangeAspect="1" noChangeArrowheads="1"/>
          </p:cNvPicPr>
          <p:nvPr/>
        </p:nvPicPr>
        <p:blipFill rotWithShape="1">
          <a:blip r:embed="rId11" cstate="email">
            <a:extLst>
              <a:ext uri="{28A0092B-C50C-407E-A947-70E740481C1C}">
                <a14:useLocalDpi xmlns:a14="http://schemas.microsoft.com/office/drawing/2010/main"/>
              </a:ext>
            </a:extLst>
          </a:blip>
          <a:srcRect b="29082"/>
          <a:stretch/>
        </p:blipFill>
        <p:spPr bwMode="auto">
          <a:xfrm>
            <a:off x="5294053" y="4909703"/>
            <a:ext cx="1054969" cy="74816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1-800-FLOWERS.COM Launches Beta of &quot;GWYN&quot;, an Artificial ...">
            <a:extLst>
              <a:ext uri="{FF2B5EF4-FFF2-40B4-BE49-F238E27FC236}">
                <a16:creationId xmlns:a16="http://schemas.microsoft.com/office/drawing/2014/main" id="{1C778254-C7E6-76A9-C44F-AAF58B70A1BA}"/>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6960007" y="3838385"/>
            <a:ext cx="971797" cy="43085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4" descr="Aspire Lifestyles | Hiredly Malaysia">
            <a:extLst>
              <a:ext uri="{FF2B5EF4-FFF2-40B4-BE49-F238E27FC236}">
                <a16:creationId xmlns:a16="http://schemas.microsoft.com/office/drawing/2014/main" id="{979CA1A0-3D2D-219D-47AE-3D2F18DC8AE8}"/>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6944169" y="4476360"/>
            <a:ext cx="939055" cy="36014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Carlyle Group logo in transparent PNG and vectorized SVG formats">
            <a:extLst>
              <a:ext uri="{FF2B5EF4-FFF2-40B4-BE49-F238E27FC236}">
                <a16:creationId xmlns:a16="http://schemas.microsoft.com/office/drawing/2014/main" id="{948EEA2A-9B00-00CA-1E8C-6E0B3CF52517}"/>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6791449" y="3367338"/>
            <a:ext cx="1589781" cy="19975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72B29E60-486D-0317-E7AB-366C91F08D04}"/>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5447456" y="3864795"/>
            <a:ext cx="905043" cy="377102"/>
          </a:xfrm>
          <a:prstGeom prst="rect">
            <a:avLst/>
          </a:prstGeom>
        </p:spPr>
      </p:pic>
    </p:spTree>
    <p:extLst>
      <p:ext uri="{BB962C8B-B14F-4D97-AF65-F5344CB8AC3E}">
        <p14:creationId xmlns:p14="http://schemas.microsoft.com/office/powerpoint/2010/main" val="631302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0733E-EF7B-982B-12B4-4E8AB5F00CC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A619E21-3D2C-A58C-3183-D87E9896DB92}"/>
              </a:ext>
            </a:extLst>
          </p:cNvPr>
          <p:cNvSpPr>
            <a:spLocks noGrp="1"/>
          </p:cNvSpPr>
          <p:nvPr>
            <p:ph type="body" sz="quarter" idx="15"/>
          </p:nvPr>
        </p:nvSpPr>
        <p:spPr>
          <a:xfrm flipH="1">
            <a:off x="623887" y="457200"/>
            <a:ext cx="5618557" cy="244101"/>
          </a:xfrm>
        </p:spPr>
        <p:txBody>
          <a:bodyPr/>
          <a:lstStyle/>
          <a:p>
            <a:r>
              <a:rPr lang="en-US" noProof="0"/>
              <a:t>Key Success Stories - Migration</a:t>
            </a:r>
          </a:p>
        </p:txBody>
      </p:sp>
      <p:grpSp>
        <p:nvGrpSpPr>
          <p:cNvPr id="3" name="Group 2">
            <a:extLst>
              <a:ext uri="{FF2B5EF4-FFF2-40B4-BE49-F238E27FC236}">
                <a16:creationId xmlns:a16="http://schemas.microsoft.com/office/drawing/2014/main" id="{29637702-8344-8D33-8636-B216FB3399D8}"/>
              </a:ext>
            </a:extLst>
          </p:cNvPr>
          <p:cNvGrpSpPr/>
          <p:nvPr/>
        </p:nvGrpSpPr>
        <p:grpSpPr>
          <a:xfrm>
            <a:off x="623887" y="908050"/>
            <a:ext cx="10944226" cy="5473700"/>
            <a:chOff x="623887" y="908050"/>
            <a:chExt cx="14915223" cy="5473700"/>
          </a:xfrm>
        </p:grpSpPr>
        <p:sp>
          <p:nvSpPr>
            <p:cNvPr id="6" name="Rectangle 5">
              <a:extLst>
                <a:ext uri="{FF2B5EF4-FFF2-40B4-BE49-F238E27FC236}">
                  <a16:creationId xmlns:a16="http://schemas.microsoft.com/office/drawing/2014/main" id="{E471156D-3FA1-5B93-C9AA-0B1711346B78}"/>
                </a:ext>
              </a:extLst>
            </p:cNvPr>
            <p:cNvSpPr/>
            <p:nvPr/>
          </p:nvSpPr>
          <p:spPr>
            <a:xfrm>
              <a:off x="623887" y="908050"/>
              <a:ext cx="4886462" cy="2463773"/>
            </a:xfrm>
            <a:prstGeom prst="rect">
              <a:avLst/>
            </a:prstGeom>
            <a:solidFill>
              <a:schemeClr val="accent5">
                <a:lumMod val="20000"/>
                <a:lumOff val="80000"/>
                <a:alpha val="5024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1" name="Rectangle 10">
              <a:extLst>
                <a:ext uri="{FF2B5EF4-FFF2-40B4-BE49-F238E27FC236}">
                  <a16:creationId xmlns:a16="http://schemas.microsoft.com/office/drawing/2014/main" id="{8003B3FF-2158-3ADA-93BC-3832E899B635}"/>
                </a:ext>
              </a:extLst>
            </p:cNvPr>
            <p:cNvSpPr/>
            <p:nvPr/>
          </p:nvSpPr>
          <p:spPr>
            <a:xfrm>
              <a:off x="623887"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EF4AAE2-DB82-69EA-2A51-0AE68A269EA0}"/>
                </a:ext>
              </a:extLst>
            </p:cNvPr>
            <p:cNvSpPr txBox="1"/>
            <p:nvPr/>
          </p:nvSpPr>
          <p:spPr>
            <a:xfrm>
              <a:off x="718152"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8" name="TextBox 7">
              <a:extLst>
                <a:ext uri="{FF2B5EF4-FFF2-40B4-BE49-F238E27FC236}">
                  <a16:creationId xmlns:a16="http://schemas.microsoft.com/office/drawing/2014/main" id="{6024E9AF-B29F-372A-1120-79FE055A1D01}"/>
                </a:ext>
              </a:extLst>
            </p:cNvPr>
            <p:cNvSpPr txBox="1"/>
            <p:nvPr/>
          </p:nvSpPr>
          <p:spPr>
            <a:xfrm>
              <a:off x="627992" y="1589799"/>
              <a:ext cx="4723777" cy="147732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Helped to migrate from On-premise Teradata and Hadoop Appliance into Snowflake &amp; Databricks to deliver the scale and agility for Analytics on Mining Use cases for Haul Trucks, Crushers, Leeching etc.</a:t>
              </a:r>
            </a:p>
            <a:p>
              <a:pPr marL="171450" indent="-171450">
                <a:spcBef>
                  <a:spcPts val="600"/>
                </a:spcBef>
                <a:buClr>
                  <a:schemeClr val="accent1"/>
                </a:buClr>
                <a:buFont typeface="Arial" panose="020B0604020202020204" pitchFamily="34" charset="0"/>
                <a:buChar char="•"/>
              </a:pPr>
              <a:r>
                <a:rPr lang="en-US" sz="1000">
                  <a:latin typeface="Manrope" pitchFamily="2" charset="0"/>
                </a:rPr>
                <a:t>Leveraged Amaze® for Snowflake  platform for automated assessment, conversion and validation for during transformation</a:t>
              </a:r>
            </a:p>
            <a:p>
              <a:pPr marL="171450" indent="-171450">
                <a:spcBef>
                  <a:spcPts val="600"/>
                </a:spcBef>
                <a:buClr>
                  <a:schemeClr val="accent1"/>
                </a:buClr>
                <a:buFont typeface="Arial" panose="020B0604020202020204" pitchFamily="34" charset="0"/>
                <a:buChar char="•"/>
              </a:pPr>
              <a:r>
                <a:rPr lang="en-US" sz="1000" b="1">
                  <a:latin typeface="Manrope" pitchFamily="2" charset="0"/>
                </a:rPr>
                <a:t>Savings of estimated $4M+ in a year</a:t>
              </a:r>
            </a:p>
          </p:txBody>
        </p:sp>
        <p:sp>
          <p:nvSpPr>
            <p:cNvPr id="15" name="Rectangle 14">
              <a:extLst>
                <a:ext uri="{FF2B5EF4-FFF2-40B4-BE49-F238E27FC236}">
                  <a16:creationId xmlns:a16="http://schemas.microsoft.com/office/drawing/2014/main" id="{4CA9EABA-23FD-7FFF-141A-3D197D8E734B}"/>
                </a:ext>
              </a:extLst>
            </p:cNvPr>
            <p:cNvSpPr/>
            <p:nvPr/>
          </p:nvSpPr>
          <p:spPr>
            <a:xfrm>
              <a:off x="5639936" y="908050"/>
              <a:ext cx="4886462" cy="2463773"/>
            </a:xfrm>
            <a:prstGeom prst="rect">
              <a:avLst/>
            </a:prstGeom>
            <a:solidFill>
              <a:schemeClr val="accent5">
                <a:lumMod val="20000"/>
                <a:lumOff val="80000"/>
                <a:alpha val="5024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6" name="Rectangle 15">
              <a:extLst>
                <a:ext uri="{FF2B5EF4-FFF2-40B4-BE49-F238E27FC236}">
                  <a16:creationId xmlns:a16="http://schemas.microsoft.com/office/drawing/2014/main" id="{4484B42B-62D0-A195-AB88-685252F4CEAE}"/>
                </a:ext>
              </a:extLst>
            </p:cNvPr>
            <p:cNvSpPr/>
            <p:nvPr/>
          </p:nvSpPr>
          <p:spPr>
            <a:xfrm>
              <a:off x="5639936"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1DFC320-2426-FBBA-EDB4-794CCF277242}"/>
                </a:ext>
              </a:extLst>
            </p:cNvPr>
            <p:cNvSpPr txBox="1"/>
            <p:nvPr/>
          </p:nvSpPr>
          <p:spPr>
            <a:xfrm>
              <a:off x="5734201"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18" name="TextBox 17">
              <a:extLst>
                <a:ext uri="{FF2B5EF4-FFF2-40B4-BE49-F238E27FC236}">
                  <a16:creationId xmlns:a16="http://schemas.microsoft.com/office/drawing/2014/main" id="{9374A8FF-B3F0-9127-CD82-2B7D021329EA}"/>
                </a:ext>
              </a:extLst>
            </p:cNvPr>
            <p:cNvSpPr txBox="1"/>
            <p:nvPr/>
          </p:nvSpPr>
          <p:spPr>
            <a:xfrm>
              <a:off x="5644042" y="1589799"/>
              <a:ext cx="4463250" cy="1708160"/>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Helped in phased migration of on-prem DWH on Oracle, integrate new Oracle ERP &amp; Fusion data into Snowflake with pipelines on IICS, SQL, Kafka etc.</a:t>
              </a:r>
            </a:p>
            <a:p>
              <a:pPr marL="171450" indent="-171450">
                <a:spcBef>
                  <a:spcPts val="600"/>
                </a:spcBef>
                <a:buClr>
                  <a:schemeClr val="accent1"/>
                </a:buClr>
                <a:buFont typeface="Arial" panose="020B0604020202020204" pitchFamily="34" charset="0"/>
                <a:buChar char="•"/>
              </a:pPr>
              <a:r>
                <a:rPr lang="en-US" sz="1000">
                  <a:latin typeface="Manrope" pitchFamily="2" charset="0"/>
                </a:rPr>
                <a:t>Reports in OBIEE &amp; Qlik repointed to snowflake</a:t>
              </a:r>
            </a:p>
            <a:p>
              <a:pPr marL="171450" indent="-171450">
                <a:spcBef>
                  <a:spcPts val="600"/>
                </a:spcBef>
                <a:buClr>
                  <a:schemeClr val="accent1"/>
                </a:buClr>
                <a:buFont typeface="Arial" panose="020B0604020202020204" pitchFamily="34" charset="0"/>
                <a:buChar char="•"/>
              </a:pPr>
              <a:r>
                <a:rPr lang="en-US" sz="1000">
                  <a:latin typeface="Manrope" pitchFamily="2" charset="0"/>
                </a:rPr>
                <a:t>Unified view of customer, Product and other important attributes from single source of truth from snowflake</a:t>
              </a:r>
            </a:p>
            <a:p>
              <a:pPr marL="171450" indent="-171450">
                <a:spcBef>
                  <a:spcPts val="600"/>
                </a:spcBef>
                <a:buClr>
                  <a:schemeClr val="accent1"/>
                </a:buClr>
                <a:buFont typeface="Arial" panose="020B0604020202020204" pitchFamily="34" charset="0"/>
                <a:buChar char="•"/>
              </a:pPr>
              <a:r>
                <a:rPr lang="en-US" sz="1000" b="1">
                  <a:latin typeface="Manrope" pitchFamily="2" charset="0"/>
                </a:rPr>
                <a:t>30 % TCO savings on overall transformation</a:t>
              </a:r>
            </a:p>
          </p:txBody>
        </p:sp>
        <p:sp>
          <p:nvSpPr>
            <p:cNvPr id="21" name="Rectangle 20">
              <a:extLst>
                <a:ext uri="{FF2B5EF4-FFF2-40B4-BE49-F238E27FC236}">
                  <a16:creationId xmlns:a16="http://schemas.microsoft.com/office/drawing/2014/main" id="{D7612FEA-5899-5A7D-3028-2E5D7E6000B2}"/>
                </a:ext>
              </a:extLst>
            </p:cNvPr>
            <p:cNvSpPr/>
            <p:nvPr/>
          </p:nvSpPr>
          <p:spPr>
            <a:xfrm>
              <a:off x="623887" y="3522278"/>
              <a:ext cx="4886462" cy="2859472"/>
            </a:xfrm>
            <a:prstGeom prst="rect">
              <a:avLst/>
            </a:prstGeom>
            <a:solidFill>
              <a:schemeClr val="accent5">
                <a:lumMod val="20000"/>
                <a:lumOff val="80000"/>
                <a:alpha val="5024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22" name="Rectangle 21">
              <a:extLst>
                <a:ext uri="{FF2B5EF4-FFF2-40B4-BE49-F238E27FC236}">
                  <a16:creationId xmlns:a16="http://schemas.microsoft.com/office/drawing/2014/main" id="{106CA3CE-F4DD-F898-32FD-153C99C601F5}"/>
                </a:ext>
              </a:extLst>
            </p:cNvPr>
            <p:cNvSpPr/>
            <p:nvPr/>
          </p:nvSpPr>
          <p:spPr>
            <a:xfrm>
              <a:off x="623887"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497BC53-1428-8201-392A-9D46AEE93364}"/>
                </a:ext>
              </a:extLst>
            </p:cNvPr>
            <p:cNvSpPr txBox="1"/>
            <p:nvPr/>
          </p:nvSpPr>
          <p:spPr>
            <a:xfrm>
              <a:off x="718152"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4" name="TextBox 23">
              <a:extLst>
                <a:ext uri="{FF2B5EF4-FFF2-40B4-BE49-F238E27FC236}">
                  <a16:creationId xmlns:a16="http://schemas.microsoft.com/office/drawing/2014/main" id="{66D557BF-D211-6961-E0BD-9A766E9BD673}"/>
                </a:ext>
              </a:extLst>
            </p:cNvPr>
            <p:cNvSpPr txBox="1"/>
            <p:nvPr/>
          </p:nvSpPr>
          <p:spPr>
            <a:xfrm>
              <a:off x="627992" y="4204027"/>
              <a:ext cx="4723777" cy="147732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Leveraged Snowflake as their cloud-based data warehouse solution</a:t>
              </a:r>
            </a:p>
            <a:p>
              <a:pPr marL="171450" indent="-171450">
                <a:spcBef>
                  <a:spcPts val="600"/>
                </a:spcBef>
                <a:buClr>
                  <a:schemeClr val="accent1"/>
                </a:buClr>
                <a:buFont typeface="Arial" panose="020B0604020202020204" pitchFamily="34" charset="0"/>
                <a:buChar char="•"/>
              </a:pPr>
              <a:r>
                <a:rPr lang="en-US" sz="1000">
                  <a:latin typeface="Manrope" pitchFamily="2" charset="0"/>
                </a:rPr>
                <a:t>Utilized </a:t>
              </a:r>
              <a:r>
                <a:rPr lang="en-US" sz="1000" err="1">
                  <a:latin typeface="Manrope" pitchFamily="2" charset="0"/>
                </a:rPr>
                <a:t>Pyspark</a:t>
              </a:r>
              <a:r>
                <a:rPr lang="en-US" sz="1000">
                  <a:latin typeface="Manrope" pitchFamily="2" charset="0"/>
                </a:rPr>
                <a:t> and </a:t>
              </a:r>
              <a:r>
                <a:rPr lang="en-US" sz="1000" err="1">
                  <a:latin typeface="Manrope" pitchFamily="2" charset="0"/>
                </a:rPr>
                <a:t>SnowSQL</a:t>
              </a:r>
              <a:r>
                <a:rPr lang="en-US" sz="1000">
                  <a:latin typeface="Manrope" pitchFamily="2" charset="0"/>
                </a:rPr>
                <a:t> for ELT (Extract, Load, Transform) transformations,. Leveraged Amaze for the automated migration. </a:t>
              </a:r>
              <a:r>
                <a:rPr lang="en-US" sz="1000" err="1">
                  <a:latin typeface="Manrope" pitchFamily="2" charset="0"/>
                </a:rPr>
                <a:t>SnowSQL</a:t>
              </a:r>
              <a:r>
                <a:rPr lang="en-US" sz="1000">
                  <a:latin typeface="Manrope" pitchFamily="2" charset="0"/>
                </a:rPr>
                <a:t> provided a SQL interface for working with Snowflake.</a:t>
              </a:r>
            </a:p>
            <a:p>
              <a:pPr marL="171450" indent="-171450">
                <a:spcBef>
                  <a:spcPts val="600"/>
                </a:spcBef>
                <a:buClr>
                  <a:schemeClr val="accent1"/>
                </a:buClr>
                <a:buFont typeface="Arial" panose="020B0604020202020204" pitchFamily="34" charset="0"/>
                <a:buChar char="•"/>
              </a:pPr>
              <a:r>
                <a:rPr lang="en-US" sz="1000" b="1">
                  <a:latin typeface="Manrope" pitchFamily="2" charset="0"/>
                </a:rPr>
                <a:t>70% Automation achieved with platform-based Accelerator</a:t>
              </a:r>
            </a:p>
          </p:txBody>
        </p:sp>
        <p:sp>
          <p:nvSpPr>
            <p:cNvPr id="26" name="Rectangle 25">
              <a:extLst>
                <a:ext uri="{FF2B5EF4-FFF2-40B4-BE49-F238E27FC236}">
                  <a16:creationId xmlns:a16="http://schemas.microsoft.com/office/drawing/2014/main" id="{B030D235-6A2B-7610-B57B-329550A8DDB4}"/>
                </a:ext>
              </a:extLst>
            </p:cNvPr>
            <p:cNvSpPr/>
            <p:nvPr/>
          </p:nvSpPr>
          <p:spPr>
            <a:xfrm>
              <a:off x="5639936" y="3522278"/>
              <a:ext cx="4886462" cy="2859472"/>
            </a:xfrm>
            <a:prstGeom prst="rect">
              <a:avLst/>
            </a:prstGeom>
            <a:solidFill>
              <a:schemeClr val="accent5">
                <a:lumMod val="20000"/>
                <a:lumOff val="80000"/>
                <a:alpha val="5024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27" name="Rectangle 26">
              <a:extLst>
                <a:ext uri="{FF2B5EF4-FFF2-40B4-BE49-F238E27FC236}">
                  <a16:creationId xmlns:a16="http://schemas.microsoft.com/office/drawing/2014/main" id="{EC3E27C8-93B0-769E-F216-921283A0A436}"/>
                </a:ext>
              </a:extLst>
            </p:cNvPr>
            <p:cNvSpPr/>
            <p:nvPr/>
          </p:nvSpPr>
          <p:spPr>
            <a:xfrm>
              <a:off x="5639936"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E558BE0-3E1F-A6ED-98B5-E9258579AD3E}"/>
                </a:ext>
              </a:extLst>
            </p:cNvPr>
            <p:cNvSpPr txBox="1"/>
            <p:nvPr/>
          </p:nvSpPr>
          <p:spPr>
            <a:xfrm>
              <a:off x="5734201"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9" name="TextBox 28">
              <a:extLst>
                <a:ext uri="{FF2B5EF4-FFF2-40B4-BE49-F238E27FC236}">
                  <a16:creationId xmlns:a16="http://schemas.microsoft.com/office/drawing/2014/main" id="{026BF07A-51EC-CD21-CE77-FCF4F741D5C7}"/>
                </a:ext>
              </a:extLst>
            </p:cNvPr>
            <p:cNvSpPr txBox="1"/>
            <p:nvPr/>
          </p:nvSpPr>
          <p:spPr>
            <a:xfrm>
              <a:off x="5721026" y="4204027"/>
              <a:ext cx="4463252" cy="147732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t>Migration of  DataStage ETL logic and Oracle Database entirely into Snowflake </a:t>
              </a:r>
            </a:p>
            <a:p>
              <a:pPr marL="171450" indent="-171450">
                <a:spcBef>
                  <a:spcPts val="600"/>
                </a:spcBef>
                <a:buClr>
                  <a:schemeClr val="accent1"/>
                </a:buClr>
                <a:buFont typeface="Arial" panose="020B0604020202020204" pitchFamily="34" charset="0"/>
                <a:buChar char="•"/>
              </a:pPr>
              <a:r>
                <a:rPr lang="en-US" sz="1000"/>
                <a:t>Created Snowflake Snowpark procedures as replicas of DataStage ETL logic, resulting in significantly faster performance.</a:t>
              </a:r>
            </a:p>
            <a:p>
              <a:pPr marL="171450" indent="-171450">
                <a:spcBef>
                  <a:spcPts val="600"/>
                </a:spcBef>
                <a:buClr>
                  <a:schemeClr val="accent1"/>
                </a:buClr>
                <a:buFont typeface="Arial" panose="020B0604020202020204" pitchFamily="34" charset="0"/>
                <a:buChar char="•"/>
              </a:pPr>
              <a:r>
                <a:rPr lang="en-US" sz="1000" b="1"/>
                <a:t>50% Cost efficiency improved significantly; after implementing Snowflake, both storage and processing costs were drastically reduced.</a:t>
              </a:r>
            </a:p>
          </p:txBody>
        </p:sp>
        <p:sp>
          <p:nvSpPr>
            <p:cNvPr id="4" name="Rectangle 3">
              <a:extLst>
                <a:ext uri="{FF2B5EF4-FFF2-40B4-BE49-F238E27FC236}">
                  <a16:creationId xmlns:a16="http://schemas.microsoft.com/office/drawing/2014/main" id="{B4783FDA-7577-ABA6-CFE8-EB8F89CCE5EC}"/>
                </a:ext>
              </a:extLst>
            </p:cNvPr>
            <p:cNvSpPr/>
            <p:nvPr/>
          </p:nvSpPr>
          <p:spPr>
            <a:xfrm>
              <a:off x="10652648" y="908050"/>
              <a:ext cx="4886462" cy="2463773"/>
            </a:xfrm>
            <a:prstGeom prst="rect">
              <a:avLst/>
            </a:prstGeom>
            <a:solidFill>
              <a:schemeClr val="accent5">
                <a:lumMod val="20000"/>
                <a:lumOff val="80000"/>
                <a:alpha val="5024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5" name="Rectangle 4">
              <a:extLst>
                <a:ext uri="{FF2B5EF4-FFF2-40B4-BE49-F238E27FC236}">
                  <a16:creationId xmlns:a16="http://schemas.microsoft.com/office/drawing/2014/main" id="{92A1FEE6-B104-724A-A791-C78152EFCFB4}"/>
                </a:ext>
              </a:extLst>
            </p:cNvPr>
            <p:cNvSpPr/>
            <p:nvPr/>
          </p:nvSpPr>
          <p:spPr>
            <a:xfrm>
              <a:off x="10652648"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67FA3B-6F6D-DA32-5FEE-E9330F584CEF}"/>
                </a:ext>
              </a:extLst>
            </p:cNvPr>
            <p:cNvSpPr/>
            <p:nvPr/>
          </p:nvSpPr>
          <p:spPr>
            <a:xfrm>
              <a:off x="10652648" y="3522278"/>
              <a:ext cx="4886462" cy="2859472"/>
            </a:xfrm>
            <a:prstGeom prst="rect">
              <a:avLst/>
            </a:prstGeom>
            <a:solidFill>
              <a:schemeClr val="accent5">
                <a:lumMod val="20000"/>
                <a:lumOff val="80000"/>
                <a:alpha val="50243"/>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2" name="Rectangle 11">
              <a:extLst>
                <a:ext uri="{FF2B5EF4-FFF2-40B4-BE49-F238E27FC236}">
                  <a16:creationId xmlns:a16="http://schemas.microsoft.com/office/drawing/2014/main" id="{B6D53900-0CD0-CE12-C1DC-8051367EE392}"/>
                </a:ext>
              </a:extLst>
            </p:cNvPr>
            <p:cNvSpPr/>
            <p:nvPr/>
          </p:nvSpPr>
          <p:spPr>
            <a:xfrm>
              <a:off x="10652648"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66F300B-C0AD-4CA4-AB89-E46D792E4D31}"/>
                </a:ext>
              </a:extLst>
            </p:cNvPr>
            <p:cNvSpPr txBox="1"/>
            <p:nvPr/>
          </p:nvSpPr>
          <p:spPr>
            <a:xfrm>
              <a:off x="10732611" y="1589799"/>
              <a:ext cx="4463250" cy="1785104"/>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Enhanced Data Agility by migration to Snowflake </a:t>
              </a:r>
            </a:p>
            <a:p>
              <a:pPr marL="171450" indent="-171450">
                <a:spcBef>
                  <a:spcPts val="600"/>
                </a:spcBef>
                <a:buClr>
                  <a:schemeClr val="accent1"/>
                </a:buClr>
                <a:buFont typeface="Arial" panose="020B0604020202020204" pitchFamily="34" charset="0"/>
                <a:buChar char="•"/>
              </a:pPr>
              <a:r>
                <a:rPr lang="en-US" sz="1000">
                  <a:latin typeface="Manrope" pitchFamily="2" charset="0"/>
                </a:rPr>
                <a:t>The data from current on-prem platforms on Oracle, Peoplesoft, etc </a:t>
              </a:r>
              <a:r>
                <a:rPr lang="en-US" sz="1000" err="1">
                  <a:latin typeface="Manrope" pitchFamily="2" charset="0"/>
                </a:rPr>
                <a:t>aBuilt</a:t>
              </a:r>
              <a:r>
                <a:rPr lang="en-US" sz="1000">
                  <a:latin typeface="Manrope" pitchFamily="2" charset="0"/>
                </a:rPr>
                <a:t> a corporate data platform and private exchange to bring multiple corporate datasets covering Finance, HR, CS, CRM, ITSM into Snowflake. Share with internal stakeholders. </a:t>
              </a:r>
            </a:p>
            <a:p>
              <a:pPr marL="171450" indent="-171450">
                <a:spcBef>
                  <a:spcPts val="600"/>
                </a:spcBef>
                <a:buClr>
                  <a:schemeClr val="accent1"/>
                </a:buClr>
                <a:buFont typeface="Arial" panose="020B0604020202020204" pitchFamily="34" charset="0"/>
                <a:buChar char="•"/>
              </a:pPr>
              <a:r>
                <a:rPr lang="en-US" sz="1000" b="1">
                  <a:latin typeface="Manrope" pitchFamily="2" charset="0"/>
                </a:rPr>
                <a:t>50% combined platform for data warehouse and all analytical workloads delivering lower TCO</a:t>
              </a:r>
            </a:p>
          </p:txBody>
        </p:sp>
        <p:sp>
          <p:nvSpPr>
            <p:cNvPr id="32" name="TextBox 31">
              <a:extLst>
                <a:ext uri="{FF2B5EF4-FFF2-40B4-BE49-F238E27FC236}">
                  <a16:creationId xmlns:a16="http://schemas.microsoft.com/office/drawing/2014/main" id="{58806087-5EF9-276E-6861-5F1A888E7B41}"/>
                </a:ext>
              </a:extLst>
            </p:cNvPr>
            <p:cNvSpPr txBox="1"/>
            <p:nvPr/>
          </p:nvSpPr>
          <p:spPr>
            <a:xfrm>
              <a:off x="10779926" y="4204027"/>
              <a:ext cx="4463252" cy="1323439"/>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t>Created the unified view of transaction data, shares, loans, and payments information . Metadata driven data pipelines has been built using Stream and Task. I</a:t>
              </a:r>
            </a:p>
            <a:p>
              <a:pPr marL="171450" indent="-171450">
                <a:spcBef>
                  <a:spcPts val="600"/>
                </a:spcBef>
                <a:buClr>
                  <a:schemeClr val="accent1"/>
                </a:buClr>
                <a:buFont typeface="Arial" panose="020B0604020202020204" pitchFamily="34" charset="0"/>
                <a:buChar char="•"/>
              </a:pPr>
              <a:r>
                <a:rPr lang="en-US" sz="1000"/>
                <a:t>Implemented the centralized Datawarehouse  scalability with Snowflake DB. </a:t>
              </a:r>
            </a:p>
            <a:p>
              <a:pPr marL="171450" indent="-171450">
                <a:spcBef>
                  <a:spcPts val="600"/>
                </a:spcBef>
                <a:buClr>
                  <a:schemeClr val="accent1"/>
                </a:buClr>
                <a:buFont typeface="Arial" panose="020B0604020202020204" pitchFamily="34" charset="0"/>
                <a:buChar char="•"/>
              </a:pPr>
              <a:r>
                <a:rPr lang="en-US" sz="1000" b="1"/>
                <a:t>Saved 120K USD on ETL annual subscriptions </a:t>
              </a:r>
            </a:p>
          </p:txBody>
        </p:sp>
      </p:grpSp>
      <p:pic>
        <p:nvPicPr>
          <p:cNvPr id="13" name="Picture 12" descr="A close up of a logo&#10;&#10;Description automatically generated">
            <a:extLst>
              <a:ext uri="{FF2B5EF4-FFF2-40B4-BE49-F238E27FC236}">
                <a16:creationId xmlns:a16="http://schemas.microsoft.com/office/drawing/2014/main" id="{8B7686FB-5F17-2915-9D02-610B0D8FC1E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43449" y="985148"/>
            <a:ext cx="1203807" cy="332682"/>
          </a:xfrm>
          <a:prstGeom prst="rect">
            <a:avLst/>
          </a:prstGeom>
        </p:spPr>
      </p:pic>
      <p:pic>
        <p:nvPicPr>
          <p:cNvPr id="14" name="Picture 13">
            <a:extLst>
              <a:ext uri="{FF2B5EF4-FFF2-40B4-BE49-F238E27FC236}">
                <a16:creationId xmlns:a16="http://schemas.microsoft.com/office/drawing/2014/main" id="{F93890CC-92CA-0A72-642C-814B7575923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491996" y="1055208"/>
            <a:ext cx="750448" cy="25729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A close up of a sign&#10;&#10;Description automatically generated">
            <a:extLst>
              <a:ext uri="{FF2B5EF4-FFF2-40B4-BE49-F238E27FC236}">
                <a16:creationId xmlns:a16="http://schemas.microsoft.com/office/drawing/2014/main" id="{DDAFA666-7817-851E-FAA2-A30664C462E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784783" y="3665280"/>
            <a:ext cx="862647" cy="275266"/>
          </a:xfrm>
          <a:prstGeom prst="rect">
            <a:avLst/>
          </a:prstGeom>
        </p:spPr>
      </p:pic>
      <p:pic>
        <p:nvPicPr>
          <p:cNvPr id="30" name="Picture 29" descr="A close up of a logo&#10;&#10;Description automatically generated">
            <a:extLst>
              <a:ext uri="{FF2B5EF4-FFF2-40B4-BE49-F238E27FC236}">
                <a16:creationId xmlns:a16="http://schemas.microsoft.com/office/drawing/2014/main" id="{A70E02AF-1F83-D29F-1CA3-64E356AF9FFF}"/>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b="-7241"/>
          <a:stretch/>
        </p:blipFill>
        <p:spPr>
          <a:xfrm>
            <a:off x="5463539" y="3607712"/>
            <a:ext cx="1075835" cy="335485"/>
          </a:xfrm>
          <a:prstGeom prst="rect">
            <a:avLst/>
          </a:prstGeom>
        </p:spPr>
      </p:pic>
      <p:pic>
        <p:nvPicPr>
          <p:cNvPr id="31" name="Picture 2" descr="Patelco Credit Union Interest Checking Reviews (2024) - SuperMoney">
            <a:extLst>
              <a:ext uri="{FF2B5EF4-FFF2-40B4-BE49-F238E27FC236}">
                <a16:creationId xmlns:a16="http://schemas.microsoft.com/office/drawing/2014/main" id="{E3DB81F7-DAF9-959B-48F1-FC3CF2288C1F}"/>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9293454" y="3585757"/>
            <a:ext cx="770627" cy="379394"/>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8CBFDA01-43D0-0184-3919-BB5C12F0E5A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226245" y="1036572"/>
            <a:ext cx="905043" cy="377102"/>
          </a:xfrm>
          <a:prstGeom prst="rect">
            <a:avLst/>
          </a:prstGeom>
        </p:spPr>
      </p:pic>
    </p:spTree>
    <p:extLst>
      <p:ext uri="{BB962C8B-B14F-4D97-AF65-F5344CB8AC3E}">
        <p14:creationId xmlns:p14="http://schemas.microsoft.com/office/powerpoint/2010/main" val="1296117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0DA72-6F45-21E1-9DE6-73FC907F9BC0}"/>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2D553077-19A6-A364-0F88-9ACB5BB5D5A9}"/>
              </a:ext>
            </a:extLst>
          </p:cNvPr>
          <p:cNvGrpSpPr/>
          <p:nvPr/>
        </p:nvGrpSpPr>
        <p:grpSpPr>
          <a:xfrm>
            <a:off x="652880" y="926342"/>
            <a:ext cx="785145" cy="785145"/>
            <a:chOff x="1450992" y="1491427"/>
            <a:chExt cx="950026" cy="950026"/>
          </a:xfrm>
        </p:grpSpPr>
        <p:sp>
          <p:nvSpPr>
            <p:cNvPr id="32" name="Oval 31">
              <a:extLst>
                <a:ext uri="{FF2B5EF4-FFF2-40B4-BE49-F238E27FC236}">
                  <a16:creationId xmlns:a16="http://schemas.microsoft.com/office/drawing/2014/main" id="{F552D8F5-5BE2-8248-C547-D5D06A35650B}"/>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7E871927-4712-324E-0FF6-AC05704F2B88}"/>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Placeholder 1">
            <a:extLst>
              <a:ext uri="{FF2B5EF4-FFF2-40B4-BE49-F238E27FC236}">
                <a16:creationId xmlns:a16="http://schemas.microsoft.com/office/drawing/2014/main" id="{648786CD-960F-7598-7BB2-CCE8C5820238}"/>
              </a:ext>
            </a:extLst>
          </p:cNvPr>
          <p:cNvSpPr>
            <a:spLocks noGrp="1"/>
          </p:cNvSpPr>
          <p:nvPr>
            <p:ph type="body" sz="quarter" idx="15"/>
          </p:nvPr>
        </p:nvSpPr>
        <p:spPr>
          <a:xfrm flipH="1">
            <a:off x="623888" y="457200"/>
            <a:ext cx="8172450" cy="244101"/>
          </a:xfrm>
        </p:spPr>
        <p:txBody>
          <a:bodyPr/>
          <a:lstStyle/>
          <a:p>
            <a:r>
              <a:rPr lang="en-US"/>
              <a:t>Data Ops &amp; Managed Services</a:t>
            </a:r>
          </a:p>
        </p:txBody>
      </p:sp>
      <p:sp>
        <p:nvSpPr>
          <p:cNvPr id="10" name="Rectangle: Rounded Corners 18">
            <a:extLst>
              <a:ext uri="{FF2B5EF4-FFF2-40B4-BE49-F238E27FC236}">
                <a16:creationId xmlns:a16="http://schemas.microsoft.com/office/drawing/2014/main" id="{B2801671-62DA-4C76-4B2C-8DB6AB99FFF0}"/>
              </a:ext>
            </a:extLst>
          </p:cNvPr>
          <p:cNvSpPr/>
          <p:nvPr/>
        </p:nvSpPr>
        <p:spPr>
          <a:xfrm>
            <a:off x="623888" y="1812336"/>
            <a:ext cx="10932238" cy="944976"/>
          </a:xfrm>
          <a:prstGeom prst="roundRect">
            <a:avLst>
              <a:gd name="adj" fmla="val 0"/>
            </a:avLst>
          </a:prstGeom>
          <a:solidFill>
            <a:srgbClr val="EEEFF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anrope"/>
              <a:ea typeface="Helvetica Neue"/>
              <a:cs typeface="Helvetica Neue"/>
            </a:endParaRPr>
          </a:p>
        </p:txBody>
      </p:sp>
      <p:sp>
        <p:nvSpPr>
          <p:cNvPr id="20" name="TextBox 19">
            <a:extLst>
              <a:ext uri="{FF2B5EF4-FFF2-40B4-BE49-F238E27FC236}">
                <a16:creationId xmlns:a16="http://schemas.microsoft.com/office/drawing/2014/main" id="{140A88BA-15C6-56FA-432E-75C36F0F68AC}"/>
              </a:ext>
            </a:extLst>
          </p:cNvPr>
          <p:cNvSpPr txBox="1"/>
          <p:nvPr/>
        </p:nvSpPr>
        <p:spPr>
          <a:xfrm>
            <a:off x="5640232" y="1970551"/>
            <a:ext cx="4502277" cy="646331"/>
          </a:xfrm>
          <a:prstGeom prst="rect">
            <a:avLst/>
          </a:prstGeom>
          <a:noFill/>
        </p:spPr>
        <p:txBody>
          <a:bodyPr wrap="square">
            <a:spAutoFit/>
          </a:body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Cost Efficiency</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Data Quality, Governance and Compliance</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Expertise and Best Practices</a:t>
            </a:r>
          </a:p>
        </p:txBody>
      </p:sp>
      <p:sp>
        <p:nvSpPr>
          <p:cNvPr id="46" name="Title 29">
            <a:extLst>
              <a:ext uri="{FF2B5EF4-FFF2-40B4-BE49-F238E27FC236}">
                <a16:creationId xmlns:a16="http://schemas.microsoft.com/office/drawing/2014/main" id="{D84443CA-FE23-2FAA-112C-8B1628ED47F0}"/>
              </a:ext>
            </a:extLst>
          </p:cNvPr>
          <p:cNvSpPr txBox="1">
            <a:spLocks/>
          </p:cNvSpPr>
          <p:nvPr/>
        </p:nvSpPr>
        <p:spPr>
          <a:xfrm>
            <a:off x="1568267" y="1161026"/>
            <a:ext cx="9999847"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400" b="0" u="none" strike="noStrike" kern="1200" cap="none" spc="0" normalizeH="0" baseline="0" noProof="0">
                <a:ln>
                  <a:noFill/>
                </a:ln>
                <a:solidFill>
                  <a:srgbClr val="000000"/>
                </a:solidFill>
                <a:effectLst/>
                <a:uLnTx/>
                <a:uFillTx/>
                <a:latin typeface="Manrope"/>
                <a:ea typeface="Helvetica Neue Medium"/>
                <a:cs typeface="Helvetica Neue Medium"/>
              </a:rPr>
              <a:t>We leverage Snowflake to optimize data workflows, ensure seamless operations, and drive business value by allowing customer spend to be cost efficient</a:t>
            </a:r>
          </a:p>
        </p:txBody>
      </p:sp>
      <p:grpSp>
        <p:nvGrpSpPr>
          <p:cNvPr id="21" name="Group 20">
            <a:extLst>
              <a:ext uri="{FF2B5EF4-FFF2-40B4-BE49-F238E27FC236}">
                <a16:creationId xmlns:a16="http://schemas.microsoft.com/office/drawing/2014/main" id="{2B2F253F-4728-491E-F186-A98F37496BE0}"/>
              </a:ext>
            </a:extLst>
          </p:cNvPr>
          <p:cNvGrpSpPr/>
          <p:nvPr/>
        </p:nvGrpSpPr>
        <p:grpSpPr>
          <a:xfrm>
            <a:off x="623887" y="2869596"/>
            <a:ext cx="2759761" cy="2960209"/>
            <a:chOff x="382469" y="2434148"/>
            <a:chExt cx="2727736" cy="2960209"/>
          </a:xfrm>
        </p:grpSpPr>
        <p:sp>
          <p:nvSpPr>
            <p:cNvPr id="6" name="Rectangle: Rounded Corners 18">
              <a:extLst>
                <a:ext uri="{FF2B5EF4-FFF2-40B4-BE49-F238E27FC236}">
                  <a16:creationId xmlns:a16="http://schemas.microsoft.com/office/drawing/2014/main" id="{7BE41873-2D45-0DFF-51A0-519F6A75A322}"/>
                </a:ext>
              </a:extLst>
            </p:cNvPr>
            <p:cNvSpPr/>
            <p:nvPr/>
          </p:nvSpPr>
          <p:spPr>
            <a:xfrm>
              <a:off x="382469" y="2525605"/>
              <a:ext cx="2727736" cy="2811652"/>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7" name="Rectangle: Rounded Corners 18">
              <a:extLst>
                <a:ext uri="{FF2B5EF4-FFF2-40B4-BE49-F238E27FC236}">
                  <a16:creationId xmlns:a16="http://schemas.microsoft.com/office/drawing/2014/main" id="{B3C09AF4-3A59-E39D-7C5A-D378BEE5974D}"/>
                </a:ext>
              </a:extLst>
            </p:cNvPr>
            <p:cNvSpPr/>
            <p:nvPr/>
          </p:nvSpPr>
          <p:spPr>
            <a:xfrm>
              <a:off x="395157" y="2434148"/>
              <a:ext cx="2715048" cy="356878"/>
            </a:xfrm>
            <a:prstGeom prst="roundRect">
              <a:avLst>
                <a:gd name="adj" fmla="val 0"/>
              </a:avLst>
            </a:prstGeom>
            <a:solidFill>
              <a:srgbClr val="08126E"/>
            </a:solidFill>
            <a:ln w="3175">
              <a:noFill/>
            </a:ln>
            <a:effectLst/>
          </p:spPr>
          <p:txBody>
            <a:bodyPr lIns="0" tIns="0" rIns="0" bIns="0" anchor="ctr" anchorCtr="0"/>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Our Offerings</a:t>
              </a:r>
            </a:p>
          </p:txBody>
        </p:sp>
        <p:sp>
          <p:nvSpPr>
            <p:cNvPr id="45" name="TextBox 44">
              <a:extLst>
                <a:ext uri="{FF2B5EF4-FFF2-40B4-BE49-F238E27FC236}">
                  <a16:creationId xmlns:a16="http://schemas.microsoft.com/office/drawing/2014/main" id="{1EBEC86B-48CD-600A-5AF6-999915CC70A0}"/>
                </a:ext>
              </a:extLst>
            </p:cNvPr>
            <p:cNvSpPr txBox="1"/>
            <p:nvPr/>
          </p:nvSpPr>
          <p:spPr>
            <a:xfrm>
              <a:off x="491810" y="2916756"/>
              <a:ext cx="2268242" cy="2477601"/>
            </a:xfrm>
            <a:prstGeom prst="rect">
              <a:avLst/>
            </a:prstGeom>
            <a:noFill/>
          </p:spPr>
          <p:txBody>
            <a:bodyPr wrap="square" lIns="91440" tIns="0" rIns="0" bIns="0" rtlCol="0">
              <a:spAutoFit/>
            </a:bodyPr>
            <a:lstStyle/>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24*7 Managed Services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On-call &amp; Weekend Support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Onsite, Nearshore and Offshore Support</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Platform &amp; Administration Support</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Incident resolution &amp; Service Requests</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err="1">
                  <a:ln w="0"/>
                  <a:solidFill>
                    <a:srgbClr val="000000"/>
                  </a:solidFill>
                  <a:latin typeface="Manrope"/>
                  <a:ea typeface="Helvetica Neue"/>
                  <a:cs typeface="Calibri" panose="020F0502020204030204" pitchFamily="34" charset="0"/>
                </a:rPr>
                <a:t>DataOps</a:t>
              </a:r>
              <a:r>
                <a:rPr lang="en-US" sz="1050">
                  <a:ln w="0"/>
                  <a:solidFill>
                    <a:srgbClr val="000000"/>
                  </a:solidFill>
                  <a:latin typeface="Manrope"/>
                  <a:ea typeface="Helvetica Neue"/>
                  <a:cs typeface="Calibri" panose="020F0502020204030204" pitchFamily="34" charset="0"/>
                </a:rPr>
                <a:t> Support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FinOps Solutions &amp; Remediation Services</a:t>
              </a:r>
            </a:p>
            <a:p>
              <a:pPr marR="0" lvl="0" algn="l" defTabSz="914400" rtl="0" eaLnBrk="1" fontAlgn="auto" latinLnBrk="0" hangingPunct="1">
                <a:spcBef>
                  <a:spcPts val="600"/>
                </a:spcBef>
                <a:buClr>
                  <a:schemeClr val="accent1"/>
                </a:buClr>
                <a:buSzTx/>
                <a:tabLst/>
                <a:defRPr/>
              </a:pPr>
              <a:endParaRPr lang="en-US" sz="1050">
                <a:ln w="0"/>
                <a:solidFill>
                  <a:srgbClr val="000000"/>
                </a:solidFill>
                <a:latin typeface="Manrope"/>
                <a:ea typeface="Helvetica Neue"/>
                <a:cs typeface="Calibri" panose="020F0502020204030204" pitchFamily="34" charset="0"/>
              </a:endParaRPr>
            </a:p>
          </p:txBody>
        </p:sp>
      </p:grpSp>
      <p:grpSp>
        <p:nvGrpSpPr>
          <p:cNvPr id="27" name="Group 26">
            <a:extLst>
              <a:ext uri="{FF2B5EF4-FFF2-40B4-BE49-F238E27FC236}">
                <a16:creationId xmlns:a16="http://schemas.microsoft.com/office/drawing/2014/main" id="{2977B9FA-BEC0-DAFE-2618-0606A1B9B486}"/>
              </a:ext>
            </a:extLst>
          </p:cNvPr>
          <p:cNvGrpSpPr/>
          <p:nvPr/>
        </p:nvGrpSpPr>
        <p:grpSpPr>
          <a:xfrm>
            <a:off x="8716905" y="2878943"/>
            <a:ext cx="2851209" cy="2893762"/>
            <a:chOff x="9036899" y="2430426"/>
            <a:chExt cx="2823201" cy="2893762"/>
          </a:xfrm>
        </p:grpSpPr>
        <p:sp>
          <p:nvSpPr>
            <p:cNvPr id="16" name="Rectangle: Rounded Corners 18">
              <a:extLst>
                <a:ext uri="{FF2B5EF4-FFF2-40B4-BE49-F238E27FC236}">
                  <a16:creationId xmlns:a16="http://schemas.microsoft.com/office/drawing/2014/main" id="{A70212DC-B918-C03D-A643-03E825DC13EC}"/>
                </a:ext>
              </a:extLst>
            </p:cNvPr>
            <p:cNvSpPr/>
            <p:nvPr/>
          </p:nvSpPr>
          <p:spPr>
            <a:xfrm>
              <a:off x="9036899" y="2785278"/>
              <a:ext cx="2823201" cy="2538910"/>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28" name="Rectangle: Rounded Corners 18">
              <a:extLst>
                <a:ext uri="{FF2B5EF4-FFF2-40B4-BE49-F238E27FC236}">
                  <a16:creationId xmlns:a16="http://schemas.microsoft.com/office/drawing/2014/main" id="{94A94DD6-94F7-B247-6334-84DE6FF115A5}"/>
                </a:ext>
              </a:extLst>
            </p:cNvPr>
            <p:cNvSpPr/>
            <p:nvPr/>
          </p:nvSpPr>
          <p:spPr>
            <a:xfrm>
              <a:off x="9036899" y="2430426"/>
              <a:ext cx="2823201" cy="356878"/>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Outcomes Delivered</a:t>
              </a:r>
            </a:p>
          </p:txBody>
        </p:sp>
        <p:sp>
          <p:nvSpPr>
            <p:cNvPr id="15" name="Rectangle: Rounded Corners 18">
              <a:extLst>
                <a:ext uri="{FF2B5EF4-FFF2-40B4-BE49-F238E27FC236}">
                  <a16:creationId xmlns:a16="http://schemas.microsoft.com/office/drawing/2014/main" id="{BCA04C44-0AC1-EB13-7D2D-F7F2D644C295}"/>
                </a:ext>
              </a:extLst>
            </p:cNvPr>
            <p:cNvSpPr/>
            <p:nvPr/>
          </p:nvSpPr>
          <p:spPr>
            <a:xfrm>
              <a:off x="9135312" y="2871088"/>
              <a:ext cx="2435792" cy="2156296"/>
            </a:xfrm>
            <a:prstGeom prst="roundRect">
              <a:avLst>
                <a:gd name="adj" fmla="val 0"/>
              </a:avLst>
            </a:prstGeom>
            <a:noFill/>
          </p:spPr>
          <p:txBody>
            <a:bodyPr wrap="square" lIns="91440" tIns="0" rIns="0" bIns="0" rtlCol="0">
              <a:spAutoFit/>
            </a:bodyPr>
            <a:lstStyle/>
            <a:p>
              <a:pPr marL="171450" marR="0" lvl="0" indent="-171450" algn="l" defTabSz="914400" rtl="0" eaLnBrk="1" fontAlgn="auto" latinLnBrk="0" hangingPunct="1">
                <a:lnSpc>
                  <a:spcPct val="150000"/>
                </a:lnSpc>
                <a:spcBef>
                  <a:spcPts val="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30 percent cost reduction using FinOps partner Solution such as Unravel, Chaos Genius</a:t>
              </a:r>
            </a:p>
            <a:p>
              <a:pPr marL="171450" marR="0" lvl="0" indent="-171450" algn="l" defTabSz="914400" rtl="0" eaLnBrk="1" fontAlgn="auto" latinLnBrk="0" hangingPunct="1">
                <a:lnSpc>
                  <a:spcPct val="150000"/>
                </a:lnSpc>
                <a:spcBef>
                  <a:spcPts val="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40% reduction in operating costs &amp; fix 30% inefficiencies for improved cost control. </a:t>
              </a:r>
            </a:p>
            <a:p>
              <a:pPr marL="171450" marR="0" lvl="0" indent="-171450" algn="l" defTabSz="914400" rtl="0" eaLnBrk="1" fontAlgn="auto" latinLnBrk="0" hangingPunct="1">
                <a:lnSpc>
                  <a:spcPct val="150000"/>
                </a:lnSpc>
                <a:spcBef>
                  <a:spcPts val="0"/>
                </a:spcBef>
                <a:spcAft>
                  <a:spcPts val="0"/>
                </a:spcAft>
                <a:buClr>
                  <a:schemeClr val="accent1"/>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Achieved cost reduction and efficiency improvements within 4 weeks.</a:t>
              </a:r>
            </a:p>
          </p:txBody>
        </p:sp>
      </p:grpSp>
      <p:grpSp>
        <p:nvGrpSpPr>
          <p:cNvPr id="25" name="Group 24">
            <a:extLst>
              <a:ext uri="{FF2B5EF4-FFF2-40B4-BE49-F238E27FC236}">
                <a16:creationId xmlns:a16="http://schemas.microsoft.com/office/drawing/2014/main" id="{AA36A30F-FBFB-710E-D61D-9AE6845992CF}"/>
              </a:ext>
            </a:extLst>
          </p:cNvPr>
          <p:cNvGrpSpPr/>
          <p:nvPr/>
        </p:nvGrpSpPr>
        <p:grpSpPr>
          <a:xfrm>
            <a:off x="3431255" y="2865874"/>
            <a:ext cx="5242363" cy="2906831"/>
            <a:chOff x="3381720" y="2430426"/>
            <a:chExt cx="2639669" cy="2906831"/>
          </a:xfrm>
        </p:grpSpPr>
        <p:sp>
          <p:nvSpPr>
            <p:cNvPr id="38" name="Rectangle: Rounded Corners 18">
              <a:extLst>
                <a:ext uri="{FF2B5EF4-FFF2-40B4-BE49-F238E27FC236}">
                  <a16:creationId xmlns:a16="http://schemas.microsoft.com/office/drawing/2014/main" id="{EA87E155-4CAE-FEC1-5B5A-2706ED5C74B6}"/>
                </a:ext>
              </a:extLst>
            </p:cNvPr>
            <p:cNvSpPr/>
            <p:nvPr/>
          </p:nvSpPr>
          <p:spPr>
            <a:xfrm>
              <a:off x="3381720" y="2791025"/>
              <a:ext cx="2639669" cy="2546232"/>
            </a:xfrm>
            <a:prstGeom prst="roundRect">
              <a:avLst>
                <a:gd name="adj" fmla="val 0"/>
              </a:avLst>
            </a:prstGeom>
            <a:noFill/>
            <a:ln w="6350">
              <a:solidFill>
                <a:schemeClr val="accent5"/>
              </a:solid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1027" name="Rectangle: Rounded Corners 18">
              <a:extLst>
                <a:ext uri="{FF2B5EF4-FFF2-40B4-BE49-F238E27FC236}">
                  <a16:creationId xmlns:a16="http://schemas.microsoft.com/office/drawing/2014/main" id="{BE55A22B-75A7-792A-A3CA-4162E8DA6326}"/>
                </a:ext>
              </a:extLst>
            </p:cNvPr>
            <p:cNvSpPr/>
            <p:nvPr/>
          </p:nvSpPr>
          <p:spPr>
            <a:xfrm>
              <a:off x="3381720" y="2430426"/>
              <a:ext cx="2639669" cy="346870"/>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Key Customers</a:t>
              </a:r>
            </a:p>
          </p:txBody>
        </p:sp>
      </p:grpSp>
      <p:sp>
        <p:nvSpPr>
          <p:cNvPr id="12" name="TextBox 11">
            <a:extLst>
              <a:ext uri="{FF2B5EF4-FFF2-40B4-BE49-F238E27FC236}">
                <a16:creationId xmlns:a16="http://schemas.microsoft.com/office/drawing/2014/main" id="{063ED439-2822-585F-E630-2911EFE08264}"/>
              </a:ext>
            </a:extLst>
          </p:cNvPr>
          <p:cNvSpPr txBox="1"/>
          <p:nvPr/>
        </p:nvSpPr>
        <p:spPr>
          <a:xfrm>
            <a:off x="3125488" y="1862684"/>
            <a:ext cx="1239620"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1.5X-2X</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Cost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Savings</a:t>
            </a:r>
          </a:p>
        </p:txBody>
      </p:sp>
      <p:sp>
        <p:nvSpPr>
          <p:cNvPr id="53" name="Rectangle 52">
            <a:extLst>
              <a:ext uri="{FF2B5EF4-FFF2-40B4-BE49-F238E27FC236}">
                <a16:creationId xmlns:a16="http://schemas.microsoft.com/office/drawing/2014/main" id="{A2701C3B-07E9-9B3C-A25A-533BF6F7AF70}"/>
              </a:ext>
            </a:extLst>
          </p:cNvPr>
          <p:cNvSpPr/>
          <p:nvPr/>
        </p:nvSpPr>
        <p:spPr>
          <a:xfrm>
            <a:off x="4692703" y="4693878"/>
            <a:ext cx="1350504" cy="17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1216916" rtl="0" eaLnBrk="1" fontAlgn="base" latinLnBrk="0" hangingPunct="1">
              <a:lnSpc>
                <a:spcPts val="1300"/>
              </a:lnSpc>
              <a:spcBef>
                <a:spcPts val="200"/>
              </a:spcBef>
              <a:spcAft>
                <a:spcPct val="0"/>
              </a:spcAft>
              <a:buClr>
                <a:srgbClr val="002060"/>
              </a:buClr>
              <a:buSzTx/>
              <a:buFontTx/>
              <a:buNone/>
              <a:tabLst/>
              <a:defRPr/>
            </a:pPr>
            <a:r>
              <a:rPr kumimoji="0" lang="en-US" sz="1200" b="1" i="0" u="none" strike="noStrike" kern="1200" cap="none" spc="0" normalizeH="0" baseline="0" noProof="0">
                <a:ln>
                  <a:noFill/>
                </a:ln>
                <a:solidFill>
                  <a:srgbClr val="FFFFFF"/>
                </a:solidFill>
                <a:effectLst/>
                <a:uLnTx/>
                <a:uFillTx/>
                <a:latin typeface="Manrope" pitchFamily="2" charset="0"/>
                <a:ea typeface="+mj-ea"/>
                <a:cs typeface="Segoe UI Semibold" panose="020B0502040204020203" pitchFamily="34" charset="0"/>
              </a:rPr>
              <a:t>Accelerators</a:t>
            </a:r>
          </a:p>
        </p:txBody>
      </p:sp>
      <p:sp>
        <p:nvSpPr>
          <p:cNvPr id="17" name="TextBox 16">
            <a:extLst>
              <a:ext uri="{FF2B5EF4-FFF2-40B4-BE49-F238E27FC236}">
                <a16:creationId xmlns:a16="http://schemas.microsoft.com/office/drawing/2014/main" id="{E0B19FFA-AA26-1909-B4CD-3A900DE1B8EF}"/>
              </a:ext>
            </a:extLst>
          </p:cNvPr>
          <p:cNvSpPr txBox="1"/>
          <p:nvPr/>
        </p:nvSpPr>
        <p:spPr>
          <a:xfrm>
            <a:off x="686024" y="1862684"/>
            <a:ext cx="1918736"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50%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Increase in FinOps and DataOps Engagement</a:t>
            </a:r>
          </a:p>
        </p:txBody>
      </p:sp>
      <p:pic>
        <p:nvPicPr>
          <p:cNvPr id="23" name="Graphic 22" descr="Eye outline">
            <a:extLst>
              <a:ext uri="{FF2B5EF4-FFF2-40B4-BE49-F238E27FC236}">
                <a16:creationId xmlns:a16="http://schemas.microsoft.com/office/drawing/2014/main" id="{F599160D-B39F-0CC8-9BBB-4B9AD9C5EAC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625" y="1030425"/>
            <a:ext cx="515918" cy="546088"/>
          </a:xfrm>
          <a:prstGeom prst="rect">
            <a:avLst/>
          </a:prstGeom>
        </p:spPr>
      </p:pic>
      <p:pic>
        <p:nvPicPr>
          <p:cNvPr id="47" name="Picture 46" descr="A close up of a logo&#10;&#10;Description automatically generated">
            <a:extLst>
              <a:ext uri="{FF2B5EF4-FFF2-40B4-BE49-F238E27FC236}">
                <a16:creationId xmlns:a16="http://schemas.microsoft.com/office/drawing/2014/main" id="{992CEF03-7827-9FA8-2554-A7527E07D7F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35021" y="3896544"/>
            <a:ext cx="1106526" cy="305797"/>
          </a:xfrm>
          <a:prstGeom prst="rect">
            <a:avLst/>
          </a:prstGeom>
        </p:spPr>
      </p:pic>
      <p:pic>
        <p:nvPicPr>
          <p:cNvPr id="48" name="Picture 22" descr="Carlyle Group logo in transparent PNG and vectorized SVG formats">
            <a:extLst>
              <a:ext uri="{FF2B5EF4-FFF2-40B4-BE49-F238E27FC236}">
                <a16:creationId xmlns:a16="http://schemas.microsoft.com/office/drawing/2014/main" id="{EFC99B67-35FF-B197-29A8-46E2802F1273}"/>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670212" y="3420424"/>
            <a:ext cx="1028143" cy="12918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a:extLst>
              <a:ext uri="{FF2B5EF4-FFF2-40B4-BE49-F238E27FC236}">
                <a16:creationId xmlns:a16="http://schemas.microsoft.com/office/drawing/2014/main" id="{C268D665-DAEC-4D00-0F21-7EF70712ABBD}"/>
              </a:ext>
            </a:extLst>
          </p:cNvPr>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30445" y="3863159"/>
            <a:ext cx="680852" cy="271508"/>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a:extLst>
              <a:ext uri="{FF2B5EF4-FFF2-40B4-BE49-F238E27FC236}">
                <a16:creationId xmlns:a16="http://schemas.microsoft.com/office/drawing/2014/main" id="{907CEC5D-D79A-7C5F-52F2-B11E681D9445}"/>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404984" y="3336583"/>
            <a:ext cx="883453" cy="302899"/>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Northern Trust logo in transparent PNG and vectorized SVG ...">
            <a:extLst>
              <a:ext uri="{FF2B5EF4-FFF2-40B4-BE49-F238E27FC236}">
                <a16:creationId xmlns:a16="http://schemas.microsoft.com/office/drawing/2014/main" id="{B14FA48F-DBA0-BC95-0F62-75CD4CEB129B}"/>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3844643" y="5120654"/>
            <a:ext cx="1237396" cy="365096"/>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4" descr="Aspire Lifestyles | Hiredly Malaysia">
            <a:extLst>
              <a:ext uri="{FF2B5EF4-FFF2-40B4-BE49-F238E27FC236}">
                <a16:creationId xmlns:a16="http://schemas.microsoft.com/office/drawing/2014/main" id="{2B6804F6-222D-AE67-4C23-8EAC37609F49}"/>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5551462" y="3856968"/>
            <a:ext cx="680853" cy="26112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Asset Manager | State Street">
            <a:extLst>
              <a:ext uri="{FF2B5EF4-FFF2-40B4-BE49-F238E27FC236}">
                <a16:creationId xmlns:a16="http://schemas.microsoft.com/office/drawing/2014/main" id="{97F6CCBC-4F9B-A76F-A428-65BE06D4A1D7}"/>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5542736" y="4533127"/>
            <a:ext cx="1106526" cy="30178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4">
            <a:extLst>
              <a:ext uri="{FF2B5EF4-FFF2-40B4-BE49-F238E27FC236}">
                <a16:creationId xmlns:a16="http://schemas.microsoft.com/office/drawing/2014/main" id="{1A4F5B07-C2D6-7AD3-9141-6964C5923690}"/>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7223868" y="4554482"/>
            <a:ext cx="883453" cy="22224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undefined">
            <a:extLst>
              <a:ext uri="{FF2B5EF4-FFF2-40B4-BE49-F238E27FC236}">
                <a16:creationId xmlns:a16="http://schemas.microsoft.com/office/drawing/2014/main" id="{FAA18404-6D80-D3BF-8B77-D77EEF9B3AFD}"/>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3713038" y="4535191"/>
            <a:ext cx="1237396" cy="215256"/>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56">
            <a:extLst>
              <a:ext uri="{FF2B5EF4-FFF2-40B4-BE49-F238E27FC236}">
                <a16:creationId xmlns:a16="http://schemas.microsoft.com/office/drawing/2014/main" id="{4485FEF7-55A1-E57F-386E-7F0A175FECAC}"/>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5620608" y="5127471"/>
            <a:ext cx="797242" cy="501445"/>
          </a:xfrm>
          <a:prstGeom prst="rect">
            <a:avLst/>
          </a:prstGeom>
        </p:spPr>
      </p:pic>
      <p:sp>
        <p:nvSpPr>
          <p:cNvPr id="59" name="TextBox 58">
            <a:extLst>
              <a:ext uri="{FF2B5EF4-FFF2-40B4-BE49-F238E27FC236}">
                <a16:creationId xmlns:a16="http://schemas.microsoft.com/office/drawing/2014/main" id="{B8BA123E-8DB0-0F41-0017-915F9DFD74D8}"/>
              </a:ext>
            </a:extLst>
          </p:cNvPr>
          <p:cNvSpPr txBox="1"/>
          <p:nvPr/>
        </p:nvSpPr>
        <p:spPr>
          <a:xfrm>
            <a:off x="533306" y="5961153"/>
            <a:ext cx="8263032" cy="269176"/>
          </a:xfrm>
          <a:prstGeom prst="rect">
            <a:avLst/>
          </a:prstGeom>
          <a:noFill/>
        </p:spPr>
        <p:txBody>
          <a:bodyPr wrap="square">
            <a:spAutoFit/>
          </a:bodyPr>
          <a:lstStyle/>
          <a:p>
            <a:pPr marL="0" marR="0" lvl="0" indent="0" defTabSz="914400" rtl="0" eaLnBrk="1" fontAlgn="auto" latinLnBrk="0" hangingPunct="1">
              <a:lnSpc>
                <a:spcPct val="110000"/>
              </a:lnSpc>
              <a:spcBef>
                <a:spcPts val="1200"/>
              </a:spcBef>
              <a:spcAft>
                <a:spcPts val="0"/>
              </a:spcAft>
              <a:buClr>
                <a:srgbClr val="3C2CDA"/>
              </a:buClr>
              <a:buSzTx/>
              <a:buFontTx/>
              <a:buNone/>
              <a:tabLst/>
              <a:defRPr/>
            </a:pPr>
            <a:r>
              <a:rPr kumimoji="0" lang="en-US" sz="1100" b="1" i="0" u="none" strike="noStrike" kern="1200" cap="none" spc="0" normalizeH="0" baseline="0" noProof="0">
                <a:ln>
                  <a:noFill/>
                </a:ln>
                <a:solidFill>
                  <a:schemeClr val="accent1"/>
                </a:solidFill>
                <a:effectLst/>
                <a:uLnTx/>
                <a:uFillTx/>
                <a:latin typeface="Manrope"/>
              </a:rPr>
              <a:t>Accelerators</a:t>
            </a:r>
            <a:r>
              <a:rPr kumimoji="0" lang="en-US" sz="1100" b="0" i="0" u="none" strike="noStrike" kern="1200" cap="none" spc="0" normalizeH="0" baseline="0" noProof="0">
                <a:ln>
                  <a:noFill/>
                </a:ln>
                <a:solidFill>
                  <a:schemeClr val="accent1"/>
                </a:solidFill>
                <a:effectLst/>
                <a:uLnTx/>
                <a:uFillTx/>
                <a:latin typeface="Manrope"/>
              </a:rPr>
              <a:t> </a:t>
            </a:r>
            <a:r>
              <a:rPr kumimoji="0" lang="en-US" sz="1100" b="0" i="0" u="none" strike="noStrike" kern="1200" cap="none" spc="0" normalizeH="0" baseline="0" noProof="0">
                <a:ln>
                  <a:noFill/>
                </a:ln>
                <a:solidFill>
                  <a:srgbClr val="282828"/>
                </a:solidFill>
                <a:effectLst/>
                <a:uLnTx/>
                <a:uFillTx/>
                <a:latin typeface="Manrope"/>
              </a:rPr>
              <a:t>: </a:t>
            </a:r>
            <a:r>
              <a:rPr kumimoji="0" lang="en-US" sz="1100" b="0" i="0" u="none" strike="noStrike" kern="1200" cap="none" spc="0" normalizeH="0" baseline="0" noProof="0" err="1">
                <a:ln>
                  <a:noFill/>
                </a:ln>
                <a:solidFill>
                  <a:srgbClr val="282828"/>
                </a:solidFill>
                <a:effectLst/>
                <a:uLnTx/>
                <a:uFillTx/>
                <a:latin typeface="Manrope"/>
              </a:rPr>
              <a:t>Finops</a:t>
            </a:r>
            <a:r>
              <a:rPr kumimoji="0" lang="en-US" sz="1100" b="0" i="0" u="none" strike="noStrike" kern="1200" cap="none" spc="0" normalizeH="0" baseline="0" noProof="0">
                <a:ln>
                  <a:noFill/>
                </a:ln>
                <a:solidFill>
                  <a:srgbClr val="282828"/>
                </a:solidFill>
                <a:effectLst/>
                <a:uLnTx/>
                <a:uFillTx/>
                <a:latin typeface="Manrope"/>
              </a:rPr>
              <a:t> Partner Solutions such as Unravel , Chaos Genius. Observability Starter Kit</a:t>
            </a:r>
          </a:p>
        </p:txBody>
      </p:sp>
      <p:pic>
        <p:nvPicPr>
          <p:cNvPr id="3" name="Picture 2">
            <a:extLst>
              <a:ext uri="{FF2B5EF4-FFF2-40B4-BE49-F238E27FC236}">
                <a16:creationId xmlns:a16="http://schemas.microsoft.com/office/drawing/2014/main" id="{99BCF5CC-9E0B-2C45-3F7B-13778DCBBC9B}"/>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5677748" y="3349247"/>
            <a:ext cx="905043" cy="377102"/>
          </a:xfrm>
          <a:prstGeom prst="rect">
            <a:avLst/>
          </a:prstGeom>
        </p:spPr>
      </p:pic>
    </p:spTree>
    <p:extLst>
      <p:ext uri="{BB962C8B-B14F-4D97-AF65-F5344CB8AC3E}">
        <p14:creationId xmlns:p14="http://schemas.microsoft.com/office/powerpoint/2010/main" val="2794035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B9F11-856A-8DE2-B40A-97DBD2A2104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CB5B0F3-22A5-4D1F-4BFC-483A177466F5}"/>
              </a:ext>
            </a:extLst>
          </p:cNvPr>
          <p:cNvSpPr>
            <a:spLocks noGrp="1"/>
          </p:cNvSpPr>
          <p:nvPr>
            <p:ph type="body" sz="quarter" idx="15"/>
          </p:nvPr>
        </p:nvSpPr>
        <p:spPr>
          <a:xfrm flipH="1">
            <a:off x="623887" y="457200"/>
            <a:ext cx="5618557" cy="244101"/>
          </a:xfrm>
        </p:spPr>
        <p:txBody>
          <a:bodyPr/>
          <a:lstStyle/>
          <a:p>
            <a:r>
              <a:rPr lang="en-US" noProof="0"/>
              <a:t>Key Success Stories - Data Ops &amp; Managed Services</a:t>
            </a:r>
          </a:p>
        </p:txBody>
      </p:sp>
      <p:grpSp>
        <p:nvGrpSpPr>
          <p:cNvPr id="3" name="Group 2">
            <a:extLst>
              <a:ext uri="{FF2B5EF4-FFF2-40B4-BE49-F238E27FC236}">
                <a16:creationId xmlns:a16="http://schemas.microsoft.com/office/drawing/2014/main" id="{FEAF8377-7CD6-5EDC-0F10-FFC2D234834E}"/>
              </a:ext>
            </a:extLst>
          </p:cNvPr>
          <p:cNvGrpSpPr/>
          <p:nvPr/>
        </p:nvGrpSpPr>
        <p:grpSpPr>
          <a:xfrm>
            <a:off x="623887" y="908050"/>
            <a:ext cx="10944226" cy="5473700"/>
            <a:chOff x="623887" y="908050"/>
            <a:chExt cx="14915223" cy="5473700"/>
          </a:xfrm>
        </p:grpSpPr>
        <p:sp>
          <p:nvSpPr>
            <p:cNvPr id="6" name="Rectangle 5">
              <a:extLst>
                <a:ext uri="{FF2B5EF4-FFF2-40B4-BE49-F238E27FC236}">
                  <a16:creationId xmlns:a16="http://schemas.microsoft.com/office/drawing/2014/main" id="{33667AFE-1700-7782-BA42-464431E8DC13}"/>
                </a:ext>
              </a:extLst>
            </p:cNvPr>
            <p:cNvSpPr/>
            <p:nvPr/>
          </p:nvSpPr>
          <p:spPr>
            <a:xfrm>
              <a:off x="623887" y="908050"/>
              <a:ext cx="4886462" cy="2463773"/>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1" name="Rectangle 10">
              <a:extLst>
                <a:ext uri="{FF2B5EF4-FFF2-40B4-BE49-F238E27FC236}">
                  <a16:creationId xmlns:a16="http://schemas.microsoft.com/office/drawing/2014/main" id="{42D36489-4C74-307B-13D0-95C75890E4F3}"/>
                </a:ext>
              </a:extLst>
            </p:cNvPr>
            <p:cNvSpPr/>
            <p:nvPr/>
          </p:nvSpPr>
          <p:spPr>
            <a:xfrm>
              <a:off x="623887"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53A7DFE-5917-1439-31AA-CBE6EF3328EE}"/>
                </a:ext>
              </a:extLst>
            </p:cNvPr>
            <p:cNvSpPr txBox="1"/>
            <p:nvPr/>
          </p:nvSpPr>
          <p:spPr>
            <a:xfrm>
              <a:off x="718152"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8" name="TextBox 7">
              <a:extLst>
                <a:ext uri="{FF2B5EF4-FFF2-40B4-BE49-F238E27FC236}">
                  <a16:creationId xmlns:a16="http://schemas.microsoft.com/office/drawing/2014/main" id="{BD9BB5B5-6507-B67B-C266-1B11D699A823}"/>
                </a:ext>
              </a:extLst>
            </p:cNvPr>
            <p:cNvSpPr txBox="1"/>
            <p:nvPr/>
          </p:nvSpPr>
          <p:spPr>
            <a:xfrm>
              <a:off x="627992" y="1589799"/>
              <a:ext cx="4723777" cy="147732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Implemented a multi-faceted approach using Unravel. focusing on cost reduction and performance improvement</a:t>
              </a:r>
            </a:p>
            <a:p>
              <a:pPr marL="171450" indent="-171450">
                <a:spcBef>
                  <a:spcPts val="600"/>
                </a:spcBef>
                <a:buClr>
                  <a:schemeClr val="accent1"/>
                </a:buClr>
                <a:buFont typeface="Arial" panose="020B0604020202020204" pitchFamily="34" charset="0"/>
                <a:buChar char="•"/>
              </a:pPr>
              <a:r>
                <a:rPr lang="en-US" sz="1000">
                  <a:latin typeface="Manrope" pitchFamily="2" charset="0"/>
                </a:rPr>
                <a:t>Employing anomaly detection and alerting mechanisms via Unravel, </a:t>
              </a:r>
            </a:p>
            <a:p>
              <a:pPr marL="171450" indent="-171450">
                <a:spcBef>
                  <a:spcPts val="600"/>
                </a:spcBef>
                <a:buClr>
                  <a:schemeClr val="accent1"/>
                </a:buClr>
                <a:buFont typeface="Arial" panose="020B0604020202020204" pitchFamily="34" charset="0"/>
                <a:buChar char="•"/>
              </a:pPr>
              <a:r>
                <a:rPr lang="en-US" sz="1000" b="1">
                  <a:latin typeface="Manrope" pitchFamily="2" charset="0"/>
                </a:rPr>
                <a:t>30 % Employing anomaly detection and alerting mechanisms via Unravel reduced unnecessary failed queries </a:t>
              </a:r>
            </a:p>
          </p:txBody>
        </p:sp>
        <p:sp>
          <p:nvSpPr>
            <p:cNvPr id="15" name="Rectangle 14">
              <a:extLst>
                <a:ext uri="{FF2B5EF4-FFF2-40B4-BE49-F238E27FC236}">
                  <a16:creationId xmlns:a16="http://schemas.microsoft.com/office/drawing/2014/main" id="{44C170C7-799D-E41D-991A-FC354F35179C}"/>
                </a:ext>
              </a:extLst>
            </p:cNvPr>
            <p:cNvSpPr/>
            <p:nvPr/>
          </p:nvSpPr>
          <p:spPr>
            <a:xfrm>
              <a:off x="5639936" y="908050"/>
              <a:ext cx="4886462" cy="2463773"/>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6" name="Rectangle 15">
              <a:extLst>
                <a:ext uri="{FF2B5EF4-FFF2-40B4-BE49-F238E27FC236}">
                  <a16:creationId xmlns:a16="http://schemas.microsoft.com/office/drawing/2014/main" id="{8C10DB6A-4683-9563-88D6-7200607D3BD1}"/>
                </a:ext>
              </a:extLst>
            </p:cNvPr>
            <p:cNvSpPr/>
            <p:nvPr/>
          </p:nvSpPr>
          <p:spPr>
            <a:xfrm>
              <a:off x="5639936"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B2EFBC9-8B7B-4626-070B-58E1464786B6}"/>
                </a:ext>
              </a:extLst>
            </p:cNvPr>
            <p:cNvSpPr txBox="1"/>
            <p:nvPr/>
          </p:nvSpPr>
          <p:spPr>
            <a:xfrm>
              <a:off x="5734201" y="1539178"/>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18" name="TextBox 17">
              <a:extLst>
                <a:ext uri="{FF2B5EF4-FFF2-40B4-BE49-F238E27FC236}">
                  <a16:creationId xmlns:a16="http://schemas.microsoft.com/office/drawing/2014/main" id="{395A8B3B-3FF2-A4DE-A272-E05ABEFF06BA}"/>
                </a:ext>
              </a:extLst>
            </p:cNvPr>
            <p:cNvSpPr txBox="1"/>
            <p:nvPr/>
          </p:nvSpPr>
          <p:spPr>
            <a:xfrm>
              <a:off x="5644042" y="1589799"/>
              <a:ext cx="4463250" cy="147732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Implemented a comprehensive health check process using our data observability platform, Unravel. </a:t>
              </a:r>
            </a:p>
            <a:p>
              <a:pPr marL="171450" indent="-171450">
                <a:spcBef>
                  <a:spcPts val="600"/>
                </a:spcBef>
                <a:buClr>
                  <a:schemeClr val="accent1"/>
                </a:buClr>
                <a:buFont typeface="Arial" panose="020B0604020202020204" pitchFamily="34" charset="0"/>
                <a:buChar char="•"/>
              </a:pPr>
              <a:r>
                <a:rPr lang="en-US" sz="1000">
                  <a:latin typeface="Manrope" pitchFamily="2" charset="0"/>
                </a:rPr>
                <a:t>Generated detailed reports and recommendations based on the analytics. </a:t>
              </a:r>
            </a:p>
            <a:p>
              <a:pPr marL="171450" indent="-171450">
                <a:spcBef>
                  <a:spcPts val="600"/>
                </a:spcBef>
                <a:buClr>
                  <a:schemeClr val="accent1"/>
                </a:buClr>
                <a:buFont typeface="Arial" panose="020B0604020202020204" pitchFamily="34" charset="0"/>
                <a:buChar char="•"/>
              </a:pPr>
              <a:r>
                <a:rPr lang="en-US" sz="1000" b="1">
                  <a:latin typeface="Manrope" pitchFamily="2" charset="0"/>
                </a:rPr>
                <a:t>By identifying and addressing inefficiencies, we enabled the client to bring down the costs from 180K to 120K USD  annually</a:t>
              </a:r>
            </a:p>
          </p:txBody>
        </p:sp>
        <p:sp>
          <p:nvSpPr>
            <p:cNvPr id="21" name="Rectangle 20">
              <a:extLst>
                <a:ext uri="{FF2B5EF4-FFF2-40B4-BE49-F238E27FC236}">
                  <a16:creationId xmlns:a16="http://schemas.microsoft.com/office/drawing/2014/main" id="{816E3F76-6433-CD2A-72EE-0EC3E13FDE46}"/>
                </a:ext>
              </a:extLst>
            </p:cNvPr>
            <p:cNvSpPr/>
            <p:nvPr/>
          </p:nvSpPr>
          <p:spPr>
            <a:xfrm>
              <a:off x="623887" y="3522278"/>
              <a:ext cx="4886462" cy="2859472"/>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22" name="Rectangle 21">
              <a:extLst>
                <a:ext uri="{FF2B5EF4-FFF2-40B4-BE49-F238E27FC236}">
                  <a16:creationId xmlns:a16="http://schemas.microsoft.com/office/drawing/2014/main" id="{718D8F19-991B-810E-D9ED-5B00CBF4199C}"/>
                </a:ext>
              </a:extLst>
            </p:cNvPr>
            <p:cNvSpPr/>
            <p:nvPr/>
          </p:nvSpPr>
          <p:spPr>
            <a:xfrm>
              <a:off x="623887"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4997670-5211-A36E-9A65-93D200446E82}"/>
                </a:ext>
              </a:extLst>
            </p:cNvPr>
            <p:cNvSpPr txBox="1"/>
            <p:nvPr/>
          </p:nvSpPr>
          <p:spPr>
            <a:xfrm>
              <a:off x="718152"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4" name="TextBox 23">
              <a:extLst>
                <a:ext uri="{FF2B5EF4-FFF2-40B4-BE49-F238E27FC236}">
                  <a16:creationId xmlns:a16="http://schemas.microsoft.com/office/drawing/2014/main" id="{8E537D08-9C3F-CAC2-3C03-96FE39C846A9}"/>
                </a:ext>
              </a:extLst>
            </p:cNvPr>
            <p:cNvSpPr txBox="1"/>
            <p:nvPr/>
          </p:nvSpPr>
          <p:spPr>
            <a:xfrm>
              <a:off x="627992" y="4204027"/>
              <a:ext cx="4723777" cy="1862048"/>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Manage 23 Oracle ERP application and database in a 24x7 model in High availability , multi-node RAC environment</a:t>
              </a:r>
            </a:p>
            <a:p>
              <a:pPr marL="171450" indent="-171450">
                <a:spcBef>
                  <a:spcPts val="600"/>
                </a:spcBef>
                <a:buClr>
                  <a:schemeClr val="accent1"/>
                </a:buClr>
                <a:buFont typeface="Arial" panose="020B0604020202020204" pitchFamily="34" charset="0"/>
                <a:buChar char="•"/>
              </a:pPr>
              <a:r>
                <a:rPr lang="en-US" sz="1000">
                  <a:latin typeface="Manrope" pitchFamily="2" charset="0"/>
                </a:rPr>
                <a:t>Implemented SSO for 4200 users across 10 countries. Enabled French/Italian languages. </a:t>
              </a:r>
            </a:p>
            <a:p>
              <a:pPr marL="171450" indent="-171450">
                <a:spcBef>
                  <a:spcPts val="600"/>
                </a:spcBef>
                <a:buClr>
                  <a:schemeClr val="accent1"/>
                </a:buClr>
                <a:buFont typeface="Arial" panose="020B0604020202020204" pitchFamily="34" charset="0"/>
                <a:buChar char="•"/>
              </a:pPr>
              <a:r>
                <a:rPr lang="en-US" sz="1000">
                  <a:latin typeface="Manrope" pitchFamily="2" charset="0"/>
                </a:rPr>
                <a:t>10 % Application performance improvements as a result of app cluster file system migration from RHEL GFS2 to Veritas. </a:t>
              </a:r>
            </a:p>
            <a:p>
              <a:pPr marL="171450" indent="-171450">
                <a:spcBef>
                  <a:spcPts val="600"/>
                </a:spcBef>
                <a:buClr>
                  <a:schemeClr val="accent1"/>
                </a:buClr>
                <a:buFont typeface="Arial" panose="020B0604020202020204" pitchFamily="34" charset="0"/>
                <a:buChar char="•"/>
              </a:pPr>
              <a:r>
                <a:rPr lang="en-US" sz="1000" b="1">
                  <a:latin typeface="Manrope" pitchFamily="2" charset="0"/>
                </a:rPr>
                <a:t>The Tech Stack Includes Snowflake, Collibra, AWS, Power BI, DBT, ADF, Python, Fabric</a:t>
              </a:r>
            </a:p>
          </p:txBody>
        </p:sp>
        <p:sp>
          <p:nvSpPr>
            <p:cNvPr id="26" name="Rectangle 25">
              <a:extLst>
                <a:ext uri="{FF2B5EF4-FFF2-40B4-BE49-F238E27FC236}">
                  <a16:creationId xmlns:a16="http://schemas.microsoft.com/office/drawing/2014/main" id="{933E2D24-34AE-ED6F-A281-016E182BFB4C}"/>
                </a:ext>
              </a:extLst>
            </p:cNvPr>
            <p:cNvSpPr/>
            <p:nvPr/>
          </p:nvSpPr>
          <p:spPr>
            <a:xfrm>
              <a:off x="5639936" y="3522278"/>
              <a:ext cx="4886462" cy="2859472"/>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27" name="Rectangle 26">
              <a:extLst>
                <a:ext uri="{FF2B5EF4-FFF2-40B4-BE49-F238E27FC236}">
                  <a16:creationId xmlns:a16="http://schemas.microsoft.com/office/drawing/2014/main" id="{8E16693F-EC95-454B-69B2-73D0D404DBE1}"/>
                </a:ext>
              </a:extLst>
            </p:cNvPr>
            <p:cNvSpPr/>
            <p:nvPr/>
          </p:nvSpPr>
          <p:spPr>
            <a:xfrm>
              <a:off x="5639936"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4920E13-696E-2E9F-5D37-53BBEAAF9AF1}"/>
                </a:ext>
              </a:extLst>
            </p:cNvPr>
            <p:cNvSpPr txBox="1"/>
            <p:nvPr/>
          </p:nvSpPr>
          <p:spPr>
            <a:xfrm>
              <a:off x="5734201" y="4153406"/>
              <a:ext cx="3282750" cy="237472"/>
            </a:xfrm>
            <a:prstGeom prst="rect">
              <a:avLst/>
            </a:prstGeom>
            <a:noFill/>
          </p:spPr>
          <p:txBody>
            <a:bodyPr wrap="square">
              <a:spAutoFit/>
            </a:bodyPr>
            <a:lstStyle/>
            <a:p>
              <a:pPr marL="171450" marR="0" lvl="1" indent="-171450" algn="l" defTabSz="914400" rtl="0" eaLnBrk="1" fontAlgn="base" latinLnBrk="0" hangingPunct="1">
                <a:lnSpc>
                  <a:spcPct val="100000"/>
                </a:lnSpc>
                <a:spcBef>
                  <a:spcPts val="1200"/>
                </a:spcBef>
                <a:spcAft>
                  <a:spcPct val="0"/>
                </a:spcAft>
                <a:buClr>
                  <a:srgbClr val="FFFFFF"/>
                </a:buClr>
                <a:buSzPct val="100000"/>
                <a:buFont typeface="Arial" panose="020B0604020202020204" pitchFamily="34" charset="0"/>
                <a:buChar char="•"/>
                <a:tabLst/>
                <a:defRPr/>
              </a:pPr>
              <a:endParaRPr kumimoji="0" lang="en-US" sz="10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endParaRPr>
            </a:p>
          </p:txBody>
        </p:sp>
        <p:sp>
          <p:nvSpPr>
            <p:cNvPr id="29" name="TextBox 28">
              <a:extLst>
                <a:ext uri="{FF2B5EF4-FFF2-40B4-BE49-F238E27FC236}">
                  <a16:creationId xmlns:a16="http://schemas.microsoft.com/office/drawing/2014/main" id="{37A0730B-581E-6157-805F-4A1485778420}"/>
                </a:ext>
              </a:extLst>
            </p:cNvPr>
            <p:cNvSpPr txBox="1"/>
            <p:nvPr/>
          </p:nvSpPr>
          <p:spPr>
            <a:xfrm>
              <a:off x="5721026" y="4204027"/>
              <a:ext cx="4762967" cy="2015936"/>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t>Dedicated data ops team for efficient support.. Proactive monitoring &amp; automation for minimal downtime .</a:t>
              </a:r>
            </a:p>
            <a:p>
              <a:pPr marL="171450" indent="-171450">
                <a:spcBef>
                  <a:spcPts val="600"/>
                </a:spcBef>
                <a:buClr>
                  <a:schemeClr val="accent1"/>
                </a:buClr>
                <a:buFont typeface="Arial" panose="020B0604020202020204" pitchFamily="34" charset="0"/>
                <a:buChar char="•"/>
              </a:pPr>
              <a:r>
                <a:rPr lang="en-US" sz="1000"/>
                <a:t>Customized 8x5  support for flexibility with team of 15+ consultants. Work across Offshore and Nearshore to ensure to give round-the-clock support.</a:t>
              </a:r>
            </a:p>
            <a:p>
              <a:pPr marL="171450" indent="-171450">
                <a:spcBef>
                  <a:spcPts val="600"/>
                </a:spcBef>
                <a:buClr>
                  <a:schemeClr val="accent1"/>
                </a:buClr>
                <a:buFont typeface="Arial" panose="020B0604020202020204" pitchFamily="34" charset="0"/>
                <a:buChar char="•"/>
              </a:pPr>
              <a:r>
                <a:rPr lang="en-US" sz="1000"/>
                <a:t>Shift left principal of managed services execution that automates routine tasks (L3 -&gt; L1.5 -&gt; L1) for cost savings and faster resolution.</a:t>
              </a:r>
            </a:p>
            <a:p>
              <a:pPr marL="171450" indent="-171450">
                <a:spcBef>
                  <a:spcPts val="600"/>
                </a:spcBef>
                <a:buClr>
                  <a:schemeClr val="accent1"/>
                </a:buClr>
                <a:buFont typeface="Arial" panose="020B0604020202020204" pitchFamily="34" charset="0"/>
                <a:buChar char="•"/>
              </a:pPr>
              <a:r>
                <a:rPr lang="en-US" sz="1000" b="1"/>
                <a:t>The Tech Stack Includes Snowflake, Azure, Power BI, DBT, ADF, Python, Fabric</a:t>
              </a:r>
            </a:p>
          </p:txBody>
        </p:sp>
        <p:sp>
          <p:nvSpPr>
            <p:cNvPr id="4" name="Rectangle 3">
              <a:extLst>
                <a:ext uri="{FF2B5EF4-FFF2-40B4-BE49-F238E27FC236}">
                  <a16:creationId xmlns:a16="http://schemas.microsoft.com/office/drawing/2014/main" id="{ED325B8A-D85C-78B4-6A01-E23E6354067F}"/>
                </a:ext>
              </a:extLst>
            </p:cNvPr>
            <p:cNvSpPr/>
            <p:nvPr/>
          </p:nvSpPr>
          <p:spPr>
            <a:xfrm>
              <a:off x="10652648" y="908050"/>
              <a:ext cx="4886462" cy="2463773"/>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5" name="Rectangle 4">
              <a:extLst>
                <a:ext uri="{FF2B5EF4-FFF2-40B4-BE49-F238E27FC236}">
                  <a16:creationId xmlns:a16="http://schemas.microsoft.com/office/drawing/2014/main" id="{11D0451D-A6BE-ED09-5781-1499FFFB01C3}"/>
                </a:ext>
              </a:extLst>
            </p:cNvPr>
            <p:cNvSpPr/>
            <p:nvPr/>
          </p:nvSpPr>
          <p:spPr>
            <a:xfrm>
              <a:off x="10652648" y="908050"/>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6CBEFD-6C78-3AE0-3502-ADD190F14482}"/>
                </a:ext>
              </a:extLst>
            </p:cNvPr>
            <p:cNvSpPr/>
            <p:nvPr/>
          </p:nvSpPr>
          <p:spPr>
            <a:xfrm>
              <a:off x="10652648" y="3522278"/>
              <a:ext cx="4886462" cy="2859472"/>
            </a:xfrm>
            <a:prstGeom prst="rect">
              <a:avLst/>
            </a:prstGeom>
            <a:solidFill>
              <a:schemeClr val="accent5">
                <a:lumMod val="20000"/>
                <a:lumOff val="80000"/>
                <a:alpha val="50000"/>
              </a:schemeClr>
            </a:solidFill>
            <a:ln>
              <a:solidFill>
                <a:schemeClr val="accent5">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anrope" pitchFamily="2" charset="0"/>
              </a:endParaRPr>
            </a:p>
          </p:txBody>
        </p:sp>
        <p:sp>
          <p:nvSpPr>
            <p:cNvPr id="12" name="Rectangle 11">
              <a:extLst>
                <a:ext uri="{FF2B5EF4-FFF2-40B4-BE49-F238E27FC236}">
                  <a16:creationId xmlns:a16="http://schemas.microsoft.com/office/drawing/2014/main" id="{B85A1FC1-C1CB-EADE-C496-A3C0616469D5}"/>
                </a:ext>
              </a:extLst>
            </p:cNvPr>
            <p:cNvSpPr/>
            <p:nvPr/>
          </p:nvSpPr>
          <p:spPr>
            <a:xfrm>
              <a:off x="10652648" y="3522278"/>
              <a:ext cx="4886462" cy="535269"/>
            </a:xfrm>
            <a:prstGeom prst="rect">
              <a:avLst/>
            </a:prstGeom>
            <a:solidFill>
              <a:schemeClr val="bg1"/>
            </a:solidFill>
            <a:ln>
              <a:solidFill>
                <a:schemeClr val="accent5">
                  <a:alpha val="48589"/>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21C72DE-2125-2359-F848-CCFF9CD4D458}"/>
                </a:ext>
              </a:extLst>
            </p:cNvPr>
            <p:cNvSpPr txBox="1"/>
            <p:nvPr/>
          </p:nvSpPr>
          <p:spPr>
            <a:xfrm>
              <a:off x="10732610" y="1589799"/>
              <a:ext cx="4802394" cy="1708160"/>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latin typeface="Manrope" pitchFamily="2" charset="0"/>
                </a:rPr>
                <a:t>Assessment to identify areas with high cloud costs and potential inefficiencies</a:t>
              </a:r>
            </a:p>
            <a:p>
              <a:pPr marL="171450" indent="-171450">
                <a:spcBef>
                  <a:spcPts val="600"/>
                </a:spcBef>
                <a:buClr>
                  <a:schemeClr val="accent1"/>
                </a:buClr>
                <a:buFont typeface="Arial" panose="020B0604020202020204" pitchFamily="34" charset="0"/>
                <a:buChar char="•"/>
              </a:pPr>
              <a:r>
                <a:rPr lang="en-US" sz="1000">
                  <a:latin typeface="Manrope" pitchFamily="2" charset="0"/>
                </a:rPr>
                <a:t>Deployed Chaos genius and configured  dashboards to monitor financial metrics.</a:t>
              </a:r>
            </a:p>
            <a:p>
              <a:pPr marL="171450" indent="-171450">
                <a:spcBef>
                  <a:spcPts val="600"/>
                </a:spcBef>
                <a:buClr>
                  <a:schemeClr val="accent1"/>
                </a:buClr>
                <a:buFont typeface="Arial" panose="020B0604020202020204" pitchFamily="34" charset="0"/>
                <a:buChar char="•"/>
              </a:pPr>
              <a:r>
                <a:rPr lang="en-US" sz="1000">
                  <a:latin typeface="Manrope" pitchFamily="2" charset="0"/>
                </a:rPr>
                <a:t>Chaos Genius AI Insights identified underutilized resources and recommended cost saving strategies . </a:t>
              </a:r>
            </a:p>
            <a:p>
              <a:pPr marL="171450" indent="-171450">
                <a:spcBef>
                  <a:spcPts val="600"/>
                </a:spcBef>
                <a:buClr>
                  <a:schemeClr val="accent1"/>
                </a:buClr>
                <a:buFont typeface="Arial" panose="020B0604020202020204" pitchFamily="34" charset="0"/>
                <a:buChar char="•"/>
              </a:pPr>
              <a:r>
                <a:rPr lang="en-US" sz="1000" b="1">
                  <a:latin typeface="Manrope" pitchFamily="2" charset="0"/>
                </a:rPr>
                <a:t>40% reduction in time spent on manual financial reporting and reconciliation. 20% in annual savings achieved.</a:t>
              </a:r>
            </a:p>
          </p:txBody>
        </p:sp>
        <p:sp>
          <p:nvSpPr>
            <p:cNvPr id="32" name="TextBox 31">
              <a:extLst>
                <a:ext uri="{FF2B5EF4-FFF2-40B4-BE49-F238E27FC236}">
                  <a16:creationId xmlns:a16="http://schemas.microsoft.com/office/drawing/2014/main" id="{FC84BA97-DC78-4505-75DA-8B0845E98161}"/>
                </a:ext>
              </a:extLst>
            </p:cNvPr>
            <p:cNvSpPr txBox="1"/>
            <p:nvPr/>
          </p:nvSpPr>
          <p:spPr>
            <a:xfrm>
              <a:off x="10779926" y="4204027"/>
              <a:ext cx="4463252" cy="2092881"/>
            </a:xfrm>
            <a:prstGeom prst="rect">
              <a:avLst/>
            </a:prstGeom>
            <a:noFill/>
          </p:spPr>
          <p:txBody>
            <a:bodyPr wrap="square">
              <a:spAutoFit/>
            </a:bodyPr>
            <a:lstStyle>
              <a:defPPr>
                <a:defRPr lang="en-US"/>
              </a:defPPr>
              <a:lvl2pPr marL="171450" marR="0" lvl="1" indent="-171450" fontAlgn="base">
                <a:lnSpc>
                  <a:spcPct val="100000"/>
                </a:lnSpc>
                <a:spcBef>
                  <a:spcPts val="1200"/>
                </a:spcBef>
                <a:spcAft>
                  <a:spcPct val="0"/>
                </a:spcAft>
                <a:buClr>
                  <a:schemeClr val="tx1"/>
                </a:buClr>
                <a:buSzPct val="100000"/>
                <a:buFont typeface="Arial" panose="020B0604020202020204" pitchFamily="34" charset="0"/>
                <a:buChar char="•"/>
                <a:tabLst/>
                <a:defRPr kumimoji="0" sz="1000" b="0" i="0" u="none" strike="noStrike" cap="none" spc="0" normalizeH="0" baseline="0">
                  <a:ln>
                    <a:noFill/>
                  </a:ln>
                  <a:effectLst/>
                  <a:uLnTx/>
                  <a:uFillTx/>
                  <a:latin typeface="Manrope"/>
                  <a:cs typeface="Segoe UI" panose="020B0502040204020203" pitchFamily="34" charset="0"/>
                </a:defRPr>
              </a:lvl2pPr>
            </a:lstStyle>
            <a:p>
              <a:pPr marL="171450" indent="-171450">
                <a:spcBef>
                  <a:spcPts val="600"/>
                </a:spcBef>
                <a:buClr>
                  <a:schemeClr val="accent1"/>
                </a:buClr>
                <a:buFont typeface="Arial" panose="020B0604020202020204" pitchFamily="34" charset="0"/>
                <a:buChar char="•"/>
              </a:pPr>
              <a:r>
                <a:rPr lang="en-US" sz="1000"/>
                <a:t>L2 support for 41 applications across the globe and enhancement for the client’s BI and DI environment since 2008 handling more than 1000 tickets per annum.</a:t>
              </a:r>
            </a:p>
            <a:p>
              <a:pPr marL="171450" indent="-171450">
                <a:spcBef>
                  <a:spcPts val="600"/>
                </a:spcBef>
                <a:buClr>
                  <a:schemeClr val="accent1"/>
                </a:buClr>
                <a:buFont typeface="Arial" panose="020B0604020202020204" pitchFamily="34" charset="0"/>
                <a:buChar char="•"/>
              </a:pPr>
              <a:r>
                <a:rPr lang="en-US" sz="1000"/>
                <a:t>Hexaware supports SAP BW, Management Reporting Data Warehouse (MRDW), Management Reporting Applications (MRA), BU Performance, Pricing Index Model, Project Profitability, Sales Excellence, Utilization, Pipeline Movement, Usage Tracking.</a:t>
              </a:r>
            </a:p>
            <a:p>
              <a:pPr marL="171450" indent="-171450">
                <a:spcBef>
                  <a:spcPts val="600"/>
                </a:spcBef>
                <a:buClr>
                  <a:schemeClr val="accent1"/>
                </a:buClr>
                <a:buFont typeface="Arial" panose="020B0604020202020204" pitchFamily="34" charset="0"/>
                <a:buChar char="•"/>
              </a:pPr>
              <a:r>
                <a:rPr lang="en-US" sz="1000" b="1"/>
                <a:t>The Tech Stack includes Snowflake, DBT, </a:t>
              </a:r>
              <a:r>
                <a:rPr lang="en-US" sz="1000" b="1" err="1"/>
                <a:t>Fivetran</a:t>
              </a:r>
              <a:r>
                <a:rPr lang="en-US" sz="1000" b="1"/>
                <a:t>, Power BI</a:t>
              </a:r>
            </a:p>
          </p:txBody>
        </p:sp>
      </p:grpSp>
      <p:pic>
        <p:nvPicPr>
          <p:cNvPr id="9" name="Picture 8">
            <a:extLst>
              <a:ext uri="{FF2B5EF4-FFF2-40B4-BE49-F238E27FC236}">
                <a16:creationId xmlns:a16="http://schemas.microsoft.com/office/drawing/2014/main" id="{3C387054-5B45-A11B-67D5-4785A7A54C9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984739" y="1041053"/>
            <a:ext cx="750448" cy="25729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E8AF3AB2-1D7D-B037-5031-66C8A7C8C612}"/>
              </a:ext>
            </a:extLst>
          </p:cNvPr>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770991" y="1009464"/>
            <a:ext cx="680852" cy="27150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2" descr="Carlyle Group logo in transparent PNG and vectorized SVG formats">
            <a:extLst>
              <a:ext uri="{FF2B5EF4-FFF2-40B4-BE49-F238E27FC236}">
                <a16:creationId xmlns:a16="http://schemas.microsoft.com/office/drawing/2014/main" id="{43E2D687-1B5C-8735-21F5-D82454958B6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116623" y="1132740"/>
            <a:ext cx="1039937" cy="13066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A close up of a logo&#10;&#10;Description automatically generated">
            <a:extLst>
              <a:ext uri="{FF2B5EF4-FFF2-40B4-BE49-F238E27FC236}">
                <a16:creationId xmlns:a16="http://schemas.microsoft.com/office/drawing/2014/main" id="{88F159A5-1D94-BFFF-3214-1F40E470DCD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534124" y="3662259"/>
            <a:ext cx="1123751" cy="310558"/>
          </a:xfrm>
          <a:prstGeom prst="rect">
            <a:avLst/>
          </a:prstGeom>
        </p:spPr>
      </p:pic>
      <p:pic>
        <p:nvPicPr>
          <p:cNvPr id="37" name="Picture 2" descr="undefined">
            <a:extLst>
              <a:ext uri="{FF2B5EF4-FFF2-40B4-BE49-F238E27FC236}">
                <a16:creationId xmlns:a16="http://schemas.microsoft.com/office/drawing/2014/main" id="{08C6A762-FA54-FABD-8C2F-8011EA64D2AA}"/>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116623" y="3729891"/>
            <a:ext cx="1091787" cy="18992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0A53BF2-8114-2E63-1521-823CF87CFF4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907441" y="3613064"/>
            <a:ext cx="905043" cy="377102"/>
          </a:xfrm>
          <a:prstGeom prst="rect">
            <a:avLst/>
          </a:prstGeom>
        </p:spPr>
      </p:pic>
    </p:spTree>
    <p:extLst>
      <p:ext uri="{BB962C8B-B14F-4D97-AF65-F5344CB8AC3E}">
        <p14:creationId xmlns:p14="http://schemas.microsoft.com/office/powerpoint/2010/main" val="2440120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D41FB-020D-D035-421E-FD1768E5F0F6}"/>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C7435A82-FC85-288E-283C-BE1EEBF3033C}"/>
              </a:ext>
            </a:extLst>
          </p:cNvPr>
          <p:cNvGrpSpPr/>
          <p:nvPr/>
        </p:nvGrpSpPr>
        <p:grpSpPr>
          <a:xfrm>
            <a:off x="652880" y="926342"/>
            <a:ext cx="785145" cy="785145"/>
            <a:chOff x="1450992" y="1491427"/>
            <a:chExt cx="950026" cy="950026"/>
          </a:xfrm>
        </p:grpSpPr>
        <p:sp>
          <p:nvSpPr>
            <p:cNvPr id="32" name="Oval 31">
              <a:extLst>
                <a:ext uri="{FF2B5EF4-FFF2-40B4-BE49-F238E27FC236}">
                  <a16:creationId xmlns:a16="http://schemas.microsoft.com/office/drawing/2014/main" id="{A7653337-E77A-7E87-D6D6-C510B401DC55}"/>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56D8BC8-3077-DF4A-78C5-4C3971B67BF5}"/>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Placeholder 1">
            <a:extLst>
              <a:ext uri="{FF2B5EF4-FFF2-40B4-BE49-F238E27FC236}">
                <a16:creationId xmlns:a16="http://schemas.microsoft.com/office/drawing/2014/main" id="{A9A7144F-E4B9-44A0-EBEF-A42E54D0190F}"/>
              </a:ext>
            </a:extLst>
          </p:cNvPr>
          <p:cNvSpPr>
            <a:spLocks noGrp="1"/>
          </p:cNvSpPr>
          <p:nvPr>
            <p:ph type="body" sz="quarter" idx="15"/>
          </p:nvPr>
        </p:nvSpPr>
        <p:spPr>
          <a:xfrm flipH="1">
            <a:off x="623888" y="457200"/>
            <a:ext cx="8172450" cy="244101"/>
          </a:xfrm>
        </p:spPr>
        <p:txBody>
          <a:bodyPr/>
          <a:lstStyle/>
          <a:p>
            <a:r>
              <a:rPr lang="en-US"/>
              <a:t>Data Products and Monetization</a:t>
            </a:r>
          </a:p>
        </p:txBody>
      </p:sp>
      <p:sp>
        <p:nvSpPr>
          <p:cNvPr id="10" name="Rectangle: Rounded Corners 18">
            <a:extLst>
              <a:ext uri="{FF2B5EF4-FFF2-40B4-BE49-F238E27FC236}">
                <a16:creationId xmlns:a16="http://schemas.microsoft.com/office/drawing/2014/main" id="{254DAA9A-F90A-99FF-D8D0-41E1956B1C12}"/>
              </a:ext>
            </a:extLst>
          </p:cNvPr>
          <p:cNvSpPr/>
          <p:nvPr/>
        </p:nvSpPr>
        <p:spPr>
          <a:xfrm>
            <a:off x="623888" y="1812336"/>
            <a:ext cx="10932238" cy="944976"/>
          </a:xfrm>
          <a:prstGeom prst="roundRect">
            <a:avLst>
              <a:gd name="adj" fmla="val 0"/>
            </a:avLst>
          </a:prstGeom>
          <a:solidFill>
            <a:srgbClr val="EEEFF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anrope"/>
              <a:ea typeface="Helvetica Neue"/>
              <a:cs typeface="Helvetica Neue"/>
            </a:endParaRPr>
          </a:p>
        </p:txBody>
      </p:sp>
      <p:sp>
        <p:nvSpPr>
          <p:cNvPr id="20" name="TextBox 19">
            <a:extLst>
              <a:ext uri="{FF2B5EF4-FFF2-40B4-BE49-F238E27FC236}">
                <a16:creationId xmlns:a16="http://schemas.microsoft.com/office/drawing/2014/main" id="{C5A2C23A-AEE5-836D-7B1A-9054EB00EEFE}"/>
              </a:ext>
            </a:extLst>
          </p:cNvPr>
          <p:cNvSpPr txBox="1"/>
          <p:nvPr/>
        </p:nvSpPr>
        <p:spPr>
          <a:xfrm>
            <a:off x="5640232" y="1970551"/>
            <a:ext cx="4502277" cy="646331"/>
          </a:xfrm>
          <a:prstGeom prst="rect">
            <a:avLst/>
          </a:prstGeom>
          <a:noFill/>
        </p:spPr>
        <p:txBody>
          <a:bodyPr wrap="square">
            <a:spAutoFit/>
          </a:body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Strategy and Advisory for Monetization, Marketplace </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Data Quality, Governance and Compliance</a:t>
            </a:r>
          </a:p>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chemeClr val="tx2"/>
                </a:solidFill>
                <a:effectLst/>
                <a:uLnTx/>
                <a:uFillTx/>
                <a:latin typeface="Manrope"/>
                <a:ea typeface="Helvetica Neue"/>
                <a:cs typeface="Helvetica Neue"/>
              </a:rPr>
              <a:t>+ Engineering Expertise and Best Practices</a:t>
            </a:r>
          </a:p>
        </p:txBody>
      </p:sp>
      <p:sp>
        <p:nvSpPr>
          <p:cNvPr id="46" name="Title 29">
            <a:extLst>
              <a:ext uri="{FF2B5EF4-FFF2-40B4-BE49-F238E27FC236}">
                <a16:creationId xmlns:a16="http://schemas.microsoft.com/office/drawing/2014/main" id="{6126670C-7441-3CE4-5B23-B8ADFA1E54C8}"/>
              </a:ext>
            </a:extLst>
          </p:cNvPr>
          <p:cNvSpPr txBox="1">
            <a:spLocks/>
          </p:cNvSpPr>
          <p:nvPr/>
        </p:nvSpPr>
        <p:spPr>
          <a:xfrm>
            <a:off x="1568267" y="1161026"/>
            <a:ext cx="9175933"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1400" b="0" u="none" strike="noStrike" kern="1200" cap="none" spc="0" normalizeH="0" baseline="0" noProof="0">
                <a:ln>
                  <a:noFill/>
                </a:ln>
                <a:solidFill>
                  <a:srgbClr val="000000"/>
                </a:solidFill>
                <a:effectLst/>
                <a:uLnTx/>
                <a:uFillTx/>
                <a:latin typeface="Manrope"/>
                <a:ea typeface="Helvetica Neue Medium"/>
                <a:cs typeface="Helvetica Neue Medium"/>
              </a:rPr>
              <a:t>We build scalable, cost-efficient data platforms that enable businesses to unlock insights and generate revenue from their data assets</a:t>
            </a:r>
          </a:p>
        </p:txBody>
      </p:sp>
      <p:grpSp>
        <p:nvGrpSpPr>
          <p:cNvPr id="21" name="Group 20">
            <a:extLst>
              <a:ext uri="{FF2B5EF4-FFF2-40B4-BE49-F238E27FC236}">
                <a16:creationId xmlns:a16="http://schemas.microsoft.com/office/drawing/2014/main" id="{598CE6D0-95D9-7681-9AD4-4FD2B18798F8}"/>
              </a:ext>
            </a:extLst>
          </p:cNvPr>
          <p:cNvGrpSpPr/>
          <p:nvPr/>
        </p:nvGrpSpPr>
        <p:grpSpPr>
          <a:xfrm>
            <a:off x="623887" y="2869596"/>
            <a:ext cx="2759761" cy="2903109"/>
            <a:chOff x="382469" y="2434148"/>
            <a:chExt cx="2727736" cy="2903109"/>
          </a:xfrm>
        </p:grpSpPr>
        <p:sp>
          <p:nvSpPr>
            <p:cNvPr id="6" name="Rectangle: Rounded Corners 18">
              <a:extLst>
                <a:ext uri="{FF2B5EF4-FFF2-40B4-BE49-F238E27FC236}">
                  <a16:creationId xmlns:a16="http://schemas.microsoft.com/office/drawing/2014/main" id="{857643B7-F0C0-F108-A432-ED0EEBF26C08}"/>
                </a:ext>
              </a:extLst>
            </p:cNvPr>
            <p:cNvSpPr/>
            <p:nvPr/>
          </p:nvSpPr>
          <p:spPr>
            <a:xfrm>
              <a:off x="382469" y="2525605"/>
              <a:ext cx="2727736" cy="2811652"/>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7" name="Rectangle: Rounded Corners 18">
              <a:extLst>
                <a:ext uri="{FF2B5EF4-FFF2-40B4-BE49-F238E27FC236}">
                  <a16:creationId xmlns:a16="http://schemas.microsoft.com/office/drawing/2014/main" id="{D6F75443-5EED-B738-5DCD-C7D55D9AF5F6}"/>
                </a:ext>
              </a:extLst>
            </p:cNvPr>
            <p:cNvSpPr/>
            <p:nvPr/>
          </p:nvSpPr>
          <p:spPr>
            <a:xfrm>
              <a:off x="395157" y="2434148"/>
              <a:ext cx="2715048" cy="356878"/>
            </a:xfrm>
            <a:prstGeom prst="roundRect">
              <a:avLst>
                <a:gd name="adj" fmla="val 0"/>
              </a:avLst>
            </a:prstGeom>
            <a:solidFill>
              <a:srgbClr val="08126E"/>
            </a:solidFill>
            <a:ln w="3175">
              <a:noFill/>
            </a:ln>
            <a:effectLst/>
          </p:spPr>
          <p:txBody>
            <a:bodyPr lIns="0" tIns="0" rIns="0" bIns="0" anchor="ctr" anchorCtr="0"/>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Our Offerings</a:t>
              </a:r>
            </a:p>
          </p:txBody>
        </p:sp>
        <p:sp>
          <p:nvSpPr>
            <p:cNvPr id="45" name="TextBox 44">
              <a:extLst>
                <a:ext uri="{FF2B5EF4-FFF2-40B4-BE49-F238E27FC236}">
                  <a16:creationId xmlns:a16="http://schemas.microsoft.com/office/drawing/2014/main" id="{3B3778D4-F2BD-5814-1DF7-8AFDB1F326D6}"/>
                </a:ext>
              </a:extLst>
            </p:cNvPr>
            <p:cNvSpPr txBox="1"/>
            <p:nvPr/>
          </p:nvSpPr>
          <p:spPr>
            <a:xfrm>
              <a:off x="491810" y="2916756"/>
              <a:ext cx="2268242" cy="2077492"/>
            </a:xfrm>
            <a:prstGeom prst="rect">
              <a:avLst/>
            </a:prstGeom>
            <a:noFill/>
          </p:spPr>
          <p:txBody>
            <a:bodyPr wrap="square" lIns="91440" tIns="0" rIns="0" bIns="0" rtlCol="0">
              <a:spAutoFit/>
            </a:bodyPr>
            <a:lstStyle/>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Monetization Strategy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products and Data Apps development</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ML, AI and Gen AI enablement for data products </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Nativ Apps for Marketplaces</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Sharing, Data Clean Room implementations</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Marketplace Enablement</a:t>
              </a:r>
            </a:p>
            <a:p>
              <a:pPr marL="171450" marR="0" lvl="0" indent="-171450" algn="l" defTabSz="914400" rtl="0" eaLnBrk="1" fontAlgn="auto" latinLnBrk="0" hangingPunct="1">
                <a:spcBef>
                  <a:spcPts val="600"/>
                </a:spcBef>
                <a:buClr>
                  <a:schemeClr val="accent1"/>
                </a:buClr>
                <a:buSzTx/>
                <a:buFont typeface="Arial" panose="020B0604020202020204" pitchFamily="34" charset="0"/>
                <a:buChar char="•"/>
                <a:tabLst/>
                <a:defRPr/>
              </a:pPr>
              <a:r>
                <a:rPr lang="en-US" sz="1050">
                  <a:ln w="0"/>
                  <a:solidFill>
                    <a:srgbClr val="000000"/>
                  </a:solidFill>
                  <a:latin typeface="Manrope"/>
                  <a:ea typeface="Helvetica Neue"/>
                  <a:cs typeface="Calibri" panose="020F0502020204030204" pitchFamily="34" charset="0"/>
                </a:rPr>
                <a:t>Data products Usage Analytics</a:t>
              </a:r>
            </a:p>
          </p:txBody>
        </p:sp>
      </p:grpSp>
      <p:grpSp>
        <p:nvGrpSpPr>
          <p:cNvPr id="27" name="Group 26">
            <a:extLst>
              <a:ext uri="{FF2B5EF4-FFF2-40B4-BE49-F238E27FC236}">
                <a16:creationId xmlns:a16="http://schemas.microsoft.com/office/drawing/2014/main" id="{C8B5807A-CD69-651E-62C8-7DF0FB99B7CB}"/>
              </a:ext>
            </a:extLst>
          </p:cNvPr>
          <p:cNvGrpSpPr/>
          <p:nvPr/>
        </p:nvGrpSpPr>
        <p:grpSpPr>
          <a:xfrm>
            <a:off x="8716905" y="2878943"/>
            <a:ext cx="2851209" cy="2893762"/>
            <a:chOff x="9036899" y="2430426"/>
            <a:chExt cx="2823201" cy="2893762"/>
          </a:xfrm>
        </p:grpSpPr>
        <p:sp>
          <p:nvSpPr>
            <p:cNvPr id="16" name="Rectangle: Rounded Corners 18">
              <a:extLst>
                <a:ext uri="{FF2B5EF4-FFF2-40B4-BE49-F238E27FC236}">
                  <a16:creationId xmlns:a16="http://schemas.microsoft.com/office/drawing/2014/main" id="{31972E55-C87F-5D17-D8F1-0CB62ED6B86E}"/>
                </a:ext>
              </a:extLst>
            </p:cNvPr>
            <p:cNvSpPr/>
            <p:nvPr/>
          </p:nvSpPr>
          <p:spPr>
            <a:xfrm>
              <a:off x="9036899" y="2785278"/>
              <a:ext cx="2823201" cy="2538910"/>
            </a:xfrm>
            <a:prstGeom prst="roundRect">
              <a:avLst>
                <a:gd name="adj" fmla="val 0"/>
              </a:avLst>
            </a:prstGeom>
            <a:solidFill>
              <a:srgbClr val="EEEFF4"/>
            </a:solidFill>
            <a:ln w="3175">
              <a:no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28" name="Rectangle: Rounded Corners 18">
              <a:extLst>
                <a:ext uri="{FF2B5EF4-FFF2-40B4-BE49-F238E27FC236}">
                  <a16:creationId xmlns:a16="http://schemas.microsoft.com/office/drawing/2014/main" id="{2E478439-87A7-4537-02BD-4C09CEAE01E3}"/>
                </a:ext>
              </a:extLst>
            </p:cNvPr>
            <p:cNvSpPr/>
            <p:nvPr/>
          </p:nvSpPr>
          <p:spPr>
            <a:xfrm>
              <a:off x="9036899" y="2430426"/>
              <a:ext cx="2823201" cy="356878"/>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Outcomes Delivered</a:t>
              </a:r>
            </a:p>
          </p:txBody>
        </p:sp>
      </p:grpSp>
      <p:grpSp>
        <p:nvGrpSpPr>
          <p:cNvPr id="25" name="Group 24">
            <a:extLst>
              <a:ext uri="{FF2B5EF4-FFF2-40B4-BE49-F238E27FC236}">
                <a16:creationId xmlns:a16="http://schemas.microsoft.com/office/drawing/2014/main" id="{ECA56CAE-C3FB-CBA2-7E83-7E7D6A3E0D82}"/>
              </a:ext>
            </a:extLst>
          </p:cNvPr>
          <p:cNvGrpSpPr/>
          <p:nvPr/>
        </p:nvGrpSpPr>
        <p:grpSpPr>
          <a:xfrm>
            <a:off x="3431255" y="2865874"/>
            <a:ext cx="5242363" cy="2906831"/>
            <a:chOff x="3381720" y="2430426"/>
            <a:chExt cx="2639669" cy="2906831"/>
          </a:xfrm>
        </p:grpSpPr>
        <p:sp>
          <p:nvSpPr>
            <p:cNvPr id="38" name="Rectangle: Rounded Corners 18">
              <a:extLst>
                <a:ext uri="{FF2B5EF4-FFF2-40B4-BE49-F238E27FC236}">
                  <a16:creationId xmlns:a16="http://schemas.microsoft.com/office/drawing/2014/main" id="{C86F91E4-6E66-43C0-24EB-F4AC14EB22C2}"/>
                </a:ext>
              </a:extLst>
            </p:cNvPr>
            <p:cNvSpPr/>
            <p:nvPr/>
          </p:nvSpPr>
          <p:spPr>
            <a:xfrm>
              <a:off x="3381720" y="2791025"/>
              <a:ext cx="2639669" cy="2546232"/>
            </a:xfrm>
            <a:prstGeom prst="roundRect">
              <a:avLst>
                <a:gd name="adj" fmla="val 0"/>
              </a:avLst>
            </a:prstGeom>
            <a:noFill/>
            <a:ln w="6350">
              <a:solidFill>
                <a:schemeClr val="accent5"/>
              </a:solidFill>
            </a:ln>
            <a:effectLst/>
          </p:spPr>
          <p:txBody>
            <a:bodyPr lIns="137160" tIns="91440" rIns="0" bIns="0" anchor="t"/>
            <a:lstStyle/>
            <a:p>
              <a:pPr marL="0" marR="0" lvl="0" indent="0" algn="l" defTabSz="914377"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a:noFill/>
                </a:ln>
                <a:solidFill>
                  <a:srgbClr val="0B5CAA">
                    <a:lumMod val="50000"/>
                  </a:srgbClr>
                </a:solidFill>
                <a:effectLst/>
                <a:uLnTx/>
                <a:uFillTx/>
                <a:latin typeface="Manrope"/>
                <a:ea typeface="Helvetica Neue"/>
                <a:cs typeface="Segoe UI Semibold" panose="020B0702040204020203" pitchFamily="34" charset="0"/>
              </a:endParaRPr>
            </a:p>
          </p:txBody>
        </p:sp>
        <p:sp>
          <p:nvSpPr>
            <p:cNvPr id="1027" name="Rectangle: Rounded Corners 18">
              <a:extLst>
                <a:ext uri="{FF2B5EF4-FFF2-40B4-BE49-F238E27FC236}">
                  <a16:creationId xmlns:a16="http://schemas.microsoft.com/office/drawing/2014/main" id="{97099D9D-AD54-87BB-53D5-E3B0F37BC7D3}"/>
                </a:ext>
              </a:extLst>
            </p:cNvPr>
            <p:cNvSpPr/>
            <p:nvPr/>
          </p:nvSpPr>
          <p:spPr>
            <a:xfrm>
              <a:off x="3381720" y="2430426"/>
              <a:ext cx="2639669" cy="346870"/>
            </a:xfrm>
            <a:prstGeom prst="roundRect">
              <a:avLst>
                <a:gd name="adj" fmla="val 0"/>
              </a:avLst>
            </a:prstGeom>
            <a:solidFill>
              <a:srgbClr val="08126E"/>
            </a:solidFill>
            <a:ln w="3175">
              <a:noFill/>
            </a:ln>
            <a:effectLst/>
          </p:spPr>
          <p:txBody>
            <a:bodyPr lIns="0" tIns="0" rIns="0" bIns="0" anchor="ctr" anchorCtr="0"/>
            <a:lstStyle/>
            <a:p>
              <a:pPr algn="ctr" defTabSz="914377">
                <a:spcBef>
                  <a:spcPct val="0"/>
                </a:spcBef>
                <a:defRPr/>
              </a:pPr>
              <a:r>
                <a:rPr kumimoji="0" lang="en-US" sz="1200" b="1" i="0" u="none" strike="noStrike" kern="1200" cap="none" spc="0" normalizeH="0" baseline="0" noProof="0">
                  <a:ln>
                    <a:noFill/>
                  </a:ln>
                  <a:solidFill>
                    <a:prstClr val="white"/>
                  </a:solidFill>
                  <a:effectLst/>
                  <a:uLnTx/>
                  <a:uFillTx/>
                  <a:latin typeface="Manrope"/>
                  <a:ea typeface="Helvetica Neue"/>
                  <a:cs typeface="Segoe UI Semibold" panose="020B0702040204020203" pitchFamily="34" charset="0"/>
                </a:rPr>
                <a:t>Key Customers</a:t>
              </a:r>
            </a:p>
          </p:txBody>
        </p:sp>
      </p:grpSp>
      <p:sp>
        <p:nvSpPr>
          <p:cNvPr id="12" name="TextBox 11">
            <a:extLst>
              <a:ext uri="{FF2B5EF4-FFF2-40B4-BE49-F238E27FC236}">
                <a16:creationId xmlns:a16="http://schemas.microsoft.com/office/drawing/2014/main" id="{B552DCB6-4A59-EA94-5546-804968894249}"/>
              </a:ext>
            </a:extLst>
          </p:cNvPr>
          <p:cNvSpPr txBox="1"/>
          <p:nvPr/>
        </p:nvSpPr>
        <p:spPr>
          <a:xfrm>
            <a:off x="3125488" y="1862684"/>
            <a:ext cx="1239620"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50%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Cost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Savings</a:t>
            </a:r>
          </a:p>
        </p:txBody>
      </p:sp>
      <p:sp>
        <p:nvSpPr>
          <p:cNvPr id="17" name="TextBox 16">
            <a:extLst>
              <a:ext uri="{FF2B5EF4-FFF2-40B4-BE49-F238E27FC236}">
                <a16:creationId xmlns:a16="http://schemas.microsoft.com/office/drawing/2014/main" id="{255338F4-DFE8-271B-4C5C-0D930C5DD32F}"/>
              </a:ext>
            </a:extLst>
          </p:cNvPr>
          <p:cNvSpPr txBox="1"/>
          <p:nvPr/>
        </p:nvSpPr>
        <p:spPr>
          <a:xfrm>
            <a:off x="686024" y="1862684"/>
            <a:ext cx="1918736" cy="800219"/>
          </a:xfrm>
          <a:prstGeom prst="rect">
            <a:avLst/>
          </a:prstGeom>
          <a:noFill/>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2400" i="0" u="none" strike="noStrike" kern="1200" cap="none" spc="-100" normalizeH="0" baseline="0" noProof="0">
                <a:ln>
                  <a:noFill/>
                </a:ln>
                <a:solidFill>
                  <a:srgbClr val="3C2CDA"/>
                </a:solidFill>
                <a:effectLst/>
                <a:uLnTx/>
                <a:uFillTx/>
                <a:latin typeface="Manrope"/>
              </a:rPr>
              <a:t>50%</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chemeClr val="tx2"/>
                </a:solidFill>
                <a:effectLst/>
                <a:uLnTx/>
                <a:uFillTx/>
                <a:latin typeface="Manrope"/>
              </a:rPr>
              <a:t>Increase in Revenue Generation</a:t>
            </a:r>
          </a:p>
        </p:txBody>
      </p:sp>
      <p:pic>
        <p:nvPicPr>
          <p:cNvPr id="23" name="Graphic 22" descr="Eye outline">
            <a:extLst>
              <a:ext uri="{FF2B5EF4-FFF2-40B4-BE49-F238E27FC236}">
                <a16:creationId xmlns:a16="http://schemas.microsoft.com/office/drawing/2014/main" id="{6818B42B-653F-9A70-7AEB-6D95059245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625" y="1030425"/>
            <a:ext cx="515918" cy="546088"/>
          </a:xfrm>
          <a:prstGeom prst="rect">
            <a:avLst/>
          </a:prstGeom>
        </p:spPr>
      </p:pic>
      <p:pic>
        <p:nvPicPr>
          <p:cNvPr id="3" name="Picture 2" descr="undefined">
            <a:extLst>
              <a:ext uri="{FF2B5EF4-FFF2-40B4-BE49-F238E27FC236}">
                <a16:creationId xmlns:a16="http://schemas.microsoft.com/office/drawing/2014/main" id="{2B8702AD-6027-11D2-DACD-1367585CE88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584428" y="3518804"/>
            <a:ext cx="1361136" cy="2367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C2FF5591-4E4C-6B11-EDA8-F3364CFC66EC}"/>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351894" y="3503985"/>
            <a:ext cx="971798" cy="3331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Asset Manager | State Street">
            <a:extLst>
              <a:ext uri="{FF2B5EF4-FFF2-40B4-BE49-F238E27FC236}">
                <a16:creationId xmlns:a16="http://schemas.microsoft.com/office/drawing/2014/main" id="{EC99009A-82FF-1849-8647-4D6888658E2D}"/>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229203" y="4117524"/>
            <a:ext cx="1217179" cy="33195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E4C0A96-1982-C8FF-2945-F935105377C5}"/>
              </a:ext>
            </a:extLst>
          </p:cNvPr>
          <p:cNvSpPr txBox="1"/>
          <p:nvPr/>
        </p:nvSpPr>
        <p:spPr>
          <a:xfrm>
            <a:off x="8669666" y="3321306"/>
            <a:ext cx="2668375" cy="1677382"/>
          </a:xfrm>
          <a:prstGeom prst="rect">
            <a:avLst/>
          </a:prstGeom>
          <a:noFill/>
        </p:spPr>
        <p:txBody>
          <a:bodyPr wrap="square" lIns="91440" tIns="0" rIns="0" bIns="0" rtlCol="0">
            <a:spAutoFit/>
          </a:bodyPr>
          <a:lstStyle>
            <a:defPPr>
              <a:defRPr lang="en-US"/>
            </a:defPPr>
            <a:lvl1pPr marL="171450" marR="0" lvl="0" indent="-171450" fontAlgn="auto">
              <a:spcBef>
                <a:spcPts val="600"/>
              </a:spcBef>
              <a:buClr>
                <a:schemeClr val="accent1"/>
              </a:buClr>
              <a:buSzTx/>
              <a:buFont typeface="Arial" panose="020B0604020202020204" pitchFamily="34" charset="0"/>
              <a:buChar char="•"/>
              <a:tabLst/>
              <a:defRPr sz="1050">
                <a:ln w="0"/>
                <a:solidFill>
                  <a:srgbClr val="000000"/>
                </a:solidFill>
                <a:latin typeface="Manrope"/>
                <a:ea typeface="Helvetica Neue"/>
                <a:cs typeface="Calibri" panose="020F0502020204030204" pitchFamily="34" charset="0"/>
              </a:defRPr>
            </a:lvl1pPr>
          </a:lstStyle>
          <a:p>
            <a:r>
              <a:rPr lang="en-US"/>
              <a:t>Achieved 1M Savings by building a corporate data exchange platform </a:t>
            </a:r>
          </a:p>
          <a:p>
            <a:r>
              <a:rPr lang="en-US" err="1"/>
              <a:t>Labour</a:t>
            </a:r>
            <a:r>
              <a:rPr lang="en-US"/>
              <a:t> costs reduced by 50 percent </a:t>
            </a:r>
          </a:p>
          <a:p>
            <a:r>
              <a:rPr lang="en-US"/>
              <a:t>80 percent reduction in false data error alerts</a:t>
            </a:r>
          </a:p>
          <a:p>
            <a:endParaRPr lang="en-US"/>
          </a:p>
          <a:p>
            <a:endParaRPr lang="en-US"/>
          </a:p>
          <a:p>
            <a:endParaRPr lang="en-US"/>
          </a:p>
        </p:txBody>
      </p:sp>
      <p:pic>
        <p:nvPicPr>
          <p:cNvPr id="11" name="Picture 10">
            <a:extLst>
              <a:ext uri="{FF2B5EF4-FFF2-40B4-BE49-F238E27FC236}">
                <a16:creationId xmlns:a16="http://schemas.microsoft.com/office/drawing/2014/main" id="{AA678E13-107F-FEFF-E76B-B7F14EB0F65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986327" y="3441979"/>
            <a:ext cx="905043" cy="377102"/>
          </a:xfrm>
          <a:prstGeom prst="rect">
            <a:avLst/>
          </a:prstGeom>
        </p:spPr>
      </p:pic>
    </p:spTree>
    <p:extLst>
      <p:ext uri="{BB962C8B-B14F-4D97-AF65-F5344CB8AC3E}">
        <p14:creationId xmlns:p14="http://schemas.microsoft.com/office/powerpoint/2010/main" val="1210793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B8D4-D86C-127C-2D15-1B747335A79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C26BC90-9D9B-9D89-5219-03F5966A6B0A}"/>
              </a:ext>
            </a:extLst>
          </p:cNvPr>
          <p:cNvSpPr>
            <a:spLocks noGrp="1"/>
          </p:cNvSpPr>
          <p:nvPr>
            <p:ph type="body" sz="quarter" idx="15"/>
          </p:nvPr>
        </p:nvSpPr>
        <p:spPr>
          <a:xfrm flipH="1">
            <a:off x="623888" y="457200"/>
            <a:ext cx="8172450" cy="244475"/>
          </a:xfrm>
        </p:spPr>
        <p:txBody>
          <a:bodyPr/>
          <a:lstStyle/>
          <a:p>
            <a:r>
              <a:rPr lang="en-US">
                <a:latin typeface="Manrope" pitchFamily="2" charset="0"/>
              </a:rPr>
              <a:t>Key Success Stories – Data Products and Monetization</a:t>
            </a:r>
            <a:endParaRPr lang="en-US" noProof="0">
              <a:latin typeface="Manrope" pitchFamily="2" charset="0"/>
            </a:endParaRPr>
          </a:p>
        </p:txBody>
      </p:sp>
      <p:grpSp>
        <p:nvGrpSpPr>
          <p:cNvPr id="6" name="Group 5">
            <a:extLst>
              <a:ext uri="{FF2B5EF4-FFF2-40B4-BE49-F238E27FC236}">
                <a16:creationId xmlns:a16="http://schemas.microsoft.com/office/drawing/2014/main" id="{09526818-7B7D-7E50-A0DD-C0E7EC13A5B1}"/>
              </a:ext>
            </a:extLst>
          </p:cNvPr>
          <p:cNvGrpSpPr/>
          <p:nvPr/>
        </p:nvGrpSpPr>
        <p:grpSpPr>
          <a:xfrm>
            <a:off x="597652" y="901734"/>
            <a:ext cx="10970461" cy="3670266"/>
            <a:chOff x="597652" y="901734"/>
            <a:chExt cx="9612859" cy="3670266"/>
          </a:xfrm>
        </p:grpSpPr>
        <p:sp>
          <p:nvSpPr>
            <p:cNvPr id="4" name="Rounded Rectangle 29">
              <a:extLst>
                <a:ext uri="{FF2B5EF4-FFF2-40B4-BE49-F238E27FC236}">
                  <a16:creationId xmlns:a16="http://schemas.microsoft.com/office/drawing/2014/main" id="{EEE12114-4C2A-C580-4E36-0BA75C4D5D41}"/>
                </a:ext>
              </a:extLst>
            </p:cNvPr>
            <p:cNvSpPr/>
            <p:nvPr/>
          </p:nvSpPr>
          <p:spPr>
            <a:xfrm>
              <a:off x="623887" y="908050"/>
              <a:ext cx="3118318" cy="873968"/>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4000" rtlCol="0" anchor="ctr"/>
            <a:lstStyle/>
            <a:p>
              <a:pPr defTabSz="231775">
                <a:defRPr/>
              </a:pPr>
              <a:endParaRPr lang="en-US" sz="1400" b="1" kern="0">
                <a:solidFill>
                  <a:schemeClr val="bg1"/>
                </a:solidFill>
                <a:latin typeface="Manrope" pitchFamily="2" charset="0"/>
                <a:ea typeface="ＭＳ Ｐゴシック"/>
              </a:endParaRPr>
            </a:p>
          </p:txBody>
        </p:sp>
        <p:sp>
          <p:nvSpPr>
            <p:cNvPr id="5" name="TextBox 4">
              <a:extLst>
                <a:ext uri="{FF2B5EF4-FFF2-40B4-BE49-F238E27FC236}">
                  <a16:creationId xmlns:a16="http://schemas.microsoft.com/office/drawing/2014/main" id="{6FE67B40-383A-B34C-B188-14DC233B8AEB}"/>
                </a:ext>
              </a:extLst>
            </p:cNvPr>
            <p:cNvSpPr txBox="1"/>
            <p:nvPr/>
          </p:nvSpPr>
          <p:spPr>
            <a:xfrm>
              <a:off x="597652" y="1782018"/>
              <a:ext cx="3118318" cy="2789982"/>
            </a:xfrm>
            <a:prstGeom prst="rect">
              <a:avLst/>
            </a:prstGeom>
            <a:solidFill>
              <a:schemeClr val="accent1">
                <a:lumMod val="20000"/>
                <a:lumOff val="80000"/>
                <a:alpha val="25000"/>
              </a:schemeClr>
            </a:solidFill>
            <a:ln w="25400" cap="flat" cmpd="sng" algn="ctr">
              <a:noFill/>
              <a:prstDash val="solid"/>
            </a:ln>
            <a:effectLst/>
          </p:spPr>
          <p:txBody>
            <a:bodyPr lIns="144000" tIns="274320" rIns="45720" rtlCol="0" anchor="t"/>
            <a:lstStyle>
              <a:defPPr>
                <a:defRPr lang="en-US"/>
              </a:defPPr>
              <a:lvl1pPr marL="174625" indent="-174625">
                <a:spcBef>
                  <a:spcPts val="300"/>
                </a:spcBef>
                <a:spcAft>
                  <a:spcPts val="300"/>
                </a:spcAft>
                <a:buFont typeface="Arial" panose="020B0604020202020204" pitchFamily="34" charset="0"/>
                <a:buChar char="•"/>
                <a:defRPr sz="1400" kern="0">
                  <a:solidFill>
                    <a:srgbClr val="4D4D4D"/>
                  </a:solidFill>
                  <a:latin typeface="Arial"/>
                  <a:ea typeface="ＭＳ Ｐゴシック"/>
                </a:defRPr>
              </a:lvl1pPr>
            </a:lstStyle>
            <a:p>
              <a:pPr>
                <a:buClr>
                  <a:schemeClr val="accent1"/>
                </a:buClr>
              </a:pPr>
              <a:r>
                <a:rPr lang="en-US" sz="1100">
                  <a:latin typeface="Manrope" pitchFamily="2" charset="0"/>
                </a:rPr>
                <a:t>Internal Data Exchange for Corporate Data Products.</a:t>
              </a:r>
            </a:p>
            <a:p>
              <a:pPr>
                <a:buClr>
                  <a:schemeClr val="accent1"/>
                </a:buClr>
              </a:pPr>
              <a:r>
                <a:rPr lang="en-US" sz="1100">
                  <a:latin typeface="Manrope" pitchFamily="2" charset="0"/>
                </a:rPr>
                <a:t>Data products covering datasets and data products from Finance, HR, IT Support etc.</a:t>
              </a:r>
            </a:p>
            <a:p>
              <a:pPr>
                <a:buClr>
                  <a:schemeClr val="accent1"/>
                </a:buClr>
              </a:pPr>
              <a:r>
                <a:rPr lang="en-US" sz="1100">
                  <a:latin typeface="Manrope" pitchFamily="2" charset="0"/>
                </a:rPr>
                <a:t>Built and delivered data engineering services for building and supporting the data products.</a:t>
              </a:r>
            </a:p>
            <a:p>
              <a:pPr>
                <a:buClr>
                  <a:schemeClr val="accent1"/>
                </a:buClr>
              </a:pPr>
              <a:r>
                <a:rPr lang="en-US" sz="1100" b="1">
                  <a:latin typeface="Manrope" pitchFamily="2" charset="0"/>
                </a:rPr>
                <a:t>Ability to sunset legacy data providing platforms resulting in savings more than 1M GBP per year.</a:t>
              </a:r>
            </a:p>
            <a:p>
              <a:pPr>
                <a:buClr>
                  <a:schemeClr val="accent1"/>
                </a:buClr>
              </a:pPr>
              <a:endParaRPr lang="en-US" sz="1100">
                <a:latin typeface="Manrope" pitchFamily="2" charset="0"/>
              </a:endParaRPr>
            </a:p>
          </p:txBody>
        </p:sp>
        <p:sp>
          <p:nvSpPr>
            <p:cNvPr id="20" name="TextBox 19">
              <a:extLst>
                <a:ext uri="{FF2B5EF4-FFF2-40B4-BE49-F238E27FC236}">
                  <a16:creationId xmlns:a16="http://schemas.microsoft.com/office/drawing/2014/main" id="{DA920AEF-F072-652F-37D7-903C441A28D4}"/>
                </a:ext>
              </a:extLst>
            </p:cNvPr>
            <p:cNvSpPr txBox="1"/>
            <p:nvPr/>
          </p:nvSpPr>
          <p:spPr>
            <a:xfrm>
              <a:off x="1046557" y="1191146"/>
              <a:ext cx="2994153" cy="307777"/>
            </a:xfrm>
            <a:prstGeom prst="rect">
              <a:avLst/>
            </a:prstGeom>
            <a:noFill/>
          </p:spPr>
          <p:txBody>
            <a:bodyPr wrap="square">
              <a:spAutoFit/>
            </a:bodyPr>
            <a:lstStyle/>
            <a:p>
              <a:pPr defTabSz="231775">
                <a:defRPr/>
              </a:pPr>
              <a:r>
                <a:rPr lang="en-US" sz="1400" b="1" kern="0">
                  <a:solidFill>
                    <a:schemeClr val="bg1"/>
                  </a:solidFill>
                  <a:latin typeface="Manrope" pitchFamily="2" charset="0"/>
                  <a:ea typeface="ＭＳ Ｐゴシック"/>
                </a:rPr>
                <a:t>Corporate Data Exchange </a:t>
              </a:r>
            </a:p>
          </p:txBody>
        </p:sp>
        <p:sp>
          <p:nvSpPr>
            <p:cNvPr id="23" name="Rounded Rectangle 29">
              <a:extLst>
                <a:ext uri="{FF2B5EF4-FFF2-40B4-BE49-F238E27FC236}">
                  <a16:creationId xmlns:a16="http://schemas.microsoft.com/office/drawing/2014/main" id="{13BBC0F0-0C5D-2CB8-95E7-FCA2AD7DBE36}"/>
                </a:ext>
              </a:extLst>
            </p:cNvPr>
            <p:cNvSpPr/>
            <p:nvPr/>
          </p:nvSpPr>
          <p:spPr>
            <a:xfrm>
              <a:off x="3929703" y="908050"/>
              <a:ext cx="3118317" cy="873968"/>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4000" rtlCol="0" anchor="ctr"/>
            <a:lstStyle/>
            <a:p>
              <a:pPr defTabSz="231775">
                <a:defRPr/>
              </a:pPr>
              <a:endParaRPr lang="en-US" sz="1400" b="1" kern="0">
                <a:solidFill>
                  <a:schemeClr val="bg1"/>
                </a:solidFill>
                <a:latin typeface="Manrope" pitchFamily="2" charset="0"/>
                <a:ea typeface="ＭＳ Ｐゴシック"/>
              </a:endParaRPr>
            </a:p>
          </p:txBody>
        </p:sp>
        <p:sp>
          <p:nvSpPr>
            <p:cNvPr id="22" name="TextBox 21">
              <a:extLst>
                <a:ext uri="{FF2B5EF4-FFF2-40B4-BE49-F238E27FC236}">
                  <a16:creationId xmlns:a16="http://schemas.microsoft.com/office/drawing/2014/main" id="{B05D9E79-5C4C-5D16-A9C8-6265BEFCAC71}"/>
                </a:ext>
              </a:extLst>
            </p:cNvPr>
            <p:cNvSpPr txBox="1"/>
            <p:nvPr/>
          </p:nvSpPr>
          <p:spPr>
            <a:xfrm>
              <a:off x="4125150" y="1083424"/>
              <a:ext cx="2696071" cy="523220"/>
            </a:xfrm>
            <a:prstGeom prst="rect">
              <a:avLst/>
            </a:prstGeom>
            <a:noFill/>
          </p:spPr>
          <p:txBody>
            <a:bodyPr wrap="square">
              <a:spAutoFit/>
            </a:bodyPr>
            <a:lstStyle>
              <a:defPPr>
                <a:defRPr lang="en-US"/>
              </a:defPPr>
              <a:lvl1pPr defTabSz="231775">
                <a:defRPr sz="1400" b="1" kern="0">
                  <a:solidFill>
                    <a:schemeClr val="bg1"/>
                  </a:solidFill>
                  <a:latin typeface="Lato" panose="020F0502020204030203" pitchFamily="34" charset="77"/>
                  <a:ea typeface="ＭＳ Ｐゴシック"/>
                </a:defRPr>
              </a:lvl1pPr>
            </a:lstStyle>
            <a:p>
              <a:pPr algn="ctr"/>
              <a:r>
                <a:rPr lang="en-US">
                  <a:latin typeface="Manrope" pitchFamily="2" charset="0"/>
                </a:rPr>
                <a:t>Human Data Science Cloud for Life Sciences</a:t>
              </a:r>
            </a:p>
          </p:txBody>
        </p:sp>
        <p:sp>
          <p:nvSpPr>
            <p:cNvPr id="24" name="Rounded Rectangle 29">
              <a:extLst>
                <a:ext uri="{FF2B5EF4-FFF2-40B4-BE49-F238E27FC236}">
                  <a16:creationId xmlns:a16="http://schemas.microsoft.com/office/drawing/2014/main" id="{15E59999-8D3B-E24B-8E3B-CD4FD8AAB1E1}"/>
                </a:ext>
              </a:extLst>
            </p:cNvPr>
            <p:cNvSpPr/>
            <p:nvPr/>
          </p:nvSpPr>
          <p:spPr>
            <a:xfrm>
              <a:off x="7261753" y="901734"/>
              <a:ext cx="2948758" cy="873968"/>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4000" rtlCol="0" anchor="ctr"/>
            <a:lstStyle/>
            <a:p>
              <a:pPr defTabSz="231775">
                <a:defRPr/>
              </a:pPr>
              <a:endParaRPr lang="en-US" sz="1400" b="1" kern="0">
                <a:solidFill>
                  <a:schemeClr val="bg1"/>
                </a:solidFill>
                <a:latin typeface="Manrope" pitchFamily="2" charset="0"/>
                <a:ea typeface="ＭＳ Ｐゴシック"/>
              </a:endParaRPr>
            </a:p>
          </p:txBody>
        </p:sp>
        <p:sp>
          <p:nvSpPr>
            <p:cNvPr id="25" name="TextBox 24">
              <a:extLst>
                <a:ext uri="{FF2B5EF4-FFF2-40B4-BE49-F238E27FC236}">
                  <a16:creationId xmlns:a16="http://schemas.microsoft.com/office/drawing/2014/main" id="{DC35CE1E-BC73-DE70-6800-EEF096AA32B4}"/>
                </a:ext>
              </a:extLst>
            </p:cNvPr>
            <p:cNvSpPr txBox="1"/>
            <p:nvPr/>
          </p:nvSpPr>
          <p:spPr>
            <a:xfrm>
              <a:off x="7346192" y="1083424"/>
              <a:ext cx="2779879" cy="523220"/>
            </a:xfrm>
            <a:prstGeom prst="rect">
              <a:avLst/>
            </a:prstGeom>
            <a:noFill/>
          </p:spPr>
          <p:txBody>
            <a:bodyPr wrap="square">
              <a:spAutoFit/>
            </a:bodyPr>
            <a:lstStyle>
              <a:defPPr>
                <a:defRPr lang="en-US"/>
              </a:defPPr>
              <a:lvl1pPr defTabSz="231775">
                <a:defRPr sz="1400" b="1" kern="0">
                  <a:solidFill>
                    <a:schemeClr val="bg1"/>
                  </a:solidFill>
                  <a:latin typeface="Lato" panose="020F0502020204030203" pitchFamily="34" charset="77"/>
                  <a:ea typeface="ＭＳ Ｐゴシック"/>
                </a:defRPr>
              </a:lvl1pPr>
            </a:lstStyle>
            <a:p>
              <a:pPr algn="ctr"/>
              <a:r>
                <a:rPr lang="en-US">
                  <a:latin typeface="Manrope" pitchFamily="2" charset="0"/>
                </a:rPr>
                <a:t>Engineering and Data Onboarding for Alpha Services</a:t>
              </a:r>
            </a:p>
          </p:txBody>
        </p:sp>
        <p:sp>
          <p:nvSpPr>
            <p:cNvPr id="26" name="TextBox 25">
              <a:extLst>
                <a:ext uri="{FF2B5EF4-FFF2-40B4-BE49-F238E27FC236}">
                  <a16:creationId xmlns:a16="http://schemas.microsoft.com/office/drawing/2014/main" id="{D3B8E4D9-A07B-9677-AC77-4F4626B2FA21}"/>
                </a:ext>
              </a:extLst>
            </p:cNvPr>
            <p:cNvSpPr txBox="1"/>
            <p:nvPr/>
          </p:nvSpPr>
          <p:spPr>
            <a:xfrm>
              <a:off x="3929703" y="1782017"/>
              <a:ext cx="3118317" cy="2789981"/>
            </a:xfrm>
            <a:prstGeom prst="rect">
              <a:avLst/>
            </a:prstGeom>
            <a:solidFill>
              <a:schemeClr val="accent1">
                <a:lumMod val="20000"/>
                <a:lumOff val="80000"/>
                <a:alpha val="25000"/>
              </a:schemeClr>
            </a:solidFill>
            <a:ln w="25400" cap="flat" cmpd="sng" algn="ctr">
              <a:noFill/>
              <a:prstDash val="solid"/>
            </a:ln>
            <a:effectLst/>
          </p:spPr>
          <p:txBody>
            <a:bodyPr lIns="144000" tIns="274320" rIns="45720" rtlCol="0" anchor="t"/>
            <a:lstStyle>
              <a:defPPr>
                <a:defRPr lang="en-US"/>
              </a:defPPr>
              <a:lvl1pPr marL="174625" indent="-174625">
                <a:spcBef>
                  <a:spcPts val="300"/>
                </a:spcBef>
                <a:spcAft>
                  <a:spcPts val="300"/>
                </a:spcAft>
                <a:buFont typeface="Arial" panose="020B0604020202020204" pitchFamily="34" charset="0"/>
                <a:buChar char="•"/>
                <a:defRPr sz="1400" kern="0">
                  <a:solidFill>
                    <a:srgbClr val="4D4D4D"/>
                  </a:solidFill>
                  <a:latin typeface="Arial"/>
                  <a:ea typeface="ＭＳ Ｐゴシック"/>
                </a:defRPr>
              </a:lvl1pPr>
            </a:lstStyle>
            <a:p>
              <a:pPr>
                <a:buClr>
                  <a:schemeClr val="accent1"/>
                </a:buClr>
              </a:pPr>
              <a:r>
                <a:rPr lang="en-US" sz="1100">
                  <a:latin typeface="Manrope" pitchFamily="2" charset="0"/>
                </a:rPr>
                <a:t>Migrated legacy healthcare data systems to Snowflake and IQVIA Cloud</a:t>
              </a:r>
            </a:p>
            <a:p>
              <a:pPr>
                <a:buClr>
                  <a:schemeClr val="accent1"/>
                </a:buClr>
              </a:pPr>
              <a:r>
                <a:rPr lang="en-US" sz="1100">
                  <a:latin typeface="Manrope" pitchFamily="2" charset="0"/>
                </a:rPr>
                <a:t>The loaded data set is shared from Snowflake to customers through the Snowflake client share</a:t>
              </a:r>
            </a:p>
            <a:p>
              <a:pPr>
                <a:buClr>
                  <a:schemeClr val="accent1"/>
                </a:buClr>
              </a:pPr>
              <a:r>
                <a:rPr lang="en-US" sz="1100">
                  <a:latin typeface="Manrope" pitchFamily="2" charset="0"/>
                </a:rPr>
                <a:t>Enabled Data-as-a-Service (DaaS) to those customers using Snowflake</a:t>
              </a:r>
            </a:p>
            <a:p>
              <a:pPr>
                <a:buClr>
                  <a:schemeClr val="accent1"/>
                </a:buClr>
              </a:pPr>
              <a:r>
                <a:rPr lang="en-US" sz="1100" b="1">
                  <a:latin typeface="Manrope" pitchFamily="2" charset="0"/>
                </a:rPr>
                <a:t>Our work resulted in 30 % increase in revenue Generation</a:t>
              </a:r>
            </a:p>
            <a:p>
              <a:pPr>
                <a:buClr>
                  <a:schemeClr val="accent1"/>
                </a:buClr>
              </a:pPr>
              <a:endParaRPr lang="en-US" sz="1100">
                <a:latin typeface="Manrope" pitchFamily="2" charset="0"/>
              </a:endParaRPr>
            </a:p>
          </p:txBody>
        </p:sp>
        <p:sp>
          <p:nvSpPr>
            <p:cNvPr id="27" name="TextBox 26">
              <a:extLst>
                <a:ext uri="{FF2B5EF4-FFF2-40B4-BE49-F238E27FC236}">
                  <a16:creationId xmlns:a16="http://schemas.microsoft.com/office/drawing/2014/main" id="{BB903768-546F-8BEA-FF48-446C1E79A5C7}"/>
                </a:ext>
              </a:extLst>
            </p:cNvPr>
            <p:cNvSpPr txBox="1"/>
            <p:nvPr/>
          </p:nvSpPr>
          <p:spPr>
            <a:xfrm>
              <a:off x="7261753" y="1775702"/>
              <a:ext cx="2948758" cy="2789980"/>
            </a:xfrm>
            <a:prstGeom prst="rect">
              <a:avLst/>
            </a:prstGeom>
            <a:solidFill>
              <a:schemeClr val="accent1">
                <a:lumMod val="20000"/>
                <a:lumOff val="80000"/>
                <a:alpha val="25000"/>
              </a:schemeClr>
            </a:solidFill>
            <a:ln w="25400" cap="flat" cmpd="sng" algn="ctr">
              <a:noFill/>
              <a:prstDash val="solid"/>
            </a:ln>
            <a:effectLst/>
          </p:spPr>
          <p:txBody>
            <a:bodyPr lIns="144000" tIns="274320" rIns="45720" rtlCol="0" anchor="t"/>
            <a:lstStyle>
              <a:defPPr>
                <a:defRPr lang="en-US"/>
              </a:defPPr>
              <a:lvl1pPr marL="174625" indent="-174625">
                <a:spcBef>
                  <a:spcPts val="300"/>
                </a:spcBef>
                <a:spcAft>
                  <a:spcPts val="300"/>
                </a:spcAft>
                <a:buFont typeface="Arial" panose="020B0604020202020204" pitchFamily="34" charset="0"/>
                <a:buChar char="•"/>
                <a:defRPr sz="1400" kern="0">
                  <a:solidFill>
                    <a:srgbClr val="4D4D4D"/>
                  </a:solidFill>
                  <a:latin typeface="Arial"/>
                  <a:ea typeface="ＭＳ Ｐゴシック"/>
                </a:defRPr>
              </a:lvl1pPr>
            </a:lstStyle>
            <a:p>
              <a:pPr>
                <a:buClr>
                  <a:schemeClr val="accent1"/>
                </a:buClr>
              </a:pPr>
              <a:r>
                <a:rPr lang="en-US" sz="1100">
                  <a:latin typeface="Manrope" pitchFamily="2" charset="0"/>
                </a:rPr>
                <a:t>Augmented customer’s engineering team to build frameworks and tools on Alpha Data Platform (ADP)</a:t>
              </a:r>
            </a:p>
            <a:p>
              <a:pPr>
                <a:buClr>
                  <a:schemeClr val="accent1"/>
                </a:buClr>
              </a:pPr>
              <a:r>
                <a:rPr lang="en-US" sz="1100">
                  <a:latin typeface="Manrope" pitchFamily="2" charset="0"/>
                </a:rPr>
                <a:t>Enhanced Alpha Data Platform Onboarding Services on Snowflake through our Automation tools</a:t>
              </a:r>
            </a:p>
            <a:p>
              <a:pPr>
                <a:buClr>
                  <a:schemeClr val="accent1"/>
                </a:buClr>
              </a:pPr>
              <a:r>
                <a:rPr lang="en-US" sz="1100" b="1">
                  <a:latin typeface="Manrope" pitchFamily="2" charset="0"/>
                </a:rPr>
                <a:t>Implementation savings achieved by more than 50%</a:t>
              </a:r>
            </a:p>
            <a:p>
              <a:pPr>
                <a:buClr>
                  <a:schemeClr val="accent1"/>
                </a:buClr>
              </a:pPr>
              <a:r>
                <a:rPr lang="en-US" sz="1100" b="1">
                  <a:latin typeface="Manrope" pitchFamily="2" charset="0"/>
                </a:rPr>
                <a:t>80% reduction of false data errors alert</a:t>
              </a:r>
            </a:p>
            <a:p>
              <a:pPr>
                <a:buClr>
                  <a:schemeClr val="accent1"/>
                </a:buClr>
              </a:pPr>
              <a:endParaRPr lang="en-US" sz="1100">
                <a:latin typeface="Manrope" pitchFamily="2" charset="0"/>
              </a:endParaRPr>
            </a:p>
          </p:txBody>
        </p:sp>
      </p:grpSp>
      <p:pic>
        <p:nvPicPr>
          <p:cNvPr id="7" name="Picture 6" descr="A blurry image of a blue and orange wave&#10;&#10;AI-generated content may be incorrect.">
            <a:extLst>
              <a:ext uri="{FF2B5EF4-FFF2-40B4-BE49-F238E27FC236}">
                <a16:creationId xmlns:a16="http://schemas.microsoft.com/office/drawing/2014/main" id="{873D0B94-E230-C461-C010-015BE5F395D5}"/>
              </a:ext>
            </a:extLst>
          </p:cNvPr>
          <p:cNvPicPr>
            <a:picLocks noChangeAspect="1"/>
          </p:cNvPicPr>
          <p:nvPr/>
        </p:nvPicPr>
        <p:blipFill>
          <a:blip r:embed="rId3" cstate="email">
            <a:extLst>
              <a:ext uri="{28A0092B-C50C-407E-A947-70E740481C1C}">
                <a14:useLocalDpi xmlns:a14="http://schemas.microsoft.com/office/drawing/2010/main"/>
              </a:ext>
            </a:extLst>
          </a:blip>
          <a:srcRect l="-110"/>
          <a:stretch/>
        </p:blipFill>
        <p:spPr>
          <a:xfrm>
            <a:off x="619980" y="5134851"/>
            <a:ext cx="10962336" cy="1248723"/>
          </a:xfrm>
          <a:prstGeom prst="rect">
            <a:avLst/>
          </a:prstGeom>
        </p:spPr>
      </p:pic>
      <p:pic>
        <p:nvPicPr>
          <p:cNvPr id="3" name="Picture 2" descr="undefined">
            <a:extLst>
              <a:ext uri="{FF2B5EF4-FFF2-40B4-BE49-F238E27FC236}">
                <a16:creationId xmlns:a16="http://schemas.microsoft.com/office/drawing/2014/main" id="{9BC93DE1-31CD-F7F2-DE2D-0AF5FE084695}"/>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499068" y="4027207"/>
            <a:ext cx="1361136" cy="23678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29CE97E-39D8-8CF2-6EB5-CF240AC1DA18}"/>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198195" y="3957123"/>
            <a:ext cx="1374630" cy="37694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9111A4B-5FE0-50F9-5449-30165A3D95C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34391" y="3997006"/>
            <a:ext cx="945111" cy="393797"/>
          </a:xfrm>
          <a:prstGeom prst="rect">
            <a:avLst/>
          </a:prstGeom>
        </p:spPr>
      </p:pic>
    </p:spTree>
    <p:extLst>
      <p:ext uri="{BB962C8B-B14F-4D97-AF65-F5344CB8AC3E}">
        <p14:creationId xmlns:p14="http://schemas.microsoft.com/office/powerpoint/2010/main" val="1770042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13330-8E5D-700D-A96F-D8E93E211C95}"/>
            </a:ext>
          </a:extLst>
        </p:cNvPr>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3F1B22B0-C5BF-44D4-478F-9075D8C90E7C}"/>
              </a:ext>
            </a:extLst>
          </p:cNvPr>
          <p:cNvPicPr>
            <a:picLocks noGrp="1" noChangeAspect="1"/>
          </p:cNvPicPr>
          <p:nvPr>
            <p:ph type="pic" sz="quarter" idx="16"/>
          </p:nvPr>
        </p:nvPicPr>
        <p:blipFill>
          <a:blip r:embed="rId2" cstate="email">
            <a:extLst>
              <a:ext uri="{28A0092B-C50C-407E-A947-70E740481C1C}">
                <a14:useLocalDpi xmlns:a14="http://schemas.microsoft.com/office/drawing/2010/main"/>
              </a:ext>
            </a:extLst>
          </a:blip>
          <a:srcRect/>
          <a:stretch/>
        </p:blipFill>
        <p:spPr>
          <a:xfrm>
            <a:off x="0" y="0"/>
            <a:ext cx="12192000" cy="6858000"/>
          </a:xfrm>
        </p:spPr>
      </p:pic>
      <p:sp>
        <p:nvSpPr>
          <p:cNvPr id="8" name="Title 7">
            <a:extLst>
              <a:ext uri="{FF2B5EF4-FFF2-40B4-BE49-F238E27FC236}">
                <a16:creationId xmlns:a16="http://schemas.microsoft.com/office/drawing/2014/main" id="{EDBED7BD-C3EC-47DD-93B2-D1FA582F41D9}"/>
              </a:ext>
            </a:extLst>
          </p:cNvPr>
          <p:cNvSpPr>
            <a:spLocks noGrp="1"/>
          </p:cNvSpPr>
          <p:nvPr>
            <p:ph type="title"/>
          </p:nvPr>
        </p:nvSpPr>
        <p:spPr>
          <a:xfrm>
            <a:off x="623888" y="2843834"/>
            <a:ext cx="8180649" cy="1477328"/>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4800">
                <a:solidFill>
                  <a:srgbClr val="FFFFFF"/>
                </a:solidFill>
                <a:latin typeface="Manrope Light"/>
                <a:ea typeface="Lato" panose="020F0502020204030203" pitchFamily="34" charset="0"/>
                <a:cs typeface="Lato" panose="020F0502020204030203" pitchFamily="34" charset="0"/>
                <a:sym typeface="Arial"/>
              </a:rPr>
              <a:t>Industry Offerings, Platforms, Accelerators</a:t>
            </a:r>
          </a:p>
        </p:txBody>
      </p:sp>
    </p:spTree>
    <p:extLst>
      <p:ext uri="{BB962C8B-B14F-4D97-AF65-F5344CB8AC3E}">
        <p14:creationId xmlns:p14="http://schemas.microsoft.com/office/powerpoint/2010/main" val="1167203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1A6003F0-6B15-3CFC-A01C-300943B4E856}"/>
              </a:ext>
            </a:extLst>
          </p:cNvPr>
          <p:cNvSpPr>
            <a:spLocks noGrp="1"/>
          </p:cNvSpPr>
          <p:nvPr>
            <p:ph type="body" sz="quarter" idx="18"/>
          </p:nvPr>
        </p:nvSpPr>
        <p:spPr>
          <a:xfrm>
            <a:off x="623888" y="5190452"/>
            <a:ext cx="1235075" cy="428625"/>
          </a:xfrm>
        </p:spPr>
        <p:txBody>
          <a:bodyPr>
            <a:normAutofit/>
          </a:bodyPr>
          <a:lstStyle/>
          <a:p>
            <a:r>
              <a:rPr lang="en-US" noProof="0">
                <a:solidFill>
                  <a:schemeClr val="tx1"/>
                </a:solidFill>
                <a:latin typeface="Manrope" pitchFamily="2" charset="0"/>
              </a:rPr>
              <a:t>Retail banking and payments reports</a:t>
            </a:r>
          </a:p>
        </p:txBody>
      </p:sp>
      <p:sp>
        <p:nvSpPr>
          <p:cNvPr id="24" name="Text Placeholder 23">
            <a:extLst>
              <a:ext uri="{FF2B5EF4-FFF2-40B4-BE49-F238E27FC236}">
                <a16:creationId xmlns:a16="http://schemas.microsoft.com/office/drawing/2014/main" id="{1938EB97-C38F-98D4-7725-8152CA7479BF}"/>
              </a:ext>
            </a:extLst>
          </p:cNvPr>
          <p:cNvSpPr>
            <a:spLocks noGrp="1"/>
          </p:cNvSpPr>
          <p:nvPr>
            <p:ph type="body" sz="quarter" idx="19"/>
          </p:nvPr>
        </p:nvSpPr>
        <p:spPr>
          <a:xfrm>
            <a:off x="623888" y="4752302"/>
            <a:ext cx="1235075" cy="415925"/>
          </a:xfrm>
        </p:spPr>
        <p:txBody>
          <a:bodyPr/>
          <a:lstStyle/>
          <a:p>
            <a:pPr lvl="0"/>
            <a:r>
              <a:rPr lang="en-US" noProof="0">
                <a:latin typeface="Manrope" pitchFamily="2" charset="0"/>
              </a:rPr>
              <a:t>250+</a:t>
            </a:r>
          </a:p>
        </p:txBody>
      </p:sp>
      <p:sp>
        <p:nvSpPr>
          <p:cNvPr id="38" name="Picture Placeholder 37">
            <a:extLst>
              <a:ext uri="{FF2B5EF4-FFF2-40B4-BE49-F238E27FC236}">
                <a16:creationId xmlns:a16="http://schemas.microsoft.com/office/drawing/2014/main" id="{54913372-3302-725F-8E66-4A7D6B41EE6C}"/>
              </a:ext>
            </a:extLst>
          </p:cNvPr>
          <p:cNvSpPr>
            <a:spLocks noGrp="1"/>
          </p:cNvSpPr>
          <p:nvPr>
            <p:ph type="pic" sz="quarter" idx="17"/>
          </p:nvPr>
        </p:nvSpPr>
        <p:spPr/>
        <p:txBody>
          <a:bodyPr/>
          <a:lstStyle/>
          <a:p>
            <a:endParaRPr lang="en-US">
              <a:latin typeface="Manrope" pitchFamily="2" charset="0"/>
            </a:endParaRPr>
          </a:p>
        </p:txBody>
      </p:sp>
      <p:sp>
        <p:nvSpPr>
          <p:cNvPr id="25" name="Text Placeholder 24">
            <a:extLst>
              <a:ext uri="{FF2B5EF4-FFF2-40B4-BE49-F238E27FC236}">
                <a16:creationId xmlns:a16="http://schemas.microsoft.com/office/drawing/2014/main" id="{FD9A9964-DBCE-E243-B346-EBB1C38DA076}"/>
              </a:ext>
            </a:extLst>
          </p:cNvPr>
          <p:cNvSpPr>
            <a:spLocks noGrp="1"/>
          </p:cNvSpPr>
          <p:nvPr>
            <p:ph type="body" sz="quarter" idx="24"/>
          </p:nvPr>
        </p:nvSpPr>
        <p:spPr>
          <a:xfrm>
            <a:off x="1992030" y="5190452"/>
            <a:ext cx="1380559" cy="428625"/>
          </a:xfrm>
        </p:spPr>
        <p:txBody>
          <a:bodyPr>
            <a:normAutofit fontScale="92500"/>
          </a:bodyPr>
          <a:lstStyle/>
          <a:p>
            <a:pPr lvl="0"/>
            <a:r>
              <a:rPr lang="en-US" noProof="0">
                <a:solidFill>
                  <a:schemeClr val="tx1"/>
                </a:solidFill>
                <a:latin typeface="Manrope" pitchFamily="2" charset="0"/>
              </a:rPr>
              <a:t>Data science models for customer churn and fraud prevention</a:t>
            </a:r>
          </a:p>
        </p:txBody>
      </p:sp>
      <p:sp>
        <p:nvSpPr>
          <p:cNvPr id="26" name="Text Placeholder 25">
            <a:extLst>
              <a:ext uri="{FF2B5EF4-FFF2-40B4-BE49-F238E27FC236}">
                <a16:creationId xmlns:a16="http://schemas.microsoft.com/office/drawing/2014/main" id="{BCC26CFF-319D-697D-8E1B-0993B2C4290A}"/>
              </a:ext>
            </a:extLst>
          </p:cNvPr>
          <p:cNvSpPr>
            <a:spLocks noGrp="1"/>
          </p:cNvSpPr>
          <p:nvPr>
            <p:ph type="body" sz="quarter" idx="25"/>
          </p:nvPr>
        </p:nvSpPr>
        <p:spPr>
          <a:xfrm>
            <a:off x="1992030" y="4752302"/>
            <a:ext cx="1235075" cy="415925"/>
          </a:xfrm>
        </p:spPr>
        <p:txBody>
          <a:bodyPr/>
          <a:lstStyle/>
          <a:p>
            <a:r>
              <a:rPr lang="en-US" noProof="0">
                <a:latin typeface="Manrope" pitchFamily="2" charset="0"/>
              </a:rPr>
              <a:t>50%</a:t>
            </a:r>
          </a:p>
        </p:txBody>
      </p:sp>
      <p:sp>
        <p:nvSpPr>
          <p:cNvPr id="27" name="Text Placeholder 26">
            <a:extLst>
              <a:ext uri="{FF2B5EF4-FFF2-40B4-BE49-F238E27FC236}">
                <a16:creationId xmlns:a16="http://schemas.microsoft.com/office/drawing/2014/main" id="{1EDD1C63-892D-98C9-D9AD-7D99B1858970}"/>
              </a:ext>
            </a:extLst>
          </p:cNvPr>
          <p:cNvSpPr>
            <a:spLocks noGrp="1"/>
          </p:cNvSpPr>
          <p:nvPr>
            <p:ph type="body" sz="quarter" idx="26"/>
          </p:nvPr>
        </p:nvSpPr>
        <p:spPr>
          <a:xfrm>
            <a:off x="3428049" y="5190452"/>
            <a:ext cx="1086055" cy="428625"/>
          </a:xfrm>
        </p:spPr>
        <p:txBody>
          <a:bodyPr>
            <a:normAutofit/>
          </a:bodyPr>
          <a:lstStyle/>
          <a:p>
            <a:r>
              <a:rPr lang="en-US" noProof="0">
                <a:solidFill>
                  <a:schemeClr val="tx1"/>
                </a:solidFill>
                <a:latin typeface="Manrope" pitchFamily="2" charset="0"/>
              </a:rPr>
              <a:t>Reduction In customer churn</a:t>
            </a:r>
          </a:p>
        </p:txBody>
      </p:sp>
      <p:sp>
        <p:nvSpPr>
          <p:cNvPr id="28" name="Text Placeholder 27">
            <a:extLst>
              <a:ext uri="{FF2B5EF4-FFF2-40B4-BE49-F238E27FC236}">
                <a16:creationId xmlns:a16="http://schemas.microsoft.com/office/drawing/2014/main" id="{E7B21060-A1DA-9646-3858-9D02EBADF6C4}"/>
              </a:ext>
            </a:extLst>
          </p:cNvPr>
          <p:cNvSpPr>
            <a:spLocks noGrp="1"/>
          </p:cNvSpPr>
          <p:nvPr>
            <p:ph type="body" sz="quarter" idx="27"/>
          </p:nvPr>
        </p:nvSpPr>
        <p:spPr>
          <a:xfrm>
            <a:off x="3428049" y="4752302"/>
            <a:ext cx="1235075" cy="415925"/>
          </a:xfrm>
        </p:spPr>
        <p:txBody>
          <a:bodyPr/>
          <a:lstStyle/>
          <a:p>
            <a:r>
              <a:rPr lang="en-US" noProof="0">
                <a:latin typeface="Manrope" pitchFamily="2" charset="0"/>
              </a:rPr>
              <a:t>50%</a:t>
            </a:r>
          </a:p>
        </p:txBody>
      </p:sp>
      <p:sp>
        <p:nvSpPr>
          <p:cNvPr id="29" name="Text Placeholder 28">
            <a:extLst>
              <a:ext uri="{FF2B5EF4-FFF2-40B4-BE49-F238E27FC236}">
                <a16:creationId xmlns:a16="http://schemas.microsoft.com/office/drawing/2014/main" id="{B432EE5B-0F23-CAB6-B4E3-F9D556CE336A}"/>
              </a:ext>
            </a:extLst>
          </p:cNvPr>
          <p:cNvSpPr>
            <a:spLocks noGrp="1"/>
          </p:cNvSpPr>
          <p:nvPr>
            <p:ph type="body" sz="quarter" idx="28"/>
          </p:nvPr>
        </p:nvSpPr>
        <p:spPr>
          <a:xfrm>
            <a:off x="4728314" y="5190452"/>
            <a:ext cx="1235075" cy="428625"/>
          </a:xfrm>
        </p:spPr>
        <p:txBody>
          <a:bodyPr>
            <a:normAutofit/>
          </a:bodyPr>
          <a:lstStyle/>
          <a:p>
            <a:pPr lvl="0"/>
            <a:r>
              <a:rPr lang="en-US" noProof="0">
                <a:solidFill>
                  <a:schemeClr val="tx1"/>
                </a:solidFill>
                <a:latin typeface="Manrope" pitchFamily="2" charset="0"/>
              </a:rPr>
              <a:t>Predictive, prescriptive &amp; augmented reports​</a:t>
            </a:r>
          </a:p>
        </p:txBody>
      </p:sp>
      <p:sp>
        <p:nvSpPr>
          <p:cNvPr id="30" name="Text Placeholder 29">
            <a:extLst>
              <a:ext uri="{FF2B5EF4-FFF2-40B4-BE49-F238E27FC236}">
                <a16:creationId xmlns:a16="http://schemas.microsoft.com/office/drawing/2014/main" id="{D536C78D-0FF7-BAA4-C745-F18592ED4791}"/>
              </a:ext>
            </a:extLst>
          </p:cNvPr>
          <p:cNvSpPr>
            <a:spLocks noGrp="1"/>
          </p:cNvSpPr>
          <p:nvPr>
            <p:ph type="body" sz="quarter" idx="29"/>
          </p:nvPr>
        </p:nvSpPr>
        <p:spPr>
          <a:xfrm>
            <a:off x="4728314" y="4752302"/>
            <a:ext cx="1235075" cy="415925"/>
          </a:xfrm>
        </p:spPr>
        <p:txBody>
          <a:bodyPr/>
          <a:lstStyle/>
          <a:p>
            <a:pPr lvl="0"/>
            <a:r>
              <a:rPr lang="en-US" noProof="0">
                <a:latin typeface="Manrope" pitchFamily="2" charset="0"/>
              </a:rPr>
              <a:t>70+</a:t>
            </a:r>
          </a:p>
        </p:txBody>
      </p:sp>
      <p:sp>
        <p:nvSpPr>
          <p:cNvPr id="21" name="Title 20">
            <a:extLst>
              <a:ext uri="{FF2B5EF4-FFF2-40B4-BE49-F238E27FC236}">
                <a16:creationId xmlns:a16="http://schemas.microsoft.com/office/drawing/2014/main" id="{E0D6E074-6662-28AA-AD3B-82BCF342764B}"/>
              </a:ext>
            </a:extLst>
          </p:cNvPr>
          <p:cNvSpPr>
            <a:spLocks noGrp="1"/>
          </p:cNvSpPr>
          <p:nvPr>
            <p:ph type="title"/>
          </p:nvPr>
        </p:nvSpPr>
        <p:spPr>
          <a:xfrm>
            <a:off x="623888" y="914400"/>
            <a:ext cx="5400675" cy="246221"/>
          </a:xfrm>
        </p:spPr>
        <p:txBody>
          <a:bodyPr/>
          <a:lstStyle/>
          <a:p>
            <a:r>
              <a:rPr lang="en-US" sz="1600">
                <a:latin typeface="Manrope" pitchFamily="2" charset="0"/>
              </a:rPr>
              <a:t>Accelerating Banking Analytics with Snowflake</a:t>
            </a:r>
          </a:p>
        </p:txBody>
      </p:sp>
      <p:sp>
        <p:nvSpPr>
          <p:cNvPr id="16" name="Text Placeholder 15">
            <a:extLst>
              <a:ext uri="{FF2B5EF4-FFF2-40B4-BE49-F238E27FC236}">
                <a16:creationId xmlns:a16="http://schemas.microsoft.com/office/drawing/2014/main" id="{A1F239E6-73DD-8E7A-8159-584AE54C4456}"/>
              </a:ext>
            </a:extLst>
          </p:cNvPr>
          <p:cNvSpPr>
            <a:spLocks noGrp="1"/>
          </p:cNvSpPr>
          <p:nvPr>
            <p:ph type="body" sz="quarter" idx="21"/>
          </p:nvPr>
        </p:nvSpPr>
        <p:spPr>
          <a:xfrm flipH="1">
            <a:off x="623887" y="457200"/>
            <a:ext cx="5400675" cy="216401"/>
          </a:xfrm>
        </p:spPr>
        <p:txBody>
          <a:bodyPr/>
          <a:lstStyle/>
          <a:p>
            <a:r>
              <a:rPr lang="en-US" noProof="0">
                <a:latin typeface="Manrope" pitchFamily="2" charset="0"/>
              </a:rPr>
              <a:t>Hexaware PaymatiX™</a:t>
            </a:r>
          </a:p>
        </p:txBody>
      </p:sp>
      <p:pic>
        <p:nvPicPr>
          <p:cNvPr id="5" name="Picture Placeholder 28">
            <a:extLst>
              <a:ext uri="{FF2B5EF4-FFF2-40B4-BE49-F238E27FC236}">
                <a16:creationId xmlns:a16="http://schemas.microsoft.com/office/drawing/2014/main" id="{0928CF1A-8AAC-A167-57E5-B23DED61D59B}"/>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438900" y="914401"/>
            <a:ext cx="5753100" cy="4856084"/>
          </a:xfrm>
          <a:prstGeom prst="rect">
            <a:avLst/>
          </a:prstGeom>
        </p:spPr>
      </p:pic>
      <p:sp>
        <p:nvSpPr>
          <p:cNvPr id="45" name="TextBox 44">
            <a:extLst>
              <a:ext uri="{FF2B5EF4-FFF2-40B4-BE49-F238E27FC236}">
                <a16:creationId xmlns:a16="http://schemas.microsoft.com/office/drawing/2014/main" id="{01A62EB1-BE8A-F14D-2808-6AC1F838B1F4}"/>
              </a:ext>
            </a:extLst>
          </p:cNvPr>
          <p:cNvSpPr txBox="1"/>
          <p:nvPr/>
        </p:nvSpPr>
        <p:spPr>
          <a:xfrm>
            <a:off x="562748" y="1511107"/>
            <a:ext cx="5461816"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Manrope" pitchFamily="2" charset="0"/>
              </a:rPr>
              <a:t>A unified Data and Analytics platform </a:t>
            </a:r>
            <a:r>
              <a:rPr kumimoji="0" lang="en-US" sz="1050" b="0" i="0" u="none" strike="noStrike" kern="1200" cap="none" spc="0" normalizeH="0" baseline="0" noProof="0">
                <a:ln>
                  <a:noFill/>
                </a:ln>
                <a:solidFill>
                  <a:srgbClr val="000000"/>
                </a:solidFill>
                <a:effectLst/>
                <a:uLnTx/>
                <a:uFillTx/>
                <a:latin typeface="Manrope" pitchFamily="2" charset="0"/>
              </a:rPr>
              <a:t>for cards and payments that can generate powerful insights and deliver them through </a:t>
            </a:r>
            <a:r>
              <a:rPr kumimoji="0" lang="en-US" sz="1050" b="1" i="0" u="none" strike="noStrike" kern="1200" cap="none" spc="0" normalizeH="0" baseline="0" noProof="0">
                <a:ln>
                  <a:noFill/>
                </a:ln>
                <a:solidFill>
                  <a:srgbClr val="000000"/>
                </a:solidFill>
                <a:effectLst/>
                <a:uLnTx/>
                <a:uFillTx/>
                <a:latin typeface="Manrope" pitchFamily="2" charset="0"/>
              </a:rPr>
              <a:t>Analytics as a Service and Data as a Service. </a:t>
            </a:r>
          </a:p>
        </p:txBody>
      </p:sp>
      <p:grpSp>
        <p:nvGrpSpPr>
          <p:cNvPr id="54" name="Group 53">
            <a:extLst>
              <a:ext uri="{FF2B5EF4-FFF2-40B4-BE49-F238E27FC236}">
                <a16:creationId xmlns:a16="http://schemas.microsoft.com/office/drawing/2014/main" id="{23B45A5E-AF69-034D-EF6A-E2940591CEC9}"/>
              </a:ext>
            </a:extLst>
          </p:cNvPr>
          <p:cNvGrpSpPr/>
          <p:nvPr/>
        </p:nvGrpSpPr>
        <p:grpSpPr>
          <a:xfrm>
            <a:off x="623887" y="2154831"/>
            <a:ext cx="5400675" cy="2409367"/>
            <a:chOff x="623888" y="2203309"/>
            <a:chExt cx="5053370" cy="2650304"/>
          </a:xfrm>
        </p:grpSpPr>
        <p:sp>
          <p:nvSpPr>
            <p:cNvPr id="46" name="Rectangle 45">
              <a:extLst>
                <a:ext uri="{FF2B5EF4-FFF2-40B4-BE49-F238E27FC236}">
                  <a16:creationId xmlns:a16="http://schemas.microsoft.com/office/drawing/2014/main" id="{255B29E4-5CCA-9D3E-4334-235A5DC8D0DF}"/>
                </a:ext>
              </a:extLst>
            </p:cNvPr>
            <p:cNvSpPr/>
            <p:nvPr/>
          </p:nvSpPr>
          <p:spPr>
            <a:xfrm>
              <a:off x="623888" y="2203309"/>
              <a:ext cx="1212890" cy="55399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556"/>
                </a:spcBef>
                <a:spcAft>
                  <a:spcPts val="0"/>
                </a:spcAft>
                <a:buClr>
                  <a:srgbClr val="0B5CAA"/>
                </a:buClr>
                <a:buSzPts val="1200"/>
                <a:buFontTx/>
                <a:buNone/>
                <a:tabLst/>
                <a:defRPr/>
              </a:pPr>
              <a:r>
                <a:rPr kumimoji="0" lang="en-US" sz="1000" b="1" i="0" u="none" strike="noStrike" kern="1200" cap="none" spc="0" normalizeH="0" baseline="0" noProof="0">
                  <a:ln>
                    <a:noFill/>
                  </a:ln>
                  <a:solidFill>
                    <a:srgbClr val="FFFFFF"/>
                  </a:solidFill>
                  <a:effectLst/>
                  <a:uLnTx/>
                  <a:uFillTx/>
                  <a:latin typeface="Manrope" pitchFamily="2" charset="0"/>
                  <a:ea typeface="Lato Light"/>
                  <a:cs typeface="Lato Light"/>
                  <a:sym typeface="Lato Light"/>
                </a:rPr>
                <a:t>Lifetime Value Prediction </a:t>
              </a:r>
            </a:p>
          </p:txBody>
        </p:sp>
        <p:sp>
          <p:nvSpPr>
            <p:cNvPr id="47" name="Rectangle 46">
              <a:extLst>
                <a:ext uri="{FF2B5EF4-FFF2-40B4-BE49-F238E27FC236}">
                  <a16:creationId xmlns:a16="http://schemas.microsoft.com/office/drawing/2014/main" id="{34C54886-B2C1-D4FE-F074-D6D81189F3DD}"/>
                </a:ext>
              </a:extLst>
            </p:cNvPr>
            <p:cNvSpPr/>
            <p:nvPr/>
          </p:nvSpPr>
          <p:spPr>
            <a:xfrm>
              <a:off x="1881948" y="2203309"/>
              <a:ext cx="1234990" cy="55399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Manrope" pitchFamily="2" charset="0"/>
                  <a:ea typeface="Lato Light"/>
                  <a:cs typeface="Lato Light"/>
                  <a:sym typeface="Lato Light"/>
                </a:rPr>
                <a:t>Risk Modelling </a:t>
              </a:r>
            </a:p>
          </p:txBody>
        </p:sp>
        <p:sp>
          <p:nvSpPr>
            <p:cNvPr id="48" name="Rectangle 47">
              <a:extLst>
                <a:ext uri="{FF2B5EF4-FFF2-40B4-BE49-F238E27FC236}">
                  <a16:creationId xmlns:a16="http://schemas.microsoft.com/office/drawing/2014/main" id="{060AEA70-73F3-F865-7179-790C89BD2E7C}"/>
                </a:ext>
              </a:extLst>
            </p:cNvPr>
            <p:cNvSpPr/>
            <p:nvPr/>
          </p:nvSpPr>
          <p:spPr>
            <a:xfrm>
              <a:off x="3162108" y="2203309"/>
              <a:ext cx="1234990" cy="55399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Manrope" pitchFamily="2" charset="0"/>
                  <a:ea typeface="Lato Light"/>
                  <a:cs typeface="Lato Light"/>
                  <a:sym typeface="Lato Light"/>
                </a:rPr>
                <a:t>Churn Prediction &amp; Management </a:t>
              </a:r>
            </a:p>
          </p:txBody>
        </p:sp>
        <p:sp>
          <p:nvSpPr>
            <p:cNvPr id="49" name="Rectangle 48">
              <a:extLst>
                <a:ext uri="{FF2B5EF4-FFF2-40B4-BE49-F238E27FC236}">
                  <a16:creationId xmlns:a16="http://schemas.microsoft.com/office/drawing/2014/main" id="{24D8099A-6745-EBB1-B82C-B112C68198C2}"/>
                </a:ext>
              </a:extLst>
            </p:cNvPr>
            <p:cNvSpPr/>
            <p:nvPr/>
          </p:nvSpPr>
          <p:spPr>
            <a:xfrm>
              <a:off x="4442268" y="2203309"/>
              <a:ext cx="1234990" cy="55399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Manrope" pitchFamily="2" charset="0"/>
                  <a:ea typeface="Lato Light"/>
                  <a:cs typeface="Lato Light"/>
                  <a:sym typeface="Lato Light"/>
                </a:rPr>
                <a:t>Hyper-personalized Marketing </a:t>
              </a:r>
            </a:p>
          </p:txBody>
        </p:sp>
        <p:sp>
          <p:nvSpPr>
            <p:cNvPr id="50" name="Rectangle 49">
              <a:extLst>
                <a:ext uri="{FF2B5EF4-FFF2-40B4-BE49-F238E27FC236}">
                  <a16:creationId xmlns:a16="http://schemas.microsoft.com/office/drawing/2014/main" id="{25B9CD41-0C00-23F9-51F3-C208305072BF}"/>
                </a:ext>
              </a:extLst>
            </p:cNvPr>
            <p:cNvSpPr/>
            <p:nvPr/>
          </p:nvSpPr>
          <p:spPr>
            <a:xfrm>
              <a:off x="4464369" y="2844101"/>
              <a:ext cx="1212889" cy="2009512"/>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rPr>
                <a:t>Gauge behavioral, demographic, and historical payment and card data to create personalized offerings with real-time targeting.</a:t>
              </a:r>
              <a:endParaRPr kumimoji="0" lang="en-US" sz="1000" b="0" i="0" u="none" strike="noStrike" kern="1200" cap="none" spc="0" normalizeH="0" baseline="0" noProof="0">
                <a:ln>
                  <a:noFill/>
                </a:ln>
                <a:solidFill>
                  <a:srgbClr val="000000"/>
                </a:solidFill>
                <a:effectLst/>
                <a:uLnTx/>
                <a:uFillTx/>
                <a:latin typeface="Manrope"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anrope" pitchFamily="2" charset="0"/>
              </a:endParaRPr>
            </a:p>
          </p:txBody>
        </p:sp>
        <p:sp>
          <p:nvSpPr>
            <p:cNvPr id="51" name="Rectangle 50">
              <a:extLst>
                <a:ext uri="{FF2B5EF4-FFF2-40B4-BE49-F238E27FC236}">
                  <a16:creationId xmlns:a16="http://schemas.microsoft.com/office/drawing/2014/main" id="{913C1F26-519A-8859-106F-2F3349F3DE4B}"/>
                </a:ext>
              </a:extLst>
            </p:cNvPr>
            <p:cNvSpPr/>
            <p:nvPr/>
          </p:nvSpPr>
          <p:spPr>
            <a:xfrm>
              <a:off x="3184209" y="2844101"/>
              <a:ext cx="1212889" cy="2009512"/>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rPr>
                <a:t>Predict customer churn and identify activities preventing the same in real-time, redefining customer centricity.</a:t>
              </a:r>
              <a:endParaRPr kumimoji="0" lang="en-US" sz="1000" b="0" i="0" u="none" strike="noStrike" kern="1200" cap="none" spc="0" normalizeH="0" baseline="0" noProof="0">
                <a:ln>
                  <a:noFill/>
                </a:ln>
                <a:solidFill>
                  <a:srgbClr val="000000"/>
                </a:solidFill>
                <a:effectLst/>
                <a:uLnTx/>
                <a:uFillTx/>
                <a:latin typeface="Manrope" pitchFamily="2" charset="0"/>
                <a:ea typeface="Quattrocento Sans"/>
                <a:cs typeface="Quattrocento Sans"/>
                <a:sym typeface="Quattrocento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anrope" pitchFamily="2" charset="0"/>
              </a:endParaRPr>
            </a:p>
          </p:txBody>
        </p:sp>
        <p:sp>
          <p:nvSpPr>
            <p:cNvPr id="52" name="Rectangle 51">
              <a:extLst>
                <a:ext uri="{FF2B5EF4-FFF2-40B4-BE49-F238E27FC236}">
                  <a16:creationId xmlns:a16="http://schemas.microsoft.com/office/drawing/2014/main" id="{49B6108A-6730-AD9B-FBE5-72D70EC0ACE1}"/>
                </a:ext>
              </a:extLst>
            </p:cNvPr>
            <p:cNvSpPr/>
            <p:nvPr/>
          </p:nvSpPr>
          <p:spPr>
            <a:xfrm>
              <a:off x="1904049" y="2844101"/>
              <a:ext cx="1212889" cy="2009512"/>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rPr>
                <a:t>Deploy AI/ML-powered predictive risk models to help regulate financial activities &amp; transactions.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endParaRPr>
            </a:p>
          </p:txBody>
        </p:sp>
        <p:sp>
          <p:nvSpPr>
            <p:cNvPr id="53" name="Rectangle 52">
              <a:extLst>
                <a:ext uri="{FF2B5EF4-FFF2-40B4-BE49-F238E27FC236}">
                  <a16:creationId xmlns:a16="http://schemas.microsoft.com/office/drawing/2014/main" id="{9A1F5E09-1141-FB1B-3E66-313BD698DF47}"/>
                </a:ext>
              </a:extLst>
            </p:cNvPr>
            <p:cNvSpPr/>
            <p:nvPr/>
          </p:nvSpPr>
          <p:spPr>
            <a:xfrm>
              <a:off x="627900" y="2844101"/>
              <a:ext cx="1212889" cy="2009512"/>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556"/>
                </a:spcBef>
                <a:spcAft>
                  <a:spcPts val="0"/>
                </a:spcAft>
                <a:buClr>
                  <a:srgbClr val="0B5CAA"/>
                </a:buClr>
                <a:buSzPts val="1200"/>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rPr>
                <a:t>Leverage data models to maintain and expand the potential of growth and profitability for high-value customers. </a:t>
              </a:r>
            </a:p>
          </p:txBody>
        </p:sp>
      </p:grpSp>
      <p:sp>
        <p:nvSpPr>
          <p:cNvPr id="55" name="Text Placeholder 22">
            <a:extLst>
              <a:ext uri="{FF2B5EF4-FFF2-40B4-BE49-F238E27FC236}">
                <a16:creationId xmlns:a16="http://schemas.microsoft.com/office/drawing/2014/main" id="{4BA846FA-BC41-0261-C896-7ED91F2E8A9E}"/>
              </a:ext>
            </a:extLst>
          </p:cNvPr>
          <p:cNvSpPr txBox="1">
            <a:spLocks/>
          </p:cNvSpPr>
          <p:nvPr/>
        </p:nvSpPr>
        <p:spPr>
          <a:xfrm>
            <a:off x="638319" y="6010719"/>
            <a:ext cx="1296248" cy="389659"/>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900" b="0" i="0" u="none" strike="noStrike" kern="1200" cap="none" spc="10" normalizeH="0" baseline="0" noProof="0">
                <a:ln>
                  <a:noFill/>
                </a:ln>
                <a:solidFill>
                  <a:srgbClr val="000000"/>
                </a:solidFill>
                <a:effectLst/>
                <a:uLnTx/>
                <a:uFillTx/>
                <a:latin typeface="Manrope" pitchFamily="2" charset="0"/>
              </a:rPr>
              <a:t>Months Customized full-scale implementation </a:t>
            </a: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IN" sz="900" b="0" i="0" u="none" strike="noStrike" kern="1200" cap="none" spc="10" normalizeH="0" baseline="0" noProof="0">
              <a:ln>
                <a:noFill/>
              </a:ln>
              <a:solidFill>
                <a:srgbClr val="000000"/>
              </a:solidFill>
              <a:effectLst/>
              <a:uLnTx/>
              <a:uFillTx/>
              <a:latin typeface="Manrope" pitchFamily="2" charset="0"/>
            </a:endParaRP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IN" sz="900" b="0" i="0" u="none" strike="noStrike" kern="1200" cap="none" spc="10" normalizeH="0" baseline="0" noProof="0">
              <a:ln>
                <a:noFill/>
              </a:ln>
              <a:solidFill>
                <a:srgbClr val="000000"/>
              </a:solidFill>
              <a:effectLst/>
              <a:uLnTx/>
              <a:uFillTx/>
              <a:latin typeface="Manrope" pitchFamily="2" charset="0"/>
            </a:endParaRPr>
          </a:p>
        </p:txBody>
      </p:sp>
      <p:sp>
        <p:nvSpPr>
          <p:cNvPr id="56" name="Text Placeholder 23">
            <a:extLst>
              <a:ext uri="{FF2B5EF4-FFF2-40B4-BE49-F238E27FC236}">
                <a16:creationId xmlns:a16="http://schemas.microsoft.com/office/drawing/2014/main" id="{71AEAA04-9625-C4D1-1ACB-34F973B3D9AB}"/>
              </a:ext>
            </a:extLst>
          </p:cNvPr>
          <p:cNvSpPr txBox="1">
            <a:spLocks/>
          </p:cNvSpPr>
          <p:nvPr/>
        </p:nvSpPr>
        <p:spPr>
          <a:xfrm>
            <a:off x="638319" y="5599979"/>
            <a:ext cx="123499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a:ln>
                  <a:noFill/>
                </a:ln>
                <a:solidFill>
                  <a:srgbClr val="3C2CDA"/>
                </a:solidFill>
                <a:effectLst/>
                <a:uLnTx/>
                <a:uFillTx/>
                <a:latin typeface="Manrope" pitchFamily="2" charset="0"/>
              </a:rPr>
              <a:t>4-6</a:t>
            </a:r>
          </a:p>
        </p:txBody>
      </p:sp>
      <p:sp>
        <p:nvSpPr>
          <p:cNvPr id="57" name="Text Placeholder 24">
            <a:extLst>
              <a:ext uri="{FF2B5EF4-FFF2-40B4-BE49-F238E27FC236}">
                <a16:creationId xmlns:a16="http://schemas.microsoft.com/office/drawing/2014/main" id="{5F7E3FD0-8D5B-4D24-4772-061B3FC3F8AF}"/>
              </a:ext>
            </a:extLst>
          </p:cNvPr>
          <p:cNvSpPr txBox="1">
            <a:spLocks/>
          </p:cNvSpPr>
          <p:nvPr/>
        </p:nvSpPr>
        <p:spPr>
          <a:xfrm>
            <a:off x="1992030" y="6096343"/>
            <a:ext cx="1234991" cy="284985"/>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900" b="0" i="0" u="none" strike="noStrike" kern="1200" cap="none" spc="10" normalizeH="0" baseline="0" noProof="0">
                <a:ln>
                  <a:noFill/>
                </a:ln>
                <a:solidFill>
                  <a:srgbClr val="000000"/>
                </a:solidFill>
                <a:effectLst/>
                <a:uLnTx/>
                <a:uFillTx/>
                <a:latin typeface="Manrope" pitchFamily="2" charset="0"/>
              </a:rPr>
              <a:t>Reduction In analytics cost</a:t>
            </a:r>
          </a:p>
        </p:txBody>
      </p:sp>
      <p:sp>
        <p:nvSpPr>
          <p:cNvPr id="58" name="Text Placeholder 25">
            <a:extLst>
              <a:ext uri="{FF2B5EF4-FFF2-40B4-BE49-F238E27FC236}">
                <a16:creationId xmlns:a16="http://schemas.microsoft.com/office/drawing/2014/main" id="{9395756E-DF3C-9867-E26B-FFA1F2AD5A34}"/>
              </a:ext>
            </a:extLst>
          </p:cNvPr>
          <p:cNvSpPr txBox="1">
            <a:spLocks/>
          </p:cNvSpPr>
          <p:nvPr/>
        </p:nvSpPr>
        <p:spPr>
          <a:xfrm>
            <a:off x="1992030" y="5678676"/>
            <a:ext cx="123499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a:ln>
                  <a:noFill/>
                </a:ln>
                <a:solidFill>
                  <a:srgbClr val="3C2CDA"/>
                </a:solidFill>
                <a:effectLst/>
                <a:uLnTx/>
                <a:uFillTx/>
                <a:latin typeface="Manrope" pitchFamily="2" charset="0"/>
              </a:rPr>
              <a:t>50%</a:t>
            </a:r>
          </a:p>
        </p:txBody>
      </p:sp>
      <p:sp>
        <p:nvSpPr>
          <p:cNvPr id="67" name="Text Placeholder 3">
            <a:extLst>
              <a:ext uri="{FF2B5EF4-FFF2-40B4-BE49-F238E27FC236}">
                <a16:creationId xmlns:a16="http://schemas.microsoft.com/office/drawing/2014/main" id="{78EECC5D-BF38-6D27-B764-380E2C9BBF09}"/>
              </a:ext>
            </a:extLst>
          </p:cNvPr>
          <p:cNvSpPr txBox="1">
            <a:spLocks/>
          </p:cNvSpPr>
          <p:nvPr/>
        </p:nvSpPr>
        <p:spPr>
          <a:xfrm>
            <a:off x="638319" y="1245731"/>
            <a:ext cx="5364728" cy="265376"/>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400">
                <a:solidFill>
                  <a:schemeClr val="accent1"/>
                </a:solidFill>
                <a:latin typeface="Manrope" pitchFamily="2" charset="0"/>
              </a:rPr>
              <a:t>Business Value</a:t>
            </a:r>
          </a:p>
        </p:txBody>
      </p:sp>
    </p:spTree>
    <p:extLst>
      <p:ext uri="{BB962C8B-B14F-4D97-AF65-F5344CB8AC3E}">
        <p14:creationId xmlns:p14="http://schemas.microsoft.com/office/powerpoint/2010/main" val="292117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049B7-10C7-6804-33D3-4333D70714A5}"/>
            </a:ext>
          </a:extLst>
        </p:cNvPr>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41A77DD5-B92B-C066-5F2F-A65A23F82047}"/>
              </a:ext>
            </a:extLst>
          </p:cNvPr>
          <p:cNvSpPr>
            <a:spLocks noGrp="1"/>
          </p:cNvSpPr>
          <p:nvPr>
            <p:ph type="pic" sz="quarter" idx="17"/>
          </p:nvPr>
        </p:nvSpPr>
        <p:spPr/>
        <p:txBody>
          <a:bodyPr/>
          <a:lstStyle/>
          <a:p>
            <a:endParaRPr lang="en-US">
              <a:latin typeface="Manrope" pitchFamily="2" charset="0"/>
            </a:endParaRPr>
          </a:p>
        </p:txBody>
      </p:sp>
      <p:sp>
        <p:nvSpPr>
          <p:cNvPr id="21" name="Title 20">
            <a:extLst>
              <a:ext uri="{FF2B5EF4-FFF2-40B4-BE49-F238E27FC236}">
                <a16:creationId xmlns:a16="http://schemas.microsoft.com/office/drawing/2014/main" id="{8E2B43EE-EC14-7668-DC67-470A3CD8B629}"/>
              </a:ext>
            </a:extLst>
          </p:cNvPr>
          <p:cNvSpPr>
            <a:spLocks noGrp="1"/>
          </p:cNvSpPr>
          <p:nvPr>
            <p:ph type="title"/>
          </p:nvPr>
        </p:nvSpPr>
        <p:spPr>
          <a:xfrm>
            <a:off x="623888" y="914400"/>
            <a:ext cx="5400675" cy="246221"/>
          </a:xfrm>
        </p:spPr>
        <p:txBody>
          <a:bodyPr/>
          <a:lstStyle/>
          <a:p>
            <a:r>
              <a:rPr lang="en-US" sz="1600">
                <a:latin typeface="Manrope" pitchFamily="2" charset="0"/>
              </a:rPr>
              <a:t>Clinical and pre-clinical data management with Snowflake</a:t>
            </a:r>
          </a:p>
        </p:txBody>
      </p:sp>
      <p:sp>
        <p:nvSpPr>
          <p:cNvPr id="16" name="Text Placeholder 15">
            <a:extLst>
              <a:ext uri="{FF2B5EF4-FFF2-40B4-BE49-F238E27FC236}">
                <a16:creationId xmlns:a16="http://schemas.microsoft.com/office/drawing/2014/main" id="{893EAF5A-260B-C80E-06F0-79E3CBEB029A}"/>
              </a:ext>
            </a:extLst>
          </p:cNvPr>
          <p:cNvSpPr>
            <a:spLocks noGrp="1"/>
          </p:cNvSpPr>
          <p:nvPr>
            <p:ph type="body" sz="quarter" idx="21"/>
          </p:nvPr>
        </p:nvSpPr>
        <p:spPr>
          <a:xfrm flipH="1">
            <a:off x="623887" y="457200"/>
            <a:ext cx="5400675" cy="216401"/>
          </a:xfrm>
        </p:spPr>
        <p:txBody>
          <a:bodyPr/>
          <a:lstStyle/>
          <a:p>
            <a:r>
              <a:rPr lang="en-US" noProof="0">
                <a:latin typeface="Manrope" pitchFamily="2" charset="0"/>
              </a:rPr>
              <a:t>Hexaware Clinical Data as a Service (</a:t>
            </a:r>
            <a:r>
              <a:rPr lang="en-US" noProof="0" err="1">
                <a:latin typeface="Manrope" pitchFamily="2" charset="0"/>
              </a:rPr>
              <a:t>CDaaS</a:t>
            </a:r>
            <a:r>
              <a:rPr lang="en-US" noProof="0">
                <a:latin typeface="Manrope" pitchFamily="2" charset="0"/>
              </a:rPr>
              <a:t>)</a:t>
            </a:r>
          </a:p>
        </p:txBody>
      </p:sp>
      <p:pic>
        <p:nvPicPr>
          <p:cNvPr id="5" name="Picture Placeholder 28">
            <a:extLst>
              <a:ext uri="{FF2B5EF4-FFF2-40B4-BE49-F238E27FC236}">
                <a16:creationId xmlns:a16="http://schemas.microsoft.com/office/drawing/2014/main" id="{FDB3120E-01C3-35F5-21F1-0C9DBB1716E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438900" y="914401"/>
            <a:ext cx="5753100" cy="4856084"/>
          </a:xfrm>
          <a:prstGeom prst="rect">
            <a:avLst/>
          </a:prstGeom>
        </p:spPr>
      </p:pic>
      <p:sp>
        <p:nvSpPr>
          <p:cNvPr id="45" name="TextBox 44">
            <a:extLst>
              <a:ext uri="{FF2B5EF4-FFF2-40B4-BE49-F238E27FC236}">
                <a16:creationId xmlns:a16="http://schemas.microsoft.com/office/drawing/2014/main" id="{2E38DCB3-E058-5AA0-A1BB-F93437D6AAE6}"/>
              </a:ext>
            </a:extLst>
          </p:cNvPr>
          <p:cNvSpPr txBox="1"/>
          <p:nvPr/>
        </p:nvSpPr>
        <p:spPr>
          <a:xfrm>
            <a:off x="562748" y="1511107"/>
            <a:ext cx="5461816"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Manrope" pitchFamily="2" charset="0"/>
              </a:rPr>
              <a:t>A Data as a Service </a:t>
            </a:r>
            <a:r>
              <a:rPr kumimoji="0" lang="en-US" sz="1050" b="0" i="0" u="none" strike="noStrike" kern="1200" cap="none" spc="0" normalizeH="0" baseline="0" noProof="0">
                <a:ln>
                  <a:noFill/>
                </a:ln>
                <a:solidFill>
                  <a:srgbClr val="000000"/>
                </a:solidFill>
                <a:effectLst/>
                <a:uLnTx/>
                <a:uFillTx/>
                <a:latin typeface="Manrope" pitchFamily="2" charset="0"/>
              </a:rPr>
              <a:t>offering enhancing efficiency, accuracy, and compliance of clinical and preclinical </a:t>
            </a:r>
            <a:r>
              <a:rPr kumimoji="0" lang="en-US" sz="1050" b="1" i="0" u="none" strike="noStrike" kern="1200" cap="none" spc="0" normalizeH="0" baseline="0" noProof="0">
                <a:ln>
                  <a:noFill/>
                </a:ln>
                <a:solidFill>
                  <a:srgbClr val="000000"/>
                </a:solidFill>
                <a:effectLst/>
                <a:uLnTx/>
                <a:uFillTx/>
                <a:latin typeface="Manrope" pitchFamily="2" charset="0"/>
              </a:rPr>
              <a:t>data management throughout all stages. </a:t>
            </a:r>
          </a:p>
        </p:txBody>
      </p:sp>
      <p:grpSp>
        <p:nvGrpSpPr>
          <p:cNvPr id="54" name="Group 53">
            <a:extLst>
              <a:ext uri="{FF2B5EF4-FFF2-40B4-BE49-F238E27FC236}">
                <a16:creationId xmlns:a16="http://schemas.microsoft.com/office/drawing/2014/main" id="{F3F81276-7571-FD63-0D44-5C706ACF7428}"/>
              </a:ext>
            </a:extLst>
          </p:cNvPr>
          <p:cNvGrpSpPr/>
          <p:nvPr/>
        </p:nvGrpSpPr>
        <p:grpSpPr>
          <a:xfrm>
            <a:off x="623887" y="2154831"/>
            <a:ext cx="5400675" cy="2409367"/>
            <a:chOff x="623888" y="2203309"/>
            <a:chExt cx="5053370" cy="2650304"/>
          </a:xfrm>
        </p:grpSpPr>
        <p:sp>
          <p:nvSpPr>
            <p:cNvPr id="46" name="Rectangle 45">
              <a:extLst>
                <a:ext uri="{FF2B5EF4-FFF2-40B4-BE49-F238E27FC236}">
                  <a16:creationId xmlns:a16="http://schemas.microsoft.com/office/drawing/2014/main" id="{9B0BFCEA-E451-9416-1854-106C06125805}"/>
                </a:ext>
              </a:extLst>
            </p:cNvPr>
            <p:cNvSpPr/>
            <p:nvPr/>
          </p:nvSpPr>
          <p:spPr>
            <a:xfrm>
              <a:off x="623888" y="2203309"/>
              <a:ext cx="1212890" cy="55399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556"/>
                </a:spcBef>
                <a:spcAft>
                  <a:spcPts val="0"/>
                </a:spcAft>
                <a:buClr>
                  <a:srgbClr val="0B5CAA"/>
                </a:buClr>
                <a:buSzPts val="1200"/>
                <a:buFontTx/>
                <a:buNone/>
                <a:tabLst/>
                <a:defRPr/>
              </a:pPr>
              <a:r>
                <a:rPr kumimoji="0" lang="en-US" sz="1000" b="1" i="0" u="none" strike="noStrike" kern="1200" cap="none" spc="0" normalizeH="0" baseline="0" noProof="0">
                  <a:ln>
                    <a:noFill/>
                  </a:ln>
                  <a:solidFill>
                    <a:srgbClr val="FFFFFF"/>
                  </a:solidFill>
                  <a:effectLst/>
                  <a:uLnTx/>
                  <a:uFillTx/>
                  <a:latin typeface="Manrope" pitchFamily="2" charset="0"/>
                  <a:ea typeface="Lato Light"/>
                  <a:cs typeface="Lato Light"/>
                  <a:sym typeface="Lato Light"/>
                </a:rPr>
                <a:t>Clinical Data Management </a:t>
              </a:r>
            </a:p>
          </p:txBody>
        </p:sp>
        <p:sp>
          <p:nvSpPr>
            <p:cNvPr id="47" name="Rectangle 46">
              <a:extLst>
                <a:ext uri="{FF2B5EF4-FFF2-40B4-BE49-F238E27FC236}">
                  <a16:creationId xmlns:a16="http://schemas.microsoft.com/office/drawing/2014/main" id="{1145C314-9D5F-15ED-E963-9C9665FB81CF}"/>
                </a:ext>
              </a:extLst>
            </p:cNvPr>
            <p:cNvSpPr/>
            <p:nvPr/>
          </p:nvSpPr>
          <p:spPr>
            <a:xfrm>
              <a:off x="1881948" y="2203309"/>
              <a:ext cx="1234990" cy="55399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Manrope" pitchFamily="2" charset="0"/>
                  <a:ea typeface="Lato Light"/>
                  <a:cs typeface="Lato Light"/>
                  <a:sym typeface="Lato Light"/>
                </a:rPr>
                <a:t>Centralized Data </a:t>
              </a:r>
            </a:p>
          </p:txBody>
        </p:sp>
        <p:sp>
          <p:nvSpPr>
            <p:cNvPr id="48" name="Rectangle 47">
              <a:extLst>
                <a:ext uri="{FF2B5EF4-FFF2-40B4-BE49-F238E27FC236}">
                  <a16:creationId xmlns:a16="http://schemas.microsoft.com/office/drawing/2014/main" id="{265734DC-9B24-1212-10E1-EED0C20C7009}"/>
                </a:ext>
              </a:extLst>
            </p:cNvPr>
            <p:cNvSpPr/>
            <p:nvPr/>
          </p:nvSpPr>
          <p:spPr>
            <a:xfrm>
              <a:off x="3162108" y="2203309"/>
              <a:ext cx="1234990" cy="55399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Manrope" pitchFamily="2" charset="0"/>
                  <a:ea typeface="Lato Light"/>
                  <a:cs typeface="Lato Light"/>
                  <a:sym typeface="Lato Light"/>
                </a:rPr>
                <a:t>Efficient Data Point Review</a:t>
              </a:r>
            </a:p>
          </p:txBody>
        </p:sp>
        <p:sp>
          <p:nvSpPr>
            <p:cNvPr id="49" name="Rectangle 48">
              <a:extLst>
                <a:ext uri="{FF2B5EF4-FFF2-40B4-BE49-F238E27FC236}">
                  <a16:creationId xmlns:a16="http://schemas.microsoft.com/office/drawing/2014/main" id="{31B54428-CB64-E68F-589F-10BEFEB1226F}"/>
                </a:ext>
              </a:extLst>
            </p:cNvPr>
            <p:cNvSpPr/>
            <p:nvPr/>
          </p:nvSpPr>
          <p:spPr>
            <a:xfrm>
              <a:off x="4442268" y="2203309"/>
              <a:ext cx="1234990" cy="55399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Manrope" pitchFamily="2" charset="0"/>
                  <a:ea typeface="Lato Light"/>
                  <a:cs typeface="Lato Light"/>
                  <a:sym typeface="Lato Light"/>
                </a:rPr>
                <a:t>Clinical Copilot</a:t>
              </a:r>
            </a:p>
          </p:txBody>
        </p:sp>
        <p:sp>
          <p:nvSpPr>
            <p:cNvPr id="50" name="Rectangle 49">
              <a:extLst>
                <a:ext uri="{FF2B5EF4-FFF2-40B4-BE49-F238E27FC236}">
                  <a16:creationId xmlns:a16="http://schemas.microsoft.com/office/drawing/2014/main" id="{E58AB9AE-8D88-1024-4B04-97CDBD76D76F}"/>
                </a:ext>
              </a:extLst>
            </p:cNvPr>
            <p:cNvSpPr/>
            <p:nvPr/>
          </p:nvSpPr>
          <p:spPr>
            <a:xfrm>
              <a:off x="4464369" y="2844101"/>
              <a:ext cx="1212889" cy="2009512"/>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rPr>
                <a:t>Integrate a copilot that guides clinical IT professionals through the data onboarding and standardization process using conversational instructions. </a:t>
              </a:r>
            </a:p>
          </p:txBody>
        </p:sp>
        <p:sp>
          <p:nvSpPr>
            <p:cNvPr id="51" name="Rectangle 50">
              <a:extLst>
                <a:ext uri="{FF2B5EF4-FFF2-40B4-BE49-F238E27FC236}">
                  <a16:creationId xmlns:a16="http://schemas.microsoft.com/office/drawing/2014/main" id="{7E5E82E6-6139-43D6-B821-8A54F9F65D09}"/>
                </a:ext>
              </a:extLst>
            </p:cNvPr>
            <p:cNvSpPr/>
            <p:nvPr/>
          </p:nvSpPr>
          <p:spPr>
            <a:xfrm>
              <a:off x="3184209" y="2844101"/>
              <a:ext cx="1212889" cy="2009512"/>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rPr>
                <a:t>Enable data managers to review clinical data points and manage queries across Electronic Data Capture (EDC) and third-party systems from a single interface. </a:t>
              </a:r>
            </a:p>
          </p:txBody>
        </p:sp>
        <p:sp>
          <p:nvSpPr>
            <p:cNvPr id="52" name="Rectangle 51">
              <a:extLst>
                <a:ext uri="{FF2B5EF4-FFF2-40B4-BE49-F238E27FC236}">
                  <a16:creationId xmlns:a16="http://schemas.microsoft.com/office/drawing/2014/main" id="{C27596C9-3DEA-C26F-64B3-EE3CF58F7F71}"/>
                </a:ext>
              </a:extLst>
            </p:cNvPr>
            <p:cNvSpPr/>
            <p:nvPr/>
          </p:nvSpPr>
          <p:spPr>
            <a:xfrm>
              <a:off x="1904049" y="2844101"/>
              <a:ext cx="1212889" cy="2009512"/>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rPr>
                <a:t>Empower clinical operations executives to manage their research studies, oversee their portfolio, and resolve risks from one centralized location.</a:t>
              </a:r>
            </a:p>
          </p:txBody>
        </p:sp>
        <p:sp>
          <p:nvSpPr>
            <p:cNvPr id="53" name="Rectangle 52">
              <a:extLst>
                <a:ext uri="{FF2B5EF4-FFF2-40B4-BE49-F238E27FC236}">
                  <a16:creationId xmlns:a16="http://schemas.microsoft.com/office/drawing/2014/main" id="{BC59A7E8-A195-2925-F447-A1229219CED0}"/>
                </a:ext>
              </a:extLst>
            </p:cNvPr>
            <p:cNvSpPr/>
            <p:nvPr/>
          </p:nvSpPr>
          <p:spPr>
            <a:xfrm>
              <a:off x="627900" y="2844101"/>
              <a:ext cx="1212889" cy="2009512"/>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556"/>
                </a:spcBef>
                <a:spcAft>
                  <a:spcPts val="0"/>
                </a:spcAft>
                <a:buClr>
                  <a:srgbClr val="0B5CAA"/>
                </a:buClr>
                <a:buSzPts val="1200"/>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ea typeface="Lato Light"/>
                  <a:cs typeface="Lato Light"/>
                  <a:sym typeface="Lato Light"/>
                </a:rPr>
                <a:t>Incorporate a meta data repository (MDR) and Clinical Data Repository (CDR) to ensure a single source of truth as per the latest CDISC IG Standards.  </a:t>
              </a:r>
            </a:p>
          </p:txBody>
        </p:sp>
      </p:grpSp>
      <p:sp>
        <p:nvSpPr>
          <p:cNvPr id="22" name="TextBox 21">
            <a:extLst>
              <a:ext uri="{FF2B5EF4-FFF2-40B4-BE49-F238E27FC236}">
                <a16:creationId xmlns:a16="http://schemas.microsoft.com/office/drawing/2014/main" id="{C5D273A2-5341-51A1-5B5D-C3866EF105E2}"/>
              </a:ext>
            </a:extLst>
          </p:cNvPr>
          <p:cNvSpPr txBox="1"/>
          <p:nvPr/>
        </p:nvSpPr>
        <p:spPr>
          <a:xfrm>
            <a:off x="562748" y="4707427"/>
            <a:ext cx="5140597" cy="8925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9" normalizeH="0" baseline="0" noProof="0">
                <a:ln>
                  <a:noFill/>
                </a:ln>
                <a:solidFill>
                  <a:srgbClr val="3C2CDA"/>
                </a:solidFill>
                <a:effectLst/>
                <a:uLnTx/>
                <a:uFillTx/>
                <a:latin typeface="Manrope" pitchFamily="2" charset="0"/>
                <a:ea typeface="Lato Light"/>
                <a:cs typeface="Lato Light"/>
              </a:rPr>
              <a:t>Who Benefits: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9" normalizeH="0" baseline="0" noProof="0">
              <a:ln>
                <a:noFill/>
              </a:ln>
              <a:solidFill>
                <a:srgbClr val="3C2CDA"/>
              </a:solidFill>
              <a:effectLst/>
              <a:uLnTx/>
              <a:uFillTx/>
              <a:latin typeface="Manrope" pitchFamily="2" charset="0"/>
              <a:ea typeface="Lato Light"/>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anrope" pitchFamily="2" charset="0"/>
              </a:rPr>
              <a:t>Clinical Operations | Medical Monitors and Safety Teams | Clinical Data Managers | Programming Teams | Statistical Teams | Clinical IT Professionals</a:t>
            </a:r>
          </a:p>
        </p:txBody>
      </p:sp>
      <p:sp>
        <p:nvSpPr>
          <p:cNvPr id="33" name="Text Placeholder 3">
            <a:extLst>
              <a:ext uri="{FF2B5EF4-FFF2-40B4-BE49-F238E27FC236}">
                <a16:creationId xmlns:a16="http://schemas.microsoft.com/office/drawing/2014/main" id="{D18E98BF-B0D6-3140-4C90-610CA94E8E9D}"/>
              </a:ext>
            </a:extLst>
          </p:cNvPr>
          <p:cNvSpPr txBox="1">
            <a:spLocks/>
          </p:cNvSpPr>
          <p:nvPr/>
        </p:nvSpPr>
        <p:spPr>
          <a:xfrm>
            <a:off x="638319" y="1245731"/>
            <a:ext cx="5364728" cy="265376"/>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400">
                <a:solidFill>
                  <a:schemeClr val="accent1"/>
                </a:solidFill>
                <a:latin typeface="Manrope" pitchFamily="2" charset="0"/>
              </a:rPr>
              <a:t>Business Value</a:t>
            </a:r>
          </a:p>
        </p:txBody>
      </p:sp>
    </p:spTree>
    <p:extLst>
      <p:ext uri="{BB962C8B-B14F-4D97-AF65-F5344CB8AC3E}">
        <p14:creationId xmlns:p14="http://schemas.microsoft.com/office/powerpoint/2010/main" val="2781417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A9525-7FD6-B107-CF8E-269B4259DE2E}"/>
            </a:ext>
          </a:extLst>
        </p:cNvPr>
        <p:cNvGrpSpPr/>
        <p:nvPr/>
      </p:nvGrpSpPr>
      <p:grpSpPr>
        <a:xfrm>
          <a:off x="0" y="0"/>
          <a:ext cx="0" cy="0"/>
          <a:chOff x="0" y="0"/>
          <a:chExt cx="0" cy="0"/>
        </a:xfrm>
      </p:grpSpPr>
      <p:sp>
        <p:nvSpPr>
          <p:cNvPr id="8" name="Text Placeholder 22">
            <a:extLst>
              <a:ext uri="{FF2B5EF4-FFF2-40B4-BE49-F238E27FC236}">
                <a16:creationId xmlns:a16="http://schemas.microsoft.com/office/drawing/2014/main" id="{765186F3-A76E-8250-F8A0-070FEA7D4B6D}"/>
              </a:ext>
            </a:extLst>
          </p:cNvPr>
          <p:cNvSpPr>
            <a:spLocks noGrp="1"/>
          </p:cNvSpPr>
          <p:nvPr>
            <p:ph type="body" sz="quarter" idx="18"/>
          </p:nvPr>
        </p:nvSpPr>
        <p:spPr>
          <a:xfrm>
            <a:off x="623888" y="5362574"/>
            <a:ext cx="1828856" cy="747769"/>
          </a:xfrm>
        </p:spPr>
        <p:txBody>
          <a:bodyPr>
            <a:normAutofit/>
          </a:bodyPr>
          <a:lstStyle/>
          <a:p>
            <a:pPr>
              <a:lnSpc>
                <a:spcPct val="120000"/>
              </a:lnSpc>
            </a:pPr>
            <a:r>
              <a:rPr lang="en-US" noProof="0">
                <a:solidFill>
                  <a:schemeClr val="tx1"/>
                </a:solidFill>
              </a:rPr>
              <a:t>Estimated reduction in processing time for a standard policy submission when compared to manual process</a:t>
            </a:r>
          </a:p>
        </p:txBody>
      </p:sp>
      <p:sp>
        <p:nvSpPr>
          <p:cNvPr id="9" name="Text Placeholder 23">
            <a:extLst>
              <a:ext uri="{FF2B5EF4-FFF2-40B4-BE49-F238E27FC236}">
                <a16:creationId xmlns:a16="http://schemas.microsoft.com/office/drawing/2014/main" id="{CEE95877-080C-6416-4426-F9A665E751C6}"/>
              </a:ext>
            </a:extLst>
          </p:cNvPr>
          <p:cNvSpPr>
            <a:spLocks noGrp="1"/>
          </p:cNvSpPr>
          <p:nvPr>
            <p:ph type="body" sz="quarter" idx="19"/>
          </p:nvPr>
        </p:nvSpPr>
        <p:spPr>
          <a:xfrm>
            <a:off x="623888" y="4924425"/>
            <a:ext cx="1234991" cy="415498"/>
          </a:xfrm>
        </p:spPr>
        <p:txBody>
          <a:bodyPr/>
          <a:lstStyle/>
          <a:p>
            <a:pPr lvl="0"/>
            <a:r>
              <a:rPr lang="en-US" noProof="0"/>
              <a:t>68%</a:t>
            </a:r>
          </a:p>
        </p:txBody>
      </p:sp>
      <p:sp>
        <p:nvSpPr>
          <p:cNvPr id="32" name="Picture Placeholder 31">
            <a:extLst>
              <a:ext uri="{FF2B5EF4-FFF2-40B4-BE49-F238E27FC236}">
                <a16:creationId xmlns:a16="http://schemas.microsoft.com/office/drawing/2014/main" id="{200221C8-7ABE-5BD8-6903-8A1A2432573F}"/>
              </a:ext>
            </a:extLst>
          </p:cNvPr>
          <p:cNvSpPr>
            <a:spLocks noGrp="1"/>
          </p:cNvSpPr>
          <p:nvPr>
            <p:ph type="pic" sz="quarter" idx="17"/>
          </p:nvPr>
        </p:nvSpPr>
        <p:spPr/>
        <p:txBody>
          <a:bodyPr/>
          <a:lstStyle/>
          <a:p>
            <a:endParaRPr lang="en-US"/>
          </a:p>
        </p:txBody>
      </p:sp>
      <p:sp>
        <p:nvSpPr>
          <p:cNvPr id="10" name="Text Placeholder 24">
            <a:extLst>
              <a:ext uri="{FF2B5EF4-FFF2-40B4-BE49-F238E27FC236}">
                <a16:creationId xmlns:a16="http://schemas.microsoft.com/office/drawing/2014/main" id="{60343FBD-A484-2CFA-93B1-275F18AF135A}"/>
              </a:ext>
            </a:extLst>
          </p:cNvPr>
          <p:cNvSpPr>
            <a:spLocks noGrp="1"/>
          </p:cNvSpPr>
          <p:nvPr>
            <p:ph type="body" sz="quarter" idx="24"/>
          </p:nvPr>
        </p:nvSpPr>
        <p:spPr>
          <a:xfrm>
            <a:off x="2625072" y="5362575"/>
            <a:ext cx="1828856" cy="747768"/>
          </a:xfrm>
        </p:spPr>
        <p:txBody>
          <a:bodyPr>
            <a:normAutofit/>
          </a:bodyPr>
          <a:lstStyle/>
          <a:p>
            <a:pPr lvl="0"/>
            <a:r>
              <a:rPr lang="en-US" noProof="0">
                <a:solidFill>
                  <a:schemeClr val="tx1"/>
                </a:solidFill>
              </a:rPr>
              <a:t>Estimated increase in number of submission documents processed </a:t>
            </a:r>
          </a:p>
        </p:txBody>
      </p:sp>
      <p:sp>
        <p:nvSpPr>
          <p:cNvPr id="11" name="Text Placeholder 25">
            <a:extLst>
              <a:ext uri="{FF2B5EF4-FFF2-40B4-BE49-F238E27FC236}">
                <a16:creationId xmlns:a16="http://schemas.microsoft.com/office/drawing/2014/main" id="{78FCFB1E-ED2A-39F8-018A-15450EEB8619}"/>
              </a:ext>
            </a:extLst>
          </p:cNvPr>
          <p:cNvSpPr>
            <a:spLocks noGrp="1"/>
          </p:cNvSpPr>
          <p:nvPr>
            <p:ph type="body" sz="quarter" idx="25"/>
          </p:nvPr>
        </p:nvSpPr>
        <p:spPr>
          <a:xfrm>
            <a:off x="2625072" y="4924425"/>
            <a:ext cx="1235075" cy="415925"/>
          </a:xfrm>
        </p:spPr>
        <p:txBody>
          <a:bodyPr/>
          <a:lstStyle/>
          <a:p>
            <a:r>
              <a:rPr lang="en-US" noProof="0"/>
              <a:t>3X</a:t>
            </a:r>
          </a:p>
        </p:txBody>
      </p:sp>
      <p:sp>
        <p:nvSpPr>
          <p:cNvPr id="21" name="Title 20">
            <a:extLst>
              <a:ext uri="{FF2B5EF4-FFF2-40B4-BE49-F238E27FC236}">
                <a16:creationId xmlns:a16="http://schemas.microsoft.com/office/drawing/2014/main" id="{D718412D-CE33-B102-8FF1-C4FEEE2BF5E1}"/>
              </a:ext>
            </a:extLst>
          </p:cNvPr>
          <p:cNvSpPr>
            <a:spLocks noGrp="1"/>
          </p:cNvSpPr>
          <p:nvPr>
            <p:ph type="title"/>
          </p:nvPr>
        </p:nvSpPr>
        <p:spPr>
          <a:xfrm>
            <a:off x="623888" y="914400"/>
            <a:ext cx="5400675" cy="276999"/>
          </a:xfrm>
        </p:spPr>
        <p:txBody>
          <a:bodyPr/>
          <a:lstStyle/>
          <a:p>
            <a:r>
              <a:rPr lang="en-US" sz="1800"/>
              <a:t>Digital Co-Pilot for Insurance Brokers and Agents</a:t>
            </a:r>
          </a:p>
        </p:txBody>
      </p:sp>
      <p:sp>
        <p:nvSpPr>
          <p:cNvPr id="18" name="Text Placeholder 17">
            <a:extLst>
              <a:ext uri="{FF2B5EF4-FFF2-40B4-BE49-F238E27FC236}">
                <a16:creationId xmlns:a16="http://schemas.microsoft.com/office/drawing/2014/main" id="{498E3796-EE17-AAE6-21E0-FDFD0D739361}"/>
              </a:ext>
            </a:extLst>
          </p:cNvPr>
          <p:cNvSpPr>
            <a:spLocks noGrp="1"/>
          </p:cNvSpPr>
          <p:nvPr>
            <p:ph type="body" sz="quarter" idx="21"/>
          </p:nvPr>
        </p:nvSpPr>
        <p:spPr>
          <a:xfrm flipH="1">
            <a:off x="623887" y="457200"/>
            <a:ext cx="5400675" cy="216401"/>
          </a:xfrm>
        </p:spPr>
        <p:txBody>
          <a:bodyPr/>
          <a:lstStyle/>
          <a:p>
            <a:r>
              <a:rPr lang="en-US" noProof="0"/>
              <a:t>Insurance</a:t>
            </a:r>
          </a:p>
        </p:txBody>
      </p:sp>
      <p:pic>
        <p:nvPicPr>
          <p:cNvPr id="5" name="Picture Placeholder 28">
            <a:extLst>
              <a:ext uri="{FF2B5EF4-FFF2-40B4-BE49-F238E27FC236}">
                <a16:creationId xmlns:a16="http://schemas.microsoft.com/office/drawing/2014/main" id="{FD532241-5C0E-92B6-B21C-65B678DBB13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438900" y="914401"/>
            <a:ext cx="5753100" cy="4856084"/>
          </a:xfrm>
          <a:prstGeom prst="rect">
            <a:avLst/>
          </a:prstGeom>
        </p:spPr>
      </p:pic>
      <p:sp>
        <p:nvSpPr>
          <p:cNvPr id="45" name="TextBox 44">
            <a:extLst>
              <a:ext uri="{FF2B5EF4-FFF2-40B4-BE49-F238E27FC236}">
                <a16:creationId xmlns:a16="http://schemas.microsoft.com/office/drawing/2014/main" id="{F9028BB8-593A-6EFA-DBD3-6797F36BB0E4}"/>
              </a:ext>
            </a:extLst>
          </p:cNvPr>
          <p:cNvSpPr txBox="1"/>
          <p:nvPr/>
        </p:nvSpPr>
        <p:spPr>
          <a:xfrm>
            <a:off x="530469" y="1685551"/>
            <a:ext cx="5494093" cy="1277273"/>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The current submission intake process is manual, which results in inefficiencies, and increased risk of errors, hindering the ability to accurately assess risks and provide appropriate coverage for insured</a:t>
            </a:r>
          </a:p>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Manrope"/>
            </a:endParaRPr>
          </a:p>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Policy submission documents for a streaming media company, with multiple coverage categories and high complexity, can span over hundreds of pages and take weeks to process manually</a:t>
            </a:r>
          </a:p>
        </p:txBody>
      </p:sp>
      <p:sp>
        <p:nvSpPr>
          <p:cNvPr id="6" name="Text Placeholder 3">
            <a:extLst>
              <a:ext uri="{FF2B5EF4-FFF2-40B4-BE49-F238E27FC236}">
                <a16:creationId xmlns:a16="http://schemas.microsoft.com/office/drawing/2014/main" id="{E1130B86-4AB3-9337-C50B-663D56D7C4E8}"/>
              </a:ext>
            </a:extLst>
          </p:cNvPr>
          <p:cNvSpPr txBox="1">
            <a:spLocks/>
          </p:cNvSpPr>
          <p:nvPr/>
        </p:nvSpPr>
        <p:spPr>
          <a:xfrm>
            <a:off x="623888" y="3019114"/>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r>
              <a:rPr kumimoji="0" lang="en-IN" sz="1400" b="0" i="0" u="none" strike="noStrike" kern="1200" cap="none" spc="10" normalizeH="0" baseline="0" noProof="0">
                <a:ln>
                  <a:noFill/>
                </a:ln>
                <a:solidFill>
                  <a:srgbClr val="3C2CDA"/>
                </a:solidFill>
                <a:effectLst/>
                <a:uLnTx/>
                <a:uFillTx/>
                <a:latin typeface="Manrope Medium" pitchFamily="2" charset="0"/>
              </a:rPr>
              <a:t>Solution</a:t>
            </a:r>
          </a:p>
        </p:txBody>
      </p:sp>
      <p:sp>
        <p:nvSpPr>
          <p:cNvPr id="7" name="TextBox 6">
            <a:extLst>
              <a:ext uri="{FF2B5EF4-FFF2-40B4-BE49-F238E27FC236}">
                <a16:creationId xmlns:a16="http://schemas.microsoft.com/office/drawing/2014/main" id="{DAFE73C6-F1CE-8680-C901-9F2C4E36319B}"/>
              </a:ext>
            </a:extLst>
          </p:cNvPr>
          <p:cNvSpPr txBox="1"/>
          <p:nvPr/>
        </p:nvSpPr>
        <p:spPr>
          <a:xfrm>
            <a:off x="530469" y="3325486"/>
            <a:ext cx="5494093" cy="1277273"/>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Developed a large language model capable of extracting entities that are regular key-In values, perform discrepancy check and provide quick answers (Q&amp;A) to underwriter queries</a:t>
            </a:r>
          </a:p>
          <a:p>
            <a:pPr marL="0" marR="0" lvl="0" indent="0" algn="l" defTabSz="914400" rtl="0" eaLnBrk="1" fontAlgn="auto" latinLnBrk="0" hangingPunct="1">
              <a:lnSpc>
                <a:spcPct val="100000"/>
              </a:lnSpc>
              <a:spcBef>
                <a:spcPts val="0"/>
              </a:spcBef>
              <a:spcAft>
                <a:spcPts val="0"/>
              </a:spcAft>
              <a:buClr>
                <a:srgbClr val="3C2CDA"/>
              </a:buClr>
              <a:buSzTx/>
              <a:buFontTx/>
              <a:buNone/>
              <a:tabLst/>
              <a:defRPr/>
            </a:pPr>
            <a:endParaRPr kumimoji="0" lang="en-US" sz="1100" b="0" i="0" u="none" strike="noStrike" kern="1200" cap="none" spc="0" normalizeH="0" baseline="0" noProof="0">
              <a:ln>
                <a:noFill/>
              </a:ln>
              <a:solidFill>
                <a:srgbClr val="000000"/>
              </a:solidFill>
              <a:effectLst/>
              <a:uLnTx/>
              <a:uFillTx/>
              <a:latin typeface="Manrope"/>
            </a:endParaRPr>
          </a:p>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This Generative AI solution is integrated into Snowflake Cortex, ensuring that end-users can easily access its powerful features without any additional setup or configuration</a:t>
            </a:r>
          </a:p>
        </p:txBody>
      </p:sp>
      <p:sp>
        <p:nvSpPr>
          <p:cNvPr id="39" name="Text Placeholder 3">
            <a:extLst>
              <a:ext uri="{FF2B5EF4-FFF2-40B4-BE49-F238E27FC236}">
                <a16:creationId xmlns:a16="http://schemas.microsoft.com/office/drawing/2014/main" id="{609906D7-E710-B4AB-8834-FE65BABF1AEB}"/>
              </a:ext>
            </a:extLst>
          </p:cNvPr>
          <p:cNvSpPr>
            <a:spLocks noGrp="1"/>
          </p:cNvSpPr>
          <p:nvPr>
            <p:ph type="body" sz="quarter" idx="20"/>
          </p:nvPr>
        </p:nvSpPr>
        <p:spPr>
          <a:xfrm>
            <a:off x="638319" y="1350230"/>
            <a:ext cx="5364728" cy="265376"/>
          </a:xfrm>
        </p:spPr>
        <p:txBody>
          <a:bodyPr>
            <a:normAutofit/>
          </a:bodyPr>
          <a:lstStyle/>
          <a:p>
            <a:pPr marL="0" indent="0">
              <a:buNone/>
            </a:pPr>
            <a:r>
              <a:rPr lang="en-US" sz="1400">
                <a:solidFill>
                  <a:schemeClr val="accent1"/>
                </a:solidFill>
                <a:latin typeface="Manrope" pitchFamily="2" charset="0"/>
              </a:rPr>
              <a:t>Business Value</a:t>
            </a:r>
          </a:p>
        </p:txBody>
      </p:sp>
    </p:spTree>
    <p:extLst>
      <p:ext uri="{BB962C8B-B14F-4D97-AF65-F5344CB8AC3E}">
        <p14:creationId xmlns:p14="http://schemas.microsoft.com/office/powerpoint/2010/main" val="1402657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DB6642-6024-E8A6-2594-FF00F9A8614C}"/>
              </a:ext>
            </a:extLst>
          </p:cNvPr>
          <p:cNvSpPr>
            <a:spLocks noGrp="1"/>
          </p:cNvSpPr>
          <p:nvPr>
            <p:ph type="body" sz="quarter" idx="15"/>
          </p:nvPr>
        </p:nvSpPr>
        <p:spPr/>
        <p:txBody>
          <a:bodyPr/>
          <a:lstStyle/>
          <a:p>
            <a:r>
              <a:rPr lang="en-US"/>
              <a:t>Marketing Data Foundation on Snowflake</a:t>
            </a:r>
          </a:p>
        </p:txBody>
      </p:sp>
      <p:sp>
        <p:nvSpPr>
          <p:cNvPr id="3" name="Text Placeholder 14">
            <a:extLst>
              <a:ext uri="{FF2B5EF4-FFF2-40B4-BE49-F238E27FC236}">
                <a16:creationId xmlns:a16="http://schemas.microsoft.com/office/drawing/2014/main" id="{FEFF8D44-2066-19F3-0516-27D14C095CE3}"/>
              </a:ext>
            </a:extLst>
          </p:cNvPr>
          <p:cNvSpPr txBox="1">
            <a:spLocks/>
          </p:cNvSpPr>
          <p:nvPr/>
        </p:nvSpPr>
        <p:spPr>
          <a:xfrm flipH="1">
            <a:off x="623888" y="917509"/>
            <a:ext cx="10944224" cy="467239"/>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
                <a:srgbClr val="3C2DDA"/>
              </a:buClr>
              <a:buSzTx/>
              <a:buFont typeface="Arial" panose="020B0604020202020204" pitchFamily="34" charset="0"/>
              <a:buNone/>
              <a:tabLst/>
              <a:defRPr/>
            </a:pPr>
            <a:r>
              <a:rPr kumimoji="0" lang="en-US" sz="1400" b="0" i="0" u="none" strike="noStrike" kern="1200" cap="none" spc="0" normalizeH="0" baseline="0" noProof="0">
                <a:ln>
                  <a:noFill/>
                </a:ln>
                <a:solidFill>
                  <a:srgbClr val="02051C"/>
                </a:solidFill>
                <a:effectLst/>
                <a:uLnTx/>
                <a:uFillTx/>
                <a:latin typeface="Manrope Light"/>
              </a:rPr>
              <a:t>Delivering good customer experiences depends on having a full and accurate profile of your customer. Marketing Data Foundation on Snowflake can help prepare all your first party data and make it CDP ready for activation and measurement.</a:t>
            </a:r>
          </a:p>
        </p:txBody>
      </p:sp>
      <p:cxnSp>
        <p:nvCxnSpPr>
          <p:cNvPr id="4" name="Straight Arrow Connector 3">
            <a:extLst>
              <a:ext uri="{FF2B5EF4-FFF2-40B4-BE49-F238E27FC236}">
                <a16:creationId xmlns:a16="http://schemas.microsoft.com/office/drawing/2014/main" id="{66C45245-3CD6-4E64-9C54-03845A40358C}"/>
              </a:ext>
            </a:extLst>
          </p:cNvPr>
          <p:cNvCxnSpPr>
            <a:cxnSpLocks/>
            <a:endCxn id="98" idx="2"/>
          </p:cNvCxnSpPr>
          <p:nvPr/>
        </p:nvCxnSpPr>
        <p:spPr>
          <a:xfrm>
            <a:off x="5555711" y="3987373"/>
            <a:ext cx="1251654" cy="0"/>
          </a:xfrm>
          <a:prstGeom prst="straightConnector1">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6F561B04-7195-9BDF-39D3-6E2023E83397}"/>
              </a:ext>
            </a:extLst>
          </p:cNvPr>
          <p:cNvCxnSpPr>
            <a:stCxn id="95" idx="2"/>
            <a:endCxn id="109" idx="2"/>
          </p:cNvCxnSpPr>
          <p:nvPr/>
        </p:nvCxnSpPr>
        <p:spPr>
          <a:xfrm rot="10800000">
            <a:off x="6187064" y="2648751"/>
            <a:ext cx="34069" cy="2677244"/>
          </a:xfrm>
          <a:prstGeom prst="bentConnector3">
            <a:avLst>
              <a:gd name="adj1" fmla="val 2023508"/>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Connector: Elbow 5">
            <a:extLst>
              <a:ext uri="{FF2B5EF4-FFF2-40B4-BE49-F238E27FC236}">
                <a16:creationId xmlns:a16="http://schemas.microsoft.com/office/drawing/2014/main" id="{F1B415D1-B4E8-A7DE-FCDD-7332BD0A73F9}"/>
              </a:ext>
            </a:extLst>
          </p:cNvPr>
          <p:cNvCxnSpPr>
            <a:cxnSpLocks/>
            <a:stCxn id="85" idx="2"/>
            <a:endCxn id="107" idx="2"/>
          </p:cNvCxnSpPr>
          <p:nvPr/>
        </p:nvCxnSpPr>
        <p:spPr>
          <a:xfrm rot="10800000" flipH="1">
            <a:off x="6590039" y="3304595"/>
            <a:ext cx="22345" cy="1365557"/>
          </a:xfrm>
          <a:prstGeom prst="bentConnector3">
            <a:avLst>
              <a:gd name="adj1" fmla="val -3546565"/>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30B1E69F-DB4F-CDF8-498F-14BBF3080137}"/>
              </a:ext>
            </a:extLst>
          </p:cNvPr>
          <p:cNvSpPr/>
          <p:nvPr/>
        </p:nvSpPr>
        <p:spPr>
          <a:xfrm>
            <a:off x="903741" y="2463509"/>
            <a:ext cx="593642"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CRM</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sp>
        <p:nvSpPr>
          <p:cNvPr id="8" name="Rectangle: Rounded Corners 7">
            <a:extLst>
              <a:ext uri="{FF2B5EF4-FFF2-40B4-BE49-F238E27FC236}">
                <a16:creationId xmlns:a16="http://schemas.microsoft.com/office/drawing/2014/main" id="{0B4B5A5E-13DF-A556-4FCF-0E47EDD4F0BC}"/>
              </a:ext>
            </a:extLst>
          </p:cNvPr>
          <p:cNvSpPr/>
          <p:nvPr/>
        </p:nvSpPr>
        <p:spPr>
          <a:xfrm>
            <a:off x="623888" y="3084789"/>
            <a:ext cx="873819" cy="312643"/>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Digital Campaigns</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sp>
        <p:nvSpPr>
          <p:cNvPr id="9" name="Rectangle: Rounded Corners 8">
            <a:extLst>
              <a:ext uri="{FF2B5EF4-FFF2-40B4-BE49-F238E27FC236}">
                <a16:creationId xmlns:a16="http://schemas.microsoft.com/office/drawing/2014/main" id="{F52D3BAC-727F-08A9-6C99-18AE71849A58}"/>
              </a:ext>
            </a:extLst>
          </p:cNvPr>
          <p:cNvSpPr/>
          <p:nvPr/>
        </p:nvSpPr>
        <p:spPr>
          <a:xfrm>
            <a:off x="583456" y="3731365"/>
            <a:ext cx="914251" cy="367719"/>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Email Campaigns</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sp>
        <p:nvSpPr>
          <p:cNvPr id="10" name="Rectangle: Rounded Corners 9">
            <a:extLst>
              <a:ext uri="{FF2B5EF4-FFF2-40B4-BE49-F238E27FC236}">
                <a16:creationId xmlns:a16="http://schemas.microsoft.com/office/drawing/2014/main" id="{745D7495-824F-1320-37CD-4A18DC429482}"/>
              </a:ext>
            </a:extLst>
          </p:cNvPr>
          <p:cNvSpPr/>
          <p:nvPr/>
        </p:nvSpPr>
        <p:spPr>
          <a:xfrm>
            <a:off x="440300" y="4388845"/>
            <a:ext cx="1057407" cy="332810"/>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Enterprise Data</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sp>
        <p:nvSpPr>
          <p:cNvPr id="11" name="Oval 10">
            <a:extLst>
              <a:ext uri="{FF2B5EF4-FFF2-40B4-BE49-F238E27FC236}">
                <a16:creationId xmlns:a16="http://schemas.microsoft.com/office/drawing/2014/main" id="{D871F6A2-F7DC-6D21-9B27-9F5D0A0BC1DB}"/>
              </a:ext>
            </a:extLst>
          </p:cNvPr>
          <p:cNvSpPr/>
          <p:nvPr/>
        </p:nvSpPr>
        <p:spPr>
          <a:xfrm>
            <a:off x="2750526" y="2302016"/>
            <a:ext cx="3158457" cy="3158457"/>
          </a:xfrm>
          <a:prstGeom prst="ellipse">
            <a:avLst/>
          </a:prstGeom>
          <a:solidFill>
            <a:schemeClr val="accent4"/>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12" name="Rectangle: Rounded Corners 11">
            <a:extLst>
              <a:ext uri="{FF2B5EF4-FFF2-40B4-BE49-F238E27FC236}">
                <a16:creationId xmlns:a16="http://schemas.microsoft.com/office/drawing/2014/main" id="{E8BC8869-F732-86C8-5410-8844BCE28FF7}"/>
              </a:ext>
            </a:extLst>
          </p:cNvPr>
          <p:cNvSpPr/>
          <p:nvPr/>
        </p:nvSpPr>
        <p:spPr>
          <a:xfrm>
            <a:off x="623888" y="5089380"/>
            <a:ext cx="873819" cy="253842"/>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Analytics Data</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grpSp>
        <p:nvGrpSpPr>
          <p:cNvPr id="13" name="Group 12">
            <a:extLst>
              <a:ext uri="{FF2B5EF4-FFF2-40B4-BE49-F238E27FC236}">
                <a16:creationId xmlns:a16="http://schemas.microsoft.com/office/drawing/2014/main" id="{079E6E91-ED32-8633-ED0C-5F0366D5FA42}"/>
              </a:ext>
            </a:extLst>
          </p:cNvPr>
          <p:cNvGrpSpPr/>
          <p:nvPr/>
        </p:nvGrpSpPr>
        <p:grpSpPr>
          <a:xfrm>
            <a:off x="1551352" y="3006657"/>
            <a:ext cx="467876" cy="467876"/>
            <a:chOff x="955081" y="2501281"/>
            <a:chExt cx="467876" cy="467876"/>
          </a:xfrm>
        </p:grpSpPr>
        <p:pic>
          <p:nvPicPr>
            <p:cNvPr id="14" name="Picture 13">
              <a:extLst>
                <a:ext uri="{FF2B5EF4-FFF2-40B4-BE49-F238E27FC236}">
                  <a16:creationId xmlns:a16="http://schemas.microsoft.com/office/drawing/2014/main" id="{C79867BF-D1EF-36DC-AE8A-35142717ACE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6257" y="2668714"/>
              <a:ext cx="340764" cy="172961"/>
            </a:xfrm>
            <a:prstGeom prst="rect">
              <a:avLst/>
            </a:prstGeom>
          </p:spPr>
        </p:pic>
        <p:sp>
          <p:nvSpPr>
            <p:cNvPr id="15" name="Oval 14">
              <a:extLst>
                <a:ext uri="{FF2B5EF4-FFF2-40B4-BE49-F238E27FC236}">
                  <a16:creationId xmlns:a16="http://schemas.microsoft.com/office/drawing/2014/main" id="{08A8854A-C048-CA57-27A4-A7918D02A9C1}"/>
                </a:ext>
              </a:extLst>
            </p:cNvPr>
            <p:cNvSpPr/>
            <p:nvPr/>
          </p:nvSpPr>
          <p:spPr>
            <a:xfrm>
              <a:off x="955081" y="2501281"/>
              <a:ext cx="467876" cy="467876"/>
            </a:xfrm>
            <a:prstGeom prst="ellipse">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grpSp>
        <p:nvGrpSpPr>
          <p:cNvPr id="16" name="Group 15">
            <a:extLst>
              <a:ext uri="{FF2B5EF4-FFF2-40B4-BE49-F238E27FC236}">
                <a16:creationId xmlns:a16="http://schemas.microsoft.com/office/drawing/2014/main" id="{04471BF4-C95B-DB72-8B5F-80B498D7B828}"/>
              </a:ext>
            </a:extLst>
          </p:cNvPr>
          <p:cNvGrpSpPr/>
          <p:nvPr/>
        </p:nvGrpSpPr>
        <p:grpSpPr>
          <a:xfrm>
            <a:off x="1550478" y="3692743"/>
            <a:ext cx="467876" cy="467876"/>
            <a:chOff x="933312" y="3511753"/>
            <a:chExt cx="467876" cy="467876"/>
          </a:xfrm>
        </p:grpSpPr>
        <p:grpSp>
          <p:nvGrpSpPr>
            <p:cNvPr id="17" name="Group 16">
              <a:extLst>
                <a:ext uri="{FF2B5EF4-FFF2-40B4-BE49-F238E27FC236}">
                  <a16:creationId xmlns:a16="http://schemas.microsoft.com/office/drawing/2014/main" id="{4F1D247D-D6B3-7B43-1C25-59DF3169D90A}"/>
                </a:ext>
              </a:extLst>
            </p:cNvPr>
            <p:cNvGrpSpPr/>
            <p:nvPr/>
          </p:nvGrpSpPr>
          <p:grpSpPr>
            <a:xfrm>
              <a:off x="1062081" y="3680450"/>
              <a:ext cx="203256" cy="160685"/>
              <a:chOff x="1648911" y="5315510"/>
              <a:chExt cx="214316" cy="150819"/>
            </a:xfrm>
          </p:grpSpPr>
          <p:grpSp>
            <p:nvGrpSpPr>
              <p:cNvPr id="19" name="Group 29">
                <a:extLst>
                  <a:ext uri="{FF2B5EF4-FFF2-40B4-BE49-F238E27FC236}">
                    <a16:creationId xmlns:a16="http://schemas.microsoft.com/office/drawing/2014/main" id="{ECCAADA0-4632-32A3-392C-F52C194DF742}"/>
                  </a:ext>
                </a:extLst>
              </p:cNvPr>
              <p:cNvGrpSpPr>
                <a:grpSpLocks noChangeAspect="1"/>
              </p:cNvGrpSpPr>
              <p:nvPr/>
            </p:nvGrpSpPr>
            <p:grpSpPr bwMode="auto">
              <a:xfrm>
                <a:off x="1648915" y="5353616"/>
                <a:ext cx="214312" cy="112713"/>
                <a:chOff x="1034" y="3357"/>
                <a:chExt cx="135" cy="71"/>
              </a:xfrm>
              <a:solidFill>
                <a:schemeClr val="accent4"/>
              </a:solidFill>
            </p:grpSpPr>
            <p:sp>
              <p:nvSpPr>
                <p:cNvPr id="21" name="Freeform 30">
                  <a:extLst>
                    <a:ext uri="{FF2B5EF4-FFF2-40B4-BE49-F238E27FC236}">
                      <a16:creationId xmlns:a16="http://schemas.microsoft.com/office/drawing/2014/main" id="{7A462DB7-C32F-2275-0B56-77D9C53D1DF0}"/>
                    </a:ext>
                  </a:extLst>
                </p:cNvPr>
                <p:cNvSpPr>
                  <a:spLocks/>
                </p:cNvSpPr>
                <p:nvPr/>
              </p:nvSpPr>
              <p:spPr bwMode="auto">
                <a:xfrm>
                  <a:off x="1034" y="3357"/>
                  <a:ext cx="36" cy="49"/>
                </a:xfrm>
                <a:custGeom>
                  <a:avLst/>
                  <a:gdLst>
                    <a:gd name="T0" fmla="*/ 0 w 36"/>
                    <a:gd name="T1" fmla="*/ 0 h 49"/>
                    <a:gd name="T2" fmla="*/ 0 w 36"/>
                    <a:gd name="T3" fmla="*/ 49 h 49"/>
                    <a:gd name="T4" fmla="*/ 36 w 36"/>
                    <a:gd name="T5" fmla="*/ 26 h 49"/>
                    <a:gd name="T6" fmla="*/ 0 w 36"/>
                    <a:gd name="T7" fmla="*/ 0 h 49"/>
                  </a:gdLst>
                  <a:ahLst/>
                  <a:cxnLst>
                    <a:cxn ang="0">
                      <a:pos x="T0" y="T1"/>
                    </a:cxn>
                    <a:cxn ang="0">
                      <a:pos x="T2" y="T3"/>
                    </a:cxn>
                    <a:cxn ang="0">
                      <a:pos x="T4" y="T5"/>
                    </a:cxn>
                    <a:cxn ang="0">
                      <a:pos x="T6" y="T7"/>
                    </a:cxn>
                  </a:cxnLst>
                  <a:rect l="0" t="0" r="r" b="b"/>
                  <a:pathLst>
                    <a:path w="36" h="49">
                      <a:moveTo>
                        <a:pt x="0" y="0"/>
                      </a:moveTo>
                      <a:lnTo>
                        <a:pt x="0" y="49"/>
                      </a:lnTo>
                      <a:lnTo>
                        <a:pt x="36" y="2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22" name="Freeform 31">
                  <a:extLst>
                    <a:ext uri="{FF2B5EF4-FFF2-40B4-BE49-F238E27FC236}">
                      <a16:creationId xmlns:a16="http://schemas.microsoft.com/office/drawing/2014/main" id="{49C31485-3782-73F8-EAF9-9770EE417977}"/>
                    </a:ext>
                  </a:extLst>
                </p:cNvPr>
                <p:cNvSpPr>
                  <a:spLocks/>
                </p:cNvSpPr>
                <p:nvPr/>
              </p:nvSpPr>
              <p:spPr bwMode="auto">
                <a:xfrm>
                  <a:off x="1134" y="3357"/>
                  <a:ext cx="35" cy="49"/>
                </a:xfrm>
                <a:custGeom>
                  <a:avLst/>
                  <a:gdLst>
                    <a:gd name="T0" fmla="*/ 35 w 35"/>
                    <a:gd name="T1" fmla="*/ 49 h 49"/>
                    <a:gd name="T2" fmla="*/ 35 w 35"/>
                    <a:gd name="T3" fmla="*/ 0 h 49"/>
                    <a:gd name="T4" fmla="*/ 0 w 35"/>
                    <a:gd name="T5" fmla="*/ 26 h 49"/>
                    <a:gd name="T6" fmla="*/ 35 w 35"/>
                    <a:gd name="T7" fmla="*/ 49 h 49"/>
                  </a:gdLst>
                  <a:ahLst/>
                  <a:cxnLst>
                    <a:cxn ang="0">
                      <a:pos x="T0" y="T1"/>
                    </a:cxn>
                    <a:cxn ang="0">
                      <a:pos x="T2" y="T3"/>
                    </a:cxn>
                    <a:cxn ang="0">
                      <a:pos x="T4" y="T5"/>
                    </a:cxn>
                    <a:cxn ang="0">
                      <a:pos x="T6" y="T7"/>
                    </a:cxn>
                  </a:cxnLst>
                  <a:rect l="0" t="0" r="r" b="b"/>
                  <a:pathLst>
                    <a:path w="35" h="49">
                      <a:moveTo>
                        <a:pt x="35" y="49"/>
                      </a:moveTo>
                      <a:lnTo>
                        <a:pt x="35" y="0"/>
                      </a:lnTo>
                      <a:lnTo>
                        <a:pt x="0" y="26"/>
                      </a:lnTo>
                      <a:lnTo>
                        <a:pt x="35"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23" name="Freeform 32">
                  <a:extLst>
                    <a:ext uri="{FF2B5EF4-FFF2-40B4-BE49-F238E27FC236}">
                      <a16:creationId xmlns:a16="http://schemas.microsoft.com/office/drawing/2014/main" id="{A2ED2187-31FD-1860-B046-0EAF93634513}"/>
                    </a:ext>
                  </a:extLst>
                </p:cNvPr>
                <p:cNvSpPr>
                  <a:spLocks/>
                </p:cNvSpPr>
                <p:nvPr/>
              </p:nvSpPr>
              <p:spPr bwMode="auto">
                <a:xfrm>
                  <a:off x="1034" y="3389"/>
                  <a:ext cx="135" cy="39"/>
                </a:xfrm>
                <a:custGeom>
                  <a:avLst/>
                  <a:gdLst>
                    <a:gd name="T0" fmla="*/ 68 w 135"/>
                    <a:gd name="T1" fmla="*/ 18 h 39"/>
                    <a:gd name="T2" fmla="*/ 44 w 135"/>
                    <a:gd name="T3" fmla="*/ 0 h 39"/>
                    <a:gd name="T4" fmla="*/ 0 w 135"/>
                    <a:gd name="T5" fmla="*/ 29 h 39"/>
                    <a:gd name="T6" fmla="*/ 0 w 135"/>
                    <a:gd name="T7" fmla="*/ 39 h 39"/>
                    <a:gd name="T8" fmla="*/ 135 w 135"/>
                    <a:gd name="T9" fmla="*/ 39 h 39"/>
                    <a:gd name="T10" fmla="*/ 135 w 135"/>
                    <a:gd name="T11" fmla="*/ 29 h 39"/>
                    <a:gd name="T12" fmla="*/ 92 w 135"/>
                    <a:gd name="T13" fmla="*/ 0 h 39"/>
                    <a:gd name="T14" fmla="*/ 68 w 135"/>
                    <a:gd name="T15" fmla="*/ 18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39">
                      <a:moveTo>
                        <a:pt x="68" y="18"/>
                      </a:moveTo>
                      <a:lnTo>
                        <a:pt x="44" y="0"/>
                      </a:lnTo>
                      <a:lnTo>
                        <a:pt x="0" y="29"/>
                      </a:lnTo>
                      <a:lnTo>
                        <a:pt x="0" y="39"/>
                      </a:lnTo>
                      <a:lnTo>
                        <a:pt x="135" y="39"/>
                      </a:lnTo>
                      <a:lnTo>
                        <a:pt x="135" y="29"/>
                      </a:lnTo>
                      <a:lnTo>
                        <a:pt x="92" y="0"/>
                      </a:lnTo>
                      <a:lnTo>
                        <a:pt x="6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sp>
            <p:nvSpPr>
              <p:cNvPr id="20" name="Freeform 33">
                <a:extLst>
                  <a:ext uri="{FF2B5EF4-FFF2-40B4-BE49-F238E27FC236}">
                    <a16:creationId xmlns:a16="http://schemas.microsoft.com/office/drawing/2014/main" id="{F7DA4049-181F-24B6-3BB7-2F97FA04FCFE}"/>
                  </a:ext>
                </a:extLst>
              </p:cNvPr>
              <p:cNvSpPr>
                <a:spLocks/>
              </p:cNvSpPr>
              <p:nvPr/>
            </p:nvSpPr>
            <p:spPr bwMode="auto">
              <a:xfrm>
                <a:off x="1648911" y="5315510"/>
                <a:ext cx="214312" cy="96838"/>
              </a:xfrm>
              <a:custGeom>
                <a:avLst/>
                <a:gdLst>
                  <a:gd name="T0" fmla="*/ 0 w 135"/>
                  <a:gd name="T1" fmla="*/ 11 h 61"/>
                  <a:gd name="T2" fmla="*/ 68 w 135"/>
                  <a:gd name="T3" fmla="*/ 61 h 61"/>
                  <a:gd name="T4" fmla="*/ 135 w 135"/>
                  <a:gd name="T5" fmla="*/ 11 h 61"/>
                  <a:gd name="T6" fmla="*/ 135 w 135"/>
                  <a:gd name="T7" fmla="*/ 0 h 61"/>
                  <a:gd name="T8" fmla="*/ 0 w 135"/>
                  <a:gd name="T9" fmla="*/ 0 h 61"/>
                  <a:gd name="T10" fmla="*/ 0 w 135"/>
                  <a:gd name="T11" fmla="*/ 11 h 61"/>
                </a:gdLst>
                <a:ahLst/>
                <a:cxnLst>
                  <a:cxn ang="0">
                    <a:pos x="T0" y="T1"/>
                  </a:cxn>
                  <a:cxn ang="0">
                    <a:pos x="T2" y="T3"/>
                  </a:cxn>
                  <a:cxn ang="0">
                    <a:pos x="T4" y="T5"/>
                  </a:cxn>
                  <a:cxn ang="0">
                    <a:pos x="T6" y="T7"/>
                  </a:cxn>
                  <a:cxn ang="0">
                    <a:pos x="T8" y="T9"/>
                  </a:cxn>
                  <a:cxn ang="0">
                    <a:pos x="T10" y="T11"/>
                  </a:cxn>
                </a:cxnLst>
                <a:rect l="0" t="0" r="r" b="b"/>
                <a:pathLst>
                  <a:path w="135" h="61">
                    <a:moveTo>
                      <a:pt x="0" y="11"/>
                    </a:moveTo>
                    <a:lnTo>
                      <a:pt x="68" y="61"/>
                    </a:lnTo>
                    <a:lnTo>
                      <a:pt x="135" y="11"/>
                    </a:lnTo>
                    <a:lnTo>
                      <a:pt x="135" y="0"/>
                    </a:lnTo>
                    <a:lnTo>
                      <a:pt x="0" y="0"/>
                    </a:lnTo>
                    <a:lnTo>
                      <a:pt x="0" y="11"/>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sp>
          <p:nvSpPr>
            <p:cNvPr id="18" name="Oval 17">
              <a:extLst>
                <a:ext uri="{FF2B5EF4-FFF2-40B4-BE49-F238E27FC236}">
                  <a16:creationId xmlns:a16="http://schemas.microsoft.com/office/drawing/2014/main" id="{E45711D3-B17E-3A14-83C3-A633316D1656}"/>
                </a:ext>
              </a:extLst>
            </p:cNvPr>
            <p:cNvSpPr/>
            <p:nvPr/>
          </p:nvSpPr>
          <p:spPr>
            <a:xfrm>
              <a:off x="933312" y="3511753"/>
              <a:ext cx="467876" cy="467876"/>
            </a:xfrm>
            <a:prstGeom prst="ellipse">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grpSp>
        <p:nvGrpSpPr>
          <p:cNvPr id="24" name="Group 23">
            <a:extLst>
              <a:ext uri="{FF2B5EF4-FFF2-40B4-BE49-F238E27FC236}">
                <a16:creationId xmlns:a16="http://schemas.microsoft.com/office/drawing/2014/main" id="{91EC8341-FB7F-9A95-169F-C65171C4569B}"/>
              </a:ext>
            </a:extLst>
          </p:cNvPr>
          <p:cNvGrpSpPr/>
          <p:nvPr/>
        </p:nvGrpSpPr>
        <p:grpSpPr>
          <a:xfrm>
            <a:off x="1551352" y="4322325"/>
            <a:ext cx="467876" cy="467876"/>
            <a:chOff x="915036" y="4525169"/>
            <a:chExt cx="467876" cy="467876"/>
          </a:xfrm>
        </p:grpSpPr>
        <p:sp>
          <p:nvSpPr>
            <p:cNvPr id="25" name="Oval 24">
              <a:extLst>
                <a:ext uri="{FF2B5EF4-FFF2-40B4-BE49-F238E27FC236}">
                  <a16:creationId xmlns:a16="http://schemas.microsoft.com/office/drawing/2014/main" id="{40DD6BDB-5F2B-AA90-1653-27E2C48D4455}"/>
                </a:ext>
              </a:extLst>
            </p:cNvPr>
            <p:cNvSpPr/>
            <p:nvPr/>
          </p:nvSpPr>
          <p:spPr>
            <a:xfrm>
              <a:off x="915036" y="4525169"/>
              <a:ext cx="467876" cy="467876"/>
            </a:xfrm>
            <a:prstGeom prst="ellipse">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26" name="Freeform 5">
              <a:extLst>
                <a:ext uri="{FF2B5EF4-FFF2-40B4-BE49-F238E27FC236}">
                  <a16:creationId xmlns:a16="http://schemas.microsoft.com/office/drawing/2014/main" id="{5ECBCF35-A7BD-B907-80FD-FD3B9B4C77C7}"/>
                </a:ext>
              </a:extLst>
            </p:cNvPr>
            <p:cNvSpPr>
              <a:spLocks noEditPoints="1"/>
            </p:cNvSpPr>
            <p:nvPr/>
          </p:nvSpPr>
          <p:spPr bwMode="auto">
            <a:xfrm>
              <a:off x="999770" y="4627517"/>
              <a:ext cx="291482" cy="256719"/>
            </a:xfrm>
            <a:custGeom>
              <a:avLst/>
              <a:gdLst>
                <a:gd name="T0" fmla="*/ 44 w 815"/>
                <a:gd name="T1" fmla="*/ 269 h 712"/>
                <a:gd name="T2" fmla="*/ 193 w 815"/>
                <a:gd name="T3" fmla="*/ 111 h 712"/>
                <a:gd name="T4" fmla="*/ 202 w 815"/>
                <a:gd name="T5" fmla="*/ 657 h 712"/>
                <a:gd name="T6" fmla="*/ 241 w 815"/>
                <a:gd name="T7" fmla="*/ 28 h 712"/>
                <a:gd name="T8" fmla="*/ 579 w 815"/>
                <a:gd name="T9" fmla="*/ 26 h 712"/>
                <a:gd name="T10" fmla="*/ 617 w 815"/>
                <a:gd name="T11" fmla="*/ 657 h 712"/>
                <a:gd name="T12" fmla="*/ 625 w 815"/>
                <a:gd name="T13" fmla="*/ 111 h 712"/>
                <a:gd name="T14" fmla="*/ 775 w 815"/>
                <a:gd name="T15" fmla="*/ 270 h 712"/>
                <a:gd name="T16" fmla="*/ 780 w 815"/>
                <a:gd name="T17" fmla="*/ 658 h 712"/>
                <a:gd name="T18" fmla="*/ 777 w 815"/>
                <a:gd name="T19" fmla="*/ 711 h 712"/>
                <a:gd name="T20" fmla="*/ 44 w 815"/>
                <a:gd name="T21" fmla="*/ 654 h 712"/>
                <a:gd name="T22" fmla="*/ 383 w 815"/>
                <a:gd name="T23" fmla="*/ 512 h 712"/>
                <a:gd name="T24" fmla="*/ 410 w 815"/>
                <a:gd name="T25" fmla="*/ 400 h 712"/>
                <a:gd name="T26" fmla="*/ 435 w 815"/>
                <a:gd name="T27" fmla="*/ 427 h 712"/>
                <a:gd name="T28" fmla="*/ 320 w 815"/>
                <a:gd name="T29" fmla="*/ 486 h 712"/>
                <a:gd name="T30" fmla="*/ 345 w 815"/>
                <a:gd name="T31" fmla="*/ 512 h 712"/>
                <a:gd name="T32" fmla="*/ 409 w 815"/>
                <a:gd name="T33" fmla="*/ 572 h 712"/>
                <a:gd name="T34" fmla="*/ 408 w 815"/>
                <a:gd name="T35" fmla="*/ 280 h 712"/>
                <a:gd name="T36" fmla="*/ 383 w 815"/>
                <a:gd name="T37" fmla="*/ 253 h 712"/>
                <a:gd name="T38" fmla="*/ 383 w 815"/>
                <a:gd name="T39" fmla="*/ 80 h 712"/>
                <a:gd name="T40" fmla="*/ 406 w 815"/>
                <a:gd name="T41" fmla="*/ 55 h 712"/>
                <a:gd name="T42" fmla="*/ 410 w 815"/>
                <a:gd name="T43" fmla="*/ 141 h 712"/>
                <a:gd name="T44" fmla="*/ 406 w 815"/>
                <a:gd name="T45" fmla="*/ 365 h 712"/>
                <a:gd name="T46" fmla="*/ 383 w 815"/>
                <a:gd name="T47" fmla="*/ 340 h 712"/>
                <a:gd name="T48" fmla="*/ 500 w 815"/>
                <a:gd name="T49" fmla="*/ 486 h 712"/>
                <a:gd name="T50" fmla="*/ 525 w 815"/>
                <a:gd name="T51" fmla="*/ 512 h 712"/>
                <a:gd name="T52" fmla="*/ 319 w 815"/>
                <a:gd name="T53" fmla="*/ 107 h 712"/>
                <a:gd name="T54" fmla="*/ 503 w 815"/>
                <a:gd name="T55" fmla="*/ 55 h 712"/>
                <a:gd name="T56" fmla="*/ 526 w 815"/>
                <a:gd name="T57" fmla="*/ 80 h 712"/>
                <a:gd name="T58" fmla="*/ 497 w 815"/>
                <a:gd name="T59" fmla="*/ 193 h 712"/>
                <a:gd name="T60" fmla="*/ 473 w 815"/>
                <a:gd name="T61" fmla="*/ 166 h 712"/>
                <a:gd name="T62" fmla="*/ 318 w 815"/>
                <a:gd name="T63" fmla="*/ 280 h 712"/>
                <a:gd name="T64" fmla="*/ 525 w 815"/>
                <a:gd name="T65" fmla="*/ 253 h 712"/>
                <a:gd name="T66" fmla="*/ 500 w 815"/>
                <a:gd name="T67" fmla="*/ 280 h 712"/>
                <a:gd name="T68" fmla="*/ 318 w 815"/>
                <a:gd name="T69" fmla="*/ 399 h 712"/>
                <a:gd name="T70" fmla="*/ 345 w 815"/>
                <a:gd name="T71" fmla="*/ 425 h 712"/>
                <a:gd name="T72" fmla="*/ 497 w 815"/>
                <a:gd name="T73" fmla="*/ 452 h 712"/>
                <a:gd name="T74" fmla="*/ 345 w 815"/>
                <a:gd name="T75" fmla="*/ 599 h 712"/>
                <a:gd name="T76" fmla="*/ 318 w 815"/>
                <a:gd name="T77" fmla="*/ 624 h 712"/>
                <a:gd name="T78" fmla="*/ 526 w 815"/>
                <a:gd name="T79" fmla="*/ 598 h 712"/>
                <a:gd name="T80" fmla="*/ 499 w 815"/>
                <a:gd name="T81" fmla="*/ 624 h 712"/>
                <a:gd name="T82" fmla="*/ 319 w 815"/>
                <a:gd name="T83" fmla="*/ 141 h 712"/>
                <a:gd name="T84" fmla="*/ 293 w 815"/>
                <a:gd name="T85" fmla="*/ 335 h 712"/>
                <a:gd name="T86" fmla="*/ 320 w 815"/>
                <a:gd name="T87" fmla="*/ 314 h 712"/>
                <a:gd name="T88" fmla="*/ 499 w 815"/>
                <a:gd name="T89" fmla="*/ 314 h 712"/>
                <a:gd name="T90" fmla="*/ 525 w 815"/>
                <a:gd name="T91" fmla="*/ 336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15" h="712">
                  <a:moveTo>
                    <a:pt x="44" y="654"/>
                  </a:moveTo>
                  <a:cubicBezTo>
                    <a:pt x="44" y="648"/>
                    <a:pt x="44" y="640"/>
                    <a:pt x="44" y="633"/>
                  </a:cubicBezTo>
                  <a:cubicBezTo>
                    <a:pt x="44" y="511"/>
                    <a:pt x="45" y="390"/>
                    <a:pt x="44" y="269"/>
                  </a:cubicBezTo>
                  <a:cubicBezTo>
                    <a:pt x="44" y="253"/>
                    <a:pt x="48" y="242"/>
                    <a:pt x="59" y="232"/>
                  </a:cubicBezTo>
                  <a:cubicBezTo>
                    <a:pt x="97" y="195"/>
                    <a:pt x="134" y="157"/>
                    <a:pt x="171" y="120"/>
                  </a:cubicBezTo>
                  <a:cubicBezTo>
                    <a:pt x="177" y="115"/>
                    <a:pt x="186" y="114"/>
                    <a:pt x="193" y="111"/>
                  </a:cubicBezTo>
                  <a:cubicBezTo>
                    <a:pt x="196" y="118"/>
                    <a:pt x="202" y="126"/>
                    <a:pt x="202" y="133"/>
                  </a:cubicBezTo>
                  <a:cubicBezTo>
                    <a:pt x="202" y="299"/>
                    <a:pt x="202" y="465"/>
                    <a:pt x="202" y="631"/>
                  </a:cubicBezTo>
                  <a:cubicBezTo>
                    <a:pt x="202" y="639"/>
                    <a:pt x="202" y="647"/>
                    <a:pt x="202" y="657"/>
                  </a:cubicBezTo>
                  <a:cubicBezTo>
                    <a:pt x="215" y="657"/>
                    <a:pt x="226" y="657"/>
                    <a:pt x="241" y="657"/>
                  </a:cubicBezTo>
                  <a:cubicBezTo>
                    <a:pt x="241" y="649"/>
                    <a:pt x="241" y="641"/>
                    <a:pt x="241" y="634"/>
                  </a:cubicBezTo>
                  <a:cubicBezTo>
                    <a:pt x="241" y="432"/>
                    <a:pt x="241" y="230"/>
                    <a:pt x="241" y="28"/>
                  </a:cubicBezTo>
                  <a:cubicBezTo>
                    <a:pt x="241" y="1"/>
                    <a:pt x="241" y="1"/>
                    <a:pt x="267" y="1"/>
                  </a:cubicBezTo>
                  <a:cubicBezTo>
                    <a:pt x="362" y="1"/>
                    <a:pt x="457" y="1"/>
                    <a:pt x="553" y="0"/>
                  </a:cubicBezTo>
                  <a:cubicBezTo>
                    <a:pt x="573" y="0"/>
                    <a:pt x="579" y="6"/>
                    <a:pt x="579" y="26"/>
                  </a:cubicBezTo>
                  <a:cubicBezTo>
                    <a:pt x="578" y="228"/>
                    <a:pt x="578" y="430"/>
                    <a:pt x="578" y="632"/>
                  </a:cubicBezTo>
                  <a:cubicBezTo>
                    <a:pt x="578" y="640"/>
                    <a:pt x="578" y="648"/>
                    <a:pt x="578" y="657"/>
                  </a:cubicBezTo>
                  <a:cubicBezTo>
                    <a:pt x="592" y="657"/>
                    <a:pt x="603" y="657"/>
                    <a:pt x="617" y="657"/>
                  </a:cubicBezTo>
                  <a:cubicBezTo>
                    <a:pt x="617" y="648"/>
                    <a:pt x="617" y="640"/>
                    <a:pt x="617" y="632"/>
                  </a:cubicBezTo>
                  <a:cubicBezTo>
                    <a:pt x="617" y="468"/>
                    <a:pt x="616" y="303"/>
                    <a:pt x="617" y="138"/>
                  </a:cubicBezTo>
                  <a:cubicBezTo>
                    <a:pt x="617" y="129"/>
                    <a:pt x="622" y="120"/>
                    <a:pt x="625" y="111"/>
                  </a:cubicBezTo>
                  <a:cubicBezTo>
                    <a:pt x="634" y="116"/>
                    <a:pt x="644" y="118"/>
                    <a:pt x="651" y="125"/>
                  </a:cubicBezTo>
                  <a:cubicBezTo>
                    <a:pt x="688" y="160"/>
                    <a:pt x="723" y="196"/>
                    <a:pt x="759" y="232"/>
                  </a:cubicBezTo>
                  <a:cubicBezTo>
                    <a:pt x="771" y="243"/>
                    <a:pt x="775" y="254"/>
                    <a:pt x="775" y="270"/>
                  </a:cubicBezTo>
                  <a:cubicBezTo>
                    <a:pt x="774" y="391"/>
                    <a:pt x="774" y="512"/>
                    <a:pt x="774" y="632"/>
                  </a:cubicBezTo>
                  <a:cubicBezTo>
                    <a:pt x="774" y="640"/>
                    <a:pt x="774" y="648"/>
                    <a:pt x="774" y="654"/>
                  </a:cubicBezTo>
                  <a:cubicBezTo>
                    <a:pt x="778" y="656"/>
                    <a:pt x="779" y="658"/>
                    <a:pt x="780" y="658"/>
                  </a:cubicBezTo>
                  <a:cubicBezTo>
                    <a:pt x="804" y="660"/>
                    <a:pt x="815" y="679"/>
                    <a:pt x="805" y="703"/>
                  </a:cubicBezTo>
                  <a:cubicBezTo>
                    <a:pt x="804" y="706"/>
                    <a:pt x="799" y="710"/>
                    <a:pt x="795" y="710"/>
                  </a:cubicBezTo>
                  <a:cubicBezTo>
                    <a:pt x="789" y="712"/>
                    <a:pt x="783" y="711"/>
                    <a:pt x="777" y="711"/>
                  </a:cubicBezTo>
                  <a:cubicBezTo>
                    <a:pt x="532" y="711"/>
                    <a:pt x="287" y="711"/>
                    <a:pt x="42" y="711"/>
                  </a:cubicBezTo>
                  <a:cubicBezTo>
                    <a:pt x="15" y="711"/>
                    <a:pt x="0" y="688"/>
                    <a:pt x="14" y="666"/>
                  </a:cubicBezTo>
                  <a:cubicBezTo>
                    <a:pt x="18" y="659"/>
                    <a:pt x="32" y="659"/>
                    <a:pt x="44" y="654"/>
                  </a:cubicBezTo>
                  <a:close/>
                  <a:moveTo>
                    <a:pt x="435" y="512"/>
                  </a:moveTo>
                  <a:cubicBezTo>
                    <a:pt x="435" y="486"/>
                    <a:pt x="435" y="486"/>
                    <a:pt x="410" y="486"/>
                  </a:cubicBezTo>
                  <a:cubicBezTo>
                    <a:pt x="383" y="486"/>
                    <a:pt x="383" y="486"/>
                    <a:pt x="383" y="512"/>
                  </a:cubicBezTo>
                  <a:cubicBezTo>
                    <a:pt x="383" y="538"/>
                    <a:pt x="384" y="538"/>
                    <a:pt x="409" y="538"/>
                  </a:cubicBezTo>
                  <a:cubicBezTo>
                    <a:pt x="435" y="538"/>
                    <a:pt x="435" y="538"/>
                    <a:pt x="435" y="512"/>
                  </a:cubicBezTo>
                  <a:close/>
                  <a:moveTo>
                    <a:pt x="410" y="400"/>
                  </a:moveTo>
                  <a:cubicBezTo>
                    <a:pt x="383" y="400"/>
                    <a:pt x="384" y="400"/>
                    <a:pt x="383" y="426"/>
                  </a:cubicBezTo>
                  <a:cubicBezTo>
                    <a:pt x="382" y="444"/>
                    <a:pt x="386" y="454"/>
                    <a:pt x="408" y="452"/>
                  </a:cubicBezTo>
                  <a:cubicBezTo>
                    <a:pt x="435" y="451"/>
                    <a:pt x="435" y="452"/>
                    <a:pt x="435" y="427"/>
                  </a:cubicBezTo>
                  <a:cubicBezTo>
                    <a:pt x="436" y="400"/>
                    <a:pt x="435" y="400"/>
                    <a:pt x="410" y="400"/>
                  </a:cubicBezTo>
                  <a:close/>
                  <a:moveTo>
                    <a:pt x="345" y="512"/>
                  </a:moveTo>
                  <a:cubicBezTo>
                    <a:pt x="345" y="486"/>
                    <a:pt x="345" y="486"/>
                    <a:pt x="320" y="486"/>
                  </a:cubicBezTo>
                  <a:cubicBezTo>
                    <a:pt x="293" y="486"/>
                    <a:pt x="293" y="486"/>
                    <a:pt x="293" y="512"/>
                  </a:cubicBezTo>
                  <a:cubicBezTo>
                    <a:pt x="293" y="538"/>
                    <a:pt x="293" y="538"/>
                    <a:pt x="319" y="538"/>
                  </a:cubicBezTo>
                  <a:cubicBezTo>
                    <a:pt x="345" y="538"/>
                    <a:pt x="345" y="538"/>
                    <a:pt x="345" y="512"/>
                  </a:cubicBezTo>
                  <a:close/>
                  <a:moveTo>
                    <a:pt x="409" y="624"/>
                  </a:moveTo>
                  <a:cubicBezTo>
                    <a:pt x="435" y="624"/>
                    <a:pt x="435" y="624"/>
                    <a:pt x="435" y="599"/>
                  </a:cubicBezTo>
                  <a:cubicBezTo>
                    <a:pt x="436" y="572"/>
                    <a:pt x="435" y="572"/>
                    <a:pt x="409" y="572"/>
                  </a:cubicBezTo>
                  <a:cubicBezTo>
                    <a:pt x="383" y="572"/>
                    <a:pt x="383" y="572"/>
                    <a:pt x="383" y="599"/>
                  </a:cubicBezTo>
                  <a:cubicBezTo>
                    <a:pt x="383" y="624"/>
                    <a:pt x="383" y="624"/>
                    <a:pt x="409" y="624"/>
                  </a:cubicBezTo>
                  <a:close/>
                  <a:moveTo>
                    <a:pt x="408" y="280"/>
                  </a:moveTo>
                  <a:cubicBezTo>
                    <a:pt x="435" y="280"/>
                    <a:pt x="435" y="279"/>
                    <a:pt x="436" y="254"/>
                  </a:cubicBezTo>
                  <a:cubicBezTo>
                    <a:pt x="437" y="235"/>
                    <a:pt x="433" y="226"/>
                    <a:pt x="411" y="227"/>
                  </a:cubicBezTo>
                  <a:cubicBezTo>
                    <a:pt x="383" y="229"/>
                    <a:pt x="383" y="227"/>
                    <a:pt x="383" y="253"/>
                  </a:cubicBezTo>
                  <a:cubicBezTo>
                    <a:pt x="383" y="279"/>
                    <a:pt x="384" y="280"/>
                    <a:pt x="408" y="280"/>
                  </a:cubicBezTo>
                  <a:close/>
                  <a:moveTo>
                    <a:pt x="406" y="55"/>
                  </a:moveTo>
                  <a:cubicBezTo>
                    <a:pt x="389" y="51"/>
                    <a:pt x="382" y="60"/>
                    <a:pt x="383" y="80"/>
                  </a:cubicBezTo>
                  <a:cubicBezTo>
                    <a:pt x="384" y="107"/>
                    <a:pt x="384" y="107"/>
                    <a:pt x="409" y="107"/>
                  </a:cubicBezTo>
                  <a:cubicBezTo>
                    <a:pt x="435" y="107"/>
                    <a:pt x="435" y="107"/>
                    <a:pt x="435" y="82"/>
                  </a:cubicBezTo>
                  <a:cubicBezTo>
                    <a:pt x="436" y="55"/>
                    <a:pt x="436" y="55"/>
                    <a:pt x="406" y="55"/>
                  </a:cubicBezTo>
                  <a:close/>
                  <a:moveTo>
                    <a:pt x="406" y="193"/>
                  </a:moveTo>
                  <a:cubicBezTo>
                    <a:pt x="436" y="193"/>
                    <a:pt x="436" y="193"/>
                    <a:pt x="435" y="167"/>
                  </a:cubicBezTo>
                  <a:cubicBezTo>
                    <a:pt x="435" y="141"/>
                    <a:pt x="435" y="141"/>
                    <a:pt x="410" y="141"/>
                  </a:cubicBezTo>
                  <a:cubicBezTo>
                    <a:pt x="384" y="141"/>
                    <a:pt x="384" y="141"/>
                    <a:pt x="383" y="167"/>
                  </a:cubicBezTo>
                  <a:cubicBezTo>
                    <a:pt x="382" y="187"/>
                    <a:pt x="388" y="197"/>
                    <a:pt x="406" y="193"/>
                  </a:cubicBezTo>
                  <a:close/>
                  <a:moveTo>
                    <a:pt x="406" y="365"/>
                  </a:moveTo>
                  <a:cubicBezTo>
                    <a:pt x="435" y="365"/>
                    <a:pt x="435" y="365"/>
                    <a:pt x="435" y="339"/>
                  </a:cubicBezTo>
                  <a:cubicBezTo>
                    <a:pt x="435" y="314"/>
                    <a:pt x="435" y="313"/>
                    <a:pt x="410" y="313"/>
                  </a:cubicBezTo>
                  <a:cubicBezTo>
                    <a:pt x="384" y="313"/>
                    <a:pt x="384" y="314"/>
                    <a:pt x="383" y="340"/>
                  </a:cubicBezTo>
                  <a:cubicBezTo>
                    <a:pt x="382" y="359"/>
                    <a:pt x="387" y="370"/>
                    <a:pt x="406" y="365"/>
                  </a:cubicBezTo>
                  <a:close/>
                  <a:moveTo>
                    <a:pt x="525" y="512"/>
                  </a:moveTo>
                  <a:cubicBezTo>
                    <a:pt x="525" y="486"/>
                    <a:pt x="525" y="486"/>
                    <a:pt x="500" y="486"/>
                  </a:cubicBezTo>
                  <a:cubicBezTo>
                    <a:pt x="474" y="486"/>
                    <a:pt x="473" y="486"/>
                    <a:pt x="473" y="512"/>
                  </a:cubicBezTo>
                  <a:cubicBezTo>
                    <a:pt x="473" y="538"/>
                    <a:pt x="473" y="538"/>
                    <a:pt x="499" y="538"/>
                  </a:cubicBezTo>
                  <a:cubicBezTo>
                    <a:pt x="525" y="538"/>
                    <a:pt x="525" y="538"/>
                    <a:pt x="525" y="512"/>
                  </a:cubicBezTo>
                  <a:close/>
                  <a:moveTo>
                    <a:pt x="316" y="55"/>
                  </a:moveTo>
                  <a:cubicBezTo>
                    <a:pt x="299" y="51"/>
                    <a:pt x="292" y="59"/>
                    <a:pt x="293" y="80"/>
                  </a:cubicBezTo>
                  <a:cubicBezTo>
                    <a:pt x="294" y="107"/>
                    <a:pt x="293" y="107"/>
                    <a:pt x="319" y="107"/>
                  </a:cubicBezTo>
                  <a:cubicBezTo>
                    <a:pt x="345" y="107"/>
                    <a:pt x="345" y="107"/>
                    <a:pt x="345" y="81"/>
                  </a:cubicBezTo>
                  <a:cubicBezTo>
                    <a:pt x="345" y="55"/>
                    <a:pt x="345" y="55"/>
                    <a:pt x="316" y="55"/>
                  </a:cubicBezTo>
                  <a:close/>
                  <a:moveTo>
                    <a:pt x="503" y="55"/>
                  </a:moveTo>
                  <a:cubicBezTo>
                    <a:pt x="473" y="55"/>
                    <a:pt x="473" y="55"/>
                    <a:pt x="473" y="81"/>
                  </a:cubicBezTo>
                  <a:cubicBezTo>
                    <a:pt x="473" y="107"/>
                    <a:pt x="473" y="107"/>
                    <a:pt x="499" y="107"/>
                  </a:cubicBezTo>
                  <a:cubicBezTo>
                    <a:pt x="525" y="107"/>
                    <a:pt x="524" y="107"/>
                    <a:pt x="526" y="80"/>
                  </a:cubicBezTo>
                  <a:cubicBezTo>
                    <a:pt x="527" y="61"/>
                    <a:pt x="521" y="51"/>
                    <a:pt x="503" y="55"/>
                  </a:cubicBezTo>
                  <a:close/>
                  <a:moveTo>
                    <a:pt x="473" y="166"/>
                  </a:moveTo>
                  <a:cubicBezTo>
                    <a:pt x="473" y="193"/>
                    <a:pt x="473" y="193"/>
                    <a:pt x="497" y="193"/>
                  </a:cubicBezTo>
                  <a:cubicBezTo>
                    <a:pt x="525" y="193"/>
                    <a:pt x="525" y="193"/>
                    <a:pt x="525" y="168"/>
                  </a:cubicBezTo>
                  <a:cubicBezTo>
                    <a:pt x="525" y="141"/>
                    <a:pt x="525" y="141"/>
                    <a:pt x="499" y="141"/>
                  </a:cubicBezTo>
                  <a:cubicBezTo>
                    <a:pt x="473" y="141"/>
                    <a:pt x="473" y="141"/>
                    <a:pt x="473" y="166"/>
                  </a:cubicBezTo>
                  <a:close/>
                  <a:moveTo>
                    <a:pt x="317" y="228"/>
                  </a:moveTo>
                  <a:cubicBezTo>
                    <a:pt x="300" y="224"/>
                    <a:pt x="292" y="231"/>
                    <a:pt x="293" y="252"/>
                  </a:cubicBezTo>
                  <a:cubicBezTo>
                    <a:pt x="294" y="280"/>
                    <a:pt x="293" y="280"/>
                    <a:pt x="318" y="280"/>
                  </a:cubicBezTo>
                  <a:cubicBezTo>
                    <a:pt x="345" y="280"/>
                    <a:pt x="345" y="280"/>
                    <a:pt x="345" y="254"/>
                  </a:cubicBezTo>
                  <a:cubicBezTo>
                    <a:pt x="345" y="228"/>
                    <a:pt x="345" y="228"/>
                    <a:pt x="317" y="228"/>
                  </a:cubicBezTo>
                  <a:close/>
                  <a:moveTo>
                    <a:pt x="525" y="253"/>
                  </a:moveTo>
                  <a:cubicBezTo>
                    <a:pt x="525" y="228"/>
                    <a:pt x="525" y="228"/>
                    <a:pt x="500" y="228"/>
                  </a:cubicBezTo>
                  <a:cubicBezTo>
                    <a:pt x="473" y="227"/>
                    <a:pt x="473" y="227"/>
                    <a:pt x="473" y="253"/>
                  </a:cubicBezTo>
                  <a:cubicBezTo>
                    <a:pt x="473" y="280"/>
                    <a:pt x="473" y="280"/>
                    <a:pt x="500" y="280"/>
                  </a:cubicBezTo>
                  <a:cubicBezTo>
                    <a:pt x="525" y="280"/>
                    <a:pt x="525" y="280"/>
                    <a:pt x="525" y="253"/>
                  </a:cubicBezTo>
                  <a:close/>
                  <a:moveTo>
                    <a:pt x="345" y="425"/>
                  </a:moveTo>
                  <a:cubicBezTo>
                    <a:pt x="345" y="400"/>
                    <a:pt x="345" y="401"/>
                    <a:pt x="318" y="399"/>
                  </a:cubicBezTo>
                  <a:cubicBezTo>
                    <a:pt x="297" y="398"/>
                    <a:pt x="292" y="407"/>
                    <a:pt x="293" y="426"/>
                  </a:cubicBezTo>
                  <a:cubicBezTo>
                    <a:pt x="295" y="452"/>
                    <a:pt x="293" y="452"/>
                    <a:pt x="320" y="452"/>
                  </a:cubicBezTo>
                  <a:cubicBezTo>
                    <a:pt x="345" y="452"/>
                    <a:pt x="345" y="452"/>
                    <a:pt x="345" y="425"/>
                  </a:cubicBezTo>
                  <a:close/>
                  <a:moveTo>
                    <a:pt x="503" y="400"/>
                  </a:moveTo>
                  <a:cubicBezTo>
                    <a:pt x="473" y="400"/>
                    <a:pt x="474" y="400"/>
                    <a:pt x="473" y="425"/>
                  </a:cubicBezTo>
                  <a:cubicBezTo>
                    <a:pt x="472" y="444"/>
                    <a:pt x="475" y="454"/>
                    <a:pt x="497" y="452"/>
                  </a:cubicBezTo>
                  <a:cubicBezTo>
                    <a:pt x="525" y="451"/>
                    <a:pt x="524" y="452"/>
                    <a:pt x="526" y="425"/>
                  </a:cubicBezTo>
                  <a:cubicBezTo>
                    <a:pt x="526" y="406"/>
                    <a:pt x="522" y="395"/>
                    <a:pt x="503" y="400"/>
                  </a:cubicBezTo>
                  <a:close/>
                  <a:moveTo>
                    <a:pt x="345" y="599"/>
                  </a:moveTo>
                  <a:cubicBezTo>
                    <a:pt x="345" y="572"/>
                    <a:pt x="345" y="573"/>
                    <a:pt x="320" y="572"/>
                  </a:cubicBezTo>
                  <a:cubicBezTo>
                    <a:pt x="301" y="571"/>
                    <a:pt x="291" y="574"/>
                    <a:pt x="293" y="596"/>
                  </a:cubicBezTo>
                  <a:cubicBezTo>
                    <a:pt x="295" y="624"/>
                    <a:pt x="293" y="624"/>
                    <a:pt x="318" y="624"/>
                  </a:cubicBezTo>
                  <a:cubicBezTo>
                    <a:pt x="345" y="624"/>
                    <a:pt x="345" y="624"/>
                    <a:pt x="345" y="599"/>
                  </a:cubicBezTo>
                  <a:close/>
                  <a:moveTo>
                    <a:pt x="499" y="624"/>
                  </a:moveTo>
                  <a:cubicBezTo>
                    <a:pt x="525" y="624"/>
                    <a:pt x="524" y="624"/>
                    <a:pt x="526" y="598"/>
                  </a:cubicBezTo>
                  <a:cubicBezTo>
                    <a:pt x="527" y="579"/>
                    <a:pt x="522" y="570"/>
                    <a:pt x="501" y="572"/>
                  </a:cubicBezTo>
                  <a:cubicBezTo>
                    <a:pt x="473" y="573"/>
                    <a:pt x="473" y="572"/>
                    <a:pt x="473" y="597"/>
                  </a:cubicBezTo>
                  <a:cubicBezTo>
                    <a:pt x="473" y="624"/>
                    <a:pt x="473" y="624"/>
                    <a:pt x="499" y="624"/>
                  </a:cubicBezTo>
                  <a:close/>
                  <a:moveTo>
                    <a:pt x="317" y="193"/>
                  </a:moveTo>
                  <a:cubicBezTo>
                    <a:pt x="345" y="193"/>
                    <a:pt x="345" y="193"/>
                    <a:pt x="345" y="168"/>
                  </a:cubicBezTo>
                  <a:cubicBezTo>
                    <a:pt x="345" y="141"/>
                    <a:pt x="345" y="141"/>
                    <a:pt x="319" y="141"/>
                  </a:cubicBezTo>
                  <a:cubicBezTo>
                    <a:pt x="293" y="141"/>
                    <a:pt x="295" y="141"/>
                    <a:pt x="293" y="169"/>
                  </a:cubicBezTo>
                  <a:cubicBezTo>
                    <a:pt x="292" y="190"/>
                    <a:pt x="300" y="196"/>
                    <a:pt x="317" y="193"/>
                  </a:cubicBezTo>
                  <a:close/>
                  <a:moveTo>
                    <a:pt x="293" y="335"/>
                  </a:moveTo>
                  <a:cubicBezTo>
                    <a:pt x="293" y="365"/>
                    <a:pt x="293" y="364"/>
                    <a:pt x="319" y="366"/>
                  </a:cubicBezTo>
                  <a:cubicBezTo>
                    <a:pt x="338" y="367"/>
                    <a:pt x="347" y="363"/>
                    <a:pt x="346" y="341"/>
                  </a:cubicBezTo>
                  <a:cubicBezTo>
                    <a:pt x="344" y="314"/>
                    <a:pt x="345" y="314"/>
                    <a:pt x="320" y="314"/>
                  </a:cubicBezTo>
                  <a:cubicBezTo>
                    <a:pt x="302" y="313"/>
                    <a:pt x="288" y="315"/>
                    <a:pt x="293" y="335"/>
                  </a:cubicBezTo>
                  <a:close/>
                  <a:moveTo>
                    <a:pt x="525" y="336"/>
                  </a:moveTo>
                  <a:cubicBezTo>
                    <a:pt x="530" y="317"/>
                    <a:pt x="518" y="313"/>
                    <a:pt x="499" y="314"/>
                  </a:cubicBezTo>
                  <a:cubicBezTo>
                    <a:pt x="474" y="314"/>
                    <a:pt x="475" y="314"/>
                    <a:pt x="473" y="340"/>
                  </a:cubicBezTo>
                  <a:cubicBezTo>
                    <a:pt x="472" y="361"/>
                    <a:pt x="480" y="367"/>
                    <a:pt x="499" y="366"/>
                  </a:cubicBezTo>
                  <a:cubicBezTo>
                    <a:pt x="525" y="364"/>
                    <a:pt x="525" y="365"/>
                    <a:pt x="525" y="336"/>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nvGrpSpPr>
          <p:cNvPr id="27" name="Group 26">
            <a:extLst>
              <a:ext uri="{FF2B5EF4-FFF2-40B4-BE49-F238E27FC236}">
                <a16:creationId xmlns:a16="http://schemas.microsoft.com/office/drawing/2014/main" id="{7FEF5DAA-7024-D099-0403-B3EF01BC1BDF}"/>
              </a:ext>
            </a:extLst>
          </p:cNvPr>
          <p:cNvGrpSpPr/>
          <p:nvPr/>
        </p:nvGrpSpPr>
        <p:grpSpPr>
          <a:xfrm>
            <a:off x="1551352" y="4980158"/>
            <a:ext cx="467876" cy="467876"/>
            <a:chOff x="823974" y="5537113"/>
            <a:chExt cx="467876" cy="467876"/>
          </a:xfrm>
        </p:grpSpPr>
        <p:sp>
          <p:nvSpPr>
            <p:cNvPr id="28" name="Oval 27">
              <a:extLst>
                <a:ext uri="{FF2B5EF4-FFF2-40B4-BE49-F238E27FC236}">
                  <a16:creationId xmlns:a16="http://schemas.microsoft.com/office/drawing/2014/main" id="{6FCA3DF5-5B71-314A-96BE-85922DD17804}"/>
                </a:ext>
              </a:extLst>
            </p:cNvPr>
            <p:cNvSpPr/>
            <p:nvPr/>
          </p:nvSpPr>
          <p:spPr>
            <a:xfrm>
              <a:off x="823974" y="5537113"/>
              <a:ext cx="467876" cy="467876"/>
            </a:xfrm>
            <a:prstGeom prst="ellipse">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nvGrpSpPr>
            <p:cNvPr id="29" name="Group 8">
              <a:extLst>
                <a:ext uri="{FF2B5EF4-FFF2-40B4-BE49-F238E27FC236}">
                  <a16:creationId xmlns:a16="http://schemas.microsoft.com/office/drawing/2014/main" id="{DA239E99-1363-89B9-783E-FE26C0E5BAEA}"/>
                </a:ext>
              </a:extLst>
            </p:cNvPr>
            <p:cNvGrpSpPr>
              <a:grpSpLocks noChangeAspect="1"/>
            </p:cNvGrpSpPr>
            <p:nvPr/>
          </p:nvGrpSpPr>
          <p:grpSpPr bwMode="auto">
            <a:xfrm>
              <a:off x="929801" y="5645165"/>
              <a:ext cx="271462" cy="252413"/>
              <a:chOff x="3063" y="1120"/>
              <a:chExt cx="171" cy="159"/>
            </a:xfrm>
            <a:solidFill>
              <a:schemeClr val="accent4"/>
            </a:solidFill>
          </p:grpSpPr>
          <p:sp>
            <p:nvSpPr>
              <p:cNvPr id="30" name="Freeform 9">
                <a:extLst>
                  <a:ext uri="{FF2B5EF4-FFF2-40B4-BE49-F238E27FC236}">
                    <a16:creationId xmlns:a16="http://schemas.microsoft.com/office/drawing/2014/main" id="{A452ED59-CC5E-3EB7-DDA5-65494575273B}"/>
                  </a:ext>
                </a:extLst>
              </p:cNvPr>
              <p:cNvSpPr>
                <a:spLocks/>
              </p:cNvSpPr>
              <p:nvPr/>
            </p:nvSpPr>
            <p:spPr bwMode="auto">
              <a:xfrm>
                <a:off x="3140" y="1120"/>
                <a:ext cx="16" cy="70"/>
              </a:xfrm>
              <a:custGeom>
                <a:avLst/>
                <a:gdLst>
                  <a:gd name="T0" fmla="*/ 0 w 48"/>
                  <a:gd name="T1" fmla="*/ 13 h 209"/>
                  <a:gd name="T2" fmla="*/ 0 w 48"/>
                  <a:gd name="T3" fmla="*/ 116 h 209"/>
                  <a:gd name="T4" fmla="*/ 0 w 48"/>
                  <a:gd name="T5" fmla="*/ 207 h 209"/>
                  <a:gd name="T6" fmla="*/ 24 w 48"/>
                  <a:gd name="T7" fmla="*/ 209 h 209"/>
                  <a:gd name="T8" fmla="*/ 48 w 48"/>
                  <a:gd name="T9" fmla="*/ 209 h 209"/>
                  <a:gd name="T10" fmla="*/ 48 w 48"/>
                  <a:gd name="T11" fmla="*/ 105 h 209"/>
                  <a:gd name="T12" fmla="*/ 48 w 48"/>
                  <a:gd name="T13" fmla="*/ 0 h 209"/>
                  <a:gd name="T14" fmla="*/ 24 w 48"/>
                  <a:gd name="T15" fmla="*/ 0 h 209"/>
                  <a:gd name="T16" fmla="*/ 0 w 48"/>
                  <a:gd name="T17" fmla="*/ 0 h 209"/>
                  <a:gd name="T18" fmla="*/ 0 w 48"/>
                  <a:gd name="T19" fmla="*/ 1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209">
                    <a:moveTo>
                      <a:pt x="0" y="13"/>
                    </a:moveTo>
                    <a:cubicBezTo>
                      <a:pt x="0" y="20"/>
                      <a:pt x="0" y="67"/>
                      <a:pt x="0" y="116"/>
                    </a:cubicBezTo>
                    <a:cubicBezTo>
                      <a:pt x="0" y="165"/>
                      <a:pt x="0" y="206"/>
                      <a:pt x="0" y="207"/>
                    </a:cubicBezTo>
                    <a:cubicBezTo>
                      <a:pt x="0" y="209"/>
                      <a:pt x="1" y="209"/>
                      <a:pt x="24" y="209"/>
                    </a:cubicBezTo>
                    <a:cubicBezTo>
                      <a:pt x="48" y="209"/>
                      <a:pt x="48" y="209"/>
                      <a:pt x="48" y="209"/>
                    </a:cubicBezTo>
                    <a:cubicBezTo>
                      <a:pt x="48" y="105"/>
                      <a:pt x="48" y="105"/>
                      <a:pt x="48" y="105"/>
                    </a:cubicBezTo>
                    <a:cubicBezTo>
                      <a:pt x="48" y="0"/>
                      <a:pt x="48" y="0"/>
                      <a:pt x="48" y="0"/>
                    </a:cubicBezTo>
                    <a:cubicBezTo>
                      <a:pt x="24" y="0"/>
                      <a:pt x="24" y="0"/>
                      <a:pt x="24" y="0"/>
                    </a:cubicBezTo>
                    <a:cubicBezTo>
                      <a:pt x="0" y="0"/>
                      <a:pt x="0" y="0"/>
                      <a:pt x="0" y="0"/>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31" name="Freeform 10">
                <a:extLst>
                  <a:ext uri="{FF2B5EF4-FFF2-40B4-BE49-F238E27FC236}">
                    <a16:creationId xmlns:a16="http://schemas.microsoft.com/office/drawing/2014/main" id="{0650ECD4-A8A0-1E0B-FCEE-6F6E9816A468}"/>
                  </a:ext>
                </a:extLst>
              </p:cNvPr>
              <p:cNvSpPr>
                <a:spLocks/>
              </p:cNvSpPr>
              <p:nvPr/>
            </p:nvSpPr>
            <p:spPr bwMode="auto">
              <a:xfrm>
                <a:off x="3166" y="1133"/>
                <a:ext cx="16" cy="57"/>
              </a:xfrm>
              <a:custGeom>
                <a:avLst/>
                <a:gdLst>
                  <a:gd name="T0" fmla="*/ 0 w 16"/>
                  <a:gd name="T1" fmla="*/ 29 h 57"/>
                  <a:gd name="T2" fmla="*/ 0 w 16"/>
                  <a:gd name="T3" fmla="*/ 57 h 57"/>
                  <a:gd name="T4" fmla="*/ 8 w 16"/>
                  <a:gd name="T5" fmla="*/ 57 h 57"/>
                  <a:gd name="T6" fmla="*/ 16 w 16"/>
                  <a:gd name="T7" fmla="*/ 57 h 57"/>
                  <a:gd name="T8" fmla="*/ 16 w 16"/>
                  <a:gd name="T9" fmla="*/ 29 h 57"/>
                  <a:gd name="T10" fmla="*/ 16 w 16"/>
                  <a:gd name="T11" fmla="*/ 0 h 57"/>
                  <a:gd name="T12" fmla="*/ 8 w 16"/>
                  <a:gd name="T13" fmla="*/ 0 h 57"/>
                  <a:gd name="T14" fmla="*/ 0 w 16"/>
                  <a:gd name="T15" fmla="*/ 0 h 57"/>
                  <a:gd name="T16" fmla="*/ 0 w 16"/>
                  <a:gd name="T17" fmla="*/ 2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57">
                    <a:moveTo>
                      <a:pt x="0" y="29"/>
                    </a:moveTo>
                    <a:lnTo>
                      <a:pt x="0" y="57"/>
                    </a:lnTo>
                    <a:lnTo>
                      <a:pt x="8" y="57"/>
                    </a:lnTo>
                    <a:lnTo>
                      <a:pt x="16" y="57"/>
                    </a:lnTo>
                    <a:lnTo>
                      <a:pt x="16" y="29"/>
                    </a:lnTo>
                    <a:lnTo>
                      <a:pt x="16" y="0"/>
                    </a:lnTo>
                    <a:lnTo>
                      <a:pt x="8" y="0"/>
                    </a:lnTo>
                    <a:lnTo>
                      <a:pt x="0" y="0"/>
                    </a:lnTo>
                    <a:lnTo>
                      <a:pt x="0"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32" name="Freeform 11">
                <a:extLst>
                  <a:ext uri="{FF2B5EF4-FFF2-40B4-BE49-F238E27FC236}">
                    <a16:creationId xmlns:a16="http://schemas.microsoft.com/office/drawing/2014/main" id="{6320E3AB-4484-EF3C-3F4B-040BCE42AEB0}"/>
                  </a:ext>
                </a:extLst>
              </p:cNvPr>
              <p:cNvSpPr>
                <a:spLocks/>
              </p:cNvSpPr>
              <p:nvPr/>
            </p:nvSpPr>
            <p:spPr bwMode="auto">
              <a:xfrm>
                <a:off x="3192" y="1145"/>
                <a:ext cx="16" cy="45"/>
              </a:xfrm>
              <a:custGeom>
                <a:avLst/>
                <a:gdLst>
                  <a:gd name="T0" fmla="*/ 0 w 16"/>
                  <a:gd name="T1" fmla="*/ 23 h 45"/>
                  <a:gd name="T2" fmla="*/ 0 w 16"/>
                  <a:gd name="T3" fmla="*/ 45 h 45"/>
                  <a:gd name="T4" fmla="*/ 8 w 16"/>
                  <a:gd name="T5" fmla="*/ 45 h 45"/>
                  <a:gd name="T6" fmla="*/ 16 w 16"/>
                  <a:gd name="T7" fmla="*/ 45 h 45"/>
                  <a:gd name="T8" fmla="*/ 16 w 16"/>
                  <a:gd name="T9" fmla="*/ 23 h 45"/>
                  <a:gd name="T10" fmla="*/ 16 w 16"/>
                  <a:gd name="T11" fmla="*/ 0 h 45"/>
                  <a:gd name="T12" fmla="*/ 8 w 16"/>
                  <a:gd name="T13" fmla="*/ 0 h 45"/>
                  <a:gd name="T14" fmla="*/ 0 w 16"/>
                  <a:gd name="T15" fmla="*/ 0 h 45"/>
                  <a:gd name="T16" fmla="*/ 0 w 16"/>
                  <a:gd name="T17" fmla="*/ 23 h 45"/>
                  <a:gd name="T18" fmla="*/ 0 w 16"/>
                  <a:gd name="T19" fmla="*/ 2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45">
                    <a:moveTo>
                      <a:pt x="0" y="23"/>
                    </a:moveTo>
                    <a:lnTo>
                      <a:pt x="0" y="45"/>
                    </a:lnTo>
                    <a:lnTo>
                      <a:pt x="8" y="45"/>
                    </a:lnTo>
                    <a:lnTo>
                      <a:pt x="16" y="45"/>
                    </a:lnTo>
                    <a:lnTo>
                      <a:pt x="16" y="23"/>
                    </a:lnTo>
                    <a:lnTo>
                      <a:pt x="16" y="0"/>
                    </a:lnTo>
                    <a:lnTo>
                      <a:pt x="8" y="0"/>
                    </a:lnTo>
                    <a:lnTo>
                      <a:pt x="0" y="0"/>
                    </a:lnTo>
                    <a:lnTo>
                      <a:pt x="0" y="23"/>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33" name="Freeform 12">
                <a:extLst>
                  <a:ext uri="{FF2B5EF4-FFF2-40B4-BE49-F238E27FC236}">
                    <a16:creationId xmlns:a16="http://schemas.microsoft.com/office/drawing/2014/main" id="{37053DFF-B872-48EE-8BC6-98E99F43A916}"/>
                  </a:ext>
                </a:extLst>
              </p:cNvPr>
              <p:cNvSpPr>
                <a:spLocks/>
              </p:cNvSpPr>
              <p:nvPr/>
            </p:nvSpPr>
            <p:spPr bwMode="auto">
              <a:xfrm>
                <a:off x="3113" y="1153"/>
                <a:ext cx="16" cy="37"/>
              </a:xfrm>
              <a:custGeom>
                <a:avLst/>
                <a:gdLst>
                  <a:gd name="T0" fmla="*/ 0 w 16"/>
                  <a:gd name="T1" fmla="*/ 19 h 37"/>
                  <a:gd name="T2" fmla="*/ 0 w 16"/>
                  <a:gd name="T3" fmla="*/ 37 h 37"/>
                  <a:gd name="T4" fmla="*/ 8 w 16"/>
                  <a:gd name="T5" fmla="*/ 37 h 37"/>
                  <a:gd name="T6" fmla="*/ 16 w 16"/>
                  <a:gd name="T7" fmla="*/ 37 h 37"/>
                  <a:gd name="T8" fmla="*/ 16 w 16"/>
                  <a:gd name="T9" fmla="*/ 19 h 37"/>
                  <a:gd name="T10" fmla="*/ 16 w 16"/>
                  <a:gd name="T11" fmla="*/ 0 h 37"/>
                  <a:gd name="T12" fmla="*/ 8 w 16"/>
                  <a:gd name="T13" fmla="*/ 0 h 37"/>
                  <a:gd name="T14" fmla="*/ 0 w 16"/>
                  <a:gd name="T15" fmla="*/ 0 h 37"/>
                  <a:gd name="T16" fmla="*/ 0 w 16"/>
                  <a:gd name="T17" fmla="*/ 1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37">
                    <a:moveTo>
                      <a:pt x="0" y="19"/>
                    </a:moveTo>
                    <a:lnTo>
                      <a:pt x="0" y="37"/>
                    </a:lnTo>
                    <a:lnTo>
                      <a:pt x="8" y="37"/>
                    </a:lnTo>
                    <a:lnTo>
                      <a:pt x="16" y="37"/>
                    </a:lnTo>
                    <a:lnTo>
                      <a:pt x="16" y="19"/>
                    </a:lnTo>
                    <a:lnTo>
                      <a:pt x="16" y="0"/>
                    </a:lnTo>
                    <a:lnTo>
                      <a:pt x="8" y="0"/>
                    </a:lnTo>
                    <a:lnTo>
                      <a:pt x="0" y="0"/>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34" name="Freeform 13">
                <a:extLst>
                  <a:ext uri="{FF2B5EF4-FFF2-40B4-BE49-F238E27FC236}">
                    <a16:creationId xmlns:a16="http://schemas.microsoft.com/office/drawing/2014/main" id="{FF220EB7-BBDC-CE9E-2030-B688C889D203}"/>
                  </a:ext>
                </a:extLst>
              </p:cNvPr>
              <p:cNvSpPr>
                <a:spLocks/>
              </p:cNvSpPr>
              <p:nvPr/>
            </p:nvSpPr>
            <p:spPr bwMode="auto">
              <a:xfrm>
                <a:off x="3087" y="1165"/>
                <a:ext cx="16" cy="25"/>
              </a:xfrm>
              <a:custGeom>
                <a:avLst/>
                <a:gdLst>
                  <a:gd name="T0" fmla="*/ 0 w 16"/>
                  <a:gd name="T1" fmla="*/ 12 h 25"/>
                  <a:gd name="T2" fmla="*/ 0 w 16"/>
                  <a:gd name="T3" fmla="*/ 25 h 25"/>
                  <a:gd name="T4" fmla="*/ 8 w 16"/>
                  <a:gd name="T5" fmla="*/ 25 h 25"/>
                  <a:gd name="T6" fmla="*/ 16 w 16"/>
                  <a:gd name="T7" fmla="*/ 25 h 25"/>
                  <a:gd name="T8" fmla="*/ 16 w 16"/>
                  <a:gd name="T9" fmla="*/ 12 h 25"/>
                  <a:gd name="T10" fmla="*/ 16 w 16"/>
                  <a:gd name="T11" fmla="*/ 0 h 25"/>
                  <a:gd name="T12" fmla="*/ 8 w 16"/>
                  <a:gd name="T13" fmla="*/ 0 h 25"/>
                  <a:gd name="T14" fmla="*/ 0 w 16"/>
                  <a:gd name="T15" fmla="*/ 0 h 25"/>
                  <a:gd name="T16" fmla="*/ 0 w 16"/>
                  <a:gd name="T1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25">
                    <a:moveTo>
                      <a:pt x="0" y="12"/>
                    </a:moveTo>
                    <a:lnTo>
                      <a:pt x="0" y="25"/>
                    </a:lnTo>
                    <a:lnTo>
                      <a:pt x="8" y="25"/>
                    </a:lnTo>
                    <a:lnTo>
                      <a:pt x="16" y="25"/>
                    </a:lnTo>
                    <a:lnTo>
                      <a:pt x="16" y="12"/>
                    </a:lnTo>
                    <a:lnTo>
                      <a:pt x="16" y="0"/>
                    </a:lnTo>
                    <a:lnTo>
                      <a:pt x="8" y="0"/>
                    </a:lnTo>
                    <a:lnTo>
                      <a:pt x="0"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35" name="Freeform 14">
                <a:extLst>
                  <a:ext uri="{FF2B5EF4-FFF2-40B4-BE49-F238E27FC236}">
                    <a16:creationId xmlns:a16="http://schemas.microsoft.com/office/drawing/2014/main" id="{E196222A-F574-9E3F-1A2A-B22D247FAC1A}"/>
                  </a:ext>
                </a:extLst>
              </p:cNvPr>
              <p:cNvSpPr>
                <a:spLocks/>
              </p:cNvSpPr>
              <p:nvPr/>
            </p:nvSpPr>
            <p:spPr bwMode="auto">
              <a:xfrm>
                <a:off x="3063" y="1207"/>
                <a:ext cx="171" cy="72"/>
              </a:xfrm>
              <a:custGeom>
                <a:avLst/>
                <a:gdLst>
                  <a:gd name="T0" fmla="*/ 133 w 507"/>
                  <a:gd name="T1" fmla="*/ 6 h 212"/>
                  <a:gd name="T2" fmla="*/ 111 w 507"/>
                  <a:gd name="T3" fmla="*/ 18 h 212"/>
                  <a:gd name="T4" fmla="*/ 101 w 507"/>
                  <a:gd name="T5" fmla="*/ 72 h 212"/>
                  <a:gd name="T6" fmla="*/ 103 w 507"/>
                  <a:gd name="T7" fmla="*/ 76 h 212"/>
                  <a:gd name="T8" fmla="*/ 86 w 507"/>
                  <a:gd name="T9" fmla="*/ 97 h 212"/>
                  <a:gd name="T10" fmla="*/ 67 w 507"/>
                  <a:gd name="T11" fmla="*/ 119 h 212"/>
                  <a:gd name="T12" fmla="*/ 58 w 507"/>
                  <a:gd name="T13" fmla="*/ 119 h 212"/>
                  <a:gd name="T14" fmla="*/ 2 w 507"/>
                  <a:gd name="T15" fmla="*/ 168 h 212"/>
                  <a:gd name="T16" fmla="*/ 28 w 507"/>
                  <a:gd name="T17" fmla="*/ 207 h 212"/>
                  <a:gd name="T18" fmla="*/ 49 w 507"/>
                  <a:gd name="T19" fmla="*/ 212 h 212"/>
                  <a:gd name="T20" fmla="*/ 81 w 507"/>
                  <a:gd name="T21" fmla="*/ 199 h 212"/>
                  <a:gd name="T22" fmla="*/ 92 w 507"/>
                  <a:gd name="T23" fmla="*/ 148 h 212"/>
                  <a:gd name="T24" fmla="*/ 91 w 507"/>
                  <a:gd name="T25" fmla="*/ 140 h 212"/>
                  <a:gd name="T26" fmla="*/ 110 w 507"/>
                  <a:gd name="T27" fmla="*/ 117 h 212"/>
                  <a:gd name="T28" fmla="*/ 127 w 507"/>
                  <a:gd name="T29" fmla="*/ 97 h 212"/>
                  <a:gd name="T30" fmla="*/ 131 w 507"/>
                  <a:gd name="T31" fmla="*/ 97 h 212"/>
                  <a:gd name="T32" fmla="*/ 145 w 507"/>
                  <a:gd name="T33" fmla="*/ 98 h 212"/>
                  <a:gd name="T34" fmla="*/ 169 w 507"/>
                  <a:gd name="T35" fmla="*/ 91 h 212"/>
                  <a:gd name="T36" fmla="*/ 173 w 507"/>
                  <a:gd name="T37" fmla="*/ 89 h 212"/>
                  <a:gd name="T38" fmla="*/ 225 w 507"/>
                  <a:gd name="T39" fmla="*/ 122 h 212"/>
                  <a:gd name="T40" fmla="*/ 278 w 507"/>
                  <a:gd name="T41" fmla="*/ 155 h 212"/>
                  <a:gd name="T42" fmla="*/ 278 w 507"/>
                  <a:gd name="T43" fmla="*/ 166 h 212"/>
                  <a:gd name="T44" fmla="*/ 282 w 507"/>
                  <a:gd name="T45" fmla="*/ 185 h 212"/>
                  <a:gd name="T46" fmla="*/ 325 w 507"/>
                  <a:gd name="T47" fmla="*/ 212 h 212"/>
                  <a:gd name="T48" fmla="*/ 369 w 507"/>
                  <a:gd name="T49" fmla="*/ 180 h 212"/>
                  <a:gd name="T50" fmla="*/ 370 w 507"/>
                  <a:gd name="T51" fmla="*/ 152 h 212"/>
                  <a:gd name="T52" fmla="*/ 369 w 507"/>
                  <a:gd name="T53" fmla="*/ 148 h 212"/>
                  <a:gd name="T54" fmla="*/ 400 w 507"/>
                  <a:gd name="T55" fmla="*/ 120 h 212"/>
                  <a:gd name="T56" fmla="*/ 432 w 507"/>
                  <a:gd name="T57" fmla="*/ 93 h 212"/>
                  <a:gd name="T58" fmla="*/ 438 w 507"/>
                  <a:gd name="T59" fmla="*/ 95 h 212"/>
                  <a:gd name="T60" fmla="*/ 465 w 507"/>
                  <a:gd name="T61" fmla="*/ 98 h 212"/>
                  <a:gd name="T62" fmla="*/ 501 w 507"/>
                  <a:gd name="T63" fmla="*/ 41 h 212"/>
                  <a:gd name="T64" fmla="*/ 488 w 507"/>
                  <a:gd name="T65" fmla="*/ 19 h 212"/>
                  <a:gd name="T66" fmla="*/ 422 w 507"/>
                  <a:gd name="T67" fmla="*/ 19 h 212"/>
                  <a:gd name="T68" fmla="*/ 411 w 507"/>
                  <a:gd name="T69" fmla="*/ 67 h 212"/>
                  <a:gd name="T70" fmla="*/ 381 w 507"/>
                  <a:gd name="T71" fmla="*/ 95 h 212"/>
                  <a:gd name="T72" fmla="*/ 349 w 507"/>
                  <a:gd name="T73" fmla="*/ 123 h 212"/>
                  <a:gd name="T74" fmla="*/ 341 w 507"/>
                  <a:gd name="T75" fmla="*/ 122 h 212"/>
                  <a:gd name="T76" fmla="*/ 325 w 507"/>
                  <a:gd name="T77" fmla="*/ 119 h 212"/>
                  <a:gd name="T78" fmla="*/ 300 w 507"/>
                  <a:gd name="T79" fmla="*/ 125 h 212"/>
                  <a:gd name="T80" fmla="*/ 295 w 507"/>
                  <a:gd name="T81" fmla="*/ 129 h 212"/>
                  <a:gd name="T82" fmla="*/ 242 w 507"/>
                  <a:gd name="T83" fmla="*/ 96 h 212"/>
                  <a:gd name="T84" fmla="*/ 189 w 507"/>
                  <a:gd name="T85" fmla="*/ 62 h 212"/>
                  <a:gd name="T86" fmla="*/ 190 w 507"/>
                  <a:gd name="T87" fmla="*/ 56 h 212"/>
                  <a:gd name="T88" fmla="*/ 176 w 507"/>
                  <a:gd name="T89" fmla="*/ 19 h 212"/>
                  <a:gd name="T90" fmla="*/ 133 w 507"/>
                  <a:gd name="T91" fmla="*/ 6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7" h="212">
                    <a:moveTo>
                      <a:pt x="133" y="6"/>
                    </a:moveTo>
                    <a:cubicBezTo>
                      <a:pt x="124" y="8"/>
                      <a:pt x="118" y="12"/>
                      <a:pt x="111" y="18"/>
                    </a:cubicBezTo>
                    <a:cubicBezTo>
                      <a:pt x="97" y="32"/>
                      <a:pt x="92" y="54"/>
                      <a:pt x="101" y="72"/>
                    </a:cubicBezTo>
                    <a:cubicBezTo>
                      <a:pt x="103" y="76"/>
                      <a:pt x="103" y="76"/>
                      <a:pt x="103" y="76"/>
                    </a:cubicBezTo>
                    <a:cubicBezTo>
                      <a:pt x="86" y="97"/>
                      <a:pt x="86" y="97"/>
                      <a:pt x="86" y="97"/>
                    </a:cubicBezTo>
                    <a:cubicBezTo>
                      <a:pt x="77" y="108"/>
                      <a:pt x="68" y="118"/>
                      <a:pt x="67" y="119"/>
                    </a:cubicBezTo>
                    <a:cubicBezTo>
                      <a:pt x="66" y="121"/>
                      <a:pt x="65" y="121"/>
                      <a:pt x="58" y="119"/>
                    </a:cubicBezTo>
                    <a:cubicBezTo>
                      <a:pt x="28" y="113"/>
                      <a:pt x="0" y="138"/>
                      <a:pt x="2" y="168"/>
                    </a:cubicBezTo>
                    <a:cubicBezTo>
                      <a:pt x="3" y="185"/>
                      <a:pt x="13" y="199"/>
                      <a:pt x="28" y="207"/>
                    </a:cubicBezTo>
                    <a:cubicBezTo>
                      <a:pt x="35" y="211"/>
                      <a:pt x="41" y="212"/>
                      <a:pt x="49" y="212"/>
                    </a:cubicBezTo>
                    <a:cubicBezTo>
                      <a:pt x="61" y="212"/>
                      <a:pt x="73" y="207"/>
                      <a:pt x="81" y="199"/>
                    </a:cubicBezTo>
                    <a:cubicBezTo>
                      <a:pt x="95" y="185"/>
                      <a:pt x="99" y="165"/>
                      <a:pt x="92" y="148"/>
                    </a:cubicBezTo>
                    <a:cubicBezTo>
                      <a:pt x="90" y="142"/>
                      <a:pt x="90" y="141"/>
                      <a:pt x="91" y="140"/>
                    </a:cubicBezTo>
                    <a:cubicBezTo>
                      <a:pt x="92" y="139"/>
                      <a:pt x="100" y="129"/>
                      <a:pt x="110" y="117"/>
                    </a:cubicBezTo>
                    <a:cubicBezTo>
                      <a:pt x="127" y="97"/>
                      <a:pt x="127" y="97"/>
                      <a:pt x="127" y="97"/>
                    </a:cubicBezTo>
                    <a:cubicBezTo>
                      <a:pt x="131" y="97"/>
                      <a:pt x="131" y="97"/>
                      <a:pt x="131" y="97"/>
                    </a:cubicBezTo>
                    <a:cubicBezTo>
                      <a:pt x="133" y="98"/>
                      <a:pt x="140" y="98"/>
                      <a:pt x="145" y="98"/>
                    </a:cubicBezTo>
                    <a:cubicBezTo>
                      <a:pt x="155" y="98"/>
                      <a:pt x="161" y="96"/>
                      <a:pt x="169" y="91"/>
                    </a:cubicBezTo>
                    <a:cubicBezTo>
                      <a:pt x="173" y="89"/>
                      <a:pt x="173" y="89"/>
                      <a:pt x="173" y="89"/>
                    </a:cubicBezTo>
                    <a:cubicBezTo>
                      <a:pt x="225" y="122"/>
                      <a:pt x="225" y="122"/>
                      <a:pt x="225" y="122"/>
                    </a:cubicBezTo>
                    <a:cubicBezTo>
                      <a:pt x="278" y="155"/>
                      <a:pt x="278" y="155"/>
                      <a:pt x="278" y="155"/>
                    </a:cubicBezTo>
                    <a:cubicBezTo>
                      <a:pt x="278" y="166"/>
                      <a:pt x="278" y="166"/>
                      <a:pt x="278" y="166"/>
                    </a:cubicBezTo>
                    <a:cubicBezTo>
                      <a:pt x="279" y="177"/>
                      <a:pt x="279" y="178"/>
                      <a:pt x="282" y="185"/>
                    </a:cubicBezTo>
                    <a:cubicBezTo>
                      <a:pt x="290" y="202"/>
                      <a:pt x="306" y="212"/>
                      <a:pt x="325" y="212"/>
                    </a:cubicBezTo>
                    <a:cubicBezTo>
                      <a:pt x="345" y="212"/>
                      <a:pt x="363" y="199"/>
                      <a:pt x="369" y="180"/>
                    </a:cubicBezTo>
                    <a:cubicBezTo>
                      <a:pt x="372" y="172"/>
                      <a:pt x="372" y="159"/>
                      <a:pt x="370" y="152"/>
                    </a:cubicBezTo>
                    <a:cubicBezTo>
                      <a:pt x="369" y="148"/>
                      <a:pt x="369" y="148"/>
                      <a:pt x="369" y="148"/>
                    </a:cubicBezTo>
                    <a:cubicBezTo>
                      <a:pt x="400" y="120"/>
                      <a:pt x="400" y="120"/>
                      <a:pt x="400" y="120"/>
                    </a:cubicBezTo>
                    <a:cubicBezTo>
                      <a:pt x="432" y="93"/>
                      <a:pt x="432" y="93"/>
                      <a:pt x="432" y="93"/>
                    </a:cubicBezTo>
                    <a:cubicBezTo>
                      <a:pt x="438" y="95"/>
                      <a:pt x="438" y="95"/>
                      <a:pt x="438" y="95"/>
                    </a:cubicBezTo>
                    <a:cubicBezTo>
                      <a:pt x="445" y="98"/>
                      <a:pt x="457" y="99"/>
                      <a:pt x="465" y="98"/>
                    </a:cubicBezTo>
                    <a:cubicBezTo>
                      <a:pt x="490" y="92"/>
                      <a:pt x="507" y="66"/>
                      <a:pt x="501" y="41"/>
                    </a:cubicBezTo>
                    <a:cubicBezTo>
                      <a:pt x="498" y="32"/>
                      <a:pt x="495" y="25"/>
                      <a:pt x="488" y="19"/>
                    </a:cubicBezTo>
                    <a:cubicBezTo>
                      <a:pt x="469" y="0"/>
                      <a:pt x="441" y="0"/>
                      <a:pt x="422" y="19"/>
                    </a:cubicBezTo>
                    <a:cubicBezTo>
                      <a:pt x="409" y="32"/>
                      <a:pt x="405" y="49"/>
                      <a:pt x="411" y="67"/>
                    </a:cubicBezTo>
                    <a:cubicBezTo>
                      <a:pt x="411" y="69"/>
                      <a:pt x="403" y="76"/>
                      <a:pt x="381" y="95"/>
                    </a:cubicBezTo>
                    <a:cubicBezTo>
                      <a:pt x="365" y="110"/>
                      <a:pt x="350" y="122"/>
                      <a:pt x="349" y="123"/>
                    </a:cubicBezTo>
                    <a:cubicBezTo>
                      <a:pt x="348" y="124"/>
                      <a:pt x="347" y="124"/>
                      <a:pt x="341" y="122"/>
                    </a:cubicBezTo>
                    <a:cubicBezTo>
                      <a:pt x="336" y="119"/>
                      <a:pt x="333" y="119"/>
                      <a:pt x="325" y="119"/>
                    </a:cubicBezTo>
                    <a:cubicBezTo>
                      <a:pt x="315" y="119"/>
                      <a:pt x="309" y="120"/>
                      <a:pt x="300" y="125"/>
                    </a:cubicBezTo>
                    <a:cubicBezTo>
                      <a:pt x="295" y="129"/>
                      <a:pt x="295" y="129"/>
                      <a:pt x="295" y="129"/>
                    </a:cubicBezTo>
                    <a:cubicBezTo>
                      <a:pt x="242" y="96"/>
                      <a:pt x="242" y="96"/>
                      <a:pt x="242" y="96"/>
                    </a:cubicBezTo>
                    <a:cubicBezTo>
                      <a:pt x="189" y="62"/>
                      <a:pt x="189" y="62"/>
                      <a:pt x="189" y="62"/>
                    </a:cubicBezTo>
                    <a:cubicBezTo>
                      <a:pt x="190" y="56"/>
                      <a:pt x="190" y="56"/>
                      <a:pt x="190" y="56"/>
                    </a:cubicBezTo>
                    <a:cubicBezTo>
                      <a:pt x="191" y="42"/>
                      <a:pt x="186" y="29"/>
                      <a:pt x="176" y="19"/>
                    </a:cubicBezTo>
                    <a:cubicBezTo>
                      <a:pt x="164" y="7"/>
                      <a:pt x="148" y="2"/>
                      <a:pt x="1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grpSp>
        <p:nvGrpSpPr>
          <p:cNvPr id="36" name="Group 35">
            <a:extLst>
              <a:ext uri="{FF2B5EF4-FFF2-40B4-BE49-F238E27FC236}">
                <a16:creationId xmlns:a16="http://schemas.microsoft.com/office/drawing/2014/main" id="{E3F3D1F3-3311-B445-2B46-E4B0289A606E}"/>
              </a:ext>
            </a:extLst>
          </p:cNvPr>
          <p:cNvGrpSpPr/>
          <p:nvPr/>
        </p:nvGrpSpPr>
        <p:grpSpPr>
          <a:xfrm>
            <a:off x="1551352" y="2348823"/>
            <a:ext cx="467876" cy="467876"/>
            <a:chOff x="955081" y="1670050"/>
            <a:chExt cx="467876" cy="467876"/>
          </a:xfrm>
        </p:grpSpPr>
        <p:sp>
          <p:nvSpPr>
            <p:cNvPr id="37" name="Oval 36">
              <a:extLst>
                <a:ext uri="{FF2B5EF4-FFF2-40B4-BE49-F238E27FC236}">
                  <a16:creationId xmlns:a16="http://schemas.microsoft.com/office/drawing/2014/main" id="{122ED5F5-0FC0-9648-E9B7-A62518693273}"/>
                </a:ext>
              </a:extLst>
            </p:cNvPr>
            <p:cNvSpPr/>
            <p:nvPr/>
          </p:nvSpPr>
          <p:spPr>
            <a:xfrm>
              <a:off x="955081" y="1670050"/>
              <a:ext cx="467876" cy="467876"/>
            </a:xfrm>
            <a:prstGeom prst="ellipse">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38" name="Freeform 152">
              <a:extLst>
                <a:ext uri="{FF2B5EF4-FFF2-40B4-BE49-F238E27FC236}">
                  <a16:creationId xmlns:a16="http://schemas.microsoft.com/office/drawing/2014/main" id="{5D3EDC48-1713-E626-B725-0A84B81E6337}"/>
                </a:ext>
              </a:extLst>
            </p:cNvPr>
            <p:cNvSpPr>
              <a:spLocks noEditPoints="1"/>
            </p:cNvSpPr>
            <p:nvPr/>
          </p:nvSpPr>
          <p:spPr bwMode="auto">
            <a:xfrm>
              <a:off x="1040152" y="1756709"/>
              <a:ext cx="303847" cy="302169"/>
            </a:xfrm>
            <a:custGeom>
              <a:avLst/>
              <a:gdLst>
                <a:gd name="T0" fmla="*/ 516 w 884"/>
                <a:gd name="T1" fmla="*/ 884 h 884"/>
                <a:gd name="T2" fmla="*/ 476 w 884"/>
                <a:gd name="T3" fmla="*/ 810 h 884"/>
                <a:gd name="T4" fmla="*/ 388 w 884"/>
                <a:gd name="T5" fmla="*/ 823 h 884"/>
                <a:gd name="T6" fmla="*/ 235 w 884"/>
                <a:gd name="T7" fmla="*/ 840 h 884"/>
                <a:gd name="T8" fmla="*/ 249 w 884"/>
                <a:gd name="T9" fmla="*/ 760 h 884"/>
                <a:gd name="T10" fmla="*/ 174 w 884"/>
                <a:gd name="T11" fmla="*/ 720 h 884"/>
                <a:gd name="T12" fmla="*/ 41 w 884"/>
                <a:gd name="T13" fmla="*/ 644 h 884"/>
                <a:gd name="T14" fmla="*/ 99 w 884"/>
                <a:gd name="T15" fmla="*/ 583 h 884"/>
                <a:gd name="T16" fmla="*/ 61 w 884"/>
                <a:gd name="T17" fmla="*/ 510 h 884"/>
                <a:gd name="T18" fmla="*/ 0 w 884"/>
                <a:gd name="T19" fmla="*/ 373 h 884"/>
                <a:gd name="T20" fmla="*/ 83 w 884"/>
                <a:gd name="T21" fmla="*/ 352 h 884"/>
                <a:gd name="T22" fmla="*/ 91 w 884"/>
                <a:gd name="T23" fmla="*/ 276 h 884"/>
                <a:gd name="T24" fmla="*/ 122 w 884"/>
                <a:gd name="T25" fmla="*/ 127 h 884"/>
                <a:gd name="T26" fmla="*/ 199 w 884"/>
                <a:gd name="T27" fmla="*/ 163 h 884"/>
                <a:gd name="T28" fmla="*/ 256 w 884"/>
                <a:gd name="T29" fmla="*/ 103 h 884"/>
                <a:gd name="T30" fmla="*/ 368 w 884"/>
                <a:gd name="T31" fmla="*/ 0 h 884"/>
                <a:gd name="T32" fmla="*/ 411 w 884"/>
                <a:gd name="T33" fmla="*/ 73 h 884"/>
                <a:gd name="T34" fmla="*/ 498 w 884"/>
                <a:gd name="T35" fmla="*/ 56 h 884"/>
                <a:gd name="T36" fmla="*/ 649 w 884"/>
                <a:gd name="T37" fmla="*/ 44 h 884"/>
                <a:gd name="T38" fmla="*/ 691 w 884"/>
                <a:gd name="T39" fmla="*/ 166 h 884"/>
                <a:gd name="T40" fmla="*/ 761 w 884"/>
                <a:gd name="T41" fmla="*/ 127 h 884"/>
                <a:gd name="T42" fmla="*/ 795 w 884"/>
                <a:gd name="T43" fmla="*/ 274 h 884"/>
                <a:gd name="T44" fmla="*/ 802 w 884"/>
                <a:gd name="T45" fmla="*/ 355 h 884"/>
                <a:gd name="T46" fmla="*/ 884 w 884"/>
                <a:gd name="T47" fmla="*/ 374 h 884"/>
                <a:gd name="T48" fmla="*/ 824 w 884"/>
                <a:gd name="T49" fmla="*/ 510 h 884"/>
                <a:gd name="T50" fmla="*/ 784 w 884"/>
                <a:gd name="T51" fmla="*/ 584 h 884"/>
                <a:gd name="T52" fmla="*/ 843 w 884"/>
                <a:gd name="T53" fmla="*/ 644 h 884"/>
                <a:gd name="T54" fmla="*/ 710 w 884"/>
                <a:gd name="T55" fmla="*/ 720 h 884"/>
                <a:gd name="T56" fmla="*/ 635 w 884"/>
                <a:gd name="T57" fmla="*/ 759 h 884"/>
                <a:gd name="T58" fmla="*/ 649 w 884"/>
                <a:gd name="T59" fmla="*/ 840 h 884"/>
                <a:gd name="T60" fmla="*/ 312 w 884"/>
                <a:gd name="T61" fmla="*/ 641 h 884"/>
                <a:gd name="T62" fmla="*/ 498 w 884"/>
                <a:gd name="T63" fmla="*/ 507 h 884"/>
                <a:gd name="T64" fmla="*/ 457 w 884"/>
                <a:gd name="T65" fmla="*/ 348 h 884"/>
                <a:gd name="T66" fmla="*/ 393 w 884"/>
                <a:gd name="T67" fmla="*/ 504 h 884"/>
                <a:gd name="T68" fmla="*/ 292 w 884"/>
                <a:gd name="T69" fmla="*/ 537 h 884"/>
                <a:gd name="T70" fmla="*/ 365 w 884"/>
                <a:gd name="T71" fmla="*/ 486 h 884"/>
                <a:gd name="T72" fmla="*/ 427 w 884"/>
                <a:gd name="T73" fmla="*/ 321 h 884"/>
                <a:gd name="T74" fmla="*/ 273 w 884"/>
                <a:gd name="T75" fmla="*/ 305 h 884"/>
                <a:gd name="T76" fmla="*/ 219 w 884"/>
                <a:gd name="T77" fmla="*/ 537 h 884"/>
                <a:gd name="T78" fmla="*/ 554 w 884"/>
                <a:gd name="T79" fmla="*/ 535 h 884"/>
                <a:gd name="T80" fmla="*/ 646 w 884"/>
                <a:gd name="T81" fmla="*/ 456 h 884"/>
                <a:gd name="T82" fmla="*/ 615 w 884"/>
                <a:gd name="T83" fmla="*/ 320 h 884"/>
                <a:gd name="T84" fmla="*/ 459 w 884"/>
                <a:gd name="T85" fmla="*/ 320 h 884"/>
                <a:gd name="T86" fmla="*/ 530 w 884"/>
                <a:gd name="T87" fmla="*/ 407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84" h="884">
                  <a:moveTo>
                    <a:pt x="649" y="840"/>
                  </a:moveTo>
                  <a:cubicBezTo>
                    <a:pt x="603" y="855"/>
                    <a:pt x="561" y="870"/>
                    <a:pt x="516" y="884"/>
                  </a:cubicBezTo>
                  <a:cubicBezTo>
                    <a:pt x="509" y="863"/>
                    <a:pt x="502" y="843"/>
                    <a:pt x="496" y="824"/>
                  </a:cubicBezTo>
                  <a:cubicBezTo>
                    <a:pt x="493" y="813"/>
                    <a:pt x="488" y="810"/>
                    <a:pt x="476" y="810"/>
                  </a:cubicBezTo>
                  <a:cubicBezTo>
                    <a:pt x="454" y="812"/>
                    <a:pt x="431" y="812"/>
                    <a:pt x="409" y="811"/>
                  </a:cubicBezTo>
                  <a:cubicBezTo>
                    <a:pt x="397" y="810"/>
                    <a:pt x="392" y="812"/>
                    <a:pt x="388" y="823"/>
                  </a:cubicBezTo>
                  <a:cubicBezTo>
                    <a:pt x="382" y="843"/>
                    <a:pt x="375" y="862"/>
                    <a:pt x="367" y="884"/>
                  </a:cubicBezTo>
                  <a:cubicBezTo>
                    <a:pt x="323" y="870"/>
                    <a:pt x="280" y="855"/>
                    <a:pt x="235" y="840"/>
                  </a:cubicBezTo>
                  <a:cubicBezTo>
                    <a:pt x="242" y="819"/>
                    <a:pt x="250" y="799"/>
                    <a:pt x="256" y="779"/>
                  </a:cubicBezTo>
                  <a:cubicBezTo>
                    <a:pt x="257" y="773"/>
                    <a:pt x="254" y="764"/>
                    <a:pt x="249" y="760"/>
                  </a:cubicBezTo>
                  <a:cubicBezTo>
                    <a:pt x="233" y="746"/>
                    <a:pt x="214" y="734"/>
                    <a:pt x="197" y="720"/>
                  </a:cubicBezTo>
                  <a:cubicBezTo>
                    <a:pt x="189" y="713"/>
                    <a:pt x="183" y="713"/>
                    <a:pt x="174" y="720"/>
                  </a:cubicBezTo>
                  <a:cubicBezTo>
                    <a:pt x="158" y="732"/>
                    <a:pt x="141" y="744"/>
                    <a:pt x="122" y="757"/>
                  </a:cubicBezTo>
                  <a:cubicBezTo>
                    <a:pt x="95" y="719"/>
                    <a:pt x="68" y="682"/>
                    <a:pt x="41" y="644"/>
                  </a:cubicBezTo>
                  <a:cubicBezTo>
                    <a:pt x="59" y="631"/>
                    <a:pt x="75" y="619"/>
                    <a:pt x="91" y="608"/>
                  </a:cubicBezTo>
                  <a:cubicBezTo>
                    <a:pt x="101" y="602"/>
                    <a:pt x="104" y="595"/>
                    <a:pt x="99" y="583"/>
                  </a:cubicBezTo>
                  <a:cubicBezTo>
                    <a:pt x="92" y="565"/>
                    <a:pt x="87" y="546"/>
                    <a:pt x="82" y="526"/>
                  </a:cubicBezTo>
                  <a:cubicBezTo>
                    <a:pt x="79" y="515"/>
                    <a:pt x="74" y="510"/>
                    <a:pt x="61" y="510"/>
                  </a:cubicBezTo>
                  <a:cubicBezTo>
                    <a:pt x="41" y="511"/>
                    <a:pt x="21" y="510"/>
                    <a:pt x="0" y="510"/>
                  </a:cubicBezTo>
                  <a:cubicBezTo>
                    <a:pt x="0" y="465"/>
                    <a:pt x="0" y="421"/>
                    <a:pt x="0" y="373"/>
                  </a:cubicBezTo>
                  <a:cubicBezTo>
                    <a:pt x="19" y="373"/>
                    <a:pt x="37" y="372"/>
                    <a:pt x="55" y="374"/>
                  </a:cubicBezTo>
                  <a:cubicBezTo>
                    <a:pt x="73" y="376"/>
                    <a:pt x="80" y="368"/>
                    <a:pt x="83" y="352"/>
                  </a:cubicBezTo>
                  <a:cubicBezTo>
                    <a:pt x="87" y="335"/>
                    <a:pt x="92" y="318"/>
                    <a:pt x="98" y="302"/>
                  </a:cubicBezTo>
                  <a:cubicBezTo>
                    <a:pt x="103" y="290"/>
                    <a:pt x="102" y="283"/>
                    <a:pt x="91" y="276"/>
                  </a:cubicBezTo>
                  <a:cubicBezTo>
                    <a:pt x="74" y="265"/>
                    <a:pt x="59" y="253"/>
                    <a:pt x="41" y="240"/>
                  </a:cubicBezTo>
                  <a:cubicBezTo>
                    <a:pt x="68" y="202"/>
                    <a:pt x="95" y="166"/>
                    <a:pt x="122" y="127"/>
                  </a:cubicBezTo>
                  <a:cubicBezTo>
                    <a:pt x="140" y="140"/>
                    <a:pt x="157" y="151"/>
                    <a:pt x="173" y="163"/>
                  </a:cubicBezTo>
                  <a:cubicBezTo>
                    <a:pt x="183" y="171"/>
                    <a:pt x="190" y="170"/>
                    <a:pt x="199" y="163"/>
                  </a:cubicBezTo>
                  <a:cubicBezTo>
                    <a:pt x="215" y="149"/>
                    <a:pt x="231" y="137"/>
                    <a:pt x="249" y="126"/>
                  </a:cubicBezTo>
                  <a:cubicBezTo>
                    <a:pt x="259" y="119"/>
                    <a:pt x="259" y="113"/>
                    <a:pt x="256" y="103"/>
                  </a:cubicBezTo>
                  <a:cubicBezTo>
                    <a:pt x="248" y="84"/>
                    <a:pt x="242" y="64"/>
                    <a:pt x="235" y="44"/>
                  </a:cubicBezTo>
                  <a:cubicBezTo>
                    <a:pt x="279" y="29"/>
                    <a:pt x="322" y="15"/>
                    <a:pt x="368" y="0"/>
                  </a:cubicBezTo>
                  <a:cubicBezTo>
                    <a:pt x="375" y="20"/>
                    <a:pt x="381" y="40"/>
                    <a:pt x="387" y="59"/>
                  </a:cubicBezTo>
                  <a:cubicBezTo>
                    <a:pt x="391" y="71"/>
                    <a:pt x="397" y="75"/>
                    <a:pt x="411" y="73"/>
                  </a:cubicBezTo>
                  <a:cubicBezTo>
                    <a:pt x="431" y="70"/>
                    <a:pt x="452" y="70"/>
                    <a:pt x="472" y="73"/>
                  </a:cubicBezTo>
                  <a:cubicBezTo>
                    <a:pt x="488" y="75"/>
                    <a:pt x="494" y="70"/>
                    <a:pt x="498" y="56"/>
                  </a:cubicBezTo>
                  <a:cubicBezTo>
                    <a:pt x="503" y="38"/>
                    <a:pt x="510" y="20"/>
                    <a:pt x="516" y="0"/>
                  </a:cubicBezTo>
                  <a:cubicBezTo>
                    <a:pt x="561" y="14"/>
                    <a:pt x="604" y="29"/>
                    <a:pt x="649" y="44"/>
                  </a:cubicBezTo>
                  <a:cubicBezTo>
                    <a:pt x="640" y="68"/>
                    <a:pt x="632" y="92"/>
                    <a:pt x="624" y="116"/>
                  </a:cubicBezTo>
                  <a:cubicBezTo>
                    <a:pt x="647" y="133"/>
                    <a:pt x="669" y="151"/>
                    <a:pt x="691" y="166"/>
                  </a:cubicBezTo>
                  <a:cubicBezTo>
                    <a:pt x="695" y="169"/>
                    <a:pt x="705" y="167"/>
                    <a:pt x="710" y="163"/>
                  </a:cubicBezTo>
                  <a:cubicBezTo>
                    <a:pt x="727" y="152"/>
                    <a:pt x="743" y="140"/>
                    <a:pt x="761" y="127"/>
                  </a:cubicBezTo>
                  <a:cubicBezTo>
                    <a:pt x="789" y="165"/>
                    <a:pt x="815" y="202"/>
                    <a:pt x="843" y="240"/>
                  </a:cubicBezTo>
                  <a:cubicBezTo>
                    <a:pt x="826" y="252"/>
                    <a:pt x="811" y="264"/>
                    <a:pt x="795" y="274"/>
                  </a:cubicBezTo>
                  <a:cubicBezTo>
                    <a:pt x="784" y="282"/>
                    <a:pt x="779" y="289"/>
                    <a:pt x="786" y="303"/>
                  </a:cubicBezTo>
                  <a:cubicBezTo>
                    <a:pt x="793" y="319"/>
                    <a:pt x="798" y="337"/>
                    <a:pt x="802" y="355"/>
                  </a:cubicBezTo>
                  <a:cubicBezTo>
                    <a:pt x="805" y="368"/>
                    <a:pt x="810" y="375"/>
                    <a:pt x="826" y="374"/>
                  </a:cubicBezTo>
                  <a:cubicBezTo>
                    <a:pt x="845" y="372"/>
                    <a:pt x="864" y="374"/>
                    <a:pt x="884" y="374"/>
                  </a:cubicBezTo>
                  <a:cubicBezTo>
                    <a:pt x="884" y="420"/>
                    <a:pt x="884" y="464"/>
                    <a:pt x="884" y="510"/>
                  </a:cubicBezTo>
                  <a:cubicBezTo>
                    <a:pt x="863" y="510"/>
                    <a:pt x="844" y="511"/>
                    <a:pt x="824" y="510"/>
                  </a:cubicBezTo>
                  <a:cubicBezTo>
                    <a:pt x="810" y="509"/>
                    <a:pt x="805" y="515"/>
                    <a:pt x="802" y="527"/>
                  </a:cubicBezTo>
                  <a:cubicBezTo>
                    <a:pt x="797" y="547"/>
                    <a:pt x="792" y="566"/>
                    <a:pt x="784" y="584"/>
                  </a:cubicBezTo>
                  <a:cubicBezTo>
                    <a:pt x="780" y="596"/>
                    <a:pt x="783" y="601"/>
                    <a:pt x="792" y="608"/>
                  </a:cubicBezTo>
                  <a:cubicBezTo>
                    <a:pt x="808" y="619"/>
                    <a:pt x="824" y="631"/>
                    <a:pt x="843" y="644"/>
                  </a:cubicBezTo>
                  <a:cubicBezTo>
                    <a:pt x="816" y="682"/>
                    <a:pt x="789" y="719"/>
                    <a:pt x="762" y="757"/>
                  </a:cubicBezTo>
                  <a:cubicBezTo>
                    <a:pt x="743" y="744"/>
                    <a:pt x="726" y="733"/>
                    <a:pt x="710" y="720"/>
                  </a:cubicBezTo>
                  <a:cubicBezTo>
                    <a:pt x="701" y="713"/>
                    <a:pt x="695" y="714"/>
                    <a:pt x="686" y="721"/>
                  </a:cubicBezTo>
                  <a:cubicBezTo>
                    <a:pt x="669" y="734"/>
                    <a:pt x="652" y="747"/>
                    <a:pt x="635" y="759"/>
                  </a:cubicBezTo>
                  <a:cubicBezTo>
                    <a:pt x="625" y="765"/>
                    <a:pt x="625" y="771"/>
                    <a:pt x="628" y="780"/>
                  </a:cubicBezTo>
                  <a:cubicBezTo>
                    <a:pt x="635" y="799"/>
                    <a:pt x="642" y="819"/>
                    <a:pt x="649" y="840"/>
                  </a:cubicBezTo>
                  <a:close/>
                  <a:moveTo>
                    <a:pt x="393" y="504"/>
                  </a:moveTo>
                  <a:cubicBezTo>
                    <a:pt x="339" y="535"/>
                    <a:pt x="314" y="580"/>
                    <a:pt x="312" y="641"/>
                  </a:cubicBezTo>
                  <a:cubicBezTo>
                    <a:pt x="400" y="641"/>
                    <a:pt x="486" y="641"/>
                    <a:pt x="575" y="641"/>
                  </a:cubicBezTo>
                  <a:cubicBezTo>
                    <a:pt x="571" y="580"/>
                    <a:pt x="546" y="535"/>
                    <a:pt x="498" y="507"/>
                  </a:cubicBezTo>
                  <a:cubicBezTo>
                    <a:pt x="506" y="485"/>
                    <a:pt x="517" y="466"/>
                    <a:pt x="521" y="445"/>
                  </a:cubicBezTo>
                  <a:cubicBezTo>
                    <a:pt x="529" y="401"/>
                    <a:pt x="497" y="356"/>
                    <a:pt x="457" y="348"/>
                  </a:cubicBezTo>
                  <a:cubicBezTo>
                    <a:pt x="417" y="340"/>
                    <a:pt x="377" y="366"/>
                    <a:pt x="368" y="409"/>
                  </a:cubicBezTo>
                  <a:cubicBezTo>
                    <a:pt x="359" y="444"/>
                    <a:pt x="365" y="477"/>
                    <a:pt x="393" y="504"/>
                  </a:cubicBezTo>
                  <a:close/>
                  <a:moveTo>
                    <a:pt x="219" y="537"/>
                  </a:moveTo>
                  <a:cubicBezTo>
                    <a:pt x="244" y="537"/>
                    <a:pt x="268" y="536"/>
                    <a:pt x="292" y="537"/>
                  </a:cubicBezTo>
                  <a:cubicBezTo>
                    <a:pt x="318" y="538"/>
                    <a:pt x="340" y="536"/>
                    <a:pt x="359" y="514"/>
                  </a:cubicBezTo>
                  <a:cubicBezTo>
                    <a:pt x="368" y="503"/>
                    <a:pt x="371" y="499"/>
                    <a:pt x="365" y="486"/>
                  </a:cubicBezTo>
                  <a:cubicBezTo>
                    <a:pt x="334" y="428"/>
                    <a:pt x="362" y="355"/>
                    <a:pt x="417" y="338"/>
                  </a:cubicBezTo>
                  <a:cubicBezTo>
                    <a:pt x="422" y="336"/>
                    <a:pt x="427" y="327"/>
                    <a:pt x="427" y="321"/>
                  </a:cubicBezTo>
                  <a:cubicBezTo>
                    <a:pt x="426" y="282"/>
                    <a:pt x="395" y="246"/>
                    <a:pt x="359" y="241"/>
                  </a:cubicBezTo>
                  <a:cubicBezTo>
                    <a:pt x="318" y="237"/>
                    <a:pt x="283" y="263"/>
                    <a:pt x="273" y="305"/>
                  </a:cubicBezTo>
                  <a:cubicBezTo>
                    <a:pt x="264" y="340"/>
                    <a:pt x="273" y="371"/>
                    <a:pt x="297" y="397"/>
                  </a:cubicBezTo>
                  <a:cubicBezTo>
                    <a:pt x="236" y="446"/>
                    <a:pt x="216" y="482"/>
                    <a:pt x="219" y="537"/>
                  </a:cubicBezTo>
                  <a:close/>
                  <a:moveTo>
                    <a:pt x="513" y="502"/>
                  </a:moveTo>
                  <a:cubicBezTo>
                    <a:pt x="528" y="514"/>
                    <a:pt x="540" y="533"/>
                    <a:pt x="554" y="535"/>
                  </a:cubicBezTo>
                  <a:cubicBezTo>
                    <a:pt x="591" y="539"/>
                    <a:pt x="628" y="536"/>
                    <a:pt x="666" y="536"/>
                  </a:cubicBezTo>
                  <a:cubicBezTo>
                    <a:pt x="669" y="505"/>
                    <a:pt x="663" y="479"/>
                    <a:pt x="646" y="456"/>
                  </a:cubicBezTo>
                  <a:cubicBezTo>
                    <a:pt x="630" y="434"/>
                    <a:pt x="610" y="415"/>
                    <a:pt x="591" y="394"/>
                  </a:cubicBezTo>
                  <a:cubicBezTo>
                    <a:pt x="613" y="365"/>
                    <a:pt x="617" y="352"/>
                    <a:pt x="615" y="320"/>
                  </a:cubicBezTo>
                  <a:cubicBezTo>
                    <a:pt x="612" y="274"/>
                    <a:pt x="578" y="241"/>
                    <a:pt x="535" y="241"/>
                  </a:cubicBezTo>
                  <a:cubicBezTo>
                    <a:pt x="495" y="241"/>
                    <a:pt x="460" y="277"/>
                    <a:pt x="459" y="320"/>
                  </a:cubicBezTo>
                  <a:cubicBezTo>
                    <a:pt x="459" y="326"/>
                    <a:pt x="465" y="336"/>
                    <a:pt x="471" y="339"/>
                  </a:cubicBezTo>
                  <a:cubicBezTo>
                    <a:pt x="502" y="352"/>
                    <a:pt x="521" y="375"/>
                    <a:pt x="530" y="407"/>
                  </a:cubicBezTo>
                  <a:cubicBezTo>
                    <a:pt x="540" y="441"/>
                    <a:pt x="530" y="471"/>
                    <a:pt x="513" y="502"/>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sp>
        <p:nvSpPr>
          <p:cNvPr id="39" name="Rectangle: Rounded Corners 38">
            <a:extLst>
              <a:ext uri="{FF2B5EF4-FFF2-40B4-BE49-F238E27FC236}">
                <a16:creationId xmlns:a16="http://schemas.microsoft.com/office/drawing/2014/main" id="{1E05AC39-B57C-88CE-77CB-8B1A270CDD64}"/>
              </a:ext>
            </a:extLst>
          </p:cNvPr>
          <p:cNvSpPr/>
          <p:nvPr/>
        </p:nvSpPr>
        <p:spPr>
          <a:xfrm>
            <a:off x="4941961" y="3618477"/>
            <a:ext cx="928438" cy="5314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anrope"/>
                <a:cs typeface="Arial" panose="020B0604020202020204" pitchFamily="34" charset="0"/>
              </a:rPr>
              <a:t>Marketing Data Foundation</a:t>
            </a:r>
            <a:endParaRPr kumimoji="0" lang="en-IN" sz="900" b="1" i="0" u="none" strike="noStrike" kern="1200" cap="none" spc="0" normalizeH="0" baseline="0" noProof="0">
              <a:ln>
                <a:noFill/>
              </a:ln>
              <a:solidFill>
                <a:srgbClr val="FFFFFF"/>
              </a:solidFill>
              <a:effectLst/>
              <a:uLnTx/>
              <a:uFillTx/>
              <a:latin typeface="Manrope"/>
              <a:cs typeface="Arial" panose="020B0604020202020204" pitchFamily="34" charset="0"/>
            </a:endParaRPr>
          </a:p>
        </p:txBody>
      </p:sp>
      <p:grpSp>
        <p:nvGrpSpPr>
          <p:cNvPr id="155" name="Group 154">
            <a:extLst>
              <a:ext uri="{FF2B5EF4-FFF2-40B4-BE49-F238E27FC236}">
                <a16:creationId xmlns:a16="http://schemas.microsoft.com/office/drawing/2014/main" id="{2975CEF4-10AE-7998-4A73-14BB1841231A}"/>
              </a:ext>
            </a:extLst>
          </p:cNvPr>
          <p:cNvGrpSpPr/>
          <p:nvPr/>
        </p:nvGrpSpPr>
        <p:grpSpPr>
          <a:xfrm>
            <a:off x="2814711" y="3526895"/>
            <a:ext cx="821734" cy="734454"/>
            <a:chOff x="2812832" y="3505296"/>
            <a:chExt cx="821734" cy="734454"/>
          </a:xfrm>
        </p:grpSpPr>
        <p:sp>
          <p:nvSpPr>
            <p:cNvPr id="40" name="Rectangle: Rounded Corners 39">
              <a:extLst>
                <a:ext uri="{FF2B5EF4-FFF2-40B4-BE49-F238E27FC236}">
                  <a16:creationId xmlns:a16="http://schemas.microsoft.com/office/drawing/2014/main" id="{A8DAEFC8-A2E1-79E5-32DE-1DA673AE5F14}"/>
                </a:ext>
              </a:extLst>
            </p:cNvPr>
            <p:cNvSpPr/>
            <p:nvPr/>
          </p:nvSpPr>
          <p:spPr>
            <a:xfrm>
              <a:off x="2812832" y="4002006"/>
              <a:ext cx="821734"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anrope"/>
                  <a:cs typeface="Arial" panose="020B0604020202020204" pitchFamily="34" charset="0"/>
                </a:rPr>
                <a:t>Sales</a:t>
              </a:r>
              <a:endParaRPr kumimoji="0" lang="en-IN" sz="800" b="0" i="0" u="none" strike="noStrike" kern="1200" cap="none" spc="0" normalizeH="0" baseline="0" noProof="0">
                <a:ln>
                  <a:noFill/>
                </a:ln>
                <a:solidFill>
                  <a:srgbClr val="FFFFFF"/>
                </a:solidFill>
                <a:effectLst/>
                <a:uLnTx/>
                <a:uFillTx/>
                <a:latin typeface="Manrope"/>
                <a:cs typeface="Arial" panose="020B0604020202020204" pitchFamily="34" charset="0"/>
              </a:endParaRPr>
            </a:p>
          </p:txBody>
        </p:sp>
        <p:grpSp>
          <p:nvGrpSpPr>
            <p:cNvPr id="42" name="Group 41">
              <a:extLst>
                <a:ext uri="{FF2B5EF4-FFF2-40B4-BE49-F238E27FC236}">
                  <a16:creationId xmlns:a16="http://schemas.microsoft.com/office/drawing/2014/main" id="{0B5EF5A7-8AA4-3E78-56DF-D8A5260F2BB7}"/>
                </a:ext>
              </a:extLst>
            </p:cNvPr>
            <p:cNvGrpSpPr/>
            <p:nvPr/>
          </p:nvGrpSpPr>
          <p:grpSpPr>
            <a:xfrm>
              <a:off x="2989761" y="3505296"/>
              <a:ext cx="467876" cy="467876"/>
              <a:chOff x="1760797" y="4138419"/>
              <a:chExt cx="467876" cy="467876"/>
            </a:xfrm>
          </p:grpSpPr>
          <p:sp>
            <p:nvSpPr>
              <p:cNvPr id="43" name="Oval 42">
                <a:extLst>
                  <a:ext uri="{FF2B5EF4-FFF2-40B4-BE49-F238E27FC236}">
                    <a16:creationId xmlns:a16="http://schemas.microsoft.com/office/drawing/2014/main" id="{9BD9DE77-050F-9FA9-E5CD-6FFD6A8575C7}"/>
                  </a:ext>
                </a:extLst>
              </p:cNvPr>
              <p:cNvSpPr/>
              <p:nvPr/>
            </p:nvSpPr>
            <p:spPr>
              <a:xfrm>
                <a:off x="1760797" y="4138419"/>
                <a:ext cx="467876" cy="467876"/>
              </a:xfrm>
              <a:prstGeom prst="ellipse">
                <a:avLst/>
              </a:prstGeom>
              <a:solidFill>
                <a:schemeClr val="bg2"/>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nvGrpSpPr>
              <p:cNvPr id="44" name="Group 95">
                <a:extLst>
                  <a:ext uri="{FF2B5EF4-FFF2-40B4-BE49-F238E27FC236}">
                    <a16:creationId xmlns:a16="http://schemas.microsoft.com/office/drawing/2014/main" id="{A514EF7D-76F3-77AF-31E6-36B4A5635925}"/>
                  </a:ext>
                </a:extLst>
              </p:cNvPr>
              <p:cNvGrpSpPr>
                <a:grpSpLocks noChangeAspect="1"/>
              </p:cNvGrpSpPr>
              <p:nvPr/>
            </p:nvGrpSpPr>
            <p:grpSpPr bwMode="auto">
              <a:xfrm>
                <a:off x="1854203" y="4238625"/>
                <a:ext cx="273051" cy="314325"/>
                <a:chOff x="1168" y="2670"/>
                <a:chExt cx="172" cy="198"/>
              </a:xfrm>
              <a:solidFill>
                <a:schemeClr val="accent4"/>
              </a:solidFill>
            </p:grpSpPr>
            <p:sp>
              <p:nvSpPr>
                <p:cNvPr id="45" name="Freeform 96">
                  <a:extLst>
                    <a:ext uri="{FF2B5EF4-FFF2-40B4-BE49-F238E27FC236}">
                      <a16:creationId xmlns:a16="http://schemas.microsoft.com/office/drawing/2014/main" id="{899CBE31-9437-5A17-B837-2B78067B4FE8}"/>
                    </a:ext>
                  </a:extLst>
                </p:cNvPr>
                <p:cNvSpPr>
                  <a:spLocks noEditPoints="1"/>
                </p:cNvSpPr>
                <p:nvPr/>
              </p:nvSpPr>
              <p:spPr bwMode="auto">
                <a:xfrm>
                  <a:off x="1168" y="2670"/>
                  <a:ext cx="172" cy="198"/>
                </a:xfrm>
                <a:custGeom>
                  <a:avLst/>
                  <a:gdLst>
                    <a:gd name="T0" fmla="*/ 76 w 143"/>
                    <a:gd name="T1" fmla="*/ 0 h 165"/>
                    <a:gd name="T2" fmla="*/ 140 w 143"/>
                    <a:gd name="T3" fmla="*/ 52 h 165"/>
                    <a:gd name="T4" fmla="*/ 134 w 143"/>
                    <a:gd name="T5" fmla="*/ 95 h 165"/>
                    <a:gd name="T6" fmla="*/ 92 w 143"/>
                    <a:gd name="T7" fmla="*/ 151 h 165"/>
                    <a:gd name="T8" fmla="*/ 78 w 143"/>
                    <a:gd name="T9" fmla="*/ 164 h 165"/>
                    <a:gd name="T10" fmla="*/ 74 w 143"/>
                    <a:gd name="T11" fmla="*/ 164 h 165"/>
                    <a:gd name="T12" fmla="*/ 15 w 143"/>
                    <a:gd name="T13" fmla="*/ 88 h 165"/>
                    <a:gd name="T14" fmla="*/ 64 w 143"/>
                    <a:gd name="T15" fmla="*/ 1 h 165"/>
                    <a:gd name="T16" fmla="*/ 76 w 143"/>
                    <a:gd name="T17" fmla="*/ 0 h 165"/>
                    <a:gd name="T18" fmla="*/ 124 w 143"/>
                    <a:gd name="T19" fmla="*/ 66 h 165"/>
                    <a:gd name="T20" fmla="*/ 77 w 143"/>
                    <a:gd name="T21" fmla="*/ 18 h 165"/>
                    <a:gd name="T22" fmla="*/ 28 w 143"/>
                    <a:gd name="T23" fmla="*/ 66 h 165"/>
                    <a:gd name="T24" fmla="*/ 76 w 143"/>
                    <a:gd name="T25" fmla="*/ 114 h 165"/>
                    <a:gd name="T26" fmla="*/ 124 w 143"/>
                    <a:gd name="T27" fmla="*/ 6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 h="165">
                      <a:moveTo>
                        <a:pt x="76" y="0"/>
                      </a:moveTo>
                      <a:cubicBezTo>
                        <a:pt x="107" y="0"/>
                        <a:pt x="134" y="23"/>
                        <a:pt x="140" y="52"/>
                      </a:cubicBezTo>
                      <a:cubicBezTo>
                        <a:pt x="143" y="67"/>
                        <a:pt x="141" y="81"/>
                        <a:pt x="134" y="95"/>
                      </a:cubicBezTo>
                      <a:cubicBezTo>
                        <a:pt x="124" y="117"/>
                        <a:pt x="109" y="135"/>
                        <a:pt x="92" y="151"/>
                      </a:cubicBezTo>
                      <a:cubicBezTo>
                        <a:pt x="88" y="155"/>
                        <a:pt x="83" y="159"/>
                        <a:pt x="78" y="164"/>
                      </a:cubicBezTo>
                      <a:cubicBezTo>
                        <a:pt x="77" y="165"/>
                        <a:pt x="75" y="165"/>
                        <a:pt x="74" y="164"/>
                      </a:cubicBezTo>
                      <a:cubicBezTo>
                        <a:pt x="49" y="143"/>
                        <a:pt x="27" y="119"/>
                        <a:pt x="15" y="88"/>
                      </a:cubicBezTo>
                      <a:cubicBezTo>
                        <a:pt x="0" y="51"/>
                        <a:pt x="24" y="8"/>
                        <a:pt x="64" y="1"/>
                      </a:cubicBezTo>
                      <a:cubicBezTo>
                        <a:pt x="68" y="0"/>
                        <a:pt x="72" y="0"/>
                        <a:pt x="76" y="0"/>
                      </a:cubicBezTo>
                      <a:close/>
                      <a:moveTo>
                        <a:pt x="124" y="66"/>
                      </a:moveTo>
                      <a:cubicBezTo>
                        <a:pt x="125" y="41"/>
                        <a:pt x="103" y="19"/>
                        <a:pt x="77" y="18"/>
                      </a:cubicBezTo>
                      <a:cubicBezTo>
                        <a:pt x="50" y="18"/>
                        <a:pt x="28" y="39"/>
                        <a:pt x="28" y="66"/>
                      </a:cubicBezTo>
                      <a:cubicBezTo>
                        <a:pt x="28" y="92"/>
                        <a:pt x="49" y="113"/>
                        <a:pt x="76" y="114"/>
                      </a:cubicBezTo>
                      <a:cubicBezTo>
                        <a:pt x="101" y="114"/>
                        <a:pt x="124" y="93"/>
                        <a:pt x="124"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46" name="Freeform 97">
                  <a:extLst>
                    <a:ext uri="{FF2B5EF4-FFF2-40B4-BE49-F238E27FC236}">
                      <a16:creationId xmlns:a16="http://schemas.microsoft.com/office/drawing/2014/main" id="{280543FD-58D7-BE5C-4AE1-EB89E0D6D8F3}"/>
                    </a:ext>
                  </a:extLst>
                </p:cNvPr>
                <p:cNvSpPr>
                  <a:spLocks/>
                </p:cNvSpPr>
                <p:nvPr/>
              </p:nvSpPr>
              <p:spPr bwMode="auto">
                <a:xfrm>
                  <a:off x="1234" y="2704"/>
                  <a:ext cx="53" cy="91"/>
                </a:xfrm>
                <a:custGeom>
                  <a:avLst/>
                  <a:gdLst>
                    <a:gd name="T0" fmla="*/ 35 w 44"/>
                    <a:gd name="T1" fmla="*/ 21 h 76"/>
                    <a:gd name="T2" fmla="*/ 21 w 44"/>
                    <a:gd name="T3" fmla="*/ 19 h 76"/>
                    <a:gd name="T4" fmla="*/ 15 w 44"/>
                    <a:gd name="T5" fmla="*/ 23 h 76"/>
                    <a:gd name="T6" fmla="*/ 19 w 44"/>
                    <a:gd name="T7" fmla="*/ 29 h 76"/>
                    <a:gd name="T8" fmla="*/ 30 w 44"/>
                    <a:gd name="T9" fmla="*/ 34 h 76"/>
                    <a:gd name="T10" fmla="*/ 36 w 44"/>
                    <a:gd name="T11" fmla="*/ 60 h 76"/>
                    <a:gd name="T12" fmla="*/ 29 w 44"/>
                    <a:gd name="T13" fmla="*/ 65 h 76"/>
                    <a:gd name="T14" fmla="*/ 25 w 44"/>
                    <a:gd name="T15" fmla="*/ 71 h 76"/>
                    <a:gd name="T16" fmla="*/ 20 w 44"/>
                    <a:gd name="T17" fmla="*/ 76 h 76"/>
                    <a:gd name="T18" fmla="*/ 16 w 44"/>
                    <a:gd name="T19" fmla="*/ 72 h 76"/>
                    <a:gd name="T20" fmla="*/ 10 w 44"/>
                    <a:gd name="T21" fmla="*/ 66 h 76"/>
                    <a:gd name="T22" fmla="*/ 8 w 44"/>
                    <a:gd name="T23" fmla="*/ 66 h 76"/>
                    <a:gd name="T24" fmla="*/ 3 w 44"/>
                    <a:gd name="T25" fmla="*/ 55 h 76"/>
                    <a:gd name="T26" fmla="*/ 7 w 44"/>
                    <a:gd name="T27" fmla="*/ 53 h 76"/>
                    <a:gd name="T28" fmla="*/ 17 w 44"/>
                    <a:gd name="T29" fmla="*/ 56 h 76"/>
                    <a:gd name="T30" fmla="*/ 21 w 44"/>
                    <a:gd name="T31" fmla="*/ 56 h 76"/>
                    <a:gd name="T32" fmla="*/ 27 w 44"/>
                    <a:gd name="T33" fmla="*/ 51 h 76"/>
                    <a:gd name="T34" fmla="*/ 23 w 44"/>
                    <a:gd name="T35" fmla="*/ 45 h 76"/>
                    <a:gd name="T36" fmla="*/ 12 w 44"/>
                    <a:gd name="T37" fmla="*/ 40 h 76"/>
                    <a:gd name="T38" fmla="*/ 2 w 44"/>
                    <a:gd name="T39" fmla="*/ 24 h 76"/>
                    <a:gd name="T40" fmla="*/ 13 w 44"/>
                    <a:gd name="T41" fmla="*/ 10 h 76"/>
                    <a:gd name="T42" fmla="*/ 16 w 44"/>
                    <a:gd name="T43" fmla="*/ 5 h 76"/>
                    <a:gd name="T44" fmla="*/ 22 w 44"/>
                    <a:gd name="T45" fmla="*/ 1 h 76"/>
                    <a:gd name="T46" fmla="*/ 25 w 44"/>
                    <a:gd name="T47" fmla="*/ 1 h 76"/>
                    <a:gd name="T48" fmla="*/ 25 w 44"/>
                    <a:gd name="T49" fmla="*/ 3 h 76"/>
                    <a:gd name="T50" fmla="*/ 31 w 44"/>
                    <a:gd name="T51" fmla="*/ 10 h 76"/>
                    <a:gd name="T52" fmla="*/ 36 w 44"/>
                    <a:gd name="T53" fmla="*/ 19 h 76"/>
                    <a:gd name="T54" fmla="*/ 35 w 44"/>
                    <a:gd name="T55" fmla="*/ 2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4" h="76">
                      <a:moveTo>
                        <a:pt x="35" y="21"/>
                      </a:moveTo>
                      <a:cubicBezTo>
                        <a:pt x="30" y="21"/>
                        <a:pt x="26" y="20"/>
                        <a:pt x="21" y="19"/>
                      </a:cubicBezTo>
                      <a:cubicBezTo>
                        <a:pt x="18" y="19"/>
                        <a:pt x="16" y="20"/>
                        <a:pt x="15" y="23"/>
                      </a:cubicBezTo>
                      <a:cubicBezTo>
                        <a:pt x="15" y="26"/>
                        <a:pt x="16" y="28"/>
                        <a:pt x="19" y="29"/>
                      </a:cubicBezTo>
                      <a:cubicBezTo>
                        <a:pt x="22" y="31"/>
                        <a:pt x="26" y="32"/>
                        <a:pt x="30" y="34"/>
                      </a:cubicBezTo>
                      <a:cubicBezTo>
                        <a:pt x="41" y="40"/>
                        <a:pt x="44" y="51"/>
                        <a:pt x="36" y="60"/>
                      </a:cubicBezTo>
                      <a:cubicBezTo>
                        <a:pt x="34" y="62"/>
                        <a:pt x="32" y="64"/>
                        <a:pt x="29" y="65"/>
                      </a:cubicBezTo>
                      <a:cubicBezTo>
                        <a:pt x="26" y="66"/>
                        <a:pt x="25" y="68"/>
                        <a:pt x="25" y="71"/>
                      </a:cubicBezTo>
                      <a:cubicBezTo>
                        <a:pt x="25" y="76"/>
                        <a:pt x="24" y="76"/>
                        <a:pt x="20" y="76"/>
                      </a:cubicBezTo>
                      <a:cubicBezTo>
                        <a:pt x="17" y="76"/>
                        <a:pt x="15" y="75"/>
                        <a:pt x="16" y="72"/>
                      </a:cubicBezTo>
                      <a:cubicBezTo>
                        <a:pt x="16" y="68"/>
                        <a:pt x="14" y="66"/>
                        <a:pt x="10" y="66"/>
                      </a:cubicBezTo>
                      <a:cubicBezTo>
                        <a:pt x="10" y="66"/>
                        <a:pt x="9" y="66"/>
                        <a:pt x="8" y="66"/>
                      </a:cubicBezTo>
                      <a:cubicBezTo>
                        <a:pt x="1" y="63"/>
                        <a:pt x="0" y="62"/>
                        <a:pt x="3" y="55"/>
                      </a:cubicBezTo>
                      <a:cubicBezTo>
                        <a:pt x="4" y="53"/>
                        <a:pt x="5" y="53"/>
                        <a:pt x="7" y="53"/>
                      </a:cubicBezTo>
                      <a:cubicBezTo>
                        <a:pt x="10" y="54"/>
                        <a:pt x="14" y="55"/>
                        <a:pt x="17" y="56"/>
                      </a:cubicBezTo>
                      <a:cubicBezTo>
                        <a:pt x="19" y="56"/>
                        <a:pt x="20" y="56"/>
                        <a:pt x="21" y="56"/>
                      </a:cubicBezTo>
                      <a:cubicBezTo>
                        <a:pt x="24" y="55"/>
                        <a:pt x="27" y="54"/>
                        <a:pt x="27" y="51"/>
                      </a:cubicBezTo>
                      <a:cubicBezTo>
                        <a:pt x="27" y="49"/>
                        <a:pt x="25" y="47"/>
                        <a:pt x="23" y="45"/>
                      </a:cubicBezTo>
                      <a:cubicBezTo>
                        <a:pt x="20" y="43"/>
                        <a:pt x="16" y="42"/>
                        <a:pt x="12" y="40"/>
                      </a:cubicBezTo>
                      <a:cubicBezTo>
                        <a:pt x="6" y="37"/>
                        <a:pt x="1" y="32"/>
                        <a:pt x="2" y="24"/>
                      </a:cubicBezTo>
                      <a:cubicBezTo>
                        <a:pt x="3" y="17"/>
                        <a:pt x="7" y="13"/>
                        <a:pt x="13" y="10"/>
                      </a:cubicBezTo>
                      <a:cubicBezTo>
                        <a:pt x="15" y="9"/>
                        <a:pt x="16" y="8"/>
                        <a:pt x="16" y="5"/>
                      </a:cubicBezTo>
                      <a:cubicBezTo>
                        <a:pt x="17" y="0"/>
                        <a:pt x="17" y="0"/>
                        <a:pt x="22" y="1"/>
                      </a:cubicBezTo>
                      <a:cubicBezTo>
                        <a:pt x="23" y="1"/>
                        <a:pt x="24" y="1"/>
                        <a:pt x="25" y="1"/>
                      </a:cubicBezTo>
                      <a:cubicBezTo>
                        <a:pt x="25" y="2"/>
                        <a:pt x="25" y="2"/>
                        <a:pt x="25" y="3"/>
                      </a:cubicBezTo>
                      <a:cubicBezTo>
                        <a:pt x="25" y="7"/>
                        <a:pt x="27" y="9"/>
                        <a:pt x="31" y="10"/>
                      </a:cubicBezTo>
                      <a:cubicBezTo>
                        <a:pt x="38" y="11"/>
                        <a:pt x="39" y="12"/>
                        <a:pt x="36" y="19"/>
                      </a:cubicBezTo>
                      <a:cubicBezTo>
                        <a:pt x="36" y="20"/>
                        <a:pt x="35" y="21"/>
                        <a:pt x="3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grpSp>
      <p:grpSp>
        <p:nvGrpSpPr>
          <p:cNvPr id="47" name="Group 46">
            <a:extLst>
              <a:ext uri="{FF2B5EF4-FFF2-40B4-BE49-F238E27FC236}">
                <a16:creationId xmlns:a16="http://schemas.microsoft.com/office/drawing/2014/main" id="{FB3025C8-907C-384C-B463-10264C82FEAB}"/>
              </a:ext>
            </a:extLst>
          </p:cNvPr>
          <p:cNvGrpSpPr/>
          <p:nvPr/>
        </p:nvGrpSpPr>
        <p:grpSpPr>
          <a:xfrm>
            <a:off x="3176151" y="2755763"/>
            <a:ext cx="821734" cy="751402"/>
            <a:chOff x="2546999" y="3005424"/>
            <a:chExt cx="821734" cy="751402"/>
          </a:xfrm>
        </p:grpSpPr>
        <p:sp>
          <p:nvSpPr>
            <p:cNvPr id="48" name="Oval 47">
              <a:extLst>
                <a:ext uri="{FF2B5EF4-FFF2-40B4-BE49-F238E27FC236}">
                  <a16:creationId xmlns:a16="http://schemas.microsoft.com/office/drawing/2014/main" id="{EA67701C-A2F0-E31D-36FB-111BA0860654}"/>
                </a:ext>
              </a:extLst>
            </p:cNvPr>
            <p:cNvSpPr/>
            <p:nvPr/>
          </p:nvSpPr>
          <p:spPr>
            <a:xfrm>
              <a:off x="2731887" y="3005424"/>
              <a:ext cx="467876" cy="467876"/>
            </a:xfrm>
            <a:prstGeom prst="ellipse">
              <a:avLst/>
            </a:prstGeom>
            <a:solidFill>
              <a:schemeClr val="bg2"/>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49" name="Rectangle: Rounded Corners 48">
              <a:extLst>
                <a:ext uri="{FF2B5EF4-FFF2-40B4-BE49-F238E27FC236}">
                  <a16:creationId xmlns:a16="http://schemas.microsoft.com/office/drawing/2014/main" id="{43CFC44D-F3B2-7493-FB4E-78B00CAB61DA}"/>
                </a:ext>
              </a:extLst>
            </p:cNvPr>
            <p:cNvSpPr/>
            <p:nvPr/>
          </p:nvSpPr>
          <p:spPr>
            <a:xfrm>
              <a:off x="2546999" y="3519082"/>
              <a:ext cx="821734"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anrope"/>
                  <a:cs typeface="Arial" panose="020B0604020202020204" pitchFamily="34" charset="0"/>
                </a:rPr>
                <a:t>Behaviour</a:t>
              </a:r>
              <a:endParaRPr kumimoji="0" lang="en-IN" sz="800" b="0" i="0" u="none" strike="noStrike" kern="1200" cap="none" spc="0" normalizeH="0" baseline="0" noProof="0">
                <a:ln>
                  <a:noFill/>
                </a:ln>
                <a:solidFill>
                  <a:srgbClr val="FFFFFF"/>
                </a:solidFill>
                <a:effectLst/>
                <a:uLnTx/>
                <a:uFillTx/>
                <a:latin typeface="Manrope"/>
                <a:cs typeface="Arial" panose="020B0604020202020204" pitchFamily="34" charset="0"/>
              </a:endParaRPr>
            </a:p>
          </p:txBody>
        </p:sp>
        <p:grpSp>
          <p:nvGrpSpPr>
            <p:cNvPr id="50" name="Group 100">
              <a:extLst>
                <a:ext uri="{FF2B5EF4-FFF2-40B4-BE49-F238E27FC236}">
                  <a16:creationId xmlns:a16="http://schemas.microsoft.com/office/drawing/2014/main" id="{F09F6A6B-5706-2E64-0E0E-C779EE2B3048}"/>
                </a:ext>
              </a:extLst>
            </p:cNvPr>
            <p:cNvGrpSpPr>
              <a:grpSpLocks noChangeAspect="1"/>
            </p:cNvGrpSpPr>
            <p:nvPr/>
          </p:nvGrpSpPr>
          <p:grpSpPr bwMode="auto">
            <a:xfrm>
              <a:off x="2841465" y="3104430"/>
              <a:ext cx="265112" cy="280987"/>
              <a:chOff x="1357" y="2183"/>
              <a:chExt cx="167" cy="177"/>
            </a:xfrm>
            <a:solidFill>
              <a:schemeClr val="accent4"/>
            </a:solidFill>
          </p:grpSpPr>
          <p:sp>
            <p:nvSpPr>
              <p:cNvPr id="51" name="Freeform 101">
                <a:extLst>
                  <a:ext uri="{FF2B5EF4-FFF2-40B4-BE49-F238E27FC236}">
                    <a16:creationId xmlns:a16="http://schemas.microsoft.com/office/drawing/2014/main" id="{A7575382-5423-F376-F99E-01FFC8507787}"/>
                  </a:ext>
                </a:extLst>
              </p:cNvPr>
              <p:cNvSpPr>
                <a:spLocks noEditPoints="1"/>
              </p:cNvSpPr>
              <p:nvPr/>
            </p:nvSpPr>
            <p:spPr bwMode="auto">
              <a:xfrm>
                <a:off x="1357" y="2183"/>
                <a:ext cx="167" cy="177"/>
              </a:xfrm>
              <a:custGeom>
                <a:avLst/>
                <a:gdLst>
                  <a:gd name="T0" fmla="*/ 74 w 750"/>
                  <a:gd name="T1" fmla="*/ 799 h 799"/>
                  <a:gd name="T2" fmla="*/ 135 w 750"/>
                  <a:gd name="T3" fmla="*/ 654 h 799"/>
                  <a:gd name="T4" fmla="*/ 137 w 750"/>
                  <a:gd name="T5" fmla="*/ 649 h 799"/>
                  <a:gd name="T6" fmla="*/ 119 w 750"/>
                  <a:gd name="T7" fmla="*/ 552 h 799"/>
                  <a:gd name="T8" fmla="*/ 13 w 750"/>
                  <a:gd name="T9" fmla="*/ 251 h 799"/>
                  <a:gd name="T10" fmla="*/ 178 w 750"/>
                  <a:gd name="T11" fmla="*/ 37 h 799"/>
                  <a:gd name="T12" fmla="*/ 480 w 750"/>
                  <a:gd name="T13" fmla="*/ 39 h 799"/>
                  <a:gd name="T14" fmla="*/ 616 w 750"/>
                  <a:gd name="T15" fmla="*/ 208 h 799"/>
                  <a:gd name="T16" fmla="*/ 703 w 750"/>
                  <a:gd name="T17" fmla="*/ 392 h 799"/>
                  <a:gd name="T18" fmla="*/ 735 w 750"/>
                  <a:gd name="T19" fmla="*/ 440 h 799"/>
                  <a:gd name="T20" fmla="*/ 709 w 750"/>
                  <a:gd name="T21" fmla="*/ 489 h 799"/>
                  <a:gd name="T22" fmla="*/ 629 w 750"/>
                  <a:gd name="T23" fmla="*/ 490 h 799"/>
                  <a:gd name="T24" fmla="*/ 629 w 750"/>
                  <a:gd name="T25" fmla="*/ 587 h 799"/>
                  <a:gd name="T26" fmla="*/ 558 w 750"/>
                  <a:gd name="T27" fmla="*/ 659 h 799"/>
                  <a:gd name="T28" fmla="*/ 490 w 750"/>
                  <a:gd name="T29" fmla="*/ 659 h 799"/>
                  <a:gd name="T30" fmla="*/ 543 w 750"/>
                  <a:gd name="T31" fmla="*/ 799 h 799"/>
                  <a:gd name="T32" fmla="*/ 74 w 750"/>
                  <a:gd name="T33" fmla="*/ 799 h 799"/>
                  <a:gd name="T34" fmla="*/ 487 w 750"/>
                  <a:gd name="T35" fmla="*/ 292 h 799"/>
                  <a:gd name="T36" fmla="*/ 349 w 750"/>
                  <a:gd name="T37" fmla="*/ 154 h 799"/>
                  <a:gd name="T38" fmla="*/ 348 w 750"/>
                  <a:gd name="T39" fmla="*/ 126 h 799"/>
                  <a:gd name="T40" fmla="*/ 292 w 750"/>
                  <a:gd name="T41" fmla="*/ 126 h 799"/>
                  <a:gd name="T42" fmla="*/ 290 w 750"/>
                  <a:gd name="T43" fmla="*/ 155 h 799"/>
                  <a:gd name="T44" fmla="*/ 153 w 750"/>
                  <a:gd name="T45" fmla="*/ 292 h 799"/>
                  <a:gd name="T46" fmla="*/ 124 w 750"/>
                  <a:gd name="T47" fmla="*/ 294 h 799"/>
                  <a:gd name="T48" fmla="*/ 124 w 750"/>
                  <a:gd name="T49" fmla="*/ 349 h 799"/>
                  <a:gd name="T50" fmla="*/ 140 w 750"/>
                  <a:gd name="T51" fmla="*/ 351 h 799"/>
                  <a:gd name="T52" fmla="*/ 156 w 750"/>
                  <a:gd name="T53" fmla="*/ 363 h 799"/>
                  <a:gd name="T54" fmla="*/ 277 w 750"/>
                  <a:gd name="T55" fmla="*/ 484 h 799"/>
                  <a:gd name="T56" fmla="*/ 291 w 750"/>
                  <a:gd name="T57" fmla="*/ 504 h 799"/>
                  <a:gd name="T58" fmla="*/ 293 w 750"/>
                  <a:gd name="T59" fmla="*/ 518 h 799"/>
                  <a:gd name="T60" fmla="*/ 349 w 750"/>
                  <a:gd name="T61" fmla="*/ 518 h 799"/>
                  <a:gd name="T62" fmla="*/ 378 w 750"/>
                  <a:gd name="T63" fmla="*/ 479 h 799"/>
                  <a:gd name="T64" fmla="*/ 438 w 750"/>
                  <a:gd name="T65" fmla="*/ 441 h 799"/>
                  <a:gd name="T66" fmla="*/ 493 w 750"/>
                  <a:gd name="T67" fmla="*/ 355 h 799"/>
                  <a:gd name="T68" fmla="*/ 488 w 750"/>
                  <a:gd name="T69" fmla="*/ 351 h 799"/>
                  <a:gd name="T70" fmla="*/ 516 w 750"/>
                  <a:gd name="T71" fmla="*/ 349 h 799"/>
                  <a:gd name="T72" fmla="*/ 516 w 750"/>
                  <a:gd name="T73" fmla="*/ 294 h 799"/>
                  <a:gd name="T74" fmla="*/ 487 w 750"/>
                  <a:gd name="T75" fmla="*/ 292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50" h="799">
                    <a:moveTo>
                      <a:pt x="74" y="799"/>
                    </a:moveTo>
                    <a:cubicBezTo>
                      <a:pt x="94" y="751"/>
                      <a:pt x="115" y="703"/>
                      <a:pt x="135" y="654"/>
                    </a:cubicBezTo>
                    <a:cubicBezTo>
                      <a:pt x="136" y="653"/>
                      <a:pt x="137" y="651"/>
                      <a:pt x="137" y="649"/>
                    </a:cubicBezTo>
                    <a:cubicBezTo>
                      <a:pt x="152" y="613"/>
                      <a:pt x="149" y="585"/>
                      <a:pt x="119" y="552"/>
                    </a:cubicBezTo>
                    <a:cubicBezTo>
                      <a:pt x="39" y="469"/>
                      <a:pt x="0" y="368"/>
                      <a:pt x="13" y="251"/>
                    </a:cubicBezTo>
                    <a:cubicBezTo>
                      <a:pt x="25" y="147"/>
                      <a:pt x="80" y="74"/>
                      <a:pt x="178" y="37"/>
                    </a:cubicBezTo>
                    <a:cubicBezTo>
                      <a:pt x="278" y="0"/>
                      <a:pt x="380" y="2"/>
                      <a:pt x="480" y="39"/>
                    </a:cubicBezTo>
                    <a:cubicBezTo>
                      <a:pt x="557" y="68"/>
                      <a:pt x="606" y="128"/>
                      <a:pt x="616" y="208"/>
                    </a:cubicBezTo>
                    <a:cubicBezTo>
                      <a:pt x="625" y="281"/>
                      <a:pt x="664" y="336"/>
                      <a:pt x="703" y="392"/>
                    </a:cubicBezTo>
                    <a:cubicBezTo>
                      <a:pt x="714" y="408"/>
                      <a:pt x="725" y="424"/>
                      <a:pt x="735" y="440"/>
                    </a:cubicBezTo>
                    <a:cubicBezTo>
                      <a:pt x="750" y="465"/>
                      <a:pt x="738" y="488"/>
                      <a:pt x="709" y="489"/>
                    </a:cubicBezTo>
                    <a:cubicBezTo>
                      <a:pt x="684" y="490"/>
                      <a:pt x="658" y="490"/>
                      <a:pt x="629" y="490"/>
                    </a:cubicBezTo>
                    <a:cubicBezTo>
                      <a:pt x="629" y="523"/>
                      <a:pt x="629" y="555"/>
                      <a:pt x="629" y="587"/>
                    </a:cubicBezTo>
                    <a:cubicBezTo>
                      <a:pt x="629" y="641"/>
                      <a:pt x="611" y="659"/>
                      <a:pt x="558" y="659"/>
                    </a:cubicBezTo>
                    <a:cubicBezTo>
                      <a:pt x="536" y="659"/>
                      <a:pt x="514" y="659"/>
                      <a:pt x="490" y="659"/>
                    </a:cubicBezTo>
                    <a:cubicBezTo>
                      <a:pt x="498" y="711"/>
                      <a:pt x="513" y="756"/>
                      <a:pt x="543" y="799"/>
                    </a:cubicBezTo>
                    <a:cubicBezTo>
                      <a:pt x="384" y="799"/>
                      <a:pt x="228" y="799"/>
                      <a:pt x="74" y="799"/>
                    </a:cubicBezTo>
                    <a:close/>
                    <a:moveTo>
                      <a:pt x="487" y="292"/>
                    </a:moveTo>
                    <a:cubicBezTo>
                      <a:pt x="469" y="217"/>
                      <a:pt x="422" y="172"/>
                      <a:pt x="349" y="154"/>
                    </a:cubicBezTo>
                    <a:cubicBezTo>
                      <a:pt x="349" y="143"/>
                      <a:pt x="348" y="134"/>
                      <a:pt x="348" y="126"/>
                    </a:cubicBezTo>
                    <a:cubicBezTo>
                      <a:pt x="328" y="126"/>
                      <a:pt x="310" y="126"/>
                      <a:pt x="292" y="126"/>
                    </a:cubicBezTo>
                    <a:cubicBezTo>
                      <a:pt x="291" y="136"/>
                      <a:pt x="291" y="146"/>
                      <a:pt x="290" y="155"/>
                    </a:cubicBezTo>
                    <a:cubicBezTo>
                      <a:pt x="215" y="173"/>
                      <a:pt x="170" y="219"/>
                      <a:pt x="153" y="292"/>
                    </a:cubicBezTo>
                    <a:cubicBezTo>
                      <a:pt x="142" y="293"/>
                      <a:pt x="133" y="293"/>
                      <a:pt x="124" y="294"/>
                    </a:cubicBezTo>
                    <a:cubicBezTo>
                      <a:pt x="124" y="313"/>
                      <a:pt x="124" y="331"/>
                      <a:pt x="124" y="349"/>
                    </a:cubicBezTo>
                    <a:cubicBezTo>
                      <a:pt x="130" y="350"/>
                      <a:pt x="136" y="349"/>
                      <a:pt x="140" y="351"/>
                    </a:cubicBezTo>
                    <a:cubicBezTo>
                      <a:pt x="146" y="354"/>
                      <a:pt x="155" y="358"/>
                      <a:pt x="156" y="363"/>
                    </a:cubicBezTo>
                    <a:cubicBezTo>
                      <a:pt x="174" y="426"/>
                      <a:pt x="214" y="466"/>
                      <a:pt x="277" y="484"/>
                    </a:cubicBezTo>
                    <a:cubicBezTo>
                      <a:pt x="288" y="487"/>
                      <a:pt x="293" y="492"/>
                      <a:pt x="291" y="504"/>
                    </a:cubicBezTo>
                    <a:cubicBezTo>
                      <a:pt x="290" y="508"/>
                      <a:pt x="292" y="513"/>
                      <a:pt x="293" y="518"/>
                    </a:cubicBezTo>
                    <a:cubicBezTo>
                      <a:pt x="311" y="518"/>
                      <a:pt x="329" y="518"/>
                      <a:pt x="349" y="518"/>
                    </a:cubicBezTo>
                    <a:cubicBezTo>
                      <a:pt x="340" y="490"/>
                      <a:pt x="360" y="487"/>
                      <a:pt x="378" y="479"/>
                    </a:cubicBezTo>
                    <a:cubicBezTo>
                      <a:pt x="400" y="469"/>
                      <a:pt x="423" y="458"/>
                      <a:pt x="438" y="441"/>
                    </a:cubicBezTo>
                    <a:cubicBezTo>
                      <a:pt x="460" y="415"/>
                      <a:pt x="475" y="384"/>
                      <a:pt x="493" y="355"/>
                    </a:cubicBezTo>
                    <a:cubicBezTo>
                      <a:pt x="491" y="353"/>
                      <a:pt x="490" y="352"/>
                      <a:pt x="488" y="351"/>
                    </a:cubicBezTo>
                    <a:cubicBezTo>
                      <a:pt x="497" y="350"/>
                      <a:pt x="506" y="350"/>
                      <a:pt x="516" y="349"/>
                    </a:cubicBezTo>
                    <a:cubicBezTo>
                      <a:pt x="516" y="330"/>
                      <a:pt x="516" y="312"/>
                      <a:pt x="516" y="294"/>
                    </a:cubicBezTo>
                    <a:cubicBezTo>
                      <a:pt x="507" y="293"/>
                      <a:pt x="498" y="293"/>
                      <a:pt x="487" y="2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52" name="Freeform 102">
                <a:extLst>
                  <a:ext uri="{FF2B5EF4-FFF2-40B4-BE49-F238E27FC236}">
                    <a16:creationId xmlns:a16="http://schemas.microsoft.com/office/drawing/2014/main" id="{FB76E2D8-D58B-3606-B914-DECF211A4367}"/>
                  </a:ext>
                </a:extLst>
              </p:cNvPr>
              <p:cNvSpPr>
                <a:spLocks/>
              </p:cNvSpPr>
              <p:nvPr/>
            </p:nvSpPr>
            <p:spPr bwMode="auto">
              <a:xfrm>
                <a:off x="1404" y="2231"/>
                <a:ext cx="48" cy="47"/>
              </a:xfrm>
              <a:custGeom>
                <a:avLst/>
                <a:gdLst>
                  <a:gd name="T0" fmla="*/ 136 w 212"/>
                  <a:gd name="T1" fmla="*/ 211 h 212"/>
                  <a:gd name="T2" fmla="*/ 133 w 212"/>
                  <a:gd name="T3" fmla="*/ 191 h 212"/>
                  <a:gd name="T4" fmla="*/ 79 w 212"/>
                  <a:gd name="T5" fmla="*/ 191 h 212"/>
                  <a:gd name="T6" fmla="*/ 75 w 212"/>
                  <a:gd name="T7" fmla="*/ 212 h 212"/>
                  <a:gd name="T8" fmla="*/ 0 w 212"/>
                  <a:gd name="T9" fmla="*/ 136 h 212"/>
                  <a:gd name="T10" fmla="*/ 21 w 212"/>
                  <a:gd name="T11" fmla="*/ 133 h 212"/>
                  <a:gd name="T12" fmla="*/ 21 w 212"/>
                  <a:gd name="T13" fmla="*/ 78 h 212"/>
                  <a:gd name="T14" fmla="*/ 0 w 212"/>
                  <a:gd name="T15" fmla="*/ 75 h 212"/>
                  <a:gd name="T16" fmla="*/ 75 w 212"/>
                  <a:gd name="T17" fmla="*/ 0 h 212"/>
                  <a:gd name="T18" fmla="*/ 79 w 212"/>
                  <a:gd name="T19" fmla="*/ 20 h 212"/>
                  <a:gd name="T20" fmla="*/ 133 w 212"/>
                  <a:gd name="T21" fmla="*/ 20 h 212"/>
                  <a:gd name="T22" fmla="*/ 136 w 212"/>
                  <a:gd name="T23" fmla="*/ 1 h 212"/>
                  <a:gd name="T24" fmla="*/ 212 w 212"/>
                  <a:gd name="T25" fmla="*/ 75 h 212"/>
                  <a:gd name="T26" fmla="*/ 191 w 212"/>
                  <a:gd name="T27" fmla="*/ 78 h 212"/>
                  <a:gd name="T28" fmla="*/ 191 w 212"/>
                  <a:gd name="T29" fmla="*/ 132 h 212"/>
                  <a:gd name="T30" fmla="*/ 211 w 212"/>
                  <a:gd name="T31" fmla="*/ 136 h 212"/>
                  <a:gd name="T32" fmla="*/ 136 w 212"/>
                  <a:gd name="T33" fmla="*/ 21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2" h="212">
                    <a:moveTo>
                      <a:pt x="136" y="211"/>
                    </a:moveTo>
                    <a:cubicBezTo>
                      <a:pt x="135" y="205"/>
                      <a:pt x="134" y="199"/>
                      <a:pt x="133" y="191"/>
                    </a:cubicBezTo>
                    <a:cubicBezTo>
                      <a:pt x="115" y="191"/>
                      <a:pt x="98" y="191"/>
                      <a:pt x="79" y="191"/>
                    </a:cubicBezTo>
                    <a:cubicBezTo>
                      <a:pt x="78" y="198"/>
                      <a:pt x="76" y="205"/>
                      <a:pt x="75" y="212"/>
                    </a:cubicBezTo>
                    <a:cubicBezTo>
                      <a:pt x="40" y="205"/>
                      <a:pt x="7" y="172"/>
                      <a:pt x="0" y="136"/>
                    </a:cubicBezTo>
                    <a:cubicBezTo>
                      <a:pt x="6" y="135"/>
                      <a:pt x="13" y="134"/>
                      <a:pt x="21" y="133"/>
                    </a:cubicBezTo>
                    <a:cubicBezTo>
                      <a:pt x="21" y="115"/>
                      <a:pt x="21" y="97"/>
                      <a:pt x="21" y="78"/>
                    </a:cubicBezTo>
                    <a:cubicBezTo>
                      <a:pt x="14" y="77"/>
                      <a:pt x="7" y="76"/>
                      <a:pt x="0" y="75"/>
                    </a:cubicBezTo>
                    <a:cubicBezTo>
                      <a:pt x="7" y="39"/>
                      <a:pt x="40" y="6"/>
                      <a:pt x="75" y="0"/>
                    </a:cubicBezTo>
                    <a:cubicBezTo>
                      <a:pt x="76" y="6"/>
                      <a:pt x="77" y="13"/>
                      <a:pt x="79" y="20"/>
                    </a:cubicBezTo>
                    <a:cubicBezTo>
                      <a:pt x="97" y="20"/>
                      <a:pt x="114" y="20"/>
                      <a:pt x="133" y="20"/>
                    </a:cubicBezTo>
                    <a:cubicBezTo>
                      <a:pt x="134" y="13"/>
                      <a:pt x="135" y="7"/>
                      <a:pt x="136" y="1"/>
                    </a:cubicBezTo>
                    <a:cubicBezTo>
                      <a:pt x="169" y="4"/>
                      <a:pt x="203" y="37"/>
                      <a:pt x="212" y="75"/>
                    </a:cubicBezTo>
                    <a:cubicBezTo>
                      <a:pt x="206" y="76"/>
                      <a:pt x="200" y="77"/>
                      <a:pt x="191" y="78"/>
                    </a:cubicBezTo>
                    <a:cubicBezTo>
                      <a:pt x="191" y="95"/>
                      <a:pt x="191" y="113"/>
                      <a:pt x="191" y="132"/>
                    </a:cubicBezTo>
                    <a:cubicBezTo>
                      <a:pt x="198" y="133"/>
                      <a:pt x="204" y="135"/>
                      <a:pt x="211" y="136"/>
                    </a:cubicBezTo>
                    <a:cubicBezTo>
                      <a:pt x="206" y="170"/>
                      <a:pt x="173" y="204"/>
                      <a:pt x="136"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grpSp>
      <p:grpSp>
        <p:nvGrpSpPr>
          <p:cNvPr id="154" name="Group 153">
            <a:extLst>
              <a:ext uri="{FF2B5EF4-FFF2-40B4-BE49-F238E27FC236}">
                <a16:creationId xmlns:a16="http://schemas.microsoft.com/office/drawing/2014/main" id="{645739B2-6C72-4240-689D-65FA47995605}"/>
              </a:ext>
            </a:extLst>
          </p:cNvPr>
          <p:cNvGrpSpPr/>
          <p:nvPr/>
        </p:nvGrpSpPr>
        <p:grpSpPr>
          <a:xfrm>
            <a:off x="3952667" y="2481736"/>
            <a:ext cx="821734" cy="724497"/>
            <a:chOff x="3952667" y="2481736"/>
            <a:chExt cx="821734" cy="724497"/>
          </a:xfrm>
        </p:grpSpPr>
        <p:sp>
          <p:nvSpPr>
            <p:cNvPr id="41" name="Rectangle: Rounded Corners 40">
              <a:extLst>
                <a:ext uri="{FF2B5EF4-FFF2-40B4-BE49-F238E27FC236}">
                  <a16:creationId xmlns:a16="http://schemas.microsoft.com/office/drawing/2014/main" id="{C2FA00CD-09EA-F00F-8AA2-A51C24495A84}"/>
                </a:ext>
              </a:extLst>
            </p:cNvPr>
            <p:cNvSpPr/>
            <p:nvPr/>
          </p:nvSpPr>
          <p:spPr>
            <a:xfrm>
              <a:off x="3952667" y="2968489"/>
              <a:ext cx="821734"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anrope"/>
                  <a:cs typeface="Arial" panose="020B0604020202020204" pitchFamily="34" charset="0"/>
                </a:rPr>
                <a:t>Campaigns</a:t>
              </a:r>
              <a:endParaRPr kumimoji="0" lang="en-IN" sz="800" b="0" i="0" u="none" strike="noStrike" kern="1200" cap="none" spc="0" normalizeH="0" baseline="0" noProof="0">
                <a:ln>
                  <a:noFill/>
                </a:ln>
                <a:solidFill>
                  <a:srgbClr val="FFFFFF"/>
                </a:solidFill>
                <a:effectLst/>
                <a:uLnTx/>
                <a:uFillTx/>
                <a:latin typeface="Manrope"/>
                <a:cs typeface="Arial" panose="020B0604020202020204" pitchFamily="34" charset="0"/>
              </a:endParaRPr>
            </a:p>
          </p:txBody>
        </p:sp>
        <p:grpSp>
          <p:nvGrpSpPr>
            <p:cNvPr id="53" name="Group 52">
              <a:extLst>
                <a:ext uri="{FF2B5EF4-FFF2-40B4-BE49-F238E27FC236}">
                  <a16:creationId xmlns:a16="http://schemas.microsoft.com/office/drawing/2014/main" id="{59396C70-024A-B883-4056-B5E99ACA4614}"/>
                </a:ext>
              </a:extLst>
            </p:cNvPr>
            <p:cNvGrpSpPr/>
            <p:nvPr/>
          </p:nvGrpSpPr>
          <p:grpSpPr>
            <a:xfrm>
              <a:off x="4129596" y="2481736"/>
              <a:ext cx="467876" cy="467876"/>
              <a:chOff x="3459561" y="2688102"/>
              <a:chExt cx="467876" cy="467876"/>
            </a:xfrm>
          </p:grpSpPr>
          <p:sp>
            <p:nvSpPr>
              <p:cNvPr id="54" name="Oval 53">
                <a:extLst>
                  <a:ext uri="{FF2B5EF4-FFF2-40B4-BE49-F238E27FC236}">
                    <a16:creationId xmlns:a16="http://schemas.microsoft.com/office/drawing/2014/main" id="{1820DC94-8DB0-353F-CBBF-D17DC454A414}"/>
                  </a:ext>
                </a:extLst>
              </p:cNvPr>
              <p:cNvSpPr/>
              <p:nvPr/>
            </p:nvSpPr>
            <p:spPr>
              <a:xfrm>
                <a:off x="3459561" y="2688102"/>
                <a:ext cx="467876" cy="467876"/>
              </a:xfrm>
              <a:prstGeom prst="ellipse">
                <a:avLst/>
              </a:prstGeom>
              <a:solidFill>
                <a:schemeClr val="bg2"/>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nvGrpSpPr>
              <p:cNvPr id="55" name="Group 105">
                <a:extLst>
                  <a:ext uri="{FF2B5EF4-FFF2-40B4-BE49-F238E27FC236}">
                    <a16:creationId xmlns:a16="http://schemas.microsoft.com/office/drawing/2014/main" id="{5577EC54-586F-405D-4E34-52E7B90D95D8}"/>
                  </a:ext>
                </a:extLst>
              </p:cNvPr>
              <p:cNvGrpSpPr>
                <a:grpSpLocks noChangeAspect="1"/>
              </p:cNvGrpSpPr>
              <p:nvPr/>
            </p:nvGrpSpPr>
            <p:grpSpPr bwMode="auto">
              <a:xfrm>
                <a:off x="3539965" y="2805980"/>
                <a:ext cx="312737" cy="254000"/>
                <a:chOff x="1797" y="1995"/>
                <a:chExt cx="197" cy="160"/>
              </a:xfrm>
              <a:solidFill>
                <a:schemeClr val="accent4"/>
              </a:solidFill>
            </p:grpSpPr>
            <p:sp>
              <p:nvSpPr>
                <p:cNvPr id="56" name="Freeform 106">
                  <a:extLst>
                    <a:ext uri="{FF2B5EF4-FFF2-40B4-BE49-F238E27FC236}">
                      <a16:creationId xmlns:a16="http://schemas.microsoft.com/office/drawing/2014/main" id="{ABE8EFB8-5EAC-DBCF-0159-2F0EF67F1C45}"/>
                    </a:ext>
                  </a:extLst>
                </p:cNvPr>
                <p:cNvSpPr>
                  <a:spLocks/>
                </p:cNvSpPr>
                <p:nvPr/>
              </p:nvSpPr>
              <p:spPr bwMode="auto">
                <a:xfrm>
                  <a:off x="1848" y="2015"/>
                  <a:ext cx="146" cy="140"/>
                </a:xfrm>
                <a:custGeom>
                  <a:avLst/>
                  <a:gdLst>
                    <a:gd name="T0" fmla="*/ 192 w 591"/>
                    <a:gd name="T1" fmla="*/ 118 h 569"/>
                    <a:gd name="T2" fmla="*/ 213 w 591"/>
                    <a:gd name="T3" fmla="*/ 118 h 569"/>
                    <a:gd name="T4" fmla="*/ 217 w 591"/>
                    <a:gd name="T5" fmla="*/ 141 h 569"/>
                    <a:gd name="T6" fmla="*/ 462 w 591"/>
                    <a:gd name="T7" fmla="*/ 37 h 569"/>
                    <a:gd name="T8" fmla="*/ 474 w 591"/>
                    <a:gd name="T9" fmla="*/ 21 h 569"/>
                    <a:gd name="T10" fmla="*/ 502 w 591"/>
                    <a:gd name="T11" fmla="*/ 6 h 569"/>
                    <a:gd name="T12" fmla="*/ 521 w 591"/>
                    <a:gd name="T13" fmla="*/ 32 h 569"/>
                    <a:gd name="T14" fmla="*/ 522 w 591"/>
                    <a:gd name="T15" fmla="*/ 84 h 569"/>
                    <a:gd name="T16" fmla="*/ 522 w 591"/>
                    <a:gd name="T17" fmla="*/ 122 h 569"/>
                    <a:gd name="T18" fmla="*/ 549 w 591"/>
                    <a:gd name="T19" fmla="*/ 193 h 569"/>
                    <a:gd name="T20" fmla="*/ 535 w 591"/>
                    <a:gd name="T21" fmla="*/ 319 h 569"/>
                    <a:gd name="T22" fmla="*/ 520 w 591"/>
                    <a:gd name="T23" fmla="*/ 348 h 569"/>
                    <a:gd name="T24" fmla="*/ 520 w 591"/>
                    <a:gd name="T25" fmla="*/ 464 h 569"/>
                    <a:gd name="T26" fmla="*/ 502 w 591"/>
                    <a:gd name="T27" fmla="*/ 495 h 569"/>
                    <a:gd name="T28" fmla="*/ 472 w 591"/>
                    <a:gd name="T29" fmla="*/ 476 h 569"/>
                    <a:gd name="T30" fmla="*/ 466 w 591"/>
                    <a:gd name="T31" fmla="*/ 468 h 569"/>
                    <a:gd name="T32" fmla="*/ 216 w 591"/>
                    <a:gd name="T33" fmla="*/ 360 h 569"/>
                    <a:gd name="T34" fmla="*/ 214 w 591"/>
                    <a:gd name="T35" fmla="*/ 381 h 569"/>
                    <a:gd name="T36" fmla="*/ 157 w 591"/>
                    <a:gd name="T37" fmla="*/ 381 h 569"/>
                    <a:gd name="T38" fmla="*/ 187 w 591"/>
                    <a:gd name="T39" fmla="*/ 489 h 569"/>
                    <a:gd name="T40" fmla="*/ 214 w 591"/>
                    <a:gd name="T41" fmla="*/ 506 h 569"/>
                    <a:gd name="T42" fmla="*/ 238 w 591"/>
                    <a:gd name="T43" fmla="*/ 563 h 569"/>
                    <a:gd name="T44" fmla="*/ 224 w 591"/>
                    <a:gd name="T45" fmla="*/ 568 h 569"/>
                    <a:gd name="T46" fmla="*/ 134 w 591"/>
                    <a:gd name="T47" fmla="*/ 569 h 569"/>
                    <a:gd name="T48" fmla="*/ 115 w 591"/>
                    <a:gd name="T49" fmla="*/ 550 h 569"/>
                    <a:gd name="T50" fmla="*/ 79 w 591"/>
                    <a:gd name="T51" fmla="*/ 405 h 569"/>
                    <a:gd name="T52" fmla="*/ 56 w 591"/>
                    <a:gd name="T53" fmla="*/ 383 h 569"/>
                    <a:gd name="T54" fmla="*/ 6 w 591"/>
                    <a:gd name="T55" fmla="*/ 343 h 569"/>
                    <a:gd name="T56" fmla="*/ 12 w 591"/>
                    <a:gd name="T57" fmla="*/ 313 h 569"/>
                    <a:gd name="T58" fmla="*/ 18 w 591"/>
                    <a:gd name="T59" fmla="*/ 305 h 569"/>
                    <a:gd name="T60" fmla="*/ 51 w 591"/>
                    <a:gd name="T61" fmla="*/ 269 h 569"/>
                    <a:gd name="T62" fmla="*/ 144 w 591"/>
                    <a:gd name="T63" fmla="*/ 167 h 569"/>
                    <a:gd name="T64" fmla="*/ 163 w 591"/>
                    <a:gd name="T65" fmla="*/ 151 h 569"/>
                    <a:gd name="T66" fmla="*/ 192 w 591"/>
                    <a:gd name="T67" fmla="*/ 118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91" h="569">
                      <a:moveTo>
                        <a:pt x="192" y="118"/>
                      </a:moveTo>
                      <a:cubicBezTo>
                        <a:pt x="200" y="118"/>
                        <a:pt x="206" y="118"/>
                        <a:pt x="213" y="118"/>
                      </a:cubicBezTo>
                      <a:cubicBezTo>
                        <a:pt x="214" y="125"/>
                        <a:pt x="215" y="132"/>
                        <a:pt x="217" y="141"/>
                      </a:cubicBezTo>
                      <a:cubicBezTo>
                        <a:pt x="307" y="124"/>
                        <a:pt x="391" y="97"/>
                        <a:pt x="462" y="37"/>
                      </a:cubicBezTo>
                      <a:cubicBezTo>
                        <a:pt x="467" y="33"/>
                        <a:pt x="471" y="27"/>
                        <a:pt x="474" y="21"/>
                      </a:cubicBezTo>
                      <a:cubicBezTo>
                        <a:pt x="479" y="8"/>
                        <a:pt x="490" y="0"/>
                        <a:pt x="502" y="6"/>
                      </a:cubicBezTo>
                      <a:cubicBezTo>
                        <a:pt x="510" y="10"/>
                        <a:pt x="519" y="22"/>
                        <a:pt x="521" y="32"/>
                      </a:cubicBezTo>
                      <a:cubicBezTo>
                        <a:pt x="524" y="49"/>
                        <a:pt x="522" y="66"/>
                        <a:pt x="522" y="84"/>
                      </a:cubicBezTo>
                      <a:cubicBezTo>
                        <a:pt x="522" y="96"/>
                        <a:pt x="522" y="109"/>
                        <a:pt x="522" y="122"/>
                      </a:cubicBezTo>
                      <a:cubicBezTo>
                        <a:pt x="522" y="149"/>
                        <a:pt x="520" y="172"/>
                        <a:pt x="549" y="193"/>
                      </a:cubicBezTo>
                      <a:cubicBezTo>
                        <a:pt x="591" y="224"/>
                        <a:pt x="581" y="291"/>
                        <a:pt x="535" y="319"/>
                      </a:cubicBezTo>
                      <a:cubicBezTo>
                        <a:pt x="523" y="327"/>
                        <a:pt x="520" y="335"/>
                        <a:pt x="520" y="348"/>
                      </a:cubicBezTo>
                      <a:cubicBezTo>
                        <a:pt x="521" y="386"/>
                        <a:pt x="520" y="425"/>
                        <a:pt x="520" y="464"/>
                      </a:cubicBezTo>
                      <a:cubicBezTo>
                        <a:pt x="521" y="478"/>
                        <a:pt x="518" y="491"/>
                        <a:pt x="502" y="495"/>
                      </a:cubicBezTo>
                      <a:cubicBezTo>
                        <a:pt x="486" y="499"/>
                        <a:pt x="477" y="490"/>
                        <a:pt x="472" y="476"/>
                      </a:cubicBezTo>
                      <a:cubicBezTo>
                        <a:pt x="471" y="473"/>
                        <a:pt x="469" y="470"/>
                        <a:pt x="466" y="468"/>
                      </a:cubicBezTo>
                      <a:cubicBezTo>
                        <a:pt x="395" y="405"/>
                        <a:pt x="309" y="377"/>
                        <a:pt x="216" y="360"/>
                      </a:cubicBezTo>
                      <a:cubicBezTo>
                        <a:pt x="215" y="368"/>
                        <a:pt x="215" y="373"/>
                        <a:pt x="214" y="381"/>
                      </a:cubicBezTo>
                      <a:cubicBezTo>
                        <a:pt x="197" y="381"/>
                        <a:pt x="179" y="381"/>
                        <a:pt x="157" y="381"/>
                      </a:cubicBezTo>
                      <a:cubicBezTo>
                        <a:pt x="167" y="419"/>
                        <a:pt x="175" y="455"/>
                        <a:pt x="187" y="489"/>
                      </a:cubicBezTo>
                      <a:cubicBezTo>
                        <a:pt x="190" y="497"/>
                        <a:pt x="204" y="502"/>
                        <a:pt x="214" y="506"/>
                      </a:cubicBezTo>
                      <a:cubicBezTo>
                        <a:pt x="228" y="511"/>
                        <a:pt x="246" y="551"/>
                        <a:pt x="238" y="563"/>
                      </a:cubicBezTo>
                      <a:cubicBezTo>
                        <a:pt x="235" y="566"/>
                        <a:pt x="229" y="568"/>
                        <a:pt x="224" y="568"/>
                      </a:cubicBezTo>
                      <a:cubicBezTo>
                        <a:pt x="194" y="569"/>
                        <a:pt x="164" y="568"/>
                        <a:pt x="134" y="569"/>
                      </a:cubicBezTo>
                      <a:cubicBezTo>
                        <a:pt x="121" y="569"/>
                        <a:pt x="117" y="561"/>
                        <a:pt x="115" y="550"/>
                      </a:cubicBezTo>
                      <a:cubicBezTo>
                        <a:pt x="103" y="501"/>
                        <a:pt x="91" y="453"/>
                        <a:pt x="79" y="405"/>
                      </a:cubicBezTo>
                      <a:cubicBezTo>
                        <a:pt x="76" y="391"/>
                        <a:pt x="73" y="383"/>
                        <a:pt x="56" y="383"/>
                      </a:cubicBezTo>
                      <a:cubicBezTo>
                        <a:pt x="31" y="382"/>
                        <a:pt x="14" y="367"/>
                        <a:pt x="6" y="343"/>
                      </a:cubicBezTo>
                      <a:cubicBezTo>
                        <a:pt x="3" y="332"/>
                        <a:pt x="0" y="321"/>
                        <a:pt x="12" y="313"/>
                      </a:cubicBezTo>
                      <a:cubicBezTo>
                        <a:pt x="15" y="311"/>
                        <a:pt x="18" y="307"/>
                        <a:pt x="18" y="305"/>
                      </a:cubicBezTo>
                      <a:cubicBezTo>
                        <a:pt x="15" y="279"/>
                        <a:pt x="35" y="276"/>
                        <a:pt x="51" y="269"/>
                      </a:cubicBezTo>
                      <a:cubicBezTo>
                        <a:pt x="96" y="248"/>
                        <a:pt x="128" y="214"/>
                        <a:pt x="144" y="167"/>
                      </a:cubicBezTo>
                      <a:cubicBezTo>
                        <a:pt x="148" y="157"/>
                        <a:pt x="151" y="151"/>
                        <a:pt x="163" y="151"/>
                      </a:cubicBezTo>
                      <a:cubicBezTo>
                        <a:pt x="182" y="150"/>
                        <a:pt x="190" y="137"/>
                        <a:pt x="192"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57" name="Freeform 107">
                  <a:extLst>
                    <a:ext uri="{FF2B5EF4-FFF2-40B4-BE49-F238E27FC236}">
                      <a16:creationId xmlns:a16="http://schemas.microsoft.com/office/drawing/2014/main" id="{DBE33A9E-3C7F-5C75-B4A9-8B0E20D19DCC}"/>
                    </a:ext>
                  </a:extLst>
                </p:cNvPr>
                <p:cNvSpPr>
                  <a:spLocks noEditPoints="1"/>
                </p:cNvSpPr>
                <p:nvPr/>
              </p:nvSpPr>
              <p:spPr bwMode="auto">
                <a:xfrm>
                  <a:off x="1797" y="1995"/>
                  <a:ext cx="91" cy="92"/>
                </a:xfrm>
                <a:custGeom>
                  <a:avLst/>
                  <a:gdLst>
                    <a:gd name="T0" fmla="*/ 370 w 370"/>
                    <a:gd name="T1" fmla="*/ 170 h 371"/>
                    <a:gd name="T2" fmla="*/ 370 w 370"/>
                    <a:gd name="T3" fmla="*/ 201 h 371"/>
                    <a:gd name="T4" fmla="*/ 335 w 370"/>
                    <a:gd name="T5" fmla="*/ 201 h 371"/>
                    <a:gd name="T6" fmla="*/ 202 w 370"/>
                    <a:gd name="T7" fmla="*/ 336 h 371"/>
                    <a:gd name="T8" fmla="*/ 200 w 370"/>
                    <a:gd name="T9" fmla="*/ 371 h 371"/>
                    <a:gd name="T10" fmla="*/ 170 w 370"/>
                    <a:gd name="T11" fmla="*/ 371 h 371"/>
                    <a:gd name="T12" fmla="*/ 168 w 370"/>
                    <a:gd name="T13" fmla="*/ 341 h 371"/>
                    <a:gd name="T14" fmla="*/ 93 w 370"/>
                    <a:gd name="T15" fmla="*/ 304 h 371"/>
                    <a:gd name="T16" fmla="*/ 40 w 370"/>
                    <a:gd name="T17" fmla="*/ 224 h 371"/>
                    <a:gd name="T18" fmla="*/ 11 w 370"/>
                    <a:gd name="T19" fmla="*/ 201 h 371"/>
                    <a:gd name="T20" fmla="*/ 0 w 370"/>
                    <a:gd name="T21" fmla="*/ 200 h 371"/>
                    <a:gd name="T22" fmla="*/ 0 w 370"/>
                    <a:gd name="T23" fmla="*/ 173 h 371"/>
                    <a:gd name="T24" fmla="*/ 2 w 370"/>
                    <a:gd name="T25" fmla="*/ 171 h 371"/>
                    <a:gd name="T26" fmla="*/ 44 w 370"/>
                    <a:gd name="T27" fmla="*/ 137 h 371"/>
                    <a:gd name="T28" fmla="*/ 150 w 370"/>
                    <a:gd name="T29" fmla="*/ 39 h 371"/>
                    <a:gd name="T30" fmla="*/ 168 w 370"/>
                    <a:gd name="T31" fmla="*/ 35 h 371"/>
                    <a:gd name="T32" fmla="*/ 171 w 370"/>
                    <a:gd name="T33" fmla="*/ 0 h 371"/>
                    <a:gd name="T34" fmla="*/ 198 w 370"/>
                    <a:gd name="T35" fmla="*/ 0 h 371"/>
                    <a:gd name="T36" fmla="*/ 201 w 370"/>
                    <a:gd name="T37" fmla="*/ 4 h 371"/>
                    <a:gd name="T38" fmla="*/ 230 w 370"/>
                    <a:gd name="T39" fmla="*/ 44 h 371"/>
                    <a:gd name="T40" fmla="*/ 330 w 370"/>
                    <a:gd name="T41" fmla="*/ 149 h 371"/>
                    <a:gd name="T42" fmla="*/ 335 w 370"/>
                    <a:gd name="T43" fmla="*/ 170 h 371"/>
                    <a:gd name="T44" fmla="*/ 370 w 370"/>
                    <a:gd name="T45" fmla="*/ 170 h 371"/>
                    <a:gd name="T46" fmla="*/ 184 w 370"/>
                    <a:gd name="T47" fmla="*/ 304 h 371"/>
                    <a:gd name="T48" fmla="*/ 302 w 370"/>
                    <a:gd name="T49" fmla="*/ 188 h 371"/>
                    <a:gd name="T50" fmla="*/ 185 w 370"/>
                    <a:gd name="T51" fmla="*/ 67 h 371"/>
                    <a:gd name="T52" fmla="*/ 66 w 370"/>
                    <a:gd name="T53" fmla="*/ 186 h 371"/>
                    <a:gd name="T54" fmla="*/ 184 w 370"/>
                    <a:gd name="T55" fmla="*/ 304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70" h="371">
                      <a:moveTo>
                        <a:pt x="370" y="170"/>
                      </a:moveTo>
                      <a:cubicBezTo>
                        <a:pt x="370" y="182"/>
                        <a:pt x="370" y="191"/>
                        <a:pt x="370" y="201"/>
                      </a:cubicBezTo>
                      <a:cubicBezTo>
                        <a:pt x="358" y="201"/>
                        <a:pt x="347" y="201"/>
                        <a:pt x="335" y="201"/>
                      </a:cubicBezTo>
                      <a:cubicBezTo>
                        <a:pt x="320" y="277"/>
                        <a:pt x="276" y="322"/>
                        <a:pt x="202" y="336"/>
                      </a:cubicBezTo>
                      <a:cubicBezTo>
                        <a:pt x="201" y="348"/>
                        <a:pt x="200" y="359"/>
                        <a:pt x="200" y="371"/>
                      </a:cubicBezTo>
                      <a:cubicBezTo>
                        <a:pt x="189" y="371"/>
                        <a:pt x="180" y="371"/>
                        <a:pt x="170" y="371"/>
                      </a:cubicBezTo>
                      <a:cubicBezTo>
                        <a:pt x="169" y="359"/>
                        <a:pt x="168" y="348"/>
                        <a:pt x="168" y="341"/>
                      </a:cubicBezTo>
                      <a:cubicBezTo>
                        <a:pt x="141" y="328"/>
                        <a:pt x="115" y="318"/>
                        <a:pt x="93" y="304"/>
                      </a:cubicBezTo>
                      <a:cubicBezTo>
                        <a:pt x="65" y="285"/>
                        <a:pt x="47" y="257"/>
                        <a:pt x="40" y="224"/>
                      </a:cubicBezTo>
                      <a:cubicBezTo>
                        <a:pt x="36" y="207"/>
                        <a:pt x="30" y="198"/>
                        <a:pt x="11" y="201"/>
                      </a:cubicBezTo>
                      <a:cubicBezTo>
                        <a:pt x="8" y="202"/>
                        <a:pt x="5" y="201"/>
                        <a:pt x="0" y="200"/>
                      </a:cubicBezTo>
                      <a:cubicBezTo>
                        <a:pt x="0" y="191"/>
                        <a:pt x="0" y="182"/>
                        <a:pt x="0" y="173"/>
                      </a:cubicBezTo>
                      <a:cubicBezTo>
                        <a:pt x="0" y="172"/>
                        <a:pt x="1" y="171"/>
                        <a:pt x="2" y="171"/>
                      </a:cubicBezTo>
                      <a:cubicBezTo>
                        <a:pt x="28" y="174"/>
                        <a:pt x="36" y="162"/>
                        <a:pt x="44" y="137"/>
                      </a:cubicBezTo>
                      <a:cubicBezTo>
                        <a:pt x="59" y="85"/>
                        <a:pt x="97" y="53"/>
                        <a:pt x="150" y="39"/>
                      </a:cubicBezTo>
                      <a:cubicBezTo>
                        <a:pt x="156" y="38"/>
                        <a:pt x="162" y="36"/>
                        <a:pt x="168" y="35"/>
                      </a:cubicBezTo>
                      <a:cubicBezTo>
                        <a:pt x="169" y="23"/>
                        <a:pt x="170" y="12"/>
                        <a:pt x="171" y="0"/>
                      </a:cubicBezTo>
                      <a:cubicBezTo>
                        <a:pt x="181" y="0"/>
                        <a:pt x="190" y="0"/>
                        <a:pt x="198" y="0"/>
                      </a:cubicBezTo>
                      <a:cubicBezTo>
                        <a:pt x="199" y="2"/>
                        <a:pt x="201" y="3"/>
                        <a:pt x="201" y="4"/>
                      </a:cubicBezTo>
                      <a:cubicBezTo>
                        <a:pt x="198" y="27"/>
                        <a:pt x="206" y="37"/>
                        <a:pt x="230" y="44"/>
                      </a:cubicBezTo>
                      <a:cubicBezTo>
                        <a:pt x="283" y="58"/>
                        <a:pt x="315" y="97"/>
                        <a:pt x="330" y="149"/>
                      </a:cubicBezTo>
                      <a:cubicBezTo>
                        <a:pt x="332" y="156"/>
                        <a:pt x="333" y="162"/>
                        <a:pt x="335" y="170"/>
                      </a:cubicBezTo>
                      <a:cubicBezTo>
                        <a:pt x="346" y="170"/>
                        <a:pt x="357" y="170"/>
                        <a:pt x="370" y="170"/>
                      </a:cubicBezTo>
                      <a:close/>
                      <a:moveTo>
                        <a:pt x="184" y="304"/>
                      </a:moveTo>
                      <a:cubicBezTo>
                        <a:pt x="249" y="304"/>
                        <a:pt x="302" y="253"/>
                        <a:pt x="302" y="188"/>
                      </a:cubicBezTo>
                      <a:cubicBezTo>
                        <a:pt x="303" y="122"/>
                        <a:pt x="250" y="68"/>
                        <a:pt x="185" y="67"/>
                      </a:cubicBezTo>
                      <a:cubicBezTo>
                        <a:pt x="120" y="67"/>
                        <a:pt x="67" y="120"/>
                        <a:pt x="66" y="186"/>
                      </a:cubicBezTo>
                      <a:cubicBezTo>
                        <a:pt x="66" y="250"/>
                        <a:pt x="119" y="304"/>
                        <a:pt x="184" y="3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58" name="Freeform 108">
                  <a:extLst>
                    <a:ext uri="{FF2B5EF4-FFF2-40B4-BE49-F238E27FC236}">
                      <a16:creationId xmlns:a16="http://schemas.microsoft.com/office/drawing/2014/main" id="{990F44D6-EBF8-994F-1161-CC562D04F5CE}"/>
                    </a:ext>
                  </a:extLst>
                </p:cNvPr>
                <p:cNvSpPr>
                  <a:spLocks noEditPoints="1"/>
                </p:cNvSpPr>
                <p:nvPr/>
              </p:nvSpPr>
              <p:spPr bwMode="auto">
                <a:xfrm>
                  <a:off x="1820" y="2019"/>
                  <a:ext cx="45" cy="45"/>
                </a:xfrm>
                <a:custGeom>
                  <a:avLst/>
                  <a:gdLst>
                    <a:gd name="T0" fmla="*/ 0 w 184"/>
                    <a:gd name="T1" fmla="*/ 93 h 184"/>
                    <a:gd name="T2" fmla="*/ 90 w 184"/>
                    <a:gd name="T3" fmla="*/ 1 h 184"/>
                    <a:gd name="T4" fmla="*/ 183 w 184"/>
                    <a:gd name="T5" fmla="*/ 93 h 184"/>
                    <a:gd name="T6" fmla="*/ 91 w 184"/>
                    <a:gd name="T7" fmla="*/ 184 h 184"/>
                    <a:gd name="T8" fmla="*/ 0 w 184"/>
                    <a:gd name="T9" fmla="*/ 93 h 184"/>
                    <a:gd name="T10" fmla="*/ 118 w 184"/>
                    <a:gd name="T11" fmla="*/ 50 h 184"/>
                    <a:gd name="T12" fmla="*/ 83 w 184"/>
                    <a:gd name="T13" fmla="*/ 96 h 184"/>
                    <a:gd name="T14" fmla="*/ 63 w 184"/>
                    <a:gd name="T15" fmla="*/ 79 h 184"/>
                    <a:gd name="T16" fmla="*/ 44 w 184"/>
                    <a:gd name="T17" fmla="*/ 94 h 184"/>
                    <a:gd name="T18" fmla="*/ 78 w 184"/>
                    <a:gd name="T19" fmla="*/ 129 h 184"/>
                    <a:gd name="T20" fmla="*/ 137 w 184"/>
                    <a:gd name="T21" fmla="*/ 69 h 184"/>
                    <a:gd name="T22" fmla="*/ 118 w 184"/>
                    <a:gd name="T23" fmla="*/ 5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4" h="184">
                      <a:moveTo>
                        <a:pt x="0" y="93"/>
                      </a:moveTo>
                      <a:cubicBezTo>
                        <a:pt x="0" y="41"/>
                        <a:pt x="40" y="1"/>
                        <a:pt x="90" y="1"/>
                      </a:cubicBezTo>
                      <a:cubicBezTo>
                        <a:pt x="142" y="0"/>
                        <a:pt x="184" y="42"/>
                        <a:pt x="183" y="93"/>
                      </a:cubicBezTo>
                      <a:cubicBezTo>
                        <a:pt x="183" y="143"/>
                        <a:pt x="141" y="184"/>
                        <a:pt x="91" y="184"/>
                      </a:cubicBezTo>
                      <a:cubicBezTo>
                        <a:pt x="41" y="184"/>
                        <a:pt x="0" y="143"/>
                        <a:pt x="0" y="93"/>
                      </a:cubicBezTo>
                      <a:close/>
                      <a:moveTo>
                        <a:pt x="118" y="50"/>
                      </a:moveTo>
                      <a:cubicBezTo>
                        <a:pt x="105" y="67"/>
                        <a:pt x="94" y="81"/>
                        <a:pt x="83" y="96"/>
                      </a:cubicBezTo>
                      <a:cubicBezTo>
                        <a:pt x="74" y="88"/>
                        <a:pt x="68" y="83"/>
                        <a:pt x="63" y="79"/>
                      </a:cubicBezTo>
                      <a:cubicBezTo>
                        <a:pt x="57" y="84"/>
                        <a:pt x="51" y="89"/>
                        <a:pt x="44" y="94"/>
                      </a:cubicBezTo>
                      <a:cubicBezTo>
                        <a:pt x="57" y="107"/>
                        <a:pt x="68" y="118"/>
                        <a:pt x="78" y="129"/>
                      </a:cubicBezTo>
                      <a:cubicBezTo>
                        <a:pt x="98" y="109"/>
                        <a:pt x="117" y="89"/>
                        <a:pt x="137" y="69"/>
                      </a:cubicBezTo>
                      <a:cubicBezTo>
                        <a:pt x="133" y="65"/>
                        <a:pt x="128" y="60"/>
                        <a:pt x="118"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grpSp>
      <p:grpSp>
        <p:nvGrpSpPr>
          <p:cNvPr id="59" name="Group 58">
            <a:extLst>
              <a:ext uri="{FF2B5EF4-FFF2-40B4-BE49-F238E27FC236}">
                <a16:creationId xmlns:a16="http://schemas.microsoft.com/office/drawing/2014/main" id="{82647A6A-122E-6638-8C6F-79772C90BEA5}"/>
              </a:ext>
            </a:extLst>
          </p:cNvPr>
          <p:cNvGrpSpPr/>
          <p:nvPr/>
        </p:nvGrpSpPr>
        <p:grpSpPr>
          <a:xfrm>
            <a:off x="3213016" y="4357583"/>
            <a:ext cx="821734" cy="728011"/>
            <a:chOff x="2449873" y="4715935"/>
            <a:chExt cx="821734" cy="728011"/>
          </a:xfrm>
        </p:grpSpPr>
        <p:sp>
          <p:nvSpPr>
            <p:cNvPr id="60" name="Oval 59">
              <a:extLst>
                <a:ext uri="{FF2B5EF4-FFF2-40B4-BE49-F238E27FC236}">
                  <a16:creationId xmlns:a16="http://schemas.microsoft.com/office/drawing/2014/main" id="{FD767ABF-472E-65FF-77F6-208A43504401}"/>
                </a:ext>
              </a:extLst>
            </p:cNvPr>
            <p:cNvSpPr/>
            <p:nvPr/>
          </p:nvSpPr>
          <p:spPr>
            <a:xfrm>
              <a:off x="2599890" y="4715935"/>
              <a:ext cx="467876" cy="467876"/>
            </a:xfrm>
            <a:prstGeom prst="ellipse">
              <a:avLst/>
            </a:prstGeom>
            <a:solidFill>
              <a:schemeClr val="bg2"/>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61" name="Rectangle: Rounded Corners 60">
              <a:extLst>
                <a:ext uri="{FF2B5EF4-FFF2-40B4-BE49-F238E27FC236}">
                  <a16:creationId xmlns:a16="http://schemas.microsoft.com/office/drawing/2014/main" id="{C94127B6-CD9F-0F38-9283-5FD1490B078E}"/>
                </a:ext>
              </a:extLst>
            </p:cNvPr>
            <p:cNvSpPr/>
            <p:nvPr/>
          </p:nvSpPr>
          <p:spPr>
            <a:xfrm>
              <a:off x="2449873" y="5206202"/>
              <a:ext cx="821734"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anrope"/>
                  <a:cs typeface="Arial" panose="020B0604020202020204" pitchFamily="34" charset="0"/>
                </a:rPr>
                <a:t>Products</a:t>
              </a:r>
              <a:endParaRPr kumimoji="0" lang="en-IN" sz="800" b="0" i="0" u="none" strike="noStrike" kern="1200" cap="none" spc="0" normalizeH="0" baseline="0" noProof="0">
                <a:ln>
                  <a:noFill/>
                </a:ln>
                <a:solidFill>
                  <a:srgbClr val="FFFFFF"/>
                </a:solidFill>
                <a:effectLst/>
                <a:uLnTx/>
                <a:uFillTx/>
                <a:latin typeface="Manrope"/>
                <a:cs typeface="Arial" panose="020B0604020202020204" pitchFamily="34" charset="0"/>
              </a:endParaRPr>
            </a:p>
          </p:txBody>
        </p:sp>
        <p:grpSp>
          <p:nvGrpSpPr>
            <p:cNvPr id="62" name="Group 111">
              <a:extLst>
                <a:ext uri="{FF2B5EF4-FFF2-40B4-BE49-F238E27FC236}">
                  <a16:creationId xmlns:a16="http://schemas.microsoft.com/office/drawing/2014/main" id="{550F2A19-7C41-C75C-A050-911B9A7A1B4A}"/>
                </a:ext>
              </a:extLst>
            </p:cNvPr>
            <p:cNvGrpSpPr>
              <a:grpSpLocks noChangeAspect="1"/>
            </p:cNvGrpSpPr>
            <p:nvPr/>
          </p:nvGrpSpPr>
          <p:grpSpPr bwMode="auto">
            <a:xfrm>
              <a:off x="2677459" y="4817325"/>
              <a:ext cx="312738" cy="287338"/>
              <a:chOff x="2302" y="2242"/>
              <a:chExt cx="197" cy="181"/>
            </a:xfrm>
            <a:solidFill>
              <a:schemeClr val="accent4"/>
            </a:solidFill>
          </p:grpSpPr>
          <p:sp>
            <p:nvSpPr>
              <p:cNvPr id="63" name="Freeform 112">
                <a:extLst>
                  <a:ext uri="{FF2B5EF4-FFF2-40B4-BE49-F238E27FC236}">
                    <a16:creationId xmlns:a16="http://schemas.microsoft.com/office/drawing/2014/main" id="{95730137-0045-7405-2300-15D15CC0B286}"/>
                  </a:ext>
                </a:extLst>
              </p:cNvPr>
              <p:cNvSpPr>
                <a:spLocks/>
              </p:cNvSpPr>
              <p:nvPr/>
            </p:nvSpPr>
            <p:spPr bwMode="auto">
              <a:xfrm>
                <a:off x="2302" y="2343"/>
                <a:ext cx="197" cy="80"/>
              </a:xfrm>
              <a:custGeom>
                <a:avLst/>
                <a:gdLst>
                  <a:gd name="T0" fmla="*/ 1477 w 1508"/>
                  <a:gd name="T1" fmla="*/ 58 h 615"/>
                  <a:gd name="T2" fmla="*/ 1377 w 1508"/>
                  <a:gd name="T3" fmla="*/ 0 h 615"/>
                  <a:gd name="T4" fmla="*/ 1322 w 1508"/>
                  <a:gd name="T5" fmla="*/ 15 h 615"/>
                  <a:gd name="T6" fmla="*/ 990 w 1508"/>
                  <a:gd name="T7" fmla="*/ 202 h 615"/>
                  <a:gd name="T8" fmla="*/ 981 w 1508"/>
                  <a:gd name="T9" fmla="*/ 213 h 615"/>
                  <a:gd name="T10" fmla="*/ 929 w 1508"/>
                  <a:gd name="T11" fmla="*/ 293 h 615"/>
                  <a:gd name="T12" fmla="*/ 788 w 1508"/>
                  <a:gd name="T13" fmla="*/ 309 h 615"/>
                  <a:gd name="T14" fmla="*/ 787 w 1508"/>
                  <a:gd name="T15" fmla="*/ 308 h 615"/>
                  <a:gd name="T16" fmla="*/ 595 w 1508"/>
                  <a:gd name="T17" fmla="*/ 249 h 615"/>
                  <a:gd name="T18" fmla="*/ 581 w 1508"/>
                  <a:gd name="T19" fmla="*/ 221 h 615"/>
                  <a:gd name="T20" fmla="*/ 602 w 1508"/>
                  <a:gd name="T21" fmla="*/ 206 h 615"/>
                  <a:gd name="T22" fmla="*/ 608 w 1508"/>
                  <a:gd name="T23" fmla="*/ 207 h 615"/>
                  <a:gd name="T24" fmla="*/ 799 w 1508"/>
                  <a:gd name="T25" fmla="*/ 266 h 615"/>
                  <a:gd name="T26" fmla="*/ 800 w 1508"/>
                  <a:gd name="T27" fmla="*/ 266 h 615"/>
                  <a:gd name="T28" fmla="*/ 904 w 1508"/>
                  <a:gd name="T29" fmla="*/ 257 h 615"/>
                  <a:gd name="T30" fmla="*/ 940 w 1508"/>
                  <a:gd name="T31" fmla="*/ 191 h 615"/>
                  <a:gd name="T32" fmla="*/ 940 w 1508"/>
                  <a:gd name="T33" fmla="*/ 191 h 615"/>
                  <a:gd name="T34" fmla="*/ 940 w 1508"/>
                  <a:gd name="T35" fmla="*/ 190 h 615"/>
                  <a:gd name="T36" fmla="*/ 940 w 1508"/>
                  <a:gd name="T37" fmla="*/ 190 h 615"/>
                  <a:gd name="T38" fmla="*/ 940 w 1508"/>
                  <a:gd name="T39" fmla="*/ 190 h 615"/>
                  <a:gd name="T40" fmla="*/ 867 w 1508"/>
                  <a:gd name="T41" fmla="*/ 86 h 615"/>
                  <a:gd name="T42" fmla="*/ 867 w 1508"/>
                  <a:gd name="T43" fmla="*/ 85 h 615"/>
                  <a:gd name="T44" fmla="*/ 634 w 1508"/>
                  <a:gd name="T45" fmla="*/ 13 h 615"/>
                  <a:gd name="T46" fmla="*/ 557 w 1508"/>
                  <a:gd name="T47" fmla="*/ 4 h 615"/>
                  <a:gd name="T48" fmla="*/ 339 w 1508"/>
                  <a:gd name="T49" fmla="*/ 80 h 615"/>
                  <a:gd name="T50" fmla="*/ 9 w 1508"/>
                  <a:gd name="T51" fmla="*/ 347 h 615"/>
                  <a:gd name="T52" fmla="*/ 6 w 1508"/>
                  <a:gd name="T53" fmla="*/ 372 h 615"/>
                  <a:gd name="T54" fmla="*/ 184 w 1508"/>
                  <a:gd name="T55" fmla="*/ 608 h 615"/>
                  <a:gd name="T56" fmla="*/ 196 w 1508"/>
                  <a:gd name="T57" fmla="*/ 615 h 615"/>
                  <a:gd name="T58" fmla="*/ 199 w 1508"/>
                  <a:gd name="T59" fmla="*/ 615 h 615"/>
                  <a:gd name="T60" fmla="*/ 210 w 1508"/>
                  <a:gd name="T61" fmla="*/ 612 h 615"/>
                  <a:gd name="T62" fmla="*/ 440 w 1508"/>
                  <a:gd name="T63" fmla="*/ 434 h 615"/>
                  <a:gd name="T64" fmla="*/ 459 w 1508"/>
                  <a:gd name="T65" fmla="*/ 430 h 615"/>
                  <a:gd name="T66" fmla="*/ 831 w 1508"/>
                  <a:gd name="T67" fmla="*/ 518 h 615"/>
                  <a:gd name="T68" fmla="*/ 913 w 1508"/>
                  <a:gd name="T69" fmla="*/ 507 h 615"/>
                  <a:gd name="T70" fmla="*/ 1433 w 1508"/>
                  <a:gd name="T71" fmla="*/ 213 h 615"/>
                  <a:gd name="T72" fmla="*/ 1477 w 1508"/>
                  <a:gd name="T73" fmla="*/ 5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08" h="615">
                    <a:moveTo>
                      <a:pt x="1477" y="58"/>
                    </a:moveTo>
                    <a:cubicBezTo>
                      <a:pt x="1457" y="22"/>
                      <a:pt x="1419" y="0"/>
                      <a:pt x="1377" y="0"/>
                    </a:cubicBezTo>
                    <a:cubicBezTo>
                      <a:pt x="1358" y="0"/>
                      <a:pt x="1339" y="5"/>
                      <a:pt x="1322" y="15"/>
                    </a:cubicBezTo>
                    <a:cubicBezTo>
                      <a:pt x="990" y="202"/>
                      <a:pt x="990" y="202"/>
                      <a:pt x="990" y="202"/>
                    </a:cubicBezTo>
                    <a:cubicBezTo>
                      <a:pt x="985" y="204"/>
                      <a:pt x="982" y="208"/>
                      <a:pt x="981" y="213"/>
                    </a:cubicBezTo>
                    <a:cubicBezTo>
                      <a:pt x="975" y="237"/>
                      <a:pt x="961" y="270"/>
                      <a:pt x="929" y="293"/>
                    </a:cubicBezTo>
                    <a:cubicBezTo>
                      <a:pt x="894" y="318"/>
                      <a:pt x="846" y="324"/>
                      <a:pt x="788" y="309"/>
                    </a:cubicBezTo>
                    <a:cubicBezTo>
                      <a:pt x="787" y="309"/>
                      <a:pt x="787" y="308"/>
                      <a:pt x="787" y="308"/>
                    </a:cubicBezTo>
                    <a:cubicBezTo>
                      <a:pt x="595" y="249"/>
                      <a:pt x="595" y="249"/>
                      <a:pt x="595" y="249"/>
                    </a:cubicBezTo>
                    <a:cubicBezTo>
                      <a:pt x="583" y="245"/>
                      <a:pt x="577" y="233"/>
                      <a:pt x="581" y="221"/>
                    </a:cubicBezTo>
                    <a:cubicBezTo>
                      <a:pt x="583" y="212"/>
                      <a:pt x="592" y="206"/>
                      <a:pt x="602" y="206"/>
                    </a:cubicBezTo>
                    <a:cubicBezTo>
                      <a:pt x="604" y="206"/>
                      <a:pt x="606" y="206"/>
                      <a:pt x="608" y="207"/>
                    </a:cubicBezTo>
                    <a:cubicBezTo>
                      <a:pt x="799" y="266"/>
                      <a:pt x="799" y="266"/>
                      <a:pt x="799" y="266"/>
                    </a:cubicBezTo>
                    <a:cubicBezTo>
                      <a:pt x="799" y="266"/>
                      <a:pt x="799" y="266"/>
                      <a:pt x="800" y="266"/>
                    </a:cubicBezTo>
                    <a:cubicBezTo>
                      <a:pt x="845" y="278"/>
                      <a:pt x="880" y="275"/>
                      <a:pt x="904" y="257"/>
                    </a:cubicBezTo>
                    <a:cubicBezTo>
                      <a:pt x="934" y="235"/>
                      <a:pt x="940" y="197"/>
                      <a:pt x="940" y="191"/>
                    </a:cubicBezTo>
                    <a:cubicBezTo>
                      <a:pt x="940" y="191"/>
                      <a:pt x="940" y="191"/>
                      <a:pt x="940" y="191"/>
                    </a:cubicBezTo>
                    <a:cubicBezTo>
                      <a:pt x="940" y="190"/>
                      <a:pt x="940" y="190"/>
                      <a:pt x="940" y="190"/>
                    </a:cubicBezTo>
                    <a:cubicBezTo>
                      <a:pt x="940" y="190"/>
                      <a:pt x="940" y="190"/>
                      <a:pt x="940" y="190"/>
                    </a:cubicBezTo>
                    <a:cubicBezTo>
                      <a:pt x="940" y="190"/>
                      <a:pt x="940" y="190"/>
                      <a:pt x="940" y="190"/>
                    </a:cubicBezTo>
                    <a:cubicBezTo>
                      <a:pt x="944" y="143"/>
                      <a:pt x="913" y="99"/>
                      <a:pt x="867" y="86"/>
                    </a:cubicBezTo>
                    <a:cubicBezTo>
                      <a:pt x="867" y="85"/>
                      <a:pt x="867" y="85"/>
                      <a:pt x="867" y="85"/>
                    </a:cubicBezTo>
                    <a:cubicBezTo>
                      <a:pt x="865" y="85"/>
                      <a:pt x="724" y="39"/>
                      <a:pt x="634" y="13"/>
                    </a:cubicBezTo>
                    <a:cubicBezTo>
                      <a:pt x="624" y="10"/>
                      <a:pt x="597" y="4"/>
                      <a:pt x="557" y="4"/>
                    </a:cubicBezTo>
                    <a:cubicBezTo>
                      <a:pt x="502" y="4"/>
                      <a:pt x="419" y="17"/>
                      <a:pt x="339" y="80"/>
                    </a:cubicBezTo>
                    <a:cubicBezTo>
                      <a:pt x="9" y="347"/>
                      <a:pt x="9" y="347"/>
                      <a:pt x="9" y="347"/>
                    </a:cubicBezTo>
                    <a:cubicBezTo>
                      <a:pt x="1" y="353"/>
                      <a:pt x="0" y="364"/>
                      <a:pt x="6" y="372"/>
                    </a:cubicBezTo>
                    <a:cubicBezTo>
                      <a:pt x="184" y="608"/>
                      <a:pt x="184" y="608"/>
                      <a:pt x="184" y="608"/>
                    </a:cubicBezTo>
                    <a:cubicBezTo>
                      <a:pt x="187" y="612"/>
                      <a:pt x="192" y="615"/>
                      <a:pt x="196" y="615"/>
                    </a:cubicBezTo>
                    <a:cubicBezTo>
                      <a:pt x="197" y="615"/>
                      <a:pt x="198" y="615"/>
                      <a:pt x="199" y="615"/>
                    </a:cubicBezTo>
                    <a:cubicBezTo>
                      <a:pt x="203" y="615"/>
                      <a:pt x="207" y="614"/>
                      <a:pt x="210" y="612"/>
                    </a:cubicBezTo>
                    <a:cubicBezTo>
                      <a:pt x="440" y="434"/>
                      <a:pt x="440" y="434"/>
                      <a:pt x="440" y="434"/>
                    </a:cubicBezTo>
                    <a:cubicBezTo>
                      <a:pt x="445" y="430"/>
                      <a:pt x="452" y="429"/>
                      <a:pt x="459" y="430"/>
                    </a:cubicBezTo>
                    <a:cubicBezTo>
                      <a:pt x="831" y="518"/>
                      <a:pt x="831" y="518"/>
                      <a:pt x="831" y="518"/>
                    </a:cubicBezTo>
                    <a:cubicBezTo>
                      <a:pt x="858" y="525"/>
                      <a:pt x="888" y="521"/>
                      <a:pt x="913" y="507"/>
                    </a:cubicBezTo>
                    <a:cubicBezTo>
                      <a:pt x="1433" y="213"/>
                      <a:pt x="1433" y="213"/>
                      <a:pt x="1433" y="213"/>
                    </a:cubicBezTo>
                    <a:cubicBezTo>
                      <a:pt x="1488" y="183"/>
                      <a:pt x="1508" y="113"/>
                      <a:pt x="147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64" name="Freeform 113">
                <a:extLst>
                  <a:ext uri="{FF2B5EF4-FFF2-40B4-BE49-F238E27FC236}">
                    <a16:creationId xmlns:a16="http://schemas.microsoft.com/office/drawing/2014/main" id="{CAAC1D0A-E0CF-903A-72F6-350C6E633561}"/>
                  </a:ext>
                </a:extLst>
              </p:cNvPr>
              <p:cNvSpPr>
                <a:spLocks noEditPoints="1"/>
              </p:cNvSpPr>
              <p:nvPr/>
            </p:nvSpPr>
            <p:spPr bwMode="auto">
              <a:xfrm>
                <a:off x="2374" y="2242"/>
                <a:ext cx="99" cy="90"/>
              </a:xfrm>
              <a:custGeom>
                <a:avLst/>
                <a:gdLst>
                  <a:gd name="T0" fmla="*/ 720 w 760"/>
                  <a:gd name="T1" fmla="*/ 0 h 689"/>
                  <a:gd name="T2" fmla="*/ 40 w 760"/>
                  <a:gd name="T3" fmla="*/ 0 h 689"/>
                  <a:gd name="T4" fmla="*/ 0 w 760"/>
                  <a:gd name="T5" fmla="*/ 40 h 689"/>
                  <a:gd name="T6" fmla="*/ 0 w 760"/>
                  <a:gd name="T7" fmla="*/ 222 h 689"/>
                  <a:gd name="T8" fmla="*/ 40 w 760"/>
                  <a:gd name="T9" fmla="*/ 262 h 689"/>
                  <a:gd name="T10" fmla="*/ 55 w 760"/>
                  <a:gd name="T11" fmla="*/ 262 h 689"/>
                  <a:gd name="T12" fmla="*/ 55 w 760"/>
                  <a:gd name="T13" fmla="*/ 649 h 689"/>
                  <a:gd name="T14" fmla="*/ 95 w 760"/>
                  <a:gd name="T15" fmla="*/ 689 h 689"/>
                  <a:gd name="T16" fmla="*/ 665 w 760"/>
                  <a:gd name="T17" fmla="*/ 689 h 689"/>
                  <a:gd name="T18" fmla="*/ 705 w 760"/>
                  <a:gd name="T19" fmla="*/ 649 h 689"/>
                  <a:gd name="T20" fmla="*/ 705 w 760"/>
                  <a:gd name="T21" fmla="*/ 262 h 689"/>
                  <a:gd name="T22" fmla="*/ 720 w 760"/>
                  <a:gd name="T23" fmla="*/ 262 h 689"/>
                  <a:gd name="T24" fmla="*/ 760 w 760"/>
                  <a:gd name="T25" fmla="*/ 222 h 689"/>
                  <a:gd name="T26" fmla="*/ 760 w 760"/>
                  <a:gd name="T27" fmla="*/ 40 h 689"/>
                  <a:gd name="T28" fmla="*/ 720 w 760"/>
                  <a:gd name="T29" fmla="*/ 0 h 689"/>
                  <a:gd name="T30" fmla="*/ 464 w 760"/>
                  <a:gd name="T31" fmla="*/ 357 h 689"/>
                  <a:gd name="T32" fmla="*/ 296 w 760"/>
                  <a:gd name="T33" fmla="*/ 357 h 689"/>
                  <a:gd name="T34" fmla="*/ 264 w 760"/>
                  <a:gd name="T35" fmla="*/ 325 h 689"/>
                  <a:gd name="T36" fmla="*/ 296 w 760"/>
                  <a:gd name="T37" fmla="*/ 293 h 689"/>
                  <a:gd name="T38" fmla="*/ 464 w 760"/>
                  <a:gd name="T39" fmla="*/ 293 h 689"/>
                  <a:gd name="T40" fmla="*/ 496 w 760"/>
                  <a:gd name="T41" fmla="*/ 325 h 689"/>
                  <a:gd name="T42" fmla="*/ 464 w 760"/>
                  <a:gd name="T43" fmla="*/ 357 h 689"/>
                  <a:gd name="T44" fmla="*/ 680 w 760"/>
                  <a:gd name="T45" fmla="*/ 182 h 689"/>
                  <a:gd name="T46" fmla="*/ 665 w 760"/>
                  <a:gd name="T47" fmla="*/ 182 h 689"/>
                  <a:gd name="T48" fmla="*/ 95 w 760"/>
                  <a:gd name="T49" fmla="*/ 182 h 689"/>
                  <a:gd name="T50" fmla="*/ 80 w 760"/>
                  <a:gd name="T51" fmla="*/ 182 h 689"/>
                  <a:gd name="T52" fmla="*/ 80 w 760"/>
                  <a:gd name="T53" fmla="*/ 80 h 689"/>
                  <a:gd name="T54" fmla="*/ 680 w 760"/>
                  <a:gd name="T55" fmla="*/ 80 h 689"/>
                  <a:gd name="T56" fmla="*/ 680 w 760"/>
                  <a:gd name="T57" fmla="*/ 182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60" h="689">
                    <a:moveTo>
                      <a:pt x="720" y="0"/>
                    </a:moveTo>
                    <a:cubicBezTo>
                      <a:pt x="40" y="0"/>
                      <a:pt x="40" y="0"/>
                      <a:pt x="40" y="0"/>
                    </a:cubicBezTo>
                    <a:cubicBezTo>
                      <a:pt x="18" y="0"/>
                      <a:pt x="0" y="18"/>
                      <a:pt x="0" y="40"/>
                    </a:cubicBezTo>
                    <a:cubicBezTo>
                      <a:pt x="0" y="222"/>
                      <a:pt x="0" y="222"/>
                      <a:pt x="0" y="222"/>
                    </a:cubicBezTo>
                    <a:cubicBezTo>
                      <a:pt x="0" y="244"/>
                      <a:pt x="18" y="262"/>
                      <a:pt x="40" y="262"/>
                    </a:cubicBezTo>
                    <a:cubicBezTo>
                      <a:pt x="55" y="262"/>
                      <a:pt x="55" y="262"/>
                      <a:pt x="55" y="262"/>
                    </a:cubicBezTo>
                    <a:cubicBezTo>
                      <a:pt x="55" y="649"/>
                      <a:pt x="55" y="649"/>
                      <a:pt x="55" y="649"/>
                    </a:cubicBezTo>
                    <a:cubicBezTo>
                      <a:pt x="55" y="671"/>
                      <a:pt x="73" y="689"/>
                      <a:pt x="95" y="689"/>
                    </a:cubicBezTo>
                    <a:cubicBezTo>
                      <a:pt x="665" y="689"/>
                      <a:pt x="665" y="689"/>
                      <a:pt x="665" y="689"/>
                    </a:cubicBezTo>
                    <a:cubicBezTo>
                      <a:pt x="687" y="689"/>
                      <a:pt x="705" y="671"/>
                      <a:pt x="705" y="649"/>
                    </a:cubicBezTo>
                    <a:cubicBezTo>
                      <a:pt x="705" y="262"/>
                      <a:pt x="705" y="262"/>
                      <a:pt x="705" y="262"/>
                    </a:cubicBezTo>
                    <a:cubicBezTo>
                      <a:pt x="720" y="262"/>
                      <a:pt x="720" y="262"/>
                      <a:pt x="720" y="262"/>
                    </a:cubicBezTo>
                    <a:cubicBezTo>
                      <a:pt x="742" y="262"/>
                      <a:pt x="760" y="244"/>
                      <a:pt x="760" y="222"/>
                    </a:cubicBezTo>
                    <a:cubicBezTo>
                      <a:pt x="760" y="40"/>
                      <a:pt x="760" y="40"/>
                      <a:pt x="760" y="40"/>
                    </a:cubicBezTo>
                    <a:cubicBezTo>
                      <a:pt x="760" y="18"/>
                      <a:pt x="742" y="0"/>
                      <a:pt x="720" y="0"/>
                    </a:cubicBezTo>
                    <a:close/>
                    <a:moveTo>
                      <a:pt x="464" y="357"/>
                    </a:moveTo>
                    <a:cubicBezTo>
                      <a:pt x="296" y="357"/>
                      <a:pt x="296" y="357"/>
                      <a:pt x="296" y="357"/>
                    </a:cubicBezTo>
                    <a:cubicBezTo>
                      <a:pt x="278" y="357"/>
                      <a:pt x="264" y="343"/>
                      <a:pt x="264" y="325"/>
                    </a:cubicBezTo>
                    <a:cubicBezTo>
                      <a:pt x="264" y="308"/>
                      <a:pt x="278" y="293"/>
                      <a:pt x="296" y="293"/>
                    </a:cubicBezTo>
                    <a:cubicBezTo>
                      <a:pt x="464" y="293"/>
                      <a:pt x="464" y="293"/>
                      <a:pt x="464" y="293"/>
                    </a:cubicBezTo>
                    <a:cubicBezTo>
                      <a:pt x="482" y="293"/>
                      <a:pt x="496" y="308"/>
                      <a:pt x="496" y="325"/>
                    </a:cubicBezTo>
                    <a:cubicBezTo>
                      <a:pt x="496" y="343"/>
                      <a:pt x="482" y="357"/>
                      <a:pt x="464" y="357"/>
                    </a:cubicBezTo>
                    <a:close/>
                    <a:moveTo>
                      <a:pt x="680" y="182"/>
                    </a:moveTo>
                    <a:cubicBezTo>
                      <a:pt x="665" y="182"/>
                      <a:pt x="665" y="182"/>
                      <a:pt x="665" y="182"/>
                    </a:cubicBezTo>
                    <a:cubicBezTo>
                      <a:pt x="95" y="182"/>
                      <a:pt x="95" y="182"/>
                      <a:pt x="95" y="182"/>
                    </a:cubicBezTo>
                    <a:cubicBezTo>
                      <a:pt x="80" y="182"/>
                      <a:pt x="80" y="182"/>
                      <a:pt x="80" y="182"/>
                    </a:cubicBezTo>
                    <a:cubicBezTo>
                      <a:pt x="80" y="80"/>
                      <a:pt x="80" y="80"/>
                      <a:pt x="80" y="80"/>
                    </a:cubicBezTo>
                    <a:cubicBezTo>
                      <a:pt x="680" y="80"/>
                      <a:pt x="680" y="80"/>
                      <a:pt x="680" y="80"/>
                    </a:cubicBezTo>
                    <a:cubicBezTo>
                      <a:pt x="680" y="182"/>
                      <a:pt x="680" y="182"/>
                      <a:pt x="680" y="1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grpSp>
      <p:grpSp>
        <p:nvGrpSpPr>
          <p:cNvPr id="65" name="Group 64">
            <a:extLst>
              <a:ext uri="{FF2B5EF4-FFF2-40B4-BE49-F238E27FC236}">
                <a16:creationId xmlns:a16="http://schemas.microsoft.com/office/drawing/2014/main" id="{A7D1F2B7-4E72-1B7F-AD64-17C50C236AD3}"/>
              </a:ext>
            </a:extLst>
          </p:cNvPr>
          <p:cNvGrpSpPr/>
          <p:nvPr/>
        </p:nvGrpSpPr>
        <p:grpSpPr>
          <a:xfrm>
            <a:off x="3952667" y="4625037"/>
            <a:ext cx="821734" cy="722056"/>
            <a:chOff x="3226968" y="4703746"/>
            <a:chExt cx="821734" cy="722056"/>
          </a:xfrm>
        </p:grpSpPr>
        <p:sp>
          <p:nvSpPr>
            <p:cNvPr id="66" name="Rectangle: Rounded Corners 65">
              <a:extLst>
                <a:ext uri="{FF2B5EF4-FFF2-40B4-BE49-F238E27FC236}">
                  <a16:creationId xmlns:a16="http://schemas.microsoft.com/office/drawing/2014/main" id="{3C89FAF1-1C64-D2CA-F3DC-1A5A433727F4}"/>
                </a:ext>
              </a:extLst>
            </p:cNvPr>
            <p:cNvSpPr/>
            <p:nvPr/>
          </p:nvSpPr>
          <p:spPr>
            <a:xfrm>
              <a:off x="3226968" y="5188058"/>
              <a:ext cx="821734"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anrope"/>
                  <a:cs typeface="Arial" panose="020B0604020202020204" pitchFamily="34" charset="0"/>
                </a:rPr>
                <a:t>Audience</a:t>
              </a:r>
              <a:endParaRPr kumimoji="0" lang="en-IN" sz="800" b="0" i="0" u="none" strike="noStrike" kern="1200" cap="none" spc="0" normalizeH="0" baseline="0" noProof="0">
                <a:ln>
                  <a:noFill/>
                </a:ln>
                <a:solidFill>
                  <a:srgbClr val="FFFFFF"/>
                </a:solidFill>
                <a:effectLst/>
                <a:uLnTx/>
                <a:uFillTx/>
                <a:latin typeface="Manrope"/>
                <a:cs typeface="Arial" panose="020B0604020202020204" pitchFamily="34" charset="0"/>
              </a:endParaRPr>
            </a:p>
          </p:txBody>
        </p:sp>
        <p:grpSp>
          <p:nvGrpSpPr>
            <p:cNvPr id="67" name="Group 66">
              <a:extLst>
                <a:ext uri="{FF2B5EF4-FFF2-40B4-BE49-F238E27FC236}">
                  <a16:creationId xmlns:a16="http://schemas.microsoft.com/office/drawing/2014/main" id="{61494E2B-2390-2E0F-995D-51A9D14C9B83}"/>
                </a:ext>
              </a:extLst>
            </p:cNvPr>
            <p:cNvGrpSpPr/>
            <p:nvPr/>
          </p:nvGrpSpPr>
          <p:grpSpPr>
            <a:xfrm>
              <a:off x="3403897" y="4703746"/>
              <a:ext cx="467876" cy="467876"/>
              <a:chOff x="4400075" y="3800233"/>
              <a:chExt cx="467876" cy="467876"/>
            </a:xfrm>
          </p:grpSpPr>
          <p:sp>
            <p:nvSpPr>
              <p:cNvPr id="68" name="Oval 67">
                <a:extLst>
                  <a:ext uri="{FF2B5EF4-FFF2-40B4-BE49-F238E27FC236}">
                    <a16:creationId xmlns:a16="http://schemas.microsoft.com/office/drawing/2014/main" id="{F9E45133-CE5A-0CC7-6120-AD55CD77018D}"/>
                  </a:ext>
                </a:extLst>
              </p:cNvPr>
              <p:cNvSpPr/>
              <p:nvPr/>
            </p:nvSpPr>
            <p:spPr>
              <a:xfrm>
                <a:off x="4400075" y="3800233"/>
                <a:ext cx="467876" cy="467876"/>
              </a:xfrm>
              <a:prstGeom prst="ellipse">
                <a:avLst/>
              </a:prstGeom>
              <a:solidFill>
                <a:schemeClr val="bg2"/>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nvGrpSpPr>
              <p:cNvPr id="69" name="Group 116">
                <a:extLst>
                  <a:ext uri="{FF2B5EF4-FFF2-40B4-BE49-F238E27FC236}">
                    <a16:creationId xmlns:a16="http://schemas.microsoft.com/office/drawing/2014/main" id="{B60508EA-871F-9DC5-FD2E-1FFE278A7DE1}"/>
                  </a:ext>
                </a:extLst>
              </p:cNvPr>
              <p:cNvGrpSpPr>
                <a:grpSpLocks noChangeAspect="1"/>
              </p:cNvGrpSpPr>
              <p:nvPr/>
            </p:nvGrpSpPr>
            <p:grpSpPr bwMode="auto">
              <a:xfrm>
                <a:off x="4468652" y="3891830"/>
                <a:ext cx="327025" cy="274637"/>
                <a:chOff x="2382" y="2679"/>
                <a:chExt cx="206" cy="173"/>
              </a:xfrm>
              <a:solidFill>
                <a:schemeClr val="accent4"/>
              </a:solidFill>
            </p:grpSpPr>
            <p:sp>
              <p:nvSpPr>
                <p:cNvPr id="70" name="Oval 117">
                  <a:extLst>
                    <a:ext uri="{FF2B5EF4-FFF2-40B4-BE49-F238E27FC236}">
                      <a16:creationId xmlns:a16="http://schemas.microsoft.com/office/drawing/2014/main" id="{A2070540-D586-6AB2-285E-7E883BB0CB1D}"/>
                    </a:ext>
                  </a:extLst>
                </p:cNvPr>
                <p:cNvSpPr>
                  <a:spLocks noChangeArrowheads="1"/>
                </p:cNvSpPr>
                <p:nvPr/>
              </p:nvSpPr>
              <p:spPr bwMode="auto">
                <a:xfrm>
                  <a:off x="2460" y="2733"/>
                  <a:ext cx="49" cy="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71" name="Oval 118">
                  <a:extLst>
                    <a:ext uri="{FF2B5EF4-FFF2-40B4-BE49-F238E27FC236}">
                      <a16:creationId xmlns:a16="http://schemas.microsoft.com/office/drawing/2014/main" id="{06366D14-0264-C856-0631-D1A3316A4010}"/>
                    </a:ext>
                  </a:extLst>
                </p:cNvPr>
                <p:cNvSpPr>
                  <a:spLocks noChangeArrowheads="1"/>
                </p:cNvSpPr>
                <p:nvPr/>
              </p:nvSpPr>
              <p:spPr bwMode="auto">
                <a:xfrm>
                  <a:off x="2397" y="2733"/>
                  <a:ext cx="49" cy="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72" name="Oval 119">
                  <a:extLst>
                    <a:ext uri="{FF2B5EF4-FFF2-40B4-BE49-F238E27FC236}">
                      <a16:creationId xmlns:a16="http://schemas.microsoft.com/office/drawing/2014/main" id="{BDFAD73F-F6D2-2EE0-4019-FD34A3EA801C}"/>
                    </a:ext>
                  </a:extLst>
                </p:cNvPr>
                <p:cNvSpPr>
                  <a:spLocks noChangeArrowheads="1"/>
                </p:cNvSpPr>
                <p:nvPr/>
              </p:nvSpPr>
              <p:spPr bwMode="auto">
                <a:xfrm>
                  <a:off x="2429" y="2679"/>
                  <a:ext cx="49" cy="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73" name="Oval 120">
                  <a:extLst>
                    <a:ext uri="{FF2B5EF4-FFF2-40B4-BE49-F238E27FC236}">
                      <a16:creationId xmlns:a16="http://schemas.microsoft.com/office/drawing/2014/main" id="{789832F3-15AF-3100-F68A-2988F86288A6}"/>
                    </a:ext>
                  </a:extLst>
                </p:cNvPr>
                <p:cNvSpPr>
                  <a:spLocks noChangeArrowheads="1"/>
                </p:cNvSpPr>
                <p:nvPr/>
              </p:nvSpPr>
              <p:spPr bwMode="auto">
                <a:xfrm>
                  <a:off x="2492" y="2679"/>
                  <a:ext cx="49" cy="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74" name="Oval 121">
                  <a:extLst>
                    <a:ext uri="{FF2B5EF4-FFF2-40B4-BE49-F238E27FC236}">
                      <a16:creationId xmlns:a16="http://schemas.microsoft.com/office/drawing/2014/main" id="{38A6BD51-E8E5-1FEE-3F86-9BF1ABD072FF}"/>
                    </a:ext>
                  </a:extLst>
                </p:cNvPr>
                <p:cNvSpPr>
                  <a:spLocks noChangeArrowheads="1"/>
                </p:cNvSpPr>
                <p:nvPr/>
              </p:nvSpPr>
              <p:spPr bwMode="auto">
                <a:xfrm>
                  <a:off x="2524" y="2733"/>
                  <a:ext cx="49" cy="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75" name="Freeform 122">
                  <a:extLst>
                    <a:ext uri="{FF2B5EF4-FFF2-40B4-BE49-F238E27FC236}">
                      <a16:creationId xmlns:a16="http://schemas.microsoft.com/office/drawing/2014/main" id="{C22461C7-895C-6F18-9EFA-453583F6510A}"/>
                    </a:ext>
                  </a:extLst>
                </p:cNvPr>
                <p:cNvSpPr>
                  <a:spLocks/>
                </p:cNvSpPr>
                <p:nvPr/>
              </p:nvSpPr>
              <p:spPr bwMode="auto">
                <a:xfrm>
                  <a:off x="2446" y="2798"/>
                  <a:ext cx="78" cy="54"/>
                </a:xfrm>
                <a:custGeom>
                  <a:avLst/>
                  <a:gdLst>
                    <a:gd name="T0" fmla="*/ 0 w 32"/>
                    <a:gd name="T1" fmla="*/ 3 h 22"/>
                    <a:gd name="T2" fmla="*/ 3 w 32"/>
                    <a:gd name="T3" fmla="*/ 0 h 22"/>
                    <a:gd name="T4" fmla="*/ 29 w 32"/>
                    <a:gd name="T5" fmla="*/ 0 h 22"/>
                    <a:gd name="T6" fmla="*/ 31 w 32"/>
                    <a:gd name="T7" fmla="*/ 1 h 22"/>
                    <a:gd name="T8" fmla="*/ 32 w 32"/>
                    <a:gd name="T9" fmla="*/ 3 h 22"/>
                    <a:gd name="T10" fmla="*/ 32 w 32"/>
                    <a:gd name="T11" fmla="*/ 9 h 22"/>
                    <a:gd name="T12" fmla="*/ 32 w 32"/>
                    <a:gd name="T13" fmla="*/ 9 h 22"/>
                    <a:gd name="T14" fmla="*/ 32 w 32"/>
                    <a:gd name="T15" fmla="*/ 9 h 22"/>
                    <a:gd name="T16" fmla="*/ 32 w 32"/>
                    <a:gd name="T17" fmla="*/ 9 h 22"/>
                    <a:gd name="T18" fmla="*/ 32 w 32"/>
                    <a:gd name="T19" fmla="*/ 9 h 22"/>
                    <a:gd name="T20" fmla="*/ 32 w 32"/>
                    <a:gd name="T21" fmla="*/ 9 h 22"/>
                    <a:gd name="T22" fmla="*/ 32 w 32"/>
                    <a:gd name="T23" fmla="*/ 10 h 22"/>
                    <a:gd name="T24" fmla="*/ 32 w 32"/>
                    <a:gd name="T25" fmla="*/ 11 h 22"/>
                    <a:gd name="T26" fmla="*/ 30 w 32"/>
                    <a:gd name="T27" fmla="*/ 16 h 22"/>
                    <a:gd name="T28" fmla="*/ 16 w 32"/>
                    <a:gd name="T29" fmla="*/ 22 h 22"/>
                    <a:gd name="T30" fmla="*/ 2 w 32"/>
                    <a:gd name="T31" fmla="*/ 16 h 22"/>
                    <a:gd name="T32" fmla="*/ 0 w 32"/>
                    <a:gd name="T33" fmla="*/ 11 h 22"/>
                    <a:gd name="T34" fmla="*/ 0 w 32"/>
                    <a:gd name="T35" fmla="*/ 10 h 22"/>
                    <a:gd name="T36" fmla="*/ 0 w 32"/>
                    <a:gd name="T37" fmla="*/ 9 h 22"/>
                    <a:gd name="T38" fmla="*/ 0 w 32"/>
                    <a:gd name="T39" fmla="*/ 9 h 22"/>
                    <a:gd name="T40" fmla="*/ 0 w 32"/>
                    <a:gd name="T41" fmla="*/ 9 h 22"/>
                    <a:gd name="T42" fmla="*/ 0 w 32"/>
                    <a:gd name="T43" fmla="*/ 9 h 22"/>
                    <a:gd name="T44" fmla="*/ 0 w 32"/>
                    <a:gd name="T45" fmla="*/ 9 h 22"/>
                    <a:gd name="T46" fmla="*/ 0 w 32"/>
                    <a:gd name="T47"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22">
                      <a:moveTo>
                        <a:pt x="0" y="3"/>
                      </a:moveTo>
                      <a:cubicBezTo>
                        <a:pt x="0" y="1"/>
                        <a:pt x="1" y="0"/>
                        <a:pt x="3" y="0"/>
                      </a:cubicBezTo>
                      <a:cubicBezTo>
                        <a:pt x="29" y="0"/>
                        <a:pt x="29" y="0"/>
                        <a:pt x="29" y="0"/>
                      </a:cubicBezTo>
                      <a:cubicBezTo>
                        <a:pt x="30" y="0"/>
                        <a:pt x="31" y="0"/>
                        <a:pt x="31" y="1"/>
                      </a:cubicBezTo>
                      <a:cubicBezTo>
                        <a:pt x="32" y="1"/>
                        <a:pt x="32" y="2"/>
                        <a:pt x="32" y="3"/>
                      </a:cubicBezTo>
                      <a:cubicBezTo>
                        <a:pt x="32" y="3"/>
                        <a:pt x="32" y="7"/>
                        <a:pt x="32" y="9"/>
                      </a:cubicBezTo>
                      <a:cubicBezTo>
                        <a:pt x="32" y="9"/>
                        <a:pt x="32" y="9"/>
                        <a:pt x="32" y="9"/>
                      </a:cubicBezTo>
                      <a:cubicBezTo>
                        <a:pt x="32" y="9"/>
                        <a:pt x="32" y="9"/>
                        <a:pt x="32" y="9"/>
                      </a:cubicBezTo>
                      <a:cubicBezTo>
                        <a:pt x="32" y="9"/>
                        <a:pt x="32" y="9"/>
                        <a:pt x="32" y="9"/>
                      </a:cubicBezTo>
                      <a:cubicBezTo>
                        <a:pt x="32" y="9"/>
                        <a:pt x="32" y="9"/>
                        <a:pt x="32" y="9"/>
                      </a:cubicBezTo>
                      <a:cubicBezTo>
                        <a:pt x="32" y="9"/>
                        <a:pt x="32" y="9"/>
                        <a:pt x="32" y="9"/>
                      </a:cubicBezTo>
                      <a:cubicBezTo>
                        <a:pt x="32" y="9"/>
                        <a:pt x="32" y="10"/>
                        <a:pt x="32" y="10"/>
                      </a:cubicBezTo>
                      <a:cubicBezTo>
                        <a:pt x="32" y="10"/>
                        <a:pt x="32" y="11"/>
                        <a:pt x="32" y="11"/>
                      </a:cubicBezTo>
                      <a:cubicBezTo>
                        <a:pt x="31" y="12"/>
                        <a:pt x="31" y="14"/>
                        <a:pt x="30" y="16"/>
                      </a:cubicBezTo>
                      <a:cubicBezTo>
                        <a:pt x="28" y="19"/>
                        <a:pt x="23" y="22"/>
                        <a:pt x="16" y="22"/>
                      </a:cubicBezTo>
                      <a:cubicBezTo>
                        <a:pt x="9" y="22"/>
                        <a:pt x="4" y="19"/>
                        <a:pt x="2" y="16"/>
                      </a:cubicBezTo>
                      <a:cubicBezTo>
                        <a:pt x="1" y="14"/>
                        <a:pt x="1" y="12"/>
                        <a:pt x="0" y="11"/>
                      </a:cubicBezTo>
                      <a:cubicBezTo>
                        <a:pt x="0" y="11"/>
                        <a:pt x="0" y="10"/>
                        <a:pt x="0" y="10"/>
                      </a:cubicBezTo>
                      <a:cubicBezTo>
                        <a:pt x="0" y="10"/>
                        <a:pt x="0" y="9"/>
                        <a:pt x="0" y="9"/>
                      </a:cubicBezTo>
                      <a:cubicBezTo>
                        <a:pt x="0" y="9"/>
                        <a:pt x="0" y="9"/>
                        <a:pt x="0" y="9"/>
                      </a:cubicBezTo>
                      <a:cubicBezTo>
                        <a:pt x="0" y="9"/>
                        <a:pt x="0" y="9"/>
                        <a:pt x="0" y="9"/>
                      </a:cubicBezTo>
                      <a:cubicBezTo>
                        <a:pt x="0" y="9"/>
                        <a:pt x="0" y="9"/>
                        <a:pt x="0" y="9"/>
                      </a:cubicBezTo>
                      <a:cubicBezTo>
                        <a:pt x="0" y="9"/>
                        <a:pt x="0" y="9"/>
                        <a:pt x="0" y="9"/>
                      </a:cubicBez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76" name="Freeform 123">
                  <a:extLst>
                    <a:ext uri="{FF2B5EF4-FFF2-40B4-BE49-F238E27FC236}">
                      <a16:creationId xmlns:a16="http://schemas.microsoft.com/office/drawing/2014/main" id="{3408B6CC-E622-15C6-04C3-A47B2DD917C0}"/>
                    </a:ext>
                  </a:extLst>
                </p:cNvPr>
                <p:cNvSpPr>
                  <a:spLocks/>
                </p:cNvSpPr>
                <p:nvPr/>
              </p:nvSpPr>
              <p:spPr bwMode="auto">
                <a:xfrm>
                  <a:off x="2382" y="2798"/>
                  <a:ext cx="61" cy="49"/>
                </a:xfrm>
                <a:custGeom>
                  <a:avLst/>
                  <a:gdLst>
                    <a:gd name="T0" fmla="*/ 23 w 25"/>
                    <a:gd name="T1" fmla="*/ 0 h 20"/>
                    <a:gd name="T2" fmla="*/ 22 w 25"/>
                    <a:gd name="T3" fmla="*/ 3 h 20"/>
                    <a:gd name="T4" fmla="*/ 22 w 25"/>
                    <a:gd name="T5" fmla="*/ 9 h 20"/>
                    <a:gd name="T6" fmla="*/ 22 w 25"/>
                    <a:gd name="T7" fmla="*/ 9 h 20"/>
                    <a:gd name="T8" fmla="*/ 22 w 25"/>
                    <a:gd name="T9" fmla="*/ 9 h 20"/>
                    <a:gd name="T10" fmla="*/ 22 w 25"/>
                    <a:gd name="T11" fmla="*/ 9 h 20"/>
                    <a:gd name="T12" fmla="*/ 22 w 25"/>
                    <a:gd name="T13" fmla="*/ 9 h 20"/>
                    <a:gd name="T14" fmla="*/ 22 w 25"/>
                    <a:gd name="T15" fmla="*/ 10 h 20"/>
                    <a:gd name="T16" fmla="*/ 22 w 25"/>
                    <a:gd name="T17" fmla="*/ 12 h 20"/>
                    <a:gd name="T18" fmla="*/ 25 w 25"/>
                    <a:gd name="T19" fmla="*/ 18 h 20"/>
                    <a:gd name="T20" fmla="*/ 25 w 25"/>
                    <a:gd name="T21" fmla="*/ 18 h 20"/>
                    <a:gd name="T22" fmla="*/ 16 w 25"/>
                    <a:gd name="T23" fmla="*/ 20 h 20"/>
                    <a:gd name="T24" fmla="*/ 2 w 25"/>
                    <a:gd name="T25" fmla="*/ 14 h 20"/>
                    <a:gd name="T26" fmla="*/ 0 w 25"/>
                    <a:gd name="T27" fmla="*/ 9 h 20"/>
                    <a:gd name="T28" fmla="*/ 0 w 25"/>
                    <a:gd name="T29" fmla="*/ 8 h 20"/>
                    <a:gd name="T30" fmla="*/ 0 w 25"/>
                    <a:gd name="T31" fmla="*/ 7 h 20"/>
                    <a:gd name="T32" fmla="*/ 0 w 25"/>
                    <a:gd name="T33" fmla="*/ 7 h 20"/>
                    <a:gd name="T34" fmla="*/ 0 w 25"/>
                    <a:gd name="T35" fmla="*/ 3 h 20"/>
                    <a:gd name="T36" fmla="*/ 3 w 25"/>
                    <a:gd name="T37" fmla="*/ 0 h 20"/>
                    <a:gd name="T38" fmla="*/ 23 w 25"/>
                    <a:gd name="T3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20">
                      <a:moveTo>
                        <a:pt x="23" y="0"/>
                      </a:moveTo>
                      <a:cubicBezTo>
                        <a:pt x="22" y="1"/>
                        <a:pt x="22" y="2"/>
                        <a:pt x="22" y="3"/>
                      </a:cubicBezTo>
                      <a:cubicBezTo>
                        <a:pt x="22" y="9"/>
                        <a:pt x="22" y="9"/>
                        <a:pt x="22" y="9"/>
                      </a:cubicBezTo>
                      <a:cubicBezTo>
                        <a:pt x="22" y="9"/>
                        <a:pt x="22" y="9"/>
                        <a:pt x="22" y="9"/>
                      </a:cubicBezTo>
                      <a:cubicBezTo>
                        <a:pt x="22" y="9"/>
                        <a:pt x="22" y="9"/>
                        <a:pt x="22" y="9"/>
                      </a:cubicBezTo>
                      <a:cubicBezTo>
                        <a:pt x="22" y="9"/>
                        <a:pt x="22" y="9"/>
                        <a:pt x="22" y="9"/>
                      </a:cubicBezTo>
                      <a:cubicBezTo>
                        <a:pt x="22" y="9"/>
                        <a:pt x="22" y="9"/>
                        <a:pt x="22" y="9"/>
                      </a:cubicBezTo>
                      <a:cubicBezTo>
                        <a:pt x="22" y="10"/>
                        <a:pt x="22" y="10"/>
                        <a:pt x="22" y="10"/>
                      </a:cubicBezTo>
                      <a:cubicBezTo>
                        <a:pt x="22" y="11"/>
                        <a:pt x="22" y="11"/>
                        <a:pt x="22" y="12"/>
                      </a:cubicBezTo>
                      <a:cubicBezTo>
                        <a:pt x="23" y="14"/>
                        <a:pt x="23" y="16"/>
                        <a:pt x="25" y="18"/>
                      </a:cubicBezTo>
                      <a:cubicBezTo>
                        <a:pt x="25" y="18"/>
                        <a:pt x="25" y="18"/>
                        <a:pt x="25" y="18"/>
                      </a:cubicBezTo>
                      <a:cubicBezTo>
                        <a:pt x="23" y="19"/>
                        <a:pt x="20" y="20"/>
                        <a:pt x="16" y="20"/>
                      </a:cubicBezTo>
                      <a:cubicBezTo>
                        <a:pt x="9" y="20"/>
                        <a:pt x="4" y="17"/>
                        <a:pt x="2" y="14"/>
                      </a:cubicBezTo>
                      <a:cubicBezTo>
                        <a:pt x="1" y="12"/>
                        <a:pt x="1" y="10"/>
                        <a:pt x="0" y="9"/>
                      </a:cubicBezTo>
                      <a:cubicBezTo>
                        <a:pt x="0" y="9"/>
                        <a:pt x="0" y="8"/>
                        <a:pt x="0" y="8"/>
                      </a:cubicBezTo>
                      <a:cubicBezTo>
                        <a:pt x="0" y="8"/>
                        <a:pt x="0" y="7"/>
                        <a:pt x="0" y="7"/>
                      </a:cubicBezTo>
                      <a:cubicBezTo>
                        <a:pt x="0" y="7"/>
                        <a:pt x="0" y="7"/>
                        <a:pt x="0" y="7"/>
                      </a:cubicBezTo>
                      <a:cubicBezTo>
                        <a:pt x="0" y="3"/>
                        <a:pt x="0" y="3"/>
                        <a:pt x="0" y="3"/>
                      </a:cubicBezTo>
                      <a:cubicBezTo>
                        <a:pt x="0" y="1"/>
                        <a:pt x="1" y="0"/>
                        <a:pt x="3" y="0"/>
                      </a:cubicBez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77" name="Freeform 124">
                  <a:extLst>
                    <a:ext uri="{FF2B5EF4-FFF2-40B4-BE49-F238E27FC236}">
                      <a16:creationId xmlns:a16="http://schemas.microsoft.com/office/drawing/2014/main" id="{9759F18A-4E9A-226A-4BB9-9F81228F7D3C}"/>
                    </a:ext>
                  </a:extLst>
                </p:cNvPr>
                <p:cNvSpPr>
                  <a:spLocks/>
                </p:cNvSpPr>
                <p:nvPr/>
              </p:nvSpPr>
              <p:spPr bwMode="auto">
                <a:xfrm>
                  <a:off x="2527" y="2798"/>
                  <a:ext cx="61" cy="49"/>
                </a:xfrm>
                <a:custGeom>
                  <a:avLst/>
                  <a:gdLst>
                    <a:gd name="T0" fmla="*/ 0 w 25"/>
                    <a:gd name="T1" fmla="*/ 18 h 20"/>
                    <a:gd name="T2" fmla="*/ 9 w 25"/>
                    <a:gd name="T3" fmla="*/ 20 h 20"/>
                    <a:gd name="T4" fmla="*/ 23 w 25"/>
                    <a:gd name="T5" fmla="*/ 14 h 20"/>
                    <a:gd name="T6" fmla="*/ 25 w 25"/>
                    <a:gd name="T7" fmla="*/ 9 h 20"/>
                    <a:gd name="T8" fmla="*/ 25 w 25"/>
                    <a:gd name="T9" fmla="*/ 8 h 20"/>
                    <a:gd name="T10" fmla="*/ 25 w 25"/>
                    <a:gd name="T11" fmla="*/ 7 h 20"/>
                    <a:gd name="T12" fmla="*/ 25 w 25"/>
                    <a:gd name="T13" fmla="*/ 7 h 20"/>
                    <a:gd name="T14" fmla="*/ 25 w 25"/>
                    <a:gd name="T15" fmla="*/ 7 h 20"/>
                    <a:gd name="T16" fmla="*/ 25 w 25"/>
                    <a:gd name="T17" fmla="*/ 7 h 20"/>
                    <a:gd name="T18" fmla="*/ 25 w 25"/>
                    <a:gd name="T19" fmla="*/ 7 h 20"/>
                    <a:gd name="T20" fmla="*/ 25 w 25"/>
                    <a:gd name="T21" fmla="*/ 3 h 20"/>
                    <a:gd name="T22" fmla="*/ 24 w 25"/>
                    <a:gd name="T23" fmla="*/ 1 h 20"/>
                    <a:gd name="T24" fmla="*/ 22 w 25"/>
                    <a:gd name="T25" fmla="*/ 0 h 20"/>
                    <a:gd name="T26" fmla="*/ 2 w 25"/>
                    <a:gd name="T27" fmla="*/ 0 h 20"/>
                    <a:gd name="T28" fmla="*/ 3 w 25"/>
                    <a:gd name="T29" fmla="*/ 3 h 20"/>
                    <a:gd name="T30" fmla="*/ 3 w 25"/>
                    <a:gd name="T31" fmla="*/ 9 h 20"/>
                    <a:gd name="T32" fmla="*/ 3 w 25"/>
                    <a:gd name="T33" fmla="*/ 9 h 20"/>
                    <a:gd name="T34" fmla="*/ 3 w 25"/>
                    <a:gd name="T35" fmla="*/ 9 h 20"/>
                    <a:gd name="T36" fmla="*/ 3 w 25"/>
                    <a:gd name="T37" fmla="*/ 9 h 20"/>
                    <a:gd name="T38" fmla="*/ 3 w 25"/>
                    <a:gd name="T39" fmla="*/ 9 h 20"/>
                    <a:gd name="T40" fmla="*/ 3 w 25"/>
                    <a:gd name="T41" fmla="*/ 9 h 20"/>
                    <a:gd name="T42" fmla="*/ 3 w 25"/>
                    <a:gd name="T43" fmla="*/ 10 h 20"/>
                    <a:gd name="T44" fmla="*/ 3 w 25"/>
                    <a:gd name="T45" fmla="*/ 12 h 20"/>
                    <a:gd name="T46" fmla="*/ 0 w 25"/>
                    <a:gd name="T47" fmla="*/ 18 h 20"/>
                    <a:gd name="T48" fmla="*/ 0 w 25"/>
                    <a:gd name="T49"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 h="20">
                      <a:moveTo>
                        <a:pt x="0" y="18"/>
                      </a:moveTo>
                      <a:cubicBezTo>
                        <a:pt x="2" y="19"/>
                        <a:pt x="5" y="20"/>
                        <a:pt x="9" y="20"/>
                      </a:cubicBezTo>
                      <a:cubicBezTo>
                        <a:pt x="16" y="20"/>
                        <a:pt x="21" y="17"/>
                        <a:pt x="23" y="14"/>
                      </a:cubicBezTo>
                      <a:cubicBezTo>
                        <a:pt x="24" y="12"/>
                        <a:pt x="24" y="10"/>
                        <a:pt x="25" y="9"/>
                      </a:cubicBezTo>
                      <a:cubicBezTo>
                        <a:pt x="25" y="9"/>
                        <a:pt x="25" y="8"/>
                        <a:pt x="25" y="8"/>
                      </a:cubicBezTo>
                      <a:cubicBezTo>
                        <a:pt x="25" y="8"/>
                        <a:pt x="25" y="7"/>
                        <a:pt x="25" y="7"/>
                      </a:cubicBezTo>
                      <a:cubicBezTo>
                        <a:pt x="25" y="7"/>
                        <a:pt x="25" y="7"/>
                        <a:pt x="25" y="7"/>
                      </a:cubicBezTo>
                      <a:cubicBezTo>
                        <a:pt x="25" y="7"/>
                        <a:pt x="25" y="7"/>
                        <a:pt x="25" y="7"/>
                      </a:cubicBezTo>
                      <a:cubicBezTo>
                        <a:pt x="25" y="7"/>
                        <a:pt x="25" y="7"/>
                        <a:pt x="25" y="7"/>
                      </a:cubicBezTo>
                      <a:cubicBezTo>
                        <a:pt x="25" y="7"/>
                        <a:pt x="25" y="7"/>
                        <a:pt x="25" y="7"/>
                      </a:cubicBezTo>
                      <a:cubicBezTo>
                        <a:pt x="25" y="3"/>
                        <a:pt x="25" y="3"/>
                        <a:pt x="25" y="3"/>
                      </a:cubicBezTo>
                      <a:cubicBezTo>
                        <a:pt x="25" y="2"/>
                        <a:pt x="25" y="1"/>
                        <a:pt x="24" y="1"/>
                      </a:cubicBezTo>
                      <a:cubicBezTo>
                        <a:pt x="24" y="0"/>
                        <a:pt x="23" y="0"/>
                        <a:pt x="22" y="0"/>
                      </a:cubicBezTo>
                      <a:cubicBezTo>
                        <a:pt x="2" y="0"/>
                        <a:pt x="2" y="0"/>
                        <a:pt x="2" y="0"/>
                      </a:cubicBezTo>
                      <a:cubicBezTo>
                        <a:pt x="3" y="1"/>
                        <a:pt x="3" y="2"/>
                        <a:pt x="3" y="3"/>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10"/>
                        <a:pt x="3" y="10"/>
                        <a:pt x="3" y="10"/>
                      </a:cubicBezTo>
                      <a:cubicBezTo>
                        <a:pt x="3" y="11"/>
                        <a:pt x="3" y="11"/>
                        <a:pt x="3" y="12"/>
                      </a:cubicBezTo>
                      <a:cubicBezTo>
                        <a:pt x="2" y="14"/>
                        <a:pt x="2" y="16"/>
                        <a:pt x="0" y="18"/>
                      </a:cubicBezTo>
                      <a:cubicBezTo>
                        <a:pt x="0" y="18"/>
                        <a:pt x="0"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grpSp>
        </p:grpSp>
      </p:grpSp>
      <p:grpSp>
        <p:nvGrpSpPr>
          <p:cNvPr id="79" name="Group 78">
            <a:extLst>
              <a:ext uri="{FF2B5EF4-FFF2-40B4-BE49-F238E27FC236}">
                <a16:creationId xmlns:a16="http://schemas.microsoft.com/office/drawing/2014/main" id="{7A16F2A7-73ED-8FF7-B709-2A02EE9D6EE7}"/>
              </a:ext>
            </a:extLst>
          </p:cNvPr>
          <p:cNvGrpSpPr/>
          <p:nvPr/>
        </p:nvGrpSpPr>
        <p:grpSpPr>
          <a:xfrm>
            <a:off x="6187063" y="2414813"/>
            <a:ext cx="2393475" cy="3145120"/>
            <a:chOff x="4897216" y="2547925"/>
            <a:chExt cx="2393475" cy="3145120"/>
          </a:xfrm>
        </p:grpSpPr>
        <p:grpSp>
          <p:nvGrpSpPr>
            <p:cNvPr id="80" name="Group 79">
              <a:extLst>
                <a:ext uri="{FF2B5EF4-FFF2-40B4-BE49-F238E27FC236}">
                  <a16:creationId xmlns:a16="http://schemas.microsoft.com/office/drawing/2014/main" id="{4B956666-8221-1ED1-8ECF-932E965B587E}"/>
                </a:ext>
              </a:extLst>
            </p:cNvPr>
            <p:cNvGrpSpPr/>
            <p:nvPr/>
          </p:nvGrpSpPr>
          <p:grpSpPr>
            <a:xfrm>
              <a:off x="4897216" y="2547925"/>
              <a:ext cx="1634843" cy="467876"/>
              <a:chOff x="999315" y="5281354"/>
              <a:chExt cx="1634843" cy="467876"/>
            </a:xfrm>
          </p:grpSpPr>
          <p:sp>
            <p:nvSpPr>
              <p:cNvPr id="109" name="Oval 108">
                <a:extLst>
                  <a:ext uri="{FF2B5EF4-FFF2-40B4-BE49-F238E27FC236}">
                    <a16:creationId xmlns:a16="http://schemas.microsoft.com/office/drawing/2014/main" id="{B682AC28-2A42-1049-86F7-3814A2D62166}"/>
                  </a:ext>
                </a:extLst>
              </p:cNvPr>
              <p:cNvSpPr/>
              <p:nvPr/>
            </p:nvSpPr>
            <p:spPr>
              <a:xfrm>
                <a:off x="999315" y="5281354"/>
                <a:ext cx="467876" cy="467876"/>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110" name="Rectangle: Rounded Corners 109">
                <a:extLst>
                  <a:ext uri="{FF2B5EF4-FFF2-40B4-BE49-F238E27FC236}">
                    <a16:creationId xmlns:a16="http://schemas.microsoft.com/office/drawing/2014/main" id="{A3A14B6F-12EB-9764-A0BB-B7188E0D63BE}"/>
                  </a:ext>
                </a:extLst>
              </p:cNvPr>
              <p:cNvSpPr/>
              <p:nvPr/>
            </p:nvSpPr>
            <p:spPr>
              <a:xfrm>
                <a:off x="1454294" y="5337840"/>
                <a:ext cx="1179864" cy="254433"/>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Data Delivery</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sp>
            <p:nvSpPr>
              <p:cNvPr id="111" name="Freeform 128">
                <a:extLst>
                  <a:ext uri="{FF2B5EF4-FFF2-40B4-BE49-F238E27FC236}">
                    <a16:creationId xmlns:a16="http://schemas.microsoft.com/office/drawing/2014/main" id="{36BE932C-7B13-B42B-480A-0D56A1C63DAA}"/>
                  </a:ext>
                </a:extLst>
              </p:cNvPr>
              <p:cNvSpPr>
                <a:spLocks noEditPoints="1"/>
              </p:cNvSpPr>
              <p:nvPr/>
            </p:nvSpPr>
            <p:spPr bwMode="auto">
              <a:xfrm>
                <a:off x="1084890" y="5371623"/>
                <a:ext cx="292100" cy="287338"/>
              </a:xfrm>
              <a:custGeom>
                <a:avLst/>
                <a:gdLst>
                  <a:gd name="T0" fmla="*/ 3468 w 3920"/>
                  <a:gd name="T1" fmla="*/ 3854 h 3854"/>
                  <a:gd name="T2" fmla="*/ 452 w 3920"/>
                  <a:gd name="T3" fmla="*/ 3854 h 3854"/>
                  <a:gd name="T4" fmla="*/ 0 w 3920"/>
                  <a:gd name="T5" fmla="*/ 3393 h 3854"/>
                  <a:gd name="T6" fmla="*/ 0 w 3920"/>
                  <a:gd name="T7" fmla="*/ 1077 h 3854"/>
                  <a:gd name="T8" fmla="*/ 0 w 3920"/>
                  <a:gd name="T9" fmla="*/ 923 h 3854"/>
                  <a:gd name="T10" fmla="*/ 0 w 3920"/>
                  <a:gd name="T11" fmla="*/ 461 h 3854"/>
                  <a:gd name="T12" fmla="*/ 452 w 3920"/>
                  <a:gd name="T13" fmla="*/ 0 h 3854"/>
                  <a:gd name="T14" fmla="*/ 1206 w 3920"/>
                  <a:gd name="T15" fmla="*/ 0 h 3854"/>
                  <a:gd name="T16" fmla="*/ 1659 w 3920"/>
                  <a:gd name="T17" fmla="*/ 461 h 3854"/>
                  <a:gd name="T18" fmla="*/ 3468 w 3920"/>
                  <a:gd name="T19" fmla="*/ 461 h 3854"/>
                  <a:gd name="T20" fmla="*/ 3920 w 3920"/>
                  <a:gd name="T21" fmla="*/ 923 h 3854"/>
                  <a:gd name="T22" fmla="*/ 3920 w 3920"/>
                  <a:gd name="T23" fmla="*/ 3393 h 3854"/>
                  <a:gd name="T24" fmla="*/ 3468 w 3920"/>
                  <a:gd name="T25" fmla="*/ 3854 h 3854"/>
                  <a:gd name="T26" fmla="*/ 3681 w 3920"/>
                  <a:gd name="T27" fmla="*/ 860 h 3854"/>
                  <a:gd name="T28" fmla="*/ 3530 w 3920"/>
                  <a:gd name="T29" fmla="*/ 706 h 3854"/>
                  <a:gd name="T30" fmla="*/ 390 w 3920"/>
                  <a:gd name="T31" fmla="*/ 706 h 3854"/>
                  <a:gd name="T32" fmla="*/ 239 w 3920"/>
                  <a:gd name="T33" fmla="*/ 860 h 3854"/>
                  <a:gd name="T34" fmla="*/ 239 w 3920"/>
                  <a:gd name="T35" fmla="*/ 3456 h 3854"/>
                  <a:gd name="T36" fmla="*/ 390 w 3920"/>
                  <a:gd name="T37" fmla="*/ 3610 h 3854"/>
                  <a:gd name="T38" fmla="*/ 3530 w 3920"/>
                  <a:gd name="T39" fmla="*/ 3610 h 3854"/>
                  <a:gd name="T40" fmla="*/ 3681 w 3920"/>
                  <a:gd name="T41" fmla="*/ 3456 h 3854"/>
                  <a:gd name="T42" fmla="*/ 3681 w 3920"/>
                  <a:gd name="T43" fmla="*/ 860 h 3854"/>
                  <a:gd name="T44" fmla="*/ 3344 w 3920"/>
                  <a:gd name="T45" fmla="*/ 2205 h 3854"/>
                  <a:gd name="T46" fmla="*/ 3009 w 3920"/>
                  <a:gd name="T47" fmla="*/ 2205 h 3854"/>
                  <a:gd name="T48" fmla="*/ 3009 w 3920"/>
                  <a:gd name="T49" fmla="*/ 2667 h 3854"/>
                  <a:gd name="T50" fmla="*/ 2858 w 3920"/>
                  <a:gd name="T51" fmla="*/ 2821 h 3854"/>
                  <a:gd name="T52" fmla="*/ 2556 w 3920"/>
                  <a:gd name="T53" fmla="*/ 2821 h 3854"/>
                  <a:gd name="T54" fmla="*/ 2406 w 3920"/>
                  <a:gd name="T55" fmla="*/ 2667 h 3854"/>
                  <a:gd name="T56" fmla="*/ 2406 w 3920"/>
                  <a:gd name="T57" fmla="*/ 2205 h 3854"/>
                  <a:gd name="T58" fmla="*/ 2129 w 3920"/>
                  <a:gd name="T59" fmla="*/ 2205 h 3854"/>
                  <a:gd name="T60" fmla="*/ 2096 w 3920"/>
                  <a:gd name="T61" fmla="*/ 2103 h 3854"/>
                  <a:gd name="T62" fmla="*/ 2553 w 3920"/>
                  <a:gd name="T63" fmla="*/ 1636 h 3854"/>
                  <a:gd name="T64" fmla="*/ 2858 w 3920"/>
                  <a:gd name="T65" fmla="*/ 1636 h 3854"/>
                  <a:gd name="T66" fmla="*/ 3378 w 3920"/>
                  <a:gd name="T67" fmla="*/ 2103 h 3854"/>
                  <a:gd name="T68" fmla="*/ 3344 w 3920"/>
                  <a:gd name="T69" fmla="*/ 2205 h 3854"/>
                  <a:gd name="T70" fmla="*/ 684 w 3920"/>
                  <a:gd name="T71" fmla="*/ 1895 h 3854"/>
                  <a:gd name="T72" fmla="*/ 684 w 3920"/>
                  <a:gd name="T73" fmla="*/ 1643 h 3854"/>
                  <a:gd name="T74" fmla="*/ 1804 w 3920"/>
                  <a:gd name="T75" fmla="*/ 1643 h 3854"/>
                  <a:gd name="T76" fmla="*/ 1804 w 3920"/>
                  <a:gd name="T77" fmla="*/ 1895 h 3854"/>
                  <a:gd name="T78" fmla="*/ 684 w 3920"/>
                  <a:gd name="T79" fmla="*/ 1895 h 3854"/>
                  <a:gd name="T80" fmla="*/ 684 w 3920"/>
                  <a:gd name="T81" fmla="*/ 2338 h 3854"/>
                  <a:gd name="T82" fmla="*/ 684 w 3920"/>
                  <a:gd name="T83" fmla="*/ 2085 h 3854"/>
                  <a:gd name="T84" fmla="*/ 1804 w 3920"/>
                  <a:gd name="T85" fmla="*/ 2085 h 3854"/>
                  <a:gd name="T86" fmla="*/ 1804 w 3920"/>
                  <a:gd name="T87" fmla="*/ 2338 h 3854"/>
                  <a:gd name="T88" fmla="*/ 684 w 3920"/>
                  <a:gd name="T89" fmla="*/ 2338 h 3854"/>
                  <a:gd name="T90" fmla="*/ 684 w 3920"/>
                  <a:gd name="T91" fmla="*/ 2780 h 3854"/>
                  <a:gd name="T92" fmla="*/ 684 w 3920"/>
                  <a:gd name="T93" fmla="*/ 2527 h 3854"/>
                  <a:gd name="T94" fmla="*/ 1804 w 3920"/>
                  <a:gd name="T95" fmla="*/ 2527 h 3854"/>
                  <a:gd name="T96" fmla="*/ 1804 w 3920"/>
                  <a:gd name="T97" fmla="*/ 2780 h 3854"/>
                  <a:gd name="T98" fmla="*/ 684 w 3920"/>
                  <a:gd name="T99" fmla="*/ 2780 h 3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920" h="3854">
                    <a:moveTo>
                      <a:pt x="3468" y="3854"/>
                    </a:moveTo>
                    <a:cubicBezTo>
                      <a:pt x="452" y="3854"/>
                      <a:pt x="452" y="3854"/>
                      <a:pt x="452" y="3854"/>
                    </a:cubicBezTo>
                    <a:cubicBezTo>
                      <a:pt x="203" y="3854"/>
                      <a:pt x="0" y="3648"/>
                      <a:pt x="0" y="3393"/>
                    </a:cubicBezTo>
                    <a:cubicBezTo>
                      <a:pt x="0" y="1077"/>
                      <a:pt x="0" y="1077"/>
                      <a:pt x="0" y="1077"/>
                    </a:cubicBezTo>
                    <a:cubicBezTo>
                      <a:pt x="0" y="923"/>
                      <a:pt x="0" y="923"/>
                      <a:pt x="0" y="923"/>
                    </a:cubicBezTo>
                    <a:cubicBezTo>
                      <a:pt x="0" y="461"/>
                      <a:pt x="0" y="461"/>
                      <a:pt x="0" y="461"/>
                    </a:cubicBezTo>
                    <a:cubicBezTo>
                      <a:pt x="0" y="207"/>
                      <a:pt x="203" y="0"/>
                      <a:pt x="452" y="0"/>
                    </a:cubicBezTo>
                    <a:cubicBezTo>
                      <a:pt x="1206" y="0"/>
                      <a:pt x="1206" y="0"/>
                      <a:pt x="1206" y="0"/>
                    </a:cubicBezTo>
                    <a:cubicBezTo>
                      <a:pt x="1456" y="0"/>
                      <a:pt x="1659" y="207"/>
                      <a:pt x="1659" y="461"/>
                    </a:cubicBezTo>
                    <a:cubicBezTo>
                      <a:pt x="3468" y="461"/>
                      <a:pt x="3468" y="461"/>
                      <a:pt x="3468" y="461"/>
                    </a:cubicBezTo>
                    <a:cubicBezTo>
                      <a:pt x="3718" y="461"/>
                      <a:pt x="3920" y="668"/>
                      <a:pt x="3920" y="923"/>
                    </a:cubicBezTo>
                    <a:cubicBezTo>
                      <a:pt x="3920" y="3393"/>
                      <a:pt x="3920" y="3393"/>
                      <a:pt x="3920" y="3393"/>
                    </a:cubicBezTo>
                    <a:cubicBezTo>
                      <a:pt x="3920" y="3648"/>
                      <a:pt x="3718" y="3854"/>
                      <a:pt x="3468" y="3854"/>
                    </a:cubicBezTo>
                    <a:close/>
                    <a:moveTo>
                      <a:pt x="3681" y="860"/>
                    </a:moveTo>
                    <a:cubicBezTo>
                      <a:pt x="3681" y="775"/>
                      <a:pt x="3613" y="706"/>
                      <a:pt x="3530" y="706"/>
                    </a:cubicBezTo>
                    <a:cubicBezTo>
                      <a:pt x="390" y="706"/>
                      <a:pt x="390" y="706"/>
                      <a:pt x="390" y="706"/>
                    </a:cubicBezTo>
                    <a:cubicBezTo>
                      <a:pt x="307" y="706"/>
                      <a:pt x="239" y="775"/>
                      <a:pt x="239" y="860"/>
                    </a:cubicBezTo>
                    <a:cubicBezTo>
                      <a:pt x="239" y="3456"/>
                      <a:pt x="239" y="3456"/>
                      <a:pt x="239" y="3456"/>
                    </a:cubicBezTo>
                    <a:cubicBezTo>
                      <a:pt x="239" y="3541"/>
                      <a:pt x="307" y="3610"/>
                      <a:pt x="390" y="3610"/>
                    </a:cubicBezTo>
                    <a:cubicBezTo>
                      <a:pt x="3530" y="3610"/>
                      <a:pt x="3530" y="3610"/>
                      <a:pt x="3530" y="3610"/>
                    </a:cubicBezTo>
                    <a:cubicBezTo>
                      <a:pt x="3613" y="3610"/>
                      <a:pt x="3681" y="3541"/>
                      <a:pt x="3681" y="3456"/>
                    </a:cubicBezTo>
                    <a:cubicBezTo>
                      <a:pt x="3681" y="860"/>
                      <a:pt x="3681" y="860"/>
                      <a:pt x="3681" y="860"/>
                    </a:cubicBezTo>
                    <a:close/>
                    <a:moveTo>
                      <a:pt x="3344" y="2205"/>
                    </a:moveTo>
                    <a:cubicBezTo>
                      <a:pt x="3009" y="2205"/>
                      <a:pt x="3009" y="2205"/>
                      <a:pt x="3009" y="2205"/>
                    </a:cubicBezTo>
                    <a:cubicBezTo>
                      <a:pt x="3009" y="2667"/>
                      <a:pt x="3009" y="2667"/>
                      <a:pt x="3009" y="2667"/>
                    </a:cubicBezTo>
                    <a:cubicBezTo>
                      <a:pt x="3009" y="2752"/>
                      <a:pt x="2941" y="2821"/>
                      <a:pt x="2858" y="2821"/>
                    </a:cubicBezTo>
                    <a:cubicBezTo>
                      <a:pt x="2556" y="2821"/>
                      <a:pt x="2556" y="2821"/>
                      <a:pt x="2556" y="2821"/>
                    </a:cubicBezTo>
                    <a:cubicBezTo>
                      <a:pt x="2473" y="2821"/>
                      <a:pt x="2406" y="2752"/>
                      <a:pt x="2406" y="2667"/>
                    </a:cubicBezTo>
                    <a:cubicBezTo>
                      <a:pt x="2406" y="2205"/>
                      <a:pt x="2406" y="2205"/>
                      <a:pt x="2406" y="2205"/>
                    </a:cubicBezTo>
                    <a:cubicBezTo>
                      <a:pt x="2129" y="2205"/>
                      <a:pt x="2129" y="2205"/>
                      <a:pt x="2129" y="2205"/>
                    </a:cubicBezTo>
                    <a:cubicBezTo>
                      <a:pt x="2040" y="2205"/>
                      <a:pt x="2012" y="2189"/>
                      <a:pt x="2096" y="2103"/>
                    </a:cubicBezTo>
                    <a:cubicBezTo>
                      <a:pt x="2553" y="1636"/>
                      <a:pt x="2553" y="1636"/>
                      <a:pt x="2553" y="1636"/>
                    </a:cubicBezTo>
                    <a:cubicBezTo>
                      <a:pt x="2706" y="1480"/>
                      <a:pt x="2704" y="1481"/>
                      <a:pt x="2858" y="1636"/>
                    </a:cubicBezTo>
                    <a:cubicBezTo>
                      <a:pt x="3378" y="2103"/>
                      <a:pt x="3378" y="2103"/>
                      <a:pt x="3378" y="2103"/>
                    </a:cubicBezTo>
                    <a:cubicBezTo>
                      <a:pt x="3461" y="2189"/>
                      <a:pt x="3442" y="2205"/>
                      <a:pt x="3344" y="2205"/>
                    </a:cubicBezTo>
                    <a:close/>
                    <a:moveTo>
                      <a:pt x="684" y="1895"/>
                    </a:moveTo>
                    <a:cubicBezTo>
                      <a:pt x="684" y="1643"/>
                      <a:pt x="684" y="1643"/>
                      <a:pt x="684" y="1643"/>
                    </a:cubicBezTo>
                    <a:cubicBezTo>
                      <a:pt x="1804" y="1643"/>
                      <a:pt x="1804" y="1643"/>
                      <a:pt x="1804" y="1643"/>
                    </a:cubicBezTo>
                    <a:cubicBezTo>
                      <a:pt x="1804" y="1895"/>
                      <a:pt x="1804" y="1895"/>
                      <a:pt x="1804" y="1895"/>
                    </a:cubicBezTo>
                    <a:cubicBezTo>
                      <a:pt x="684" y="1895"/>
                      <a:pt x="684" y="1895"/>
                      <a:pt x="684" y="1895"/>
                    </a:cubicBezTo>
                    <a:close/>
                    <a:moveTo>
                      <a:pt x="684" y="2338"/>
                    </a:moveTo>
                    <a:cubicBezTo>
                      <a:pt x="684" y="2085"/>
                      <a:pt x="684" y="2085"/>
                      <a:pt x="684" y="2085"/>
                    </a:cubicBezTo>
                    <a:cubicBezTo>
                      <a:pt x="1804" y="2085"/>
                      <a:pt x="1804" y="2085"/>
                      <a:pt x="1804" y="2085"/>
                    </a:cubicBezTo>
                    <a:cubicBezTo>
                      <a:pt x="1804" y="2338"/>
                      <a:pt x="1804" y="2338"/>
                      <a:pt x="1804" y="2338"/>
                    </a:cubicBezTo>
                    <a:cubicBezTo>
                      <a:pt x="684" y="2338"/>
                      <a:pt x="684" y="2338"/>
                      <a:pt x="684" y="2338"/>
                    </a:cubicBezTo>
                    <a:close/>
                    <a:moveTo>
                      <a:pt x="684" y="2780"/>
                    </a:moveTo>
                    <a:cubicBezTo>
                      <a:pt x="684" y="2527"/>
                      <a:pt x="684" y="2527"/>
                      <a:pt x="684" y="2527"/>
                    </a:cubicBezTo>
                    <a:cubicBezTo>
                      <a:pt x="1804" y="2527"/>
                      <a:pt x="1804" y="2527"/>
                      <a:pt x="1804" y="2527"/>
                    </a:cubicBezTo>
                    <a:cubicBezTo>
                      <a:pt x="1804" y="2780"/>
                      <a:pt x="1804" y="2780"/>
                      <a:pt x="1804" y="2780"/>
                    </a:cubicBezTo>
                    <a:cubicBezTo>
                      <a:pt x="684" y="2780"/>
                      <a:pt x="684" y="2780"/>
                      <a:pt x="684" y="278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nvGrpSpPr>
            <p:cNvPr id="81" name="Group 80">
              <a:extLst>
                <a:ext uri="{FF2B5EF4-FFF2-40B4-BE49-F238E27FC236}">
                  <a16:creationId xmlns:a16="http://schemas.microsoft.com/office/drawing/2014/main" id="{5AF82173-6AF5-2018-3590-3ACFC4A8B7C2}"/>
                </a:ext>
              </a:extLst>
            </p:cNvPr>
            <p:cNvGrpSpPr/>
            <p:nvPr/>
          </p:nvGrpSpPr>
          <p:grpSpPr>
            <a:xfrm>
              <a:off x="5322538" y="3203768"/>
              <a:ext cx="1938389" cy="467876"/>
              <a:chOff x="1712255" y="5508978"/>
              <a:chExt cx="1938389" cy="467876"/>
            </a:xfrm>
          </p:grpSpPr>
          <p:grpSp>
            <p:nvGrpSpPr>
              <p:cNvPr id="103" name="Group 102">
                <a:extLst>
                  <a:ext uri="{FF2B5EF4-FFF2-40B4-BE49-F238E27FC236}">
                    <a16:creationId xmlns:a16="http://schemas.microsoft.com/office/drawing/2014/main" id="{49F53CFB-5E93-71F0-E8D8-9D39DA91DFC3}"/>
                  </a:ext>
                </a:extLst>
              </p:cNvPr>
              <p:cNvGrpSpPr/>
              <p:nvPr/>
            </p:nvGrpSpPr>
            <p:grpSpPr>
              <a:xfrm>
                <a:off x="1712255" y="5508978"/>
                <a:ext cx="1938389" cy="467876"/>
                <a:chOff x="1712255" y="5508978"/>
                <a:chExt cx="1938389" cy="467876"/>
              </a:xfrm>
            </p:grpSpPr>
            <p:sp>
              <p:nvSpPr>
                <p:cNvPr id="107" name="Oval 106">
                  <a:extLst>
                    <a:ext uri="{FF2B5EF4-FFF2-40B4-BE49-F238E27FC236}">
                      <a16:creationId xmlns:a16="http://schemas.microsoft.com/office/drawing/2014/main" id="{806D4B37-563F-0F66-CA7B-F0A4B0CA170B}"/>
                    </a:ext>
                  </a:extLst>
                </p:cNvPr>
                <p:cNvSpPr/>
                <p:nvPr/>
              </p:nvSpPr>
              <p:spPr>
                <a:xfrm>
                  <a:off x="1712255" y="5508978"/>
                  <a:ext cx="467876" cy="467876"/>
                </a:xfrm>
                <a:prstGeom prst="ellipse">
                  <a:avLst/>
                </a:pr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108" name="Rectangle: Rounded Corners 107">
                  <a:extLst>
                    <a:ext uri="{FF2B5EF4-FFF2-40B4-BE49-F238E27FC236}">
                      <a16:creationId xmlns:a16="http://schemas.microsoft.com/office/drawing/2014/main" id="{4172FE46-B00E-38AC-CC74-AA76C2FF6DA2}"/>
                    </a:ext>
                  </a:extLst>
                </p:cNvPr>
                <p:cNvSpPr/>
                <p:nvPr/>
              </p:nvSpPr>
              <p:spPr>
                <a:xfrm>
                  <a:off x="2188607" y="5590317"/>
                  <a:ext cx="1462037"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Data Exploration / Reporting</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grpSp>
          <p:grpSp>
            <p:nvGrpSpPr>
              <p:cNvPr id="104" name="Group 131">
                <a:extLst>
                  <a:ext uri="{FF2B5EF4-FFF2-40B4-BE49-F238E27FC236}">
                    <a16:creationId xmlns:a16="http://schemas.microsoft.com/office/drawing/2014/main" id="{0F8FBB99-7677-EB7E-BBBF-CF3D99BCD005}"/>
                  </a:ext>
                </a:extLst>
              </p:cNvPr>
              <p:cNvGrpSpPr>
                <a:grpSpLocks noChangeAspect="1"/>
              </p:cNvGrpSpPr>
              <p:nvPr/>
            </p:nvGrpSpPr>
            <p:grpSpPr bwMode="auto">
              <a:xfrm>
                <a:off x="1791200" y="5631212"/>
                <a:ext cx="317499" cy="236537"/>
                <a:chOff x="682" y="3343"/>
                <a:chExt cx="200" cy="149"/>
              </a:xfrm>
              <a:solidFill>
                <a:schemeClr val="accent4"/>
              </a:solidFill>
            </p:grpSpPr>
            <p:sp>
              <p:nvSpPr>
                <p:cNvPr id="105" name="Freeform 132">
                  <a:extLst>
                    <a:ext uri="{FF2B5EF4-FFF2-40B4-BE49-F238E27FC236}">
                      <a16:creationId xmlns:a16="http://schemas.microsoft.com/office/drawing/2014/main" id="{62EF95A0-FE2C-097C-0C31-D6DE4FCA90F7}"/>
                    </a:ext>
                  </a:extLst>
                </p:cNvPr>
                <p:cNvSpPr>
                  <a:spLocks noEditPoints="1"/>
                </p:cNvSpPr>
                <p:nvPr/>
              </p:nvSpPr>
              <p:spPr bwMode="auto">
                <a:xfrm>
                  <a:off x="682" y="3343"/>
                  <a:ext cx="164" cy="149"/>
                </a:xfrm>
                <a:custGeom>
                  <a:avLst/>
                  <a:gdLst>
                    <a:gd name="T0" fmla="*/ 146 w 306"/>
                    <a:gd name="T1" fmla="*/ 101 h 280"/>
                    <a:gd name="T2" fmla="*/ 165 w 306"/>
                    <a:gd name="T3" fmla="*/ 156 h 280"/>
                    <a:gd name="T4" fmla="*/ 165 w 306"/>
                    <a:gd name="T5" fmla="*/ 245 h 280"/>
                    <a:gd name="T6" fmla="*/ 106 w 306"/>
                    <a:gd name="T7" fmla="*/ 245 h 280"/>
                    <a:gd name="T8" fmla="*/ 106 w 306"/>
                    <a:gd name="T9" fmla="*/ 12 h 280"/>
                    <a:gd name="T10" fmla="*/ 118 w 306"/>
                    <a:gd name="T11" fmla="*/ 0 h 280"/>
                    <a:gd name="T12" fmla="*/ 153 w 306"/>
                    <a:gd name="T13" fmla="*/ 0 h 280"/>
                    <a:gd name="T14" fmla="*/ 165 w 306"/>
                    <a:gd name="T15" fmla="*/ 12 h 280"/>
                    <a:gd name="T16" fmla="*/ 165 w 306"/>
                    <a:gd name="T17" fmla="*/ 46 h 280"/>
                    <a:gd name="T18" fmla="*/ 146 w 306"/>
                    <a:gd name="T19" fmla="*/ 101 h 280"/>
                    <a:gd name="T20" fmla="*/ 36 w 306"/>
                    <a:gd name="T21" fmla="*/ 82 h 280"/>
                    <a:gd name="T22" fmla="*/ 47 w 306"/>
                    <a:gd name="T23" fmla="*/ 70 h 280"/>
                    <a:gd name="T24" fmla="*/ 83 w 306"/>
                    <a:gd name="T25" fmla="*/ 70 h 280"/>
                    <a:gd name="T26" fmla="*/ 94 w 306"/>
                    <a:gd name="T27" fmla="*/ 82 h 280"/>
                    <a:gd name="T28" fmla="*/ 94 w 306"/>
                    <a:gd name="T29" fmla="*/ 245 h 280"/>
                    <a:gd name="T30" fmla="*/ 36 w 306"/>
                    <a:gd name="T31" fmla="*/ 245 h 280"/>
                    <a:gd name="T32" fmla="*/ 36 w 306"/>
                    <a:gd name="T33" fmla="*/ 82 h 280"/>
                    <a:gd name="T34" fmla="*/ 306 w 306"/>
                    <a:gd name="T35" fmla="*/ 280 h 280"/>
                    <a:gd name="T36" fmla="*/ 0 w 306"/>
                    <a:gd name="T37" fmla="*/ 280 h 280"/>
                    <a:gd name="T38" fmla="*/ 0 w 306"/>
                    <a:gd name="T39" fmla="*/ 0 h 280"/>
                    <a:gd name="T40" fmla="*/ 12 w 306"/>
                    <a:gd name="T41" fmla="*/ 0 h 280"/>
                    <a:gd name="T42" fmla="*/ 12 w 306"/>
                    <a:gd name="T43" fmla="*/ 268 h 280"/>
                    <a:gd name="T44" fmla="*/ 306 w 306"/>
                    <a:gd name="T45" fmla="*/ 269 h 280"/>
                    <a:gd name="T46" fmla="*/ 306 w 306"/>
                    <a:gd name="T47" fmla="*/ 280 h 280"/>
                    <a:gd name="T48" fmla="*/ 247 w 306"/>
                    <a:gd name="T49" fmla="*/ 222 h 280"/>
                    <a:gd name="T50" fmla="*/ 259 w 306"/>
                    <a:gd name="T51" fmla="*/ 210 h 280"/>
                    <a:gd name="T52" fmla="*/ 294 w 306"/>
                    <a:gd name="T53" fmla="*/ 210 h 280"/>
                    <a:gd name="T54" fmla="*/ 306 w 306"/>
                    <a:gd name="T55" fmla="*/ 222 h 280"/>
                    <a:gd name="T56" fmla="*/ 306 w 306"/>
                    <a:gd name="T57" fmla="*/ 245 h 280"/>
                    <a:gd name="T58" fmla="*/ 247 w 306"/>
                    <a:gd name="T59" fmla="*/ 245 h 280"/>
                    <a:gd name="T60" fmla="*/ 247 w 306"/>
                    <a:gd name="T61" fmla="*/ 222 h 280"/>
                    <a:gd name="T62" fmla="*/ 177 w 306"/>
                    <a:gd name="T63" fmla="*/ 245 h 280"/>
                    <a:gd name="T64" fmla="*/ 177 w 306"/>
                    <a:gd name="T65" fmla="*/ 169 h 280"/>
                    <a:gd name="T66" fmla="*/ 236 w 306"/>
                    <a:gd name="T67" fmla="*/ 191 h 280"/>
                    <a:gd name="T68" fmla="*/ 236 w 306"/>
                    <a:gd name="T69" fmla="*/ 245 h 280"/>
                    <a:gd name="T70" fmla="*/ 177 w 306"/>
                    <a:gd name="T71" fmla="*/ 24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6" h="280">
                      <a:moveTo>
                        <a:pt x="146" y="101"/>
                      </a:moveTo>
                      <a:cubicBezTo>
                        <a:pt x="146" y="122"/>
                        <a:pt x="153" y="141"/>
                        <a:pt x="165" y="156"/>
                      </a:cubicBezTo>
                      <a:cubicBezTo>
                        <a:pt x="165" y="245"/>
                        <a:pt x="165" y="245"/>
                        <a:pt x="165" y="245"/>
                      </a:cubicBezTo>
                      <a:cubicBezTo>
                        <a:pt x="106" y="245"/>
                        <a:pt x="106" y="245"/>
                        <a:pt x="106" y="245"/>
                      </a:cubicBezTo>
                      <a:cubicBezTo>
                        <a:pt x="106" y="12"/>
                        <a:pt x="106" y="12"/>
                        <a:pt x="106" y="12"/>
                      </a:cubicBezTo>
                      <a:cubicBezTo>
                        <a:pt x="106" y="5"/>
                        <a:pt x="111" y="0"/>
                        <a:pt x="118" y="0"/>
                      </a:cubicBezTo>
                      <a:cubicBezTo>
                        <a:pt x="153" y="0"/>
                        <a:pt x="153" y="0"/>
                        <a:pt x="153" y="0"/>
                      </a:cubicBezTo>
                      <a:cubicBezTo>
                        <a:pt x="160" y="0"/>
                        <a:pt x="165" y="5"/>
                        <a:pt x="165" y="12"/>
                      </a:cubicBezTo>
                      <a:cubicBezTo>
                        <a:pt x="165" y="46"/>
                        <a:pt x="165" y="46"/>
                        <a:pt x="165" y="46"/>
                      </a:cubicBezTo>
                      <a:cubicBezTo>
                        <a:pt x="153" y="61"/>
                        <a:pt x="146" y="80"/>
                        <a:pt x="146" y="101"/>
                      </a:cubicBezTo>
                      <a:close/>
                      <a:moveTo>
                        <a:pt x="36" y="82"/>
                      </a:moveTo>
                      <a:cubicBezTo>
                        <a:pt x="36" y="75"/>
                        <a:pt x="41" y="70"/>
                        <a:pt x="47" y="70"/>
                      </a:cubicBezTo>
                      <a:cubicBezTo>
                        <a:pt x="83" y="70"/>
                        <a:pt x="83" y="70"/>
                        <a:pt x="83" y="70"/>
                      </a:cubicBezTo>
                      <a:cubicBezTo>
                        <a:pt x="89" y="70"/>
                        <a:pt x="94" y="75"/>
                        <a:pt x="94" y="82"/>
                      </a:cubicBezTo>
                      <a:cubicBezTo>
                        <a:pt x="94" y="245"/>
                        <a:pt x="94" y="245"/>
                        <a:pt x="94" y="245"/>
                      </a:cubicBezTo>
                      <a:cubicBezTo>
                        <a:pt x="36" y="245"/>
                        <a:pt x="36" y="245"/>
                        <a:pt x="36" y="245"/>
                      </a:cubicBezTo>
                      <a:lnTo>
                        <a:pt x="36" y="82"/>
                      </a:lnTo>
                      <a:close/>
                      <a:moveTo>
                        <a:pt x="306" y="280"/>
                      </a:moveTo>
                      <a:cubicBezTo>
                        <a:pt x="0" y="280"/>
                        <a:pt x="0" y="280"/>
                        <a:pt x="0" y="280"/>
                      </a:cubicBezTo>
                      <a:cubicBezTo>
                        <a:pt x="0" y="0"/>
                        <a:pt x="0" y="0"/>
                        <a:pt x="0" y="0"/>
                      </a:cubicBezTo>
                      <a:cubicBezTo>
                        <a:pt x="12" y="0"/>
                        <a:pt x="12" y="0"/>
                        <a:pt x="12" y="0"/>
                      </a:cubicBezTo>
                      <a:cubicBezTo>
                        <a:pt x="12" y="268"/>
                        <a:pt x="12" y="268"/>
                        <a:pt x="12" y="268"/>
                      </a:cubicBezTo>
                      <a:cubicBezTo>
                        <a:pt x="306" y="269"/>
                        <a:pt x="306" y="269"/>
                        <a:pt x="306" y="269"/>
                      </a:cubicBezTo>
                      <a:lnTo>
                        <a:pt x="306" y="280"/>
                      </a:lnTo>
                      <a:close/>
                      <a:moveTo>
                        <a:pt x="247" y="222"/>
                      </a:moveTo>
                      <a:cubicBezTo>
                        <a:pt x="247" y="215"/>
                        <a:pt x="253" y="210"/>
                        <a:pt x="259" y="210"/>
                      </a:cubicBezTo>
                      <a:cubicBezTo>
                        <a:pt x="294" y="210"/>
                        <a:pt x="294" y="210"/>
                        <a:pt x="294" y="210"/>
                      </a:cubicBezTo>
                      <a:cubicBezTo>
                        <a:pt x="301" y="210"/>
                        <a:pt x="306" y="215"/>
                        <a:pt x="306" y="222"/>
                      </a:cubicBezTo>
                      <a:cubicBezTo>
                        <a:pt x="306" y="245"/>
                        <a:pt x="306" y="245"/>
                        <a:pt x="306" y="245"/>
                      </a:cubicBezTo>
                      <a:cubicBezTo>
                        <a:pt x="247" y="245"/>
                        <a:pt x="247" y="245"/>
                        <a:pt x="247" y="245"/>
                      </a:cubicBezTo>
                      <a:lnTo>
                        <a:pt x="247" y="222"/>
                      </a:lnTo>
                      <a:close/>
                      <a:moveTo>
                        <a:pt x="177" y="245"/>
                      </a:moveTo>
                      <a:cubicBezTo>
                        <a:pt x="177" y="169"/>
                        <a:pt x="177" y="169"/>
                        <a:pt x="177" y="169"/>
                      </a:cubicBezTo>
                      <a:cubicBezTo>
                        <a:pt x="192" y="182"/>
                        <a:pt x="213" y="191"/>
                        <a:pt x="236" y="191"/>
                      </a:cubicBezTo>
                      <a:cubicBezTo>
                        <a:pt x="236" y="245"/>
                        <a:pt x="236" y="245"/>
                        <a:pt x="236" y="245"/>
                      </a:cubicBezTo>
                      <a:lnTo>
                        <a:pt x="177"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106" name="Freeform 133">
                  <a:extLst>
                    <a:ext uri="{FF2B5EF4-FFF2-40B4-BE49-F238E27FC236}">
                      <a16:creationId xmlns:a16="http://schemas.microsoft.com/office/drawing/2014/main" id="{03034566-BAA8-042D-C03D-10C84683C1AC}"/>
                    </a:ext>
                  </a:extLst>
                </p:cNvPr>
                <p:cNvSpPr>
                  <a:spLocks noEditPoints="1"/>
                </p:cNvSpPr>
                <p:nvPr/>
              </p:nvSpPr>
              <p:spPr bwMode="auto">
                <a:xfrm>
                  <a:off x="766" y="3352"/>
                  <a:ext cx="116" cy="115"/>
                </a:xfrm>
                <a:custGeom>
                  <a:avLst/>
                  <a:gdLst>
                    <a:gd name="T0" fmla="*/ 211 w 217"/>
                    <a:gd name="T1" fmla="*/ 181 h 216"/>
                    <a:gd name="T2" fmla="*/ 217 w 217"/>
                    <a:gd name="T3" fmla="*/ 196 h 216"/>
                    <a:gd name="T4" fmla="*/ 196 w 217"/>
                    <a:gd name="T5" fmla="*/ 216 h 216"/>
                    <a:gd name="T6" fmla="*/ 182 w 217"/>
                    <a:gd name="T7" fmla="*/ 210 h 216"/>
                    <a:gd name="T8" fmla="*/ 182 w 217"/>
                    <a:gd name="T9" fmla="*/ 210 h 216"/>
                    <a:gd name="T10" fmla="*/ 122 w 217"/>
                    <a:gd name="T11" fmla="*/ 151 h 216"/>
                    <a:gd name="T12" fmla="*/ 81 w 217"/>
                    <a:gd name="T13" fmla="*/ 162 h 216"/>
                    <a:gd name="T14" fmla="*/ 0 w 217"/>
                    <a:gd name="T15" fmla="*/ 81 h 216"/>
                    <a:gd name="T16" fmla="*/ 81 w 217"/>
                    <a:gd name="T17" fmla="*/ 0 h 216"/>
                    <a:gd name="T18" fmla="*/ 162 w 217"/>
                    <a:gd name="T19" fmla="*/ 81 h 216"/>
                    <a:gd name="T20" fmla="*/ 151 w 217"/>
                    <a:gd name="T21" fmla="*/ 122 h 216"/>
                    <a:gd name="T22" fmla="*/ 211 w 217"/>
                    <a:gd name="T23" fmla="*/ 181 h 216"/>
                    <a:gd name="T24" fmla="*/ 81 w 217"/>
                    <a:gd name="T25" fmla="*/ 20 h 216"/>
                    <a:gd name="T26" fmla="*/ 20 w 217"/>
                    <a:gd name="T27" fmla="*/ 81 h 216"/>
                    <a:gd name="T28" fmla="*/ 81 w 217"/>
                    <a:gd name="T29" fmla="*/ 142 h 216"/>
                    <a:gd name="T30" fmla="*/ 142 w 217"/>
                    <a:gd name="T31" fmla="*/ 81 h 216"/>
                    <a:gd name="T32" fmla="*/ 81 w 217"/>
                    <a:gd name="T33" fmla="*/ 2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7" h="216">
                      <a:moveTo>
                        <a:pt x="211" y="181"/>
                      </a:moveTo>
                      <a:cubicBezTo>
                        <a:pt x="214" y="185"/>
                        <a:pt x="217" y="190"/>
                        <a:pt x="217" y="196"/>
                      </a:cubicBezTo>
                      <a:cubicBezTo>
                        <a:pt x="217" y="207"/>
                        <a:pt x="208" y="216"/>
                        <a:pt x="196" y="216"/>
                      </a:cubicBezTo>
                      <a:cubicBezTo>
                        <a:pt x="191" y="216"/>
                        <a:pt x="186" y="214"/>
                        <a:pt x="182" y="210"/>
                      </a:cubicBezTo>
                      <a:cubicBezTo>
                        <a:pt x="182" y="210"/>
                        <a:pt x="182" y="210"/>
                        <a:pt x="182" y="210"/>
                      </a:cubicBezTo>
                      <a:cubicBezTo>
                        <a:pt x="122" y="151"/>
                        <a:pt x="122" y="151"/>
                        <a:pt x="122" y="151"/>
                      </a:cubicBezTo>
                      <a:cubicBezTo>
                        <a:pt x="110" y="158"/>
                        <a:pt x="96" y="162"/>
                        <a:pt x="81" y="162"/>
                      </a:cubicBezTo>
                      <a:cubicBezTo>
                        <a:pt x="36" y="162"/>
                        <a:pt x="0" y="126"/>
                        <a:pt x="0" y="81"/>
                      </a:cubicBezTo>
                      <a:cubicBezTo>
                        <a:pt x="0" y="36"/>
                        <a:pt x="36" y="0"/>
                        <a:pt x="81" y="0"/>
                      </a:cubicBezTo>
                      <a:cubicBezTo>
                        <a:pt x="126" y="0"/>
                        <a:pt x="162" y="36"/>
                        <a:pt x="162" y="81"/>
                      </a:cubicBezTo>
                      <a:cubicBezTo>
                        <a:pt x="162" y="96"/>
                        <a:pt x="158" y="110"/>
                        <a:pt x="151" y="122"/>
                      </a:cubicBezTo>
                      <a:cubicBezTo>
                        <a:pt x="211" y="181"/>
                        <a:pt x="211" y="181"/>
                        <a:pt x="211" y="181"/>
                      </a:cubicBezTo>
                      <a:close/>
                      <a:moveTo>
                        <a:pt x="81" y="20"/>
                      </a:moveTo>
                      <a:cubicBezTo>
                        <a:pt x="47" y="20"/>
                        <a:pt x="20" y="47"/>
                        <a:pt x="20" y="81"/>
                      </a:cubicBezTo>
                      <a:cubicBezTo>
                        <a:pt x="20" y="114"/>
                        <a:pt x="47" y="142"/>
                        <a:pt x="81" y="142"/>
                      </a:cubicBezTo>
                      <a:cubicBezTo>
                        <a:pt x="115" y="142"/>
                        <a:pt x="142" y="114"/>
                        <a:pt x="142" y="81"/>
                      </a:cubicBezTo>
                      <a:cubicBezTo>
                        <a:pt x="142" y="47"/>
                        <a:pt x="115" y="20"/>
                        <a:pt x="8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grpSp>
          <p:nvGrpSpPr>
            <p:cNvPr id="82" name="Group 81">
              <a:extLst>
                <a:ext uri="{FF2B5EF4-FFF2-40B4-BE49-F238E27FC236}">
                  <a16:creationId xmlns:a16="http://schemas.microsoft.com/office/drawing/2014/main" id="{1461CC07-87F7-77A0-3DD5-9974F50529A0}"/>
                </a:ext>
              </a:extLst>
            </p:cNvPr>
            <p:cNvGrpSpPr/>
            <p:nvPr/>
          </p:nvGrpSpPr>
          <p:grpSpPr>
            <a:xfrm>
              <a:off x="5517518" y="3859611"/>
              <a:ext cx="1773173" cy="521747"/>
              <a:chOff x="2772334" y="5817306"/>
              <a:chExt cx="1773173" cy="521747"/>
            </a:xfrm>
          </p:grpSpPr>
          <p:sp>
            <p:nvSpPr>
              <p:cNvPr id="98" name="Oval 97">
                <a:extLst>
                  <a:ext uri="{FF2B5EF4-FFF2-40B4-BE49-F238E27FC236}">
                    <a16:creationId xmlns:a16="http://schemas.microsoft.com/office/drawing/2014/main" id="{5E1973C5-B213-2BE9-59F4-5F0779DE792D}"/>
                  </a:ext>
                </a:extLst>
              </p:cNvPr>
              <p:cNvSpPr/>
              <p:nvPr/>
            </p:nvSpPr>
            <p:spPr>
              <a:xfrm>
                <a:off x="2772334" y="5844242"/>
                <a:ext cx="467876" cy="467876"/>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99" name="Rectangle: Rounded Corners 98">
                <a:extLst>
                  <a:ext uri="{FF2B5EF4-FFF2-40B4-BE49-F238E27FC236}">
                    <a16:creationId xmlns:a16="http://schemas.microsoft.com/office/drawing/2014/main" id="{CB7B5935-F5A7-8173-AC42-EF21C33B03AF}"/>
                  </a:ext>
                </a:extLst>
              </p:cNvPr>
              <p:cNvSpPr/>
              <p:nvPr/>
            </p:nvSpPr>
            <p:spPr>
              <a:xfrm>
                <a:off x="3279560" y="5817306"/>
                <a:ext cx="1265947" cy="521747"/>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Customer </a:t>
                </a:r>
                <a:b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b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Data Platform</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grpSp>
            <p:nvGrpSpPr>
              <p:cNvPr id="100" name="Group 136">
                <a:extLst>
                  <a:ext uri="{FF2B5EF4-FFF2-40B4-BE49-F238E27FC236}">
                    <a16:creationId xmlns:a16="http://schemas.microsoft.com/office/drawing/2014/main" id="{75F9071D-6A74-48B6-3AF6-9DBA1EA98C83}"/>
                  </a:ext>
                </a:extLst>
              </p:cNvPr>
              <p:cNvGrpSpPr>
                <a:grpSpLocks noChangeAspect="1"/>
              </p:cNvGrpSpPr>
              <p:nvPr/>
            </p:nvGrpSpPr>
            <p:grpSpPr bwMode="auto">
              <a:xfrm>
                <a:off x="2834973" y="5911485"/>
                <a:ext cx="369888" cy="352424"/>
                <a:chOff x="1782" y="3740"/>
                <a:chExt cx="233" cy="222"/>
              </a:xfrm>
              <a:solidFill>
                <a:schemeClr val="accent3"/>
              </a:solidFill>
            </p:grpSpPr>
            <p:sp>
              <p:nvSpPr>
                <p:cNvPr id="101" name="Freeform 137">
                  <a:extLst>
                    <a:ext uri="{FF2B5EF4-FFF2-40B4-BE49-F238E27FC236}">
                      <a16:creationId xmlns:a16="http://schemas.microsoft.com/office/drawing/2014/main" id="{3C43A055-2F5E-6853-B981-6DB9E49FB80C}"/>
                    </a:ext>
                  </a:extLst>
                </p:cNvPr>
                <p:cNvSpPr>
                  <a:spLocks noEditPoints="1"/>
                </p:cNvSpPr>
                <p:nvPr/>
              </p:nvSpPr>
              <p:spPr bwMode="auto">
                <a:xfrm>
                  <a:off x="1782" y="3740"/>
                  <a:ext cx="233" cy="222"/>
                </a:xfrm>
                <a:custGeom>
                  <a:avLst/>
                  <a:gdLst>
                    <a:gd name="T0" fmla="*/ 217 w 833"/>
                    <a:gd name="T1" fmla="*/ 228 h 794"/>
                    <a:gd name="T2" fmla="*/ 216 w 833"/>
                    <a:gd name="T3" fmla="*/ 141 h 794"/>
                    <a:gd name="T4" fmla="*/ 241 w 833"/>
                    <a:gd name="T5" fmla="*/ 98 h 794"/>
                    <a:gd name="T6" fmla="*/ 389 w 833"/>
                    <a:gd name="T7" fmla="*/ 10 h 794"/>
                    <a:gd name="T8" fmla="*/ 438 w 833"/>
                    <a:gd name="T9" fmla="*/ 10 h 794"/>
                    <a:gd name="T10" fmla="*/ 584 w 833"/>
                    <a:gd name="T11" fmla="*/ 97 h 794"/>
                    <a:gd name="T12" fmla="*/ 610 w 833"/>
                    <a:gd name="T13" fmla="*/ 145 h 794"/>
                    <a:gd name="T14" fmla="*/ 609 w 833"/>
                    <a:gd name="T15" fmla="*/ 313 h 794"/>
                    <a:gd name="T16" fmla="*/ 625 w 833"/>
                    <a:gd name="T17" fmla="*/ 345 h 794"/>
                    <a:gd name="T18" fmla="*/ 640 w 833"/>
                    <a:gd name="T19" fmla="*/ 356 h 794"/>
                    <a:gd name="T20" fmla="*/ 728 w 833"/>
                    <a:gd name="T21" fmla="*/ 366 h 794"/>
                    <a:gd name="T22" fmla="*/ 823 w 833"/>
                    <a:gd name="T23" fmla="*/ 415 h 794"/>
                    <a:gd name="T24" fmla="*/ 766 w 833"/>
                    <a:gd name="T25" fmla="*/ 516 h 794"/>
                    <a:gd name="T26" fmla="*/ 745 w 833"/>
                    <a:gd name="T27" fmla="*/ 519 h 794"/>
                    <a:gd name="T28" fmla="*/ 675 w 833"/>
                    <a:gd name="T29" fmla="*/ 444 h 794"/>
                    <a:gd name="T30" fmla="*/ 644 w 833"/>
                    <a:gd name="T31" fmla="*/ 384 h 794"/>
                    <a:gd name="T32" fmla="*/ 555 w 833"/>
                    <a:gd name="T33" fmla="*/ 379 h 794"/>
                    <a:gd name="T34" fmla="*/ 438 w 833"/>
                    <a:gd name="T35" fmla="*/ 448 h 794"/>
                    <a:gd name="T36" fmla="*/ 423 w 833"/>
                    <a:gd name="T37" fmla="*/ 473 h 794"/>
                    <a:gd name="T38" fmla="*/ 424 w 833"/>
                    <a:gd name="T39" fmla="*/ 575 h 794"/>
                    <a:gd name="T40" fmla="*/ 436 w 833"/>
                    <a:gd name="T41" fmla="*/ 596 h 794"/>
                    <a:gd name="T42" fmla="*/ 440 w 833"/>
                    <a:gd name="T43" fmla="*/ 598 h 794"/>
                    <a:gd name="T44" fmla="*/ 500 w 833"/>
                    <a:gd name="T45" fmla="*/ 715 h 794"/>
                    <a:gd name="T46" fmla="*/ 500 w 833"/>
                    <a:gd name="T47" fmla="*/ 719 h 794"/>
                    <a:gd name="T48" fmla="*/ 386 w 833"/>
                    <a:gd name="T49" fmla="*/ 775 h 794"/>
                    <a:gd name="T50" fmla="*/ 383 w 833"/>
                    <a:gd name="T51" fmla="*/ 772 h 794"/>
                    <a:gd name="T52" fmla="*/ 327 w 833"/>
                    <a:gd name="T53" fmla="*/ 654 h 794"/>
                    <a:gd name="T54" fmla="*/ 353 w 833"/>
                    <a:gd name="T55" fmla="*/ 619 h 794"/>
                    <a:gd name="T56" fmla="*/ 403 w 833"/>
                    <a:gd name="T57" fmla="*/ 528 h 794"/>
                    <a:gd name="T58" fmla="*/ 399 w 833"/>
                    <a:gd name="T59" fmla="*/ 459 h 794"/>
                    <a:gd name="T60" fmla="*/ 342 w 833"/>
                    <a:gd name="T61" fmla="*/ 421 h 794"/>
                    <a:gd name="T62" fmla="*/ 238 w 833"/>
                    <a:gd name="T63" fmla="*/ 359 h 794"/>
                    <a:gd name="T64" fmla="*/ 213 w 833"/>
                    <a:gd name="T65" fmla="*/ 360 h 794"/>
                    <a:gd name="T66" fmla="*/ 194 w 833"/>
                    <a:gd name="T67" fmla="*/ 375 h 794"/>
                    <a:gd name="T68" fmla="*/ 151 w 833"/>
                    <a:gd name="T69" fmla="*/ 455 h 794"/>
                    <a:gd name="T70" fmla="*/ 127 w 833"/>
                    <a:gd name="T71" fmla="*/ 498 h 794"/>
                    <a:gd name="T72" fmla="*/ 90 w 833"/>
                    <a:gd name="T73" fmla="*/ 518 h 794"/>
                    <a:gd name="T74" fmla="*/ 3 w 833"/>
                    <a:gd name="T75" fmla="*/ 464 h 794"/>
                    <a:gd name="T76" fmla="*/ 6 w 833"/>
                    <a:gd name="T77" fmla="*/ 406 h 794"/>
                    <a:gd name="T78" fmla="*/ 109 w 833"/>
                    <a:gd name="T79" fmla="*/ 370 h 794"/>
                    <a:gd name="T80" fmla="*/ 175 w 833"/>
                    <a:gd name="T81" fmla="*/ 366 h 794"/>
                    <a:gd name="T82" fmla="*/ 217 w 833"/>
                    <a:gd name="T83" fmla="*/ 278 h 794"/>
                    <a:gd name="T84" fmla="*/ 216 w 833"/>
                    <a:gd name="T85" fmla="*/ 228 h 794"/>
                    <a:gd name="T86" fmla="*/ 217 w 833"/>
                    <a:gd name="T87" fmla="*/ 228 h 794"/>
                    <a:gd name="T88" fmla="*/ 412 w 833"/>
                    <a:gd name="T89" fmla="*/ 295 h 794"/>
                    <a:gd name="T90" fmla="*/ 482 w 833"/>
                    <a:gd name="T91" fmla="*/ 228 h 794"/>
                    <a:gd name="T92" fmla="*/ 414 w 833"/>
                    <a:gd name="T93" fmla="*/ 161 h 794"/>
                    <a:gd name="T94" fmla="*/ 344 w 833"/>
                    <a:gd name="T95" fmla="*/ 229 h 794"/>
                    <a:gd name="T96" fmla="*/ 412 w 833"/>
                    <a:gd name="T97" fmla="*/ 295 h 794"/>
                    <a:gd name="T98" fmla="*/ 472 w 833"/>
                    <a:gd name="T99" fmla="*/ 310 h 794"/>
                    <a:gd name="T100" fmla="*/ 506 w 833"/>
                    <a:gd name="T101" fmla="*/ 382 h 794"/>
                    <a:gd name="T102" fmla="*/ 526 w 833"/>
                    <a:gd name="T103" fmla="*/ 346 h 794"/>
                    <a:gd name="T104" fmla="*/ 509 w 833"/>
                    <a:gd name="T105" fmla="*/ 313 h 794"/>
                    <a:gd name="T106" fmla="*/ 472 w 833"/>
                    <a:gd name="T107" fmla="*/ 310 h 794"/>
                    <a:gd name="T108" fmla="*/ 354 w 833"/>
                    <a:gd name="T109" fmla="*/ 310 h 794"/>
                    <a:gd name="T110" fmla="*/ 317 w 833"/>
                    <a:gd name="T111" fmla="*/ 313 h 794"/>
                    <a:gd name="T112" fmla="*/ 300 w 833"/>
                    <a:gd name="T113" fmla="*/ 346 h 794"/>
                    <a:gd name="T114" fmla="*/ 320 w 833"/>
                    <a:gd name="T115" fmla="*/ 382 h 794"/>
                    <a:gd name="T116" fmla="*/ 354 w 833"/>
                    <a:gd name="T117" fmla="*/ 31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33" h="794">
                      <a:moveTo>
                        <a:pt x="217" y="228"/>
                      </a:moveTo>
                      <a:cubicBezTo>
                        <a:pt x="217" y="199"/>
                        <a:pt x="217" y="170"/>
                        <a:pt x="216" y="141"/>
                      </a:cubicBezTo>
                      <a:cubicBezTo>
                        <a:pt x="216" y="121"/>
                        <a:pt x="225" y="107"/>
                        <a:pt x="241" y="98"/>
                      </a:cubicBezTo>
                      <a:cubicBezTo>
                        <a:pt x="290" y="69"/>
                        <a:pt x="339" y="39"/>
                        <a:pt x="389" y="10"/>
                      </a:cubicBezTo>
                      <a:cubicBezTo>
                        <a:pt x="405" y="0"/>
                        <a:pt x="422" y="1"/>
                        <a:pt x="438" y="10"/>
                      </a:cubicBezTo>
                      <a:cubicBezTo>
                        <a:pt x="487" y="39"/>
                        <a:pt x="535" y="68"/>
                        <a:pt x="584" y="97"/>
                      </a:cubicBezTo>
                      <a:cubicBezTo>
                        <a:pt x="603" y="108"/>
                        <a:pt x="610" y="124"/>
                        <a:pt x="610" y="145"/>
                      </a:cubicBezTo>
                      <a:cubicBezTo>
                        <a:pt x="609" y="201"/>
                        <a:pt x="610" y="257"/>
                        <a:pt x="609" y="313"/>
                      </a:cubicBezTo>
                      <a:cubicBezTo>
                        <a:pt x="609" y="328"/>
                        <a:pt x="613" y="338"/>
                        <a:pt x="625" y="345"/>
                      </a:cubicBezTo>
                      <a:cubicBezTo>
                        <a:pt x="630" y="348"/>
                        <a:pt x="635" y="352"/>
                        <a:pt x="640" y="356"/>
                      </a:cubicBezTo>
                      <a:cubicBezTo>
                        <a:pt x="666" y="384"/>
                        <a:pt x="692" y="393"/>
                        <a:pt x="728" y="366"/>
                      </a:cubicBezTo>
                      <a:cubicBezTo>
                        <a:pt x="755" y="345"/>
                        <a:pt x="817" y="379"/>
                        <a:pt x="823" y="415"/>
                      </a:cubicBezTo>
                      <a:cubicBezTo>
                        <a:pt x="833" y="469"/>
                        <a:pt x="818" y="496"/>
                        <a:pt x="766" y="516"/>
                      </a:cubicBezTo>
                      <a:cubicBezTo>
                        <a:pt x="760" y="519"/>
                        <a:pt x="751" y="521"/>
                        <a:pt x="745" y="519"/>
                      </a:cubicBezTo>
                      <a:cubicBezTo>
                        <a:pt x="706" y="508"/>
                        <a:pt x="668" y="488"/>
                        <a:pt x="675" y="444"/>
                      </a:cubicBezTo>
                      <a:cubicBezTo>
                        <a:pt x="679" y="416"/>
                        <a:pt x="666" y="399"/>
                        <a:pt x="644" y="384"/>
                      </a:cubicBezTo>
                      <a:cubicBezTo>
                        <a:pt x="601" y="353"/>
                        <a:pt x="602" y="352"/>
                        <a:pt x="555" y="379"/>
                      </a:cubicBezTo>
                      <a:cubicBezTo>
                        <a:pt x="516" y="402"/>
                        <a:pt x="477" y="425"/>
                        <a:pt x="438" y="448"/>
                      </a:cubicBezTo>
                      <a:cubicBezTo>
                        <a:pt x="427" y="454"/>
                        <a:pt x="423" y="460"/>
                        <a:pt x="423" y="473"/>
                      </a:cubicBezTo>
                      <a:cubicBezTo>
                        <a:pt x="424" y="507"/>
                        <a:pt x="422" y="541"/>
                        <a:pt x="424" y="575"/>
                      </a:cubicBezTo>
                      <a:cubicBezTo>
                        <a:pt x="424" y="582"/>
                        <a:pt x="432" y="589"/>
                        <a:pt x="436" y="596"/>
                      </a:cubicBezTo>
                      <a:cubicBezTo>
                        <a:pt x="437" y="597"/>
                        <a:pt x="438" y="598"/>
                        <a:pt x="440" y="598"/>
                      </a:cubicBezTo>
                      <a:cubicBezTo>
                        <a:pt x="509" y="638"/>
                        <a:pt x="500" y="635"/>
                        <a:pt x="500" y="715"/>
                      </a:cubicBezTo>
                      <a:cubicBezTo>
                        <a:pt x="500" y="716"/>
                        <a:pt x="500" y="718"/>
                        <a:pt x="500" y="719"/>
                      </a:cubicBezTo>
                      <a:cubicBezTo>
                        <a:pt x="494" y="758"/>
                        <a:pt x="420" y="794"/>
                        <a:pt x="386" y="775"/>
                      </a:cubicBezTo>
                      <a:cubicBezTo>
                        <a:pt x="385" y="774"/>
                        <a:pt x="384" y="773"/>
                        <a:pt x="383" y="772"/>
                      </a:cubicBezTo>
                      <a:cubicBezTo>
                        <a:pt x="323" y="738"/>
                        <a:pt x="315" y="722"/>
                        <a:pt x="327" y="654"/>
                      </a:cubicBezTo>
                      <a:cubicBezTo>
                        <a:pt x="330" y="641"/>
                        <a:pt x="342" y="624"/>
                        <a:pt x="353" y="619"/>
                      </a:cubicBezTo>
                      <a:cubicBezTo>
                        <a:pt x="398" y="602"/>
                        <a:pt x="409" y="572"/>
                        <a:pt x="403" y="528"/>
                      </a:cubicBezTo>
                      <a:cubicBezTo>
                        <a:pt x="400" y="505"/>
                        <a:pt x="409" y="477"/>
                        <a:pt x="399" y="459"/>
                      </a:cubicBezTo>
                      <a:cubicBezTo>
                        <a:pt x="389" y="441"/>
                        <a:pt x="362" y="433"/>
                        <a:pt x="342" y="421"/>
                      </a:cubicBezTo>
                      <a:cubicBezTo>
                        <a:pt x="307" y="400"/>
                        <a:pt x="272" y="380"/>
                        <a:pt x="238" y="359"/>
                      </a:cubicBezTo>
                      <a:cubicBezTo>
                        <a:pt x="228" y="353"/>
                        <a:pt x="221" y="353"/>
                        <a:pt x="213" y="360"/>
                      </a:cubicBezTo>
                      <a:cubicBezTo>
                        <a:pt x="207" y="365"/>
                        <a:pt x="201" y="371"/>
                        <a:pt x="194" y="375"/>
                      </a:cubicBezTo>
                      <a:cubicBezTo>
                        <a:pt x="163" y="393"/>
                        <a:pt x="144" y="416"/>
                        <a:pt x="151" y="455"/>
                      </a:cubicBezTo>
                      <a:cubicBezTo>
                        <a:pt x="154" y="473"/>
                        <a:pt x="143" y="488"/>
                        <a:pt x="127" y="498"/>
                      </a:cubicBezTo>
                      <a:cubicBezTo>
                        <a:pt x="115" y="505"/>
                        <a:pt x="103" y="513"/>
                        <a:pt x="90" y="518"/>
                      </a:cubicBezTo>
                      <a:cubicBezTo>
                        <a:pt x="61" y="528"/>
                        <a:pt x="6" y="494"/>
                        <a:pt x="3" y="464"/>
                      </a:cubicBezTo>
                      <a:cubicBezTo>
                        <a:pt x="1" y="445"/>
                        <a:pt x="0" y="424"/>
                        <a:pt x="6" y="406"/>
                      </a:cubicBezTo>
                      <a:cubicBezTo>
                        <a:pt x="18" y="369"/>
                        <a:pt x="75" y="351"/>
                        <a:pt x="109" y="370"/>
                      </a:cubicBezTo>
                      <a:cubicBezTo>
                        <a:pt x="143" y="389"/>
                        <a:pt x="141" y="387"/>
                        <a:pt x="175" y="366"/>
                      </a:cubicBezTo>
                      <a:cubicBezTo>
                        <a:pt x="209" y="344"/>
                        <a:pt x="223" y="318"/>
                        <a:pt x="217" y="278"/>
                      </a:cubicBezTo>
                      <a:cubicBezTo>
                        <a:pt x="214" y="262"/>
                        <a:pt x="216" y="245"/>
                        <a:pt x="216" y="228"/>
                      </a:cubicBezTo>
                      <a:cubicBezTo>
                        <a:pt x="216" y="228"/>
                        <a:pt x="216" y="228"/>
                        <a:pt x="217" y="228"/>
                      </a:cubicBezTo>
                      <a:close/>
                      <a:moveTo>
                        <a:pt x="412" y="295"/>
                      </a:moveTo>
                      <a:cubicBezTo>
                        <a:pt x="451" y="295"/>
                        <a:pt x="482" y="265"/>
                        <a:pt x="482" y="228"/>
                      </a:cubicBezTo>
                      <a:cubicBezTo>
                        <a:pt x="481" y="191"/>
                        <a:pt x="451" y="161"/>
                        <a:pt x="414" y="161"/>
                      </a:cubicBezTo>
                      <a:cubicBezTo>
                        <a:pt x="376" y="160"/>
                        <a:pt x="344" y="191"/>
                        <a:pt x="344" y="229"/>
                      </a:cubicBezTo>
                      <a:cubicBezTo>
                        <a:pt x="344" y="265"/>
                        <a:pt x="374" y="295"/>
                        <a:pt x="412" y="295"/>
                      </a:cubicBezTo>
                      <a:close/>
                      <a:moveTo>
                        <a:pt x="472" y="310"/>
                      </a:moveTo>
                      <a:cubicBezTo>
                        <a:pt x="484" y="335"/>
                        <a:pt x="495" y="358"/>
                        <a:pt x="506" y="382"/>
                      </a:cubicBezTo>
                      <a:cubicBezTo>
                        <a:pt x="530" y="376"/>
                        <a:pt x="535" y="369"/>
                        <a:pt x="526" y="346"/>
                      </a:cubicBezTo>
                      <a:cubicBezTo>
                        <a:pt x="522" y="334"/>
                        <a:pt x="516" y="323"/>
                        <a:pt x="509" y="313"/>
                      </a:cubicBezTo>
                      <a:cubicBezTo>
                        <a:pt x="493" y="290"/>
                        <a:pt x="488" y="290"/>
                        <a:pt x="472" y="310"/>
                      </a:cubicBezTo>
                      <a:close/>
                      <a:moveTo>
                        <a:pt x="354" y="310"/>
                      </a:moveTo>
                      <a:cubicBezTo>
                        <a:pt x="337" y="290"/>
                        <a:pt x="333" y="290"/>
                        <a:pt x="317" y="313"/>
                      </a:cubicBezTo>
                      <a:cubicBezTo>
                        <a:pt x="310" y="323"/>
                        <a:pt x="304" y="335"/>
                        <a:pt x="300" y="346"/>
                      </a:cubicBezTo>
                      <a:cubicBezTo>
                        <a:pt x="291" y="370"/>
                        <a:pt x="296" y="377"/>
                        <a:pt x="320" y="382"/>
                      </a:cubicBezTo>
                      <a:cubicBezTo>
                        <a:pt x="331" y="358"/>
                        <a:pt x="342" y="335"/>
                        <a:pt x="354" y="31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102" name="Freeform 138">
                  <a:extLst>
                    <a:ext uri="{FF2B5EF4-FFF2-40B4-BE49-F238E27FC236}">
                      <a16:creationId xmlns:a16="http://schemas.microsoft.com/office/drawing/2014/main" id="{2DFEF8FC-B777-CBD7-6B11-B0C7799940B9}"/>
                    </a:ext>
                  </a:extLst>
                </p:cNvPr>
                <p:cNvSpPr>
                  <a:spLocks/>
                </p:cNvSpPr>
                <p:nvPr/>
              </p:nvSpPr>
              <p:spPr bwMode="auto">
                <a:xfrm>
                  <a:off x="1888" y="3794"/>
                  <a:ext cx="20" cy="20"/>
                </a:xfrm>
                <a:custGeom>
                  <a:avLst/>
                  <a:gdLst>
                    <a:gd name="T0" fmla="*/ 37 w 72"/>
                    <a:gd name="T1" fmla="*/ 1 h 71"/>
                    <a:gd name="T2" fmla="*/ 72 w 72"/>
                    <a:gd name="T3" fmla="*/ 36 h 71"/>
                    <a:gd name="T4" fmla="*/ 36 w 72"/>
                    <a:gd name="T5" fmla="*/ 71 h 71"/>
                    <a:gd name="T6" fmla="*/ 0 w 72"/>
                    <a:gd name="T7" fmla="*/ 34 h 71"/>
                    <a:gd name="T8" fmla="*/ 37 w 72"/>
                    <a:gd name="T9" fmla="*/ 1 h 71"/>
                  </a:gdLst>
                  <a:ahLst/>
                  <a:cxnLst>
                    <a:cxn ang="0">
                      <a:pos x="T0" y="T1"/>
                    </a:cxn>
                    <a:cxn ang="0">
                      <a:pos x="T2" y="T3"/>
                    </a:cxn>
                    <a:cxn ang="0">
                      <a:pos x="T4" y="T5"/>
                    </a:cxn>
                    <a:cxn ang="0">
                      <a:pos x="T6" y="T7"/>
                    </a:cxn>
                    <a:cxn ang="0">
                      <a:pos x="T8" y="T9"/>
                    </a:cxn>
                  </a:cxnLst>
                  <a:rect l="0" t="0" r="r" b="b"/>
                  <a:pathLst>
                    <a:path w="72" h="71">
                      <a:moveTo>
                        <a:pt x="37" y="1"/>
                      </a:moveTo>
                      <a:cubicBezTo>
                        <a:pt x="58" y="1"/>
                        <a:pt x="72" y="15"/>
                        <a:pt x="72" y="36"/>
                      </a:cubicBezTo>
                      <a:cubicBezTo>
                        <a:pt x="72" y="55"/>
                        <a:pt x="56" y="71"/>
                        <a:pt x="36" y="71"/>
                      </a:cubicBezTo>
                      <a:cubicBezTo>
                        <a:pt x="15" y="71"/>
                        <a:pt x="0" y="55"/>
                        <a:pt x="0" y="34"/>
                      </a:cubicBezTo>
                      <a:cubicBezTo>
                        <a:pt x="1" y="13"/>
                        <a:pt x="15" y="0"/>
                        <a:pt x="37" y="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grpSp>
          <p:nvGrpSpPr>
            <p:cNvPr id="83" name="Group 82">
              <a:extLst>
                <a:ext uri="{FF2B5EF4-FFF2-40B4-BE49-F238E27FC236}">
                  <a16:creationId xmlns:a16="http://schemas.microsoft.com/office/drawing/2014/main" id="{FB809E7F-5B75-7B21-80CB-76A093FCA457}"/>
                </a:ext>
              </a:extLst>
            </p:cNvPr>
            <p:cNvGrpSpPr/>
            <p:nvPr/>
          </p:nvGrpSpPr>
          <p:grpSpPr>
            <a:xfrm>
              <a:off x="4931285" y="5225169"/>
              <a:ext cx="1557518" cy="467876"/>
              <a:chOff x="3768972" y="5573915"/>
              <a:chExt cx="1557518" cy="467876"/>
            </a:xfrm>
          </p:grpSpPr>
          <p:sp>
            <p:nvSpPr>
              <p:cNvPr id="95" name="Oval 94">
                <a:extLst>
                  <a:ext uri="{FF2B5EF4-FFF2-40B4-BE49-F238E27FC236}">
                    <a16:creationId xmlns:a16="http://schemas.microsoft.com/office/drawing/2014/main" id="{855B5805-C57E-F50A-3BAE-F64F3330033F}"/>
                  </a:ext>
                </a:extLst>
              </p:cNvPr>
              <p:cNvSpPr/>
              <p:nvPr/>
            </p:nvSpPr>
            <p:spPr>
              <a:xfrm>
                <a:off x="3768972" y="5573915"/>
                <a:ext cx="467876" cy="467876"/>
              </a:xfrm>
              <a:prstGeom prst="ellips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96" name="Rectangle: Rounded Corners 95">
                <a:extLst>
                  <a:ext uri="{FF2B5EF4-FFF2-40B4-BE49-F238E27FC236}">
                    <a16:creationId xmlns:a16="http://schemas.microsoft.com/office/drawing/2014/main" id="{C0C1C788-B60C-8B15-6BAB-EA1D994777F9}"/>
                  </a:ext>
                </a:extLst>
              </p:cNvPr>
              <p:cNvSpPr/>
              <p:nvPr/>
            </p:nvSpPr>
            <p:spPr>
              <a:xfrm>
                <a:off x="4273422" y="5694622"/>
                <a:ext cx="1053068"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Customer Apps</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sp>
            <p:nvSpPr>
              <p:cNvPr id="97" name="Freeform 27">
                <a:extLst>
                  <a:ext uri="{FF2B5EF4-FFF2-40B4-BE49-F238E27FC236}">
                    <a16:creationId xmlns:a16="http://schemas.microsoft.com/office/drawing/2014/main" id="{EB5B3A22-7AC2-122E-4EF1-5F91F110B9B6}"/>
                  </a:ext>
                </a:extLst>
              </p:cNvPr>
              <p:cNvSpPr>
                <a:spLocks noEditPoints="1"/>
              </p:cNvSpPr>
              <p:nvPr/>
            </p:nvSpPr>
            <p:spPr bwMode="auto">
              <a:xfrm>
                <a:off x="3851198" y="5642932"/>
                <a:ext cx="309027" cy="338525"/>
              </a:xfrm>
              <a:custGeom>
                <a:avLst/>
                <a:gdLst>
                  <a:gd name="T0" fmla="*/ 290 w 449"/>
                  <a:gd name="T1" fmla="*/ 132 h 492"/>
                  <a:gd name="T2" fmla="*/ 399 w 449"/>
                  <a:gd name="T3" fmla="*/ 209 h 492"/>
                  <a:gd name="T4" fmla="*/ 362 w 449"/>
                  <a:gd name="T5" fmla="*/ 276 h 492"/>
                  <a:gd name="T6" fmla="*/ 304 w 449"/>
                  <a:gd name="T7" fmla="*/ 326 h 492"/>
                  <a:gd name="T8" fmla="*/ 293 w 449"/>
                  <a:gd name="T9" fmla="*/ 341 h 492"/>
                  <a:gd name="T10" fmla="*/ 414 w 449"/>
                  <a:gd name="T11" fmla="*/ 333 h 492"/>
                  <a:gd name="T12" fmla="*/ 344 w 449"/>
                  <a:gd name="T13" fmla="*/ 378 h 492"/>
                  <a:gd name="T14" fmla="*/ 224 w 449"/>
                  <a:gd name="T15" fmla="*/ 492 h 492"/>
                  <a:gd name="T16" fmla="*/ 138 w 449"/>
                  <a:gd name="T17" fmla="*/ 368 h 492"/>
                  <a:gd name="T18" fmla="*/ 155 w 449"/>
                  <a:gd name="T19" fmla="*/ 335 h 492"/>
                  <a:gd name="T20" fmla="*/ 113 w 449"/>
                  <a:gd name="T21" fmla="*/ 262 h 492"/>
                  <a:gd name="T22" fmla="*/ 28 w 449"/>
                  <a:gd name="T23" fmla="*/ 360 h 492"/>
                  <a:gd name="T24" fmla="*/ 59 w 449"/>
                  <a:gd name="T25" fmla="*/ 386 h 492"/>
                  <a:gd name="T26" fmla="*/ 93 w 449"/>
                  <a:gd name="T27" fmla="*/ 246 h 492"/>
                  <a:gd name="T28" fmla="*/ 105 w 449"/>
                  <a:gd name="T29" fmla="*/ 114 h 492"/>
                  <a:gd name="T30" fmla="*/ 181 w 449"/>
                  <a:gd name="T31" fmla="*/ 115 h 492"/>
                  <a:gd name="T32" fmla="*/ 182 w 449"/>
                  <a:gd name="T33" fmla="*/ 142 h 492"/>
                  <a:gd name="T34" fmla="*/ 272 w 449"/>
                  <a:gd name="T35" fmla="*/ 140 h 492"/>
                  <a:gd name="T36" fmla="*/ 204 w 449"/>
                  <a:gd name="T37" fmla="*/ 40 h 492"/>
                  <a:gd name="T38" fmla="*/ 224 w 449"/>
                  <a:gd name="T39" fmla="*/ 0 h 492"/>
                  <a:gd name="T40" fmla="*/ 224 w 449"/>
                  <a:gd name="T41" fmla="*/ 229 h 492"/>
                  <a:gd name="T42" fmla="*/ 224 w 449"/>
                  <a:gd name="T43" fmla="*/ 181 h 492"/>
                  <a:gd name="T44" fmla="*/ 276 w 449"/>
                  <a:gd name="T45" fmla="*/ 288 h 492"/>
                  <a:gd name="T46" fmla="*/ 173 w 449"/>
                  <a:gd name="T47" fmla="*/ 271 h 492"/>
                  <a:gd name="T48" fmla="*/ 173 w 449"/>
                  <a:gd name="T49" fmla="*/ 235 h 492"/>
                  <a:gd name="T50" fmla="*/ 173 w 449"/>
                  <a:gd name="T51" fmla="*/ 217 h 492"/>
                  <a:gd name="T52" fmla="*/ 173 w 449"/>
                  <a:gd name="T53" fmla="*/ 262 h 492"/>
                  <a:gd name="T54" fmla="*/ 173 w 449"/>
                  <a:gd name="T55" fmla="*/ 243 h 492"/>
                  <a:gd name="T56" fmla="*/ 321 w 449"/>
                  <a:gd name="T57" fmla="*/ 246 h 492"/>
                  <a:gd name="T58" fmla="*/ 224 w 449"/>
                  <a:gd name="T59" fmla="*/ 150 h 492"/>
                  <a:gd name="T60" fmla="*/ 336 w 449"/>
                  <a:gd name="T61" fmla="*/ 231 h 492"/>
                  <a:gd name="T62" fmla="*/ 421 w 449"/>
                  <a:gd name="T63" fmla="*/ 133 h 492"/>
                  <a:gd name="T64" fmla="*/ 294 w 449"/>
                  <a:gd name="T65" fmla="*/ 158 h 492"/>
                  <a:gd name="T66" fmla="*/ 183 w 449"/>
                  <a:gd name="T67" fmla="*/ 350 h 492"/>
                  <a:gd name="T68" fmla="*/ 225 w 449"/>
                  <a:gd name="T69" fmla="*/ 473 h 492"/>
                  <a:gd name="T70" fmla="*/ 272 w 449"/>
                  <a:gd name="T71" fmla="*/ 353 h 492"/>
                  <a:gd name="T72" fmla="*/ 145 w 449"/>
                  <a:gd name="T73" fmla="*/ 167 h 492"/>
                  <a:gd name="T74" fmla="*/ 156 w 449"/>
                  <a:gd name="T75" fmla="*/ 152 h 492"/>
                  <a:gd name="T76" fmla="*/ 64 w 449"/>
                  <a:gd name="T77" fmla="*/ 195 h 492"/>
                  <a:gd name="T78" fmla="*/ 113 w 449"/>
                  <a:gd name="T79" fmla="*/ 231 h 492"/>
                  <a:gd name="T80" fmla="*/ 395 w 449"/>
                  <a:gd name="T81" fmla="*/ 321 h 492"/>
                  <a:gd name="T82" fmla="*/ 395 w 449"/>
                  <a:gd name="T83" fmla="*/ 267 h 492"/>
                  <a:gd name="T84" fmla="*/ 97 w 449"/>
                  <a:gd name="T85" fmla="*/ 397 h 492"/>
                  <a:gd name="T86" fmla="*/ 97 w 449"/>
                  <a:gd name="T87" fmla="*/ 344 h 492"/>
                  <a:gd name="T88" fmla="*/ 181 w 449"/>
                  <a:gd name="T89" fmla="*/ 101 h 492"/>
                  <a:gd name="T90" fmla="*/ 181 w 449"/>
                  <a:gd name="T91" fmla="*/ 48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49" h="492">
                    <a:moveTo>
                      <a:pt x="224" y="0"/>
                    </a:moveTo>
                    <a:cubicBezTo>
                      <a:pt x="247" y="0"/>
                      <a:pt x="266" y="30"/>
                      <a:pt x="279" y="77"/>
                    </a:cubicBezTo>
                    <a:cubicBezTo>
                      <a:pt x="284" y="93"/>
                      <a:pt x="287" y="112"/>
                      <a:pt x="290" y="132"/>
                    </a:cubicBezTo>
                    <a:cubicBezTo>
                      <a:pt x="310" y="125"/>
                      <a:pt x="328" y="119"/>
                      <a:pt x="344" y="114"/>
                    </a:cubicBezTo>
                    <a:cubicBezTo>
                      <a:pt x="391" y="102"/>
                      <a:pt x="426" y="104"/>
                      <a:pt x="437" y="123"/>
                    </a:cubicBezTo>
                    <a:cubicBezTo>
                      <a:pt x="449" y="143"/>
                      <a:pt x="433" y="174"/>
                      <a:pt x="399" y="209"/>
                    </a:cubicBezTo>
                    <a:cubicBezTo>
                      <a:pt x="387" y="221"/>
                      <a:pt x="372" y="233"/>
                      <a:pt x="356" y="246"/>
                    </a:cubicBezTo>
                    <a:cubicBezTo>
                      <a:pt x="363" y="251"/>
                      <a:pt x="369" y="256"/>
                      <a:pt x="375" y="262"/>
                    </a:cubicBezTo>
                    <a:cubicBezTo>
                      <a:pt x="369" y="265"/>
                      <a:pt x="365" y="270"/>
                      <a:pt x="362" y="276"/>
                    </a:cubicBezTo>
                    <a:cubicBezTo>
                      <a:pt x="355" y="270"/>
                      <a:pt x="348" y="264"/>
                      <a:pt x="340" y="258"/>
                    </a:cubicBezTo>
                    <a:cubicBezTo>
                      <a:pt x="339" y="259"/>
                      <a:pt x="337" y="261"/>
                      <a:pt x="336" y="262"/>
                    </a:cubicBezTo>
                    <a:cubicBezTo>
                      <a:pt x="332" y="287"/>
                      <a:pt x="321" y="309"/>
                      <a:pt x="304" y="326"/>
                    </a:cubicBezTo>
                    <a:cubicBezTo>
                      <a:pt x="303" y="326"/>
                      <a:pt x="303" y="326"/>
                      <a:pt x="303" y="326"/>
                    </a:cubicBezTo>
                    <a:cubicBezTo>
                      <a:pt x="300" y="329"/>
                      <a:pt x="297" y="332"/>
                      <a:pt x="294" y="335"/>
                    </a:cubicBezTo>
                    <a:cubicBezTo>
                      <a:pt x="293" y="337"/>
                      <a:pt x="293" y="339"/>
                      <a:pt x="293" y="341"/>
                    </a:cubicBezTo>
                    <a:cubicBezTo>
                      <a:pt x="313" y="349"/>
                      <a:pt x="332" y="355"/>
                      <a:pt x="349" y="360"/>
                    </a:cubicBezTo>
                    <a:cubicBezTo>
                      <a:pt x="387" y="370"/>
                      <a:pt x="414" y="371"/>
                      <a:pt x="421" y="359"/>
                    </a:cubicBezTo>
                    <a:cubicBezTo>
                      <a:pt x="424" y="354"/>
                      <a:pt x="422" y="344"/>
                      <a:pt x="414" y="333"/>
                    </a:cubicBezTo>
                    <a:cubicBezTo>
                      <a:pt x="420" y="330"/>
                      <a:pt x="425" y="326"/>
                      <a:pt x="429" y="322"/>
                    </a:cubicBezTo>
                    <a:cubicBezTo>
                      <a:pt x="441" y="341"/>
                      <a:pt x="444" y="357"/>
                      <a:pt x="437" y="369"/>
                    </a:cubicBezTo>
                    <a:cubicBezTo>
                      <a:pt x="426" y="389"/>
                      <a:pt x="391" y="391"/>
                      <a:pt x="344" y="378"/>
                    </a:cubicBezTo>
                    <a:cubicBezTo>
                      <a:pt x="328" y="374"/>
                      <a:pt x="310" y="368"/>
                      <a:pt x="290" y="360"/>
                    </a:cubicBezTo>
                    <a:cubicBezTo>
                      <a:pt x="287" y="381"/>
                      <a:pt x="284" y="399"/>
                      <a:pt x="279" y="416"/>
                    </a:cubicBezTo>
                    <a:cubicBezTo>
                      <a:pt x="266" y="463"/>
                      <a:pt x="247" y="492"/>
                      <a:pt x="224" y="492"/>
                    </a:cubicBezTo>
                    <a:cubicBezTo>
                      <a:pt x="202" y="492"/>
                      <a:pt x="183" y="463"/>
                      <a:pt x="170" y="416"/>
                    </a:cubicBezTo>
                    <a:cubicBezTo>
                      <a:pt x="165" y="399"/>
                      <a:pt x="162" y="381"/>
                      <a:pt x="159" y="360"/>
                    </a:cubicBezTo>
                    <a:cubicBezTo>
                      <a:pt x="152" y="363"/>
                      <a:pt x="145" y="366"/>
                      <a:pt x="138" y="368"/>
                    </a:cubicBezTo>
                    <a:cubicBezTo>
                      <a:pt x="138" y="361"/>
                      <a:pt x="136" y="355"/>
                      <a:pt x="132" y="350"/>
                    </a:cubicBezTo>
                    <a:cubicBezTo>
                      <a:pt x="140" y="347"/>
                      <a:pt x="148" y="344"/>
                      <a:pt x="156" y="341"/>
                    </a:cubicBezTo>
                    <a:cubicBezTo>
                      <a:pt x="156" y="339"/>
                      <a:pt x="156" y="337"/>
                      <a:pt x="155" y="335"/>
                    </a:cubicBezTo>
                    <a:cubicBezTo>
                      <a:pt x="152" y="332"/>
                      <a:pt x="148" y="329"/>
                      <a:pt x="145" y="326"/>
                    </a:cubicBezTo>
                    <a:cubicBezTo>
                      <a:pt x="145" y="326"/>
                      <a:pt x="145" y="326"/>
                      <a:pt x="145" y="326"/>
                    </a:cubicBezTo>
                    <a:cubicBezTo>
                      <a:pt x="128" y="309"/>
                      <a:pt x="117" y="287"/>
                      <a:pt x="113" y="262"/>
                    </a:cubicBezTo>
                    <a:cubicBezTo>
                      <a:pt x="112" y="261"/>
                      <a:pt x="110" y="259"/>
                      <a:pt x="109" y="258"/>
                    </a:cubicBezTo>
                    <a:cubicBezTo>
                      <a:pt x="91" y="272"/>
                      <a:pt x="76" y="285"/>
                      <a:pt x="64" y="297"/>
                    </a:cubicBezTo>
                    <a:cubicBezTo>
                      <a:pt x="36" y="326"/>
                      <a:pt x="22" y="348"/>
                      <a:pt x="28" y="360"/>
                    </a:cubicBezTo>
                    <a:cubicBezTo>
                      <a:pt x="32" y="366"/>
                      <a:pt x="42" y="368"/>
                      <a:pt x="56" y="367"/>
                    </a:cubicBezTo>
                    <a:cubicBezTo>
                      <a:pt x="56" y="369"/>
                      <a:pt x="56" y="370"/>
                      <a:pt x="56" y="371"/>
                    </a:cubicBezTo>
                    <a:cubicBezTo>
                      <a:pt x="56" y="376"/>
                      <a:pt x="57" y="381"/>
                      <a:pt x="59" y="386"/>
                    </a:cubicBezTo>
                    <a:cubicBezTo>
                      <a:pt x="36" y="387"/>
                      <a:pt x="19" y="382"/>
                      <a:pt x="12" y="369"/>
                    </a:cubicBezTo>
                    <a:cubicBezTo>
                      <a:pt x="0" y="350"/>
                      <a:pt x="16" y="318"/>
                      <a:pt x="50" y="284"/>
                    </a:cubicBezTo>
                    <a:cubicBezTo>
                      <a:pt x="62" y="272"/>
                      <a:pt x="77" y="259"/>
                      <a:pt x="93" y="246"/>
                    </a:cubicBezTo>
                    <a:cubicBezTo>
                      <a:pt x="77" y="233"/>
                      <a:pt x="62" y="221"/>
                      <a:pt x="50" y="209"/>
                    </a:cubicBezTo>
                    <a:cubicBezTo>
                      <a:pt x="16" y="174"/>
                      <a:pt x="0" y="143"/>
                      <a:pt x="12" y="123"/>
                    </a:cubicBezTo>
                    <a:cubicBezTo>
                      <a:pt x="23" y="104"/>
                      <a:pt x="58" y="102"/>
                      <a:pt x="105" y="114"/>
                    </a:cubicBezTo>
                    <a:cubicBezTo>
                      <a:pt x="121" y="119"/>
                      <a:pt x="139" y="125"/>
                      <a:pt x="159" y="132"/>
                    </a:cubicBezTo>
                    <a:cubicBezTo>
                      <a:pt x="160" y="125"/>
                      <a:pt x="161" y="118"/>
                      <a:pt x="162" y="111"/>
                    </a:cubicBezTo>
                    <a:cubicBezTo>
                      <a:pt x="168" y="114"/>
                      <a:pt x="174" y="115"/>
                      <a:pt x="181" y="115"/>
                    </a:cubicBezTo>
                    <a:cubicBezTo>
                      <a:pt x="181" y="115"/>
                      <a:pt x="181" y="115"/>
                      <a:pt x="181" y="115"/>
                    </a:cubicBezTo>
                    <a:cubicBezTo>
                      <a:pt x="180" y="123"/>
                      <a:pt x="178" y="131"/>
                      <a:pt x="177" y="140"/>
                    </a:cubicBezTo>
                    <a:cubicBezTo>
                      <a:pt x="179" y="141"/>
                      <a:pt x="181" y="141"/>
                      <a:pt x="182" y="142"/>
                    </a:cubicBezTo>
                    <a:cubicBezTo>
                      <a:pt x="195" y="137"/>
                      <a:pt x="210" y="134"/>
                      <a:pt x="224" y="134"/>
                    </a:cubicBezTo>
                    <a:cubicBezTo>
                      <a:pt x="239" y="134"/>
                      <a:pt x="254" y="137"/>
                      <a:pt x="267" y="142"/>
                    </a:cubicBezTo>
                    <a:cubicBezTo>
                      <a:pt x="268" y="141"/>
                      <a:pt x="270" y="141"/>
                      <a:pt x="272" y="140"/>
                    </a:cubicBezTo>
                    <a:cubicBezTo>
                      <a:pt x="269" y="118"/>
                      <a:pt x="265" y="99"/>
                      <a:pt x="260" y="82"/>
                    </a:cubicBezTo>
                    <a:cubicBezTo>
                      <a:pt x="250" y="44"/>
                      <a:pt x="237" y="20"/>
                      <a:pt x="224" y="20"/>
                    </a:cubicBezTo>
                    <a:cubicBezTo>
                      <a:pt x="217" y="20"/>
                      <a:pt x="210" y="27"/>
                      <a:pt x="204" y="40"/>
                    </a:cubicBezTo>
                    <a:cubicBezTo>
                      <a:pt x="198" y="37"/>
                      <a:pt x="192" y="34"/>
                      <a:pt x="186" y="34"/>
                    </a:cubicBezTo>
                    <a:cubicBezTo>
                      <a:pt x="197" y="12"/>
                      <a:pt x="210" y="0"/>
                      <a:pt x="224" y="0"/>
                    </a:cubicBezTo>
                    <a:cubicBezTo>
                      <a:pt x="224" y="0"/>
                      <a:pt x="224" y="0"/>
                      <a:pt x="224" y="0"/>
                    </a:cubicBezTo>
                    <a:close/>
                    <a:moveTo>
                      <a:pt x="224" y="181"/>
                    </a:moveTo>
                    <a:cubicBezTo>
                      <a:pt x="253" y="181"/>
                      <a:pt x="276" y="192"/>
                      <a:pt x="276" y="205"/>
                    </a:cubicBezTo>
                    <a:cubicBezTo>
                      <a:pt x="276" y="218"/>
                      <a:pt x="253" y="229"/>
                      <a:pt x="224" y="229"/>
                    </a:cubicBezTo>
                    <a:cubicBezTo>
                      <a:pt x="196" y="229"/>
                      <a:pt x="173" y="218"/>
                      <a:pt x="173" y="205"/>
                    </a:cubicBezTo>
                    <a:cubicBezTo>
                      <a:pt x="173" y="192"/>
                      <a:pt x="196" y="181"/>
                      <a:pt x="224" y="181"/>
                    </a:cubicBezTo>
                    <a:cubicBezTo>
                      <a:pt x="224" y="181"/>
                      <a:pt x="224" y="181"/>
                      <a:pt x="224" y="181"/>
                    </a:cubicBezTo>
                    <a:close/>
                    <a:moveTo>
                      <a:pt x="173" y="271"/>
                    </a:moveTo>
                    <a:cubicBezTo>
                      <a:pt x="173" y="289"/>
                      <a:pt x="173" y="289"/>
                      <a:pt x="173" y="289"/>
                    </a:cubicBezTo>
                    <a:cubicBezTo>
                      <a:pt x="182" y="322"/>
                      <a:pt x="272" y="315"/>
                      <a:pt x="276" y="288"/>
                    </a:cubicBezTo>
                    <a:cubicBezTo>
                      <a:pt x="276" y="269"/>
                      <a:pt x="276" y="269"/>
                      <a:pt x="276" y="269"/>
                    </a:cubicBezTo>
                    <a:cubicBezTo>
                      <a:pt x="271" y="300"/>
                      <a:pt x="181" y="302"/>
                      <a:pt x="173" y="271"/>
                    </a:cubicBezTo>
                    <a:cubicBezTo>
                      <a:pt x="173" y="271"/>
                      <a:pt x="173" y="271"/>
                      <a:pt x="173" y="271"/>
                    </a:cubicBezTo>
                    <a:cubicBezTo>
                      <a:pt x="173" y="271"/>
                      <a:pt x="173" y="271"/>
                      <a:pt x="173" y="271"/>
                    </a:cubicBezTo>
                    <a:close/>
                    <a:moveTo>
                      <a:pt x="173" y="217"/>
                    </a:moveTo>
                    <a:cubicBezTo>
                      <a:pt x="173" y="235"/>
                      <a:pt x="173" y="235"/>
                      <a:pt x="173" y="235"/>
                    </a:cubicBezTo>
                    <a:cubicBezTo>
                      <a:pt x="182" y="266"/>
                      <a:pt x="273" y="262"/>
                      <a:pt x="276" y="235"/>
                    </a:cubicBezTo>
                    <a:cubicBezTo>
                      <a:pt x="276" y="217"/>
                      <a:pt x="276" y="217"/>
                      <a:pt x="276" y="217"/>
                    </a:cubicBezTo>
                    <a:cubicBezTo>
                      <a:pt x="271" y="247"/>
                      <a:pt x="180" y="247"/>
                      <a:pt x="173" y="217"/>
                    </a:cubicBezTo>
                    <a:cubicBezTo>
                      <a:pt x="173" y="217"/>
                      <a:pt x="173" y="217"/>
                      <a:pt x="173" y="217"/>
                    </a:cubicBezTo>
                    <a:close/>
                    <a:moveTo>
                      <a:pt x="173" y="243"/>
                    </a:moveTo>
                    <a:cubicBezTo>
                      <a:pt x="173" y="262"/>
                      <a:pt x="173" y="262"/>
                      <a:pt x="173" y="262"/>
                    </a:cubicBezTo>
                    <a:cubicBezTo>
                      <a:pt x="182" y="294"/>
                      <a:pt x="273" y="289"/>
                      <a:pt x="276" y="262"/>
                    </a:cubicBezTo>
                    <a:cubicBezTo>
                      <a:pt x="276" y="243"/>
                      <a:pt x="276" y="243"/>
                      <a:pt x="276" y="243"/>
                    </a:cubicBezTo>
                    <a:cubicBezTo>
                      <a:pt x="271" y="274"/>
                      <a:pt x="180" y="274"/>
                      <a:pt x="173" y="243"/>
                    </a:cubicBezTo>
                    <a:cubicBezTo>
                      <a:pt x="173" y="243"/>
                      <a:pt x="173" y="243"/>
                      <a:pt x="173" y="243"/>
                    </a:cubicBezTo>
                    <a:close/>
                    <a:moveTo>
                      <a:pt x="224" y="150"/>
                    </a:moveTo>
                    <a:cubicBezTo>
                      <a:pt x="278" y="150"/>
                      <a:pt x="321" y="193"/>
                      <a:pt x="321" y="246"/>
                    </a:cubicBezTo>
                    <a:cubicBezTo>
                      <a:pt x="321" y="299"/>
                      <a:pt x="278" y="342"/>
                      <a:pt x="224" y="342"/>
                    </a:cubicBezTo>
                    <a:cubicBezTo>
                      <a:pt x="171" y="342"/>
                      <a:pt x="128" y="299"/>
                      <a:pt x="128" y="246"/>
                    </a:cubicBezTo>
                    <a:cubicBezTo>
                      <a:pt x="128" y="193"/>
                      <a:pt x="171" y="150"/>
                      <a:pt x="224" y="150"/>
                    </a:cubicBezTo>
                    <a:close/>
                    <a:moveTo>
                      <a:pt x="294" y="158"/>
                    </a:moveTo>
                    <a:cubicBezTo>
                      <a:pt x="297" y="161"/>
                      <a:pt x="301" y="164"/>
                      <a:pt x="304" y="167"/>
                    </a:cubicBezTo>
                    <a:cubicBezTo>
                      <a:pt x="321" y="184"/>
                      <a:pt x="332" y="206"/>
                      <a:pt x="336" y="231"/>
                    </a:cubicBezTo>
                    <a:cubicBezTo>
                      <a:pt x="337" y="232"/>
                      <a:pt x="339" y="233"/>
                      <a:pt x="340" y="234"/>
                    </a:cubicBezTo>
                    <a:cubicBezTo>
                      <a:pt x="358" y="221"/>
                      <a:pt x="373" y="208"/>
                      <a:pt x="385" y="195"/>
                    </a:cubicBezTo>
                    <a:cubicBezTo>
                      <a:pt x="413" y="167"/>
                      <a:pt x="427" y="144"/>
                      <a:pt x="421" y="133"/>
                    </a:cubicBezTo>
                    <a:cubicBezTo>
                      <a:pt x="414" y="122"/>
                      <a:pt x="387" y="123"/>
                      <a:pt x="349" y="133"/>
                    </a:cubicBezTo>
                    <a:cubicBezTo>
                      <a:pt x="332" y="137"/>
                      <a:pt x="313" y="144"/>
                      <a:pt x="293" y="152"/>
                    </a:cubicBezTo>
                    <a:cubicBezTo>
                      <a:pt x="293" y="154"/>
                      <a:pt x="293" y="156"/>
                      <a:pt x="294" y="158"/>
                    </a:cubicBezTo>
                    <a:close/>
                    <a:moveTo>
                      <a:pt x="266" y="350"/>
                    </a:moveTo>
                    <a:cubicBezTo>
                      <a:pt x="253" y="356"/>
                      <a:pt x="239" y="358"/>
                      <a:pt x="225" y="358"/>
                    </a:cubicBezTo>
                    <a:cubicBezTo>
                      <a:pt x="210" y="358"/>
                      <a:pt x="196" y="356"/>
                      <a:pt x="183" y="350"/>
                    </a:cubicBezTo>
                    <a:cubicBezTo>
                      <a:pt x="181" y="351"/>
                      <a:pt x="179" y="352"/>
                      <a:pt x="177" y="353"/>
                    </a:cubicBezTo>
                    <a:cubicBezTo>
                      <a:pt x="180" y="374"/>
                      <a:pt x="184" y="394"/>
                      <a:pt x="189" y="411"/>
                    </a:cubicBezTo>
                    <a:cubicBezTo>
                      <a:pt x="199" y="449"/>
                      <a:pt x="212" y="473"/>
                      <a:pt x="225" y="473"/>
                    </a:cubicBezTo>
                    <a:cubicBezTo>
                      <a:pt x="237" y="473"/>
                      <a:pt x="250" y="449"/>
                      <a:pt x="260" y="411"/>
                    </a:cubicBezTo>
                    <a:cubicBezTo>
                      <a:pt x="265" y="394"/>
                      <a:pt x="269" y="374"/>
                      <a:pt x="272" y="353"/>
                    </a:cubicBezTo>
                    <a:cubicBezTo>
                      <a:pt x="272" y="353"/>
                      <a:pt x="272" y="353"/>
                      <a:pt x="272" y="353"/>
                    </a:cubicBezTo>
                    <a:cubicBezTo>
                      <a:pt x="270" y="352"/>
                      <a:pt x="268" y="351"/>
                      <a:pt x="266" y="350"/>
                    </a:cubicBezTo>
                    <a:close/>
                    <a:moveTo>
                      <a:pt x="113" y="231"/>
                    </a:moveTo>
                    <a:cubicBezTo>
                      <a:pt x="117" y="206"/>
                      <a:pt x="128" y="184"/>
                      <a:pt x="145" y="167"/>
                    </a:cubicBezTo>
                    <a:cubicBezTo>
                      <a:pt x="146" y="166"/>
                      <a:pt x="146" y="166"/>
                      <a:pt x="146" y="166"/>
                    </a:cubicBezTo>
                    <a:cubicBezTo>
                      <a:pt x="149" y="163"/>
                      <a:pt x="152" y="160"/>
                      <a:pt x="155" y="158"/>
                    </a:cubicBezTo>
                    <a:cubicBezTo>
                      <a:pt x="156" y="156"/>
                      <a:pt x="156" y="154"/>
                      <a:pt x="156" y="152"/>
                    </a:cubicBezTo>
                    <a:cubicBezTo>
                      <a:pt x="136" y="144"/>
                      <a:pt x="117" y="137"/>
                      <a:pt x="100" y="133"/>
                    </a:cubicBezTo>
                    <a:cubicBezTo>
                      <a:pt x="62" y="123"/>
                      <a:pt x="35" y="122"/>
                      <a:pt x="28" y="133"/>
                    </a:cubicBezTo>
                    <a:cubicBezTo>
                      <a:pt x="22" y="144"/>
                      <a:pt x="36" y="167"/>
                      <a:pt x="64" y="195"/>
                    </a:cubicBezTo>
                    <a:cubicBezTo>
                      <a:pt x="76" y="208"/>
                      <a:pt x="91" y="221"/>
                      <a:pt x="109" y="234"/>
                    </a:cubicBezTo>
                    <a:cubicBezTo>
                      <a:pt x="109" y="234"/>
                      <a:pt x="109" y="234"/>
                      <a:pt x="109" y="234"/>
                    </a:cubicBezTo>
                    <a:cubicBezTo>
                      <a:pt x="110" y="233"/>
                      <a:pt x="112" y="232"/>
                      <a:pt x="113" y="231"/>
                    </a:cubicBezTo>
                    <a:close/>
                    <a:moveTo>
                      <a:pt x="395" y="267"/>
                    </a:moveTo>
                    <a:cubicBezTo>
                      <a:pt x="410" y="267"/>
                      <a:pt x="422" y="279"/>
                      <a:pt x="422" y="294"/>
                    </a:cubicBezTo>
                    <a:cubicBezTo>
                      <a:pt x="422" y="309"/>
                      <a:pt x="410" y="321"/>
                      <a:pt x="395" y="321"/>
                    </a:cubicBezTo>
                    <a:cubicBezTo>
                      <a:pt x="381" y="321"/>
                      <a:pt x="369" y="309"/>
                      <a:pt x="369" y="294"/>
                    </a:cubicBezTo>
                    <a:cubicBezTo>
                      <a:pt x="369" y="279"/>
                      <a:pt x="380" y="267"/>
                      <a:pt x="395" y="267"/>
                    </a:cubicBezTo>
                    <a:cubicBezTo>
                      <a:pt x="395" y="267"/>
                      <a:pt x="395" y="267"/>
                      <a:pt x="395" y="267"/>
                    </a:cubicBezTo>
                    <a:close/>
                    <a:moveTo>
                      <a:pt x="97" y="344"/>
                    </a:moveTo>
                    <a:cubicBezTo>
                      <a:pt x="112" y="344"/>
                      <a:pt x="124" y="356"/>
                      <a:pt x="124" y="370"/>
                    </a:cubicBezTo>
                    <a:cubicBezTo>
                      <a:pt x="124" y="385"/>
                      <a:pt x="112" y="397"/>
                      <a:pt x="97" y="397"/>
                    </a:cubicBezTo>
                    <a:cubicBezTo>
                      <a:pt x="83" y="397"/>
                      <a:pt x="71" y="385"/>
                      <a:pt x="71" y="370"/>
                    </a:cubicBezTo>
                    <a:cubicBezTo>
                      <a:pt x="71" y="356"/>
                      <a:pt x="83" y="344"/>
                      <a:pt x="97" y="344"/>
                    </a:cubicBezTo>
                    <a:cubicBezTo>
                      <a:pt x="97" y="344"/>
                      <a:pt x="97" y="344"/>
                      <a:pt x="97" y="344"/>
                    </a:cubicBezTo>
                    <a:close/>
                    <a:moveTo>
                      <a:pt x="181" y="48"/>
                    </a:moveTo>
                    <a:cubicBezTo>
                      <a:pt x="195" y="48"/>
                      <a:pt x="207" y="59"/>
                      <a:pt x="207" y="74"/>
                    </a:cubicBezTo>
                    <a:cubicBezTo>
                      <a:pt x="207" y="89"/>
                      <a:pt x="195" y="101"/>
                      <a:pt x="181" y="101"/>
                    </a:cubicBezTo>
                    <a:cubicBezTo>
                      <a:pt x="166" y="101"/>
                      <a:pt x="154" y="89"/>
                      <a:pt x="154" y="74"/>
                    </a:cubicBezTo>
                    <a:cubicBezTo>
                      <a:pt x="154" y="59"/>
                      <a:pt x="166" y="48"/>
                      <a:pt x="181" y="48"/>
                    </a:cubicBezTo>
                    <a:cubicBezTo>
                      <a:pt x="181" y="48"/>
                      <a:pt x="181" y="48"/>
                      <a:pt x="181" y="48"/>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nvGrpSpPr>
            <p:cNvPr id="84" name="Group 83">
              <a:extLst>
                <a:ext uri="{FF2B5EF4-FFF2-40B4-BE49-F238E27FC236}">
                  <a16:creationId xmlns:a16="http://schemas.microsoft.com/office/drawing/2014/main" id="{3A6E6CAC-2AC4-E2AE-F40C-3AD9A0EF5299}"/>
                </a:ext>
              </a:extLst>
            </p:cNvPr>
            <p:cNvGrpSpPr/>
            <p:nvPr/>
          </p:nvGrpSpPr>
          <p:grpSpPr>
            <a:xfrm>
              <a:off x="5300193" y="4569325"/>
              <a:ext cx="1848327" cy="467876"/>
              <a:chOff x="4623892" y="5213724"/>
              <a:chExt cx="1848327" cy="467876"/>
            </a:xfrm>
          </p:grpSpPr>
          <p:sp>
            <p:nvSpPr>
              <p:cNvPr id="85" name="Oval 84">
                <a:extLst>
                  <a:ext uri="{FF2B5EF4-FFF2-40B4-BE49-F238E27FC236}">
                    <a16:creationId xmlns:a16="http://schemas.microsoft.com/office/drawing/2014/main" id="{CDA1E09E-29A1-966F-1C33-801C3A17BA7D}"/>
                  </a:ext>
                </a:extLst>
              </p:cNvPr>
              <p:cNvSpPr/>
              <p:nvPr/>
            </p:nvSpPr>
            <p:spPr>
              <a:xfrm>
                <a:off x="4623892" y="5213724"/>
                <a:ext cx="467876" cy="467876"/>
              </a:xfrm>
              <a:prstGeom prst="ellipse">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Manrope"/>
                </a:endParaRPr>
              </a:p>
            </p:txBody>
          </p:sp>
          <p:sp>
            <p:nvSpPr>
              <p:cNvPr id="86" name="Rectangle: Rounded Corners 85">
                <a:extLst>
                  <a:ext uri="{FF2B5EF4-FFF2-40B4-BE49-F238E27FC236}">
                    <a16:creationId xmlns:a16="http://schemas.microsoft.com/office/drawing/2014/main" id="{7796FC2A-52C8-F087-5B1B-F31D9B97B16D}"/>
                  </a:ext>
                </a:extLst>
              </p:cNvPr>
              <p:cNvSpPr/>
              <p:nvPr/>
            </p:nvSpPr>
            <p:spPr>
              <a:xfrm>
                <a:off x="5092180" y="5340731"/>
                <a:ext cx="1380039" cy="237744"/>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7125E"/>
                    </a:solidFill>
                    <a:effectLst/>
                    <a:uLnTx/>
                    <a:uFillTx/>
                    <a:latin typeface="Manrope"/>
                    <a:cs typeface="Arial" panose="020B0604020202020204" pitchFamily="34" charset="0"/>
                  </a:rPr>
                  <a:t>Customer Journey Analytics</a:t>
                </a:r>
                <a:endParaRPr kumimoji="0" lang="en-IN" sz="1000" b="0" i="0" u="none" strike="noStrike" kern="1200" cap="none" spc="0" normalizeH="0" baseline="0" noProof="0">
                  <a:ln>
                    <a:noFill/>
                  </a:ln>
                  <a:solidFill>
                    <a:srgbClr val="07125E"/>
                  </a:solidFill>
                  <a:effectLst/>
                  <a:uLnTx/>
                  <a:uFillTx/>
                  <a:latin typeface="Manrope"/>
                  <a:cs typeface="Arial" panose="020B0604020202020204" pitchFamily="34" charset="0"/>
                </a:endParaRPr>
              </a:p>
            </p:txBody>
          </p:sp>
          <p:grpSp>
            <p:nvGrpSpPr>
              <p:cNvPr id="87" name="Group 141">
                <a:extLst>
                  <a:ext uri="{FF2B5EF4-FFF2-40B4-BE49-F238E27FC236}">
                    <a16:creationId xmlns:a16="http://schemas.microsoft.com/office/drawing/2014/main" id="{BF8E5BD8-C82E-F71B-ACB9-40F141C79F59}"/>
                  </a:ext>
                </a:extLst>
              </p:cNvPr>
              <p:cNvGrpSpPr>
                <a:grpSpLocks noChangeAspect="1"/>
              </p:cNvGrpSpPr>
              <p:nvPr/>
            </p:nvGrpSpPr>
            <p:grpSpPr bwMode="auto">
              <a:xfrm>
                <a:off x="4716463" y="5302250"/>
                <a:ext cx="279400" cy="290513"/>
                <a:chOff x="2971" y="3340"/>
                <a:chExt cx="176" cy="183"/>
              </a:xfrm>
              <a:solidFill>
                <a:schemeClr val="accent4"/>
              </a:solidFill>
            </p:grpSpPr>
            <p:sp>
              <p:nvSpPr>
                <p:cNvPr id="88" name="Freeform 142">
                  <a:extLst>
                    <a:ext uri="{FF2B5EF4-FFF2-40B4-BE49-F238E27FC236}">
                      <a16:creationId xmlns:a16="http://schemas.microsoft.com/office/drawing/2014/main" id="{81481489-6497-B4E6-C2C1-A4CC94B7D380}"/>
                    </a:ext>
                  </a:extLst>
                </p:cNvPr>
                <p:cNvSpPr>
                  <a:spLocks noEditPoints="1"/>
                </p:cNvSpPr>
                <p:nvPr/>
              </p:nvSpPr>
              <p:spPr bwMode="auto">
                <a:xfrm>
                  <a:off x="2971" y="3340"/>
                  <a:ext cx="74" cy="142"/>
                </a:xfrm>
                <a:custGeom>
                  <a:avLst/>
                  <a:gdLst>
                    <a:gd name="T0" fmla="*/ 191 w 414"/>
                    <a:gd name="T1" fmla="*/ 422 h 796"/>
                    <a:gd name="T2" fmla="*/ 191 w 414"/>
                    <a:gd name="T3" fmla="*/ 418 h 796"/>
                    <a:gd name="T4" fmla="*/ 191 w 414"/>
                    <a:gd name="T5" fmla="*/ 224 h 796"/>
                    <a:gd name="T6" fmla="*/ 192 w 414"/>
                    <a:gd name="T7" fmla="*/ 178 h 796"/>
                    <a:gd name="T8" fmla="*/ 230 w 414"/>
                    <a:gd name="T9" fmla="*/ 87 h 796"/>
                    <a:gd name="T10" fmla="*/ 326 w 414"/>
                    <a:gd name="T11" fmla="*/ 34 h 796"/>
                    <a:gd name="T12" fmla="*/ 327 w 414"/>
                    <a:gd name="T13" fmla="*/ 34 h 796"/>
                    <a:gd name="T14" fmla="*/ 327 w 414"/>
                    <a:gd name="T15" fmla="*/ 0 h 796"/>
                    <a:gd name="T16" fmla="*/ 398 w 414"/>
                    <a:gd name="T17" fmla="*/ 40 h 796"/>
                    <a:gd name="T18" fmla="*/ 328 w 414"/>
                    <a:gd name="T19" fmla="*/ 81 h 796"/>
                    <a:gd name="T20" fmla="*/ 328 w 414"/>
                    <a:gd name="T21" fmla="*/ 55 h 796"/>
                    <a:gd name="T22" fmla="*/ 300 w 414"/>
                    <a:gd name="T23" fmla="*/ 64 h 796"/>
                    <a:gd name="T24" fmla="*/ 214 w 414"/>
                    <a:gd name="T25" fmla="*/ 176 h 796"/>
                    <a:gd name="T26" fmla="*/ 213 w 414"/>
                    <a:gd name="T27" fmla="*/ 227 h 796"/>
                    <a:gd name="T28" fmla="*/ 213 w 414"/>
                    <a:gd name="T29" fmla="*/ 353 h 796"/>
                    <a:gd name="T30" fmla="*/ 213 w 414"/>
                    <a:gd name="T31" fmla="*/ 419 h 796"/>
                    <a:gd name="T32" fmla="*/ 217 w 414"/>
                    <a:gd name="T33" fmla="*/ 423 h 796"/>
                    <a:gd name="T34" fmla="*/ 378 w 414"/>
                    <a:gd name="T35" fmla="*/ 534 h 796"/>
                    <a:gd name="T36" fmla="*/ 313 w 414"/>
                    <a:gd name="T37" fmla="*/ 758 h 796"/>
                    <a:gd name="T38" fmla="*/ 184 w 414"/>
                    <a:gd name="T39" fmla="*/ 792 h 796"/>
                    <a:gd name="T40" fmla="*/ 20 w 414"/>
                    <a:gd name="T41" fmla="*/ 657 h 796"/>
                    <a:gd name="T42" fmla="*/ 77 w 414"/>
                    <a:gd name="T43" fmla="*/ 469 h 796"/>
                    <a:gd name="T44" fmla="*/ 189 w 414"/>
                    <a:gd name="T45" fmla="*/ 422 h 796"/>
                    <a:gd name="T46" fmla="*/ 191 w 414"/>
                    <a:gd name="T47" fmla="*/ 422 h 796"/>
                    <a:gd name="T48" fmla="*/ 377 w 414"/>
                    <a:gd name="T49" fmla="*/ 607 h 796"/>
                    <a:gd name="T50" fmla="*/ 376 w 414"/>
                    <a:gd name="T51" fmla="*/ 585 h 796"/>
                    <a:gd name="T52" fmla="*/ 308 w 414"/>
                    <a:gd name="T53" fmla="*/ 472 h 796"/>
                    <a:gd name="T54" fmla="*/ 186 w 414"/>
                    <a:gd name="T55" fmla="*/ 439 h 796"/>
                    <a:gd name="T56" fmla="*/ 74 w 414"/>
                    <a:gd name="T57" fmla="*/ 495 h 796"/>
                    <a:gd name="T58" fmla="*/ 37 w 414"/>
                    <a:gd name="T59" fmla="*/ 657 h 796"/>
                    <a:gd name="T60" fmla="*/ 201 w 414"/>
                    <a:gd name="T61" fmla="*/ 776 h 796"/>
                    <a:gd name="T62" fmla="*/ 306 w 414"/>
                    <a:gd name="T63" fmla="*/ 743 h 796"/>
                    <a:gd name="T64" fmla="*/ 377 w 414"/>
                    <a:gd name="T65" fmla="*/ 607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14" h="796">
                      <a:moveTo>
                        <a:pt x="191" y="422"/>
                      </a:moveTo>
                      <a:cubicBezTo>
                        <a:pt x="191" y="421"/>
                        <a:pt x="191" y="419"/>
                        <a:pt x="191" y="418"/>
                      </a:cubicBezTo>
                      <a:cubicBezTo>
                        <a:pt x="191" y="353"/>
                        <a:pt x="191" y="289"/>
                        <a:pt x="191" y="224"/>
                      </a:cubicBezTo>
                      <a:cubicBezTo>
                        <a:pt x="191" y="209"/>
                        <a:pt x="191" y="194"/>
                        <a:pt x="192" y="178"/>
                      </a:cubicBezTo>
                      <a:cubicBezTo>
                        <a:pt x="194" y="144"/>
                        <a:pt x="208" y="113"/>
                        <a:pt x="230" y="87"/>
                      </a:cubicBezTo>
                      <a:cubicBezTo>
                        <a:pt x="256" y="58"/>
                        <a:pt x="288" y="41"/>
                        <a:pt x="326" y="34"/>
                      </a:cubicBezTo>
                      <a:cubicBezTo>
                        <a:pt x="326" y="34"/>
                        <a:pt x="327" y="34"/>
                        <a:pt x="327" y="34"/>
                      </a:cubicBezTo>
                      <a:cubicBezTo>
                        <a:pt x="327" y="23"/>
                        <a:pt x="327" y="12"/>
                        <a:pt x="327" y="0"/>
                      </a:cubicBezTo>
                      <a:cubicBezTo>
                        <a:pt x="351" y="13"/>
                        <a:pt x="374" y="27"/>
                        <a:pt x="398" y="40"/>
                      </a:cubicBezTo>
                      <a:cubicBezTo>
                        <a:pt x="374" y="54"/>
                        <a:pt x="351" y="67"/>
                        <a:pt x="328" y="81"/>
                      </a:cubicBezTo>
                      <a:cubicBezTo>
                        <a:pt x="328" y="73"/>
                        <a:pt x="328" y="65"/>
                        <a:pt x="328" y="55"/>
                      </a:cubicBezTo>
                      <a:cubicBezTo>
                        <a:pt x="318" y="59"/>
                        <a:pt x="308" y="60"/>
                        <a:pt x="300" y="64"/>
                      </a:cubicBezTo>
                      <a:cubicBezTo>
                        <a:pt x="250" y="85"/>
                        <a:pt x="221" y="122"/>
                        <a:pt x="214" y="176"/>
                      </a:cubicBezTo>
                      <a:cubicBezTo>
                        <a:pt x="212" y="193"/>
                        <a:pt x="213" y="210"/>
                        <a:pt x="213" y="227"/>
                      </a:cubicBezTo>
                      <a:cubicBezTo>
                        <a:pt x="213" y="269"/>
                        <a:pt x="213" y="311"/>
                        <a:pt x="213" y="353"/>
                      </a:cubicBezTo>
                      <a:cubicBezTo>
                        <a:pt x="213" y="375"/>
                        <a:pt x="213" y="397"/>
                        <a:pt x="213" y="419"/>
                      </a:cubicBezTo>
                      <a:cubicBezTo>
                        <a:pt x="213" y="422"/>
                        <a:pt x="214" y="422"/>
                        <a:pt x="217" y="423"/>
                      </a:cubicBezTo>
                      <a:cubicBezTo>
                        <a:pt x="291" y="430"/>
                        <a:pt x="347" y="466"/>
                        <a:pt x="378" y="534"/>
                      </a:cubicBezTo>
                      <a:cubicBezTo>
                        <a:pt x="414" y="615"/>
                        <a:pt x="386" y="709"/>
                        <a:pt x="313" y="758"/>
                      </a:cubicBezTo>
                      <a:cubicBezTo>
                        <a:pt x="274" y="785"/>
                        <a:pt x="231" y="796"/>
                        <a:pt x="184" y="792"/>
                      </a:cubicBezTo>
                      <a:cubicBezTo>
                        <a:pt x="107" y="784"/>
                        <a:pt x="40" y="732"/>
                        <a:pt x="20" y="657"/>
                      </a:cubicBezTo>
                      <a:cubicBezTo>
                        <a:pt x="0" y="583"/>
                        <a:pt x="20" y="520"/>
                        <a:pt x="77" y="469"/>
                      </a:cubicBezTo>
                      <a:cubicBezTo>
                        <a:pt x="108" y="440"/>
                        <a:pt x="146" y="426"/>
                        <a:pt x="189" y="422"/>
                      </a:cubicBezTo>
                      <a:cubicBezTo>
                        <a:pt x="189" y="422"/>
                        <a:pt x="190" y="422"/>
                        <a:pt x="191" y="422"/>
                      </a:cubicBezTo>
                      <a:close/>
                      <a:moveTo>
                        <a:pt x="377" y="607"/>
                      </a:moveTo>
                      <a:cubicBezTo>
                        <a:pt x="377" y="600"/>
                        <a:pt x="377" y="593"/>
                        <a:pt x="376" y="585"/>
                      </a:cubicBezTo>
                      <a:cubicBezTo>
                        <a:pt x="369" y="538"/>
                        <a:pt x="346" y="501"/>
                        <a:pt x="308" y="472"/>
                      </a:cubicBezTo>
                      <a:cubicBezTo>
                        <a:pt x="272" y="446"/>
                        <a:pt x="231" y="435"/>
                        <a:pt x="186" y="439"/>
                      </a:cubicBezTo>
                      <a:cubicBezTo>
                        <a:pt x="142" y="443"/>
                        <a:pt x="104" y="461"/>
                        <a:pt x="74" y="495"/>
                      </a:cubicBezTo>
                      <a:cubicBezTo>
                        <a:pt x="31" y="542"/>
                        <a:pt x="18" y="596"/>
                        <a:pt x="37" y="657"/>
                      </a:cubicBezTo>
                      <a:cubicBezTo>
                        <a:pt x="59" y="727"/>
                        <a:pt x="126" y="775"/>
                        <a:pt x="201" y="776"/>
                      </a:cubicBezTo>
                      <a:cubicBezTo>
                        <a:pt x="240" y="776"/>
                        <a:pt x="275" y="766"/>
                        <a:pt x="306" y="743"/>
                      </a:cubicBezTo>
                      <a:cubicBezTo>
                        <a:pt x="352" y="709"/>
                        <a:pt x="376" y="664"/>
                        <a:pt x="377" y="6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89" name="Freeform 143">
                  <a:extLst>
                    <a:ext uri="{FF2B5EF4-FFF2-40B4-BE49-F238E27FC236}">
                      <a16:creationId xmlns:a16="http://schemas.microsoft.com/office/drawing/2014/main" id="{B2E6D5E9-DE6E-A4A2-D042-0BB544935F2F}"/>
                    </a:ext>
                  </a:extLst>
                </p:cNvPr>
                <p:cNvSpPr>
                  <a:spLocks noEditPoints="1"/>
                </p:cNvSpPr>
                <p:nvPr/>
              </p:nvSpPr>
              <p:spPr bwMode="auto">
                <a:xfrm>
                  <a:off x="3077" y="3380"/>
                  <a:ext cx="70" cy="134"/>
                </a:xfrm>
                <a:custGeom>
                  <a:avLst/>
                  <a:gdLst>
                    <a:gd name="T0" fmla="*/ 111 w 392"/>
                    <a:gd name="T1" fmla="*/ 740 h 753"/>
                    <a:gd name="T2" fmla="*/ 137 w 392"/>
                    <a:gd name="T3" fmla="*/ 723 h 753"/>
                    <a:gd name="T4" fmla="*/ 188 w 392"/>
                    <a:gd name="T5" fmla="*/ 617 h 753"/>
                    <a:gd name="T6" fmla="*/ 189 w 392"/>
                    <a:gd name="T7" fmla="*/ 445 h 753"/>
                    <a:gd name="T8" fmla="*/ 189 w 392"/>
                    <a:gd name="T9" fmla="*/ 379 h 753"/>
                    <a:gd name="T10" fmla="*/ 189 w 392"/>
                    <a:gd name="T11" fmla="*/ 373 h 753"/>
                    <a:gd name="T12" fmla="*/ 163 w 392"/>
                    <a:gd name="T13" fmla="*/ 370 h 753"/>
                    <a:gd name="T14" fmla="*/ 13 w 392"/>
                    <a:gd name="T15" fmla="*/ 226 h 753"/>
                    <a:gd name="T16" fmla="*/ 64 w 392"/>
                    <a:gd name="T17" fmla="*/ 58 h 753"/>
                    <a:gd name="T18" fmla="*/ 207 w 392"/>
                    <a:gd name="T19" fmla="*/ 3 h 753"/>
                    <a:gd name="T20" fmla="*/ 370 w 392"/>
                    <a:gd name="T21" fmla="*/ 106 h 753"/>
                    <a:gd name="T22" fmla="*/ 389 w 392"/>
                    <a:gd name="T23" fmla="*/ 205 h 753"/>
                    <a:gd name="T24" fmla="*/ 293 w 392"/>
                    <a:gd name="T25" fmla="*/ 349 h 753"/>
                    <a:gd name="T26" fmla="*/ 216 w 392"/>
                    <a:gd name="T27" fmla="*/ 372 h 753"/>
                    <a:gd name="T28" fmla="*/ 210 w 392"/>
                    <a:gd name="T29" fmla="*/ 373 h 753"/>
                    <a:gd name="T30" fmla="*/ 210 w 392"/>
                    <a:gd name="T31" fmla="*/ 397 h 753"/>
                    <a:gd name="T32" fmla="*/ 210 w 392"/>
                    <a:gd name="T33" fmla="*/ 614 h 753"/>
                    <a:gd name="T34" fmla="*/ 142 w 392"/>
                    <a:gd name="T35" fmla="*/ 746 h 753"/>
                    <a:gd name="T36" fmla="*/ 124 w 392"/>
                    <a:gd name="T37" fmla="*/ 747 h 753"/>
                    <a:gd name="T38" fmla="*/ 111 w 392"/>
                    <a:gd name="T39" fmla="*/ 740 h 753"/>
                    <a:gd name="T40" fmla="*/ 212 w 392"/>
                    <a:gd name="T41" fmla="*/ 19 h 753"/>
                    <a:gd name="T42" fmla="*/ 118 w 392"/>
                    <a:gd name="T43" fmla="*/ 38 h 753"/>
                    <a:gd name="T44" fmla="*/ 26 w 392"/>
                    <a:gd name="T45" fmla="*/ 203 h 753"/>
                    <a:gd name="T46" fmla="*/ 64 w 392"/>
                    <a:gd name="T47" fmla="*/ 293 h 753"/>
                    <a:gd name="T48" fmla="*/ 233 w 392"/>
                    <a:gd name="T49" fmla="*/ 353 h 753"/>
                    <a:gd name="T50" fmla="*/ 373 w 392"/>
                    <a:gd name="T51" fmla="*/ 202 h 753"/>
                    <a:gd name="T52" fmla="*/ 344 w 392"/>
                    <a:gd name="T53" fmla="*/ 94 h 753"/>
                    <a:gd name="T54" fmla="*/ 212 w 392"/>
                    <a:gd name="T55" fmla="*/ 19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2" h="753">
                      <a:moveTo>
                        <a:pt x="111" y="740"/>
                      </a:moveTo>
                      <a:cubicBezTo>
                        <a:pt x="120" y="735"/>
                        <a:pt x="129" y="729"/>
                        <a:pt x="137" y="723"/>
                      </a:cubicBezTo>
                      <a:cubicBezTo>
                        <a:pt x="170" y="696"/>
                        <a:pt x="188" y="660"/>
                        <a:pt x="188" y="617"/>
                      </a:cubicBezTo>
                      <a:cubicBezTo>
                        <a:pt x="189" y="559"/>
                        <a:pt x="189" y="502"/>
                        <a:pt x="189" y="445"/>
                      </a:cubicBezTo>
                      <a:cubicBezTo>
                        <a:pt x="189" y="423"/>
                        <a:pt x="189" y="401"/>
                        <a:pt x="189" y="379"/>
                      </a:cubicBezTo>
                      <a:cubicBezTo>
                        <a:pt x="189" y="377"/>
                        <a:pt x="189" y="375"/>
                        <a:pt x="189" y="373"/>
                      </a:cubicBezTo>
                      <a:cubicBezTo>
                        <a:pt x="180" y="372"/>
                        <a:pt x="171" y="371"/>
                        <a:pt x="163" y="370"/>
                      </a:cubicBezTo>
                      <a:cubicBezTo>
                        <a:pt x="89" y="356"/>
                        <a:pt x="29" y="300"/>
                        <a:pt x="13" y="226"/>
                      </a:cubicBezTo>
                      <a:cubicBezTo>
                        <a:pt x="0" y="161"/>
                        <a:pt x="17" y="105"/>
                        <a:pt x="64" y="58"/>
                      </a:cubicBezTo>
                      <a:cubicBezTo>
                        <a:pt x="103" y="19"/>
                        <a:pt x="152" y="0"/>
                        <a:pt x="207" y="3"/>
                      </a:cubicBezTo>
                      <a:cubicBezTo>
                        <a:pt x="280" y="7"/>
                        <a:pt x="335" y="41"/>
                        <a:pt x="370" y="106"/>
                      </a:cubicBezTo>
                      <a:cubicBezTo>
                        <a:pt x="386" y="136"/>
                        <a:pt x="392" y="170"/>
                        <a:pt x="389" y="205"/>
                      </a:cubicBezTo>
                      <a:cubicBezTo>
                        <a:pt x="382" y="269"/>
                        <a:pt x="349" y="317"/>
                        <a:pt x="293" y="349"/>
                      </a:cubicBezTo>
                      <a:cubicBezTo>
                        <a:pt x="269" y="363"/>
                        <a:pt x="243" y="370"/>
                        <a:pt x="216" y="372"/>
                      </a:cubicBezTo>
                      <a:cubicBezTo>
                        <a:pt x="214" y="372"/>
                        <a:pt x="213" y="373"/>
                        <a:pt x="210" y="373"/>
                      </a:cubicBezTo>
                      <a:cubicBezTo>
                        <a:pt x="210" y="381"/>
                        <a:pt x="210" y="389"/>
                        <a:pt x="210" y="397"/>
                      </a:cubicBezTo>
                      <a:cubicBezTo>
                        <a:pt x="210" y="469"/>
                        <a:pt x="211" y="542"/>
                        <a:pt x="210" y="614"/>
                      </a:cubicBezTo>
                      <a:cubicBezTo>
                        <a:pt x="210" y="669"/>
                        <a:pt x="187" y="713"/>
                        <a:pt x="142" y="746"/>
                      </a:cubicBezTo>
                      <a:cubicBezTo>
                        <a:pt x="136" y="751"/>
                        <a:pt x="130" y="753"/>
                        <a:pt x="124" y="747"/>
                      </a:cubicBezTo>
                      <a:cubicBezTo>
                        <a:pt x="120" y="744"/>
                        <a:pt x="115" y="742"/>
                        <a:pt x="111" y="740"/>
                      </a:cubicBezTo>
                      <a:close/>
                      <a:moveTo>
                        <a:pt x="212" y="19"/>
                      </a:moveTo>
                      <a:cubicBezTo>
                        <a:pt x="170" y="19"/>
                        <a:pt x="145" y="25"/>
                        <a:pt x="118" y="38"/>
                      </a:cubicBezTo>
                      <a:cubicBezTo>
                        <a:pt x="58" y="69"/>
                        <a:pt x="19" y="134"/>
                        <a:pt x="26" y="203"/>
                      </a:cubicBezTo>
                      <a:cubicBezTo>
                        <a:pt x="29" y="237"/>
                        <a:pt x="41" y="267"/>
                        <a:pt x="64" y="293"/>
                      </a:cubicBezTo>
                      <a:cubicBezTo>
                        <a:pt x="108" y="345"/>
                        <a:pt x="165" y="365"/>
                        <a:pt x="233" y="353"/>
                      </a:cubicBezTo>
                      <a:cubicBezTo>
                        <a:pt x="306" y="340"/>
                        <a:pt x="366" y="279"/>
                        <a:pt x="373" y="202"/>
                      </a:cubicBezTo>
                      <a:cubicBezTo>
                        <a:pt x="376" y="162"/>
                        <a:pt x="367" y="126"/>
                        <a:pt x="344" y="94"/>
                      </a:cubicBezTo>
                      <a:cubicBezTo>
                        <a:pt x="309" y="44"/>
                        <a:pt x="260" y="21"/>
                        <a:pt x="212"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90" name="Freeform 144">
                  <a:extLst>
                    <a:ext uri="{FF2B5EF4-FFF2-40B4-BE49-F238E27FC236}">
                      <a16:creationId xmlns:a16="http://schemas.microsoft.com/office/drawing/2014/main" id="{C14547AA-3FE7-0069-223C-C6538AEC943C}"/>
                    </a:ext>
                  </a:extLst>
                </p:cNvPr>
                <p:cNvSpPr>
                  <a:spLocks/>
                </p:cNvSpPr>
                <p:nvPr/>
              </p:nvSpPr>
              <p:spPr bwMode="auto">
                <a:xfrm>
                  <a:off x="3058" y="3441"/>
                  <a:ext cx="40" cy="82"/>
                </a:xfrm>
                <a:custGeom>
                  <a:avLst/>
                  <a:gdLst>
                    <a:gd name="T0" fmla="*/ 153 w 223"/>
                    <a:gd name="T1" fmla="*/ 411 h 460"/>
                    <a:gd name="T2" fmla="*/ 153 w 223"/>
                    <a:gd name="T3" fmla="*/ 379 h 460"/>
                    <a:gd name="T4" fmla="*/ 223 w 223"/>
                    <a:gd name="T5" fmla="*/ 419 h 460"/>
                    <a:gd name="T6" fmla="*/ 154 w 223"/>
                    <a:gd name="T7" fmla="*/ 460 h 460"/>
                    <a:gd name="T8" fmla="*/ 154 w 223"/>
                    <a:gd name="T9" fmla="*/ 433 h 460"/>
                    <a:gd name="T10" fmla="*/ 134 w 223"/>
                    <a:gd name="T11" fmla="*/ 431 h 460"/>
                    <a:gd name="T12" fmla="*/ 13 w 223"/>
                    <a:gd name="T13" fmla="*/ 337 h 460"/>
                    <a:gd name="T14" fmla="*/ 0 w 223"/>
                    <a:gd name="T15" fmla="*/ 270 h 460"/>
                    <a:gd name="T16" fmla="*/ 0 w 223"/>
                    <a:gd name="T17" fmla="*/ 3 h 460"/>
                    <a:gd name="T18" fmla="*/ 0 w 223"/>
                    <a:gd name="T19" fmla="*/ 0 h 460"/>
                    <a:gd name="T20" fmla="*/ 0 w 223"/>
                    <a:gd name="T21" fmla="*/ 0 h 460"/>
                    <a:gd name="T22" fmla="*/ 11 w 223"/>
                    <a:gd name="T23" fmla="*/ 19 h 460"/>
                    <a:gd name="T24" fmla="*/ 21 w 223"/>
                    <a:gd name="T25" fmla="*/ 2 h 460"/>
                    <a:gd name="T26" fmla="*/ 22 w 223"/>
                    <a:gd name="T27" fmla="*/ 2 h 460"/>
                    <a:gd name="T28" fmla="*/ 22 w 223"/>
                    <a:gd name="T29" fmla="*/ 6 h 460"/>
                    <a:gd name="T30" fmla="*/ 22 w 223"/>
                    <a:gd name="T31" fmla="*/ 272 h 460"/>
                    <a:gd name="T32" fmla="*/ 136 w 223"/>
                    <a:gd name="T33" fmla="*/ 409 h 460"/>
                    <a:gd name="T34" fmla="*/ 153 w 223"/>
                    <a:gd name="T35" fmla="*/ 411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 h="460">
                      <a:moveTo>
                        <a:pt x="153" y="411"/>
                      </a:moveTo>
                      <a:cubicBezTo>
                        <a:pt x="153" y="400"/>
                        <a:pt x="153" y="390"/>
                        <a:pt x="153" y="379"/>
                      </a:cubicBezTo>
                      <a:cubicBezTo>
                        <a:pt x="177" y="392"/>
                        <a:pt x="200" y="406"/>
                        <a:pt x="223" y="419"/>
                      </a:cubicBezTo>
                      <a:cubicBezTo>
                        <a:pt x="200" y="433"/>
                        <a:pt x="177" y="446"/>
                        <a:pt x="154" y="460"/>
                      </a:cubicBezTo>
                      <a:cubicBezTo>
                        <a:pt x="154" y="451"/>
                        <a:pt x="154" y="442"/>
                        <a:pt x="154" y="433"/>
                      </a:cubicBezTo>
                      <a:cubicBezTo>
                        <a:pt x="147" y="432"/>
                        <a:pt x="140" y="432"/>
                        <a:pt x="134" y="431"/>
                      </a:cubicBezTo>
                      <a:cubicBezTo>
                        <a:pt x="77" y="420"/>
                        <a:pt x="37" y="389"/>
                        <a:pt x="13" y="337"/>
                      </a:cubicBezTo>
                      <a:cubicBezTo>
                        <a:pt x="3" y="316"/>
                        <a:pt x="0" y="293"/>
                        <a:pt x="0" y="270"/>
                      </a:cubicBezTo>
                      <a:cubicBezTo>
                        <a:pt x="0" y="181"/>
                        <a:pt x="0" y="92"/>
                        <a:pt x="0" y="3"/>
                      </a:cubicBezTo>
                      <a:cubicBezTo>
                        <a:pt x="0" y="2"/>
                        <a:pt x="0" y="1"/>
                        <a:pt x="0" y="0"/>
                      </a:cubicBezTo>
                      <a:cubicBezTo>
                        <a:pt x="0" y="0"/>
                        <a:pt x="0" y="0"/>
                        <a:pt x="0" y="0"/>
                      </a:cubicBezTo>
                      <a:cubicBezTo>
                        <a:pt x="4" y="6"/>
                        <a:pt x="7" y="12"/>
                        <a:pt x="11" y="19"/>
                      </a:cubicBezTo>
                      <a:cubicBezTo>
                        <a:pt x="15" y="13"/>
                        <a:pt x="18" y="7"/>
                        <a:pt x="21" y="2"/>
                      </a:cubicBezTo>
                      <a:cubicBezTo>
                        <a:pt x="21" y="2"/>
                        <a:pt x="21" y="2"/>
                        <a:pt x="22" y="2"/>
                      </a:cubicBezTo>
                      <a:cubicBezTo>
                        <a:pt x="22" y="3"/>
                        <a:pt x="22" y="5"/>
                        <a:pt x="22" y="6"/>
                      </a:cubicBezTo>
                      <a:cubicBezTo>
                        <a:pt x="22" y="95"/>
                        <a:pt x="22" y="184"/>
                        <a:pt x="22" y="272"/>
                      </a:cubicBezTo>
                      <a:cubicBezTo>
                        <a:pt x="21" y="338"/>
                        <a:pt x="69" y="397"/>
                        <a:pt x="136" y="409"/>
                      </a:cubicBezTo>
                      <a:cubicBezTo>
                        <a:pt x="141" y="410"/>
                        <a:pt x="147" y="411"/>
                        <a:pt x="153" y="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91" name="Freeform 145">
                  <a:extLst>
                    <a:ext uri="{FF2B5EF4-FFF2-40B4-BE49-F238E27FC236}">
                      <a16:creationId xmlns:a16="http://schemas.microsoft.com/office/drawing/2014/main" id="{F944EDD9-2A6C-A257-4205-64F7B77FFC3C}"/>
                    </a:ext>
                  </a:extLst>
                </p:cNvPr>
                <p:cNvSpPr>
                  <a:spLocks/>
                </p:cNvSpPr>
                <p:nvPr/>
              </p:nvSpPr>
              <p:spPr bwMode="auto">
                <a:xfrm>
                  <a:off x="3041" y="3349"/>
                  <a:ext cx="26" cy="89"/>
                </a:xfrm>
                <a:custGeom>
                  <a:avLst/>
                  <a:gdLst>
                    <a:gd name="T0" fmla="*/ 66 w 147"/>
                    <a:gd name="T1" fmla="*/ 431 h 502"/>
                    <a:gd name="T2" fmla="*/ 95 w 147"/>
                    <a:gd name="T3" fmla="*/ 431 h 502"/>
                    <a:gd name="T4" fmla="*/ 95 w 147"/>
                    <a:gd name="T5" fmla="*/ 426 h 502"/>
                    <a:gd name="T6" fmla="*/ 95 w 147"/>
                    <a:gd name="T7" fmla="*/ 369 h 502"/>
                    <a:gd name="T8" fmla="*/ 95 w 147"/>
                    <a:gd name="T9" fmla="*/ 147 h 502"/>
                    <a:gd name="T10" fmla="*/ 53 w 147"/>
                    <a:gd name="T11" fmla="*/ 46 h 502"/>
                    <a:gd name="T12" fmla="*/ 0 w 147"/>
                    <a:gd name="T13" fmla="*/ 13 h 502"/>
                    <a:gd name="T14" fmla="*/ 16 w 147"/>
                    <a:gd name="T15" fmla="*/ 4 h 502"/>
                    <a:gd name="T16" fmla="*/ 32 w 147"/>
                    <a:gd name="T17" fmla="*/ 3 h 502"/>
                    <a:gd name="T18" fmla="*/ 113 w 147"/>
                    <a:gd name="T19" fmla="*/ 112 h 502"/>
                    <a:gd name="T20" fmla="*/ 117 w 147"/>
                    <a:gd name="T21" fmla="*/ 147 h 502"/>
                    <a:gd name="T22" fmla="*/ 117 w 147"/>
                    <a:gd name="T23" fmla="*/ 426 h 502"/>
                    <a:gd name="T24" fmla="*/ 117 w 147"/>
                    <a:gd name="T25" fmla="*/ 431 h 502"/>
                    <a:gd name="T26" fmla="*/ 147 w 147"/>
                    <a:gd name="T27" fmla="*/ 431 h 502"/>
                    <a:gd name="T28" fmla="*/ 106 w 147"/>
                    <a:gd name="T29" fmla="*/ 502 h 502"/>
                    <a:gd name="T30" fmla="*/ 66 w 147"/>
                    <a:gd name="T31" fmla="*/ 4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7" h="502">
                      <a:moveTo>
                        <a:pt x="66" y="431"/>
                      </a:moveTo>
                      <a:cubicBezTo>
                        <a:pt x="76" y="431"/>
                        <a:pt x="85" y="431"/>
                        <a:pt x="95" y="431"/>
                      </a:cubicBezTo>
                      <a:cubicBezTo>
                        <a:pt x="95" y="429"/>
                        <a:pt x="95" y="428"/>
                        <a:pt x="95" y="426"/>
                      </a:cubicBezTo>
                      <a:cubicBezTo>
                        <a:pt x="95" y="407"/>
                        <a:pt x="95" y="388"/>
                        <a:pt x="95" y="369"/>
                      </a:cubicBezTo>
                      <a:cubicBezTo>
                        <a:pt x="95" y="295"/>
                        <a:pt x="95" y="221"/>
                        <a:pt x="95" y="147"/>
                      </a:cubicBezTo>
                      <a:cubicBezTo>
                        <a:pt x="95" y="107"/>
                        <a:pt x="81" y="73"/>
                        <a:pt x="53" y="46"/>
                      </a:cubicBezTo>
                      <a:cubicBezTo>
                        <a:pt x="38" y="31"/>
                        <a:pt x="21" y="20"/>
                        <a:pt x="0" y="13"/>
                      </a:cubicBezTo>
                      <a:cubicBezTo>
                        <a:pt x="6" y="10"/>
                        <a:pt x="11" y="7"/>
                        <a:pt x="16" y="4"/>
                      </a:cubicBezTo>
                      <a:cubicBezTo>
                        <a:pt x="22" y="0"/>
                        <a:pt x="26" y="0"/>
                        <a:pt x="32" y="3"/>
                      </a:cubicBezTo>
                      <a:cubicBezTo>
                        <a:pt x="75" y="27"/>
                        <a:pt x="103" y="63"/>
                        <a:pt x="113" y="112"/>
                      </a:cubicBezTo>
                      <a:cubicBezTo>
                        <a:pt x="116" y="123"/>
                        <a:pt x="116" y="135"/>
                        <a:pt x="117" y="147"/>
                      </a:cubicBezTo>
                      <a:cubicBezTo>
                        <a:pt x="117" y="240"/>
                        <a:pt x="117" y="333"/>
                        <a:pt x="117" y="426"/>
                      </a:cubicBezTo>
                      <a:cubicBezTo>
                        <a:pt x="117" y="427"/>
                        <a:pt x="117" y="429"/>
                        <a:pt x="117" y="431"/>
                      </a:cubicBezTo>
                      <a:cubicBezTo>
                        <a:pt x="127" y="431"/>
                        <a:pt x="136" y="431"/>
                        <a:pt x="147" y="431"/>
                      </a:cubicBezTo>
                      <a:cubicBezTo>
                        <a:pt x="133" y="455"/>
                        <a:pt x="120" y="478"/>
                        <a:pt x="106" y="502"/>
                      </a:cubicBezTo>
                      <a:cubicBezTo>
                        <a:pt x="93" y="478"/>
                        <a:pt x="79" y="455"/>
                        <a:pt x="66"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92" name="Freeform 146">
                  <a:extLst>
                    <a:ext uri="{FF2B5EF4-FFF2-40B4-BE49-F238E27FC236}">
                      <a16:creationId xmlns:a16="http://schemas.microsoft.com/office/drawing/2014/main" id="{AF944E2B-F109-275F-C549-09E17C3BCC51}"/>
                    </a:ext>
                  </a:extLst>
                </p:cNvPr>
                <p:cNvSpPr>
                  <a:spLocks/>
                </p:cNvSpPr>
                <p:nvPr/>
              </p:nvSpPr>
              <p:spPr bwMode="auto">
                <a:xfrm>
                  <a:off x="2986" y="3451"/>
                  <a:ext cx="43" cy="26"/>
                </a:xfrm>
                <a:custGeom>
                  <a:avLst/>
                  <a:gdLst>
                    <a:gd name="T0" fmla="*/ 78 w 244"/>
                    <a:gd name="T1" fmla="*/ 0 h 147"/>
                    <a:gd name="T2" fmla="*/ 104 w 244"/>
                    <a:gd name="T3" fmla="*/ 82 h 147"/>
                    <a:gd name="T4" fmla="*/ 114 w 244"/>
                    <a:gd name="T5" fmla="*/ 54 h 147"/>
                    <a:gd name="T6" fmla="*/ 112 w 244"/>
                    <a:gd name="T7" fmla="*/ 51 h 147"/>
                    <a:gd name="T8" fmla="*/ 105 w 244"/>
                    <a:gd name="T9" fmla="*/ 37 h 147"/>
                    <a:gd name="T10" fmla="*/ 113 w 244"/>
                    <a:gd name="T11" fmla="*/ 23 h 147"/>
                    <a:gd name="T12" fmla="*/ 131 w 244"/>
                    <a:gd name="T13" fmla="*/ 23 h 147"/>
                    <a:gd name="T14" fmla="*/ 137 w 244"/>
                    <a:gd name="T15" fmla="*/ 34 h 147"/>
                    <a:gd name="T16" fmla="*/ 130 w 244"/>
                    <a:gd name="T17" fmla="*/ 50 h 147"/>
                    <a:gd name="T18" fmla="*/ 129 w 244"/>
                    <a:gd name="T19" fmla="*/ 56 h 147"/>
                    <a:gd name="T20" fmla="*/ 138 w 244"/>
                    <a:gd name="T21" fmla="*/ 82 h 147"/>
                    <a:gd name="T22" fmla="*/ 164 w 244"/>
                    <a:gd name="T23" fmla="*/ 0 h 147"/>
                    <a:gd name="T24" fmla="*/ 185 w 244"/>
                    <a:gd name="T25" fmla="*/ 12 h 147"/>
                    <a:gd name="T26" fmla="*/ 217 w 244"/>
                    <a:gd name="T27" fmla="*/ 24 h 147"/>
                    <a:gd name="T28" fmla="*/ 242 w 244"/>
                    <a:gd name="T29" fmla="*/ 52 h 147"/>
                    <a:gd name="T30" fmla="*/ 240 w 244"/>
                    <a:gd name="T31" fmla="*/ 94 h 147"/>
                    <a:gd name="T32" fmla="*/ 237 w 244"/>
                    <a:gd name="T33" fmla="*/ 98 h 147"/>
                    <a:gd name="T34" fmla="*/ 139 w 244"/>
                    <a:gd name="T35" fmla="*/ 142 h 147"/>
                    <a:gd name="T36" fmla="*/ 7 w 244"/>
                    <a:gd name="T37" fmla="*/ 100 h 147"/>
                    <a:gd name="T38" fmla="*/ 1 w 244"/>
                    <a:gd name="T39" fmla="*/ 88 h 147"/>
                    <a:gd name="T40" fmla="*/ 0 w 244"/>
                    <a:gd name="T41" fmla="*/ 59 h 147"/>
                    <a:gd name="T42" fmla="*/ 5 w 244"/>
                    <a:gd name="T43" fmla="*/ 38 h 147"/>
                    <a:gd name="T44" fmla="*/ 22 w 244"/>
                    <a:gd name="T45" fmla="*/ 25 h 147"/>
                    <a:gd name="T46" fmla="*/ 76 w 244"/>
                    <a:gd name="T47" fmla="*/ 1 h 147"/>
                    <a:gd name="T48" fmla="*/ 78 w 244"/>
                    <a:gd name="T4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4" h="147">
                      <a:moveTo>
                        <a:pt x="78" y="0"/>
                      </a:moveTo>
                      <a:cubicBezTo>
                        <a:pt x="87" y="27"/>
                        <a:pt x="95" y="54"/>
                        <a:pt x="104" y="82"/>
                      </a:cubicBezTo>
                      <a:cubicBezTo>
                        <a:pt x="108" y="72"/>
                        <a:pt x="111" y="63"/>
                        <a:pt x="114" y="54"/>
                      </a:cubicBezTo>
                      <a:cubicBezTo>
                        <a:pt x="114" y="53"/>
                        <a:pt x="113" y="52"/>
                        <a:pt x="112" y="51"/>
                      </a:cubicBezTo>
                      <a:cubicBezTo>
                        <a:pt x="110" y="46"/>
                        <a:pt x="107" y="41"/>
                        <a:pt x="105" y="37"/>
                      </a:cubicBezTo>
                      <a:cubicBezTo>
                        <a:pt x="103" y="29"/>
                        <a:pt x="105" y="25"/>
                        <a:pt x="113" y="23"/>
                      </a:cubicBezTo>
                      <a:cubicBezTo>
                        <a:pt x="119" y="21"/>
                        <a:pt x="125" y="21"/>
                        <a:pt x="131" y="23"/>
                      </a:cubicBezTo>
                      <a:cubicBezTo>
                        <a:pt x="137" y="25"/>
                        <a:pt x="139" y="28"/>
                        <a:pt x="137" y="34"/>
                      </a:cubicBezTo>
                      <a:cubicBezTo>
                        <a:pt x="135" y="40"/>
                        <a:pt x="132" y="45"/>
                        <a:pt x="130" y="50"/>
                      </a:cubicBezTo>
                      <a:cubicBezTo>
                        <a:pt x="129" y="52"/>
                        <a:pt x="129" y="55"/>
                        <a:pt x="129" y="56"/>
                      </a:cubicBezTo>
                      <a:cubicBezTo>
                        <a:pt x="132" y="65"/>
                        <a:pt x="135" y="73"/>
                        <a:pt x="138" y="82"/>
                      </a:cubicBezTo>
                      <a:cubicBezTo>
                        <a:pt x="147" y="54"/>
                        <a:pt x="155" y="27"/>
                        <a:pt x="164" y="0"/>
                      </a:cubicBezTo>
                      <a:cubicBezTo>
                        <a:pt x="171" y="4"/>
                        <a:pt x="178" y="8"/>
                        <a:pt x="185" y="12"/>
                      </a:cubicBezTo>
                      <a:cubicBezTo>
                        <a:pt x="196" y="16"/>
                        <a:pt x="206" y="21"/>
                        <a:pt x="217" y="24"/>
                      </a:cubicBezTo>
                      <a:cubicBezTo>
                        <a:pt x="232" y="28"/>
                        <a:pt x="239" y="38"/>
                        <a:pt x="242" y="52"/>
                      </a:cubicBezTo>
                      <a:cubicBezTo>
                        <a:pt x="244" y="66"/>
                        <a:pt x="242" y="80"/>
                        <a:pt x="240" y="94"/>
                      </a:cubicBezTo>
                      <a:cubicBezTo>
                        <a:pt x="240" y="96"/>
                        <a:pt x="238" y="97"/>
                        <a:pt x="237" y="98"/>
                      </a:cubicBezTo>
                      <a:cubicBezTo>
                        <a:pt x="209" y="123"/>
                        <a:pt x="176" y="139"/>
                        <a:pt x="139" y="142"/>
                      </a:cubicBezTo>
                      <a:cubicBezTo>
                        <a:pt x="89" y="147"/>
                        <a:pt x="45" y="132"/>
                        <a:pt x="7" y="100"/>
                      </a:cubicBezTo>
                      <a:cubicBezTo>
                        <a:pt x="3" y="97"/>
                        <a:pt x="2" y="93"/>
                        <a:pt x="1" y="88"/>
                      </a:cubicBezTo>
                      <a:cubicBezTo>
                        <a:pt x="1" y="79"/>
                        <a:pt x="0" y="69"/>
                        <a:pt x="0" y="59"/>
                      </a:cubicBezTo>
                      <a:cubicBezTo>
                        <a:pt x="0" y="52"/>
                        <a:pt x="3" y="45"/>
                        <a:pt x="5" y="38"/>
                      </a:cubicBezTo>
                      <a:cubicBezTo>
                        <a:pt x="8" y="31"/>
                        <a:pt x="14" y="27"/>
                        <a:pt x="22" y="25"/>
                      </a:cubicBezTo>
                      <a:cubicBezTo>
                        <a:pt x="41" y="20"/>
                        <a:pt x="59" y="12"/>
                        <a:pt x="76" y="1"/>
                      </a:cubicBezTo>
                      <a:cubicBezTo>
                        <a:pt x="76" y="1"/>
                        <a:pt x="77" y="0"/>
                        <a:pt x="7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93" name="Freeform 147">
                  <a:extLst>
                    <a:ext uri="{FF2B5EF4-FFF2-40B4-BE49-F238E27FC236}">
                      <a16:creationId xmlns:a16="http://schemas.microsoft.com/office/drawing/2014/main" id="{EBB7BFEF-3822-CB9B-3818-5D75B16CA43F}"/>
                    </a:ext>
                  </a:extLst>
                </p:cNvPr>
                <p:cNvSpPr>
                  <a:spLocks/>
                </p:cNvSpPr>
                <p:nvPr/>
              </p:nvSpPr>
              <p:spPr bwMode="auto">
                <a:xfrm>
                  <a:off x="2996" y="3424"/>
                  <a:ext cx="22" cy="28"/>
                </a:xfrm>
                <a:custGeom>
                  <a:avLst/>
                  <a:gdLst>
                    <a:gd name="T0" fmla="*/ 124 w 124"/>
                    <a:gd name="T1" fmla="*/ 60 h 156"/>
                    <a:gd name="T2" fmla="*/ 119 w 124"/>
                    <a:gd name="T3" fmla="*/ 89 h 156"/>
                    <a:gd name="T4" fmla="*/ 115 w 124"/>
                    <a:gd name="T5" fmla="*/ 112 h 156"/>
                    <a:gd name="T6" fmla="*/ 58 w 124"/>
                    <a:gd name="T7" fmla="*/ 153 h 156"/>
                    <a:gd name="T8" fmla="*/ 13 w 124"/>
                    <a:gd name="T9" fmla="*/ 109 h 156"/>
                    <a:gd name="T10" fmla="*/ 5 w 124"/>
                    <a:gd name="T11" fmla="*/ 64 h 156"/>
                    <a:gd name="T12" fmla="*/ 28 w 124"/>
                    <a:gd name="T13" fmla="*/ 13 h 156"/>
                    <a:gd name="T14" fmla="*/ 46 w 124"/>
                    <a:gd name="T15" fmla="*/ 4 h 156"/>
                    <a:gd name="T16" fmla="*/ 65 w 124"/>
                    <a:gd name="T17" fmla="*/ 0 h 156"/>
                    <a:gd name="T18" fmla="*/ 111 w 124"/>
                    <a:gd name="T19" fmla="*/ 21 h 156"/>
                    <a:gd name="T20" fmla="*/ 124 w 124"/>
                    <a:gd name="T21" fmla="*/ 6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4" h="156">
                      <a:moveTo>
                        <a:pt x="124" y="60"/>
                      </a:moveTo>
                      <a:cubicBezTo>
                        <a:pt x="123" y="66"/>
                        <a:pt x="121" y="78"/>
                        <a:pt x="119" y="89"/>
                      </a:cubicBezTo>
                      <a:cubicBezTo>
                        <a:pt x="118" y="97"/>
                        <a:pt x="117" y="104"/>
                        <a:pt x="115" y="112"/>
                      </a:cubicBezTo>
                      <a:cubicBezTo>
                        <a:pt x="109" y="135"/>
                        <a:pt x="84" y="156"/>
                        <a:pt x="58" y="153"/>
                      </a:cubicBezTo>
                      <a:cubicBezTo>
                        <a:pt x="37" y="150"/>
                        <a:pt x="16" y="130"/>
                        <a:pt x="13" y="109"/>
                      </a:cubicBezTo>
                      <a:cubicBezTo>
                        <a:pt x="10" y="94"/>
                        <a:pt x="8" y="79"/>
                        <a:pt x="5" y="64"/>
                      </a:cubicBezTo>
                      <a:cubicBezTo>
                        <a:pt x="0" y="41"/>
                        <a:pt x="11" y="25"/>
                        <a:pt x="28" y="13"/>
                      </a:cubicBezTo>
                      <a:cubicBezTo>
                        <a:pt x="33" y="9"/>
                        <a:pt x="39" y="6"/>
                        <a:pt x="46" y="4"/>
                      </a:cubicBezTo>
                      <a:cubicBezTo>
                        <a:pt x="52" y="2"/>
                        <a:pt x="58" y="0"/>
                        <a:pt x="65" y="0"/>
                      </a:cubicBezTo>
                      <a:cubicBezTo>
                        <a:pt x="83" y="0"/>
                        <a:pt x="99" y="8"/>
                        <a:pt x="111" y="21"/>
                      </a:cubicBezTo>
                      <a:cubicBezTo>
                        <a:pt x="121" y="30"/>
                        <a:pt x="124" y="42"/>
                        <a:pt x="12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sp>
              <p:nvSpPr>
                <p:cNvPr id="94" name="Freeform 148">
                  <a:extLst>
                    <a:ext uri="{FF2B5EF4-FFF2-40B4-BE49-F238E27FC236}">
                      <a16:creationId xmlns:a16="http://schemas.microsoft.com/office/drawing/2014/main" id="{0BB52204-282B-DA35-CB9E-56A789260171}"/>
                    </a:ext>
                  </a:extLst>
                </p:cNvPr>
                <p:cNvSpPr>
                  <a:spLocks/>
                </p:cNvSpPr>
                <p:nvPr/>
              </p:nvSpPr>
              <p:spPr bwMode="auto">
                <a:xfrm>
                  <a:off x="3098" y="3403"/>
                  <a:ext cx="34" cy="27"/>
                </a:xfrm>
                <a:custGeom>
                  <a:avLst/>
                  <a:gdLst>
                    <a:gd name="T0" fmla="*/ 0 w 191"/>
                    <a:gd name="T1" fmla="*/ 80 h 146"/>
                    <a:gd name="T2" fmla="*/ 15 w 191"/>
                    <a:gd name="T3" fmla="*/ 64 h 146"/>
                    <a:gd name="T4" fmla="*/ 71 w 191"/>
                    <a:gd name="T5" fmla="*/ 115 h 146"/>
                    <a:gd name="T6" fmla="*/ 175 w 191"/>
                    <a:gd name="T7" fmla="*/ 0 h 146"/>
                    <a:gd name="T8" fmla="*/ 191 w 191"/>
                    <a:gd name="T9" fmla="*/ 15 h 146"/>
                    <a:gd name="T10" fmla="*/ 72 w 191"/>
                    <a:gd name="T11" fmla="*/ 146 h 146"/>
                    <a:gd name="T12" fmla="*/ 0 w 191"/>
                    <a:gd name="T13" fmla="*/ 80 h 146"/>
                  </a:gdLst>
                  <a:ahLst/>
                  <a:cxnLst>
                    <a:cxn ang="0">
                      <a:pos x="T0" y="T1"/>
                    </a:cxn>
                    <a:cxn ang="0">
                      <a:pos x="T2" y="T3"/>
                    </a:cxn>
                    <a:cxn ang="0">
                      <a:pos x="T4" y="T5"/>
                    </a:cxn>
                    <a:cxn ang="0">
                      <a:pos x="T6" y="T7"/>
                    </a:cxn>
                    <a:cxn ang="0">
                      <a:pos x="T8" y="T9"/>
                    </a:cxn>
                    <a:cxn ang="0">
                      <a:pos x="T10" y="T11"/>
                    </a:cxn>
                    <a:cxn ang="0">
                      <a:pos x="T12" y="T13"/>
                    </a:cxn>
                  </a:cxnLst>
                  <a:rect l="0" t="0" r="r" b="b"/>
                  <a:pathLst>
                    <a:path w="191" h="146">
                      <a:moveTo>
                        <a:pt x="0" y="80"/>
                      </a:moveTo>
                      <a:cubicBezTo>
                        <a:pt x="5" y="74"/>
                        <a:pt x="10" y="69"/>
                        <a:pt x="15" y="64"/>
                      </a:cubicBezTo>
                      <a:cubicBezTo>
                        <a:pt x="34" y="81"/>
                        <a:pt x="52" y="98"/>
                        <a:pt x="71" y="115"/>
                      </a:cubicBezTo>
                      <a:cubicBezTo>
                        <a:pt x="105" y="77"/>
                        <a:pt x="140" y="39"/>
                        <a:pt x="175" y="0"/>
                      </a:cubicBezTo>
                      <a:cubicBezTo>
                        <a:pt x="180" y="5"/>
                        <a:pt x="185" y="10"/>
                        <a:pt x="191" y="15"/>
                      </a:cubicBezTo>
                      <a:cubicBezTo>
                        <a:pt x="151" y="58"/>
                        <a:pt x="112" y="102"/>
                        <a:pt x="72" y="146"/>
                      </a:cubicBezTo>
                      <a:cubicBezTo>
                        <a:pt x="48" y="124"/>
                        <a:pt x="25" y="102"/>
                        <a:pt x="0"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grpSp>
        </p:grpSp>
      </p:grpSp>
      <p:sp>
        <p:nvSpPr>
          <p:cNvPr id="112" name="Right Brace 111">
            <a:extLst>
              <a:ext uri="{FF2B5EF4-FFF2-40B4-BE49-F238E27FC236}">
                <a16:creationId xmlns:a16="http://schemas.microsoft.com/office/drawing/2014/main" id="{75312C96-19E1-BA2A-5299-D11E46DA00C8}"/>
              </a:ext>
            </a:extLst>
          </p:cNvPr>
          <p:cNvSpPr/>
          <p:nvPr/>
        </p:nvSpPr>
        <p:spPr>
          <a:xfrm>
            <a:off x="2019227" y="2506129"/>
            <a:ext cx="718613" cy="2766960"/>
          </a:xfrm>
          <a:prstGeom prst="rightBrace">
            <a:avLst>
              <a:gd name="adj1" fmla="val 128096"/>
              <a:gd name="adj2" fmla="val 51763"/>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2051C"/>
              </a:solidFill>
              <a:effectLst/>
              <a:uLnTx/>
              <a:uFillTx/>
              <a:latin typeface="Manrope"/>
            </a:endParaRPr>
          </a:p>
        </p:txBody>
      </p:sp>
      <p:cxnSp>
        <p:nvCxnSpPr>
          <p:cNvPr id="113" name="Straight Connector 112">
            <a:extLst>
              <a:ext uri="{FF2B5EF4-FFF2-40B4-BE49-F238E27FC236}">
                <a16:creationId xmlns:a16="http://schemas.microsoft.com/office/drawing/2014/main" id="{847F8501-B841-3749-D933-049EA3EDE363}"/>
              </a:ext>
            </a:extLst>
          </p:cNvPr>
          <p:cNvCxnSpPr>
            <a:cxnSpLocks/>
            <a:stCxn id="25" idx="6"/>
          </p:cNvCxnSpPr>
          <p:nvPr/>
        </p:nvCxnSpPr>
        <p:spPr>
          <a:xfrm>
            <a:off x="2019228" y="4556263"/>
            <a:ext cx="36137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AA8744D-8F33-BE78-2B78-DBC7C6D1D11D}"/>
              </a:ext>
            </a:extLst>
          </p:cNvPr>
          <p:cNvCxnSpPr>
            <a:cxnSpLocks/>
            <a:stCxn id="18" idx="6"/>
            <a:endCxn id="112" idx="1"/>
          </p:cNvCxnSpPr>
          <p:nvPr/>
        </p:nvCxnSpPr>
        <p:spPr>
          <a:xfrm>
            <a:off x="2018354" y="3926681"/>
            <a:ext cx="719486" cy="1171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CF5A2EF-4825-1349-7ECA-97ED76022441}"/>
              </a:ext>
            </a:extLst>
          </p:cNvPr>
          <p:cNvCxnSpPr>
            <a:cxnSpLocks/>
          </p:cNvCxnSpPr>
          <p:nvPr/>
        </p:nvCxnSpPr>
        <p:spPr>
          <a:xfrm>
            <a:off x="2019228" y="3260570"/>
            <a:ext cx="36137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18439B20-0A16-F59D-A7D0-83E06CDB55F8}"/>
              </a:ext>
            </a:extLst>
          </p:cNvPr>
          <p:cNvGrpSpPr/>
          <p:nvPr/>
        </p:nvGrpSpPr>
        <p:grpSpPr>
          <a:xfrm>
            <a:off x="9861607" y="2348823"/>
            <a:ext cx="2190823" cy="2649530"/>
            <a:chOff x="8897236" y="1563477"/>
            <a:chExt cx="2865596" cy="4271716"/>
          </a:xfrm>
        </p:grpSpPr>
        <p:sp>
          <p:nvSpPr>
            <p:cNvPr id="156" name="Rectangle: Rounded Corners 155">
              <a:extLst>
                <a:ext uri="{FF2B5EF4-FFF2-40B4-BE49-F238E27FC236}">
                  <a16:creationId xmlns:a16="http://schemas.microsoft.com/office/drawing/2014/main" id="{4AA08EEF-4CFB-1C54-C5BB-FC6E9CB0E922}"/>
                </a:ext>
              </a:extLst>
            </p:cNvPr>
            <p:cNvSpPr/>
            <p:nvPr/>
          </p:nvSpPr>
          <p:spPr>
            <a:xfrm>
              <a:off x="8897236" y="1563477"/>
              <a:ext cx="2865596" cy="4271716"/>
            </a:xfrm>
            <a:prstGeom prst="roundRect">
              <a:avLst>
                <a:gd name="adj" fmla="val 3120"/>
              </a:avLst>
            </a:prstGeom>
            <a:solidFill>
              <a:srgbClr val="EEEF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a:ln>
                  <a:noFill/>
                </a:ln>
                <a:solidFill>
                  <a:srgbClr val="FFFFFF"/>
                </a:solidFill>
                <a:effectLst/>
                <a:uLnTx/>
                <a:uFillTx/>
                <a:latin typeface="Manrope"/>
              </a:endParaRPr>
            </a:p>
          </p:txBody>
        </p:sp>
        <p:sp>
          <p:nvSpPr>
            <p:cNvPr id="157" name="Text Placeholder 14">
              <a:extLst>
                <a:ext uri="{FF2B5EF4-FFF2-40B4-BE49-F238E27FC236}">
                  <a16:creationId xmlns:a16="http://schemas.microsoft.com/office/drawing/2014/main" id="{5B47115E-2261-347A-E4F1-9701253BAB4C}"/>
                </a:ext>
              </a:extLst>
            </p:cNvPr>
            <p:cNvSpPr txBox="1">
              <a:spLocks/>
            </p:cNvSpPr>
            <p:nvPr/>
          </p:nvSpPr>
          <p:spPr>
            <a:xfrm flipH="1">
              <a:off x="9109583" y="1763730"/>
              <a:ext cx="2372264" cy="840146"/>
            </a:xfrm>
            <a:prstGeom prst="rect">
              <a:avLst/>
            </a:prstGeom>
            <a:ln>
              <a:noFill/>
            </a:ln>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
                  <a:srgbClr val="3C2DDA"/>
                </a:buClr>
                <a:buSzTx/>
                <a:buFont typeface="Arial" panose="020B0604020202020204" pitchFamily="34" charset="0"/>
                <a:buNone/>
                <a:tabLst/>
                <a:defRPr/>
              </a:pPr>
              <a:r>
                <a:rPr kumimoji="0" lang="en-US" sz="1050" b="1" i="0" u="none" strike="noStrike" kern="1200" cap="none" spc="0" normalizeH="0" baseline="0" noProof="0">
                  <a:ln>
                    <a:noFill/>
                  </a:ln>
                  <a:solidFill>
                    <a:srgbClr val="3C2DDA"/>
                  </a:solidFill>
                  <a:effectLst/>
                  <a:uLnTx/>
                  <a:uFillTx/>
                  <a:latin typeface="Manrope"/>
                </a:rPr>
                <a:t>End-to-End 1st Party Data Management across all channels</a:t>
              </a:r>
            </a:p>
          </p:txBody>
        </p:sp>
        <p:sp>
          <p:nvSpPr>
            <p:cNvPr id="158" name="Text Placeholder 14">
              <a:extLst>
                <a:ext uri="{FF2B5EF4-FFF2-40B4-BE49-F238E27FC236}">
                  <a16:creationId xmlns:a16="http://schemas.microsoft.com/office/drawing/2014/main" id="{7B5512BA-D9AF-2C70-8059-EED3DAA1C6B3}"/>
                </a:ext>
              </a:extLst>
            </p:cNvPr>
            <p:cNvSpPr txBox="1">
              <a:spLocks/>
            </p:cNvSpPr>
            <p:nvPr/>
          </p:nvSpPr>
          <p:spPr>
            <a:xfrm flipH="1">
              <a:off x="9109583" y="2845558"/>
              <a:ext cx="2372264" cy="554822"/>
            </a:xfrm>
            <a:prstGeom prst="rect">
              <a:avLst/>
            </a:prstGeom>
            <a:ln>
              <a:noFill/>
            </a:ln>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
                  <a:srgbClr val="3C2DDA"/>
                </a:buClr>
                <a:buSzTx/>
                <a:buFont typeface="Arial" panose="020B0604020202020204" pitchFamily="34" charset="0"/>
                <a:buNone/>
                <a:tabLst/>
                <a:defRPr/>
              </a:pPr>
              <a:r>
                <a:rPr kumimoji="0" lang="it-IT" sz="1000" b="1" i="0" u="none" strike="noStrike" kern="1200" cap="none" spc="0" normalizeH="0" baseline="0" noProof="0">
                  <a:ln>
                    <a:noFill/>
                  </a:ln>
                  <a:solidFill>
                    <a:srgbClr val="02051C"/>
                  </a:solidFill>
                  <a:effectLst/>
                  <a:uLnTx/>
                  <a:uFillTx/>
                  <a:latin typeface="Manrope"/>
                </a:rPr>
                <a:t>Intelligent AI based Data Stitching</a:t>
              </a:r>
            </a:p>
          </p:txBody>
        </p:sp>
        <p:cxnSp>
          <p:nvCxnSpPr>
            <p:cNvPr id="160" name="Straight Connector 159">
              <a:extLst>
                <a:ext uri="{FF2B5EF4-FFF2-40B4-BE49-F238E27FC236}">
                  <a16:creationId xmlns:a16="http://schemas.microsoft.com/office/drawing/2014/main" id="{367EE307-2536-DCCC-DDE3-E0343CDA57C0}"/>
                </a:ext>
              </a:extLst>
            </p:cNvPr>
            <p:cNvCxnSpPr/>
            <p:nvPr/>
          </p:nvCxnSpPr>
          <p:spPr>
            <a:xfrm>
              <a:off x="9109583" y="3384759"/>
              <a:ext cx="2372264" cy="0"/>
            </a:xfrm>
            <a:prstGeom prst="line">
              <a:avLst/>
            </a:prstGeom>
            <a:ln w="6350">
              <a:prstDash val="dash"/>
            </a:ln>
          </p:spPr>
          <p:style>
            <a:lnRef idx="1">
              <a:schemeClr val="accent1"/>
            </a:lnRef>
            <a:fillRef idx="0">
              <a:schemeClr val="accent1"/>
            </a:fillRef>
            <a:effectRef idx="0">
              <a:schemeClr val="accent1"/>
            </a:effectRef>
            <a:fontRef idx="minor">
              <a:schemeClr val="tx1"/>
            </a:fontRef>
          </p:style>
        </p:cxnSp>
        <p:sp>
          <p:nvSpPr>
            <p:cNvPr id="161" name="Text Placeholder 14">
              <a:extLst>
                <a:ext uri="{FF2B5EF4-FFF2-40B4-BE49-F238E27FC236}">
                  <a16:creationId xmlns:a16="http://schemas.microsoft.com/office/drawing/2014/main" id="{1BC16150-8BF2-6322-941D-FEECA4CC7CAA}"/>
                </a:ext>
              </a:extLst>
            </p:cNvPr>
            <p:cNvSpPr txBox="1">
              <a:spLocks/>
            </p:cNvSpPr>
            <p:nvPr/>
          </p:nvSpPr>
          <p:spPr>
            <a:xfrm flipH="1">
              <a:off x="9109583" y="3461141"/>
              <a:ext cx="2372264" cy="728497"/>
            </a:xfrm>
            <a:prstGeom prst="rect">
              <a:avLst/>
            </a:prstGeom>
            <a:ln>
              <a:noFill/>
            </a:ln>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
                  <a:srgbClr val="3C2DDA"/>
                </a:buClr>
                <a:buSzTx/>
                <a:buFont typeface="Arial" panose="020B0604020202020204" pitchFamily="34" charset="0"/>
                <a:buNone/>
                <a:tabLst/>
                <a:defRPr/>
              </a:pPr>
              <a:r>
                <a:rPr kumimoji="0" lang="en-US" sz="900" b="0" i="0" u="none" strike="noStrike" kern="1200" cap="none" spc="0" normalizeH="0" baseline="0" noProof="0">
                  <a:ln>
                    <a:noFill/>
                  </a:ln>
                  <a:solidFill>
                    <a:srgbClr val="02051C"/>
                  </a:solidFill>
                  <a:effectLst/>
                  <a:uLnTx/>
                  <a:uFillTx/>
                  <a:latin typeface="Manrope"/>
                </a:rPr>
                <a:t>Ensures Profile Uniqueness With Algorithmic Audiences and Look-A-Like Models</a:t>
              </a:r>
            </a:p>
          </p:txBody>
        </p:sp>
        <p:sp>
          <p:nvSpPr>
            <p:cNvPr id="162" name="Text Placeholder 14">
              <a:extLst>
                <a:ext uri="{FF2B5EF4-FFF2-40B4-BE49-F238E27FC236}">
                  <a16:creationId xmlns:a16="http://schemas.microsoft.com/office/drawing/2014/main" id="{FFE2E968-BC83-EF92-5FDB-4D3882795C07}"/>
                </a:ext>
              </a:extLst>
            </p:cNvPr>
            <p:cNvSpPr txBox="1">
              <a:spLocks/>
            </p:cNvSpPr>
            <p:nvPr/>
          </p:nvSpPr>
          <p:spPr>
            <a:xfrm flipH="1">
              <a:off x="9112167" y="4360221"/>
              <a:ext cx="2372264" cy="306715"/>
            </a:xfrm>
            <a:prstGeom prst="rect">
              <a:avLst/>
            </a:prstGeom>
            <a:ln>
              <a:noFill/>
            </a:ln>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
                  <a:srgbClr val="3C2DDA"/>
                </a:buClr>
                <a:buSzTx/>
                <a:buFont typeface="Arial" panose="020B0604020202020204" pitchFamily="34" charset="0"/>
                <a:buNone/>
                <a:tabLst/>
                <a:defRPr/>
              </a:pPr>
              <a:r>
                <a:rPr kumimoji="0" lang="it-IT" sz="1000" b="1" i="0" u="none" strike="noStrike" kern="1200" cap="none" spc="0" normalizeH="0" baseline="0" noProof="0">
                  <a:ln>
                    <a:noFill/>
                  </a:ln>
                  <a:solidFill>
                    <a:srgbClr val="02051C"/>
                  </a:solidFill>
                  <a:effectLst/>
                  <a:uLnTx/>
                  <a:uFillTx/>
                  <a:latin typeface="Manrope"/>
                </a:rPr>
                <a:t>Ensure Data Readiness</a:t>
              </a:r>
            </a:p>
          </p:txBody>
        </p:sp>
        <p:cxnSp>
          <p:nvCxnSpPr>
            <p:cNvPr id="163" name="Straight Connector 162">
              <a:extLst>
                <a:ext uri="{FF2B5EF4-FFF2-40B4-BE49-F238E27FC236}">
                  <a16:creationId xmlns:a16="http://schemas.microsoft.com/office/drawing/2014/main" id="{4AA81270-BFEF-2B82-8CE6-EE7C73F78C83}"/>
                </a:ext>
              </a:extLst>
            </p:cNvPr>
            <p:cNvCxnSpPr/>
            <p:nvPr/>
          </p:nvCxnSpPr>
          <p:spPr>
            <a:xfrm>
              <a:off x="9112167" y="4682606"/>
              <a:ext cx="2372264" cy="0"/>
            </a:xfrm>
            <a:prstGeom prst="line">
              <a:avLst/>
            </a:prstGeom>
            <a:ln w="6350">
              <a:prstDash val="dash"/>
            </a:ln>
          </p:spPr>
          <p:style>
            <a:lnRef idx="1">
              <a:schemeClr val="accent1"/>
            </a:lnRef>
            <a:fillRef idx="0">
              <a:schemeClr val="accent1"/>
            </a:fillRef>
            <a:effectRef idx="0">
              <a:schemeClr val="accent1"/>
            </a:effectRef>
            <a:fontRef idx="minor">
              <a:schemeClr val="tx1"/>
            </a:fontRef>
          </p:style>
        </p:cxnSp>
        <p:sp>
          <p:nvSpPr>
            <p:cNvPr id="164" name="Text Placeholder 14">
              <a:extLst>
                <a:ext uri="{FF2B5EF4-FFF2-40B4-BE49-F238E27FC236}">
                  <a16:creationId xmlns:a16="http://schemas.microsoft.com/office/drawing/2014/main" id="{11EF3EC3-A69F-B2A9-1114-C822135DAA20}"/>
                </a:ext>
              </a:extLst>
            </p:cNvPr>
            <p:cNvSpPr txBox="1">
              <a:spLocks/>
            </p:cNvSpPr>
            <p:nvPr/>
          </p:nvSpPr>
          <p:spPr>
            <a:xfrm flipH="1">
              <a:off x="9112167" y="4758987"/>
              <a:ext cx="2372264" cy="951793"/>
            </a:xfrm>
            <a:prstGeom prst="rect">
              <a:avLst/>
            </a:prstGeom>
            <a:ln>
              <a:noFill/>
            </a:ln>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
                  <a:srgbClr val="3C2DDA"/>
                </a:buClr>
                <a:buSzTx/>
                <a:buFont typeface="Arial" panose="020B0604020202020204" pitchFamily="34" charset="0"/>
                <a:buNone/>
                <a:tabLst/>
                <a:defRPr/>
              </a:pPr>
              <a:r>
                <a:rPr kumimoji="0" lang="en-US" sz="900" b="0" i="0" u="none" strike="noStrike" kern="1200" cap="none" spc="0" normalizeH="0" baseline="0" noProof="0">
                  <a:ln>
                    <a:noFill/>
                  </a:ln>
                  <a:solidFill>
                    <a:srgbClr val="02051C"/>
                  </a:solidFill>
                  <a:effectLst/>
                  <a:uLnTx/>
                  <a:uFillTx/>
                  <a:latin typeface="Manrope"/>
                </a:rPr>
                <a:t>Improve accuracy of your Audience Segments with high quality data delivered to CDP with improved ID resolution</a:t>
              </a:r>
            </a:p>
          </p:txBody>
        </p:sp>
      </p:grpSp>
      <p:pic>
        <p:nvPicPr>
          <p:cNvPr id="159" name="Picture 158" descr="A blue and black text&#10;&#10;AI-generated content may be incorrect.">
            <a:extLst>
              <a:ext uri="{FF2B5EF4-FFF2-40B4-BE49-F238E27FC236}">
                <a16:creationId xmlns:a16="http://schemas.microsoft.com/office/drawing/2014/main" id="{DB6AFB38-B9C6-2BF9-AC9F-D513523B21FD}"/>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4076960" y="3645425"/>
            <a:ext cx="518808" cy="500784"/>
          </a:xfrm>
          <a:prstGeom prst="rect">
            <a:avLst/>
          </a:prstGeom>
        </p:spPr>
      </p:pic>
      <p:pic>
        <p:nvPicPr>
          <p:cNvPr id="116" name="Picture 115">
            <a:extLst>
              <a:ext uri="{FF2B5EF4-FFF2-40B4-BE49-F238E27FC236}">
                <a16:creationId xmlns:a16="http://schemas.microsoft.com/office/drawing/2014/main" id="{7BB3F538-BEAB-D1BA-CAC3-AF85931B95D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773775" y="2320025"/>
            <a:ext cx="1533461" cy="467183"/>
          </a:xfrm>
          <a:prstGeom prst="rect">
            <a:avLst/>
          </a:prstGeom>
        </p:spPr>
      </p:pic>
      <p:pic>
        <p:nvPicPr>
          <p:cNvPr id="117" name="Picture 116">
            <a:extLst>
              <a:ext uri="{FF2B5EF4-FFF2-40B4-BE49-F238E27FC236}">
                <a16:creationId xmlns:a16="http://schemas.microsoft.com/office/drawing/2014/main" id="{995A2A49-B29B-7586-3604-A0EBBE9DDE8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504907" y="3039674"/>
            <a:ext cx="583988" cy="389326"/>
          </a:xfrm>
          <a:prstGeom prst="rect">
            <a:avLst/>
          </a:prstGeom>
        </p:spPr>
      </p:pic>
      <p:pic>
        <p:nvPicPr>
          <p:cNvPr id="118" name="Picture 117" descr="A blue and black text&#10;&#10;AI-generated content may be incorrect.">
            <a:extLst>
              <a:ext uri="{FF2B5EF4-FFF2-40B4-BE49-F238E27FC236}">
                <a16:creationId xmlns:a16="http://schemas.microsoft.com/office/drawing/2014/main" id="{65A3E731-0702-9B60-55CB-7ECA65F083CE}"/>
              </a:ext>
            </a:extLst>
          </p:cNvPr>
          <p:cNvPicPr>
            <a:picLocks noChangeAspect="1"/>
          </p:cNvPicPr>
          <p:nvPr/>
        </p:nvPicPr>
        <p:blipFill>
          <a:blip r:embed="rId7" cstate="email">
            <a:extLst>
              <a:ext uri="{28A0092B-C50C-407E-A947-70E740481C1C}">
                <a14:useLocalDpi xmlns:a14="http://schemas.microsoft.com/office/drawing/2010/main"/>
              </a:ext>
            </a:extLst>
          </a:blip>
          <a:srcRect/>
          <a:stretch/>
        </p:blipFill>
        <p:spPr>
          <a:xfrm>
            <a:off x="8563389" y="3787975"/>
            <a:ext cx="459099" cy="447626"/>
          </a:xfrm>
          <a:prstGeom prst="rect">
            <a:avLst/>
          </a:prstGeom>
        </p:spPr>
      </p:pic>
      <p:pic>
        <p:nvPicPr>
          <p:cNvPr id="120" name="Picture 119">
            <a:extLst>
              <a:ext uri="{FF2B5EF4-FFF2-40B4-BE49-F238E27FC236}">
                <a16:creationId xmlns:a16="http://schemas.microsoft.com/office/drawing/2014/main" id="{603DD18E-99FA-6299-79A1-9E642E6D953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497971" y="5076694"/>
            <a:ext cx="647869" cy="742679"/>
          </a:xfrm>
          <a:prstGeom prst="rect">
            <a:avLst/>
          </a:prstGeom>
        </p:spPr>
      </p:pic>
      <p:pic>
        <p:nvPicPr>
          <p:cNvPr id="121" name="Picture 120" descr="A red letters on a black background&#10;&#10;Description automatically generated">
            <a:extLst>
              <a:ext uri="{FF2B5EF4-FFF2-40B4-BE49-F238E27FC236}">
                <a16:creationId xmlns:a16="http://schemas.microsoft.com/office/drawing/2014/main" id="{1CE6B9AE-CD27-5DA7-1DE3-30D12AB479B1}"/>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347284" y="4650916"/>
            <a:ext cx="818574" cy="204794"/>
          </a:xfrm>
          <a:prstGeom prst="rect">
            <a:avLst/>
          </a:prstGeom>
        </p:spPr>
      </p:pic>
    </p:spTree>
    <p:extLst>
      <p:ext uri="{BB962C8B-B14F-4D97-AF65-F5344CB8AC3E}">
        <p14:creationId xmlns:p14="http://schemas.microsoft.com/office/powerpoint/2010/main" val="4205826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B05249BF-6712-B2F5-3525-6B8E629A23CE}"/>
              </a:ext>
            </a:extLst>
          </p:cNvPr>
          <p:cNvGrpSpPr/>
          <p:nvPr/>
        </p:nvGrpSpPr>
        <p:grpSpPr>
          <a:xfrm>
            <a:off x="8934145" y="940168"/>
            <a:ext cx="1045029" cy="1045029"/>
            <a:chOff x="8934145" y="940168"/>
            <a:chExt cx="1045029" cy="1045029"/>
          </a:xfrm>
        </p:grpSpPr>
        <p:sp>
          <p:nvSpPr>
            <p:cNvPr id="40" name="Oval 39">
              <a:extLst>
                <a:ext uri="{FF2B5EF4-FFF2-40B4-BE49-F238E27FC236}">
                  <a16:creationId xmlns:a16="http://schemas.microsoft.com/office/drawing/2014/main" id="{C03F2E2E-B3F5-3244-2503-1726A89083B7}"/>
                </a:ext>
              </a:extLst>
            </p:cNvPr>
            <p:cNvSpPr/>
            <p:nvPr/>
          </p:nvSpPr>
          <p:spPr>
            <a:xfrm>
              <a:off x="8934145" y="940168"/>
              <a:ext cx="1045029" cy="104502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BF8854F-A4DD-360E-F961-D1A17043501B}"/>
                </a:ext>
              </a:extLst>
            </p:cNvPr>
            <p:cNvSpPr/>
            <p:nvPr/>
          </p:nvSpPr>
          <p:spPr>
            <a:xfrm>
              <a:off x="9024830" y="1030852"/>
              <a:ext cx="863660" cy="86366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A90EEE93-1629-3F15-2FE1-F1D185533B25}"/>
              </a:ext>
            </a:extLst>
          </p:cNvPr>
          <p:cNvGrpSpPr/>
          <p:nvPr/>
        </p:nvGrpSpPr>
        <p:grpSpPr>
          <a:xfrm>
            <a:off x="1340852" y="1443426"/>
            <a:ext cx="2797916" cy="3161007"/>
            <a:chOff x="1361872" y="1760706"/>
            <a:chExt cx="2859932" cy="3359934"/>
          </a:xfrm>
        </p:grpSpPr>
        <p:sp>
          <p:nvSpPr>
            <p:cNvPr id="5" name="TextBox 4">
              <a:extLst>
                <a:ext uri="{FF2B5EF4-FFF2-40B4-BE49-F238E27FC236}">
                  <a16:creationId xmlns:a16="http://schemas.microsoft.com/office/drawing/2014/main" id="{3CD3505E-6C50-7AB9-8840-BBC05D944DAB}"/>
                </a:ext>
              </a:extLst>
            </p:cNvPr>
            <p:cNvSpPr txBox="1"/>
            <p:nvPr/>
          </p:nvSpPr>
          <p:spPr>
            <a:xfrm>
              <a:off x="1388229" y="2598932"/>
              <a:ext cx="2798203" cy="65429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1"/>
                  </a:solidFill>
                  <a:effectLst/>
                  <a:uLnTx/>
                  <a:uFillTx/>
                  <a:latin typeface="Manrope"/>
                </a:rPr>
                <a:t>Platform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1"/>
                  </a:solidFill>
                  <a:effectLst/>
                  <a:uLnTx/>
                  <a:uFillTx/>
                  <a:latin typeface="Manrope"/>
                </a:rPr>
                <a:t> Readiness</a:t>
              </a:r>
            </a:p>
          </p:txBody>
        </p:sp>
        <p:sp>
          <p:nvSpPr>
            <p:cNvPr id="6" name="Rectangle: Rounded Corners 5">
              <a:extLst>
                <a:ext uri="{FF2B5EF4-FFF2-40B4-BE49-F238E27FC236}">
                  <a16:creationId xmlns:a16="http://schemas.microsoft.com/office/drawing/2014/main" id="{97E65A50-76FB-8D2B-8F8F-6B687792ADF9}"/>
                </a:ext>
              </a:extLst>
            </p:cNvPr>
            <p:cNvSpPr/>
            <p:nvPr/>
          </p:nvSpPr>
          <p:spPr>
            <a:xfrm>
              <a:off x="1361872" y="1760706"/>
              <a:ext cx="2859932" cy="3359934"/>
            </a:xfrm>
            <a:prstGeom prst="roundRect">
              <a:avLst>
                <a:gd name="adj" fmla="val 0"/>
              </a:avLst>
            </a:prstGeom>
            <a:noFill/>
            <a:ln w="12700" cap="rnd">
              <a:solidFill>
                <a:schemeClr val="accent1"/>
              </a:solidFill>
              <a:prstDash val="soli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1" name="TextBox 10">
              <a:extLst>
                <a:ext uri="{FF2B5EF4-FFF2-40B4-BE49-F238E27FC236}">
                  <a16:creationId xmlns:a16="http://schemas.microsoft.com/office/drawing/2014/main" id="{7A9D4BDD-CCEA-63E8-A109-82CDD14BA169}"/>
                </a:ext>
              </a:extLst>
            </p:cNvPr>
            <p:cNvSpPr txBox="1"/>
            <p:nvPr/>
          </p:nvSpPr>
          <p:spPr>
            <a:xfrm>
              <a:off x="1527245" y="3429000"/>
              <a:ext cx="2538919" cy="107721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anrope"/>
                </a:rPr>
                <a:t>Modernize Data Estate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Manrope"/>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anrope"/>
                </a:rPr>
                <a:t>Rapidly transform legacy data platforms to scalable cloud enabled infrastructure</a:t>
              </a:r>
            </a:p>
          </p:txBody>
        </p:sp>
      </p:grpSp>
      <p:grpSp>
        <p:nvGrpSpPr>
          <p:cNvPr id="13" name="Group 12">
            <a:extLst>
              <a:ext uri="{FF2B5EF4-FFF2-40B4-BE49-F238E27FC236}">
                <a16:creationId xmlns:a16="http://schemas.microsoft.com/office/drawing/2014/main" id="{36D93C3A-424F-8A39-D65D-4893059EAA40}"/>
              </a:ext>
            </a:extLst>
          </p:cNvPr>
          <p:cNvGrpSpPr/>
          <p:nvPr/>
        </p:nvGrpSpPr>
        <p:grpSpPr>
          <a:xfrm>
            <a:off x="4704217" y="1443427"/>
            <a:ext cx="2797916" cy="3161008"/>
            <a:chOff x="1361872" y="1760706"/>
            <a:chExt cx="2859932" cy="3359934"/>
          </a:xfrm>
        </p:grpSpPr>
        <p:sp>
          <p:nvSpPr>
            <p:cNvPr id="14" name="TextBox 13">
              <a:extLst>
                <a:ext uri="{FF2B5EF4-FFF2-40B4-BE49-F238E27FC236}">
                  <a16:creationId xmlns:a16="http://schemas.microsoft.com/office/drawing/2014/main" id="{94F7720E-91CE-089B-526A-7EF007E777C0}"/>
                </a:ext>
              </a:extLst>
            </p:cNvPr>
            <p:cNvSpPr txBox="1"/>
            <p:nvPr/>
          </p:nvSpPr>
          <p:spPr>
            <a:xfrm>
              <a:off x="1517513" y="2598932"/>
              <a:ext cx="2538919" cy="65429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accent2"/>
                  </a:solidFill>
                  <a:effectLst/>
                  <a:uLnTx/>
                  <a:uFillTx/>
                  <a:latin typeface="Manrope"/>
                </a:rPr>
                <a:t>Trusted data Foundation</a:t>
              </a:r>
            </a:p>
          </p:txBody>
        </p:sp>
        <p:sp>
          <p:nvSpPr>
            <p:cNvPr id="15" name="Rectangle: Rounded Corners 14">
              <a:extLst>
                <a:ext uri="{FF2B5EF4-FFF2-40B4-BE49-F238E27FC236}">
                  <a16:creationId xmlns:a16="http://schemas.microsoft.com/office/drawing/2014/main" id="{7031981E-980F-2E55-CC21-15D7E74D8E9D}"/>
                </a:ext>
              </a:extLst>
            </p:cNvPr>
            <p:cNvSpPr/>
            <p:nvPr/>
          </p:nvSpPr>
          <p:spPr>
            <a:xfrm>
              <a:off x="1361872" y="1760706"/>
              <a:ext cx="2859932" cy="3359934"/>
            </a:xfrm>
            <a:prstGeom prst="roundRect">
              <a:avLst>
                <a:gd name="adj" fmla="val 0"/>
              </a:avLst>
            </a:prstGeom>
            <a:noFill/>
            <a:ln w="12700" cap="rnd">
              <a:solidFill>
                <a:schemeClr val="accent2"/>
              </a:solidFill>
              <a:prstDash val="soli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18" name="TextBox 17">
              <a:extLst>
                <a:ext uri="{FF2B5EF4-FFF2-40B4-BE49-F238E27FC236}">
                  <a16:creationId xmlns:a16="http://schemas.microsoft.com/office/drawing/2014/main" id="{778944A1-34B6-1A85-F597-BC558CC9E473}"/>
                </a:ext>
              </a:extLst>
            </p:cNvPr>
            <p:cNvSpPr txBox="1"/>
            <p:nvPr/>
          </p:nvSpPr>
          <p:spPr>
            <a:xfrm>
              <a:off x="1517512" y="3429000"/>
              <a:ext cx="2538919" cy="150810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anrope"/>
                </a:rPr>
                <a:t>Establish a reliable and  unified data foundation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Manrope"/>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anrope"/>
                </a:rPr>
                <a:t>Ensure consistent, high-quality data to feed into AI models, reducing risk and improving decision accuracy.</a:t>
              </a:r>
            </a:p>
          </p:txBody>
        </p:sp>
      </p:grpSp>
      <p:grpSp>
        <p:nvGrpSpPr>
          <p:cNvPr id="34" name="Group 33">
            <a:extLst>
              <a:ext uri="{FF2B5EF4-FFF2-40B4-BE49-F238E27FC236}">
                <a16:creationId xmlns:a16="http://schemas.microsoft.com/office/drawing/2014/main" id="{38154599-4EF3-884F-846B-930A66B67CB2}"/>
              </a:ext>
            </a:extLst>
          </p:cNvPr>
          <p:cNvGrpSpPr/>
          <p:nvPr/>
        </p:nvGrpSpPr>
        <p:grpSpPr>
          <a:xfrm>
            <a:off x="8067583" y="1179816"/>
            <a:ext cx="2783566" cy="3424617"/>
            <a:chOff x="8089954" y="1753368"/>
            <a:chExt cx="2859932" cy="3640133"/>
          </a:xfrm>
        </p:grpSpPr>
        <p:grpSp>
          <p:nvGrpSpPr>
            <p:cNvPr id="19" name="Group 18">
              <a:extLst>
                <a:ext uri="{FF2B5EF4-FFF2-40B4-BE49-F238E27FC236}">
                  <a16:creationId xmlns:a16="http://schemas.microsoft.com/office/drawing/2014/main" id="{0103B4EC-DA17-E516-A61C-544C945E7491}"/>
                </a:ext>
              </a:extLst>
            </p:cNvPr>
            <p:cNvGrpSpPr/>
            <p:nvPr/>
          </p:nvGrpSpPr>
          <p:grpSpPr>
            <a:xfrm>
              <a:off x="8089954" y="2033567"/>
              <a:ext cx="2859932" cy="3359934"/>
              <a:chOff x="1361872" y="1760706"/>
              <a:chExt cx="2859932" cy="3359934"/>
            </a:xfrm>
          </p:grpSpPr>
          <p:sp>
            <p:nvSpPr>
              <p:cNvPr id="20" name="TextBox 19">
                <a:extLst>
                  <a:ext uri="{FF2B5EF4-FFF2-40B4-BE49-F238E27FC236}">
                    <a16:creationId xmlns:a16="http://schemas.microsoft.com/office/drawing/2014/main" id="{B3C8592B-D5E3-6B6F-ADAB-9900ABC56180}"/>
                  </a:ext>
                </a:extLst>
              </p:cNvPr>
              <p:cNvSpPr txBox="1"/>
              <p:nvPr/>
            </p:nvSpPr>
            <p:spPr>
              <a:xfrm>
                <a:off x="1517513" y="2598932"/>
                <a:ext cx="2538919" cy="65429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tx2"/>
                    </a:solidFill>
                    <a:effectLst/>
                    <a:uLnTx/>
                    <a:uFillTx/>
                    <a:latin typeface="Manrope"/>
                  </a:rPr>
                  <a:t>AI powered Data Pipeline</a:t>
                </a:r>
              </a:p>
            </p:txBody>
          </p:sp>
          <p:sp>
            <p:nvSpPr>
              <p:cNvPr id="21" name="Rectangle: Rounded Corners 20">
                <a:extLst>
                  <a:ext uri="{FF2B5EF4-FFF2-40B4-BE49-F238E27FC236}">
                    <a16:creationId xmlns:a16="http://schemas.microsoft.com/office/drawing/2014/main" id="{DCB7CF71-FA2E-8718-3F71-CA5A2773AFAE}"/>
                  </a:ext>
                </a:extLst>
              </p:cNvPr>
              <p:cNvSpPr/>
              <p:nvPr/>
            </p:nvSpPr>
            <p:spPr>
              <a:xfrm>
                <a:off x="1361872" y="1760706"/>
                <a:ext cx="2859932" cy="3359934"/>
              </a:xfrm>
              <a:prstGeom prst="roundRect">
                <a:avLst>
                  <a:gd name="adj" fmla="val 0"/>
                </a:avLst>
              </a:prstGeom>
              <a:noFill/>
              <a:ln w="12700" cap="rnd">
                <a:solidFill>
                  <a:schemeClr val="accent4"/>
                </a:solidFill>
                <a:prstDash val="solid"/>
                <a:roun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anrope"/>
                </a:endParaRPr>
              </a:p>
            </p:txBody>
          </p:sp>
          <p:sp>
            <p:nvSpPr>
              <p:cNvPr id="24" name="TextBox 23">
                <a:extLst>
                  <a:ext uri="{FF2B5EF4-FFF2-40B4-BE49-F238E27FC236}">
                    <a16:creationId xmlns:a16="http://schemas.microsoft.com/office/drawing/2014/main" id="{E502A04C-9075-5A8C-0B1F-2F52E30933D1}"/>
                  </a:ext>
                </a:extLst>
              </p:cNvPr>
              <p:cNvSpPr txBox="1"/>
              <p:nvPr/>
            </p:nvSpPr>
            <p:spPr>
              <a:xfrm>
                <a:off x="1517512" y="3429000"/>
                <a:ext cx="2538919" cy="150810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anrope"/>
                  </a:rPr>
                  <a:t>Accelerate Pipeline creation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Manrope"/>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anrope"/>
                  </a:rPr>
                  <a:t>Simplify pipeline-building process, speed up AI deployment and reduce dependency on specialized technical skills.</a:t>
                </a:r>
              </a:p>
            </p:txBody>
          </p:sp>
        </p:grpSp>
        <p:pic>
          <p:nvPicPr>
            <p:cNvPr id="31" name="Graphic 30">
              <a:extLst>
                <a:ext uri="{FF2B5EF4-FFF2-40B4-BE49-F238E27FC236}">
                  <a16:creationId xmlns:a16="http://schemas.microsoft.com/office/drawing/2014/main" id="{FAF98991-9B43-E8FC-2AC2-11A87F7588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34870" y="1753368"/>
              <a:ext cx="560368" cy="535719"/>
            </a:xfrm>
            <a:prstGeom prst="rect">
              <a:avLst/>
            </a:prstGeom>
          </p:spPr>
        </p:pic>
      </p:grpSp>
      <p:sp>
        <p:nvSpPr>
          <p:cNvPr id="2" name="Text Placeholder 1">
            <a:extLst>
              <a:ext uri="{FF2B5EF4-FFF2-40B4-BE49-F238E27FC236}">
                <a16:creationId xmlns:a16="http://schemas.microsoft.com/office/drawing/2014/main" id="{5D169247-D94D-BAAC-75D2-2D6AD5832170}"/>
              </a:ext>
            </a:extLst>
          </p:cNvPr>
          <p:cNvSpPr>
            <a:spLocks noGrp="1"/>
          </p:cNvSpPr>
          <p:nvPr>
            <p:ph type="body" sz="quarter" idx="15"/>
          </p:nvPr>
        </p:nvSpPr>
        <p:spPr>
          <a:xfrm flipH="1">
            <a:off x="623888" y="457200"/>
            <a:ext cx="8172450" cy="244101"/>
          </a:xfrm>
        </p:spPr>
        <p:txBody>
          <a:bodyPr/>
          <a:lstStyle/>
          <a:p>
            <a:pPr lvl="0"/>
            <a:r>
              <a:rPr lang="en-US" noProof="0"/>
              <a:t>Amaze® for Data and AI</a:t>
            </a:r>
          </a:p>
        </p:txBody>
      </p:sp>
      <p:sp>
        <p:nvSpPr>
          <p:cNvPr id="9" name="Oval 8">
            <a:extLst>
              <a:ext uri="{FF2B5EF4-FFF2-40B4-BE49-F238E27FC236}">
                <a16:creationId xmlns:a16="http://schemas.microsoft.com/office/drawing/2014/main" id="{38D23E7A-1FE5-B079-282A-F699024EBFD3}"/>
              </a:ext>
            </a:extLst>
          </p:cNvPr>
          <p:cNvSpPr/>
          <p:nvPr/>
        </p:nvSpPr>
        <p:spPr>
          <a:xfrm>
            <a:off x="2210152" y="940168"/>
            <a:ext cx="1045029" cy="104502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B12E293-7CBD-D30B-C8C2-0739C64E62D5}"/>
              </a:ext>
            </a:extLst>
          </p:cNvPr>
          <p:cNvSpPr/>
          <p:nvPr/>
        </p:nvSpPr>
        <p:spPr>
          <a:xfrm>
            <a:off x="2300837" y="1030852"/>
            <a:ext cx="863660" cy="86366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DEC31221-6169-0D89-4140-31F8C510D4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75801" y="1189037"/>
            <a:ext cx="518495" cy="498608"/>
          </a:xfrm>
          <a:prstGeom prst="rect">
            <a:avLst/>
          </a:prstGeom>
        </p:spPr>
      </p:pic>
      <p:sp>
        <p:nvSpPr>
          <p:cNvPr id="36" name="Oval 35">
            <a:extLst>
              <a:ext uri="{FF2B5EF4-FFF2-40B4-BE49-F238E27FC236}">
                <a16:creationId xmlns:a16="http://schemas.microsoft.com/office/drawing/2014/main" id="{399F1C77-85A7-C274-1A15-69228638F335}"/>
              </a:ext>
            </a:extLst>
          </p:cNvPr>
          <p:cNvSpPr/>
          <p:nvPr/>
        </p:nvSpPr>
        <p:spPr>
          <a:xfrm>
            <a:off x="5568207" y="940168"/>
            <a:ext cx="1045029" cy="104502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9E23DDD-6E42-2E04-762C-CFBCB68D741D}"/>
              </a:ext>
            </a:extLst>
          </p:cNvPr>
          <p:cNvSpPr/>
          <p:nvPr/>
        </p:nvSpPr>
        <p:spPr>
          <a:xfrm>
            <a:off x="5658892" y="1030852"/>
            <a:ext cx="863660" cy="86366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Graphic 37">
            <a:extLst>
              <a:ext uri="{FF2B5EF4-FFF2-40B4-BE49-F238E27FC236}">
                <a16:creationId xmlns:a16="http://schemas.microsoft.com/office/drawing/2014/main" id="{4B84FBC9-1AE5-DB28-102B-E3C57258CF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0859" y="1193107"/>
            <a:ext cx="604633" cy="500639"/>
          </a:xfrm>
          <a:prstGeom prst="rect">
            <a:avLst/>
          </a:prstGeom>
        </p:spPr>
      </p:pic>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7D9E88FA-4805-139D-EE34-56CE1616ACAC}"/>
                  </a:ext>
                </a:extLst>
              </p:cNvPr>
              <p:cNvGraphicFramePr>
                <a:graphicFrameLocks noChangeAspect="1"/>
              </p:cNvGraphicFramePr>
              <p:nvPr>
                <p:extLst>
                  <p:ext uri="{D42A27DB-BD31-4B8C-83A1-F6EECF244321}">
                    <p14:modId xmlns:p14="http://schemas.microsoft.com/office/powerpoint/2010/main" val="4016846306"/>
                  </p:ext>
                </p:extLst>
              </p:nvPr>
            </p:nvGraphicFramePr>
            <p:xfrm>
              <a:off x="4902133" y="4893795"/>
              <a:ext cx="2275840" cy="1280160"/>
            </p:xfrm>
            <a:graphic>
              <a:graphicData uri="http://schemas.microsoft.com/office/powerpoint/2016/slidezoom">
                <pslz:sldZm>
                  <pslz:sldZmObj sldId="2147482401" cId="4220188918">
                    <pslz:zmPr id="{DA20374D-0E23-4F07-8031-C1AB9EFD39E8}" returnToParent="0" transitionDur="1000">
                      <p166:blipFill xmlns:p166="http://schemas.microsoft.com/office/powerpoint/2016/6/main">
                        <a:blip r:embed="rId5"/>
                        <a:stretch>
                          <a:fillRect/>
                        </a:stretch>
                      </p166:blipFill>
                      <p166:spPr xmlns:p166="http://schemas.microsoft.com/office/powerpoint/2016/6/main">
                        <a:xfrm>
                          <a:off x="0" y="0"/>
                          <a:ext cx="2275840" cy="1280160"/>
                        </a:xfrm>
                        <a:prstGeom prst="rect">
                          <a:avLst/>
                        </a:prstGeom>
                        <a:ln w="3175">
                          <a:solidFill>
                            <a:prstClr val="ltGray"/>
                          </a:solidFill>
                        </a:ln>
                      </p166:spPr>
                    </pslz:zmPr>
                  </pslz:sldZmObj>
                </pslz:sldZm>
              </a:graphicData>
            </a:graphic>
          </p:graphicFrame>
        </mc:Choice>
        <mc:Fallback xmlns="">
          <p:pic>
            <p:nvPicPr>
              <p:cNvPr id="8" name="Slide Zoom 7">
                <a:hlinkClick r:id="rId9" action="ppaction://hlinksldjump"/>
                <a:extLst>
                  <a:ext uri="{FF2B5EF4-FFF2-40B4-BE49-F238E27FC236}">
                    <a16:creationId xmlns:a16="http://schemas.microsoft.com/office/drawing/2014/main" id="{7D9E88FA-4805-139D-EE34-56CE1616ACAC}"/>
                  </a:ext>
                </a:extLst>
              </p:cNvPr>
              <p:cNvPicPr>
                <a:picLocks noGrp="1" noRot="1" noChangeAspect="1" noMove="1" noResize="1" noEditPoints="1" noAdjustHandles="1" noChangeArrowheads="1" noChangeShapeType="1"/>
              </p:cNvPicPr>
              <p:nvPr/>
            </p:nvPicPr>
            <p:blipFill>
              <a:blip r:embed="rId10"/>
              <a:stretch>
                <a:fillRect/>
              </a:stretch>
            </p:blipFill>
            <p:spPr>
              <a:xfrm>
                <a:off x="4902133" y="4893795"/>
                <a:ext cx="2275840" cy="128016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1BEAF86F-1F74-B507-4B83-51B7460E497C}"/>
                  </a:ext>
                </a:extLst>
              </p:cNvPr>
              <p:cNvGraphicFramePr>
                <a:graphicFrameLocks noChangeAspect="1"/>
              </p:cNvGraphicFramePr>
              <p:nvPr>
                <p:extLst>
                  <p:ext uri="{D42A27DB-BD31-4B8C-83A1-F6EECF244321}">
                    <p14:modId xmlns:p14="http://schemas.microsoft.com/office/powerpoint/2010/main" val="469971862"/>
                  </p:ext>
                </p:extLst>
              </p:nvPr>
            </p:nvGraphicFramePr>
            <p:xfrm>
              <a:off x="1389913" y="4893795"/>
              <a:ext cx="2275840" cy="1280160"/>
            </p:xfrm>
            <a:graphic>
              <a:graphicData uri="http://schemas.microsoft.com/office/powerpoint/2016/slidezoom">
                <pslz:sldZm>
                  <pslz:sldZmObj sldId="2147482400" cId="4106140008">
                    <pslz:zmPr id="{02371394-B4AC-49C8-97E0-2DE4F0DFFD29}" returnToParent="0" transitionDur="1000">
                      <p166:blipFill xmlns:p166="http://schemas.microsoft.com/office/powerpoint/2016/6/main">
                        <a:blip r:embed="rId5"/>
                        <a:stretch>
                          <a:fillRect/>
                        </a:stretch>
                      </p166:blipFill>
                      <p166:spPr xmlns:p166="http://schemas.microsoft.com/office/powerpoint/2016/6/main">
                        <a:xfrm>
                          <a:off x="0" y="0"/>
                          <a:ext cx="2275840" cy="1280160"/>
                        </a:xfrm>
                        <a:prstGeom prst="rect">
                          <a:avLst/>
                        </a:prstGeom>
                        <a:ln w="3175">
                          <a:solidFill>
                            <a:prstClr val="ltGray"/>
                          </a:solidFill>
                        </a:ln>
                      </p166:spPr>
                    </pslz:zmPr>
                  </pslz:sldZmObj>
                </pslz:sldZm>
              </a:graphicData>
            </a:graphic>
          </p:graphicFrame>
        </mc:Choice>
        <mc:Fallback xmlns="">
          <p:pic>
            <p:nvPicPr>
              <p:cNvPr id="17" name="Slide Zoom 16">
                <a:hlinkClick r:id="rId12" action="ppaction://hlinksldjump"/>
                <a:extLst>
                  <a:ext uri="{FF2B5EF4-FFF2-40B4-BE49-F238E27FC236}">
                    <a16:creationId xmlns:a16="http://schemas.microsoft.com/office/drawing/2014/main" id="{1BEAF86F-1F74-B507-4B83-51B7460E497C}"/>
                  </a:ext>
                </a:extLst>
              </p:cNvPr>
              <p:cNvPicPr>
                <a:picLocks noGrp="1" noRot="1" noChangeAspect="1" noMove="1" noResize="1" noEditPoints="1" noAdjustHandles="1" noChangeArrowheads="1" noChangeShapeType="1"/>
              </p:cNvPicPr>
              <p:nvPr/>
            </p:nvPicPr>
            <p:blipFill>
              <a:blip r:embed="rId13"/>
              <a:stretch>
                <a:fillRect/>
              </a:stretch>
            </p:blipFill>
            <p:spPr>
              <a:xfrm>
                <a:off x="1389913" y="4893795"/>
                <a:ext cx="2275840" cy="128016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2" name="Slide Zoom 21">
                <a:extLst>
                  <a:ext uri="{FF2B5EF4-FFF2-40B4-BE49-F238E27FC236}">
                    <a16:creationId xmlns:a16="http://schemas.microsoft.com/office/drawing/2014/main" id="{CD413096-CCA7-92FE-5FFD-64BADE7BA095}"/>
                  </a:ext>
                </a:extLst>
              </p:cNvPr>
              <p:cNvGraphicFramePr>
                <a:graphicFrameLocks noChangeAspect="1"/>
              </p:cNvGraphicFramePr>
              <p:nvPr>
                <p:extLst>
                  <p:ext uri="{D42A27DB-BD31-4B8C-83A1-F6EECF244321}">
                    <p14:modId xmlns:p14="http://schemas.microsoft.com/office/powerpoint/2010/main" val="842657967"/>
                  </p:ext>
                </p:extLst>
              </p:nvPr>
            </p:nvGraphicFramePr>
            <p:xfrm>
              <a:off x="8414352" y="4893795"/>
              <a:ext cx="2275840" cy="1280160"/>
            </p:xfrm>
            <a:graphic>
              <a:graphicData uri="http://schemas.microsoft.com/office/powerpoint/2016/slidezoom">
                <pslz:sldZm>
                  <pslz:sldZmObj sldId="2147482938" cId="2586150805">
                    <pslz:zmPr id="{FA9B7AF9-2D7C-40F0-AC2A-CC0ABA673BD7}" returnToParent="0" transitionDur="1000">
                      <p166:blipFill xmlns:p166="http://schemas.microsoft.com/office/powerpoint/2016/6/main">
                        <a:blip r:embed="rId5"/>
                        <a:stretch>
                          <a:fillRect/>
                        </a:stretch>
                      </p166:blipFill>
                      <p166:spPr xmlns:p166="http://schemas.microsoft.com/office/powerpoint/2016/6/main">
                        <a:xfrm>
                          <a:off x="0" y="0"/>
                          <a:ext cx="2275840" cy="1280160"/>
                        </a:xfrm>
                        <a:prstGeom prst="rect">
                          <a:avLst/>
                        </a:prstGeom>
                        <a:ln w="3175">
                          <a:solidFill>
                            <a:prstClr val="ltGray"/>
                          </a:solidFill>
                        </a:ln>
                      </p166:spPr>
                    </pslz:zmPr>
                  </pslz:sldZmObj>
                </pslz:sldZm>
              </a:graphicData>
            </a:graphic>
          </p:graphicFrame>
        </mc:Choice>
        <mc:Fallback xmlns="">
          <p:pic>
            <p:nvPicPr>
              <p:cNvPr id="22" name="Slide Zoom 21">
                <a:hlinkClick r:id="rId15" action="ppaction://hlinksldjump"/>
                <a:extLst>
                  <a:ext uri="{FF2B5EF4-FFF2-40B4-BE49-F238E27FC236}">
                    <a16:creationId xmlns:a16="http://schemas.microsoft.com/office/drawing/2014/main" id="{CD413096-CCA7-92FE-5FFD-64BADE7BA095}"/>
                  </a:ext>
                </a:extLst>
              </p:cNvPr>
              <p:cNvPicPr>
                <a:picLocks noGrp="1" noRot="1" noChangeAspect="1" noMove="1" noResize="1" noEditPoints="1" noAdjustHandles="1" noChangeArrowheads="1" noChangeShapeType="1"/>
              </p:cNvPicPr>
              <p:nvPr/>
            </p:nvPicPr>
            <p:blipFill>
              <a:blip r:embed="rId16"/>
              <a:stretch>
                <a:fillRect/>
              </a:stretch>
            </p:blipFill>
            <p:spPr>
              <a:xfrm>
                <a:off x="8414352" y="4893795"/>
                <a:ext cx="2275840" cy="1280160"/>
              </a:xfrm>
              <a:prstGeom prst="rect">
                <a:avLst/>
              </a:prstGeom>
              <a:ln w="3175">
                <a:solidFill>
                  <a:prstClr val="ltGray"/>
                </a:solidFill>
              </a:ln>
            </p:spPr>
          </p:pic>
        </mc:Fallback>
      </mc:AlternateContent>
    </p:spTree>
    <p:extLst>
      <p:ext uri="{BB962C8B-B14F-4D97-AF65-F5344CB8AC3E}">
        <p14:creationId xmlns:p14="http://schemas.microsoft.com/office/powerpoint/2010/main" val="287328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5C9ED6-73CC-CF3D-FD7B-FB4C23641D14}"/>
              </a:ext>
            </a:extLst>
          </p:cNvPr>
          <p:cNvSpPr>
            <a:spLocks noGrp="1"/>
          </p:cNvSpPr>
          <p:nvPr>
            <p:ph type="body" sz="quarter" idx="15"/>
          </p:nvPr>
        </p:nvSpPr>
        <p:spPr>
          <a:xfrm flipH="1">
            <a:off x="623888" y="457200"/>
            <a:ext cx="8172450" cy="244101"/>
          </a:xfrm>
        </p:spPr>
        <p:txBody>
          <a:bodyPr/>
          <a:lstStyle/>
          <a:p>
            <a:r>
              <a:rPr lang="en-US" noProof="0"/>
              <a:t>Amaze® for Modernization - Metadata based Ingestion Framework</a:t>
            </a:r>
          </a:p>
        </p:txBody>
      </p:sp>
      <p:grpSp>
        <p:nvGrpSpPr>
          <p:cNvPr id="92" name="Group 91">
            <a:extLst>
              <a:ext uri="{FF2B5EF4-FFF2-40B4-BE49-F238E27FC236}">
                <a16:creationId xmlns:a16="http://schemas.microsoft.com/office/drawing/2014/main" id="{36BFDD9D-5FD1-0260-4A0A-87D5B010A523}"/>
              </a:ext>
            </a:extLst>
          </p:cNvPr>
          <p:cNvGrpSpPr/>
          <p:nvPr/>
        </p:nvGrpSpPr>
        <p:grpSpPr>
          <a:xfrm>
            <a:off x="623888" y="908050"/>
            <a:ext cx="2674897" cy="5473700"/>
            <a:chOff x="623888" y="908050"/>
            <a:chExt cx="2674897" cy="5473700"/>
          </a:xfrm>
        </p:grpSpPr>
        <p:grpSp>
          <p:nvGrpSpPr>
            <p:cNvPr id="3" name="Group 2">
              <a:extLst>
                <a:ext uri="{FF2B5EF4-FFF2-40B4-BE49-F238E27FC236}">
                  <a16:creationId xmlns:a16="http://schemas.microsoft.com/office/drawing/2014/main" id="{CD20A397-26B0-E2D3-3992-F86288678B78}"/>
                </a:ext>
              </a:extLst>
            </p:cNvPr>
            <p:cNvGrpSpPr/>
            <p:nvPr/>
          </p:nvGrpSpPr>
          <p:grpSpPr>
            <a:xfrm>
              <a:off x="623888" y="908050"/>
              <a:ext cx="950026" cy="950026"/>
              <a:chOff x="623888" y="908050"/>
              <a:chExt cx="950026" cy="950026"/>
            </a:xfrm>
          </p:grpSpPr>
          <p:grpSp>
            <p:nvGrpSpPr>
              <p:cNvPr id="4" name="Group 3">
                <a:extLst>
                  <a:ext uri="{FF2B5EF4-FFF2-40B4-BE49-F238E27FC236}">
                    <a16:creationId xmlns:a16="http://schemas.microsoft.com/office/drawing/2014/main" id="{02E6150E-A70D-7B26-64B3-B0412D300763}"/>
                  </a:ext>
                </a:extLst>
              </p:cNvPr>
              <p:cNvGrpSpPr/>
              <p:nvPr/>
            </p:nvGrpSpPr>
            <p:grpSpPr>
              <a:xfrm>
                <a:off x="623888" y="908050"/>
                <a:ext cx="950026" cy="950026"/>
                <a:chOff x="1450992" y="1491427"/>
                <a:chExt cx="950026" cy="950026"/>
              </a:xfrm>
            </p:grpSpPr>
            <p:sp>
              <p:nvSpPr>
                <p:cNvPr id="10" name="Oval 9">
                  <a:extLst>
                    <a:ext uri="{FF2B5EF4-FFF2-40B4-BE49-F238E27FC236}">
                      <a16:creationId xmlns:a16="http://schemas.microsoft.com/office/drawing/2014/main" id="{F5EA8F94-2374-2619-5D43-C987513012EF}"/>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3F681DC-B116-0AA7-0F83-A99DD7C7491B}"/>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2B891E4F-46DF-4F0C-DA6F-28BC90699E8C}"/>
                  </a:ext>
                </a:extLst>
              </p:cNvPr>
              <p:cNvGrpSpPr/>
              <p:nvPr/>
            </p:nvGrpSpPr>
            <p:grpSpPr>
              <a:xfrm>
                <a:off x="896117" y="1162004"/>
                <a:ext cx="430649" cy="419618"/>
                <a:chOff x="999053" y="1144790"/>
                <a:chExt cx="521085" cy="461580"/>
              </a:xfrm>
            </p:grpSpPr>
            <p:grpSp>
              <p:nvGrpSpPr>
                <p:cNvPr id="6" name="Group 5">
                  <a:extLst>
                    <a:ext uri="{FF2B5EF4-FFF2-40B4-BE49-F238E27FC236}">
                      <a16:creationId xmlns:a16="http://schemas.microsoft.com/office/drawing/2014/main" id="{976E5674-D3E4-D452-7EC0-B6761344FA5E}"/>
                    </a:ext>
                  </a:extLst>
                </p:cNvPr>
                <p:cNvGrpSpPr/>
                <p:nvPr/>
              </p:nvGrpSpPr>
              <p:grpSpPr>
                <a:xfrm>
                  <a:off x="999053" y="1144790"/>
                  <a:ext cx="521085" cy="461580"/>
                  <a:chOff x="496843" y="1099540"/>
                  <a:chExt cx="521085" cy="461580"/>
                </a:xfrm>
              </p:grpSpPr>
              <p:sp>
                <p:nvSpPr>
                  <p:cNvPr id="8" name="Freeform: Shape 11">
                    <a:extLst>
                      <a:ext uri="{FF2B5EF4-FFF2-40B4-BE49-F238E27FC236}">
                        <a16:creationId xmlns:a16="http://schemas.microsoft.com/office/drawing/2014/main" id="{3F994805-AB2C-B428-1AB4-5B9B3C2E715C}"/>
                      </a:ext>
                    </a:extLst>
                  </p:cNvPr>
                  <p:cNvSpPr/>
                  <p:nvPr/>
                </p:nvSpPr>
                <p:spPr>
                  <a:xfrm>
                    <a:off x="496843" y="1099540"/>
                    <a:ext cx="521085" cy="461580"/>
                  </a:xfrm>
                  <a:custGeom>
                    <a:avLst/>
                    <a:gdLst>
                      <a:gd name="connsiteX0" fmla="*/ 3881676 w 4877038"/>
                      <a:gd name="connsiteY0" fmla="*/ 3204448 h 4876085"/>
                      <a:gd name="connsiteX1" fmla="*/ 3774043 w 4877038"/>
                      <a:gd name="connsiteY1" fmla="*/ 3204448 h 4876085"/>
                      <a:gd name="connsiteX2" fmla="*/ 3774043 w 4877038"/>
                      <a:gd name="connsiteY2" fmla="*/ 3204448 h 4876085"/>
                      <a:gd name="connsiteX3" fmla="*/ 3678793 w 4877038"/>
                      <a:gd name="connsiteY3" fmla="*/ 3299698 h 4876085"/>
                      <a:gd name="connsiteX4" fmla="*/ 3485436 w 4877038"/>
                      <a:gd name="connsiteY4" fmla="*/ 3106341 h 4876085"/>
                      <a:gd name="connsiteX5" fmla="*/ 3309223 w 4877038"/>
                      <a:gd name="connsiteY5" fmla="*/ 567928 h 4876085"/>
                      <a:gd name="connsiteX6" fmla="*/ 567928 w 4877038"/>
                      <a:gd name="connsiteY6" fmla="*/ 567928 h 4876085"/>
                      <a:gd name="connsiteX7" fmla="*/ 567928 w 4877038"/>
                      <a:gd name="connsiteY7" fmla="*/ 3309223 h 4876085"/>
                      <a:gd name="connsiteX8" fmla="*/ 3107293 w 4877038"/>
                      <a:gd name="connsiteY8" fmla="*/ 3485436 h 4876085"/>
                      <a:gd name="connsiteX9" fmla="*/ 3300651 w 4877038"/>
                      <a:gd name="connsiteY9" fmla="*/ 3678793 h 4876085"/>
                      <a:gd name="connsiteX10" fmla="*/ 3205401 w 4877038"/>
                      <a:gd name="connsiteY10" fmla="*/ 3774043 h 4876085"/>
                      <a:gd name="connsiteX11" fmla="*/ 3205401 w 4877038"/>
                      <a:gd name="connsiteY11" fmla="*/ 3881676 h 4876085"/>
                      <a:gd name="connsiteX12" fmla="*/ 4059793 w 4877038"/>
                      <a:gd name="connsiteY12" fmla="*/ 4736068 h 4876085"/>
                      <a:gd name="connsiteX13" fmla="*/ 4737021 w 4877038"/>
                      <a:gd name="connsiteY13" fmla="*/ 4736068 h 4876085"/>
                      <a:gd name="connsiteX14" fmla="*/ 4737021 w 4877038"/>
                      <a:gd name="connsiteY14" fmla="*/ 4058841 h 4876085"/>
                      <a:gd name="connsiteX15" fmla="*/ 3881676 w 4877038"/>
                      <a:gd name="connsiteY15" fmla="*/ 3204448 h 4876085"/>
                      <a:gd name="connsiteX16" fmla="*/ 674608 w 4877038"/>
                      <a:gd name="connsiteY16" fmla="*/ 3201591 h 4876085"/>
                      <a:gd name="connsiteX17" fmla="*/ 662226 w 4877038"/>
                      <a:gd name="connsiteY17" fmla="*/ 675561 h 4876085"/>
                      <a:gd name="connsiteX18" fmla="*/ 3188256 w 4877038"/>
                      <a:gd name="connsiteY18" fmla="*/ 662226 h 4876085"/>
                      <a:gd name="connsiteX19" fmla="*/ 3201591 w 4877038"/>
                      <a:gd name="connsiteY19" fmla="*/ 675561 h 4876085"/>
                      <a:gd name="connsiteX20" fmla="*/ 3201591 w 4877038"/>
                      <a:gd name="connsiteY20" fmla="*/ 3201591 h 4876085"/>
                      <a:gd name="connsiteX21" fmla="*/ 674608 w 4877038"/>
                      <a:gd name="connsiteY21" fmla="*/ 3201591 h 4876085"/>
                      <a:gd name="connsiteX22" fmla="*/ 674608 w 4877038"/>
                      <a:gd name="connsiteY22" fmla="*/ 3201591 h 4876085"/>
                      <a:gd name="connsiteX23" fmla="*/ 3224451 w 4877038"/>
                      <a:gd name="connsiteY23" fmla="*/ 3388281 h 4876085"/>
                      <a:gd name="connsiteX24" fmla="*/ 3308271 w 4877038"/>
                      <a:gd name="connsiteY24" fmla="*/ 3309223 h 4876085"/>
                      <a:gd name="connsiteX25" fmla="*/ 3387328 w 4877038"/>
                      <a:gd name="connsiteY25" fmla="*/ 3225403 h 4876085"/>
                      <a:gd name="connsiteX26" fmla="*/ 3570208 w 4877038"/>
                      <a:gd name="connsiteY26" fmla="*/ 3408283 h 4876085"/>
                      <a:gd name="connsiteX27" fmla="*/ 3407331 w 4877038"/>
                      <a:gd name="connsiteY27" fmla="*/ 3571161 h 4876085"/>
                      <a:gd name="connsiteX28" fmla="*/ 3224451 w 4877038"/>
                      <a:gd name="connsiteY28" fmla="*/ 3388281 h 4876085"/>
                      <a:gd name="connsiteX29" fmla="*/ 4628436 w 4877038"/>
                      <a:gd name="connsiteY29" fmla="*/ 4629388 h 4876085"/>
                      <a:gd name="connsiteX30" fmla="*/ 4166473 w 4877038"/>
                      <a:gd name="connsiteY30" fmla="*/ 4629388 h 4876085"/>
                      <a:gd name="connsiteX31" fmla="*/ 3365421 w 4877038"/>
                      <a:gd name="connsiteY31" fmla="*/ 3828336 h 4876085"/>
                      <a:gd name="connsiteX32" fmla="*/ 3827383 w 4877038"/>
                      <a:gd name="connsiteY32" fmla="*/ 3366373 h 4876085"/>
                      <a:gd name="connsiteX33" fmla="*/ 4628436 w 4877038"/>
                      <a:gd name="connsiteY33" fmla="*/ 4167426 h 4876085"/>
                      <a:gd name="connsiteX34" fmla="*/ 4628436 w 4877038"/>
                      <a:gd name="connsiteY34" fmla="*/ 4629388 h 4876085"/>
                      <a:gd name="connsiteX35" fmla="*/ 4628436 w 4877038"/>
                      <a:gd name="connsiteY35" fmla="*/ 4629388 h 4876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877038" h="4876085">
                        <a:moveTo>
                          <a:pt x="3881676" y="3204448"/>
                        </a:moveTo>
                        <a:cubicBezTo>
                          <a:pt x="3852148" y="3174921"/>
                          <a:pt x="3803571" y="3174921"/>
                          <a:pt x="3774043" y="3204448"/>
                        </a:cubicBezTo>
                        <a:cubicBezTo>
                          <a:pt x="3774043" y="3204448"/>
                          <a:pt x="3774043" y="3204448"/>
                          <a:pt x="3774043" y="3204448"/>
                        </a:cubicBezTo>
                        <a:lnTo>
                          <a:pt x="3678793" y="3299698"/>
                        </a:lnTo>
                        <a:lnTo>
                          <a:pt x="3485436" y="3106341"/>
                        </a:lnTo>
                        <a:cubicBezTo>
                          <a:pt x="4059793" y="2347198"/>
                          <a:pt x="4000738" y="1259443"/>
                          <a:pt x="3309223" y="567928"/>
                        </a:cubicBezTo>
                        <a:cubicBezTo>
                          <a:pt x="2551986" y="-189309"/>
                          <a:pt x="1325166" y="-189309"/>
                          <a:pt x="567928" y="567928"/>
                        </a:cubicBezTo>
                        <a:cubicBezTo>
                          <a:pt x="-189309" y="1325166"/>
                          <a:pt x="-189309" y="2551986"/>
                          <a:pt x="567928" y="3309223"/>
                        </a:cubicBezTo>
                        <a:cubicBezTo>
                          <a:pt x="1251823" y="3993118"/>
                          <a:pt x="2334816" y="4068366"/>
                          <a:pt x="3107293" y="3485436"/>
                        </a:cubicBezTo>
                        <a:lnTo>
                          <a:pt x="3300651" y="3678793"/>
                        </a:lnTo>
                        <a:lnTo>
                          <a:pt x="3205401" y="3774043"/>
                        </a:lnTo>
                        <a:cubicBezTo>
                          <a:pt x="3175873" y="3803571"/>
                          <a:pt x="3175873" y="3852148"/>
                          <a:pt x="3205401" y="3881676"/>
                        </a:cubicBezTo>
                        <a:lnTo>
                          <a:pt x="4059793" y="4736068"/>
                        </a:lnTo>
                        <a:cubicBezTo>
                          <a:pt x="4246483" y="4922758"/>
                          <a:pt x="4550331" y="4922758"/>
                          <a:pt x="4737021" y="4736068"/>
                        </a:cubicBezTo>
                        <a:cubicBezTo>
                          <a:pt x="4923711" y="4549378"/>
                          <a:pt x="4923711" y="4245531"/>
                          <a:pt x="4737021" y="4058841"/>
                        </a:cubicBezTo>
                        <a:lnTo>
                          <a:pt x="3881676" y="3204448"/>
                        </a:lnTo>
                        <a:close/>
                        <a:moveTo>
                          <a:pt x="674608" y="3201591"/>
                        </a:moveTo>
                        <a:cubicBezTo>
                          <a:pt x="-26432" y="2507218"/>
                          <a:pt x="-32147" y="1376601"/>
                          <a:pt x="662226" y="675561"/>
                        </a:cubicBezTo>
                        <a:cubicBezTo>
                          <a:pt x="1356598" y="-25479"/>
                          <a:pt x="2487216" y="-31194"/>
                          <a:pt x="3188256" y="662226"/>
                        </a:cubicBezTo>
                        <a:cubicBezTo>
                          <a:pt x="3193018" y="666988"/>
                          <a:pt x="3196828" y="670798"/>
                          <a:pt x="3201591" y="675561"/>
                        </a:cubicBezTo>
                        <a:cubicBezTo>
                          <a:pt x="3897868" y="1371838"/>
                          <a:pt x="3897868" y="2505313"/>
                          <a:pt x="3201591" y="3201591"/>
                        </a:cubicBezTo>
                        <a:cubicBezTo>
                          <a:pt x="2503408" y="3898821"/>
                          <a:pt x="1371838" y="3898821"/>
                          <a:pt x="674608" y="3201591"/>
                        </a:cubicBezTo>
                        <a:lnTo>
                          <a:pt x="674608" y="3201591"/>
                        </a:lnTo>
                        <a:close/>
                        <a:moveTo>
                          <a:pt x="3224451" y="3388281"/>
                        </a:moveTo>
                        <a:cubicBezTo>
                          <a:pt x="3253026" y="3362563"/>
                          <a:pt x="3281601" y="3336846"/>
                          <a:pt x="3308271" y="3309223"/>
                        </a:cubicBezTo>
                        <a:cubicBezTo>
                          <a:pt x="3335893" y="3281601"/>
                          <a:pt x="3361611" y="3253978"/>
                          <a:pt x="3387328" y="3225403"/>
                        </a:cubicBezTo>
                        <a:lnTo>
                          <a:pt x="3570208" y="3408283"/>
                        </a:lnTo>
                        <a:lnTo>
                          <a:pt x="3407331" y="3571161"/>
                        </a:lnTo>
                        <a:lnTo>
                          <a:pt x="3224451" y="3388281"/>
                        </a:lnTo>
                        <a:close/>
                        <a:moveTo>
                          <a:pt x="4628436" y="4629388"/>
                        </a:moveTo>
                        <a:cubicBezTo>
                          <a:pt x="4500801" y="4757023"/>
                          <a:pt x="4294108" y="4757023"/>
                          <a:pt x="4166473" y="4629388"/>
                        </a:cubicBezTo>
                        <a:lnTo>
                          <a:pt x="3365421" y="3828336"/>
                        </a:lnTo>
                        <a:lnTo>
                          <a:pt x="3827383" y="3366373"/>
                        </a:lnTo>
                        <a:lnTo>
                          <a:pt x="4628436" y="4167426"/>
                        </a:lnTo>
                        <a:cubicBezTo>
                          <a:pt x="4755118" y="4295061"/>
                          <a:pt x="4755118" y="4501753"/>
                          <a:pt x="4628436" y="4629388"/>
                        </a:cubicBezTo>
                        <a:lnTo>
                          <a:pt x="4628436" y="4629388"/>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79350D84-DD07-33FE-520E-559C5A7AC986}"/>
                      </a:ext>
                    </a:extLst>
                  </p:cNvPr>
                  <p:cNvSpPr/>
                  <p:nvPr/>
                </p:nvSpPr>
                <p:spPr>
                  <a:xfrm>
                    <a:off x="663871" y="1154579"/>
                    <a:ext cx="80142" cy="185797"/>
                  </a:xfrm>
                  <a:custGeom>
                    <a:avLst/>
                    <a:gdLst>
                      <a:gd name="connsiteX0" fmla="*/ 421005 w 750072"/>
                      <a:gd name="connsiteY0" fmla="*/ 2858 h 1962738"/>
                      <a:gd name="connsiteX1" fmla="*/ 379095 w 750072"/>
                      <a:gd name="connsiteY1" fmla="*/ 0 h 1962738"/>
                      <a:gd name="connsiteX2" fmla="*/ 371475 w 750072"/>
                      <a:gd name="connsiteY2" fmla="*/ 0 h 1962738"/>
                      <a:gd name="connsiteX3" fmla="*/ 0 w 750072"/>
                      <a:gd name="connsiteY3" fmla="*/ 371475 h 1962738"/>
                      <a:gd name="connsiteX4" fmla="*/ 1905 w 750072"/>
                      <a:gd name="connsiteY4" fmla="*/ 414338 h 1962738"/>
                      <a:gd name="connsiteX5" fmla="*/ 157163 w 750072"/>
                      <a:gd name="connsiteY5" fmla="*/ 1768793 h 1962738"/>
                      <a:gd name="connsiteX6" fmla="*/ 400050 w 750072"/>
                      <a:gd name="connsiteY6" fmla="*/ 1961198 h 1962738"/>
                      <a:gd name="connsiteX7" fmla="*/ 592455 w 750072"/>
                      <a:gd name="connsiteY7" fmla="*/ 1768793 h 1962738"/>
                      <a:gd name="connsiteX8" fmla="*/ 747713 w 750072"/>
                      <a:gd name="connsiteY8" fmla="*/ 414338 h 1962738"/>
                      <a:gd name="connsiteX9" fmla="*/ 421005 w 750072"/>
                      <a:gd name="connsiteY9" fmla="*/ 2858 h 1962738"/>
                      <a:gd name="connsiteX10" fmla="*/ 596265 w 750072"/>
                      <a:gd name="connsiteY10" fmla="*/ 397193 h 1962738"/>
                      <a:gd name="connsiteX11" fmla="*/ 441008 w 750072"/>
                      <a:gd name="connsiteY11" fmla="*/ 1751648 h 1962738"/>
                      <a:gd name="connsiteX12" fmla="*/ 366713 w 750072"/>
                      <a:gd name="connsiteY12" fmla="*/ 1809750 h 1962738"/>
                      <a:gd name="connsiteX13" fmla="*/ 307658 w 750072"/>
                      <a:gd name="connsiteY13" fmla="*/ 1751648 h 1962738"/>
                      <a:gd name="connsiteX14" fmla="*/ 152400 w 750072"/>
                      <a:gd name="connsiteY14" fmla="*/ 397193 h 1962738"/>
                      <a:gd name="connsiteX15" fmla="*/ 344805 w 750072"/>
                      <a:gd name="connsiteY15" fmla="*/ 154305 h 1962738"/>
                      <a:gd name="connsiteX16" fmla="*/ 369570 w 750072"/>
                      <a:gd name="connsiteY16" fmla="*/ 152400 h 1962738"/>
                      <a:gd name="connsiteX17" fmla="*/ 377190 w 750072"/>
                      <a:gd name="connsiteY17" fmla="*/ 152400 h 1962738"/>
                      <a:gd name="connsiteX18" fmla="*/ 596265 w 750072"/>
                      <a:gd name="connsiteY18" fmla="*/ 371475 h 1962738"/>
                      <a:gd name="connsiteX19" fmla="*/ 596265 w 750072"/>
                      <a:gd name="connsiteY19" fmla="*/ 397193 h 196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0072" h="1962738">
                        <a:moveTo>
                          <a:pt x="421005" y="2858"/>
                        </a:moveTo>
                        <a:cubicBezTo>
                          <a:pt x="406717" y="953"/>
                          <a:pt x="392430" y="0"/>
                          <a:pt x="379095" y="0"/>
                        </a:cubicBezTo>
                        <a:lnTo>
                          <a:pt x="371475" y="0"/>
                        </a:lnTo>
                        <a:cubicBezTo>
                          <a:pt x="166688" y="0"/>
                          <a:pt x="0" y="166688"/>
                          <a:pt x="0" y="371475"/>
                        </a:cubicBezTo>
                        <a:cubicBezTo>
                          <a:pt x="0" y="385763"/>
                          <a:pt x="953" y="400050"/>
                          <a:pt x="1905" y="414338"/>
                        </a:cubicBezTo>
                        <a:lnTo>
                          <a:pt x="157163" y="1768793"/>
                        </a:lnTo>
                        <a:cubicBezTo>
                          <a:pt x="171450" y="1888808"/>
                          <a:pt x="280035" y="1975485"/>
                          <a:pt x="400050" y="1961198"/>
                        </a:cubicBezTo>
                        <a:cubicBezTo>
                          <a:pt x="501015" y="1949768"/>
                          <a:pt x="581025" y="1869758"/>
                          <a:pt x="592455" y="1768793"/>
                        </a:cubicBezTo>
                        <a:lnTo>
                          <a:pt x="747713" y="414338"/>
                        </a:lnTo>
                        <a:cubicBezTo>
                          <a:pt x="770573" y="210503"/>
                          <a:pt x="624840" y="26670"/>
                          <a:pt x="421005" y="2858"/>
                        </a:cubicBezTo>
                        <a:close/>
                        <a:moveTo>
                          <a:pt x="596265" y="397193"/>
                        </a:moveTo>
                        <a:lnTo>
                          <a:pt x="441008" y="1751648"/>
                        </a:lnTo>
                        <a:cubicBezTo>
                          <a:pt x="437198" y="1787843"/>
                          <a:pt x="403860" y="1814513"/>
                          <a:pt x="366713" y="1809750"/>
                        </a:cubicBezTo>
                        <a:cubicBezTo>
                          <a:pt x="336233" y="1805940"/>
                          <a:pt x="311467" y="1782128"/>
                          <a:pt x="307658" y="1751648"/>
                        </a:cubicBezTo>
                        <a:lnTo>
                          <a:pt x="152400" y="397193"/>
                        </a:lnTo>
                        <a:cubicBezTo>
                          <a:pt x="139065" y="277178"/>
                          <a:pt x="224790" y="168593"/>
                          <a:pt x="344805" y="154305"/>
                        </a:cubicBezTo>
                        <a:cubicBezTo>
                          <a:pt x="353378" y="153353"/>
                          <a:pt x="361950" y="152400"/>
                          <a:pt x="369570" y="152400"/>
                        </a:cubicBezTo>
                        <a:lnTo>
                          <a:pt x="377190" y="152400"/>
                        </a:lnTo>
                        <a:cubicBezTo>
                          <a:pt x="498158" y="152400"/>
                          <a:pt x="596265" y="250508"/>
                          <a:pt x="596265" y="371475"/>
                        </a:cubicBezTo>
                        <a:cubicBezTo>
                          <a:pt x="597218" y="381000"/>
                          <a:pt x="597218" y="388620"/>
                          <a:pt x="596265" y="397193"/>
                        </a:cubicBez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Freeform: Shape 14">
                  <a:extLst>
                    <a:ext uri="{FF2B5EF4-FFF2-40B4-BE49-F238E27FC236}">
                      <a16:creationId xmlns:a16="http://schemas.microsoft.com/office/drawing/2014/main" id="{F9D61A02-E921-1063-CAAD-577F292A5C8F}"/>
                    </a:ext>
                  </a:extLst>
                </p:cNvPr>
                <p:cNvSpPr/>
                <p:nvPr/>
              </p:nvSpPr>
              <p:spPr>
                <a:xfrm>
                  <a:off x="1176028" y="1403980"/>
                  <a:ext cx="60248" cy="53378"/>
                </a:xfrm>
                <a:custGeom>
                  <a:avLst/>
                  <a:gdLst>
                    <a:gd name="connsiteX0" fmla="*/ 481965 w 563880"/>
                    <a:gd name="connsiteY0" fmla="*/ 82868 h 563880"/>
                    <a:gd name="connsiteX1" fmla="*/ 281940 w 563880"/>
                    <a:gd name="connsiteY1" fmla="*/ 0 h 563880"/>
                    <a:gd name="connsiteX2" fmla="*/ 0 w 563880"/>
                    <a:gd name="connsiteY2" fmla="*/ 281940 h 563880"/>
                    <a:gd name="connsiteX3" fmla="*/ 281940 w 563880"/>
                    <a:gd name="connsiteY3" fmla="*/ 563880 h 563880"/>
                    <a:gd name="connsiteX4" fmla="*/ 563880 w 563880"/>
                    <a:gd name="connsiteY4" fmla="*/ 281940 h 563880"/>
                    <a:gd name="connsiteX5" fmla="*/ 481965 w 563880"/>
                    <a:gd name="connsiteY5" fmla="*/ 82868 h 563880"/>
                    <a:gd name="connsiteX6" fmla="*/ 374333 w 563880"/>
                    <a:gd name="connsiteY6" fmla="*/ 374333 h 563880"/>
                    <a:gd name="connsiteX7" fmla="*/ 282893 w 563880"/>
                    <a:gd name="connsiteY7" fmla="*/ 412433 h 563880"/>
                    <a:gd name="connsiteX8" fmla="*/ 153353 w 563880"/>
                    <a:gd name="connsiteY8" fmla="*/ 282893 h 563880"/>
                    <a:gd name="connsiteX9" fmla="*/ 282893 w 563880"/>
                    <a:gd name="connsiteY9" fmla="*/ 153353 h 563880"/>
                    <a:gd name="connsiteX10" fmla="*/ 412433 w 563880"/>
                    <a:gd name="connsiteY10" fmla="*/ 282893 h 563880"/>
                    <a:gd name="connsiteX11" fmla="*/ 374333 w 563880"/>
                    <a:gd name="connsiteY11" fmla="*/ 374333 h 563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3880" h="563880">
                      <a:moveTo>
                        <a:pt x="481965" y="82868"/>
                      </a:moveTo>
                      <a:cubicBezTo>
                        <a:pt x="430530" y="31433"/>
                        <a:pt x="360045" y="0"/>
                        <a:pt x="281940" y="0"/>
                      </a:cubicBezTo>
                      <a:cubicBezTo>
                        <a:pt x="125730" y="0"/>
                        <a:pt x="0" y="126683"/>
                        <a:pt x="0" y="281940"/>
                      </a:cubicBezTo>
                      <a:cubicBezTo>
                        <a:pt x="0" y="438150"/>
                        <a:pt x="126683" y="563880"/>
                        <a:pt x="281940" y="563880"/>
                      </a:cubicBezTo>
                      <a:cubicBezTo>
                        <a:pt x="437198" y="563880"/>
                        <a:pt x="563880" y="437197"/>
                        <a:pt x="563880" y="281940"/>
                      </a:cubicBezTo>
                      <a:cubicBezTo>
                        <a:pt x="563880" y="204788"/>
                        <a:pt x="532448" y="134303"/>
                        <a:pt x="481965" y="82868"/>
                      </a:cubicBezTo>
                      <a:close/>
                      <a:moveTo>
                        <a:pt x="374333" y="374333"/>
                      </a:moveTo>
                      <a:cubicBezTo>
                        <a:pt x="350520" y="398145"/>
                        <a:pt x="318135" y="412433"/>
                        <a:pt x="282893" y="412433"/>
                      </a:cubicBezTo>
                      <a:cubicBezTo>
                        <a:pt x="211455" y="412433"/>
                        <a:pt x="153353" y="354330"/>
                        <a:pt x="153353" y="282893"/>
                      </a:cubicBezTo>
                      <a:cubicBezTo>
                        <a:pt x="153353" y="211455"/>
                        <a:pt x="211455" y="153353"/>
                        <a:pt x="282893" y="153353"/>
                      </a:cubicBezTo>
                      <a:cubicBezTo>
                        <a:pt x="354330" y="153353"/>
                        <a:pt x="412433" y="211455"/>
                        <a:pt x="412433" y="282893"/>
                      </a:cubicBezTo>
                      <a:cubicBezTo>
                        <a:pt x="411480" y="319088"/>
                        <a:pt x="397193" y="351472"/>
                        <a:pt x="374333" y="374333"/>
                      </a:cubicBez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12" name="TextBox 11">
              <a:extLst>
                <a:ext uri="{FF2B5EF4-FFF2-40B4-BE49-F238E27FC236}">
                  <a16:creationId xmlns:a16="http://schemas.microsoft.com/office/drawing/2014/main" id="{0C8F1EB7-1F44-99C4-A326-E099185CE45D}"/>
                </a:ext>
              </a:extLst>
            </p:cNvPr>
            <p:cNvSpPr txBox="1"/>
            <p:nvPr/>
          </p:nvSpPr>
          <p:spPr>
            <a:xfrm>
              <a:off x="1763701" y="1199934"/>
              <a:ext cx="1022716" cy="492443"/>
            </a:xfrm>
            <a:prstGeom prst="rect">
              <a:avLst/>
            </a:prstGeom>
            <a:noFill/>
          </p:spPr>
          <p:txBody>
            <a:bodyPr wrap="none" lIns="0" tIns="0" rIns="0" bIns="0" rtlCol="0">
              <a:spAutoFit/>
            </a:bodyPr>
            <a:lstStyle/>
            <a:p>
              <a:r>
                <a:rPr kumimoji="0" lang="en-IN" sz="1600" b="0" i="0" u="none" strike="noStrike" kern="1200" cap="none" spc="0" normalizeH="0" baseline="0" noProof="0">
                  <a:ln>
                    <a:noFill/>
                  </a:ln>
                  <a:solidFill>
                    <a:schemeClr val="tx2"/>
                  </a:solidFill>
                  <a:effectLst/>
                  <a:uLnTx/>
                  <a:uFillTx/>
                  <a:latin typeface="Manrope" pitchFamily="2" charset="0"/>
                </a:rPr>
                <a:t>Problem</a:t>
              </a:r>
              <a:br>
                <a:rPr kumimoji="0" lang="en-IN" sz="1600" b="0" i="0" u="none" strike="noStrike" kern="1200" cap="none" spc="0" normalizeH="0" baseline="0" noProof="0">
                  <a:ln>
                    <a:noFill/>
                  </a:ln>
                  <a:solidFill>
                    <a:schemeClr val="tx2"/>
                  </a:solidFill>
                  <a:effectLst/>
                  <a:uLnTx/>
                  <a:uFillTx/>
                  <a:latin typeface="Manrope" pitchFamily="2" charset="0"/>
                </a:rPr>
              </a:br>
              <a:r>
                <a:rPr kumimoji="0" lang="en-IN" sz="1600" b="0" i="0" u="none" strike="noStrike" kern="1200" cap="none" spc="0" normalizeH="0" baseline="0" noProof="0">
                  <a:ln>
                    <a:noFill/>
                  </a:ln>
                  <a:solidFill>
                    <a:schemeClr val="tx2"/>
                  </a:solidFill>
                  <a:effectLst/>
                  <a:uLnTx/>
                  <a:uFillTx/>
                  <a:latin typeface="Manrope" pitchFamily="2" charset="0"/>
                </a:rPr>
                <a:t>Statement</a:t>
              </a:r>
            </a:p>
          </p:txBody>
        </p:sp>
        <p:sp>
          <p:nvSpPr>
            <p:cNvPr id="13" name="Rectangle 12">
              <a:extLst>
                <a:ext uri="{FF2B5EF4-FFF2-40B4-BE49-F238E27FC236}">
                  <a16:creationId xmlns:a16="http://schemas.microsoft.com/office/drawing/2014/main" id="{E46F1282-13A1-33AF-8F4F-2879C18DFF3B}"/>
                </a:ext>
              </a:extLst>
            </p:cNvPr>
            <p:cNvSpPr/>
            <p:nvPr/>
          </p:nvSpPr>
          <p:spPr>
            <a:xfrm>
              <a:off x="623888" y="1979271"/>
              <a:ext cx="2674897" cy="44024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E2A11A3-B4D9-1CB5-D4FB-A1B15086605E}"/>
                </a:ext>
              </a:extLst>
            </p:cNvPr>
            <p:cNvSpPr txBox="1"/>
            <p:nvPr/>
          </p:nvSpPr>
          <p:spPr>
            <a:xfrm>
              <a:off x="706330" y="2274269"/>
              <a:ext cx="2418835" cy="2308324"/>
            </a:xfrm>
            <a:prstGeom prst="rect">
              <a:avLst/>
            </a:prstGeom>
            <a:noFill/>
          </p:spPr>
          <p:txBody>
            <a:bodyPr wrap="square" rIns="90000" bIns="4680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Develop a cost-effective, metadata-driven ingestion framework to replace the existing ETL toolset, focusing solely on data ingestion.</a:t>
              </a:r>
              <a:br>
                <a:rPr kumimoji="0" lang="en-US" sz="1200" b="0" i="0" u="none" strike="noStrike" kern="1200" cap="none" spc="0" normalizeH="0" baseline="0" noProof="0">
                  <a:ln>
                    <a:noFill/>
                  </a:ln>
                  <a:effectLst/>
                  <a:uLnTx/>
                  <a:uFillTx/>
                  <a:latin typeface="Manrope" pitchFamily="2" charset="0"/>
                </a:rPr>
              </a:b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Load data into a raw layer on Snowflake for further processing and transformation in subsequent layers, aiming for a swift transition.</a:t>
              </a:r>
              <a:endParaRPr kumimoji="0" lang="en-IN" sz="1200" b="0" i="0" u="none" strike="noStrike" kern="1200" cap="none" spc="0" normalizeH="0" baseline="0" noProof="0">
                <a:ln>
                  <a:noFill/>
                </a:ln>
                <a:effectLst/>
                <a:uLnTx/>
                <a:uFillTx/>
                <a:latin typeface="Manrope" pitchFamily="2" charset="0"/>
              </a:endParaRPr>
            </a:p>
          </p:txBody>
        </p:sp>
      </p:grpSp>
      <p:grpSp>
        <p:nvGrpSpPr>
          <p:cNvPr id="91" name="Group 90">
            <a:extLst>
              <a:ext uri="{FF2B5EF4-FFF2-40B4-BE49-F238E27FC236}">
                <a16:creationId xmlns:a16="http://schemas.microsoft.com/office/drawing/2014/main" id="{C26AE704-5E64-E2F0-58CA-D704A2209513}"/>
              </a:ext>
            </a:extLst>
          </p:cNvPr>
          <p:cNvGrpSpPr/>
          <p:nvPr/>
        </p:nvGrpSpPr>
        <p:grpSpPr>
          <a:xfrm>
            <a:off x="3377459" y="946880"/>
            <a:ext cx="2678509" cy="5434870"/>
            <a:chOff x="3312571" y="946880"/>
            <a:chExt cx="2678509" cy="5434870"/>
          </a:xfrm>
        </p:grpSpPr>
        <p:sp>
          <p:nvSpPr>
            <p:cNvPr id="25" name="TextBox 24">
              <a:extLst>
                <a:ext uri="{FF2B5EF4-FFF2-40B4-BE49-F238E27FC236}">
                  <a16:creationId xmlns:a16="http://schemas.microsoft.com/office/drawing/2014/main" id="{A0D10FBB-5BF6-E90D-2F9E-E274D4A386E6}"/>
                </a:ext>
              </a:extLst>
            </p:cNvPr>
            <p:cNvSpPr txBox="1"/>
            <p:nvPr/>
          </p:nvSpPr>
          <p:spPr>
            <a:xfrm>
              <a:off x="4455996" y="1304107"/>
              <a:ext cx="791883" cy="246221"/>
            </a:xfrm>
            <a:prstGeom prst="rect">
              <a:avLst/>
            </a:prstGeom>
            <a:noFill/>
          </p:spPr>
          <p:txBody>
            <a:bodyPr wrap="none" lIns="0" tIns="0" rIns="0" bIns="0" rtlCol="0">
              <a:spAutoFit/>
            </a:bodyPr>
            <a:lstStyle/>
            <a:p>
              <a:r>
                <a:rPr kumimoji="0" lang="en-IN" sz="1600" b="0" i="0" u="none" strike="noStrike" kern="1200" cap="none" spc="0" normalizeH="0" baseline="0" noProof="0">
                  <a:ln>
                    <a:noFill/>
                  </a:ln>
                  <a:solidFill>
                    <a:schemeClr val="tx2"/>
                  </a:solidFill>
                  <a:effectLst/>
                  <a:uLnTx/>
                  <a:uFillTx/>
                  <a:latin typeface="Manrope" pitchFamily="2" charset="0"/>
                </a:rPr>
                <a:t>Solution</a:t>
              </a:r>
            </a:p>
          </p:txBody>
        </p:sp>
        <p:sp>
          <p:nvSpPr>
            <p:cNvPr id="26" name="Rectangle 25">
              <a:extLst>
                <a:ext uri="{FF2B5EF4-FFF2-40B4-BE49-F238E27FC236}">
                  <a16:creationId xmlns:a16="http://schemas.microsoft.com/office/drawing/2014/main" id="{AD91DC07-6730-11BE-46E0-A6511471FA92}"/>
                </a:ext>
              </a:extLst>
            </p:cNvPr>
            <p:cNvSpPr/>
            <p:nvPr/>
          </p:nvSpPr>
          <p:spPr>
            <a:xfrm>
              <a:off x="3316183" y="1979271"/>
              <a:ext cx="2674897" cy="44024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4CB2FB7-48F8-E2E7-3A7E-763D780DC7B8}"/>
                </a:ext>
              </a:extLst>
            </p:cNvPr>
            <p:cNvSpPr txBox="1"/>
            <p:nvPr/>
          </p:nvSpPr>
          <p:spPr>
            <a:xfrm>
              <a:off x="3398625" y="2274269"/>
              <a:ext cx="2418835" cy="2862322"/>
            </a:xfrm>
            <a:prstGeom prst="rect">
              <a:avLst/>
            </a:prstGeom>
            <a:noFill/>
          </p:spPr>
          <p:txBody>
            <a:bodyPr wrap="square" rIns="90000" bIns="4680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Develop automated pipelines using an ADF and Snowflake native scripts metadata ingestion framework to load data from various sources to targets.</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Utilize a Snowflake schema as a dynamic metadata layer in ADF pipelines/ Snowflake Native incorporating logging and email notifications. Enable data ingestion from sources such as SQL, files, and Salesforce to Snowflake.</a:t>
              </a:r>
            </a:p>
          </p:txBody>
        </p:sp>
        <p:grpSp>
          <p:nvGrpSpPr>
            <p:cNvPr id="52" name="Group 51">
              <a:extLst>
                <a:ext uri="{FF2B5EF4-FFF2-40B4-BE49-F238E27FC236}">
                  <a16:creationId xmlns:a16="http://schemas.microsoft.com/office/drawing/2014/main" id="{B2D8AB39-DFCE-6D09-A159-90DCE47467C8}"/>
                </a:ext>
              </a:extLst>
            </p:cNvPr>
            <p:cNvGrpSpPr/>
            <p:nvPr/>
          </p:nvGrpSpPr>
          <p:grpSpPr>
            <a:xfrm>
              <a:off x="3312571" y="946880"/>
              <a:ext cx="950026" cy="950026"/>
              <a:chOff x="623888" y="2415941"/>
              <a:chExt cx="950026" cy="950026"/>
            </a:xfrm>
          </p:grpSpPr>
          <p:grpSp>
            <p:nvGrpSpPr>
              <p:cNvPr id="53" name="Group 52">
                <a:extLst>
                  <a:ext uri="{FF2B5EF4-FFF2-40B4-BE49-F238E27FC236}">
                    <a16:creationId xmlns:a16="http://schemas.microsoft.com/office/drawing/2014/main" id="{B06B7192-5CA4-D887-0ABB-10532C6F6351}"/>
                  </a:ext>
                </a:extLst>
              </p:cNvPr>
              <p:cNvGrpSpPr/>
              <p:nvPr/>
            </p:nvGrpSpPr>
            <p:grpSpPr>
              <a:xfrm>
                <a:off x="623888" y="2415941"/>
                <a:ext cx="950026" cy="950026"/>
                <a:chOff x="1450992" y="1491427"/>
                <a:chExt cx="950026" cy="950026"/>
              </a:xfrm>
            </p:grpSpPr>
            <p:sp>
              <p:nvSpPr>
                <p:cNvPr id="57" name="Oval 56">
                  <a:extLst>
                    <a:ext uri="{FF2B5EF4-FFF2-40B4-BE49-F238E27FC236}">
                      <a16:creationId xmlns:a16="http://schemas.microsoft.com/office/drawing/2014/main" id="{A00BD979-B64A-39AA-91C1-80944A99CB3E}"/>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47A8DE10-AE1B-CBEB-35D2-340942289117}"/>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EE0BD7AA-2E1F-962F-96B7-87658711C419}"/>
                  </a:ext>
                </a:extLst>
              </p:cNvPr>
              <p:cNvGrpSpPr/>
              <p:nvPr/>
            </p:nvGrpSpPr>
            <p:grpSpPr>
              <a:xfrm>
                <a:off x="922492" y="2653844"/>
                <a:ext cx="393745" cy="476178"/>
                <a:chOff x="471952" y="2307982"/>
                <a:chExt cx="524075" cy="576176"/>
              </a:xfrm>
            </p:grpSpPr>
            <p:sp>
              <p:nvSpPr>
                <p:cNvPr id="55" name="Freeform: Shape 8">
                  <a:extLst>
                    <a:ext uri="{FF2B5EF4-FFF2-40B4-BE49-F238E27FC236}">
                      <a16:creationId xmlns:a16="http://schemas.microsoft.com/office/drawing/2014/main" id="{64B4C7EA-3554-9EF1-4178-251EBCC6476D}"/>
                    </a:ext>
                  </a:extLst>
                </p:cNvPr>
                <p:cNvSpPr/>
                <p:nvPr/>
              </p:nvSpPr>
              <p:spPr>
                <a:xfrm>
                  <a:off x="744472" y="2307982"/>
                  <a:ext cx="251555" cy="167277"/>
                </a:xfrm>
                <a:custGeom>
                  <a:avLst/>
                  <a:gdLst>
                    <a:gd name="connsiteX0" fmla="*/ 174644 w 199593"/>
                    <a:gd name="connsiteY0" fmla="*/ 0 h 149695"/>
                    <a:gd name="connsiteX1" fmla="*/ 58215 w 199593"/>
                    <a:gd name="connsiteY1" fmla="*/ 0 h 149695"/>
                    <a:gd name="connsiteX2" fmla="*/ 33266 w 199593"/>
                    <a:gd name="connsiteY2" fmla="*/ 24949 h 149695"/>
                    <a:gd name="connsiteX3" fmla="*/ 33266 w 199593"/>
                    <a:gd name="connsiteY3" fmla="*/ 41582 h 149695"/>
                    <a:gd name="connsiteX4" fmla="*/ 0 w 199593"/>
                    <a:gd name="connsiteY4" fmla="*/ 74848 h 149695"/>
                    <a:gd name="connsiteX5" fmla="*/ 33266 w 199593"/>
                    <a:gd name="connsiteY5" fmla="*/ 108113 h 149695"/>
                    <a:gd name="connsiteX6" fmla="*/ 33266 w 199593"/>
                    <a:gd name="connsiteY6" fmla="*/ 149695 h 149695"/>
                    <a:gd name="connsiteX7" fmla="*/ 99797 w 199593"/>
                    <a:gd name="connsiteY7" fmla="*/ 149695 h 149695"/>
                    <a:gd name="connsiteX8" fmla="*/ 99797 w 199593"/>
                    <a:gd name="connsiteY8" fmla="*/ 133062 h 149695"/>
                    <a:gd name="connsiteX9" fmla="*/ 116429 w 199593"/>
                    <a:gd name="connsiteY9" fmla="*/ 116429 h 149695"/>
                    <a:gd name="connsiteX10" fmla="*/ 133062 w 199593"/>
                    <a:gd name="connsiteY10" fmla="*/ 133062 h 149695"/>
                    <a:gd name="connsiteX11" fmla="*/ 133062 w 199593"/>
                    <a:gd name="connsiteY11" fmla="*/ 149695 h 149695"/>
                    <a:gd name="connsiteX12" fmla="*/ 174644 w 199593"/>
                    <a:gd name="connsiteY12" fmla="*/ 149695 h 149695"/>
                    <a:gd name="connsiteX13" fmla="*/ 199593 w 199593"/>
                    <a:gd name="connsiteY13" fmla="*/ 124746 h 149695"/>
                    <a:gd name="connsiteX14" fmla="*/ 199593 w 199593"/>
                    <a:gd name="connsiteY14" fmla="*/ 24949 h 149695"/>
                    <a:gd name="connsiteX15" fmla="*/ 174644 w 199593"/>
                    <a:gd name="connsiteY15" fmla="*/ 0 h 149695"/>
                    <a:gd name="connsiteX16" fmla="*/ 182961 w 199593"/>
                    <a:gd name="connsiteY16" fmla="*/ 124746 h 149695"/>
                    <a:gd name="connsiteX17" fmla="*/ 174644 w 199593"/>
                    <a:gd name="connsiteY17" fmla="*/ 133062 h 149695"/>
                    <a:gd name="connsiteX18" fmla="*/ 149695 w 199593"/>
                    <a:gd name="connsiteY18" fmla="*/ 133062 h 149695"/>
                    <a:gd name="connsiteX19" fmla="*/ 116429 w 199593"/>
                    <a:gd name="connsiteY19" fmla="*/ 99797 h 149695"/>
                    <a:gd name="connsiteX20" fmla="*/ 83164 w 199593"/>
                    <a:gd name="connsiteY20" fmla="*/ 133062 h 149695"/>
                    <a:gd name="connsiteX21" fmla="*/ 49898 w 199593"/>
                    <a:gd name="connsiteY21" fmla="*/ 133062 h 149695"/>
                    <a:gd name="connsiteX22" fmla="*/ 49898 w 199593"/>
                    <a:gd name="connsiteY22" fmla="*/ 91480 h 149695"/>
                    <a:gd name="connsiteX23" fmla="*/ 33266 w 199593"/>
                    <a:gd name="connsiteY23" fmla="*/ 91480 h 149695"/>
                    <a:gd name="connsiteX24" fmla="*/ 16633 w 199593"/>
                    <a:gd name="connsiteY24" fmla="*/ 74848 h 149695"/>
                    <a:gd name="connsiteX25" fmla="*/ 33266 w 199593"/>
                    <a:gd name="connsiteY25" fmla="*/ 58215 h 149695"/>
                    <a:gd name="connsiteX26" fmla="*/ 49898 w 199593"/>
                    <a:gd name="connsiteY26" fmla="*/ 58215 h 149695"/>
                    <a:gd name="connsiteX27" fmla="*/ 49898 w 199593"/>
                    <a:gd name="connsiteY27" fmla="*/ 24949 h 149695"/>
                    <a:gd name="connsiteX28" fmla="*/ 58215 w 199593"/>
                    <a:gd name="connsiteY28" fmla="*/ 16633 h 149695"/>
                    <a:gd name="connsiteX29" fmla="*/ 174644 w 199593"/>
                    <a:gd name="connsiteY29" fmla="*/ 16633 h 149695"/>
                    <a:gd name="connsiteX30" fmla="*/ 182961 w 199593"/>
                    <a:gd name="connsiteY30" fmla="*/ 24949 h 14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9593" h="149695">
                      <a:moveTo>
                        <a:pt x="174644" y="0"/>
                      </a:moveTo>
                      <a:lnTo>
                        <a:pt x="58215" y="0"/>
                      </a:lnTo>
                      <a:cubicBezTo>
                        <a:pt x="44459" y="0"/>
                        <a:pt x="33266" y="11194"/>
                        <a:pt x="33266" y="24949"/>
                      </a:cubicBezTo>
                      <a:lnTo>
                        <a:pt x="33266" y="41582"/>
                      </a:lnTo>
                      <a:cubicBezTo>
                        <a:pt x="14920" y="41582"/>
                        <a:pt x="0" y="56502"/>
                        <a:pt x="0" y="74848"/>
                      </a:cubicBezTo>
                      <a:cubicBezTo>
                        <a:pt x="0" y="93193"/>
                        <a:pt x="14920" y="108113"/>
                        <a:pt x="33266" y="108113"/>
                      </a:cubicBezTo>
                      <a:lnTo>
                        <a:pt x="33266" y="149695"/>
                      </a:lnTo>
                      <a:lnTo>
                        <a:pt x="99797" y="149695"/>
                      </a:lnTo>
                      <a:lnTo>
                        <a:pt x="99797" y="133062"/>
                      </a:lnTo>
                      <a:cubicBezTo>
                        <a:pt x="99797" y="123889"/>
                        <a:pt x="107256" y="116429"/>
                        <a:pt x="116429" y="116429"/>
                      </a:cubicBezTo>
                      <a:cubicBezTo>
                        <a:pt x="125602" y="116429"/>
                        <a:pt x="133062" y="123889"/>
                        <a:pt x="133062" y="133062"/>
                      </a:cubicBezTo>
                      <a:lnTo>
                        <a:pt x="133062" y="149695"/>
                      </a:lnTo>
                      <a:lnTo>
                        <a:pt x="174644" y="149695"/>
                      </a:lnTo>
                      <a:cubicBezTo>
                        <a:pt x="188400" y="149695"/>
                        <a:pt x="199593" y="138501"/>
                        <a:pt x="199593" y="124746"/>
                      </a:cubicBezTo>
                      <a:lnTo>
                        <a:pt x="199593" y="24949"/>
                      </a:lnTo>
                      <a:cubicBezTo>
                        <a:pt x="199593" y="11194"/>
                        <a:pt x="188400" y="0"/>
                        <a:pt x="174644" y="0"/>
                      </a:cubicBezTo>
                      <a:close/>
                      <a:moveTo>
                        <a:pt x="182961" y="124746"/>
                      </a:moveTo>
                      <a:cubicBezTo>
                        <a:pt x="182961" y="129328"/>
                        <a:pt x="179235" y="133062"/>
                        <a:pt x="174644" y="133062"/>
                      </a:cubicBezTo>
                      <a:lnTo>
                        <a:pt x="149695" y="133062"/>
                      </a:lnTo>
                      <a:cubicBezTo>
                        <a:pt x="149695" y="114716"/>
                        <a:pt x="134775" y="99797"/>
                        <a:pt x="116429" y="99797"/>
                      </a:cubicBezTo>
                      <a:cubicBezTo>
                        <a:pt x="98084" y="99797"/>
                        <a:pt x="83164" y="114716"/>
                        <a:pt x="83164" y="133062"/>
                      </a:cubicBezTo>
                      <a:lnTo>
                        <a:pt x="49898" y="133062"/>
                      </a:lnTo>
                      <a:lnTo>
                        <a:pt x="49898" y="91480"/>
                      </a:lnTo>
                      <a:lnTo>
                        <a:pt x="33266" y="91480"/>
                      </a:lnTo>
                      <a:cubicBezTo>
                        <a:pt x="24093" y="91480"/>
                        <a:pt x="16633" y="84020"/>
                        <a:pt x="16633" y="74848"/>
                      </a:cubicBezTo>
                      <a:cubicBezTo>
                        <a:pt x="16633" y="65675"/>
                        <a:pt x="24093" y="58215"/>
                        <a:pt x="33266" y="58215"/>
                      </a:cubicBezTo>
                      <a:lnTo>
                        <a:pt x="49898" y="58215"/>
                      </a:lnTo>
                      <a:lnTo>
                        <a:pt x="49898" y="24949"/>
                      </a:lnTo>
                      <a:cubicBezTo>
                        <a:pt x="49898" y="20367"/>
                        <a:pt x="53624" y="16633"/>
                        <a:pt x="58215" y="16633"/>
                      </a:cubicBezTo>
                      <a:lnTo>
                        <a:pt x="174644" y="16633"/>
                      </a:lnTo>
                      <a:cubicBezTo>
                        <a:pt x="179235" y="16633"/>
                        <a:pt x="182961" y="20367"/>
                        <a:pt x="182961" y="24949"/>
                      </a:cubicBezTo>
                      <a:close/>
                    </a:path>
                  </a:pathLst>
                </a:custGeom>
                <a:solidFill>
                  <a:schemeClr val="bg1"/>
                </a:solidFill>
                <a:ln w="81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Shape 9">
                  <a:extLst>
                    <a:ext uri="{FF2B5EF4-FFF2-40B4-BE49-F238E27FC236}">
                      <a16:creationId xmlns:a16="http://schemas.microsoft.com/office/drawing/2014/main" id="{8AED1B85-0DC3-9AC7-AC12-C0099F64010D}"/>
                    </a:ext>
                  </a:extLst>
                </p:cNvPr>
                <p:cNvSpPr/>
                <p:nvPr/>
              </p:nvSpPr>
              <p:spPr>
                <a:xfrm>
                  <a:off x="471952" y="2363740"/>
                  <a:ext cx="419260" cy="520418"/>
                </a:xfrm>
                <a:custGeom>
                  <a:avLst/>
                  <a:gdLst>
                    <a:gd name="connsiteX0" fmla="*/ 249492 w 332655"/>
                    <a:gd name="connsiteY0" fmla="*/ 116429 h 465717"/>
                    <a:gd name="connsiteX1" fmla="*/ 216226 w 332655"/>
                    <a:gd name="connsiteY1" fmla="*/ 149695 h 465717"/>
                    <a:gd name="connsiteX2" fmla="*/ 182961 w 332655"/>
                    <a:gd name="connsiteY2" fmla="*/ 149695 h 465717"/>
                    <a:gd name="connsiteX3" fmla="*/ 182961 w 332655"/>
                    <a:gd name="connsiteY3" fmla="*/ 108113 h 465717"/>
                    <a:gd name="connsiteX4" fmla="*/ 166328 w 332655"/>
                    <a:gd name="connsiteY4" fmla="*/ 108113 h 465717"/>
                    <a:gd name="connsiteX5" fmla="*/ 149695 w 332655"/>
                    <a:gd name="connsiteY5" fmla="*/ 91480 h 465717"/>
                    <a:gd name="connsiteX6" fmla="*/ 166328 w 332655"/>
                    <a:gd name="connsiteY6" fmla="*/ 74848 h 465717"/>
                    <a:gd name="connsiteX7" fmla="*/ 182961 w 332655"/>
                    <a:gd name="connsiteY7" fmla="*/ 74848 h 465717"/>
                    <a:gd name="connsiteX8" fmla="*/ 182961 w 332655"/>
                    <a:gd name="connsiteY8" fmla="*/ 0 h 465717"/>
                    <a:gd name="connsiteX9" fmla="*/ 160664 w 332655"/>
                    <a:gd name="connsiteY9" fmla="*/ 0 h 465717"/>
                    <a:gd name="connsiteX10" fmla="*/ 0 w 332655"/>
                    <a:gd name="connsiteY10" fmla="*/ 160664 h 465717"/>
                    <a:gd name="connsiteX11" fmla="*/ 58930 w 332655"/>
                    <a:gd name="connsiteY11" fmla="*/ 285011 h 465717"/>
                    <a:gd name="connsiteX12" fmla="*/ 91480 w 332655"/>
                    <a:gd name="connsiteY12" fmla="*/ 311648 h 465717"/>
                    <a:gd name="connsiteX13" fmla="*/ 91480 w 332655"/>
                    <a:gd name="connsiteY13" fmla="*/ 334194 h 465717"/>
                    <a:gd name="connsiteX14" fmla="*/ 74848 w 332655"/>
                    <a:gd name="connsiteY14" fmla="*/ 357613 h 465717"/>
                    <a:gd name="connsiteX15" fmla="*/ 93310 w 332655"/>
                    <a:gd name="connsiteY15" fmla="*/ 381598 h 465717"/>
                    <a:gd name="connsiteX16" fmla="*/ 91480 w 332655"/>
                    <a:gd name="connsiteY16" fmla="*/ 390870 h 465717"/>
                    <a:gd name="connsiteX17" fmla="*/ 108562 w 332655"/>
                    <a:gd name="connsiteY17" fmla="*/ 414431 h 465717"/>
                    <a:gd name="connsiteX18" fmla="*/ 166328 w 332655"/>
                    <a:gd name="connsiteY18" fmla="*/ 465718 h 465717"/>
                    <a:gd name="connsiteX19" fmla="*/ 224093 w 332655"/>
                    <a:gd name="connsiteY19" fmla="*/ 414431 h 465717"/>
                    <a:gd name="connsiteX20" fmla="*/ 241175 w 332655"/>
                    <a:gd name="connsiteY20" fmla="*/ 390870 h 465717"/>
                    <a:gd name="connsiteX21" fmla="*/ 239346 w 332655"/>
                    <a:gd name="connsiteY21" fmla="*/ 381589 h 465717"/>
                    <a:gd name="connsiteX22" fmla="*/ 257808 w 332655"/>
                    <a:gd name="connsiteY22" fmla="*/ 357605 h 465717"/>
                    <a:gd name="connsiteX23" fmla="*/ 241175 w 332655"/>
                    <a:gd name="connsiteY23" fmla="*/ 334186 h 465717"/>
                    <a:gd name="connsiteX24" fmla="*/ 241175 w 332655"/>
                    <a:gd name="connsiteY24" fmla="*/ 311640 h 465717"/>
                    <a:gd name="connsiteX25" fmla="*/ 273726 w 332655"/>
                    <a:gd name="connsiteY25" fmla="*/ 285003 h 465717"/>
                    <a:gd name="connsiteX26" fmla="*/ 332656 w 332655"/>
                    <a:gd name="connsiteY26" fmla="*/ 160664 h 465717"/>
                    <a:gd name="connsiteX27" fmla="*/ 332656 w 332655"/>
                    <a:gd name="connsiteY27" fmla="*/ 149695 h 465717"/>
                    <a:gd name="connsiteX28" fmla="*/ 282757 w 332655"/>
                    <a:gd name="connsiteY28" fmla="*/ 149695 h 465717"/>
                    <a:gd name="connsiteX29" fmla="*/ 249492 w 332655"/>
                    <a:gd name="connsiteY29" fmla="*/ 116429 h 465717"/>
                    <a:gd name="connsiteX30" fmla="*/ 160664 w 332655"/>
                    <a:gd name="connsiteY30" fmla="*/ 16633 h 465717"/>
                    <a:gd name="connsiteX31" fmla="*/ 166328 w 332655"/>
                    <a:gd name="connsiteY31" fmla="*/ 16633 h 465717"/>
                    <a:gd name="connsiteX32" fmla="*/ 166328 w 332655"/>
                    <a:gd name="connsiteY32" fmla="*/ 58215 h 465717"/>
                    <a:gd name="connsiteX33" fmla="*/ 133062 w 332655"/>
                    <a:gd name="connsiteY33" fmla="*/ 91480 h 465717"/>
                    <a:gd name="connsiteX34" fmla="*/ 166328 w 332655"/>
                    <a:gd name="connsiteY34" fmla="*/ 124746 h 465717"/>
                    <a:gd name="connsiteX35" fmla="*/ 166328 w 332655"/>
                    <a:gd name="connsiteY35" fmla="*/ 149695 h 465717"/>
                    <a:gd name="connsiteX36" fmla="*/ 133062 w 332655"/>
                    <a:gd name="connsiteY36" fmla="*/ 149695 h 465717"/>
                    <a:gd name="connsiteX37" fmla="*/ 99797 w 332655"/>
                    <a:gd name="connsiteY37" fmla="*/ 116429 h 465717"/>
                    <a:gd name="connsiteX38" fmla="*/ 66531 w 332655"/>
                    <a:gd name="connsiteY38" fmla="*/ 149695 h 465717"/>
                    <a:gd name="connsiteX39" fmla="*/ 17049 w 332655"/>
                    <a:gd name="connsiteY39" fmla="*/ 149695 h 465717"/>
                    <a:gd name="connsiteX40" fmla="*/ 160664 w 332655"/>
                    <a:gd name="connsiteY40" fmla="*/ 16633 h 465717"/>
                    <a:gd name="connsiteX41" fmla="*/ 69459 w 332655"/>
                    <a:gd name="connsiteY41" fmla="*/ 272137 h 465717"/>
                    <a:gd name="connsiteX42" fmla="*/ 16749 w 332655"/>
                    <a:gd name="connsiteY42" fmla="*/ 166328 h 465717"/>
                    <a:gd name="connsiteX43" fmla="*/ 83164 w 332655"/>
                    <a:gd name="connsiteY43" fmla="*/ 166328 h 465717"/>
                    <a:gd name="connsiteX44" fmla="*/ 83164 w 332655"/>
                    <a:gd name="connsiteY44" fmla="*/ 149695 h 465717"/>
                    <a:gd name="connsiteX45" fmla="*/ 99797 w 332655"/>
                    <a:gd name="connsiteY45" fmla="*/ 133062 h 465717"/>
                    <a:gd name="connsiteX46" fmla="*/ 116429 w 332655"/>
                    <a:gd name="connsiteY46" fmla="*/ 149695 h 465717"/>
                    <a:gd name="connsiteX47" fmla="*/ 116429 w 332655"/>
                    <a:gd name="connsiteY47" fmla="*/ 166328 h 465717"/>
                    <a:gd name="connsiteX48" fmla="*/ 166328 w 332655"/>
                    <a:gd name="connsiteY48" fmla="*/ 166328 h 465717"/>
                    <a:gd name="connsiteX49" fmla="*/ 166328 w 332655"/>
                    <a:gd name="connsiteY49" fmla="*/ 199593 h 465717"/>
                    <a:gd name="connsiteX50" fmla="*/ 133062 w 332655"/>
                    <a:gd name="connsiteY50" fmla="*/ 232859 h 465717"/>
                    <a:gd name="connsiteX51" fmla="*/ 166328 w 332655"/>
                    <a:gd name="connsiteY51" fmla="*/ 266125 h 465717"/>
                    <a:gd name="connsiteX52" fmla="*/ 166328 w 332655"/>
                    <a:gd name="connsiteY52" fmla="*/ 332656 h 465717"/>
                    <a:gd name="connsiteX53" fmla="*/ 108113 w 332655"/>
                    <a:gd name="connsiteY53" fmla="*/ 332656 h 465717"/>
                    <a:gd name="connsiteX54" fmla="*/ 108113 w 332655"/>
                    <a:gd name="connsiteY54" fmla="*/ 303765 h 465717"/>
                    <a:gd name="connsiteX55" fmla="*/ 166328 w 332655"/>
                    <a:gd name="connsiteY55" fmla="*/ 449085 h 465717"/>
                    <a:gd name="connsiteX56" fmla="*/ 125586 w 332655"/>
                    <a:gd name="connsiteY56" fmla="*/ 415820 h 465717"/>
                    <a:gd name="connsiteX57" fmla="*/ 207070 w 332655"/>
                    <a:gd name="connsiteY57" fmla="*/ 415820 h 465717"/>
                    <a:gd name="connsiteX58" fmla="*/ 166328 w 332655"/>
                    <a:gd name="connsiteY58" fmla="*/ 449085 h 465717"/>
                    <a:gd name="connsiteX59" fmla="*/ 216226 w 332655"/>
                    <a:gd name="connsiteY59" fmla="*/ 399187 h 465717"/>
                    <a:gd name="connsiteX60" fmla="*/ 116429 w 332655"/>
                    <a:gd name="connsiteY60" fmla="*/ 399187 h 465717"/>
                    <a:gd name="connsiteX61" fmla="*/ 108113 w 332655"/>
                    <a:gd name="connsiteY61" fmla="*/ 390870 h 465717"/>
                    <a:gd name="connsiteX62" fmla="*/ 116429 w 332655"/>
                    <a:gd name="connsiteY62" fmla="*/ 382554 h 465717"/>
                    <a:gd name="connsiteX63" fmla="*/ 216226 w 332655"/>
                    <a:gd name="connsiteY63" fmla="*/ 382554 h 465717"/>
                    <a:gd name="connsiteX64" fmla="*/ 224543 w 332655"/>
                    <a:gd name="connsiteY64" fmla="*/ 390870 h 465717"/>
                    <a:gd name="connsiteX65" fmla="*/ 216226 w 332655"/>
                    <a:gd name="connsiteY65" fmla="*/ 399187 h 465717"/>
                    <a:gd name="connsiteX66" fmla="*/ 232859 w 332655"/>
                    <a:gd name="connsiteY66" fmla="*/ 365921 h 465717"/>
                    <a:gd name="connsiteX67" fmla="*/ 216226 w 332655"/>
                    <a:gd name="connsiteY67" fmla="*/ 365921 h 465717"/>
                    <a:gd name="connsiteX68" fmla="*/ 116429 w 332655"/>
                    <a:gd name="connsiteY68" fmla="*/ 365921 h 465717"/>
                    <a:gd name="connsiteX69" fmla="*/ 99797 w 332655"/>
                    <a:gd name="connsiteY69" fmla="*/ 365921 h 465717"/>
                    <a:gd name="connsiteX70" fmla="*/ 91480 w 332655"/>
                    <a:gd name="connsiteY70" fmla="*/ 357605 h 465717"/>
                    <a:gd name="connsiteX71" fmla="*/ 99797 w 332655"/>
                    <a:gd name="connsiteY71" fmla="*/ 349288 h 465717"/>
                    <a:gd name="connsiteX72" fmla="*/ 232859 w 332655"/>
                    <a:gd name="connsiteY72" fmla="*/ 349288 h 465717"/>
                    <a:gd name="connsiteX73" fmla="*/ 241175 w 332655"/>
                    <a:gd name="connsiteY73" fmla="*/ 357605 h 465717"/>
                    <a:gd name="connsiteX74" fmla="*/ 232859 w 332655"/>
                    <a:gd name="connsiteY74" fmla="*/ 365921 h 465717"/>
                    <a:gd name="connsiteX75" fmla="*/ 263197 w 332655"/>
                    <a:gd name="connsiteY75" fmla="*/ 272137 h 465717"/>
                    <a:gd name="connsiteX76" fmla="*/ 224543 w 332655"/>
                    <a:gd name="connsiteY76" fmla="*/ 303765 h 465717"/>
                    <a:gd name="connsiteX77" fmla="*/ 224543 w 332655"/>
                    <a:gd name="connsiteY77" fmla="*/ 332656 h 465717"/>
                    <a:gd name="connsiteX78" fmla="*/ 182961 w 332655"/>
                    <a:gd name="connsiteY78" fmla="*/ 332656 h 465717"/>
                    <a:gd name="connsiteX79" fmla="*/ 182961 w 332655"/>
                    <a:gd name="connsiteY79" fmla="*/ 249492 h 465717"/>
                    <a:gd name="connsiteX80" fmla="*/ 166328 w 332655"/>
                    <a:gd name="connsiteY80" fmla="*/ 249492 h 465717"/>
                    <a:gd name="connsiteX81" fmla="*/ 149695 w 332655"/>
                    <a:gd name="connsiteY81" fmla="*/ 232859 h 465717"/>
                    <a:gd name="connsiteX82" fmla="*/ 166328 w 332655"/>
                    <a:gd name="connsiteY82" fmla="*/ 216226 h 465717"/>
                    <a:gd name="connsiteX83" fmla="*/ 182961 w 332655"/>
                    <a:gd name="connsiteY83" fmla="*/ 216226 h 465717"/>
                    <a:gd name="connsiteX84" fmla="*/ 182961 w 332655"/>
                    <a:gd name="connsiteY84" fmla="*/ 166328 h 465717"/>
                    <a:gd name="connsiteX85" fmla="*/ 232859 w 332655"/>
                    <a:gd name="connsiteY85" fmla="*/ 166328 h 465717"/>
                    <a:gd name="connsiteX86" fmla="*/ 232859 w 332655"/>
                    <a:gd name="connsiteY86" fmla="*/ 149695 h 465717"/>
                    <a:gd name="connsiteX87" fmla="*/ 249492 w 332655"/>
                    <a:gd name="connsiteY87" fmla="*/ 133062 h 465717"/>
                    <a:gd name="connsiteX88" fmla="*/ 266125 w 332655"/>
                    <a:gd name="connsiteY88" fmla="*/ 149695 h 465717"/>
                    <a:gd name="connsiteX89" fmla="*/ 266125 w 332655"/>
                    <a:gd name="connsiteY89" fmla="*/ 166328 h 465717"/>
                    <a:gd name="connsiteX90" fmla="*/ 315906 w 332655"/>
                    <a:gd name="connsiteY90" fmla="*/ 166328 h 465717"/>
                    <a:gd name="connsiteX91" fmla="*/ 263197 w 332655"/>
                    <a:gd name="connsiteY91" fmla="*/ 272137 h 465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32655" h="465717">
                      <a:moveTo>
                        <a:pt x="249492" y="116429"/>
                      </a:moveTo>
                      <a:cubicBezTo>
                        <a:pt x="231146" y="116429"/>
                        <a:pt x="216226" y="131349"/>
                        <a:pt x="216226" y="149695"/>
                      </a:cubicBezTo>
                      <a:lnTo>
                        <a:pt x="182961" y="149695"/>
                      </a:lnTo>
                      <a:lnTo>
                        <a:pt x="182961" y="108113"/>
                      </a:lnTo>
                      <a:lnTo>
                        <a:pt x="166328" y="108113"/>
                      </a:lnTo>
                      <a:cubicBezTo>
                        <a:pt x="157155" y="108113"/>
                        <a:pt x="149695" y="100653"/>
                        <a:pt x="149695" y="91480"/>
                      </a:cubicBezTo>
                      <a:cubicBezTo>
                        <a:pt x="149695" y="82307"/>
                        <a:pt x="157155" y="74848"/>
                        <a:pt x="166328" y="74848"/>
                      </a:cubicBezTo>
                      <a:lnTo>
                        <a:pt x="182961" y="74848"/>
                      </a:lnTo>
                      <a:lnTo>
                        <a:pt x="182961" y="0"/>
                      </a:lnTo>
                      <a:lnTo>
                        <a:pt x="160664" y="0"/>
                      </a:lnTo>
                      <a:cubicBezTo>
                        <a:pt x="72078" y="0"/>
                        <a:pt x="0" y="72078"/>
                        <a:pt x="0" y="160664"/>
                      </a:cubicBezTo>
                      <a:cubicBezTo>
                        <a:pt x="0" y="209049"/>
                        <a:pt x="21481" y="254373"/>
                        <a:pt x="58930" y="285011"/>
                      </a:cubicBezTo>
                      <a:lnTo>
                        <a:pt x="91480" y="311648"/>
                      </a:lnTo>
                      <a:lnTo>
                        <a:pt x="91480" y="334194"/>
                      </a:lnTo>
                      <a:cubicBezTo>
                        <a:pt x="81825" y="337637"/>
                        <a:pt x="74848" y="346785"/>
                        <a:pt x="74848" y="357613"/>
                      </a:cubicBezTo>
                      <a:cubicBezTo>
                        <a:pt x="74848" y="369115"/>
                        <a:pt x="82707" y="378728"/>
                        <a:pt x="93310" y="381598"/>
                      </a:cubicBezTo>
                      <a:cubicBezTo>
                        <a:pt x="92154" y="384467"/>
                        <a:pt x="91480" y="387585"/>
                        <a:pt x="91480" y="390870"/>
                      </a:cubicBezTo>
                      <a:cubicBezTo>
                        <a:pt x="91480" y="401865"/>
                        <a:pt x="98674" y="411112"/>
                        <a:pt x="108562" y="414431"/>
                      </a:cubicBezTo>
                      <a:cubicBezTo>
                        <a:pt x="112005" y="443272"/>
                        <a:pt x="136580" y="465718"/>
                        <a:pt x="166328" y="465718"/>
                      </a:cubicBezTo>
                      <a:cubicBezTo>
                        <a:pt x="196076" y="465718"/>
                        <a:pt x="220650" y="443272"/>
                        <a:pt x="224093" y="414431"/>
                      </a:cubicBezTo>
                      <a:cubicBezTo>
                        <a:pt x="233982" y="411112"/>
                        <a:pt x="241175" y="401865"/>
                        <a:pt x="241175" y="390870"/>
                      </a:cubicBezTo>
                      <a:cubicBezTo>
                        <a:pt x="241175" y="387585"/>
                        <a:pt x="240502" y="384467"/>
                        <a:pt x="239346" y="381589"/>
                      </a:cubicBezTo>
                      <a:cubicBezTo>
                        <a:pt x="249949" y="378712"/>
                        <a:pt x="257808" y="369106"/>
                        <a:pt x="257808" y="357605"/>
                      </a:cubicBezTo>
                      <a:cubicBezTo>
                        <a:pt x="257808" y="346777"/>
                        <a:pt x="250831" y="337629"/>
                        <a:pt x="241175" y="334186"/>
                      </a:cubicBezTo>
                      <a:lnTo>
                        <a:pt x="241175" y="311640"/>
                      </a:lnTo>
                      <a:lnTo>
                        <a:pt x="273726" y="285003"/>
                      </a:lnTo>
                      <a:cubicBezTo>
                        <a:pt x="311174" y="254373"/>
                        <a:pt x="332656" y="209049"/>
                        <a:pt x="332656" y="160664"/>
                      </a:cubicBezTo>
                      <a:lnTo>
                        <a:pt x="332656" y="149695"/>
                      </a:lnTo>
                      <a:lnTo>
                        <a:pt x="282757" y="149695"/>
                      </a:lnTo>
                      <a:cubicBezTo>
                        <a:pt x="282757" y="131349"/>
                        <a:pt x="267838" y="116429"/>
                        <a:pt x="249492" y="116429"/>
                      </a:cubicBezTo>
                      <a:close/>
                      <a:moveTo>
                        <a:pt x="160664" y="16633"/>
                      </a:moveTo>
                      <a:lnTo>
                        <a:pt x="166328" y="16633"/>
                      </a:lnTo>
                      <a:lnTo>
                        <a:pt x="166328" y="58215"/>
                      </a:lnTo>
                      <a:cubicBezTo>
                        <a:pt x="147982" y="58215"/>
                        <a:pt x="133062" y="73134"/>
                        <a:pt x="133062" y="91480"/>
                      </a:cubicBezTo>
                      <a:cubicBezTo>
                        <a:pt x="133062" y="109826"/>
                        <a:pt x="147982" y="124746"/>
                        <a:pt x="166328" y="124746"/>
                      </a:cubicBezTo>
                      <a:lnTo>
                        <a:pt x="166328" y="149695"/>
                      </a:lnTo>
                      <a:lnTo>
                        <a:pt x="133062" y="149695"/>
                      </a:lnTo>
                      <a:cubicBezTo>
                        <a:pt x="133062" y="131349"/>
                        <a:pt x="118143" y="116429"/>
                        <a:pt x="99797" y="116429"/>
                      </a:cubicBezTo>
                      <a:cubicBezTo>
                        <a:pt x="81451" y="116429"/>
                        <a:pt x="66531" y="131349"/>
                        <a:pt x="66531" y="149695"/>
                      </a:cubicBezTo>
                      <a:lnTo>
                        <a:pt x="17049" y="149695"/>
                      </a:lnTo>
                      <a:cubicBezTo>
                        <a:pt x="22670" y="75380"/>
                        <a:pt x="84935" y="16633"/>
                        <a:pt x="160664" y="16633"/>
                      </a:cubicBezTo>
                      <a:close/>
                      <a:moveTo>
                        <a:pt x="69459" y="272137"/>
                      </a:moveTo>
                      <a:cubicBezTo>
                        <a:pt x="37349" y="245866"/>
                        <a:pt x="18338" y="207560"/>
                        <a:pt x="16749" y="166328"/>
                      </a:cubicBezTo>
                      <a:lnTo>
                        <a:pt x="83164" y="166328"/>
                      </a:lnTo>
                      <a:lnTo>
                        <a:pt x="83164" y="149695"/>
                      </a:lnTo>
                      <a:cubicBezTo>
                        <a:pt x="83164" y="140522"/>
                        <a:pt x="90624" y="133062"/>
                        <a:pt x="99797" y="133062"/>
                      </a:cubicBezTo>
                      <a:cubicBezTo>
                        <a:pt x="108970" y="133062"/>
                        <a:pt x="116429" y="140522"/>
                        <a:pt x="116429" y="149695"/>
                      </a:cubicBezTo>
                      <a:lnTo>
                        <a:pt x="116429" y="166328"/>
                      </a:lnTo>
                      <a:lnTo>
                        <a:pt x="166328" y="166328"/>
                      </a:lnTo>
                      <a:lnTo>
                        <a:pt x="166328" y="199593"/>
                      </a:lnTo>
                      <a:cubicBezTo>
                        <a:pt x="147982" y="199593"/>
                        <a:pt x="133062" y="214513"/>
                        <a:pt x="133062" y="232859"/>
                      </a:cubicBezTo>
                      <a:cubicBezTo>
                        <a:pt x="133062" y="251205"/>
                        <a:pt x="147982" y="266125"/>
                        <a:pt x="166328" y="266125"/>
                      </a:cubicBezTo>
                      <a:lnTo>
                        <a:pt x="166328" y="332656"/>
                      </a:lnTo>
                      <a:lnTo>
                        <a:pt x="108113" y="332656"/>
                      </a:lnTo>
                      <a:lnTo>
                        <a:pt x="108113" y="303765"/>
                      </a:lnTo>
                      <a:close/>
                      <a:moveTo>
                        <a:pt x="166328" y="449085"/>
                      </a:moveTo>
                      <a:cubicBezTo>
                        <a:pt x="146252" y="449085"/>
                        <a:pt x="129453" y="434773"/>
                        <a:pt x="125586" y="415820"/>
                      </a:cubicBezTo>
                      <a:lnTo>
                        <a:pt x="207070" y="415820"/>
                      </a:lnTo>
                      <a:cubicBezTo>
                        <a:pt x="203203" y="434773"/>
                        <a:pt x="186404" y="449085"/>
                        <a:pt x="166328" y="449085"/>
                      </a:cubicBezTo>
                      <a:close/>
                      <a:moveTo>
                        <a:pt x="216226" y="399187"/>
                      </a:moveTo>
                      <a:lnTo>
                        <a:pt x="116429" y="399187"/>
                      </a:lnTo>
                      <a:cubicBezTo>
                        <a:pt x="111839" y="399187"/>
                        <a:pt x="108113" y="395453"/>
                        <a:pt x="108113" y="390870"/>
                      </a:cubicBezTo>
                      <a:cubicBezTo>
                        <a:pt x="108113" y="386288"/>
                        <a:pt x="111839" y="382554"/>
                        <a:pt x="116429" y="382554"/>
                      </a:cubicBezTo>
                      <a:lnTo>
                        <a:pt x="216226" y="382554"/>
                      </a:lnTo>
                      <a:cubicBezTo>
                        <a:pt x="220817" y="382554"/>
                        <a:pt x="224543" y="386288"/>
                        <a:pt x="224543" y="390870"/>
                      </a:cubicBezTo>
                      <a:cubicBezTo>
                        <a:pt x="224543" y="395453"/>
                        <a:pt x="220817" y="399187"/>
                        <a:pt x="216226" y="399187"/>
                      </a:cubicBezTo>
                      <a:close/>
                      <a:moveTo>
                        <a:pt x="232859" y="365921"/>
                      </a:moveTo>
                      <a:lnTo>
                        <a:pt x="216226" y="365921"/>
                      </a:lnTo>
                      <a:lnTo>
                        <a:pt x="116429" y="365921"/>
                      </a:lnTo>
                      <a:lnTo>
                        <a:pt x="99797" y="365921"/>
                      </a:lnTo>
                      <a:cubicBezTo>
                        <a:pt x="95206" y="365921"/>
                        <a:pt x="91480" y="362187"/>
                        <a:pt x="91480" y="357605"/>
                      </a:cubicBezTo>
                      <a:cubicBezTo>
                        <a:pt x="91480" y="353022"/>
                        <a:pt x="95206" y="349288"/>
                        <a:pt x="99797" y="349288"/>
                      </a:cubicBezTo>
                      <a:lnTo>
                        <a:pt x="232859" y="349288"/>
                      </a:lnTo>
                      <a:cubicBezTo>
                        <a:pt x="237450" y="349288"/>
                        <a:pt x="241175" y="353022"/>
                        <a:pt x="241175" y="357605"/>
                      </a:cubicBezTo>
                      <a:cubicBezTo>
                        <a:pt x="241175" y="362187"/>
                        <a:pt x="237450" y="365921"/>
                        <a:pt x="232859" y="365921"/>
                      </a:cubicBezTo>
                      <a:close/>
                      <a:moveTo>
                        <a:pt x="263197" y="272137"/>
                      </a:moveTo>
                      <a:lnTo>
                        <a:pt x="224543" y="303765"/>
                      </a:lnTo>
                      <a:lnTo>
                        <a:pt x="224543" y="332656"/>
                      </a:lnTo>
                      <a:lnTo>
                        <a:pt x="182961" y="332656"/>
                      </a:lnTo>
                      <a:lnTo>
                        <a:pt x="182961" y="249492"/>
                      </a:lnTo>
                      <a:lnTo>
                        <a:pt x="166328" y="249492"/>
                      </a:lnTo>
                      <a:cubicBezTo>
                        <a:pt x="157155" y="249492"/>
                        <a:pt x="149695" y="242032"/>
                        <a:pt x="149695" y="232859"/>
                      </a:cubicBezTo>
                      <a:cubicBezTo>
                        <a:pt x="149695" y="223686"/>
                        <a:pt x="157155" y="216226"/>
                        <a:pt x="166328" y="216226"/>
                      </a:cubicBezTo>
                      <a:lnTo>
                        <a:pt x="182961" y="216226"/>
                      </a:lnTo>
                      <a:lnTo>
                        <a:pt x="182961" y="166328"/>
                      </a:lnTo>
                      <a:lnTo>
                        <a:pt x="232859" y="166328"/>
                      </a:lnTo>
                      <a:lnTo>
                        <a:pt x="232859" y="149695"/>
                      </a:lnTo>
                      <a:cubicBezTo>
                        <a:pt x="232859" y="140522"/>
                        <a:pt x="240319" y="133062"/>
                        <a:pt x="249492" y="133062"/>
                      </a:cubicBezTo>
                      <a:cubicBezTo>
                        <a:pt x="258665" y="133062"/>
                        <a:pt x="266125" y="140522"/>
                        <a:pt x="266125" y="149695"/>
                      </a:cubicBezTo>
                      <a:lnTo>
                        <a:pt x="266125" y="166328"/>
                      </a:lnTo>
                      <a:lnTo>
                        <a:pt x="315906" y="166328"/>
                      </a:lnTo>
                      <a:cubicBezTo>
                        <a:pt x="314318" y="207560"/>
                        <a:pt x="295307" y="245866"/>
                        <a:pt x="263197" y="272137"/>
                      </a:cubicBezTo>
                      <a:close/>
                    </a:path>
                  </a:pathLst>
                </a:custGeom>
                <a:solidFill>
                  <a:schemeClr val="bg1"/>
                </a:solidFill>
                <a:ln w="81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grpSp>
        <p:nvGrpSpPr>
          <p:cNvPr id="90" name="Group 89">
            <a:extLst>
              <a:ext uri="{FF2B5EF4-FFF2-40B4-BE49-F238E27FC236}">
                <a16:creationId xmlns:a16="http://schemas.microsoft.com/office/drawing/2014/main" id="{545F99A3-42B8-CBD5-CD19-C7AFD8367BA4}"/>
              </a:ext>
            </a:extLst>
          </p:cNvPr>
          <p:cNvGrpSpPr/>
          <p:nvPr/>
        </p:nvGrpSpPr>
        <p:grpSpPr>
          <a:xfrm>
            <a:off x="6134642" y="946880"/>
            <a:ext cx="2674897" cy="5434870"/>
            <a:chOff x="6073519" y="946880"/>
            <a:chExt cx="2674897" cy="5434870"/>
          </a:xfrm>
        </p:grpSpPr>
        <p:sp>
          <p:nvSpPr>
            <p:cNvPr id="37" name="TextBox 36">
              <a:extLst>
                <a:ext uri="{FF2B5EF4-FFF2-40B4-BE49-F238E27FC236}">
                  <a16:creationId xmlns:a16="http://schemas.microsoft.com/office/drawing/2014/main" id="{259B7BA9-3447-A392-6CC0-D858E6798C2C}"/>
                </a:ext>
              </a:extLst>
            </p:cNvPr>
            <p:cNvSpPr txBox="1"/>
            <p:nvPr/>
          </p:nvSpPr>
          <p:spPr>
            <a:xfrm>
              <a:off x="7213332" y="1290493"/>
              <a:ext cx="796693" cy="246221"/>
            </a:xfrm>
            <a:prstGeom prst="rect">
              <a:avLst/>
            </a:prstGeom>
            <a:noFill/>
          </p:spPr>
          <p:txBody>
            <a:bodyPr wrap="none" lIns="0" tIns="0" rIns="0" bIns="0" rtlCol="0">
              <a:spAutoFit/>
            </a:bodyPr>
            <a:lstStyle/>
            <a:p>
              <a:r>
                <a:rPr kumimoji="0" lang="en-IN" sz="1600" b="0" i="0" u="none" strike="noStrike" kern="1200" cap="none" spc="0" normalizeH="0" baseline="0" noProof="0">
                  <a:ln>
                    <a:noFill/>
                  </a:ln>
                  <a:solidFill>
                    <a:schemeClr val="tx2"/>
                  </a:solidFill>
                  <a:effectLst/>
                  <a:uLnTx/>
                  <a:uFillTx/>
                  <a:latin typeface="Manrope" pitchFamily="2" charset="0"/>
                </a:rPr>
                <a:t>Benefits</a:t>
              </a:r>
            </a:p>
          </p:txBody>
        </p:sp>
        <p:sp>
          <p:nvSpPr>
            <p:cNvPr id="38" name="Rectangle 37">
              <a:extLst>
                <a:ext uri="{FF2B5EF4-FFF2-40B4-BE49-F238E27FC236}">
                  <a16:creationId xmlns:a16="http://schemas.microsoft.com/office/drawing/2014/main" id="{469FF153-2670-3366-7D54-1560A3E46686}"/>
                </a:ext>
              </a:extLst>
            </p:cNvPr>
            <p:cNvSpPr/>
            <p:nvPr/>
          </p:nvSpPr>
          <p:spPr>
            <a:xfrm>
              <a:off x="6073519" y="1979271"/>
              <a:ext cx="2674897" cy="44024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D5FDA31-CCC5-FD67-A503-FDB4B75DEE24}"/>
                </a:ext>
              </a:extLst>
            </p:cNvPr>
            <p:cNvSpPr txBox="1"/>
            <p:nvPr/>
          </p:nvSpPr>
          <p:spPr>
            <a:xfrm>
              <a:off x="6155961" y="2274269"/>
              <a:ext cx="2418835" cy="3048079"/>
            </a:xfrm>
            <a:prstGeom prst="rect">
              <a:avLst/>
            </a:prstGeom>
            <a:noFill/>
          </p:spPr>
          <p:txBody>
            <a:bodyPr wrap="square" rIns="90000" bIns="4680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A metadata-based framework enables quick migration from existing ETL toolsets, requiring minimal development time. Simply update the metadata for readiness, with orchestration handled by ADF/ Snowflake Native scripts. Organizations can standardize multiple toolsets using this framework.</a:t>
              </a:r>
            </a:p>
            <a:p>
              <a:pPr marR="0" lvl="0" algn="l" defTabSz="914400" rtl="0" eaLnBrk="1" fontAlgn="auto" latinLnBrk="0" hangingPunct="1">
                <a:lnSpc>
                  <a:spcPct val="100000"/>
                </a:lnSpc>
                <a:spcBef>
                  <a:spcPts val="0"/>
                </a:spcBef>
                <a:spcAft>
                  <a:spcPts val="0"/>
                </a:spcAft>
                <a:buClr>
                  <a:schemeClr val="accent1"/>
                </a:buClr>
                <a:buSzTx/>
                <a:tabLst/>
                <a:defRPr/>
              </a:pP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Benefits are </a:t>
              </a:r>
              <a:r>
                <a:rPr kumimoji="0" lang="en-US" sz="1200" b="0" i="0" u="none" strike="noStrike" kern="1200" cap="none" spc="0" normalizeH="0" baseline="0" noProof="0" err="1">
                  <a:ln>
                    <a:noFill/>
                  </a:ln>
                  <a:effectLst/>
                  <a:uLnTx/>
                  <a:uFillTx/>
                  <a:latin typeface="Manrope" pitchFamily="2" charset="0"/>
                </a:rPr>
                <a:t>upto</a:t>
              </a:r>
              <a:r>
                <a:rPr kumimoji="0" lang="en-US" sz="1200" b="0" i="0" u="none" strike="noStrike" kern="1200" cap="none" spc="0" normalizeH="0" baseline="0" noProof="0">
                  <a:ln>
                    <a:noFill/>
                  </a:ln>
                  <a:effectLst/>
                  <a:uLnTx/>
                  <a:uFillTx/>
                  <a:latin typeface="Manrope" pitchFamily="2" charset="0"/>
                </a:rPr>
                <a:t>  </a:t>
              </a:r>
              <a:r>
                <a:rPr kumimoji="0" lang="en-US" sz="1200" b="1" i="0" u="none" strike="noStrike" kern="1200" cap="none" spc="0" normalizeH="0" baseline="0" noProof="0">
                  <a:ln>
                    <a:noFill/>
                  </a:ln>
                  <a:effectLst/>
                  <a:uLnTx/>
                  <a:uFillTx/>
                  <a:latin typeface="Manrope" pitchFamily="2" charset="0"/>
                </a:rPr>
                <a:t>60 - 70 % average productivity savings</a:t>
              </a:r>
            </a:p>
          </p:txBody>
        </p:sp>
        <p:grpSp>
          <p:nvGrpSpPr>
            <p:cNvPr id="59" name="Group 58">
              <a:extLst>
                <a:ext uri="{FF2B5EF4-FFF2-40B4-BE49-F238E27FC236}">
                  <a16:creationId xmlns:a16="http://schemas.microsoft.com/office/drawing/2014/main" id="{08B7D826-39D3-04E5-F2EE-9764EC6FBFDB}"/>
                </a:ext>
              </a:extLst>
            </p:cNvPr>
            <p:cNvGrpSpPr/>
            <p:nvPr/>
          </p:nvGrpSpPr>
          <p:grpSpPr>
            <a:xfrm>
              <a:off x="6073519" y="946880"/>
              <a:ext cx="950026" cy="950026"/>
              <a:chOff x="623888" y="3923832"/>
              <a:chExt cx="950026" cy="950026"/>
            </a:xfrm>
          </p:grpSpPr>
          <p:grpSp>
            <p:nvGrpSpPr>
              <p:cNvPr id="60" name="Group 59">
                <a:extLst>
                  <a:ext uri="{FF2B5EF4-FFF2-40B4-BE49-F238E27FC236}">
                    <a16:creationId xmlns:a16="http://schemas.microsoft.com/office/drawing/2014/main" id="{FEB88615-16C1-E7D5-B51D-460F74E51839}"/>
                  </a:ext>
                </a:extLst>
              </p:cNvPr>
              <p:cNvGrpSpPr/>
              <p:nvPr/>
            </p:nvGrpSpPr>
            <p:grpSpPr>
              <a:xfrm>
                <a:off x="623888" y="3923832"/>
                <a:ext cx="950026" cy="950026"/>
                <a:chOff x="1450992" y="1491427"/>
                <a:chExt cx="950026" cy="950026"/>
              </a:xfrm>
            </p:grpSpPr>
            <p:sp>
              <p:nvSpPr>
                <p:cNvPr id="67" name="Oval 66">
                  <a:extLst>
                    <a:ext uri="{FF2B5EF4-FFF2-40B4-BE49-F238E27FC236}">
                      <a16:creationId xmlns:a16="http://schemas.microsoft.com/office/drawing/2014/main" id="{E1E7B4DB-7BC6-6DCA-15D0-1DDB78E9AA4E}"/>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E6B9D422-D456-7B0D-C24A-583B1CB59A9D}"/>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91EBB3CE-E690-C22E-C058-C684EAC09DE5}"/>
                  </a:ext>
                </a:extLst>
              </p:cNvPr>
              <p:cNvGrpSpPr/>
              <p:nvPr/>
            </p:nvGrpSpPr>
            <p:grpSpPr>
              <a:xfrm>
                <a:off x="908009" y="4132528"/>
                <a:ext cx="437025" cy="488137"/>
                <a:chOff x="425359" y="3860014"/>
                <a:chExt cx="581681" cy="488137"/>
              </a:xfrm>
            </p:grpSpPr>
            <p:sp>
              <p:nvSpPr>
                <p:cNvPr id="62" name="Freeform: Shape 32">
                  <a:extLst>
                    <a:ext uri="{FF2B5EF4-FFF2-40B4-BE49-F238E27FC236}">
                      <a16:creationId xmlns:a16="http://schemas.microsoft.com/office/drawing/2014/main" id="{792E9170-5103-A494-0D07-CB4C5258D195}"/>
                    </a:ext>
                  </a:extLst>
                </p:cNvPr>
                <p:cNvSpPr/>
                <p:nvPr/>
              </p:nvSpPr>
              <p:spPr>
                <a:xfrm>
                  <a:off x="519064" y="3963507"/>
                  <a:ext cx="133063" cy="158619"/>
                </a:xfrm>
                <a:custGeom>
                  <a:avLst/>
                  <a:gdLst>
                    <a:gd name="connsiteX0" fmla="*/ 6511 w 101456"/>
                    <a:gd name="connsiteY0" fmla="*/ 60028 h 144118"/>
                    <a:gd name="connsiteX1" fmla="*/ 19291 w 101456"/>
                    <a:gd name="connsiteY1" fmla="*/ 60028 h 144118"/>
                    <a:gd name="connsiteX2" fmla="*/ 19291 w 101456"/>
                    <a:gd name="connsiteY2" fmla="*/ 137608 h 144118"/>
                    <a:gd name="connsiteX3" fmla="*/ 25801 w 101456"/>
                    <a:gd name="connsiteY3" fmla="*/ 144118 h 144118"/>
                    <a:gd name="connsiteX4" fmla="*/ 75657 w 101456"/>
                    <a:gd name="connsiteY4" fmla="*/ 144118 h 144118"/>
                    <a:gd name="connsiteX5" fmla="*/ 82167 w 101456"/>
                    <a:gd name="connsiteY5" fmla="*/ 137608 h 144118"/>
                    <a:gd name="connsiteX6" fmla="*/ 82167 w 101456"/>
                    <a:gd name="connsiteY6" fmla="*/ 60028 h 144118"/>
                    <a:gd name="connsiteX7" fmla="*/ 94947 w 101456"/>
                    <a:gd name="connsiteY7" fmla="*/ 60028 h 144118"/>
                    <a:gd name="connsiteX8" fmla="*/ 100922 w 101456"/>
                    <a:gd name="connsiteY8" fmla="*/ 56102 h 144118"/>
                    <a:gd name="connsiteX9" fmla="*/ 99689 w 101456"/>
                    <a:gd name="connsiteY9" fmla="*/ 49059 h 144118"/>
                    <a:gd name="connsiteX10" fmla="*/ 55470 w 101456"/>
                    <a:gd name="connsiteY10" fmla="*/ 2050 h 144118"/>
                    <a:gd name="connsiteX11" fmla="*/ 50728 w 101456"/>
                    <a:gd name="connsiteY11" fmla="*/ 0 h 144118"/>
                    <a:gd name="connsiteX12" fmla="*/ 45987 w 101456"/>
                    <a:gd name="connsiteY12" fmla="*/ 2050 h 144118"/>
                    <a:gd name="connsiteX13" fmla="*/ 1768 w 101456"/>
                    <a:gd name="connsiteY13" fmla="*/ 49059 h 144118"/>
                    <a:gd name="connsiteX14" fmla="*/ 534 w 101456"/>
                    <a:gd name="connsiteY14" fmla="*/ 56102 h 144118"/>
                    <a:gd name="connsiteX15" fmla="*/ 6511 w 101456"/>
                    <a:gd name="connsiteY15" fmla="*/ 60028 h 144118"/>
                    <a:gd name="connsiteX16" fmla="*/ 50729 w 101456"/>
                    <a:gd name="connsiteY16" fmla="*/ 16010 h 144118"/>
                    <a:gd name="connsiteX17" fmla="*/ 79888 w 101456"/>
                    <a:gd name="connsiteY17" fmla="*/ 47010 h 144118"/>
                    <a:gd name="connsiteX18" fmla="*/ 75658 w 101456"/>
                    <a:gd name="connsiteY18" fmla="*/ 47010 h 144118"/>
                    <a:gd name="connsiteX19" fmla="*/ 69148 w 101456"/>
                    <a:gd name="connsiteY19" fmla="*/ 53519 h 144118"/>
                    <a:gd name="connsiteX20" fmla="*/ 69148 w 101456"/>
                    <a:gd name="connsiteY20" fmla="*/ 131099 h 144118"/>
                    <a:gd name="connsiteX21" fmla="*/ 32310 w 101456"/>
                    <a:gd name="connsiteY21" fmla="*/ 131099 h 144118"/>
                    <a:gd name="connsiteX22" fmla="*/ 32310 w 101456"/>
                    <a:gd name="connsiteY22" fmla="*/ 53519 h 144118"/>
                    <a:gd name="connsiteX23" fmla="*/ 25801 w 101456"/>
                    <a:gd name="connsiteY23" fmla="*/ 47010 h 144118"/>
                    <a:gd name="connsiteX24" fmla="*/ 21570 w 101456"/>
                    <a:gd name="connsiteY24" fmla="*/ 47010 h 144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1456" h="144118">
                      <a:moveTo>
                        <a:pt x="6511" y="60028"/>
                      </a:moveTo>
                      <a:lnTo>
                        <a:pt x="19291" y="60028"/>
                      </a:lnTo>
                      <a:lnTo>
                        <a:pt x="19291" y="137608"/>
                      </a:lnTo>
                      <a:cubicBezTo>
                        <a:pt x="19291" y="141204"/>
                        <a:pt x="22206" y="144118"/>
                        <a:pt x="25801" y="144118"/>
                      </a:cubicBezTo>
                      <a:lnTo>
                        <a:pt x="75657" y="144118"/>
                      </a:lnTo>
                      <a:cubicBezTo>
                        <a:pt x="79252" y="144118"/>
                        <a:pt x="82167" y="141204"/>
                        <a:pt x="82167" y="137608"/>
                      </a:cubicBezTo>
                      <a:lnTo>
                        <a:pt x="82167" y="60028"/>
                      </a:lnTo>
                      <a:lnTo>
                        <a:pt x="94947" y="60028"/>
                      </a:lnTo>
                      <a:cubicBezTo>
                        <a:pt x="97543" y="60028"/>
                        <a:pt x="99891" y="58485"/>
                        <a:pt x="100922" y="56102"/>
                      </a:cubicBezTo>
                      <a:cubicBezTo>
                        <a:pt x="101952" y="53719"/>
                        <a:pt x="101468" y="50951"/>
                        <a:pt x="99689" y="49059"/>
                      </a:cubicBezTo>
                      <a:lnTo>
                        <a:pt x="55470" y="2050"/>
                      </a:lnTo>
                      <a:cubicBezTo>
                        <a:pt x="54240" y="741"/>
                        <a:pt x="52524" y="0"/>
                        <a:pt x="50728" y="0"/>
                      </a:cubicBezTo>
                      <a:cubicBezTo>
                        <a:pt x="48933" y="0"/>
                        <a:pt x="47218" y="741"/>
                        <a:pt x="45987" y="2050"/>
                      </a:cubicBezTo>
                      <a:lnTo>
                        <a:pt x="1768" y="49059"/>
                      </a:lnTo>
                      <a:cubicBezTo>
                        <a:pt x="-11" y="50951"/>
                        <a:pt x="-496" y="53719"/>
                        <a:pt x="534" y="56102"/>
                      </a:cubicBezTo>
                      <a:cubicBezTo>
                        <a:pt x="1566" y="58485"/>
                        <a:pt x="3914" y="60028"/>
                        <a:pt x="6511" y="60028"/>
                      </a:cubicBezTo>
                      <a:close/>
                      <a:moveTo>
                        <a:pt x="50729" y="16010"/>
                      </a:moveTo>
                      <a:lnTo>
                        <a:pt x="79888" y="47010"/>
                      </a:lnTo>
                      <a:lnTo>
                        <a:pt x="75658" y="47010"/>
                      </a:lnTo>
                      <a:cubicBezTo>
                        <a:pt x="72063" y="47010"/>
                        <a:pt x="69148" y="49924"/>
                        <a:pt x="69148" y="53519"/>
                      </a:cubicBezTo>
                      <a:lnTo>
                        <a:pt x="69148" y="131099"/>
                      </a:lnTo>
                      <a:lnTo>
                        <a:pt x="32310" y="131099"/>
                      </a:lnTo>
                      <a:lnTo>
                        <a:pt x="32310" y="53519"/>
                      </a:lnTo>
                      <a:cubicBezTo>
                        <a:pt x="32310" y="49924"/>
                        <a:pt x="29396" y="47010"/>
                        <a:pt x="25801" y="47010"/>
                      </a:cubicBezTo>
                      <a:lnTo>
                        <a:pt x="21570" y="47010"/>
                      </a:ln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Shape 33">
                  <a:extLst>
                    <a:ext uri="{FF2B5EF4-FFF2-40B4-BE49-F238E27FC236}">
                      <a16:creationId xmlns:a16="http://schemas.microsoft.com/office/drawing/2014/main" id="{5BD446A8-AEC6-CF40-814D-A61846F1C7B2}"/>
                    </a:ext>
                  </a:extLst>
                </p:cNvPr>
                <p:cNvSpPr/>
                <p:nvPr/>
              </p:nvSpPr>
              <p:spPr>
                <a:xfrm>
                  <a:off x="649668" y="3914218"/>
                  <a:ext cx="133063" cy="207909"/>
                </a:xfrm>
                <a:custGeom>
                  <a:avLst/>
                  <a:gdLst>
                    <a:gd name="connsiteX0" fmla="*/ 6510 w 101456"/>
                    <a:gd name="connsiteY0" fmla="*/ 60028 h 188902"/>
                    <a:gd name="connsiteX1" fmla="*/ 19291 w 101456"/>
                    <a:gd name="connsiteY1" fmla="*/ 60028 h 188902"/>
                    <a:gd name="connsiteX2" fmla="*/ 19291 w 101456"/>
                    <a:gd name="connsiteY2" fmla="*/ 182393 h 188902"/>
                    <a:gd name="connsiteX3" fmla="*/ 25801 w 101456"/>
                    <a:gd name="connsiteY3" fmla="*/ 188902 h 188902"/>
                    <a:gd name="connsiteX4" fmla="*/ 75657 w 101456"/>
                    <a:gd name="connsiteY4" fmla="*/ 188902 h 188902"/>
                    <a:gd name="connsiteX5" fmla="*/ 82167 w 101456"/>
                    <a:gd name="connsiteY5" fmla="*/ 182393 h 188902"/>
                    <a:gd name="connsiteX6" fmla="*/ 82167 w 101456"/>
                    <a:gd name="connsiteY6" fmla="*/ 60028 h 188902"/>
                    <a:gd name="connsiteX7" fmla="*/ 94947 w 101456"/>
                    <a:gd name="connsiteY7" fmla="*/ 60028 h 188902"/>
                    <a:gd name="connsiteX8" fmla="*/ 100922 w 101456"/>
                    <a:gd name="connsiteY8" fmla="*/ 56102 h 188902"/>
                    <a:gd name="connsiteX9" fmla="*/ 99688 w 101456"/>
                    <a:gd name="connsiteY9" fmla="*/ 49059 h 188902"/>
                    <a:gd name="connsiteX10" fmla="*/ 55470 w 101456"/>
                    <a:gd name="connsiteY10" fmla="*/ 2050 h 188902"/>
                    <a:gd name="connsiteX11" fmla="*/ 50728 w 101456"/>
                    <a:gd name="connsiteY11" fmla="*/ 0 h 188902"/>
                    <a:gd name="connsiteX12" fmla="*/ 45987 w 101456"/>
                    <a:gd name="connsiteY12" fmla="*/ 2050 h 188902"/>
                    <a:gd name="connsiteX13" fmla="*/ 1768 w 101456"/>
                    <a:gd name="connsiteY13" fmla="*/ 49059 h 188902"/>
                    <a:gd name="connsiteX14" fmla="*/ 534 w 101456"/>
                    <a:gd name="connsiteY14" fmla="*/ 56102 h 188902"/>
                    <a:gd name="connsiteX15" fmla="*/ 6510 w 101456"/>
                    <a:gd name="connsiteY15" fmla="*/ 60028 h 188902"/>
                    <a:gd name="connsiteX16" fmla="*/ 50728 w 101456"/>
                    <a:gd name="connsiteY16" fmla="*/ 16010 h 188902"/>
                    <a:gd name="connsiteX17" fmla="*/ 79887 w 101456"/>
                    <a:gd name="connsiteY17" fmla="*/ 47010 h 188902"/>
                    <a:gd name="connsiteX18" fmla="*/ 75656 w 101456"/>
                    <a:gd name="connsiteY18" fmla="*/ 47010 h 188902"/>
                    <a:gd name="connsiteX19" fmla="*/ 69146 w 101456"/>
                    <a:gd name="connsiteY19" fmla="*/ 53519 h 188902"/>
                    <a:gd name="connsiteX20" fmla="*/ 69146 w 101456"/>
                    <a:gd name="connsiteY20" fmla="*/ 175884 h 188902"/>
                    <a:gd name="connsiteX21" fmla="*/ 32309 w 101456"/>
                    <a:gd name="connsiteY21" fmla="*/ 175884 h 188902"/>
                    <a:gd name="connsiteX22" fmla="*/ 32309 w 101456"/>
                    <a:gd name="connsiteY22" fmla="*/ 53519 h 188902"/>
                    <a:gd name="connsiteX23" fmla="*/ 25799 w 101456"/>
                    <a:gd name="connsiteY23" fmla="*/ 47010 h 188902"/>
                    <a:gd name="connsiteX24" fmla="*/ 21568 w 101456"/>
                    <a:gd name="connsiteY24" fmla="*/ 47010 h 18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1456" h="188902">
                      <a:moveTo>
                        <a:pt x="6510" y="60028"/>
                      </a:moveTo>
                      <a:lnTo>
                        <a:pt x="19291" y="60028"/>
                      </a:lnTo>
                      <a:lnTo>
                        <a:pt x="19291" y="182393"/>
                      </a:lnTo>
                      <a:cubicBezTo>
                        <a:pt x="19291" y="185988"/>
                        <a:pt x="22206" y="188902"/>
                        <a:pt x="25801" y="188902"/>
                      </a:cubicBezTo>
                      <a:lnTo>
                        <a:pt x="75657" y="188902"/>
                      </a:lnTo>
                      <a:cubicBezTo>
                        <a:pt x="79253" y="188902"/>
                        <a:pt x="82167" y="185988"/>
                        <a:pt x="82167" y="182393"/>
                      </a:cubicBezTo>
                      <a:lnTo>
                        <a:pt x="82167" y="60028"/>
                      </a:lnTo>
                      <a:lnTo>
                        <a:pt x="94947" y="60028"/>
                      </a:lnTo>
                      <a:cubicBezTo>
                        <a:pt x="97544" y="60028"/>
                        <a:pt x="99891" y="58485"/>
                        <a:pt x="100922" y="56102"/>
                      </a:cubicBezTo>
                      <a:cubicBezTo>
                        <a:pt x="101952" y="53719"/>
                        <a:pt x="101467" y="50951"/>
                        <a:pt x="99688" y="49059"/>
                      </a:cubicBezTo>
                      <a:lnTo>
                        <a:pt x="55470" y="2050"/>
                      </a:lnTo>
                      <a:cubicBezTo>
                        <a:pt x="54240" y="741"/>
                        <a:pt x="52524" y="0"/>
                        <a:pt x="50728" y="0"/>
                      </a:cubicBezTo>
                      <a:cubicBezTo>
                        <a:pt x="48933" y="0"/>
                        <a:pt x="47217" y="741"/>
                        <a:pt x="45987" y="2050"/>
                      </a:cubicBezTo>
                      <a:lnTo>
                        <a:pt x="1768" y="49059"/>
                      </a:lnTo>
                      <a:cubicBezTo>
                        <a:pt x="-11" y="50951"/>
                        <a:pt x="-496" y="53719"/>
                        <a:pt x="534" y="56102"/>
                      </a:cubicBezTo>
                      <a:cubicBezTo>
                        <a:pt x="1565" y="58485"/>
                        <a:pt x="3914" y="60028"/>
                        <a:pt x="6510" y="60028"/>
                      </a:cubicBezTo>
                      <a:close/>
                      <a:moveTo>
                        <a:pt x="50728" y="16010"/>
                      </a:moveTo>
                      <a:lnTo>
                        <a:pt x="79887" y="47010"/>
                      </a:lnTo>
                      <a:lnTo>
                        <a:pt x="75656" y="47010"/>
                      </a:lnTo>
                      <a:cubicBezTo>
                        <a:pt x="72060" y="47010"/>
                        <a:pt x="69146" y="49924"/>
                        <a:pt x="69146" y="53519"/>
                      </a:cubicBezTo>
                      <a:lnTo>
                        <a:pt x="69146" y="175884"/>
                      </a:lnTo>
                      <a:lnTo>
                        <a:pt x="32309" y="175884"/>
                      </a:lnTo>
                      <a:lnTo>
                        <a:pt x="32309" y="53519"/>
                      </a:lnTo>
                      <a:cubicBezTo>
                        <a:pt x="32309" y="49924"/>
                        <a:pt x="29394" y="47010"/>
                        <a:pt x="25799" y="47010"/>
                      </a:cubicBezTo>
                      <a:lnTo>
                        <a:pt x="21568" y="47010"/>
                      </a:ln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Shape 34">
                  <a:extLst>
                    <a:ext uri="{FF2B5EF4-FFF2-40B4-BE49-F238E27FC236}">
                      <a16:creationId xmlns:a16="http://schemas.microsoft.com/office/drawing/2014/main" id="{6068EEE1-C6C8-8DBC-9AAD-320D3B457C1A}"/>
                    </a:ext>
                  </a:extLst>
                </p:cNvPr>
                <p:cNvSpPr/>
                <p:nvPr/>
              </p:nvSpPr>
              <p:spPr>
                <a:xfrm>
                  <a:off x="780270" y="3860014"/>
                  <a:ext cx="133062" cy="262111"/>
                </a:xfrm>
                <a:custGeom>
                  <a:avLst/>
                  <a:gdLst>
                    <a:gd name="connsiteX0" fmla="*/ 6510 w 101455"/>
                    <a:gd name="connsiteY0" fmla="*/ 60029 h 238149"/>
                    <a:gd name="connsiteX1" fmla="*/ 19291 w 101455"/>
                    <a:gd name="connsiteY1" fmla="*/ 60029 h 238149"/>
                    <a:gd name="connsiteX2" fmla="*/ 19291 w 101455"/>
                    <a:gd name="connsiteY2" fmla="*/ 130680 h 238149"/>
                    <a:gd name="connsiteX3" fmla="*/ 25800 w 101455"/>
                    <a:gd name="connsiteY3" fmla="*/ 137190 h 238149"/>
                    <a:gd name="connsiteX4" fmla="*/ 32310 w 101455"/>
                    <a:gd name="connsiteY4" fmla="*/ 130680 h 238149"/>
                    <a:gd name="connsiteX5" fmla="*/ 32310 w 101455"/>
                    <a:gd name="connsiteY5" fmla="*/ 53519 h 238149"/>
                    <a:gd name="connsiteX6" fmla="*/ 25800 w 101455"/>
                    <a:gd name="connsiteY6" fmla="*/ 47010 h 238149"/>
                    <a:gd name="connsiteX7" fmla="*/ 21570 w 101455"/>
                    <a:gd name="connsiteY7" fmla="*/ 47010 h 238149"/>
                    <a:gd name="connsiteX8" fmla="*/ 50728 w 101455"/>
                    <a:gd name="connsiteY8" fmla="*/ 16010 h 238149"/>
                    <a:gd name="connsiteX9" fmla="*/ 79887 w 101455"/>
                    <a:gd name="connsiteY9" fmla="*/ 47010 h 238149"/>
                    <a:gd name="connsiteX10" fmla="*/ 75657 w 101455"/>
                    <a:gd name="connsiteY10" fmla="*/ 47010 h 238149"/>
                    <a:gd name="connsiteX11" fmla="*/ 69147 w 101455"/>
                    <a:gd name="connsiteY11" fmla="*/ 53519 h 238149"/>
                    <a:gd name="connsiteX12" fmla="*/ 69147 w 101455"/>
                    <a:gd name="connsiteY12" fmla="*/ 225131 h 238149"/>
                    <a:gd name="connsiteX13" fmla="*/ 32309 w 101455"/>
                    <a:gd name="connsiteY13" fmla="*/ 225131 h 238149"/>
                    <a:gd name="connsiteX14" fmla="*/ 32309 w 101455"/>
                    <a:gd name="connsiteY14" fmla="*/ 156717 h 238149"/>
                    <a:gd name="connsiteX15" fmla="*/ 25800 w 101455"/>
                    <a:gd name="connsiteY15" fmla="*/ 150208 h 238149"/>
                    <a:gd name="connsiteX16" fmla="*/ 19290 w 101455"/>
                    <a:gd name="connsiteY16" fmla="*/ 156717 h 238149"/>
                    <a:gd name="connsiteX17" fmla="*/ 19290 w 101455"/>
                    <a:gd name="connsiteY17" fmla="*/ 231640 h 238149"/>
                    <a:gd name="connsiteX18" fmla="*/ 25800 w 101455"/>
                    <a:gd name="connsiteY18" fmla="*/ 238149 h 238149"/>
                    <a:gd name="connsiteX19" fmla="*/ 75656 w 101455"/>
                    <a:gd name="connsiteY19" fmla="*/ 238149 h 238149"/>
                    <a:gd name="connsiteX20" fmla="*/ 82165 w 101455"/>
                    <a:gd name="connsiteY20" fmla="*/ 231640 h 238149"/>
                    <a:gd name="connsiteX21" fmla="*/ 82165 w 101455"/>
                    <a:gd name="connsiteY21" fmla="*/ 60029 h 238149"/>
                    <a:gd name="connsiteX22" fmla="*/ 94946 w 101455"/>
                    <a:gd name="connsiteY22" fmla="*/ 60029 h 238149"/>
                    <a:gd name="connsiteX23" fmla="*/ 100921 w 101455"/>
                    <a:gd name="connsiteY23" fmla="*/ 56103 h 238149"/>
                    <a:gd name="connsiteX24" fmla="*/ 99687 w 101455"/>
                    <a:gd name="connsiteY24" fmla="*/ 49060 h 238149"/>
                    <a:gd name="connsiteX25" fmla="*/ 55470 w 101455"/>
                    <a:gd name="connsiteY25" fmla="*/ 2050 h 238149"/>
                    <a:gd name="connsiteX26" fmla="*/ 50728 w 101455"/>
                    <a:gd name="connsiteY26" fmla="*/ 0 h 238149"/>
                    <a:gd name="connsiteX27" fmla="*/ 45986 w 101455"/>
                    <a:gd name="connsiteY27" fmla="*/ 2050 h 238149"/>
                    <a:gd name="connsiteX28" fmla="*/ 1769 w 101455"/>
                    <a:gd name="connsiteY28" fmla="*/ 49059 h 238149"/>
                    <a:gd name="connsiteX29" fmla="*/ 534 w 101455"/>
                    <a:gd name="connsiteY29" fmla="*/ 56102 h 238149"/>
                    <a:gd name="connsiteX30" fmla="*/ 6510 w 101455"/>
                    <a:gd name="connsiteY30" fmla="*/ 60029 h 238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1455" h="238149">
                      <a:moveTo>
                        <a:pt x="6510" y="60029"/>
                      </a:moveTo>
                      <a:lnTo>
                        <a:pt x="19291" y="60029"/>
                      </a:lnTo>
                      <a:lnTo>
                        <a:pt x="19291" y="130680"/>
                      </a:lnTo>
                      <a:cubicBezTo>
                        <a:pt x="19291" y="134276"/>
                        <a:pt x="22205" y="137190"/>
                        <a:pt x="25800" y="137190"/>
                      </a:cubicBezTo>
                      <a:cubicBezTo>
                        <a:pt x="29396" y="137190"/>
                        <a:pt x="32310" y="134276"/>
                        <a:pt x="32310" y="130680"/>
                      </a:cubicBezTo>
                      <a:lnTo>
                        <a:pt x="32310" y="53519"/>
                      </a:lnTo>
                      <a:cubicBezTo>
                        <a:pt x="32310" y="49924"/>
                        <a:pt x="29396" y="47010"/>
                        <a:pt x="25800" y="47010"/>
                      </a:cubicBezTo>
                      <a:lnTo>
                        <a:pt x="21570" y="47010"/>
                      </a:lnTo>
                      <a:lnTo>
                        <a:pt x="50728" y="16010"/>
                      </a:lnTo>
                      <a:lnTo>
                        <a:pt x="79887" y="47010"/>
                      </a:lnTo>
                      <a:lnTo>
                        <a:pt x="75657" y="47010"/>
                      </a:lnTo>
                      <a:cubicBezTo>
                        <a:pt x="72061" y="47010"/>
                        <a:pt x="69147" y="49924"/>
                        <a:pt x="69147" y="53519"/>
                      </a:cubicBezTo>
                      <a:lnTo>
                        <a:pt x="69147" y="225131"/>
                      </a:lnTo>
                      <a:lnTo>
                        <a:pt x="32309" y="225131"/>
                      </a:lnTo>
                      <a:lnTo>
                        <a:pt x="32309" y="156717"/>
                      </a:lnTo>
                      <a:cubicBezTo>
                        <a:pt x="32309" y="153122"/>
                        <a:pt x="29395" y="150208"/>
                        <a:pt x="25800" y="150208"/>
                      </a:cubicBezTo>
                      <a:cubicBezTo>
                        <a:pt x="22204" y="150208"/>
                        <a:pt x="19290" y="153122"/>
                        <a:pt x="19290" y="156717"/>
                      </a:cubicBezTo>
                      <a:lnTo>
                        <a:pt x="19290" y="231640"/>
                      </a:lnTo>
                      <a:cubicBezTo>
                        <a:pt x="19290" y="235235"/>
                        <a:pt x="22204" y="238149"/>
                        <a:pt x="25800" y="238149"/>
                      </a:cubicBezTo>
                      <a:lnTo>
                        <a:pt x="75656" y="238149"/>
                      </a:lnTo>
                      <a:cubicBezTo>
                        <a:pt x="79251" y="238149"/>
                        <a:pt x="82165" y="235235"/>
                        <a:pt x="82165" y="231640"/>
                      </a:cubicBezTo>
                      <a:lnTo>
                        <a:pt x="82165" y="60029"/>
                      </a:lnTo>
                      <a:lnTo>
                        <a:pt x="94946" y="60029"/>
                      </a:lnTo>
                      <a:cubicBezTo>
                        <a:pt x="97543" y="60029"/>
                        <a:pt x="99890" y="58486"/>
                        <a:pt x="100921" y="56103"/>
                      </a:cubicBezTo>
                      <a:cubicBezTo>
                        <a:pt x="101951" y="53719"/>
                        <a:pt x="101466" y="50952"/>
                        <a:pt x="99687" y="49060"/>
                      </a:cubicBezTo>
                      <a:lnTo>
                        <a:pt x="55470" y="2050"/>
                      </a:lnTo>
                      <a:cubicBezTo>
                        <a:pt x="54240" y="741"/>
                        <a:pt x="52524" y="0"/>
                        <a:pt x="50728" y="0"/>
                      </a:cubicBezTo>
                      <a:cubicBezTo>
                        <a:pt x="48933" y="0"/>
                        <a:pt x="47216" y="741"/>
                        <a:pt x="45986" y="2050"/>
                      </a:cubicBezTo>
                      <a:lnTo>
                        <a:pt x="1769" y="49059"/>
                      </a:lnTo>
                      <a:cubicBezTo>
                        <a:pt x="-11" y="50951"/>
                        <a:pt x="-496" y="53719"/>
                        <a:pt x="534" y="56102"/>
                      </a:cubicBezTo>
                      <a:cubicBezTo>
                        <a:pt x="1566" y="58486"/>
                        <a:pt x="3913" y="60029"/>
                        <a:pt x="6510" y="60029"/>
                      </a:cubicBez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35">
                  <a:extLst>
                    <a:ext uri="{FF2B5EF4-FFF2-40B4-BE49-F238E27FC236}">
                      <a16:creationId xmlns:a16="http://schemas.microsoft.com/office/drawing/2014/main" id="{848F5D34-5DF8-8FF1-0E03-3775FAE7F154}"/>
                    </a:ext>
                  </a:extLst>
                </p:cNvPr>
                <p:cNvSpPr/>
                <p:nvPr/>
              </p:nvSpPr>
              <p:spPr>
                <a:xfrm>
                  <a:off x="425359" y="4193909"/>
                  <a:ext cx="468329" cy="154242"/>
                </a:xfrm>
                <a:custGeom>
                  <a:avLst/>
                  <a:gdLst>
                    <a:gd name="connsiteX0" fmla="*/ 347458 w 357084"/>
                    <a:gd name="connsiteY0" fmla="*/ 73007 h 140141"/>
                    <a:gd name="connsiteX1" fmla="*/ 338673 w 357084"/>
                    <a:gd name="connsiteY1" fmla="*/ 77795 h 140141"/>
                    <a:gd name="connsiteX2" fmla="*/ 325278 w 357084"/>
                    <a:gd name="connsiteY2" fmla="*/ 85179 h 140141"/>
                    <a:gd name="connsiteX3" fmla="*/ 201915 w 357084"/>
                    <a:gd name="connsiteY3" fmla="*/ 126734 h 140141"/>
                    <a:gd name="connsiteX4" fmla="*/ 54246 w 357084"/>
                    <a:gd name="connsiteY4" fmla="*/ 113552 h 140141"/>
                    <a:gd name="connsiteX5" fmla="*/ 53668 w 357084"/>
                    <a:gd name="connsiteY5" fmla="*/ 113526 h 140141"/>
                    <a:gd name="connsiteX6" fmla="*/ 13019 w 357084"/>
                    <a:gd name="connsiteY6" fmla="*/ 113526 h 140141"/>
                    <a:gd name="connsiteX7" fmla="*/ 13019 w 357084"/>
                    <a:gd name="connsiteY7" fmla="*/ 40448 h 140141"/>
                    <a:gd name="connsiteX8" fmla="*/ 53667 w 357084"/>
                    <a:gd name="connsiteY8" fmla="*/ 40448 h 140141"/>
                    <a:gd name="connsiteX9" fmla="*/ 57871 w 357084"/>
                    <a:gd name="connsiteY9" fmla="*/ 38909 h 140141"/>
                    <a:gd name="connsiteX10" fmla="*/ 103253 w 357084"/>
                    <a:gd name="connsiteY10" fmla="*/ 12570 h 140141"/>
                    <a:gd name="connsiteX11" fmla="*/ 106934 w 357084"/>
                    <a:gd name="connsiteY11" fmla="*/ 4132 h 140141"/>
                    <a:gd name="connsiteX12" fmla="*/ 98495 w 357084"/>
                    <a:gd name="connsiteY12" fmla="*/ 452 h 140141"/>
                    <a:gd name="connsiteX13" fmla="*/ 51362 w 357084"/>
                    <a:gd name="connsiteY13" fmla="*/ 27429 h 140141"/>
                    <a:gd name="connsiteX14" fmla="*/ 6510 w 357084"/>
                    <a:gd name="connsiteY14" fmla="*/ 27429 h 140141"/>
                    <a:gd name="connsiteX15" fmla="*/ 0 w 357084"/>
                    <a:gd name="connsiteY15" fmla="*/ 33939 h 140141"/>
                    <a:gd name="connsiteX16" fmla="*/ 0 w 357084"/>
                    <a:gd name="connsiteY16" fmla="*/ 120036 h 140141"/>
                    <a:gd name="connsiteX17" fmla="*/ 6510 w 357084"/>
                    <a:gd name="connsiteY17" fmla="*/ 126546 h 140141"/>
                    <a:gd name="connsiteX18" fmla="*/ 53377 w 357084"/>
                    <a:gd name="connsiteY18" fmla="*/ 126546 h 140141"/>
                    <a:gd name="connsiteX19" fmla="*/ 200758 w 357084"/>
                    <a:gd name="connsiteY19" fmla="*/ 139702 h 140141"/>
                    <a:gd name="connsiteX20" fmla="*/ 210731 w 357084"/>
                    <a:gd name="connsiteY20" fmla="*/ 140141 h 140141"/>
                    <a:gd name="connsiteX21" fmla="*/ 331592 w 357084"/>
                    <a:gd name="connsiteY21" fmla="*/ 96565 h 140141"/>
                    <a:gd name="connsiteX22" fmla="*/ 344903 w 357084"/>
                    <a:gd name="connsiteY22" fmla="*/ 89226 h 140141"/>
                    <a:gd name="connsiteX23" fmla="*/ 353689 w 357084"/>
                    <a:gd name="connsiteY23" fmla="*/ 84440 h 140141"/>
                    <a:gd name="connsiteX24" fmla="*/ 356290 w 357084"/>
                    <a:gd name="connsiteY24" fmla="*/ 75608 h 140141"/>
                    <a:gd name="connsiteX25" fmla="*/ 347458 w 357084"/>
                    <a:gd name="connsiteY25" fmla="*/ 73007 h 140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7084" h="140141">
                      <a:moveTo>
                        <a:pt x="347458" y="73007"/>
                      </a:moveTo>
                      <a:lnTo>
                        <a:pt x="338673" y="77795"/>
                      </a:lnTo>
                      <a:cubicBezTo>
                        <a:pt x="334268" y="80195"/>
                        <a:pt x="329801" y="82672"/>
                        <a:pt x="325278" y="85179"/>
                      </a:cubicBezTo>
                      <a:cubicBezTo>
                        <a:pt x="287001" y="106402"/>
                        <a:pt x="243621" y="130464"/>
                        <a:pt x="201915" y="126734"/>
                      </a:cubicBezTo>
                      <a:lnTo>
                        <a:pt x="54246" y="113552"/>
                      </a:lnTo>
                      <a:cubicBezTo>
                        <a:pt x="54054" y="113535"/>
                        <a:pt x="53861" y="113526"/>
                        <a:pt x="53668" y="113526"/>
                      </a:cubicBezTo>
                      <a:lnTo>
                        <a:pt x="13019" y="113526"/>
                      </a:lnTo>
                      <a:lnTo>
                        <a:pt x="13019" y="40448"/>
                      </a:lnTo>
                      <a:lnTo>
                        <a:pt x="53667" y="40448"/>
                      </a:lnTo>
                      <a:cubicBezTo>
                        <a:pt x="55206" y="40448"/>
                        <a:pt x="56695" y="39902"/>
                        <a:pt x="57871" y="38909"/>
                      </a:cubicBezTo>
                      <a:cubicBezTo>
                        <a:pt x="58058" y="38750"/>
                        <a:pt x="76968" y="22893"/>
                        <a:pt x="103253" y="12570"/>
                      </a:cubicBezTo>
                      <a:cubicBezTo>
                        <a:pt x="106600" y="11256"/>
                        <a:pt x="108247" y="7478"/>
                        <a:pt x="106934" y="4132"/>
                      </a:cubicBezTo>
                      <a:cubicBezTo>
                        <a:pt x="105619" y="786"/>
                        <a:pt x="101842" y="-862"/>
                        <a:pt x="98495" y="452"/>
                      </a:cubicBezTo>
                      <a:cubicBezTo>
                        <a:pt x="74854" y="9736"/>
                        <a:pt x="57047" y="22940"/>
                        <a:pt x="51362" y="27429"/>
                      </a:cubicBezTo>
                      <a:lnTo>
                        <a:pt x="6510" y="27429"/>
                      </a:lnTo>
                      <a:cubicBezTo>
                        <a:pt x="2914" y="27429"/>
                        <a:pt x="0" y="30344"/>
                        <a:pt x="0" y="33939"/>
                      </a:cubicBezTo>
                      <a:lnTo>
                        <a:pt x="0" y="120036"/>
                      </a:lnTo>
                      <a:cubicBezTo>
                        <a:pt x="0" y="123631"/>
                        <a:pt x="2914" y="126546"/>
                        <a:pt x="6510" y="126546"/>
                      </a:cubicBezTo>
                      <a:lnTo>
                        <a:pt x="53377" y="126546"/>
                      </a:lnTo>
                      <a:lnTo>
                        <a:pt x="200758" y="139702"/>
                      </a:lnTo>
                      <a:cubicBezTo>
                        <a:pt x="204086" y="139999"/>
                        <a:pt x="207408" y="140141"/>
                        <a:pt x="210731" y="140141"/>
                      </a:cubicBezTo>
                      <a:cubicBezTo>
                        <a:pt x="252996" y="140141"/>
                        <a:pt x="294586" y="117084"/>
                        <a:pt x="331592" y="96565"/>
                      </a:cubicBezTo>
                      <a:cubicBezTo>
                        <a:pt x="336087" y="94073"/>
                        <a:pt x="340526" y="91612"/>
                        <a:pt x="344903" y="89226"/>
                      </a:cubicBezTo>
                      <a:lnTo>
                        <a:pt x="353689" y="84440"/>
                      </a:lnTo>
                      <a:cubicBezTo>
                        <a:pt x="356845" y="82719"/>
                        <a:pt x="358009" y="78766"/>
                        <a:pt x="356290" y="75608"/>
                      </a:cubicBezTo>
                      <a:cubicBezTo>
                        <a:pt x="354568" y="72452"/>
                        <a:pt x="350614" y="71287"/>
                        <a:pt x="347458" y="73007"/>
                      </a:cubicBezTo>
                      <a:close/>
                    </a:path>
                  </a:pathLst>
                </a:custGeom>
                <a:solidFill>
                  <a:schemeClr val="bg1"/>
                </a:solidFill>
                <a:ln w="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Shape 36">
                  <a:extLst>
                    <a:ext uri="{FF2B5EF4-FFF2-40B4-BE49-F238E27FC236}">
                      <a16:creationId xmlns:a16="http://schemas.microsoft.com/office/drawing/2014/main" id="{8FA8372F-6C26-2461-203B-6F0CF896BF6A}"/>
                    </a:ext>
                  </a:extLst>
                </p:cNvPr>
                <p:cNvSpPr/>
                <p:nvPr/>
              </p:nvSpPr>
              <p:spPr>
                <a:xfrm>
                  <a:off x="581920" y="4142381"/>
                  <a:ext cx="425120" cy="131574"/>
                </a:xfrm>
                <a:custGeom>
                  <a:avLst/>
                  <a:gdLst>
                    <a:gd name="connsiteX0" fmla="*/ 319113 w 324138"/>
                    <a:gd name="connsiteY0" fmla="*/ 52507 h 119546"/>
                    <a:gd name="connsiteX1" fmla="*/ 289725 w 324138"/>
                    <a:gd name="connsiteY1" fmla="*/ 44522 h 119546"/>
                    <a:gd name="connsiteX2" fmla="*/ 285581 w 324138"/>
                    <a:gd name="connsiteY2" fmla="*/ 32847 h 119546"/>
                    <a:gd name="connsiteX3" fmla="*/ 256798 w 324138"/>
                    <a:gd name="connsiteY3" fmla="*/ 26017 h 119546"/>
                    <a:gd name="connsiteX4" fmla="*/ 241317 w 324138"/>
                    <a:gd name="connsiteY4" fmla="*/ 34176 h 119546"/>
                    <a:gd name="connsiteX5" fmla="*/ 238135 w 324138"/>
                    <a:gd name="connsiteY5" fmla="*/ 23804 h 119546"/>
                    <a:gd name="connsiteX6" fmla="*/ 208422 w 324138"/>
                    <a:gd name="connsiteY6" fmla="*/ 15731 h 119546"/>
                    <a:gd name="connsiteX7" fmla="*/ 196850 w 324138"/>
                    <a:gd name="connsiteY7" fmla="*/ 22005 h 119546"/>
                    <a:gd name="connsiteX8" fmla="*/ 192399 w 324138"/>
                    <a:gd name="connsiteY8" fmla="*/ 9419 h 119546"/>
                    <a:gd name="connsiteX9" fmla="*/ 163188 w 324138"/>
                    <a:gd name="connsiteY9" fmla="*/ 2665 h 119546"/>
                    <a:gd name="connsiteX10" fmla="*/ 79651 w 324138"/>
                    <a:gd name="connsiteY10" fmla="*/ 46480 h 119546"/>
                    <a:gd name="connsiteX11" fmla="*/ 5319 w 324138"/>
                    <a:gd name="connsiteY11" fmla="*/ 39633 h 119546"/>
                    <a:gd name="connsiteX12" fmla="*/ 111 w 324138"/>
                    <a:gd name="connsiteY12" fmla="*/ 47224 h 119546"/>
                    <a:gd name="connsiteX13" fmla="*/ 7702 w 324138"/>
                    <a:gd name="connsiteY13" fmla="*/ 52432 h 119546"/>
                    <a:gd name="connsiteX14" fmla="*/ 77329 w 324138"/>
                    <a:gd name="connsiteY14" fmla="*/ 59587 h 119546"/>
                    <a:gd name="connsiteX15" fmla="*/ 79996 w 324138"/>
                    <a:gd name="connsiteY15" fmla="*/ 60159 h 119546"/>
                    <a:gd name="connsiteX16" fmla="*/ 166948 w 324138"/>
                    <a:gd name="connsiteY16" fmla="*/ 60159 h 119546"/>
                    <a:gd name="connsiteX17" fmla="*/ 178152 w 324138"/>
                    <a:gd name="connsiteY17" fmla="*/ 71395 h 119546"/>
                    <a:gd name="connsiteX18" fmla="*/ 168352 w 324138"/>
                    <a:gd name="connsiteY18" fmla="*/ 82542 h 119546"/>
                    <a:gd name="connsiteX19" fmla="*/ 58144 w 324138"/>
                    <a:gd name="connsiteY19" fmla="*/ 96500 h 119546"/>
                    <a:gd name="connsiteX20" fmla="*/ 52453 w 324138"/>
                    <a:gd name="connsiteY20" fmla="*/ 102978 h 119546"/>
                    <a:gd name="connsiteX21" fmla="*/ 58183 w 324138"/>
                    <a:gd name="connsiteY21" fmla="*/ 109421 h 119546"/>
                    <a:gd name="connsiteX22" fmla="*/ 104988 w 324138"/>
                    <a:gd name="connsiteY22" fmla="*/ 115063 h 119546"/>
                    <a:gd name="connsiteX23" fmla="*/ 235324 w 324138"/>
                    <a:gd name="connsiteY23" fmla="*/ 89486 h 119546"/>
                    <a:gd name="connsiteX24" fmla="*/ 293817 w 324138"/>
                    <a:gd name="connsiteY24" fmla="*/ 56970 h 119546"/>
                    <a:gd name="connsiteX25" fmla="*/ 308719 w 324138"/>
                    <a:gd name="connsiteY25" fmla="*/ 60349 h 119546"/>
                    <a:gd name="connsiteX26" fmla="*/ 310849 w 324138"/>
                    <a:gd name="connsiteY26" fmla="*/ 70029 h 119546"/>
                    <a:gd name="connsiteX27" fmla="*/ 304928 w 324138"/>
                    <a:gd name="connsiteY27" fmla="*/ 77950 h 119546"/>
                    <a:gd name="connsiteX28" fmla="*/ 251033 w 324138"/>
                    <a:gd name="connsiteY28" fmla="*/ 107320 h 119546"/>
                    <a:gd name="connsiteX29" fmla="*/ 248432 w 324138"/>
                    <a:gd name="connsiteY29" fmla="*/ 116151 h 119546"/>
                    <a:gd name="connsiteX30" fmla="*/ 254154 w 324138"/>
                    <a:gd name="connsiteY30" fmla="*/ 119546 h 119546"/>
                    <a:gd name="connsiteX31" fmla="*/ 257263 w 324138"/>
                    <a:gd name="connsiteY31" fmla="*/ 118751 h 119546"/>
                    <a:gd name="connsiteX32" fmla="*/ 311158 w 324138"/>
                    <a:gd name="connsiteY32" fmla="*/ 89381 h 119546"/>
                    <a:gd name="connsiteX33" fmla="*/ 323574 w 324138"/>
                    <a:gd name="connsiteY33" fmla="*/ 72778 h 119546"/>
                    <a:gd name="connsiteX34" fmla="*/ 319113 w 324138"/>
                    <a:gd name="connsiteY34" fmla="*/ 52507 h 119546"/>
                    <a:gd name="connsiteX35" fmla="*/ 150488 w 324138"/>
                    <a:gd name="connsiteY35" fmla="*/ 47140 h 119546"/>
                    <a:gd name="connsiteX36" fmla="*/ 106422 w 324138"/>
                    <a:gd name="connsiteY36" fmla="*/ 47140 h 119546"/>
                    <a:gd name="connsiteX37" fmla="*/ 169234 w 324138"/>
                    <a:gd name="connsiteY37" fmla="*/ 14196 h 119546"/>
                    <a:gd name="connsiteX38" fmla="*/ 181908 w 324138"/>
                    <a:gd name="connsiteY38" fmla="*/ 17130 h 119546"/>
                    <a:gd name="connsiteX39" fmla="*/ 183614 w 324138"/>
                    <a:gd name="connsiteY39" fmla="*/ 25270 h 119546"/>
                    <a:gd name="connsiteX40" fmla="*/ 178616 w 324138"/>
                    <a:gd name="connsiteY40" fmla="*/ 31891 h 119546"/>
                    <a:gd name="connsiteX41" fmla="*/ 178615 w 324138"/>
                    <a:gd name="connsiteY41" fmla="*/ 31892 h 119546"/>
                    <a:gd name="connsiteX42" fmla="*/ 175155 w 324138"/>
                    <a:gd name="connsiteY42" fmla="*/ 48576 h 119546"/>
                    <a:gd name="connsiteX43" fmla="*/ 214626 w 324138"/>
                    <a:gd name="connsiteY43" fmla="*/ 27176 h 119546"/>
                    <a:gd name="connsiteX44" fmla="*/ 226996 w 324138"/>
                    <a:gd name="connsiteY44" fmla="*/ 30542 h 119546"/>
                    <a:gd name="connsiteX45" fmla="*/ 228004 w 324138"/>
                    <a:gd name="connsiteY45" fmla="*/ 37881 h 119546"/>
                    <a:gd name="connsiteX46" fmla="*/ 223373 w 324138"/>
                    <a:gd name="connsiteY46" fmla="*/ 43634 h 119546"/>
                    <a:gd name="connsiteX47" fmla="*/ 189137 w 324138"/>
                    <a:gd name="connsiteY47" fmla="*/ 61677 h 119546"/>
                    <a:gd name="connsiteX48" fmla="*/ 175155 w 324138"/>
                    <a:gd name="connsiteY48" fmla="*/ 48576 h 119546"/>
                    <a:gd name="connsiteX49" fmla="*/ 276528 w 324138"/>
                    <a:gd name="connsiteY49" fmla="*/ 48049 h 119546"/>
                    <a:gd name="connsiteX50" fmla="*/ 271877 w 324138"/>
                    <a:gd name="connsiteY50" fmla="*/ 54270 h 119546"/>
                    <a:gd name="connsiteX51" fmla="*/ 228999 w 324138"/>
                    <a:gd name="connsiteY51" fmla="*/ 78106 h 119546"/>
                    <a:gd name="connsiteX52" fmla="*/ 112369 w 324138"/>
                    <a:gd name="connsiteY52" fmla="*/ 102754 h 119546"/>
                    <a:gd name="connsiteX53" fmla="*/ 169988 w 324138"/>
                    <a:gd name="connsiteY53" fmla="*/ 95456 h 119546"/>
                    <a:gd name="connsiteX54" fmla="*/ 190814 w 324138"/>
                    <a:gd name="connsiteY54" fmla="*/ 75509 h 119546"/>
                    <a:gd name="connsiteX55" fmla="*/ 262869 w 324138"/>
                    <a:gd name="connsiteY55" fmla="*/ 37534 h 119546"/>
                    <a:gd name="connsiteX56" fmla="*/ 274987 w 324138"/>
                    <a:gd name="connsiteY56" fmla="*/ 40413 h 119546"/>
                    <a:gd name="connsiteX57" fmla="*/ 276528 w 324138"/>
                    <a:gd name="connsiteY57" fmla="*/ 48049 h 11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24138" h="119546">
                      <a:moveTo>
                        <a:pt x="319113" y="52507"/>
                      </a:moveTo>
                      <a:cubicBezTo>
                        <a:pt x="312192" y="43331"/>
                        <a:pt x="300135" y="40163"/>
                        <a:pt x="289725" y="44522"/>
                      </a:cubicBezTo>
                      <a:cubicBezTo>
                        <a:pt x="289460" y="40359"/>
                        <a:pt x="288049" y="36303"/>
                        <a:pt x="285581" y="32847"/>
                      </a:cubicBezTo>
                      <a:cubicBezTo>
                        <a:pt x="279072" y="23735"/>
                        <a:pt x="266698" y="20798"/>
                        <a:pt x="256798" y="26017"/>
                      </a:cubicBezTo>
                      <a:lnTo>
                        <a:pt x="241317" y="34176"/>
                      </a:lnTo>
                      <a:cubicBezTo>
                        <a:pt x="241118" y="30541"/>
                        <a:pt x="240046" y="26963"/>
                        <a:pt x="238135" y="23804"/>
                      </a:cubicBezTo>
                      <a:cubicBezTo>
                        <a:pt x="231957" y="13593"/>
                        <a:pt x="218905" y="10048"/>
                        <a:pt x="208422" y="15731"/>
                      </a:cubicBezTo>
                      <a:lnTo>
                        <a:pt x="196850" y="22005"/>
                      </a:lnTo>
                      <a:cubicBezTo>
                        <a:pt x="196642" y="17506"/>
                        <a:pt x="195119" y="13121"/>
                        <a:pt x="192399" y="9419"/>
                      </a:cubicBezTo>
                      <a:cubicBezTo>
                        <a:pt x="185614" y="188"/>
                        <a:pt x="173330" y="-2654"/>
                        <a:pt x="163188" y="2665"/>
                      </a:cubicBezTo>
                      <a:lnTo>
                        <a:pt x="79651" y="46480"/>
                      </a:lnTo>
                      <a:cubicBezTo>
                        <a:pt x="70256" y="42873"/>
                        <a:pt x="40306" y="33118"/>
                        <a:pt x="5319" y="39633"/>
                      </a:cubicBezTo>
                      <a:cubicBezTo>
                        <a:pt x="1785" y="40292"/>
                        <a:pt x="-547" y="43690"/>
                        <a:pt x="111" y="47224"/>
                      </a:cubicBezTo>
                      <a:cubicBezTo>
                        <a:pt x="769" y="50759"/>
                        <a:pt x="4170" y="53089"/>
                        <a:pt x="7702" y="52432"/>
                      </a:cubicBezTo>
                      <a:cubicBezTo>
                        <a:pt x="45054" y="45479"/>
                        <a:pt x="77019" y="59449"/>
                        <a:pt x="77329" y="59587"/>
                      </a:cubicBezTo>
                      <a:cubicBezTo>
                        <a:pt x="78168" y="59964"/>
                        <a:pt x="79077" y="60159"/>
                        <a:pt x="79996" y="60159"/>
                      </a:cubicBezTo>
                      <a:lnTo>
                        <a:pt x="166948" y="60159"/>
                      </a:lnTo>
                      <a:cubicBezTo>
                        <a:pt x="173126" y="60159"/>
                        <a:pt x="178152" y="65199"/>
                        <a:pt x="178152" y="71395"/>
                      </a:cubicBezTo>
                      <a:cubicBezTo>
                        <a:pt x="178152" y="77042"/>
                        <a:pt x="173939" y="81834"/>
                        <a:pt x="168352" y="82542"/>
                      </a:cubicBezTo>
                      <a:lnTo>
                        <a:pt x="58144" y="96500"/>
                      </a:lnTo>
                      <a:cubicBezTo>
                        <a:pt x="54883" y="96913"/>
                        <a:pt x="52442" y="99691"/>
                        <a:pt x="52453" y="102978"/>
                      </a:cubicBezTo>
                      <a:cubicBezTo>
                        <a:pt x="52463" y="106264"/>
                        <a:pt x="54920" y="109028"/>
                        <a:pt x="58183" y="109421"/>
                      </a:cubicBezTo>
                      <a:lnTo>
                        <a:pt x="104988" y="115063"/>
                      </a:lnTo>
                      <a:cubicBezTo>
                        <a:pt x="150325" y="120526"/>
                        <a:pt x="195396" y="111684"/>
                        <a:pt x="235324" y="89486"/>
                      </a:cubicBezTo>
                      <a:lnTo>
                        <a:pt x="293817" y="56970"/>
                      </a:lnTo>
                      <a:cubicBezTo>
                        <a:pt x="298960" y="54294"/>
                        <a:pt x="305217" y="55707"/>
                        <a:pt x="308719" y="60349"/>
                      </a:cubicBezTo>
                      <a:cubicBezTo>
                        <a:pt x="310804" y="63113"/>
                        <a:pt x="311581" y="66641"/>
                        <a:pt x="310849" y="70029"/>
                      </a:cubicBezTo>
                      <a:cubicBezTo>
                        <a:pt x="310118" y="73411"/>
                        <a:pt x="307960" y="76298"/>
                        <a:pt x="304928" y="77950"/>
                      </a:cubicBezTo>
                      <a:lnTo>
                        <a:pt x="251033" y="107320"/>
                      </a:lnTo>
                      <a:cubicBezTo>
                        <a:pt x="247877" y="109041"/>
                        <a:pt x="246713" y="112994"/>
                        <a:pt x="248432" y="116151"/>
                      </a:cubicBezTo>
                      <a:cubicBezTo>
                        <a:pt x="249614" y="118318"/>
                        <a:pt x="251848" y="119546"/>
                        <a:pt x="254154" y="119546"/>
                      </a:cubicBezTo>
                      <a:cubicBezTo>
                        <a:pt x="255207" y="119546"/>
                        <a:pt x="256274" y="119290"/>
                        <a:pt x="257263" y="118751"/>
                      </a:cubicBezTo>
                      <a:lnTo>
                        <a:pt x="311158" y="89381"/>
                      </a:lnTo>
                      <a:cubicBezTo>
                        <a:pt x="317517" y="85916"/>
                        <a:pt x="322043" y="79864"/>
                        <a:pt x="323574" y="72778"/>
                      </a:cubicBezTo>
                      <a:cubicBezTo>
                        <a:pt x="325107" y="65685"/>
                        <a:pt x="323481" y="58297"/>
                        <a:pt x="319113" y="52507"/>
                      </a:cubicBezTo>
                      <a:close/>
                      <a:moveTo>
                        <a:pt x="150488" y="47140"/>
                      </a:moveTo>
                      <a:lnTo>
                        <a:pt x="106422" y="47140"/>
                      </a:lnTo>
                      <a:lnTo>
                        <a:pt x="169234" y="14196"/>
                      </a:lnTo>
                      <a:cubicBezTo>
                        <a:pt x="173634" y="11889"/>
                        <a:pt x="178964" y="13123"/>
                        <a:pt x="181908" y="17130"/>
                      </a:cubicBezTo>
                      <a:cubicBezTo>
                        <a:pt x="183652" y="19503"/>
                        <a:pt x="184257" y="22394"/>
                        <a:pt x="183614" y="25270"/>
                      </a:cubicBezTo>
                      <a:cubicBezTo>
                        <a:pt x="182972" y="28140"/>
                        <a:pt x="181197" y="30491"/>
                        <a:pt x="178616" y="31891"/>
                      </a:cubicBezTo>
                      <a:cubicBezTo>
                        <a:pt x="178616" y="31891"/>
                        <a:pt x="178616" y="31891"/>
                        <a:pt x="178615" y="31892"/>
                      </a:cubicBezTo>
                      <a:close/>
                      <a:moveTo>
                        <a:pt x="175155" y="48576"/>
                      </a:moveTo>
                      <a:lnTo>
                        <a:pt x="214626" y="27176"/>
                      </a:lnTo>
                      <a:cubicBezTo>
                        <a:pt x="218992" y="24810"/>
                        <a:pt x="224423" y="26290"/>
                        <a:pt x="226996" y="30542"/>
                      </a:cubicBezTo>
                      <a:cubicBezTo>
                        <a:pt x="228342" y="32768"/>
                        <a:pt x="228700" y="35374"/>
                        <a:pt x="228004" y="37881"/>
                      </a:cubicBezTo>
                      <a:cubicBezTo>
                        <a:pt x="227310" y="40383"/>
                        <a:pt x="225664" y="42426"/>
                        <a:pt x="223373" y="43634"/>
                      </a:cubicBezTo>
                      <a:lnTo>
                        <a:pt x="189137" y="61677"/>
                      </a:lnTo>
                      <a:cubicBezTo>
                        <a:pt x="186476" y="55614"/>
                        <a:pt x="181412" y="50839"/>
                        <a:pt x="175155" y="48576"/>
                      </a:cubicBezTo>
                      <a:close/>
                      <a:moveTo>
                        <a:pt x="276528" y="48049"/>
                      </a:moveTo>
                      <a:cubicBezTo>
                        <a:pt x="275925" y="50728"/>
                        <a:pt x="274273" y="52939"/>
                        <a:pt x="271877" y="54270"/>
                      </a:cubicBezTo>
                      <a:lnTo>
                        <a:pt x="228999" y="78106"/>
                      </a:lnTo>
                      <a:cubicBezTo>
                        <a:pt x="193195" y="98011"/>
                        <a:pt x="152996" y="106487"/>
                        <a:pt x="112369" y="102754"/>
                      </a:cubicBezTo>
                      <a:lnTo>
                        <a:pt x="169988" y="95456"/>
                      </a:lnTo>
                      <a:cubicBezTo>
                        <a:pt x="180678" y="94103"/>
                        <a:pt x="189034" y="85841"/>
                        <a:pt x="190814" y="75509"/>
                      </a:cubicBezTo>
                      <a:lnTo>
                        <a:pt x="262869" y="37534"/>
                      </a:lnTo>
                      <a:cubicBezTo>
                        <a:pt x="267036" y="35338"/>
                        <a:pt x="272245" y="36575"/>
                        <a:pt x="274987" y="40413"/>
                      </a:cubicBezTo>
                      <a:cubicBezTo>
                        <a:pt x="276586" y="42651"/>
                        <a:pt x="277133" y="45364"/>
                        <a:pt x="276528" y="48049"/>
                      </a:cubicBezTo>
                      <a:close/>
                    </a:path>
                  </a:pathLst>
                </a:custGeom>
                <a:solidFill>
                  <a:schemeClr val="bg1"/>
                </a:solidFill>
                <a:ln w="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grpSp>
        <p:nvGrpSpPr>
          <p:cNvPr id="89" name="Group 88">
            <a:extLst>
              <a:ext uri="{FF2B5EF4-FFF2-40B4-BE49-F238E27FC236}">
                <a16:creationId xmlns:a16="http://schemas.microsoft.com/office/drawing/2014/main" id="{5C6ADF63-518E-0623-2D46-DC7DF2547E16}"/>
              </a:ext>
            </a:extLst>
          </p:cNvPr>
          <p:cNvGrpSpPr/>
          <p:nvPr/>
        </p:nvGrpSpPr>
        <p:grpSpPr>
          <a:xfrm>
            <a:off x="8888213" y="946880"/>
            <a:ext cx="2674897" cy="5434870"/>
            <a:chOff x="8888213" y="946880"/>
            <a:chExt cx="2674897" cy="5434870"/>
          </a:xfrm>
        </p:grpSpPr>
        <p:sp>
          <p:nvSpPr>
            <p:cNvPr id="49" name="TextBox 48">
              <a:extLst>
                <a:ext uri="{FF2B5EF4-FFF2-40B4-BE49-F238E27FC236}">
                  <a16:creationId xmlns:a16="http://schemas.microsoft.com/office/drawing/2014/main" id="{DA012ED4-3CD2-37D8-4014-CAED094E42ED}"/>
                </a:ext>
              </a:extLst>
            </p:cNvPr>
            <p:cNvSpPr txBox="1"/>
            <p:nvPr/>
          </p:nvSpPr>
          <p:spPr>
            <a:xfrm>
              <a:off x="10028026" y="1199934"/>
              <a:ext cx="621965" cy="492443"/>
            </a:xfrm>
            <a:prstGeom prst="rect">
              <a:avLst/>
            </a:prstGeom>
            <a:noFill/>
          </p:spPr>
          <p:txBody>
            <a:bodyPr wrap="none" lIns="0" tIns="0" rIns="0" bIns="0" rtlCol="0">
              <a:spAutoFit/>
            </a:bodyPr>
            <a:lstStyle/>
            <a:p>
              <a:r>
                <a:rPr kumimoji="0" lang="en-IN" sz="1600" b="0" i="0" u="none" strike="noStrike" kern="1200" cap="none" spc="0" normalizeH="0" baseline="0" noProof="0">
                  <a:ln>
                    <a:noFill/>
                  </a:ln>
                  <a:solidFill>
                    <a:schemeClr val="tx2"/>
                  </a:solidFill>
                  <a:effectLst/>
                  <a:uLnTx/>
                  <a:uFillTx/>
                  <a:latin typeface="Manrope" pitchFamily="2" charset="0"/>
                </a:rPr>
                <a:t>Future</a:t>
              </a:r>
              <a:br>
                <a:rPr kumimoji="0" lang="en-IN" sz="1600" b="0" i="0" u="none" strike="noStrike" kern="1200" cap="none" spc="0" normalizeH="0" baseline="0" noProof="0">
                  <a:ln>
                    <a:noFill/>
                  </a:ln>
                  <a:solidFill>
                    <a:schemeClr val="tx2"/>
                  </a:solidFill>
                  <a:effectLst/>
                  <a:uLnTx/>
                  <a:uFillTx/>
                  <a:latin typeface="Manrope" pitchFamily="2" charset="0"/>
                </a:rPr>
              </a:br>
              <a:r>
                <a:rPr kumimoji="0" lang="en-IN" sz="1600" b="0" i="0" u="none" strike="noStrike" kern="1200" cap="none" spc="0" normalizeH="0" baseline="0" noProof="0">
                  <a:ln>
                    <a:noFill/>
                  </a:ln>
                  <a:solidFill>
                    <a:schemeClr val="tx2"/>
                  </a:solidFill>
                  <a:effectLst/>
                  <a:uLnTx/>
                  <a:uFillTx/>
                  <a:latin typeface="Manrope" pitchFamily="2" charset="0"/>
                </a:rPr>
                <a:t>Scope</a:t>
              </a:r>
            </a:p>
          </p:txBody>
        </p:sp>
        <p:sp>
          <p:nvSpPr>
            <p:cNvPr id="50" name="Rectangle 49">
              <a:extLst>
                <a:ext uri="{FF2B5EF4-FFF2-40B4-BE49-F238E27FC236}">
                  <a16:creationId xmlns:a16="http://schemas.microsoft.com/office/drawing/2014/main" id="{BD2D0A7B-07B1-84D7-B431-1021164D6C85}"/>
                </a:ext>
              </a:extLst>
            </p:cNvPr>
            <p:cNvSpPr/>
            <p:nvPr/>
          </p:nvSpPr>
          <p:spPr>
            <a:xfrm>
              <a:off x="8888213" y="1979271"/>
              <a:ext cx="2674897" cy="44024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D317D4CD-6754-E398-9C21-73C9AAC1792D}"/>
                </a:ext>
              </a:extLst>
            </p:cNvPr>
            <p:cNvSpPr txBox="1"/>
            <p:nvPr/>
          </p:nvSpPr>
          <p:spPr>
            <a:xfrm>
              <a:off x="8970655" y="2274269"/>
              <a:ext cx="2418835" cy="832087"/>
            </a:xfrm>
            <a:prstGeom prst="rect">
              <a:avLst/>
            </a:prstGeom>
            <a:noFill/>
          </p:spPr>
          <p:txBody>
            <a:bodyPr wrap="square" rIns="90000" bIns="4680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Transition from manual metadata ingestion via .csv templates to an interactive UI using Streamlit for updates.</a:t>
              </a:r>
            </a:p>
          </p:txBody>
        </p:sp>
        <p:grpSp>
          <p:nvGrpSpPr>
            <p:cNvPr id="69" name="Group 68">
              <a:extLst>
                <a:ext uri="{FF2B5EF4-FFF2-40B4-BE49-F238E27FC236}">
                  <a16:creationId xmlns:a16="http://schemas.microsoft.com/office/drawing/2014/main" id="{B780566F-2103-AF24-0A79-E87207F6AE39}"/>
                </a:ext>
              </a:extLst>
            </p:cNvPr>
            <p:cNvGrpSpPr/>
            <p:nvPr/>
          </p:nvGrpSpPr>
          <p:grpSpPr>
            <a:xfrm>
              <a:off x="8888213" y="946880"/>
              <a:ext cx="950026" cy="950026"/>
              <a:chOff x="623888" y="5431724"/>
              <a:chExt cx="950026" cy="950026"/>
            </a:xfrm>
          </p:grpSpPr>
          <p:grpSp>
            <p:nvGrpSpPr>
              <p:cNvPr id="70" name="Group 69">
                <a:extLst>
                  <a:ext uri="{FF2B5EF4-FFF2-40B4-BE49-F238E27FC236}">
                    <a16:creationId xmlns:a16="http://schemas.microsoft.com/office/drawing/2014/main" id="{4CA87AB7-AB9D-5202-7150-D12C514A7C52}"/>
                  </a:ext>
                </a:extLst>
              </p:cNvPr>
              <p:cNvGrpSpPr/>
              <p:nvPr/>
            </p:nvGrpSpPr>
            <p:grpSpPr>
              <a:xfrm>
                <a:off x="623888" y="5431724"/>
                <a:ext cx="950026" cy="950026"/>
                <a:chOff x="1450992" y="1491427"/>
                <a:chExt cx="950026" cy="950026"/>
              </a:xfrm>
            </p:grpSpPr>
            <p:sp>
              <p:nvSpPr>
                <p:cNvPr id="87" name="Oval 86">
                  <a:extLst>
                    <a:ext uri="{FF2B5EF4-FFF2-40B4-BE49-F238E27FC236}">
                      <a16:creationId xmlns:a16="http://schemas.microsoft.com/office/drawing/2014/main" id="{C51BD170-09A1-BD2B-31E4-A0AE88485A4C}"/>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F2409472-EF74-BB7A-001F-200F054D7592}"/>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CBC0CF13-0949-B5E2-E942-25D1360176CC}"/>
                  </a:ext>
                </a:extLst>
              </p:cNvPr>
              <p:cNvGrpSpPr/>
              <p:nvPr/>
            </p:nvGrpSpPr>
            <p:grpSpPr>
              <a:xfrm>
                <a:off x="901730" y="5690505"/>
                <a:ext cx="456777" cy="439442"/>
                <a:chOff x="4623792" y="3723894"/>
                <a:chExt cx="410763" cy="417616"/>
              </a:xfrm>
              <a:solidFill>
                <a:schemeClr val="bg1"/>
              </a:solidFill>
            </p:grpSpPr>
            <p:grpSp>
              <p:nvGrpSpPr>
                <p:cNvPr id="72" name="Group 71">
                  <a:extLst>
                    <a:ext uri="{FF2B5EF4-FFF2-40B4-BE49-F238E27FC236}">
                      <a16:creationId xmlns:a16="http://schemas.microsoft.com/office/drawing/2014/main" id="{5C2FDE84-2959-7C13-DB6A-FF99272DFCD3}"/>
                    </a:ext>
                  </a:extLst>
                </p:cNvPr>
                <p:cNvGrpSpPr/>
                <p:nvPr/>
              </p:nvGrpSpPr>
              <p:grpSpPr>
                <a:xfrm>
                  <a:off x="4685407" y="3874513"/>
                  <a:ext cx="205382" cy="205382"/>
                  <a:chOff x="4685407" y="3874513"/>
                  <a:chExt cx="205382" cy="205382"/>
                </a:xfrm>
                <a:grpFill/>
              </p:grpSpPr>
              <p:sp>
                <p:nvSpPr>
                  <p:cNvPr id="85" name="Freeform: Shape 29">
                    <a:extLst>
                      <a:ext uri="{FF2B5EF4-FFF2-40B4-BE49-F238E27FC236}">
                        <a16:creationId xmlns:a16="http://schemas.microsoft.com/office/drawing/2014/main" id="{5CE06F6B-F8D4-AC60-5547-83DE92B9E1F2}"/>
                      </a:ext>
                    </a:extLst>
                  </p:cNvPr>
                  <p:cNvSpPr/>
                  <p:nvPr/>
                </p:nvSpPr>
                <p:spPr>
                  <a:xfrm>
                    <a:off x="4685407" y="3874513"/>
                    <a:ext cx="205382" cy="205382"/>
                  </a:xfrm>
                  <a:custGeom>
                    <a:avLst/>
                    <a:gdLst>
                      <a:gd name="connsiteX0" fmla="*/ 102691 w 205382"/>
                      <a:gd name="connsiteY0" fmla="*/ 0 h 205382"/>
                      <a:gd name="connsiteX1" fmla="*/ 0 w 205382"/>
                      <a:gd name="connsiteY1" fmla="*/ 102691 h 205382"/>
                      <a:gd name="connsiteX2" fmla="*/ 102691 w 205382"/>
                      <a:gd name="connsiteY2" fmla="*/ 205383 h 205382"/>
                      <a:gd name="connsiteX3" fmla="*/ 205383 w 205382"/>
                      <a:gd name="connsiteY3" fmla="*/ 102691 h 205382"/>
                      <a:gd name="connsiteX4" fmla="*/ 102691 w 205382"/>
                      <a:gd name="connsiteY4" fmla="*/ 0 h 205382"/>
                      <a:gd name="connsiteX5" fmla="*/ 152962 w 205382"/>
                      <a:gd name="connsiteY5" fmla="*/ 176061 h 205382"/>
                      <a:gd name="connsiteX6" fmla="*/ 146280 w 205382"/>
                      <a:gd name="connsiteY6" fmla="*/ 164484 h 205382"/>
                      <a:gd name="connsiteX7" fmla="*/ 134423 w 205382"/>
                      <a:gd name="connsiteY7" fmla="*/ 171330 h 205382"/>
                      <a:gd name="connsiteX8" fmla="*/ 141084 w 205382"/>
                      <a:gd name="connsiteY8" fmla="*/ 182859 h 205382"/>
                      <a:gd name="connsiteX9" fmla="*/ 109551 w 205382"/>
                      <a:gd name="connsiteY9" fmla="*/ 191341 h 205382"/>
                      <a:gd name="connsiteX10" fmla="*/ 109551 w 205382"/>
                      <a:gd name="connsiteY10" fmla="*/ 171152 h 205382"/>
                      <a:gd name="connsiteX11" fmla="*/ 95859 w 205382"/>
                      <a:gd name="connsiteY11" fmla="*/ 171152 h 205382"/>
                      <a:gd name="connsiteX12" fmla="*/ 95859 w 205382"/>
                      <a:gd name="connsiteY12" fmla="*/ 191341 h 205382"/>
                      <a:gd name="connsiteX13" fmla="*/ 64326 w 205382"/>
                      <a:gd name="connsiteY13" fmla="*/ 182859 h 205382"/>
                      <a:gd name="connsiteX14" fmla="*/ 70987 w 205382"/>
                      <a:gd name="connsiteY14" fmla="*/ 171330 h 205382"/>
                      <a:gd name="connsiteX15" fmla="*/ 59130 w 205382"/>
                      <a:gd name="connsiteY15" fmla="*/ 164484 h 205382"/>
                      <a:gd name="connsiteX16" fmla="*/ 52448 w 205382"/>
                      <a:gd name="connsiteY16" fmla="*/ 176061 h 205382"/>
                      <a:gd name="connsiteX17" fmla="*/ 29342 w 205382"/>
                      <a:gd name="connsiteY17" fmla="*/ 152955 h 205382"/>
                      <a:gd name="connsiteX18" fmla="*/ 40919 w 205382"/>
                      <a:gd name="connsiteY18" fmla="*/ 146274 h 205382"/>
                      <a:gd name="connsiteX19" fmla="*/ 34073 w 205382"/>
                      <a:gd name="connsiteY19" fmla="*/ 134416 h 205382"/>
                      <a:gd name="connsiteX20" fmla="*/ 22544 w 205382"/>
                      <a:gd name="connsiteY20" fmla="*/ 141077 h 205382"/>
                      <a:gd name="connsiteX21" fmla="*/ 14062 w 205382"/>
                      <a:gd name="connsiteY21" fmla="*/ 109544 h 205382"/>
                      <a:gd name="connsiteX22" fmla="*/ 34230 w 205382"/>
                      <a:gd name="connsiteY22" fmla="*/ 109544 h 205382"/>
                      <a:gd name="connsiteX23" fmla="*/ 34230 w 205382"/>
                      <a:gd name="connsiteY23" fmla="*/ 95852 h 205382"/>
                      <a:gd name="connsiteX24" fmla="*/ 14041 w 205382"/>
                      <a:gd name="connsiteY24" fmla="*/ 95852 h 205382"/>
                      <a:gd name="connsiteX25" fmla="*/ 22524 w 205382"/>
                      <a:gd name="connsiteY25" fmla="*/ 64319 h 205382"/>
                      <a:gd name="connsiteX26" fmla="*/ 34052 w 205382"/>
                      <a:gd name="connsiteY26" fmla="*/ 70980 h 205382"/>
                      <a:gd name="connsiteX27" fmla="*/ 40899 w 205382"/>
                      <a:gd name="connsiteY27" fmla="*/ 59123 h 205382"/>
                      <a:gd name="connsiteX28" fmla="*/ 29322 w 205382"/>
                      <a:gd name="connsiteY28" fmla="*/ 52441 h 205382"/>
                      <a:gd name="connsiteX29" fmla="*/ 52427 w 205382"/>
                      <a:gd name="connsiteY29" fmla="*/ 29336 h 205382"/>
                      <a:gd name="connsiteX30" fmla="*/ 59109 w 205382"/>
                      <a:gd name="connsiteY30" fmla="*/ 40912 h 205382"/>
                      <a:gd name="connsiteX31" fmla="*/ 70967 w 205382"/>
                      <a:gd name="connsiteY31" fmla="*/ 34066 h 205382"/>
                      <a:gd name="connsiteX32" fmla="*/ 64305 w 205382"/>
                      <a:gd name="connsiteY32" fmla="*/ 22537 h 205382"/>
                      <a:gd name="connsiteX33" fmla="*/ 95838 w 205382"/>
                      <a:gd name="connsiteY33" fmla="*/ 14055 h 205382"/>
                      <a:gd name="connsiteX34" fmla="*/ 95838 w 205382"/>
                      <a:gd name="connsiteY34" fmla="*/ 34230 h 205382"/>
                      <a:gd name="connsiteX35" fmla="*/ 109531 w 205382"/>
                      <a:gd name="connsiteY35" fmla="*/ 34230 h 205382"/>
                      <a:gd name="connsiteX36" fmla="*/ 109531 w 205382"/>
                      <a:gd name="connsiteY36" fmla="*/ 14041 h 205382"/>
                      <a:gd name="connsiteX37" fmla="*/ 141064 w 205382"/>
                      <a:gd name="connsiteY37" fmla="*/ 22524 h 205382"/>
                      <a:gd name="connsiteX38" fmla="*/ 134403 w 205382"/>
                      <a:gd name="connsiteY38" fmla="*/ 34052 h 205382"/>
                      <a:gd name="connsiteX39" fmla="*/ 146260 w 205382"/>
                      <a:gd name="connsiteY39" fmla="*/ 40899 h 205382"/>
                      <a:gd name="connsiteX40" fmla="*/ 152942 w 205382"/>
                      <a:gd name="connsiteY40" fmla="*/ 29322 h 205382"/>
                      <a:gd name="connsiteX41" fmla="*/ 176047 w 205382"/>
                      <a:gd name="connsiteY41" fmla="*/ 52427 h 205382"/>
                      <a:gd name="connsiteX42" fmla="*/ 164471 w 205382"/>
                      <a:gd name="connsiteY42" fmla="*/ 59109 h 205382"/>
                      <a:gd name="connsiteX43" fmla="*/ 171317 w 205382"/>
                      <a:gd name="connsiteY43" fmla="*/ 70967 h 205382"/>
                      <a:gd name="connsiteX44" fmla="*/ 182845 w 205382"/>
                      <a:gd name="connsiteY44" fmla="*/ 64305 h 205382"/>
                      <a:gd name="connsiteX45" fmla="*/ 191328 w 205382"/>
                      <a:gd name="connsiteY45" fmla="*/ 95838 h 205382"/>
                      <a:gd name="connsiteX46" fmla="*/ 171152 w 205382"/>
                      <a:gd name="connsiteY46" fmla="*/ 95838 h 205382"/>
                      <a:gd name="connsiteX47" fmla="*/ 171152 w 205382"/>
                      <a:gd name="connsiteY47" fmla="*/ 109531 h 205382"/>
                      <a:gd name="connsiteX48" fmla="*/ 191341 w 205382"/>
                      <a:gd name="connsiteY48" fmla="*/ 109531 h 205382"/>
                      <a:gd name="connsiteX49" fmla="*/ 182859 w 205382"/>
                      <a:gd name="connsiteY49" fmla="*/ 141064 h 205382"/>
                      <a:gd name="connsiteX50" fmla="*/ 171330 w 205382"/>
                      <a:gd name="connsiteY50" fmla="*/ 134403 h 205382"/>
                      <a:gd name="connsiteX51" fmla="*/ 164484 w 205382"/>
                      <a:gd name="connsiteY51" fmla="*/ 146260 h 205382"/>
                      <a:gd name="connsiteX52" fmla="*/ 176061 w 205382"/>
                      <a:gd name="connsiteY52" fmla="*/ 152942 h 205382"/>
                      <a:gd name="connsiteX53" fmla="*/ 152962 w 205382"/>
                      <a:gd name="connsiteY53" fmla="*/ 176061 h 20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05382" h="205382">
                        <a:moveTo>
                          <a:pt x="102691" y="0"/>
                        </a:moveTo>
                        <a:cubicBezTo>
                          <a:pt x="46067" y="0"/>
                          <a:pt x="0" y="46067"/>
                          <a:pt x="0" y="102691"/>
                        </a:cubicBezTo>
                        <a:cubicBezTo>
                          <a:pt x="0" y="159315"/>
                          <a:pt x="46067" y="205383"/>
                          <a:pt x="102691" y="205383"/>
                        </a:cubicBezTo>
                        <a:cubicBezTo>
                          <a:pt x="159315" y="205383"/>
                          <a:pt x="205383" y="159315"/>
                          <a:pt x="205383" y="102691"/>
                        </a:cubicBezTo>
                        <a:cubicBezTo>
                          <a:pt x="205383" y="46067"/>
                          <a:pt x="159315" y="0"/>
                          <a:pt x="102691" y="0"/>
                        </a:cubicBezTo>
                        <a:close/>
                        <a:moveTo>
                          <a:pt x="152962" y="176061"/>
                        </a:moveTo>
                        <a:lnTo>
                          <a:pt x="146280" y="164484"/>
                        </a:lnTo>
                        <a:lnTo>
                          <a:pt x="134423" y="171330"/>
                        </a:lnTo>
                        <a:lnTo>
                          <a:pt x="141084" y="182859"/>
                        </a:lnTo>
                        <a:cubicBezTo>
                          <a:pt x="131397" y="187515"/>
                          <a:pt x="120779" y="190479"/>
                          <a:pt x="109551" y="191341"/>
                        </a:cubicBezTo>
                        <a:lnTo>
                          <a:pt x="109551" y="171152"/>
                        </a:lnTo>
                        <a:lnTo>
                          <a:pt x="95859" y="171152"/>
                        </a:lnTo>
                        <a:lnTo>
                          <a:pt x="95859" y="191341"/>
                        </a:lnTo>
                        <a:cubicBezTo>
                          <a:pt x="84631" y="190479"/>
                          <a:pt x="74006" y="187521"/>
                          <a:pt x="64326" y="182859"/>
                        </a:cubicBezTo>
                        <a:lnTo>
                          <a:pt x="70987" y="171330"/>
                        </a:lnTo>
                        <a:lnTo>
                          <a:pt x="59130" y="164484"/>
                        </a:lnTo>
                        <a:lnTo>
                          <a:pt x="52448" y="176061"/>
                        </a:lnTo>
                        <a:cubicBezTo>
                          <a:pt x="43404" y="169845"/>
                          <a:pt x="35565" y="162006"/>
                          <a:pt x="29342" y="152955"/>
                        </a:cubicBezTo>
                        <a:lnTo>
                          <a:pt x="40919" y="146274"/>
                        </a:lnTo>
                        <a:lnTo>
                          <a:pt x="34073" y="134416"/>
                        </a:lnTo>
                        <a:lnTo>
                          <a:pt x="22544" y="141077"/>
                        </a:lnTo>
                        <a:cubicBezTo>
                          <a:pt x="17889" y="131390"/>
                          <a:pt x="14924" y="120772"/>
                          <a:pt x="14062" y="109544"/>
                        </a:cubicBezTo>
                        <a:lnTo>
                          <a:pt x="34230" y="109544"/>
                        </a:lnTo>
                        <a:lnTo>
                          <a:pt x="34230" y="95852"/>
                        </a:lnTo>
                        <a:lnTo>
                          <a:pt x="14041" y="95852"/>
                        </a:lnTo>
                        <a:cubicBezTo>
                          <a:pt x="14904" y="84625"/>
                          <a:pt x="17861" y="73999"/>
                          <a:pt x="22524" y="64319"/>
                        </a:cubicBezTo>
                        <a:lnTo>
                          <a:pt x="34052" y="70980"/>
                        </a:lnTo>
                        <a:lnTo>
                          <a:pt x="40899" y="59123"/>
                        </a:lnTo>
                        <a:lnTo>
                          <a:pt x="29322" y="52441"/>
                        </a:lnTo>
                        <a:cubicBezTo>
                          <a:pt x="35538" y="43397"/>
                          <a:pt x="43377" y="35559"/>
                          <a:pt x="52427" y="29336"/>
                        </a:cubicBezTo>
                        <a:lnTo>
                          <a:pt x="59109" y="40912"/>
                        </a:lnTo>
                        <a:lnTo>
                          <a:pt x="70967" y="34066"/>
                        </a:lnTo>
                        <a:lnTo>
                          <a:pt x="64305" y="22537"/>
                        </a:lnTo>
                        <a:cubicBezTo>
                          <a:pt x="73993" y="17882"/>
                          <a:pt x="84611" y="14918"/>
                          <a:pt x="95838" y="14055"/>
                        </a:cubicBezTo>
                        <a:lnTo>
                          <a:pt x="95838" y="34230"/>
                        </a:lnTo>
                        <a:lnTo>
                          <a:pt x="109531" y="34230"/>
                        </a:lnTo>
                        <a:lnTo>
                          <a:pt x="109531" y="14041"/>
                        </a:lnTo>
                        <a:cubicBezTo>
                          <a:pt x="120758" y="14904"/>
                          <a:pt x="131383" y="17861"/>
                          <a:pt x="141064" y="22524"/>
                        </a:cubicBezTo>
                        <a:lnTo>
                          <a:pt x="134403" y="34052"/>
                        </a:lnTo>
                        <a:lnTo>
                          <a:pt x="146260" y="40899"/>
                        </a:lnTo>
                        <a:lnTo>
                          <a:pt x="152942" y="29322"/>
                        </a:lnTo>
                        <a:cubicBezTo>
                          <a:pt x="161985" y="35538"/>
                          <a:pt x="169824" y="43377"/>
                          <a:pt x="176047" y="52427"/>
                        </a:cubicBezTo>
                        <a:lnTo>
                          <a:pt x="164471" y="59109"/>
                        </a:lnTo>
                        <a:lnTo>
                          <a:pt x="171317" y="70967"/>
                        </a:lnTo>
                        <a:lnTo>
                          <a:pt x="182845" y="64305"/>
                        </a:lnTo>
                        <a:cubicBezTo>
                          <a:pt x="187501" y="73993"/>
                          <a:pt x="190465" y="84611"/>
                          <a:pt x="191328" y="95838"/>
                        </a:cubicBezTo>
                        <a:lnTo>
                          <a:pt x="171152" y="95838"/>
                        </a:lnTo>
                        <a:lnTo>
                          <a:pt x="171152" y="109531"/>
                        </a:lnTo>
                        <a:lnTo>
                          <a:pt x="191341" y="109531"/>
                        </a:lnTo>
                        <a:cubicBezTo>
                          <a:pt x="190479" y="120758"/>
                          <a:pt x="187521" y="131383"/>
                          <a:pt x="182859" y="141064"/>
                        </a:cubicBezTo>
                        <a:lnTo>
                          <a:pt x="171330" y="134403"/>
                        </a:lnTo>
                        <a:lnTo>
                          <a:pt x="164484" y="146260"/>
                        </a:lnTo>
                        <a:lnTo>
                          <a:pt x="176061" y="152942"/>
                        </a:lnTo>
                        <a:cubicBezTo>
                          <a:pt x="169845" y="162006"/>
                          <a:pt x="162006" y="169845"/>
                          <a:pt x="152962" y="176061"/>
                        </a:cubicBezTo>
                        <a:close/>
                      </a:path>
                    </a:pathLst>
                  </a:custGeom>
                  <a:grp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Freeform: Shape 30">
                    <a:extLst>
                      <a:ext uri="{FF2B5EF4-FFF2-40B4-BE49-F238E27FC236}">
                        <a16:creationId xmlns:a16="http://schemas.microsoft.com/office/drawing/2014/main" id="{5D1BEC29-0810-190D-F7A7-2E89D9605EC3}"/>
                      </a:ext>
                    </a:extLst>
                  </p:cNvPr>
                  <p:cNvSpPr/>
                  <p:nvPr/>
                </p:nvSpPr>
                <p:spPr>
                  <a:xfrm>
                    <a:off x="4781252" y="3922435"/>
                    <a:ext cx="44595" cy="81174"/>
                  </a:xfrm>
                  <a:custGeom>
                    <a:avLst/>
                    <a:gdLst>
                      <a:gd name="connsiteX0" fmla="*/ 13692 w 44595"/>
                      <a:gd name="connsiteY0" fmla="*/ 0 h 81174"/>
                      <a:gd name="connsiteX1" fmla="*/ 0 w 44595"/>
                      <a:gd name="connsiteY1" fmla="*/ 0 h 81174"/>
                      <a:gd name="connsiteX2" fmla="*/ 0 w 44595"/>
                      <a:gd name="connsiteY2" fmla="*/ 54769 h 81174"/>
                      <a:gd name="connsiteX3" fmla="*/ 3320 w 44595"/>
                      <a:gd name="connsiteY3" fmla="*/ 60636 h 81174"/>
                      <a:gd name="connsiteX4" fmla="*/ 37551 w 44595"/>
                      <a:gd name="connsiteY4" fmla="*/ 81174 h 81174"/>
                      <a:gd name="connsiteX5" fmla="*/ 44595 w 44595"/>
                      <a:gd name="connsiteY5" fmla="*/ 69433 h 81174"/>
                      <a:gd name="connsiteX6" fmla="*/ 13692 w 44595"/>
                      <a:gd name="connsiteY6" fmla="*/ 50894 h 81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95" h="81174">
                        <a:moveTo>
                          <a:pt x="13692" y="0"/>
                        </a:moveTo>
                        <a:lnTo>
                          <a:pt x="0" y="0"/>
                        </a:lnTo>
                        <a:lnTo>
                          <a:pt x="0" y="54769"/>
                        </a:lnTo>
                        <a:cubicBezTo>
                          <a:pt x="0" y="57179"/>
                          <a:pt x="1267" y="59404"/>
                          <a:pt x="3320" y="60636"/>
                        </a:cubicBezTo>
                        <a:lnTo>
                          <a:pt x="37551" y="81174"/>
                        </a:lnTo>
                        <a:lnTo>
                          <a:pt x="44595" y="69433"/>
                        </a:lnTo>
                        <a:lnTo>
                          <a:pt x="13692" y="50894"/>
                        </a:lnTo>
                        <a:close/>
                      </a:path>
                    </a:pathLst>
                  </a:custGeom>
                  <a:grp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3" name="Freeform: Shape 17">
                  <a:extLst>
                    <a:ext uri="{FF2B5EF4-FFF2-40B4-BE49-F238E27FC236}">
                      <a16:creationId xmlns:a16="http://schemas.microsoft.com/office/drawing/2014/main" id="{78F5DBEF-CB67-4B13-72F1-7318F3B10103}"/>
                    </a:ext>
                  </a:extLst>
                </p:cNvPr>
                <p:cNvSpPr/>
                <p:nvPr/>
              </p:nvSpPr>
              <p:spPr>
                <a:xfrm>
                  <a:off x="4623794" y="3723894"/>
                  <a:ext cx="410761" cy="417616"/>
                </a:xfrm>
                <a:custGeom>
                  <a:avLst/>
                  <a:gdLst>
                    <a:gd name="connsiteX0" fmla="*/ 325874 w 410761"/>
                    <a:gd name="connsiteY0" fmla="*/ 1374 h 417616"/>
                    <a:gd name="connsiteX1" fmla="*/ 318706 w 410761"/>
                    <a:gd name="connsiteY1" fmla="*/ 724 h 417616"/>
                    <a:gd name="connsiteX2" fmla="*/ 314920 w 410761"/>
                    <a:gd name="connsiteY2" fmla="*/ 6851 h 417616"/>
                    <a:gd name="connsiteX3" fmla="*/ 314920 w 410761"/>
                    <a:gd name="connsiteY3" fmla="*/ 34235 h 417616"/>
                    <a:gd name="connsiteX4" fmla="*/ 54769 w 410761"/>
                    <a:gd name="connsiteY4" fmla="*/ 34235 h 417616"/>
                    <a:gd name="connsiteX5" fmla="*/ 54769 w 410761"/>
                    <a:gd name="connsiteY5" fmla="*/ 47928 h 417616"/>
                    <a:gd name="connsiteX6" fmla="*/ 321766 w 410761"/>
                    <a:gd name="connsiteY6" fmla="*/ 47928 h 417616"/>
                    <a:gd name="connsiteX7" fmla="*/ 328613 w 410761"/>
                    <a:gd name="connsiteY7" fmla="*/ 41082 h 417616"/>
                    <a:gd name="connsiteX8" fmla="*/ 328613 w 410761"/>
                    <a:gd name="connsiteY8" fmla="*/ 20543 h 417616"/>
                    <a:gd name="connsiteX9" fmla="*/ 392890 w 410761"/>
                    <a:gd name="connsiteY9" fmla="*/ 68747 h 417616"/>
                    <a:gd name="connsiteX10" fmla="*/ 328613 w 410761"/>
                    <a:gd name="connsiteY10" fmla="*/ 122310 h 417616"/>
                    <a:gd name="connsiteX11" fmla="*/ 328613 w 410761"/>
                    <a:gd name="connsiteY11" fmla="*/ 95850 h 417616"/>
                    <a:gd name="connsiteX12" fmla="*/ 321766 w 410761"/>
                    <a:gd name="connsiteY12" fmla="*/ 89004 h 417616"/>
                    <a:gd name="connsiteX13" fmla="*/ 164306 w 410761"/>
                    <a:gd name="connsiteY13" fmla="*/ 89004 h 417616"/>
                    <a:gd name="connsiteX14" fmla="*/ 0 w 410761"/>
                    <a:gd name="connsiteY14" fmla="*/ 253310 h 417616"/>
                    <a:gd name="connsiteX15" fmla="*/ 164306 w 410761"/>
                    <a:gd name="connsiteY15" fmla="*/ 417617 h 417616"/>
                    <a:gd name="connsiteX16" fmla="*/ 164306 w 410761"/>
                    <a:gd name="connsiteY16" fmla="*/ 410771 h 417616"/>
                    <a:gd name="connsiteX17" fmla="*/ 164450 w 410761"/>
                    <a:gd name="connsiteY17" fmla="*/ 417617 h 417616"/>
                    <a:gd name="connsiteX18" fmla="*/ 165292 w 410761"/>
                    <a:gd name="connsiteY18" fmla="*/ 417610 h 417616"/>
                    <a:gd name="connsiteX19" fmla="*/ 165292 w 410761"/>
                    <a:gd name="connsiteY19" fmla="*/ 403918 h 417616"/>
                    <a:gd name="connsiteX20" fmla="*/ 164279 w 410761"/>
                    <a:gd name="connsiteY20" fmla="*/ 403925 h 417616"/>
                    <a:gd name="connsiteX21" fmla="*/ 13692 w 410761"/>
                    <a:gd name="connsiteY21" fmla="*/ 253310 h 417616"/>
                    <a:gd name="connsiteX22" fmla="*/ 164306 w 410761"/>
                    <a:gd name="connsiteY22" fmla="*/ 102696 h 417616"/>
                    <a:gd name="connsiteX23" fmla="*/ 314920 w 410761"/>
                    <a:gd name="connsiteY23" fmla="*/ 102696 h 417616"/>
                    <a:gd name="connsiteX24" fmla="*/ 314920 w 410761"/>
                    <a:gd name="connsiteY24" fmla="*/ 136927 h 417616"/>
                    <a:gd name="connsiteX25" fmla="*/ 318864 w 410761"/>
                    <a:gd name="connsiteY25" fmla="*/ 143123 h 417616"/>
                    <a:gd name="connsiteX26" fmla="*/ 326148 w 410761"/>
                    <a:gd name="connsiteY26" fmla="*/ 142185 h 417616"/>
                    <a:gd name="connsiteX27" fmla="*/ 408301 w 410761"/>
                    <a:gd name="connsiteY27" fmla="*/ 73724 h 417616"/>
                    <a:gd name="connsiteX28" fmla="*/ 410759 w 410761"/>
                    <a:gd name="connsiteY28" fmla="*/ 68288 h 417616"/>
                    <a:gd name="connsiteX29" fmla="*/ 408020 w 410761"/>
                    <a:gd name="connsiteY29" fmla="*/ 62989 h 417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761" h="417616">
                      <a:moveTo>
                        <a:pt x="325874" y="1374"/>
                      </a:moveTo>
                      <a:cubicBezTo>
                        <a:pt x="323800" y="-194"/>
                        <a:pt x="321020" y="-433"/>
                        <a:pt x="318706" y="724"/>
                      </a:cubicBezTo>
                      <a:cubicBezTo>
                        <a:pt x="316385" y="1888"/>
                        <a:pt x="314920" y="4256"/>
                        <a:pt x="314920" y="6851"/>
                      </a:cubicBezTo>
                      <a:lnTo>
                        <a:pt x="314920" y="34235"/>
                      </a:lnTo>
                      <a:lnTo>
                        <a:pt x="54769" y="34235"/>
                      </a:lnTo>
                      <a:lnTo>
                        <a:pt x="54769" y="47928"/>
                      </a:lnTo>
                      <a:lnTo>
                        <a:pt x="321766" y="47928"/>
                      </a:lnTo>
                      <a:cubicBezTo>
                        <a:pt x="325552" y="47928"/>
                        <a:pt x="328613" y="44867"/>
                        <a:pt x="328613" y="41082"/>
                      </a:cubicBezTo>
                      <a:lnTo>
                        <a:pt x="328613" y="20543"/>
                      </a:lnTo>
                      <a:lnTo>
                        <a:pt x="392890" y="68747"/>
                      </a:lnTo>
                      <a:lnTo>
                        <a:pt x="328613" y="122310"/>
                      </a:lnTo>
                      <a:lnTo>
                        <a:pt x="328613" y="95850"/>
                      </a:lnTo>
                      <a:cubicBezTo>
                        <a:pt x="328613" y="92064"/>
                        <a:pt x="325552" y="89004"/>
                        <a:pt x="321766" y="89004"/>
                      </a:cubicBezTo>
                      <a:lnTo>
                        <a:pt x="164306" y="89004"/>
                      </a:lnTo>
                      <a:cubicBezTo>
                        <a:pt x="73712" y="89004"/>
                        <a:pt x="0" y="162716"/>
                        <a:pt x="0" y="253310"/>
                      </a:cubicBezTo>
                      <a:cubicBezTo>
                        <a:pt x="0" y="343905"/>
                        <a:pt x="73712" y="417617"/>
                        <a:pt x="164306" y="417617"/>
                      </a:cubicBezTo>
                      <a:lnTo>
                        <a:pt x="164306" y="410771"/>
                      </a:lnTo>
                      <a:lnTo>
                        <a:pt x="164450" y="417617"/>
                      </a:lnTo>
                      <a:lnTo>
                        <a:pt x="165292" y="417610"/>
                      </a:lnTo>
                      <a:lnTo>
                        <a:pt x="165292" y="403918"/>
                      </a:lnTo>
                      <a:lnTo>
                        <a:pt x="164279" y="403925"/>
                      </a:lnTo>
                      <a:cubicBezTo>
                        <a:pt x="81243" y="403911"/>
                        <a:pt x="13692" y="336354"/>
                        <a:pt x="13692" y="253310"/>
                      </a:cubicBezTo>
                      <a:cubicBezTo>
                        <a:pt x="13692" y="170260"/>
                        <a:pt x="81256" y="102696"/>
                        <a:pt x="164306" y="102696"/>
                      </a:cubicBezTo>
                      <a:lnTo>
                        <a:pt x="314920" y="102696"/>
                      </a:lnTo>
                      <a:lnTo>
                        <a:pt x="314920" y="136927"/>
                      </a:lnTo>
                      <a:cubicBezTo>
                        <a:pt x="314920" y="139583"/>
                        <a:pt x="316461" y="142000"/>
                        <a:pt x="318864" y="143123"/>
                      </a:cubicBezTo>
                      <a:cubicBezTo>
                        <a:pt x="321260" y="144252"/>
                        <a:pt x="324108" y="143889"/>
                        <a:pt x="326148" y="142185"/>
                      </a:cubicBezTo>
                      <a:lnTo>
                        <a:pt x="408301" y="73724"/>
                      </a:lnTo>
                      <a:cubicBezTo>
                        <a:pt x="409903" y="72382"/>
                        <a:pt x="410814" y="70383"/>
                        <a:pt x="410759" y="68288"/>
                      </a:cubicBezTo>
                      <a:cubicBezTo>
                        <a:pt x="410704" y="66193"/>
                        <a:pt x="409698" y="64242"/>
                        <a:pt x="408020" y="62989"/>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Shape 18">
                  <a:extLst>
                    <a:ext uri="{FF2B5EF4-FFF2-40B4-BE49-F238E27FC236}">
                      <a16:creationId xmlns:a16="http://schemas.microsoft.com/office/drawing/2014/main" id="{64F51587-FFD1-CD25-FC0F-F4198BD5523B}"/>
                    </a:ext>
                  </a:extLst>
                </p:cNvPr>
                <p:cNvSpPr/>
                <p:nvPr/>
              </p:nvSpPr>
              <p:spPr>
                <a:xfrm>
                  <a:off x="4852349" y="4107348"/>
                  <a:ext cx="18491" cy="18491"/>
                </a:xfrm>
                <a:custGeom>
                  <a:avLst/>
                  <a:gdLst>
                    <a:gd name="connsiteX0" fmla="*/ 5867 w 18491"/>
                    <a:gd name="connsiteY0" fmla="*/ 18491 h 18491"/>
                    <a:gd name="connsiteX1" fmla="*/ 18491 w 18491"/>
                    <a:gd name="connsiteY1" fmla="*/ 11837 h 18491"/>
                    <a:gd name="connsiteX2" fmla="*/ 11590 w 18491"/>
                    <a:gd name="connsiteY2" fmla="*/ 0 h 18491"/>
                    <a:gd name="connsiteX3" fmla="*/ 0 w 18491"/>
                    <a:gd name="connsiteY3" fmla="*/ 6120 h 18491"/>
                  </a:gdLst>
                  <a:ahLst/>
                  <a:cxnLst>
                    <a:cxn ang="0">
                      <a:pos x="connsiteX0" y="connsiteY0"/>
                    </a:cxn>
                    <a:cxn ang="0">
                      <a:pos x="connsiteX1" y="connsiteY1"/>
                    </a:cxn>
                    <a:cxn ang="0">
                      <a:pos x="connsiteX2" y="connsiteY2"/>
                    </a:cxn>
                    <a:cxn ang="0">
                      <a:pos x="connsiteX3" y="connsiteY3"/>
                    </a:cxn>
                  </a:cxnLst>
                  <a:rect l="l" t="t" r="r" b="b"/>
                  <a:pathLst>
                    <a:path w="18491" h="18491">
                      <a:moveTo>
                        <a:pt x="5867" y="18491"/>
                      </a:moveTo>
                      <a:cubicBezTo>
                        <a:pt x="10194" y="16437"/>
                        <a:pt x="14438" y="14199"/>
                        <a:pt x="18491" y="11837"/>
                      </a:cubicBezTo>
                      <a:lnTo>
                        <a:pt x="11590" y="0"/>
                      </a:lnTo>
                      <a:cubicBezTo>
                        <a:pt x="7873" y="2170"/>
                        <a:pt x="3978" y="4224"/>
                        <a:pt x="0" y="6120"/>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Freeform: Shape 19">
                  <a:extLst>
                    <a:ext uri="{FF2B5EF4-FFF2-40B4-BE49-F238E27FC236}">
                      <a16:creationId xmlns:a16="http://schemas.microsoft.com/office/drawing/2014/main" id="{843F6D14-860D-46B0-9CCC-D8F07043A6B6}"/>
                    </a:ext>
                  </a:extLst>
                </p:cNvPr>
                <p:cNvSpPr/>
                <p:nvPr/>
              </p:nvSpPr>
              <p:spPr>
                <a:xfrm>
                  <a:off x="4874934" y="4092273"/>
                  <a:ext cx="19196" cy="19189"/>
                </a:xfrm>
                <a:custGeom>
                  <a:avLst/>
                  <a:gdLst>
                    <a:gd name="connsiteX0" fmla="*/ 0 w 19196"/>
                    <a:gd name="connsiteY0" fmla="*/ 8010 h 19189"/>
                    <a:gd name="connsiteX1" fmla="*/ 7914 w 19196"/>
                    <a:gd name="connsiteY1" fmla="*/ 19190 h 19189"/>
                    <a:gd name="connsiteX2" fmla="*/ 19196 w 19196"/>
                    <a:gd name="connsiteY2" fmla="*/ 10454 h 19189"/>
                    <a:gd name="connsiteX3" fmla="*/ 10358 w 19196"/>
                    <a:gd name="connsiteY3" fmla="*/ 0 h 19189"/>
                    <a:gd name="connsiteX4" fmla="*/ 0 w 19196"/>
                    <a:gd name="connsiteY4" fmla="*/ 8010 h 19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6" h="19189">
                      <a:moveTo>
                        <a:pt x="0" y="8010"/>
                      </a:moveTo>
                      <a:lnTo>
                        <a:pt x="7914" y="19190"/>
                      </a:lnTo>
                      <a:cubicBezTo>
                        <a:pt x="11775" y="16451"/>
                        <a:pt x="15575" y="13514"/>
                        <a:pt x="19196" y="10454"/>
                      </a:cubicBezTo>
                      <a:lnTo>
                        <a:pt x="10358" y="0"/>
                      </a:lnTo>
                      <a:cubicBezTo>
                        <a:pt x="7038" y="2800"/>
                        <a:pt x="3553" y="5491"/>
                        <a:pt x="0" y="8010"/>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Freeform: Shape 20">
                  <a:extLst>
                    <a:ext uri="{FF2B5EF4-FFF2-40B4-BE49-F238E27FC236}">
                      <a16:creationId xmlns:a16="http://schemas.microsoft.com/office/drawing/2014/main" id="{98DD5090-DAD1-6735-CF53-85E1A9E6DE75}"/>
                    </a:ext>
                  </a:extLst>
                </p:cNvPr>
                <p:cNvSpPr/>
                <p:nvPr/>
              </p:nvSpPr>
              <p:spPr>
                <a:xfrm>
                  <a:off x="4933660" y="4003267"/>
                  <a:ext cx="16300" cy="16307"/>
                </a:xfrm>
                <a:custGeom>
                  <a:avLst/>
                  <a:gdLst>
                    <a:gd name="connsiteX0" fmla="*/ 0 w 16300"/>
                    <a:gd name="connsiteY0" fmla="*/ 12775 h 16307"/>
                    <a:gd name="connsiteX1" fmla="*/ 13227 w 16300"/>
                    <a:gd name="connsiteY1" fmla="*/ 16307 h 16307"/>
                    <a:gd name="connsiteX2" fmla="*/ 16301 w 16300"/>
                    <a:gd name="connsiteY2" fmla="*/ 2355 h 16307"/>
                    <a:gd name="connsiteX3" fmla="*/ 2807 w 16300"/>
                    <a:gd name="connsiteY3" fmla="*/ 0 h 16307"/>
                    <a:gd name="connsiteX4" fmla="*/ 0 w 16300"/>
                    <a:gd name="connsiteY4" fmla="*/ 12775 h 16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00" h="16307">
                      <a:moveTo>
                        <a:pt x="0" y="12775"/>
                      </a:moveTo>
                      <a:lnTo>
                        <a:pt x="13227" y="16307"/>
                      </a:lnTo>
                      <a:cubicBezTo>
                        <a:pt x="14452" y="11741"/>
                        <a:pt x="15479" y="7045"/>
                        <a:pt x="16301" y="2355"/>
                      </a:cubicBezTo>
                      <a:lnTo>
                        <a:pt x="2807" y="0"/>
                      </a:lnTo>
                      <a:cubicBezTo>
                        <a:pt x="2054" y="4299"/>
                        <a:pt x="1116" y="8592"/>
                        <a:pt x="0" y="12775"/>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Shape 21">
                  <a:extLst>
                    <a:ext uri="{FF2B5EF4-FFF2-40B4-BE49-F238E27FC236}">
                      <a16:creationId xmlns:a16="http://schemas.microsoft.com/office/drawing/2014/main" id="{F7C9B9A4-978F-E932-2668-FF64F8CB5081}"/>
                    </a:ext>
                  </a:extLst>
                </p:cNvPr>
                <p:cNvSpPr/>
                <p:nvPr/>
              </p:nvSpPr>
              <p:spPr>
                <a:xfrm>
                  <a:off x="4938151" y="3977204"/>
                  <a:ext cx="14253" cy="14253"/>
                </a:xfrm>
                <a:custGeom>
                  <a:avLst/>
                  <a:gdLst>
                    <a:gd name="connsiteX0" fmla="*/ 0 w 14253"/>
                    <a:gd name="connsiteY0" fmla="*/ 13076 h 14253"/>
                    <a:gd name="connsiteX1" fmla="*/ 13637 w 14253"/>
                    <a:gd name="connsiteY1" fmla="*/ 14254 h 14253"/>
                    <a:gd name="connsiteX2" fmla="*/ 14254 w 14253"/>
                    <a:gd name="connsiteY2" fmla="*/ 0 h 14253"/>
                    <a:gd name="connsiteX3" fmla="*/ 561 w 14253"/>
                    <a:gd name="connsiteY3" fmla="*/ 0 h 14253"/>
                    <a:gd name="connsiteX4" fmla="*/ 0 w 14253"/>
                    <a:gd name="connsiteY4" fmla="*/ 13076 h 14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53" h="14253">
                      <a:moveTo>
                        <a:pt x="0" y="13076"/>
                      </a:moveTo>
                      <a:lnTo>
                        <a:pt x="13637" y="14254"/>
                      </a:lnTo>
                      <a:cubicBezTo>
                        <a:pt x="14048" y="9530"/>
                        <a:pt x="14254" y="4731"/>
                        <a:pt x="14254" y="0"/>
                      </a:cubicBezTo>
                      <a:lnTo>
                        <a:pt x="561" y="0"/>
                      </a:lnTo>
                      <a:cubicBezTo>
                        <a:pt x="561" y="4347"/>
                        <a:pt x="377" y="8742"/>
                        <a:pt x="0" y="13076"/>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22">
                  <a:extLst>
                    <a:ext uri="{FF2B5EF4-FFF2-40B4-BE49-F238E27FC236}">
                      <a16:creationId xmlns:a16="http://schemas.microsoft.com/office/drawing/2014/main" id="{3D2D97A8-AB52-BA5A-8BE1-35B15A2647AC}"/>
                    </a:ext>
                  </a:extLst>
                </p:cNvPr>
                <p:cNvSpPr/>
                <p:nvPr/>
              </p:nvSpPr>
              <p:spPr>
                <a:xfrm>
                  <a:off x="4911704" y="4052251"/>
                  <a:ext cx="18888" cy="18895"/>
                </a:xfrm>
                <a:custGeom>
                  <a:avLst/>
                  <a:gdLst>
                    <a:gd name="connsiteX0" fmla="*/ 0 w 18888"/>
                    <a:gd name="connsiteY0" fmla="*/ 11036 h 18895"/>
                    <a:gd name="connsiteX1" fmla="*/ 11221 w 18888"/>
                    <a:gd name="connsiteY1" fmla="*/ 18895 h 18895"/>
                    <a:gd name="connsiteX2" fmla="*/ 18888 w 18888"/>
                    <a:gd name="connsiteY2" fmla="*/ 6819 h 18895"/>
                    <a:gd name="connsiteX3" fmla="*/ 7017 w 18888"/>
                    <a:gd name="connsiteY3" fmla="*/ 0 h 18895"/>
                    <a:gd name="connsiteX4" fmla="*/ 0 w 18888"/>
                    <a:gd name="connsiteY4" fmla="*/ 11036 h 1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88" h="18895">
                      <a:moveTo>
                        <a:pt x="0" y="11036"/>
                      </a:moveTo>
                      <a:lnTo>
                        <a:pt x="11221" y="18895"/>
                      </a:lnTo>
                      <a:cubicBezTo>
                        <a:pt x="13918" y="15048"/>
                        <a:pt x="16499" y="10988"/>
                        <a:pt x="18888" y="6819"/>
                      </a:cubicBezTo>
                      <a:lnTo>
                        <a:pt x="7017" y="0"/>
                      </a:lnTo>
                      <a:cubicBezTo>
                        <a:pt x="4826" y="3813"/>
                        <a:pt x="2465" y="7524"/>
                        <a:pt x="0" y="11036"/>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Shape 23">
                  <a:extLst>
                    <a:ext uri="{FF2B5EF4-FFF2-40B4-BE49-F238E27FC236}">
                      <a16:creationId xmlns:a16="http://schemas.microsoft.com/office/drawing/2014/main" id="{6E09A5DE-2FC3-EDDB-12FC-A33BD58F1CF1}"/>
                    </a:ext>
                  </a:extLst>
                </p:cNvPr>
                <p:cNvSpPr/>
                <p:nvPr/>
              </p:nvSpPr>
              <p:spPr>
                <a:xfrm>
                  <a:off x="4924739" y="4028522"/>
                  <a:ext cx="17868" cy="17882"/>
                </a:xfrm>
                <a:custGeom>
                  <a:avLst/>
                  <a:gdLst>
                    <a:gd name="connsiteX0" fmla="*/ 0 w 17868"/>
                    <a:gd name="connsiteY0" fmla="*/ 12118 h 17882"/>
                    <a:gd name="connsiteX1" fmla="*/ 12419 w 17868"/>
                    <a:gd name="connsiteY1" fmla="*/ 17882 h 17882"/>
                    <a:gd name="connsiteX2" fmla="*/ 17868 w 17868"/>
                    <a:gd name="connsiteY2" fmla="*/ 4683 h 17882"/>
                    <a:gd name="connsiteX3" fmla="*/ 5004 w 17868"/>
                    <a:gd name="connsiteY3" fmla="*/ 0 h 17882"/>
                    <a:gd name="connsiteX4" fmla="*/ 0 w 17868"/>
                    <a:gd name="connsiteY4" fmla="*/ 12118 h 17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68" h="17882">
                      <a:moveTo>
                        <a:pt x="0" y="12118"/>
                      </a:moveTo>
                      <a:lnTo>
                        <a:pt x="12419" y="17882"/>
                      </a:lnTo>
                      <a:cubicBezTo>
                        <a:pt x="14418" y="13569"/>
                        <a:pt x="16259" y="9133"/>
                        <a:pt x="17868" y="4683"/>
                      </a:cubicBezTo>
                      <a:lnTo>
                        <a:pt x="5004" y="0"/>
                      </a:lnTo>
                      <a:cubicBezTo>
                        <a:pt x="3526" y="4080"/>
                        <a:pt x="1842" y="8161"/>
                        <a:pt x="0" y="12118"/>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Shape 24">
                  <a:extLst>
                    <a:ext uri="{FF2B5EF4-FFF2-40B4-BE49-F238E27FC236}">
                      <a16:creationId xmlns:a16="http://schemas.microsoft.com/office/drawing/2014/main" id="{10A9EE71-E72E-0824-ADF7-E4D8B69FA813}"/>
                    </a:ext>
                  </a:extLst>
                </p:cNvPr>
                <p:cNvSpPr/>
                <p:nvPr/>
              </p:nvSpPr>
              <p:spPr>
                <a:xfrm>
                  <a:off x="4802112" y="4125401"/>
                  <a:ext cx="15417" cy="15410"/>
                </a:xfrm>
                <a:custGeom>
                  <a:avLst/>
                  <a:gdLst>
                    <a:gd name="connsiteX0" fmla="*/ 15417 w 15417"/>
                    <a:gd name="connsiteY0" fmla="*/ 13480 h 15410"/>
                    <a:gd name="connsiteX1" fmla="*/ 12973 w 15417"/>
                    <a:gd name="connsiteY1" fmla="*/ 0 h 15410"/>
                    <a:gd name="connsiteX2" fmla="*/ 0 w 15417"/>
                    <a:gd name="connsiteY2" fmla="*/ 1773 h 15410"/>
                    <a:gd name="connsiteX3" fmla="*/ 1273 w 15417"/>
                    <a:gd name="connsiteY3" fmla="*/ 15411 h 15410"/>
                    <a:gd name="connsiteX4" fmla="*/ 15417 w 15417"/>
                    <a:gd name="connsiteY4" fmla="*/ 13480 h 15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7" h="15410">
                      <a:moveTo>
                        <a:pt x="15417" y="13480"/>
                      </a:moveTo>
                      <a:lnTo>
                        <a:pt x="12973" y="0"/>
                      </a:lnTo>
                      <a:cubicBezTo>
                        <a:pt x="8756" y="767"/>
                        <a:pt x="4388" y="1362"/>
                        <a:pt x="0" y="1773"/>
                      </a:cubicBezTo>
                      <a:lnTo>
                        <a:pt x="1273" y="15411"/>
                      </a:lnTo>
                      <a:cubicBezTo>
                        <a:pt x="6052" y="14966"/>
                        <a:pt x="10810" y="14315"/>
                        <a:pt x="15417" y="13480"/>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Shape 25">
                  <a:extLst>
                    <a:ext uri="{FF2B5EF4-FFF2-40B4-BE49-F238E27FC236}">
                      <a16:creationId xmlns:a16="http://schemas.microsoft.com/office/drawing/2014/main" id="{345097BF-8747-5510-D14E-EDE0811DEE2C}"/>
                    </a:ext>
                  </a:extLst>
                </p:cNvPr>
                <p:cNvSpPr/>
                <p:nvPr/>
              </p:nvSpPr>
              <p:spPr>
                <a:xfrm>
                  <a:off x="4827846" y="4118528"/>
                  <a:ext cx="17197" cy="17211"/>
                </a:xfrm>
                <a:custGeom>
                  <a:avLst/>
                  <a:gdLst>
                    <a:gd name="connsiteX0" fmla="*/ 12467 w 17197"/>
                    <a:gd name="connsiteY0" fmla="*/ 0 h 17211"/>
                    <a:gd name="connsiteX1" fmla="*/ 0 w 17197"/>
                    <a:gd name="connsiteY1" fmla="*/ 3998 h 17211"/>
                    <a:gd name="connsiteX2" fmla="*/ 3608 w 17197"/>
                    <a:gd name="connsiteY2" fmla="*/ 17211 h 17211"/>
                    <a:gd name="connsiteX3" fmla="*/ 17197 w 17197"/>
                    <a:gd name="connsiteY3" fmla="*/ 12850 h 17211"/>
                  </a:gdLst>
                  <a:ahLst/>
                  <a:cxnLst>
                    <a:cxn ang="0">
                      <a:pos x="connsiteX0" y="connsiteY0"/>
                    </a:cxn>
                    <a:cxn ang="0">
                      <a:pos x="connsiteX1" y="connsiteY1"/>
                    </a:cxn>
                    <a:cxn ang="0">
                      <a:pos x="connsiteX2" y="connsiteY2"/>
                    </a:cxn>
                    <a:cxn ang="0">
                      <a:pos x="connsiteX3" y="connsiteY3"/>
                    </a:cxn>
                  </a:cxnLst>
                  <a:rect l="l" t="t" r="r" b="b"/>
                  <a:pathLst>
                    <a:path w="17197" h="17211">
                      <a:moveTo>
                        <a:pt x="12467" y="0"/>
                      </a:moveTo>
                      <a:cubicBezTo>
                        <a:pt x="8366" y="1513"/>
                        <a:pt x="4176" y="2855"/>
                        <a:pt x="0" y="3998"/>
                      </a:cubicBezTo>
                      <a:lnTo>
                        <a:pt x="3608" y="17211"/>
                      </a:lnTo>
                      <a:cubicBezTo>
                        <a:pt x="8167" y="15958"/>
                        <a:pt x="12741" y="14500"/>
                        <a:pt x="17197" y="12850"/>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Shape 26">
                  <a:extLst>
                    <a:ext uri="{FF2B5EF4-FFF2-40B4-BE49-F238E27FC236}">
                      <a16:creationId xmlns:a16="http://schemas.microsoft.com/office/drawing/2014/main" id="{398FD808-777C-E1E3-6905-501AE3696015}"/>
                    </a:ext>
                  </a:extLst>
                </p:cNvPr>
                <p:cNvSpPr/>
                <p:nvPr/>
              </p:nvSpPr>
              <p:spPr>
                <a:xfrm>
                  <a:off x="4894918" y="4073707"/>
                  <a:ext cx="19333" cy="19340"/>
                </a:xfrm>
                <a:custGeom>
                  <a:avLst/>
                  <a:gdLst>
                    <a:gd name="connsiteX0" fmla="*/ 0 w 19333"/>
                    <a:gd name="connsiteY0" fmla="*/ 9674 h 19340"/>
                    <a:gd name="connsiteX1" fmla="*/ 9708 w 19333"/>
                    <a:gd name="connsiteY1" fmla="*/ 19340 h 19340"/>
                    <a:gd name="connsiteX2" fmla="*/ 19333 w 19333"/>
                    <a:gd name="connsiteY2" fmla="*/ 8784 h 19340"/>
                    <a:gd name="connsiteX3" fmla="*/ 8825 w 19333"/>
                    <a:gd name="connsiteY3" fmla="*/ 0 h 19340"/>
                    <a:gd name="connsiteX4" fmla="*/ 0 w 19333"/>
                    <a:gd name="connsiteY4" fmla="*/ 9674 h 19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33" h="19340">
                      <a:moveTo>
                        <a:pt x="0" y="9674"/>
                      </a:moveTo>
                      <a:lnTo>
                        <a:pt x="9708" y="19340"/>
                      </a:lnTo>
                      <a:cubicBezTo>
                        <a:pt x="13028" y="15999"/>
                        <a:pt x="16266" y="12446"/>
                        <a:pt x="19333" y="8784"/>
                      </a:cubicBezTo>
                      <a:lnTo>
                        <a:pt x="8825" y="0"/>
                      </a:lnTo>
                      <a:cubicBezTo>
                        <a:pt x="6011" y="3361"/>
                        <a:pt x="3047" y="6613"/>
                        <a:pt x="0" y="9674"/>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Freeform: Shape 27">
                  <a:extLst>
                    <a:ext uri="{FF2B5EF4-FFF2-40B4-BE49-F238E27FC236}">
                      <a16:creationId xmlns:a16="http://schemas.microsoft.com/office/drawing/2014/main" id="{0AE3455F-A8D8-CF3C-2EDB-59FA67F3280B}"/>
                    </a:ext>
                  </a:extLst>
                </p:cNvPr>
                <p:cNvSpPr/>
                <p:nvPr/>
              </p:nvSpPr>
              <p:spPr>
                <a:xfrm>
                  <a:off x="4623792" y="3758129"/>
                  <a:ext cx="13692" cy="13692"/>
                </a:xfrm>
                <a:custGeom>
                  <a:avLst/>
                  <a:gdLst>
                    <a:gd name="connsiteX0" fmla="*/ 0 w 13692"/>
                    <a:gd name="connsiteY0" fmla="*/ 0 h 13692"/>
                    <a:gd name="connsiteX1" fmla="*/ 13692 w 13692"/>
                    <a:gd name="connsiteY1" fmla="*/ 0 h 13692"/>
                    <a:gd name="connsiteX2" fmla="*/ 13692 w 13692"/>
                    <a:gd name="connsiteY2" fmla="*/ 13692 h 13692"/>
                    <a:gd name="connsiteX3" fmla="*/ 0 w 13692"/>
                    <a:gd name="connsiteY3" fmla="*/ 13692 h 13692"/>
                  </a:gdLst>
                  <a:ahLst/>
                  <a:cxnLst>
                    <a:cxn ang="0">
                      <a:pos x="connsiteX0" y="connsiteY0"/>
                    </a:cxn>
                    <a:cxn ang="0">
                      <a:pos x="connsiteX1" y="connsiteY1"/>
                    </a:cxn>
                    <a:cxn ang="0">
                      <a:pos x="connsiteX2" y="connsiteY2"/>
                    </a:cxn>
                    <a:cxn ang="0">
                      <a:pos x="connsiteX3" y="connsiteY3"/>
                    </a:cxn>
                  </a:cxnLst>
                  <a:rect l="l" t="t" r="r" b="b"/>
                  <a:pathLst>
                    <a:path w="13692" h="13692">
                      <a:moveTo>
                        <a:pt x="0" y="0"/>
                      </a:moveTo>
                      <a:lnTo>
                        <a:pt x="13692" y="0"/>
                      </a:lnTo>
                      <a:lnTo>
                        <a:pt x="13692" y="13692"/>
                      </a:lnTo>
                      <a:lnTo>
                        <a:pt x="0" y="13692"/>
                      </a:ln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Shape 28">
                  <a:extLst>
                    <a:ext uri="{FF2B5EF4-FFF2-40B4-BE49-F238E27FC236}">
                      <a16:creationId xmlns:a16="http://schemas.microsoft.com/office/drawing/2014/main" id="{34A495FF-4CD1-AEE9-3CAB-70C1FE2ED2DB}"/>
                    </a:ext>
                  </a:extLst>
                </p:cNvPr>
                <p:cNvSpPr/>
                <p:nvPr/>
              </p:nvSpPr>
              <p:spPr>
                <a:xfrm>
                  <a:off x="4651176" y="3758129"/>
                  <a:ext cx="13692" cy="13692"/>
                </a:xfrm>
                <a:custGeom>
                  <a:avLst/>
                  <a:gdLst>
                    <a:gd name="connsiteX0" fmla="*/ 0 w 13692"/>
                    <a:gd name="connsiteY0" fmla="*/ 0 h 13692"/>
                    <a:gd name="connsiteX1" fmla="*/ 13692 w 13692"/>
                    <a:gd name="connsiteY1" fmla="*/ 0 h 13692"/>
                    <a:gd name="connsiteX2" fmla="*/ 13692 w 13692"/>
                    <a:gd name="connsiteY2" fmla="*/ 13692 h 13692"/>
                    <a:gd name="connsiteX3" fmla="*/ 0 w 13692"/>
                    <a:gd name="connsiteY3" fmla="*/ 13692 h 13692"/>
                  </a:gdLst>
                  <a:ahLst/>
                  <a:cxnLst>
                    <a:cxn ang="0">
                      <a:pos x="connsiteX0" y="connsiteY0"/>
                    </a:cxn>
                    <a:cxn ang="0">
                      <a:pos x="connsiteX1" y="connsiteY1"/>
                    </a:cxn>
                    <a:cxn ang="0">
                      <a:pos x="connsiteX2" y="connsiteY2"/>
                    </a:cxn>
                    <a:cxn ang="0">
                      <a:pos x="connsiteX3" y="connsiteY3"/>
                    </a:cxn>
                  </a:cxnLst>
                  <a:rect l="l" t="t" r="r" b="b"/>
                  <a:pathLst>
                    <a:path w="13692" h="13692">
                      <a:moveTo>
                        <a:pt x="0" y="0"/>
                      </a:moveTo>
                      <a:lnTo>
                        <a:pt x="13692" y="0"/>
                      </a:lnTo>
                      <a:lnTo>
                        <a:pt x="13692" y="13692"/>
                      </a:lnTo>
                      <a:lnTo>
                        <a:pt x="0" y="13692"/>
                      </a:ln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spTree>
    <p:extLst>
      <p:ext uri="{BB962C8B-B14F-4D97-AF65-F5344CB8AC3E}">
        <p14:creationId xmlns:p14="http://schemas.microsoft.com/office/powerpoint/2010/main" val="4118085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Pentagon 96">
            <a:extLst>
              <a:ext uri="{FF2B5EF4-FFF2-40B4-BE49-F238E27FC236}">
                <a16:creationId xmlns:a16="http://schemas.microsoft.com/office/drawing/2014/main" id="{41C10813-7769-B0E9-BB2F-E185662BEE0A}"/>
              </a:ext>
            </a:extLst>
          </p:cNvPr>
          <p:cNvSpPr/>
          <p:nvPr/>
        </p:nvSpPr>
        <p:spPr>
          <a:xfrm>
            <a:off x="1236423" y="5727172"/>
            <a:ext cx="1793295" cy="285299"/>
          </a:xfrm>
          <a:prstGeom prst="homePlate">
            <a:avLst>
              <a:gd name="adj" fmla="val 49957"/>
            </a:avLst>
          </a:prstGeom>
          <a:solidFill>
            <a:schemeClr val="accent5"/>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all" spc="100" normalizeH="0" baseline="0" noProof="0">
                <a:ln>
                  <a:noFill/>
                </a:ln>
                <a:solidFill>
                  <a:srgbClr val="FFFFFF"/>
                </a:solidFill>
                <a:effectLst/>
                <a:uLnTx/>
                <a:uFillTx/>
                <a:latin typeface="Manrope" pitchFamily="2" charset="0"/>
              </a:rPr>
              <a:t>Automation</a:t>
            </a:r>
          </a:p>
        </p:txBody>
      </p:sp>
      <p:sp>
        <p:nvSpPr>
          <p:cNvPr id="42" name="Pentagon 96">
            <a:extLst>
              <a:ext uri="{FF2B5EF4-FFF2-40B4-BE49-F238E27FC236}">
                <a16:creationId xmlns:a16="http://schemas.microsoft.com/office/drawing/2014/main" id="{2404098A-72C0-0FA9-16C7-44BF59F11293}"/>
              </a:ext>
            </a:extLst>
          </p:cNvPr>
          <p:cNvSpPr/>
          <p:nvPr/>
        </p:nvSpPr>
        <p:spPr>
          <a:xfrm>
            <a:off x="4892276" y="5727172"/>
            <a:ext cx="1793295" cy="285299"/>
          </a:xfrm>
          <a:prstGeom prst="homePlate">
            <a:avLst>
              <a:gd name="adj" fmla="val 49957"/>
            </a:avLst>
          </a:prstGeom>
          <a:solidFill>
            <a:schemeClr val="accent5"/>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all" spc="100" normalizeH="0" baseline="0" noProof="0">
                <a:ln>
                  <a:noFill/>
                </a:ln>
                <a:solidFill>
                  <a:srgbClr val="FFFFFF"/>
                </a:solidFill>
                <a:effectLst/>
                <a:uLnTx/>
                <a:uFillTx/>
                <a:latin typeface="Manrope" pitchFamily="2" charset="0"/>
              </a:rPr>
              <a:t>Automation</a:t>
            </a:r>
          </a:p>
        </p:txBody>
      </p:sp>
      <p:graphicFrame>
        <p:nvGraphicFramePr>
          <p:cNvPr id="2" name="Table 1">
            <a:extLst>
              <a:ext uri="{FF2B5EF4-FFF2-40B4-BE49-F238E27FC236}">
                <a16:creationId xmlns:a16="http://schemas.microsoft.com/office/drawing/2014/main" id="{9B0C1AA0-3D67-144A-C814-CF28A4B48375}"/>
              </a:ext>
            </a:extLst>
          </p:cNvPr>
          <p:cNvGraphicFramePr>
            <a:graphicFrameLocks noGrp="1"/>
          </p:cNvGraphicFramePr>
          <p:nvPr>
            <p:extLst>
              <p:ext uri="{D42A27DB-BD31-4B8C-83A1-F6EECF244321}">
                <p14:modId xmlns:p14="http://schemas.microsoft.com/office/powerpoint/2010/main" val="1103383170"/>
              </p:ext>
            </p:extLst>
          </p:nvPr>
        </p:nvGraphicFramePr>
        <p:xfrm>
          <a:off x="4028988" y="1551413"/>
          <a:ext cx="3383280" cy="3825886"/>
        </p:xfrm>
        <a:graphic>
          <a:graphicData uri="http://schemas.openxmlformats.org/drawingml/2006/table">
            <a:tbl>
              <a:tblPr>
                <a:tableStyleId>{2D5ABB26-0587-4C30-8999-92F81FD0307C}</a:tableStyleId>
              </a:tblPr>
              <a:tblGrid>
                <a:gridCol w="1371600">
                  <a:extLst>
                    <a:ext uri="{9D8B030D-6E8A-4147-A177-3AD203B41FA5}">
                      <a16:colId xmlns:a16="http://schemas.microsoft.com/office/drawing/2014/main" val="301684804"/>
                    </a:ext>
                  </a:extLst>
                </a:gridCol>
                <a:gridCol w="1005840">
                  <a:extLst>
                    <a:ext uri="{9D8B030D-6E8A-4147-A177-3AD203B41FA5}">
                      <a16:colId xmlns:a16="http://schemas.microsoft.com/office/drawing/2014/main" val="2040518606"/>
                    </a:ext>
                  </a:extLst>
                </a:gridCol>
                <a:gridCol w="1005840">
                  <a:extLst>
                    <a:ext uri="{9D8B030D-6E8A-4147-A177-3AD203B41FA5}">
                      <a16:colId xmlns:a16="http://schemas.microsoft.com/office/drawing/2014/main" val="1835693778"/>
                    </a:ext>
                  </a:extLst>
                </a:gridCol>
              </a:tblGrid>
              <a:tr h="582667">
                <a:tc rowSpan="2">
                  <a:txBody>
                    <a:bodyPr/>
                    <a:lstStyle/>
                    <a:p>
                      <a:pPr algn="ctr"/>
                      <a:r>
                        <a:rPr lang="en-US" sz="1200" b="1">
                          <a:solidFill>
                            <a:schemeClr val="tx1"/>
                          </a:solidFill>
                          <a:latin typeface="+mn-lt"/>
                        </a:rPr>
                        <a:t>DWH Pipeline</a:t>
                      </a:r>
                      <a:br>
                        <a:rPr lang="en-US" sz="1200" b="1">
                          <a:solidFill>
                            <a:schemeClr val="tx1"/>
                          </a:solidFill>
                          <a:latin typeface="+mn-lt"/>
                        </a:rPr>
                      </a:br>
                      <a:r>
                        <a:rPr lang="en-US" sz="1200" b="1">
                          <a:solidFill>
                            <a:schemeClr val="tx1"/>
                          </a:solidFill>
                          <a:latin typeface="+mn-lt"/>
                        </a:rPr>
                        <a:t>Technology</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2">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cap="none" spc="0" baseline="0">
                          <a:solidFill>
                            <a:schemeClr val="tx1"/>
                          </a:solidFill>
                          <a:uFillTx/>
                          <a:latin typeface="+mn-lt"/>
                          <a:ea typeface="+mn-ea"/>
                          <a:cs typeface="+mn-cs"/>
                          <a:sym typeface="Arial"/>
                        </a:rPr>
                        <a:t>Cloud Migration Option</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ctr"/>
                      <a:endParaRPr lang="en-US" sz="1100" b="1">
                        <a:solidFill>
                          <a:schemeClr val="tx1"/>
                        </a:solidFill>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alpha val="15000"/>
                      </a:schemeClr>
                    </a:solidFill>
                  </a:tcPr>
                </a:tc>
                <a:extLst>
                  <a:ext uri="{0D108BD9-81ED-4DB2-BD59-A6C34878D82A}">
                    <a16:rowId xmlns:a16="http://schemas.microsoft.com/office/drawing/2014/main" val="2571758269"/>
                  </a:ext>
                </a:extLst>
              </a:tr>
              <a:tr h="574863">
                <a:tc vMerge="1">
                  <a:txBody>
                    <a:bodyPr/>
                    <a:lstStyle/>
                    <a:p>
                      <a:pPr algn="ctr"/>
                      <a:r>
                        <a:rPr lang="en-US" sz="1200" b="1"/>
                        <a:t>Platform</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100" b="1">
                          <a:solidFill>
                            <a:schemeClr val="tx1"/>
                          </a:solidFill>
                          <a:latin typeface="+mn-lt"/>
                        </a:rPr>
                        <a:t>Lift </a:t>
                      </a:r>
                      <a:br>
                        <a:rPr lang="en-GB" sz="1100" b="1">
                          <a:solidFill>
                            <a:schemeClr val="tx1"/>
                          </a:solidFill>
                          <a:latin typeface="+mn-lt"/>
                        </a:rPr>
                      </a:br>
                      <a:r>
                        <a:rPr lang="en-GB" sz="1100" b="1">
                          <a:solidFill>
                            <a:schemeClr val="tx1"/>
                          </a:solidFill>
                          <a:latin typeface="+mn-lt"/>
                        </a:rPr>
                        <a:t>&amp; Shift</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b="1">
                          <a:solidFill>
                            <a:schemeClr val="tx1"/>
                          </a:solidFill>
                          <a:latin typeface="+mn-lt"/>
                        </a:rPr>
                        <a:t>Re-platform</a:t>
                      </a:r>
                    </a:p>
                    <a:p>
                      <a:pPr algn="ctr"/>
                      <a:r>
                        <a:rPr lang="en-US" sz="1100" b="1">
                          <a:solidFill>
                            <a:schemeClr val="tx1"/>
                          </a:solidFill>
                          <a:latin typeface="+mn-lt"/>
                        </a:rPr>
                        <a:t>Snowpark</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8280123"/>
                  </a:ext>
                </a:extLst>
              </a:tr>
              <a:tr h="444726">
                <a:tc>
                  <a:txBody>
                    <a:bodyPr/>
                    <a:lstStyle/>
                    <a:p>
                      <a:endParaRPr lang="en-US" sz="1200">
                        <a:solidFill>
                          <a:srgbClr val="00B0F0"/>
                        </a:solidFill>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kern="1200">
                        <a:solidFill>
                          <a:srgbClr val="00B0F0"/>
                        </a:solidFill>
                        <a:latin typeface="+mn-lt"/>
                        <a:ea typeface="+mn-ea"/>
                        <a:cs typeface="+mn-cs"/>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9668542"/>
                  </a:ext>
                </a:extLst>
              </a:tr>
              <a:tr h="444726">
                <a:tc>
                  <a:txBody>
                    <a:bodyPr/>
                    <a:lstStyle/>
                    <a:p>
                      <a:endParaRPr lang="en-US" sz="1200">
                        <a:solidFill>
                          <a:srgbClr val="00B0F0"/>
                        </a:solidFill>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8520085"/>
                  </a:ext>
                </a:extLst>
              </a:tr>
              <a:tr h="444726">
                <a:tc>
                  <a:txBody>
                    <a:bodyPr/>
                    <a:lstStyle/>
                    <a:p>
                      <a:endParaRPr lang="en-US" sz="1200">
                        <a:solidFill>
                          <a:srgbClr val="00B0F0"/>
                        </a:solidFill>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1736542"/>
                  </a:ext>
                </a:extLst>
              </a:tr>
              <a:tr h="444726">
                <a:tc>
                  <a:txBody>
                    <a:bodyPr/>
                    <a:lstStyle/>
                    <a:p>
                      <a:endParaRPr lang="en-US" sz="1200">
                        <a:solidFill>
                          <a:srgbClr val="00B0F0"/>
                        </a:solidFill>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8601441"/>
                  </a:ext>
                </a:extLst>
              </a:tr>
              <a:tr h="444726">
                <a:tc>
                  <a:txBody>
                    <a:bodyPr/>
                    <a:lstStyle/>
                    <a:p>
                      <a:endParaRPr lang="en-US" sz="1200">
                        <a:solidFill>
                          <a:srgbClr val="00B0F0"/>
                        </a:solidFill>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solidFill>
                          <a:srgbClr val="00B0F0"/>
                        </a:solidFill>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0109001"/>
                  </a:ext>
                </a:extLst>
              </a:tr>
              <a:tr h="444726">
                <a:tc>
                  <a:txBody>
                    <a:bodyPr/>
                    <a:lstStyle/>
                    <a:p>
                      <a:pPr marL="0" algn="l" defTabSz="914400" rtl="0" eaLnBrk="1" latinLnBrk="0" hangingPunct="1"/>
                      <a:endParaRPr lang="en-US" sz="1100" kern="1200" cap="all" spc="100">
                        <a:solidFill>
                          <a:srgbClr val="00B0F0"/>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endParaRPr lang="en-US" sz="1400" b="1" kern="1200" baseline="30000">
                        <a:solidFill>
                          <a:srgbClr val="00B0F0"/>
                        </a:solidFill>
                        <a:latin typeface="+mn-lt"/>
                        <a:ea typeface="+mn-ea"/>
                        <a:cs typeface="Segoe UI" panose="020B0502040204020203" pitchFamily="34" charset="0"/>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endParaRPr lang="en-US" sz="1400" b="1" kern="1200" baseline="30000">
                        <a:solidFill>
                          <a:srgbClr val="00B0F0"/>
                        </a:solidFill>
                        <a:latin typeface="+mn-lt"/>
                        <a:ea typeface="+mn-ea"/>
                        <a:cs typeface="Segoe UI" panose="020B0502040204020203" pitchFamily="34" charset="0"/>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5276028"/>
                  </a:ext>
                </a:extLst>
              </a:tr>
            </a:tbl>
          </a:graphicData>
        </a:graphic>
      </p:graphicFrame>
      <p:pic>
        <p:nvPicPr>
          <p:cNvPr id="20" name="Picture 19" descr="A picture containing drawing&#10;&#10;Description automatically generated">
            <a:extLst>
              <a:ext uri="{FF2B5EF4-FFF2-40B4-BE49-F238E27FC236}">
                <a16:creationId xmlns:a16="http://schemas.microsoft.com/office/drawing/2014/main" id="{36644C5B-C2EA-1A0D-918B-C21C2C7F091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38077" y="2785409"/>
            <a:ext cx="678013" cy="274810"/>
          </a:xfrm>
          <a:prstGeom prst="rect">
            <a:avLst/>
          </a:prstGeom>
        </p:spPr>
      </p:pic>
      <p:graphicFrame>
        <p:nvGraphicFramePr>
          <p:cNvPr id="22" name="Table 21">
            <a:extLst>
              <a:ext uri="{FF2B5EF4-FFF2-40B4-BE49-F238E27FC236}">
                <a16:creationId xmlns:a16="http://schemas.microsoft.com/office/drawing/2014/main" id="{B1160106-F0EE-04C1-B654-C56B72DB5580}"/>
              </a:ext>
            </a:extLst>
          </p:cNvPr>
          <p:cNvGraphicFramePr>
            <a:graphicFrameLocks noGrp="1"/>
          </p:cNvGraphicFramePr>
          <p:nvPr>
            <p:extLst>
              <p:ext uri="{D42A27DB-BD31-4B8C-83A1-F6EECF244321}">
                <p14:modId xmlns:p14="http://schemas.microsoft.com/office/powerpoint/2010/main" val="2782989987"/>
              </p:ext>
            </p:extLst>
          </p:nvPr>
        </p:nvGraphicFramePr>
        <p:xfrm>
          <a:off x="643448" y="1544581"/>
          <a:ext cx="2749029" cy="3998307"/>
        </p:xfrm>
        <a:graphic>
          <a:graphicData uri="http://schemas.openxmlformats.org/drawingml/2006/table">
            <a:tbl>
              <a:tblPr>
                <a:tableStyleId>{2D5ABB26-0587-4C30-8999-92F81FD0307C}</a:tableStyleId>
              </a:tblPr>
              <a:tblGrid>
                <a:gridCol w="1495498">
                  <a:extLst>
                    <a:ext uri="{9D8B030D-6E8A-4147-A177-3AD203B41FA5}">
                      <a16:colId xmlns:a16="http://schemas.microsoft.com/office/drawing/2014/main" val="301684804"/>
                    </a:ext>
                  </a:extLst>
                </a:gridCol>
                <a:gridCol w="1253531">
                  <a:extLst>
                    <a:ext uri="{9D8B030D-6E8A-4147-A177-3AD203B41FA5}">
                      <a16:colId xmlns:a16="http://schemas.microsoft.com/office/drawing/2014/main" val="1835693778"/>
                    </a:ext>
                  </a:extLst>
                </a:gridCol>
              </a:tblGrid>
              <a:tr h="448779">
                <a:tc rowSpan="2">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200" b="1" i="0" u="none" strike="noStrike" kern="1200" cap="none" spc="0" baseline="0">
                          <a:solidFill>
                            <a:schemeClr val="tx1"/>
                          </a:solidFill>
                          <a:uFillTx/>
                          <a:latin typeface="Manrope" pitchFamily="2" charset="0"/>
                          <a:ea typeface="+mn-ea"/>
                          <a:cs typeface="+mn-cs"/>
                          <a:sym typeface="Arial"/>
                        </a:rPr>
                        <a:t>DWH Data</a:t>
                      </a:r>
                      <a:br>
                        <a:rPr lang="en-GB" sz="1200" b="1" i="0" u="none" strike="noStrike" kern="1200" cap="none" spc="0" baseline="0">
                          <a:solidFill>
                            <a:schemeClr val="tx1"/>
                          </a:solidFill>
                          <a:uFillTx/>
                          <a:latin typeface="Manrope" pitchFamily="2" charset="0"/>
                          <a:ea typeface="+mn-ea"/>
                          <a:cs typeface="+mn-cs"/>
                          <a:sym typeface="Arial"/>
                        </a:rPr>
                      </a:br>
                      <a:r>
                        <a:rPr lang="en-GB" sz="1200" b="1" i="0" u="none" strike="noStrike" kern="1200" cap="none" spc="0" baseline="0">
                          <a:solidFill>
                            <a:schemeClr val="tx1"/>
                          </a:solidFill>
                          <a:uFillTx/>
                          <a:latin typeface="Manrope" pitchFamily="2" charset="0"/>
                          <a:ea typeface="+mn-ea"/>
                          <a:cs typeface="+mn-cs"/>
                          <a:sym typeface="Arial"/>
                        </a:rPr>
                        <a:t>Technology</a:t>
                      </a:r>
                      <a:endParaRPr lang="en-US" sz="1200" b="1" i="0" u="none" strike="noStrike" kern="1200" cap="none" spc="0" baseline="0">
                        <a:solidFill>
                          <a:schemeClr val="tx1"/>
                        </a:solidFill>
                        <a:uFillTx/>
                        <a:latin typeface="Manrope" pitchFamily="2" charset="0"/>
                        <a:ea typeface="+mn-ea"/>
                        <a:cs typeface="+mn-cs"/>
                        <a:sym typeface="Arial"/>
                      </a:endParaRP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u="none" strike="noStrike" cap="none" spc="0" baseline="0">
                          <a:solidFill>
                            <a:schemeClr val="tx1"/>
                          </a:solidFill>
                          <a:uFillTx/>
                          <a:latin typeface="Manrope" pitchFamily="2" charset="0"/>
                          <a:ea typeface="+mn-ea"/>
                          <a:cs typeface="+mn-cs"/>
                          <a:sym typeface="Arial"/>
                        </a:rPr>
                        <a:t>Cloud Migration Platform</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63933934"/>
                  </a:ext>
                </a:extLst>
              </a:tr>
              <a:tr h="448779">
                <a:tc vMerge="1">
                  <a:txBody>
                    <a:bodyPr/>
                    <a:lstStyle/>
                    <a:p>
                      <a:pPr algn="ctr"/>
                      <a:r>
                        <a:rPr lang="en-US" sz="1200" b="1"/>
                        <a:t>Platform</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solidFill>
                            <a:schemeClr val="tx1"/>
                          </a:solidFill>
                          <a:latin typeface="Manrope" pitchFamily="2" charset="0"/>
                        </a:rPr>
                        <a:t>Re-platform </a:t>
                      </a:r>
                      <a:br>
                        <a:rPr lang="en-US" sz="1100" b="1">
                          <a:solidFill>
                            <a:schemeClr val="tx1"/>
                          </a:solidFill>
                          <a:latin typeface="Manrope" pitchFamily="2" charset="0"/>
                        </a:rPr>
                      </a:br>
                      <a:r>
                        <a:rPr lang="en-US" sz="1100" b="1">
                          <a:solidFill>
                            <a:schemeClr val="tx1"/>
                          </a:solidFill>
                          <a:latin typeface="Manrope" pitchFamily="2" charset="0"/>
                        </a:rPr>
                        <a:t>Snowflake</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8280123"/>
                  </a:ext>
                </a:extLst>
              </a:tr>
              <a:tr h="361754">
                <a:tc>
                  <a:txBody>
                    <a:bodyPr/>
                    <a:lstStyle/>
                    <a:p>
                      <a:pPr marL="0" algn="ctr" defTabSz="914400" rtl="0" eaLnBrk="1" latinLnBrk="0" hangingPunct="1"/>
                      <a:endParaRPr lang="en-US" sz="1200" kern="1200">
                        <a:solidFill>
                          <a:schemeClr val="tx1"/>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extLst>
                  <a:ext uri="{0D108BD9-81ED-4DB2-BD59-A6C34878D82A}">
                    <a16:rowId xmlns:a16="http://schemas.microsoft.com/office/drawing/2014/main" val="1809668542"/>
                  </a:ext>
                </a:extLst>
              </a:tr>
              <a:tr h="366655">
                <a:tc>
                  <a:txBody>
                    <a:bodyPr/>
                    <a:lstStyle/>
                    <a:p>
                      <a:pPr marL="0" algn="ctr" defTabSz="914400" rtl="0" eaLnBrk="1" latinLnBrk="0" hangingPunct="1"/>
                      <a:endParaRPr lang="en-US" sz="1200" kern="1200">
                        <a:solidFill>
                          <a:schemeClr val="tx1"/>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extLst>
                  <a:ext uri="{0D108BD9-81ED-4DB2-BD59-A6C34878D82A}">
                    <a16:rowId xmlns:a16="http://schemas.microsoft.com/office/drawing/2014/main" val="748520085"/>
                  </a:ext>
                </a:extLst>
              </a:tr>
              <a:tr h="375597">
                <a:tc>
                  <a:txBody>
                    <a:bodyPr/>
                    <a:lstStyle/>
                    <a:p>
                      <a:pPr marL="0" algn="ctr" defTabSz="914400" rtl="0" eaLnBrk="1" latinLnBrk="0" hangingPunct="1"/>
                      <a:endParaRPr lang="en-US" sz="1200" kern="1200">
                        <a:solidFill>
                          <a:schemeClr val="tx1"/>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extLst>
                  <a:ext uri="{0D108BD9-81ED-4DB2-BD59-A6C34878D82A}">
                    <a16:rowId xmlns:a16="http://schemas.microsoft.com/office/drawing/2014/main" val="601736542"/>
                  </a:ext>
                </a:extLst>
              </a:tr>
              <a:tr h="384542">
                <a:tc>
                  <a:txBody>
                    <a:bodyPr/>
                    <a:lstStyle/>
                    <a:p>
                      <a:pPr marL="0" algn="ctr" defTabSz="914400" rtl="0" eaLnBrk="1" latinLnBrk="0" hangingPunct="1"/>
                      <a:endParaRPr lang="en-US" sz="1200" kern="1200">
                        <a:solidFill>
                          <a:schemeClr val="tx1"/>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extLst>
                  <a:ext uri="{0D108BD9-81ED-4DB2-BD59-A6C34878D82A}">
                    <a16:rowId xmlns:a16="http://schemas.microsoft.com/office/drawing/2014/main" val="4138601441"/>
                  </a:ext>
                </a:extLst>
              </a:tr>
              <a:tr h="366655">
                <a:tc>
                  <a:txBody>
                    <a:bodyPr/>
                    <a:lstStyle/>
                    <a:p>
                      <a:pPr marL="0" algn="ctr" defTabSz="914400" rtl="0" eaLnBrk="1" latinLnBrk="0" hangingPunct="1"/>
                      <a:endParaRPr lang="en-US" sz="1200" kern="1200">
                        <a:solidFill>
                          <a:schemeClr val="tx1"/>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extLst>
                  <a:ext uri="{0D108BD9-81ED-4DB2-BD59-A6C34878D82A}">
                    <a16:rowId xmlns:a16="http://schemas.microsoft.com/office/drawing/2014/main" val="3360109001"/>
                  </a:ext>
                </a:extLst>
              </a:tr>
              <a:tr h="366655">
                <a:tc>
                  <a:txBody>
                    <a:bodyPr/>
                    <a:lstStyle/>
                    <a:p>
                      <a:pPr marL="0" algn="ctr" defTabSz="914400" rtl="0" eaLnBrk="1" latinLnBrk="0" hangingPunct="1"/>
                      <a:endParaRPr lang="en-US" sz="1200" kern="1200">
                        <a:solidFill>
                          <a:schemeClr val="tx1"/>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extLst>
                  <a:ext uri="{0D108BD9-81ED-4DB2-BD59-A6C34878D82A}">
                    <a16:rowId xmlns:a16="http://schemas.microsoft.com/office/drawing/2014/main" val="2876668237"/>
                  </a:ext>
                </a:extLst>
              </a:tr>
              <a:tr h="366655">
                <a:tc>
                  <a:txBody>
                    <a:bodyPr/>
                    <a:lstStyle/>
                    <a:p>
                      <a:pPr marL="0" algn="ctr" defTabSz="914400" rtl="0" eaLnBrk="1" latinLnBrk="0" hangingPunct="1"/>
                      <a:endParaRPr lang="en-US" sz="1200" kern="1200">
                        <a:solidFill>
                          <a:schemeClr val="tx1"/>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extLst>
                  <a:ext uri="{0D108BD9-81ED-4DB2-BD59-A6C34878D82A}">
                    <a16:rowId xmlns:a16="http://schemas.microsoft.com/office/drawing/2014/main" val="4142222340"/>
                  </a:ext>
                </a:extLst>
              </a:tr>
              <a:tr h="366655">
                <a:tc>
                  <a:txBody>
                    <a:bodyPr/>
                    <a:lstStyle/>
                    <a:p>
                      <a:pPr marL="0" algn="ctr" defTabSz="914400" rtl="0" eaLnBrk="1" latinLnBrk="0" hangingPunct="1"/>
                      <a:endParaRPr lang="en-US" sz="1200" kern="1200">
                        <a:solidFill>
                          <a:schemeClr val="tx1"/>
                        </a:solidFill>
                        <a:latin typeface="+mn-lt"/>
                        <a:ea typeface="+mn-ea"/>
                        <a:cs typeface="+mn-cs"/>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noFill/>
                  </a:tcPr>
                </a:tc>
                <a:extLst>
                  <a:ext uri="{0D108BD9-81ED-4DB2-BD59-A6C34878D82A}">
                    <a16:rowId xmlns:a16="http://schemas.microsoft.com/office/drawing/2014/main" val="3414879835"/>
                  </a:ext>
                </a:extLst>
              </a:tr>
            </a:tbl>
          </a:graphicData>
        </a:graphic>
      </p:graphicFrame>
      <p:graphicFrame>
        <p:nvGraphicFramePr>
          <p:cNvPr id="25" name="Table 24">
            <a:extLst>
              <a:ext uri="{FF2B5EF4-FFF2-40B4-BE49-F238E27FC236}">
                <a16:creationId xmlns:a16="http://schemas.microsoft.com/office/drawing/2014/main" id="{75AFD474-0592-D290-DE4B-7E3E42604148}"/>
              </a:ext>
            </a:extLst>
          </p:cNvPr>
          <p:cNvGraphicFramePr>
            <a:graphicFrameLocks noGrp="1"/>
          </p:cNvGraphicFramePr>
          <p:nvPr>
            <p:extLst>
              <p:ext uri="{D42A27DB-BD31-4B8C-83A1-F6EECF244321}">
                <p14:modId xmlns:p14="http://schemas.microsoft.com/office/powerpoint/2010/main" val="2205607981"/>
              </p:ext>
            </p:extLst>
          </p:nvPr>
        </p:nvGraphicFramePr>
        <p:xfrm>
          <a:off x="8174450" y="1544581"/>
          <a:ext cx="3383280" cy="3853458"/>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301684804"/>
                    </a:ext>
                  </a:extLst>
                </a:gridCol>
                <a:gridCol w="914400">
                  <a:extLst>
                    <a:ext uri="{9D8B030D-6E8A-4147-A177-3AD203B41FA5}">
                      <a16:colId xmlns:a16="http://schemas.microsoft.com/office/drawing/2014/main" val="2040518606"/>
                    </a:ext>
                  </a:extLst>
                </a:gridCol>
                <a:gridCol w="1188720">
                  <a:extLst>
                    <a:ext uri="{9D8B030D-6E8A-4147-A177-3AD203B41FA5}">
                      <a16:colId xmlns:a16="http://schemas.microsoft.com/office/drawing/2014/main" val="1835693778"/>
                    </a:ext>
                  </a:extLst>
                </a:gridCol>
              </a:tblGrid>
              <a:tr h="445125">
                <a:tc rowSpan="2">
                  <a:txBody>
                    <a:bodyPr/>
                    <a:lstStyle/>
                    <a:p>
                      <a:pPr algn="ctr"/>
                      <a:r>
                        <a:rPr lang="en-US" sz="1200" b="1">
                          <a:solidFill>
                            <a:schemeClr val="tx1"/>
                          </a:solidFill>
                          <a:latin typeface="+mn-lt"/>
                        </a:rPr>
                        <a:t>DWH Visualization</a:t>
                      </a:r>
                      <a:br>
                        <a:rPr lang="en-US" sz="1200" b="1">
                          <a:solidFill>
                            <a:schemeClr val="tx1"/>
                          </a:solidFill>
                          <a:latin typeface="+mn-lt"/>
                        </a:rPr>
                      </a:br>
                      <a:r>
                        <a:rPr lang="en-US" sz="1200" b="1">
                          <a:solidFill>
                            <a:schemeClr val="tx1"/>
                          </a:solidFill>
                          <a:latin typeface="+mn-lt"/>
                        </a:rPr>
                        <a:t>Technology</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2">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cap="none" spc="0" baseline="0">
                          <a:solidFill>
                            <a:schemeClr val="tx1"/>
                          </a:solidFill>
                          <a:uFillTx/>
                          <a:latin typeface="+mn-lt"/>
                          <a:ea typeface="+mn-ea"/>
                          <a:cs typeface="+mn-cs"/>
                          <a:sym typeface="Arial"/>
                        </a:rPr>
                        <a:t>Cloud Migration Option</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ctr"/>
                      <a:endParaRPr lang="en-US" sz="1100" b="1">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alpha val="15000"/>
                      </a:schemeClr>
                    </a:solidFill>
                  </a:tcPr>
                </a:tc>
                <a:extLst>
                  <a:ext uri="{0D108BD9-81ED-4DB2-BD59-A6C34878D82A}">
                    <a16:rowId xmlns:a16="http://schemas.microsoft.com/office/drawing/2014/main" val="2587716385"/>
                  </a:ext>
                </a:extLst>
              </a:tr>
              <a:tr h="445125">
                <a:tc vMerge="1">
                  <a:txBody>
                    <a:bodyPr/>
                    <a:lstStyle/>
                    <a:p>
                      <a:pPr algn="ctr"/>
                      <a:r>
                        <a:rPr lang="en-US" sz="1200" b="1"/>
                        <a:t>Platform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b="1" i="0" u="none" strike="noStrike" cap="none" spc="0" baseline="0">
                          <a:solidFill>
                            <a:schemeClr val="tx1"/>
                          </a:solidFill>
                          <a:uFillTx/>
                          <a:latin typeface="+mn-lt"/>
                          <a:ea typeface="+mn-ea"/>
                          <a:cs typeface="+mn-cs"/>
                          <a:sym typeface="Arial"/>
                        </a:rPr>
                        <a:t>Lift </a:t>
                      </a:r>
                      <a:br>
                        <a:rPr lang="en-GB" sz="1100" b="1" i="0" u="none" strike="noStrike" cap="none" spc="0" baseline="0">
                          <a:solidFill>
                            <a:schemeClr val="tx1"/>
                          </a:solidFill>
                          <a:uFillTx/>
                          <a:latin typeface="+mn-lt"/>
                          <a:ea typeface="+mn-ea"/>
                          <a:cs typeface="+mn-cs"/>
                          <a:sym typeface="Arial"/>
                        </a:rPr>
                      </a:br>
                      <a:r>
                        <a:rPr lang="en-GB" sz="1100" b="1" i="0" u="none" strike="noStrike" cap="none" spc="0" baseline="0">
                          <a:solidFill>
                            <a:schemeClr val="tx1"/>
                          </a:solidFill>
                          <a:uFillTx/>
                          <a:latin typeface="+mn-lt"/>
                          <a:ea typeface="+mn-ea"/>
                          <a:cs typeface="+mn-cs"/>
                          <a:sym typeface="Arial"/>
                        </a:rPr>
                        <a:t>&amp; Shift</a:t>
                      </a:r>
                    </a:p>
                  </a:txBody>
                  <a:tcPr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100" b="1" i="0" u="none" strike="noStrike" cap="none" spc="0" baseline="0">
                          <a:solidFill>
                            <a:schemeClr val="tx1"/>
                          </a:solidFill>
                          <a:uFillTx/>
                          <a:latin typeface="+mn-lt"/>
                          <a:ea typeface="+mn-ea"/>
                          <a:cs typeface="+mn-cs"/>
                          <a:sym typeface="Arial"/>
                        </a:rPr>
                        <a:t>Re-platform Power BI</a:t>
                      </a: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8280123"/>
                  </a:ext>
                </a:extLst>
              </a:tr>
              <a:tr h="370401">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9668542"/>
                  </a:ext>
                </a:extLst>
              </a:tr>
              <a:tr h="370401">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8520085"/>
                  </a:ext>
                </a:extLst>
              </a:tr>
              <a:tr h="370401">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1736542"/>
                  </a:ext>
                </a:extLst>
              </a:tr>
              <a:tr h="370401">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8601441"/>
                  </a:ext>
                </a:extLst>
              </a:tr>
              <a:tr h="370401">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0109001"/>
                  </a:ext>
                </a:extLst>
              </a:tr>
              <a:tr h="370401">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9080894"/>
                  </a:ext>
                </a:extLst>
              </a:tr>
              <a:tr h="370401">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1504703"/>
                  </a:ext>
                </a:extLst>
              </a:tr>
              <a:tr h="370401">
                <a:tc>
                  <a:txBody>
                    <a:bodyPr/>
                    <a:lstStyle/>
                    <a:p>
                      <a:endParaRPr lang="en-US" sz="1200">
                        <a:latin typeface="+mn-lt"/>
                      </a:endParaRPr>
                    </a:p>
                  </a:txBody>
                  <a:tcP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mn-lt"/>
                      </a:endParaRPr>
                    </a:p>
                  </a:txBody>
                  <a:tcPr marL="0" marR="0" marT="0" marB="0" anchor="ctr">
                    <a:lnL w="9525" cap="flat" cmpd="sng" algn="ctr">
                      <a:solidFill>
                        <a:schemeClr val="bg2">
                          <a:lumMod val="85000"/>
                        </a:schemeClr>
                      </a:solidFill>
                      <a:prstDash val="solid"/>
                      <a:round/>
                      <a:headEnd type="none" w="med" len="med"/>
                      <a:tailEnd type="none" w="med" len="med"/>
                    </a:lnL>
                    <a:lnR w="9525" cap="flat" cmpd="sng" algn="ctr">
                      <a:solidFill>
                        <a:schemeClr val="bg2">
                          <a:lumMod val="85000"/>
                        </a:schemeClr>
                      </a:solidFill>
                      <a:prstDash val="solid"/>
                      <a:round/>
                      <a:headEnd type="none" w="med" len="med"/>
                      <a:tailEnd type="none" w="med" len="med"/>
                    </a:lnR>
                    <a:lnT w="9525" cap="flat" cmpd="sng" algn="ctr">
                      <a:solidFill>
                        <a:schemeClr val="bg2">
                          <a:lumMod val="85000"/>
                        </a:schemeClr>
                      </a:solidFill>
                      <a:prstDash val="solid"/>
                      <a:round/>
                      <a:headEnd type="none" w="med" len="med"/>
                      <a:tailEnd type="none" w="med" len="med"/>
                    </a:lnT>
                    <a:lnB w="9525" cap="flat" cmpd="sng" algn="ctr">
                      <a:solidFill>
                        <a:schemeClr val="bg2">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4322056"/>
                  </a:ext>
                </a:extLst>
              </a:tr>
            </a:tbl>
          </a:graphicData>
        </a:graphic>
      </p:graphicFrame>
      <p:pic>
        <p:nvPicPr>
          <p:cNvPr id="29" name="Picture 28">
            <a:extLst>
              <a:ext uri="{FF2B5EF4-FFF2-40B4-BE49-F238E27FC236}">
                <a16:creationId xmlns:a16="http://schemas.microsoft.com/office/drawing/2014/main" id="{610E523B-A2EF-0954-7C50-454BA4E9E38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4550" t="15818" r="2543" b="15333"/>
          <a:stretch/>
        </p:blipFill>
        <p:spPr>
          <a:xfrm>
            <a:off x="4291125" y="3237804"/>
            <a:ext cx="1033641" cy="263987"/>
          </a:xfrm>
          <a:prstGeom prst="rect">
            <a:avLst/>
          </a:prstGeom>
        </p:spPr>
      </p:pic>
      <p:pic>
        <p:nvPicPr>
          <p:cNvPr id="30" name="Picture 29">
            <a:extLst>
              <a:ext uri="{FF2B5EF4-FFF2-40B4-BE49-F238E27FC236}">
                <a16:creationId xmlns:a16="http://schemas.microsoft.com/office/drawing/2014/main" id="{6B0D21E9-73EA-087A-7B2C-139987AE8B1A}"/>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440508" y="3680918"/>
            <a:ext cx="717786" cy="277406"/>
          </a:xfrm>
          <a:prstGeom prst="rect">
            <a:avLst/>
          </a:prstGeom>
        </p:spPr>
      </p:pic>
      <p:pic>
        <p:nvPicPr>
          <p:cNvPr id="31" name="Picture 30">
            <a:extLst>
              <a:ext uri="{FF2B5EF4-FFF2-40B4-BE49-F238E27FC236}">
                <a16:creationId xmlns:a16="http://schemas.microsoft.com/office/drawing/2014/main" id="{777CFC5E-2FBA-B9C1-6B1C-E06ABC83F08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386727" y="5014748"/>
            <a:ext cx="780713" cy="249827"/>
          </a:xfrm>
          <a:prstGeom prst="rect">
            <a:avLst/>
          </a:prstGeom>
        </p:spPr>
      </p:pic>
      <p:pic>
        <p:nvPicPr>
          <p:cNvPr id="32" name="Picture 31" descr="A picture containing drawing&#10;&#10;Description automatically generated">
            <a:extLst>
              <a:ext uri="{FF2B5EF4-FFF2-40B4-BE49-F238E27FC236}">
                <a16:creationId xmlns:a16="http://schemas.microsoft.com/office/drawing/2014/main" id="{6D13B53F-B111-C45E-823C-1ADE22A0AEA2}"/>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320298" y="4150029"/>
            <a:ext cx="913570" cy="227377"/>
          </a:xfrm>
          <a:prstGeom prst="rect">
            <a:avLst/>
          </a:prstGeom>
        </p:spPr>
      </p:pic>
      <p:sp>
        <p:nvSpPr>
          <p:cNvPr id="33" name="Freeform 38">
            <a:extLst>
              <a:ext uri="{FF2B5EF4-FFF2-40B4-BE49-F238E27FC236}">
                <a16:creationId xmlns:a16="http://schemas.microsoft.com/office/drawing/2014/main" id="{F54FBFFA-C32D-CDAF-15A0-9C06357393D1}"/>
              </a:ext>
            </a:extLst>
          </p:cNvPr>
          <p:cNvSpPr>
            <a:spLocks noEditPoints="1"/>
          </p:cNvSpPr>
          <p:nvPr/>
        </p:nvSpPr>
        <p:spPr bwMode="auto">
          <a:xfrm>
            <a:off x="8468048" y="3279728"/>
            <a:ext cx="713130" cy="162415"/>
          </a:xfrm>
          <a:custGeom>
            <a:avLst/>
            <a:gdLst>
              <a:gd name="T0" fmla="*/ 1 w 1243"/>
              <a:gd name="T1" fmla="*/ 137 h 283"/>
              <a:gd name="T2" fmla="*/ 111 w 1243"/>
              <a:gd name="T3" fmla="*/ 57 h 283"/>
              <a:gd name="T4" fmla="*/ 244 w 1243"/>
              <a:gd name="T5" fmla="*/ 137 h 283"/>
              <a:gd name="T6" fmla="*/ 455 w 1243"/>
              <a:gd name="T7" fmla="*/ 137 h 283"/>
              <a:gd name="T8" fmla="*/ 582 w 1243"/>
              <a:gd name="T9" fmla="*/ 72 h 283"/>
              <a:gd name="T10" fmla="*/ 396 w 1243"/>
              <a:gd name="T11" fmla="*/ 132 h 283"/>
              <a:gd name="T12" fmla="*/ 210 w 1243"/>
              <a:gd name="T13" fmla="*/ 57 h 283"/>
              <a:gd name="T14" fmla="*/ 1099 w 1243"/>
              <a:gd name="T15" fmla="*/ 20 h 283"/>
              <a:gd name="T16" fmla="*/ 1049 w 1243"/>
              <a:gd name="T17" fmla="*/ 137 h 283"/>
              <a:gd name="T18" fmla="*/ 1094 w 1243"/>
              <a:gd name="T19" fmla="*/ 85 h 283"/>
              <a:gd name="T20" fmla="*/ 1148 w 1243"/>
              <a:gd name="T21" fmla="*/ 21 h 283"/>
              <a:gd name="T22" fmla="*/ 900 w 1243"/>
              <a:gd name="T23" fmla="*/ 22 h 283"/>
              <a:gd name="T24" fmla="*/ 924 w 1243"/>
              <a:gd name="T25" fmla="*/ 20 h 283"/>
              <a:gd name="T26" fmla="*/ 656 w 1243"/>
              <a:gd name="T27" fmla="*/ 137 h 283"/>
              <a:gd name="T28" fmla="*/ 733 w 1243"/>
              <a:gd name="T29" fmla="*/ 137 h 283"/>
              <a:gd name="T30" fmla="*/ 602 w 1243"/>
              <a:gd name="T31" fmla="*/ 24 h 283"/>
              <a:gd name="T32" fmla="*/ 765 w 1243"/>
              <a:gd name="T33" fmla="*/ 129 h 283"/>
              <a:gd name="T34" fmla="*/ 753 w 1243"/>
              <a:gd name="T35" fmla="*/ 24 h 283"/>
              <a:gd name="T36" fmla="*/ 1243 w 1243"/>
              <a:gd name="T37" fmla="*/ 52 h 283"/>
              <a:gd name="T38" fmla="*/ 819 w 1243"/>
              <a:gd name="T39" fmla="*/ 109 h 283"/>
              <a:gd name="T40" fmla="*/ 920 w 1243"/>
              <a:gd name="T41" fmla="*/ 71 h 283"/>
              <a:gd name="T42" fmla="*/ 959 w 1243"/>
              <a:gd name="T43" fmla="*/ 28 h 283"/>
              <a:gd name="T44" fmla="*/ 1195 w 1243"/>
              <a:gd name="T45" fmla="*/ 52 h 283"/>
              <a:gd name="T46" fmla="*/ 1204 w 1243"/>
              <a:gd name="T47" fmla="*/ 67 h 283"/>
              <a:gd name="T48" fmla="*/ 1212 w 1243"/>
              <a:gd name="T49" fmla="*/ 54 h 283"/>
              <a:gd name="T50" fmla="*/ 1222 w 1243"/>
              <a:gd name="T51" fmla="*/ 66 h 283"/>
              <a:gd name="T52" fmla="*/ 1219 w 1243"/>
              <a:gd name="T53" fmla="*/ 54 h 283"/>
              <a:gd name="T54" fmla="*/ 1204 w 1243"/>
              <a:gd name="T55" fmla="*/ 37 h 283"/>
              <a:gd name="T56" fmla="*/ 1221 w 1243"/>
              <a:gd name="T57" fmla="*/ 47 h 283"/>
              <a:gd name="T58" fmla="*/ 1210 w 1243"/>
              <a:gd name="T59" fmla="*/ 42 h 283"/>
              <a:gd name="T60" fmla="*/ 811 w 1243"/>
              <a:gd name="T61" fmla="*/ 137 h 283"/>
              <a:gd name="T62" fmla="*/ 766 w 1243"/>
              <a:gd name="T63" fmla="*/ 150 h 283"/>
              <a:gd name="T64" fmla="*/ 816 w 1243"/>
              <a:gd name="T65" fmla="*/ 182 h 283"/>
              <a:gd name="T66" fmla="*/ 1014 w 1243"/>
              <a:gd name="T67" fmla="*/ 206 h 283"/>
              <a:gd name="T68" fmla="*/ 1204 w 1243"/>
              <a:gd name="T69" fmla="*/ 204 h 283"/>
              <a:gd name="T70" fmla="*/ 1130 w 1243"/>
              <a:gd name="T71" fmla="*/ 175 h 283"/>
              <a:gd name="T72" fmla="*/ 1016 w 1243"/>
              <a:gd name="T73" fmla="*/ 204 h 283"/>
              <a:gd name="T74" fmla="*/ 966 w 1243"/>
              <a:gd name="T75" fmla="*/ 145 h 283"/>
              <a:gd name="T76" fmla="*/ 766 w 1243"/>
              <a:gd name="T77" fmla="*/ 145 h 283"/>
              <a:gd name="T78" fmla="*/ 129 w 1243"/>
              <a:gd name="T79" fmla="*/ 283 h 283"/>
              <a:gd name="T80" fmla="*/ 230 w 1243"/>
              <a:gd name="T81" fmla="*/ 248 h 283"/>
              <a:gd name="T82" fmla="*/ 533 w 1243"/>
              <a:gd name="T83" fmla="*/ 262 h 283"/>
              <a:gd name="T84" fmla="*/ 539 w 1243"/>
              <a:gd name="T85" fmla="*/ 146 h 283"/>
              <a:gd name="T86" fmla="*/ 483 w 1243"/>
              <a:gd name="T87" fmla="*/ 208 h 283"/>
              <a:gd name="T88" fmla="*/ 292 w 1243"/>
              <a:gd name="T89" fmla="*/ 213 h 283"/>
              <a:gd name="T90" fmla="*/ 205 w 1243"/>
              <a:gd name="T91" fmla="*/ 224 h 283"/>
              <a:gd name="T92" fmla="*/ 66 w 1243"/>
              <a:gd name="T93" fmla="*/ 146 h 283"/>
              <a:gd name="T94" fmla="*/ 602 w 1243"/>
              <a:gd name="T95" fmla="*/ 222 h 283"/>
              <a:gd name="T96" fmla="*/ 602 w 1243"/>
              <a:gd name="T97" fmla="*/ 146 h 283"/>
              <a:gd name="T98" fmla="*/ 734 w 1243"/>
              <a:gd name="T99" fmla="*/ 146 h 283"/>
              <a:gd name="T100" fmla="*/ 694 w 1243"/>
              <a:gd name="T101" fmla="*/ 180 h 283"/>
              <a:gd name="T102" fmla="*/ 737 w 1243"/>
              <a:gd name="T103" fmla="*/ 155 h 283"/>
              <a:gd name="T104" fmla="*/ 811 w 1243"/>
              <a:gd name="T105" fmla="*/ 262 h 283"/>
              <a:gd name="T106" fmla="*/ 821 w 1243"/>
              <a:gd name="T107" fmla="*/ 197 h 283"/>
              <a:gd name="T108" fmla="*/ 656 w 1243"/>
              <a:gd name="T109" fmla="*/ 203 h 283"/>
              <a:gd name="T110" fmla="*/ 656 w 1243"/>
              <a:gd name="T111" fmla="*/ 262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43" h="283">
                <a:moveTo>
                  <a:pt x="125" y="0"/>
                </a:moveTo>
                <a:cubicBezTo>
                  <a:pt x="105" y="0"/>
                  <a:pt x="86" y="5"/>
                  <a:pt x="68" y="13"/>
                </a:cubicBezTo>
                <a:cubicBezTo>
                  <a:pt x="21" y="37"/>
                  <a:pt x="4" y="87"/>
                  <a:pt x="1" y="137"/>
                </a:cubicBezTo>
                <a:lnTo>
                  <a:pt x="66" y="137"/>
                </a:lnTo>
                <a:cubicBezTo>
                  <a:pt x="67" y="125"/>
                  <a:pt x="69" y="112"/>
                  <a:pt x="72" y="100"/>
                </a:cubicBezTo>
                <a:cubicBezTo>
                  <a:pt x="76" y="79"/>
                  <a:pt x="93" y="57"/>
                  <a:pt x="111" y="57"/>
                </a:cubicBezTo>
                <a:lnTo>
                  <a:pt x="209" y="57"/>
                </a:lnTo>
                <a:cubicBezTo>
                  <a:pt x="194" y="81"/>
                  <a:pt x="186" y="109"/>
                  <a:pt x="185" y="137"/>
                </a:cubicBezTo>
                <a:lnTo>
                  <a:pt x="244" y="137"/>
                </a:lnTo>
                <a:cubicBezTo>
                  <a:pt x="245" y="112"/>
                  <a:pt x="251" y="71"/>
                  <a:pt x="291" y="71"/>
                </a:cubicBezTo>
                <a:cubicBezTo>
                  <a:pt x="331" y="71"/>
                  <a:pt x="337" y="112"/>
                  <a:pt x="339" y="137"/>
                </a:cubicBezTo>
                <a:lnTo>
                  <a:pt x="455" y="137"/>
                </a:lnTo>
                <a:cubicBezTo>
                  <a:pt x="454" y="123"/>
                  <a:pt x="456" y="110"/>
                  <a:pt x="461" y="97"/>
                </a:cubicBezTo>
                <a:cubicBezTo>
                  <a:pt x="465" y="83"/>
                  <a:pt x="478" y="73"/>
                  <a:pt x="492" y="72"/>
                </a:cubicBezTo>
                <a:lnTo>
                  <a:pt x="582" y="72"/>
                </a:lnTo>
                <a:lnTo>
                  <a:pt x="546" y="24"/>
                </a:lnTo>
                <a:cubicBezTo>
                  <a:pt x="501" y="24"/>
                  <a:pt x="448" y="21"/>
                  <a:pt x="418" y="61"/>
                </a:cubicBezTo>
                <a:cubicBezTo>
                  <a:pt x="404" y="82"/>
                  <a:pt x="396" y="107"/>
                  <a:pt x="396" y="132"/>
                </a:cubicBezTo>
                <a:cubicBezTo>
                  <a:pt x="395" y="117"/>
                  <a:pt x="393" y="103"/>
                  <a:pt x="389" y="88"/>
                </a:cubicBezTo>
                <a:cubicBezTo>
                  <a:pt x="376" y="52"/>
                  <a:pt x="344" y="26"/>
                  <a:pt x="306" y="21"/>
                </a:cubicBezTo>
                <a:cubicBezTo>
                  <a:pt x="270" y="15"/>
                  <a:pt x="233" y="29"/>
                  <a:pt x="210" y="57"/>
                </a:cubicBezTo>
                <a:cubicBezTo>
                  <a:pt x="195" y="39"/>
                  <a:pt x="181" y="19"/>
                  <a:pt x="166" y="0"/>
                </a:cubicBezTo>
                <a:lnTo>
                  <a:pt x="125" y="0"/>
                </a:lnTo>
                <a:close/>
                <a:moveTo>
                  <a:pt x="1099" y="20"/>
                </a:moveTo>
                <a:cubicBezTo>
                  <a:pt x="1091" y="21"/>
                  <a:pt x="1084" y="22"/>
                  <a:pt x="1078" y="25"/>
                </a:cubicBezTo>
                <a:cubicBezTo>
                  <a:pt x="1054" y="32"/>
                  <a:pt x="1036" y="51"/>
                  <a:pt x="1031" y="75"/>
                </a:cubicBezTo>
                <a:cubicBezTo>
                  <a:pt x="1024" y="97"/>
                  <a:pt x="1031" y="121"/>
                  <a:pt x="1049" y="137"/>
                </a:cubicBezTo>
                <a:lnTo>
                  <a:pt x="1174" y="137"/>
                </a:lnTo>
                <a:lnTo>
                  <a:pt x="1103" y="102"/>
                </a:lnTo>
                <a:cubicBezTo>
                  <a:pt x="1096" y="100"/>
                  <a:pt x="1092" y="92"/>
                  <a:pt x="1094" y="85"/>
                </a:cubicBezTo>
                <a:cubicBezTo>
                  <a:pt x="1096" y="79"/>
                  <a:pt x="1099" y="75"/>
                  <a:pt x="1105" y="75"/>
                </a:cubicBezTo>
                <a:lnTo>
                  <a:pt x="1189" y="75"/>
                </a:lnTo>
                <a:lnTo>
                  <a:pt x="1148" y="21"/>
                </a:lnTo>
                <a:lnTo>
                  <a:pt x="1099" y="20"/>
                </a:lnTo>
                <a:close/>
                <a:moveTo>
                  <a:pt x="924" y="20"/>
                </a:moveTo>
                <a:cubicBezTo>
                  <a:pt x="916" y="20"/>
                  <a:pt x="908" y="21"/>
                  <a:pt x="900" y="22"/>
                </a:cubicBezTo>
                <a:cubicBezTo>
                  <a:pt x="867" y="30"/>
                  <a:pt x="828" y="61"/>
                  <a:pt x="820" y="96"/>
                </a:cubicBezTo>
                <a:lnTo>
                  <a:pt x="945" y="24"/>
                </a:lnTo>
                <a:cubicBezTo>
                  <a:pt x="939" y="21"/>
                  <a:pt x="932" y="20"/>
                  <a:pt x="924" y="20"/>
                </a:cubicBezTo>
                <a:close/>
                <a:moveTo>
                  <a:pt x="602" y="24"/>
                </a:moveTo>
                <a:lnTo>
                  <a:pt x="602" y="137"/>
                </a:lnTo>
                <a:lnTo>
                  <a:pt x="656" y="137"/>
                </a:lnTo>
                <a:lnTo>
                  <a:pt x="656" y="122"/>
                </a:lnTo>
                <a:lnTo>
                  <a:pt x="667" y="135"/>
                </a:lnTo>
                <a:lnTo>
                  <a:pt x="733" y="137"/>
                </a:lnTo>
                <a:lnTo>
                  <a:pt x="736" y="131"/>
                </a:lnTo>
                <a:lnTo>
                  <a:pt x="656" y="24"/>
                </a:lnTo>
                <a:lnTo>
                  <a:pt x="602" y="24"/>
                </a:lnTo>
                <a:close/>
                <a:moveTo>
                  <a:pt x="753" y="24"/>
                </a:moveTo>
                <a:lnTo>
                  <a:pt x="753" y="124"/>
                </a:lnTo>
                <a:lnTo>
                  <a:pt x="765" y="129"/>
                </a:lnTo>
                <a:lnTo>
                  <a:pt x="811" y="102"/>
                </a:lnTo>
                <a:lnTo>
                  <a:pt x="811" y="24"/>
                </a:lnTo>
                <a:lnTo>
                  <a:pt x="753" y="24"/>
                </a:lnTo>
                <a:close/>
                <a:moveTo>
                  <a:pt x="1216" y="27"/>
                </a:moveTo>
                <a:cubicBezTo>
                  <a:pt x="1202" y="27"/>
                  <a:pt x="1190" y="38"/>
                  <a:pt x="1189" y="52"/>
                </a:cubicBezTo>
                <a:cubicBezTo>
                  <a:pt x="1191" y="86"/>
                  <a:pt x="1241" y="86"/>
                  <a:pt x="1243" y="52"/>
                </a:cubicBezTo>
                <a:cubicBezTo>
                  <a:pt x="1242" y="38"/>
                  <a:pt x="1230" y="27"/>
                  <a:pt x="1216" y="27"/>
                </a:cubicBezTo>
                <a:close/>
                <a:moveTo>
                  <a:pt x="959" y="28"/>
                </a:moveTo>
                <a:lnTo>
                  <a:pt x="819" y="109"/>
                </a:lnTo>
                <a:cubicBezTo>
                  <a:pt x="816" y="118"/>
                  <a:pt x="816" y="128"/>
                  <a:pt x="817" y="137"/>
                </a:cubicBezTo>
                <a:lnTo>
                  <a:pt x="873" y="137"/>
                </a:lnTo>
                <a:cubicBezTo>
                  <a:pt x="873" y="111"/>
                  <a:pt x="880" y="71"/>
                  <a:pt x="920" y="71"/>
                </a:cubicBezTo>
                <a:cubicBezTo>
                  <a:pt x="959" y="71"/>
                  <a:pt x="966" y="112"/>
                  <a:pt x="966" y="137"/>
                </a:cubicBezTo>
                <a:lnTo>
                  <a:pt x="1026" y="137"/>
                </a:lnTo>
                <a:cubicBezTo>
                  <a:pt x="1026" y="125"/>
                  <a:pt x="1023" y="54"/>
                  <a:pt x="959" y="28"/>
                </a:cubicBezTo>
                <a:close/>
                <a:moveTo>
                  <a:pt x="1215" y="30"/>
                </a:moveTo>
                <a:cubicBezTo>
                  <a:pt x="1228" y="29"/>
                  <a:pt x="1238" y="40"/>
                  <a:pt x="1237" y="52"/>
                </a:cubicBezTo>
                <a:cubicBezTo>
                  <a:pt x="1240" y="83"/>
                  <a:pt x="1193" y="83"/>
                  <a:pt x="1195" y="52"/>
                </a:cubicBezTo>
                <a:cubicBezTo>
                  <a:pt x="1194" y="40"/>
                  <a:pt x="1203" y="30"/>
                  <a:pt x="1215" y="30"/>
                </a:cubicBezTo>
                <a:close/>
                <a:moveTo>
                  <a:pt x="1204" y="37"/>
                </a:moveTo>
                <a:lnTo>
                  <a:pt x="1204" y="67"/>
                </a:lnTo>
                <a:lnTo>
                  <a:pt x="1210" y="67"/>
                </a:lnTo>
                <a:lnTo>
                  <a:pt x="1210" y="54"/>
                </a:lnTo>
                <a:lnTo>
                  <a:pt x="1212" y="54"/>
                </a:lnTo>
                <a:cubicBezTo>
                  <a:pt x="1213" y="54"/>
                  <a:pt x="1215" y="55"/>
                  <a:pt x="1216" y="56"/>
                </a:cubicBezTo>
                <a:cubicBezTo>
                  <a:pt x="1217" y="58"/>
                  <a:pt x="1218" y="60"/>
                  <a:pt x="1219" y="62"/>
                </a:cubicBezTo>
                <a:lnTo>
                  <a:pt x="1222" y="66"/>
                </a:lnTo>
                <a:lnTo>
                  <a:pt x="1228" y="66"/>
                </a:lnTo>
                <a:lnTo>
                  <a:pt x="1225" y="60"/>
                </a:lnTo>
                <a:cubicBezTo>
                  <a:pt x="1222" y="55"/>
                  <a:pt x="1222" y="54"/>
                  <a:pt x="1219" y="54"/>
                </a:cubicBezTo>
                <a:cubicBezTo>
                  <a:pt x="1223" y="53"/>
                  <a:pt x="1226" y="49"/>
                  <a:pt x="1227" y="45"/>
                </a:cubicBezTo>
                <a:cubicBezTo>
                  <a:pt x="1227" y="40"/>
                  <a:pt x="1224" y="37"/>
                  <a:pt x="1218" y="37"/>
                </a:cubicBezTo>
                <a:lnTo>
                  <a:pt x="1204" y="37"/>
                </a:lnTo>
                <a:close/>
                <a:moveTo>
                  <a:pt x="1210" y="42"/>
                </a:moveTo>
                <a:lnTo>
                  <a:pt x="1215" y="42"/>
                </a:lnTo>
                <a:cubicBezTo>
                  <a:pt x="1219" y="42"/>
                  <a:pt x="1221" y="45"/>
                  <a:pt x="1221" y="47"/>
                </a:cubicBezTo>
                <a:cubicBezTo>
                  <a:pt x="1221" y="48"/>
                  <a:pt x="1219" y="50"/>
                  <a:pt x="1216" y="50"/>
                </a:cubicBezTo>
                <a:lnTo>
                  <a:pt x="1210" y="50"/>
                </a:lnTo>
                <a:lnTo>
                  <a:pt x="1210" y="42"/>
                </a:lnTo>
                <a:close/>
                <a:moveTo>
                  <a:pt x="811" y="113"/>
                </a:moveTo>
                <a:lnTo>
                  <a:pt x="771" y="137"/>
                </a:lnTo>
                <a:lnTo>
                  <a:pt x="811" y="137"/>
                </a:lnTo>
                <a:lnTo>
                  <a:pt x="811" y="113"/>
                </a:lnTo>
                <a:close/>
                <a:moveTo>
                  <a:pt x="766" y="145"/>
                </a:moveTo>
                <a:lnTo>
                  <a:pt x="766" y="150"/>
                </a:lnTo>
                <a:lnTo>
                  <a:pt x="811" y="177"/>
                </a:lnTo>
                <a:lnTo>
                  <a:pt x="813" y="162"/>
                </a:lnTo>
                <a:cubicBezTo>
                  <a:pt x="814" y="168"/>
                  <a:pt x="814" y="176"/>
                  <a:pt x="816" y="182"/>
                </a:cubicBezTo>
                <a:lnTo>
                  <a:pt x="950" y="262"/>
                </a:lnTo>
                <a:cubicBezTo>
                  <a:pt x="977" y="254"/>
                  <a:pt x="999" y="235"/>
                  <a:pt x="1012" y="210"/>
                </a:cubicBezTo>
                <a:lnTo>
                  <a:pt x="1014" y="206"/>
                </a:lnTo>
                <a:lnTo>
                  <a:pt x="1014" y="262"/>
                </a:lnTo>
                <a:lnTo>
                  <a:pt x="1139" y="262"/>
                </a:lnTo>
                <a:cubicBezTo>
                  <a:pt x="1139" y="262"/>
                  <a:pt x="1189" y="265"/>
                  <a:pt x="1204" y="204"/>
                </a:cubicBezTo>
                <a:cubicBezTo>
                  <a:pt x="1205" y="183"/>
                  <a:pt x="1198" y="162"/>
                  <a:pt x="1184" y="145"/>
                </a:cubicBezTo>
                <a:lnTo>
                  <a:pt x="1064" y="145"/>
                </a:lnTo>
                <a:cubicBezTo>
                  <a:pt x="1085" y="154"/>
                  <a:pt x="1109" y="166"/>
                  <a:pt x="1130" y="175"/>
                </a:cubicBezTo>
                <a:cubicBezTo>
                  <a:pt x="1137" y="178"/>
                  <a:pt x="1142" y="186"/>
                  <a:pt x="1139" y="193"/>
                </a:cubicBezTo>
                <a:cubicBezTo>
                  <a:pt x="1136" y="198"/>
                  <a:pt x="1132" y="202"/>
                  <a:pt x="1126" y="204"/>
                </a:cubicBezTo>
                <a:lnTo>
                  <a:pt x="1016" y="204"/>
                </a:lnTo>
                <a:lnTo>
                  <a:pt x="1016" y="202"/>
                </a:lnTo>
                <a:cubicBezTo>
                  <a:pt x="1022" y="184"/>
                  <a:pt x="1026" y="165"/>
                  <a:pt x="1026" y="145"/>
                </a:cubicBezTo>
                <a:lnTo>
                  <a:pt x="966" y="145"/>
                </a:lnTo>
                <a:cubicBezTo>
                  <a:pt x="966" y="171"/>
                  <a:pt x="962" y="214"/>
                  <a:pt x="920" y="213"/>
                </a:cubicBezTo>
                <a:cubicBezTo>
                  <a:pt x="879" y="214"/>
                  <a:pt x="873" y="171"/>
                  <a:pt x="873" y="145"/>
                </a:cubicBezTo>
                <a:lnTo>
                  <a:pt x="766" y="145"/>
                </a:lnTo>
                <a:close/>
                <a:moveTo>
                  <a:pt x="1" y="146"/>
                </a:moveTo>
                <a:cubicBezTo>
                  <a:pt x="0" y="182"/>
                  <a:pt x="13" y="218"/>
                  <a:pt x="36" y="247"/>
                </a:cubicBezTo>
                <a:cubicBezTo>
                  <a:pt x="60" y="275"/>
                  <a:pt x="93" y="281"/>
                  <a:pt x="129" y="283"/>
                </a:cubicBezTo>
                <a:lnTo>
                  <a:pt x="209" y="283"/>
                </a:lnTo>
                <a:lnTo>
                  <a:pt x="209" y="228"/>
                </a:lnTo>
                <a:cubicBezTo>
                  <a:pt x="215" y="236"/>
                  <a:pt x="222" y="242"/>
                  <a:pt x="230" y="248"/>
                </a:cubicBezTo>
                <a:cubicBezTo>
                  <a:pt x="261" y="270"/>
                  <a:pt x="302" y="273"/>
                  <a:pt x="336" y="255"/>
                </a:cubicBezTo>
                <a:cubicBezTo>
                  <a:pt x="376" y="236"/>
                  <a:pt x="394" y="194"/>
                  <a:pt x="396" y="152"/>
                </a:cubicBezTo>
                <a:cubicBezTo>
                  <a:pt x="403" y="222"/>
                  <a:pt x="432" y="268"/>
                  <a:pt x="533" y="262"/>
                </a:cubicBezTo>
                <a:cubicBezTo>
                  <a:pt x="555" y="251"/>
                  <a:pt x="575" y="239"/>
                  <a:pt x="595" y="225"/>
                </a:cubicBezTo>
                <a:lnTo>
                  <a:pt x="595" y="146"/>
                </a:lnTo>
                <a:lnTo>
                  <a:pt x="539" y="146"/>
                </a:lnTo>
                <a:lnTo>
                  <a:pt x="539" y="212"/>
                </a:lnTo>
                <a:lnTo>
                  <a:pt x="525" y="212"/>
                </a:lnTo>
                <a:cubicBezTo>
                  <a:pt x="511" y="214"/>
                  <a:pt x="497" y="212"/>
                  <a:pt x="483" y="208"/>
                </a:cubicBezTo>
                <a:cubicBezTo>
                  <a:pt x="458" y="197"/>
                  <a:pt x="456" y="169"/>
                  <a:pt x="455" y="146"/>
                </a:cubicBezTo>
                <a:lnTo>
                  <a:pt x="339" y="146"/>
                </a:lnTo>
                <a:cubicBezTo>
                  <a:pt x="339" y="171"/>
                  <a:pt x="333" y="214"/>
                  <a:pt x="292" y="213"/>
                </a:cubicBezTo>
                <a:cubicBezTo>
                  <a:pt x="250" y="214"/>
                  <a:pt x="244" y="171"/>
                  <a:pt x="244" y="146"/>
                </a:cubicBezTo>
                <a:lnTo>
                  <a:pt x="185" y="146"/>
                </a:lnTo>
                <a:cubicBezTo>
                  <a:pt x="185" y="173"/>
                  <a:pt x="192" y="200"/>
                  <a:pt x="205" y="224"/>
                </a:cubicBezTo>
                <a:lnTo>
                  <a:pt x="137" y="224"/>
                </a:lnTo>
                <a:cubicBezTo>
                  <a:pt x="128" y="224"/>
                  <a:pt x="117" y="222"/>
                  <a:pt x="107" y="222"/>
                </a:cubicBezTo>
                <a:cubicBezTo>
                  <a:pt x="68" y="218"/>
                  <a:pt x="66" y="146"/>
                  <a:pt x="66" y="146"/>
                </a:cubicBezTo>
                <a:lnTo>
                  <a:pt x="1" y="146"/>
                </a:lnTo>
                <a:close/>
                <a:moveTo>
                  <a:pt x="602" y="146"/>
                </a:moveTo>
                <a:lnTo>
                  <a:pt x="602" y="222"/>
                </a:lnTo>
                <a:lnTo>
                  <a:pt x="656" y="191"/>
                </a:lnTo>
                <a:lnTo>
                  <a:pt x="656" y="146"/>
                </a:lnTo>
                <a:lnTo>
                  <a:pt x="602" y="146"/>
                </a:lnTo>
                <a:close/>
                <a:moveTo>
                  <a:pt x="674" y="146"/>
                </a:moveTo>
                <a:lnTo>
                  <a:pt x="689" y="173"/>
                </a:lnTo>
                <a:lnTo>
                  <a:pt x="734" y="146"/>
                </a:lnTo>
                <a:lnTo>
                  <a:pt x="674" y="146"/>
                </a:lnTo>
                <a:close/>
                <a:moveTo>
                  <a:pt x="737" y="155"/>
                </a:moveTo>
                <a:lnTo>
                  <a:pt x="694" y="180"/>
                </a:lnTo>
                <a:lnTo>
                  <a:pt x="745" y="262"/>
                </a:lnTo>
                <a:lnTo>
                  <a:pt x="745" y="158"/>
                </a:lnTo>
                <a:lnTo>
                  <a:pt x="737" y="155"/>
                </a:lnTo>
                <a:close/>
                <a:moveTo>
                  <a:pt x="757" y="158"/>
                </a:moveTo>
                <a:lnTo>
                  <a:pt x="757" y="262"/>
                </a:lnTo>
                <a:lnTo>
                  <a:pt x="811" y="262"/>
                </a:lnTo>
                <a:lnTo>
                  <a:pt x="811" y="191"/>
                </a:lnTo>
                <a:lnTo>
                  <a:pt x="757" y="158"/>
                </a:lnTo>
                <a:close/>
                <a:moveTo>
                  <a:pt x="821" y="197"/>
                </a:moveTo>
                <a:cubicBezTo>
                  <a:pt x="836" y="245"/>
                  <a:pt x="884" y="274"/>
                  <a:pt x="933" y="265"/>
                </a:cubicBezTo>
                <a:lnTo>
                  <a:pt x="821" y="197"/>
                </a:lnTo>
                <a:close/>
                <a:moveTo>
                  <a:pt x="656" y="203"/>
                </a:moveTo>
                <a:lnTo>
                  <a:pt x="604" y="233"/>
                </a:lnTo>
                <a:lnTo>
                  <a:pt x="604" y="262"/>
                </a:lnTo>
                <a:lnTo>
                  <a:pt x="656" y="262"/>
                </a:lnTo>
                <a:lnTo>
                  <a:pt x="656" y="203"/>
                </a:lnTo>
                <a:close/>
              </a:path>
            </a:pathLst>
          </a:custGeom>
          <a:solidFill>
            <a:srgbClr val="E121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pitchFamily="2" charset="0"/>
            </a:endParaRPr>
          </a:p>
        </p:txBody>
      </p:sp>
      <p:sp>
        <p:nvSpPr>
          <p:cNvPr id="34" name="Freeform 39">
            <a:extLst>
              <a:ext uri="{FF2B5EF4-FFF2-40B4-BE49-F238E27FC236}">
                <a16:creationId xmlns:a16="http://schemas.microsoft.com/office/drawing/2014/main" id="{5F7EEEC3-C424-4D49-4F42-87E8604C1853}"/>
              </a:ext>
            </a:extLst>
          </p:cNvPr>
          <p:cNvSpPr>
            <a:spLocks noEditPoints="1"/>
          </p:cNvSpPr>
          <p:nvPr/>
        </p:nvSpPr>
        <p:spPr bwMode="auto">
          <a:xfrm>
            <a:off x="8348246" y="3648946"/>
            <a:ext cx="952734" cy="155183"/>
          </a:xfrm>
          <a:custGeom>
            <a:avLst/>
            <a:gdLst>
              <a:gd name="T0" fmla="*/ 747 w 5014"/>
              <a:gd name="T1" fmla="*/ 93 h 817"/>
              <a:gd name="T2" fmla="*/ 741 w 5014"/>
              <a:gd name="T3" fmla="*/ 153 h 817"/>
              <a:gd name="T4" fmla="*/ 781 w 5014"/>
              <a:gd name="T5" fmla="*/ 188 h 817"/>
              <a:gd name="T6" fmla="*/ 838 w 5014"/>
              <a:gd name="T7" fmla="*/ 179 h 817"/>
              <a:gd name="T8" fmla="*/ 864 w 5014"/>
              <a:gd name="T9" fmla="*/ 124 h 817"/>
              <a:gd name="T10" fmla="*/ 812 w 5014"/>
              <a:gd name="T11" fmla="*/ 71 h 817"/>
              <a:gd name="T12" fmla="*/ 827 w 5014"/>
              <a:gd name="T13" fmla="*/ 132 h 817"/>
              <a:gd name="T14" fmla="*/ 2165 w 5014"/>
              <a:gd name="T15" fmla="*/ 116 h 817"/>
              <a:gd name="T16" fmla="*/ 2097 w 5014"/>
              <a:gd name="T17" fmla="*/ 484 h 817"/>
              <a:gd name="T18" fmla="*/ 1699 w 5014"/>
              <a:gd name="T19" fmla="*/ 265 h 817"/>
              <a:gd name="T20" fmla="*/ 1381 w 5014"/>
              <a:gd name="T21" fmla="*/ 322 h 817"/>
              <a:gd name="T22" fmla="*/ 1385 w 5014"/>
              <a:gd name="T23" fmla="*/ 641 h 817"/>
              <a:gd name="T24" fmla="*/ 1476 w 5014"/>
              <a:gd name="T25" fmla="*/ 462 h 817"/>
              <a:gd name="T26" fmla="*/ 2292 w 5014"/>
              <a:gd name="T27" fmla="*/ 468 h 817"/>
              <a:gd name="T28" fmla="*/ 2467 w 5014"/>
              <a:gd name="T29" fmla="*/ 642 h 817"/>
              <a:gd name="T30" fmla="*/ 2706 w 5014"/>
              <a:gd name="T31" fmla="*/ 644 h 817"/>
              <a:gd name="T32" fmla="*/ 2855 w 5014"/>
              <a:gd name="T33" fmla="*/ 460 h 817"/>
              <a:gd name="T34" fmla="*/ 3093 w 5014"/>
              <a:gd name="T35" fmla="*/ 641 h 817"/>
              <a:gd name="T36" fmla="*/ 3306 w 5014"/>
              <a:gd name="T37" fmla="*/ 641 h 817"/>
              <a:gd name="T38" fmla="*/ 3550 w 5014"/>
              <a:gd name="T39" fmla="*/ 463 h 817"/>
              <a:gd name="T40" fmla="*/ 3754 w 5014"/>
              <a:gd name="T41" fmla="*/ 551 h 817"/>
              <a:gd name="T42" fmla="*/ 4224 w 5014"/>
              <a:gd name="T43" fmla="*/ 583 h 817"/>
              <a:gd name="T44" fmla="*/ 4003 w 5014"/>
              <a:gd name="T45" fmla="*/ 657 h 817"/>
              <a:gd name="T46" fmla="*/ 4392 w 5014"/>
              <a:gd name="T47" fmla="*/ 614 h 817"/>
              <a:gd name="T48" fmla="*/ 4606 w 5014"/>
              <a:gd name="T49" fmla="*/ 788 h 817"/>
              <a:gd name="T50" fmla="*/ 4673 w 5014"/>
              <a:gd name="T51" fmla="*/ 411 h 817"/>
              <a:gd name="T52" fmla="*/ 4631 w 5014"/>
              <a:gd name="T53" fmla="*/ 266 h 817"/>
              <a:gd name="T54" fmla="*/ 4168 w 5014"/>
              <a:gd name="T55" fmla="*/ 258 h 817"/>
              <a:gd name="T56" fmla="*/ 3604 w 5014"/>
              <a:gd name="T57" fmla="*/ 275 h 817"/>
              <a:gd name="T58" fmla="*/ 3363 w 5014"/>
              <a:gd name="T59" fmla="*/ 278 h 817"/>
              <a:gd name="T60" fmla="*/ 3150 w 5014"/>
              <a:gd name="T61" fmla="*/ 318 h 817"/>
              <a:gd name="T62" fmla="*/ 2890 w 5014"/>
              <a:gd name="T63" fmla="*/ 268 h 817"/>
              <a:gd name="T64" fmla="*/ 2585 w 5014"/>
              <a:gd name="T65" fmla="*/ 277 h 817"/>
              <a:gd name="T66" fmla="*/ 2344 w 5014"/>
              <a:gd name="T67" fmla="*/ 279 h 817"/>
              <a:gd name="T68" fmla="*/ 2136 w 5014"/>
              <a:gd name="T69" fmla="*/ 310 h 817"/>
              <a:gd name="T70" fmla="*/ 2323 w 5014"/>
              <a:gd name="T71" fmla="*/ 161 h 817"/>
              <a:gd name="T72" fmla="*/ 184 w 5014"/>
              <a:gd name="T73" fmla="*/ 641 h 817"/>
              <a:gd name="T74" fmla="*/ 229 w 5014"/>
              <a:gd name="T75" fmla="*/ 421 h 817"/>
              <a:gd name="T76" fmla="*/ 495 w 5014"/>
              <a:gd name="T77" fmla="*/ 355 h 817"/>
              <a:gd name="T78" fmla="*/ 623 w 5014"/>
              <a:gd name="T79" fmla="*/ 119 h 817"/>
              <a:gd name="T80" fmla="*/ 352 w 5014"/>
              <a:gd name="T81" fmla="*/ 393 h 817"/>
              <a:gd name="T82" fmla="*/ 888 w 5014"/>
              <a:gd name="T83" fmla="*/ 402 h 817"/>
              <a:gd name="T84" fmla="*/ 888 w 5014"/>
              <a:gd name="T85" fmla="*/ 641 h 817"/>
              <a:gd name="T86" fmla="*/ 1183 w 5014"/>
              <a:gd name="T87" fmla="*/ 481 h 817"/>
              <a:gd name="T88" fmla="*/ 1183 w 5014"/>
              <a:gd name="T89" fmla="*/ 284 h 817"/>
              <a:gd name="T90" fmla="*/ 4943 w 5014"/>
              <a:gd name="T91" fmla="*/ 342 h 817"/>
              <a:gd name="T92" fmla="*/ 5007 w 5014"/>
              <a:gd name="T93" fmla="*/ 312 h 817"/>
              <a:gd name="T94" fmla="*/ 4974 w 5014"/>
              <a:gd name="T95" fmla="*/ 288 h 817"/>
              <a:gd name="T96" fmla="*/ 4963 w 5014"/>
              <a:gd name="T97" fmla="*/ 315 h 817"/>
              <a:gd name="T98" fmla="*/ 4983 w 5014"/>
              <a:gd name="T99" fmla="*/ 327 h 817"/>
              <a:gd name="T100" fmla="*/ 4982 w 5014"/>
              <a:gd name="T101" fmla="*/ 312 h 817"/>
              <a:gd name="T102" fmla="*/ 4975 w 5014"/>
              <a:gd name="T103" fmla="*/ 294 h 817"/>
              <a:gd name="T104" fmla="*/ 4963 w 5014"/>
              <a:gd name="T105" fmla="*/ 294 h 817"/>
              <a:gd name="T106" fmla="*/ 3820 w 5014"/>
              <a:gd name="T107" fmla="*/ 413 h 817"/>
              <a:gd name="T108" fmla="*/ 3781 w 5014"/>
              <a:gd name="T109" fmla="*/ 360 h 817"/>
              <a:gd name="T110" fmla="*/ 4198 w 5014"/>
              <a:gd name="T111" fmla="*/ 503 h 817"/>
              <a:gd name="T112" fmla="*/ 3128 w 5014"/>
              <a:gd name="T113" fmla="*/ 455 h 817"/>
              <a:gd name="T114" fmla="*/ 1707 w 5014"/>
              <a:gd name="T115" fmla="*/ 412 h 817"/>
              <a:gd name="T116" fmla="*/ 1707 w 5014"/>
              <a:gd name="T117" fmla="*/ 412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14" h="817">
                <a:moveTo>
                  <a:pt x="795" y="0"/>
                </a:moveTo>
                <a:lnTo>
                  <a:pt x="779" y="81"/>
                </a:lnTo>
                <a:lnTo>
                  <a:pt x="732" y="45"/>
                </a:lnTo>
                <a:lnTo>
                  <a:pt x="747" y="93"/>
                </a:lnTo>
                <a:lnTo>
                  <a:pt x="703" y="86"/>
                </a:lnTo>
                <a:lnTo>
                  <a:pt x="740" y="126"/>
                </a:lnTo>
                <a:lnTo>
                  <a:pt x="677" y="139"/>
                </a:lnTo>
                <a:lnTo>
                  <a:pt x="741" y="153"/>
                </a:lnTo>
                <a:lnTo>
                  <a:pt x="715" y="181"/>
                </a:lnTo>
                <a:lnTo>
                  <a:pt x="755" y="179"/>
                </a:lnTo>
                <a:lnTo>
                  <a:pt x="737" y="233"/>
                </a:lnTo>
                <a:lnTo>
                  <a:pt x="781" y="188"/>
                </a:lnTo>
                <a:lnTo>
                  <a:pt x="794" y="261"/>
                </a:lnTo>
                <a:lnTo>
                  <a:pt x="808" y="188"/>
                </a:lnTo>
                <a:lnTo>
                  <a:pt x="842" y="224"/>
                </a:lnTo>
                <a:lnTo>
                  <a:pt x="838" y="179"/>
                </a:lnTo>
                <a:lnTo>
                  <a:pt x="887" y="196"/>
                </a:lnTo>
                <a:lnTo>
                  <a:pt x="852" y="151"/>
                </a:lnTo>
                <a:lnTo>
                  <a:pt x="925" y="137"/>
                </a:lnTo>
                <a:lnTo>
                  <a:pt x="864" y="124"/>
                </a:lnTo>
                <a:lnTo>
                  <a:pt x="896" y="86"/>
                </a:lnTo>
                <a:lnTo>
                  <a:pt x="841" y="100"/>
                </a:lnTo>
                <a:lnTo>
                  <a:pt x="851" y="46"/>
                </a:lnTo>
                <a:lnTo>
                  <a:pt x="812" y="71"/>
                </a:lnTo>
                <a:lnTo>
                  <a:pt x="795" y="0"/>
                </a:lnTo>
                <a:close/>
                <a:moveTo>
                  <a:pt x="797" y="102"/>
                </a:moveTo>
                <a:cubicBezTo>
                  <a:pt x="814" y="102"/>
                  <a:pt x="828" y="115"/>
                  <a:pt x="828" y="132"/>
                </a:cubicBezTo>
                <a:lnTo>
                  <a:pt x="827" y="132"/>
                </a:lnTo>
                <a:cubicBezTo>
                  <a:pt x="827" y="159"/>
                  <a:pt x="795" y="172"/>
                  <a:pt x="776" y="153"/>
                </a:cubicBezTo>
                <a:cubicBezTo>
                  <a:pt x="757" y="135"/>
                  <a:pt x="771" y="102"/>
                  <a:pt x="797" y="102"/>
                </a:cubicBezTo>
                <a:close/>
                <a:moveTo>
                  <a:pt x="2170" y="116"/>
                </a:moveTo>
                <a:cubicBezTo>
                  <a:pt x="2168" y="116"/>
                  <a:pt x="2167" y="116"/>
                  <a:pt x="2165" y="116"/>
                </a:cubicBezTo>
                <a:cubicBezTo>
                  <a:pt x="2051" y="116"/>
                  <a:pt x="1927" y="185"/>
                  <a:pt x="1908" y="309"/>
                </a:cubicBezTo>
                <a:cubicBezTo>
                  <a:pt x="1895" y="391"/>
                  <a:pt x="1950" y="434"/>
                  <a:pt x="2022" y="448"/>
                </a:cubicBezTo>
                <a:lnTo>
                  <a:pt x="2060" y="455"/>
                </a:lnTo>
                <a:cubicBezTo>
                  <a:pt x="2076" y="458"/>
                  <a:pt x="2101" y="460"/>
                  <a:pt x="2097" y="484"/>
                </a:cubicBezTo>
                <a:cubicBezTo>
                  <a:pt x="2093" y="507"/>
                  <a:pt x="2062" y="515"/>
                  <a:pt x="2044" y="515"/>
                </a:cubicBezTo>
                <a:cubicBezTo>
                  <a:pt x="2002" y="513"/>
                  <a:pt x="1963" y="496"/>
                  <a:pt x="1933" y="467"/>
                </a:cubicBezTo>
                <a:cubicBezTo>
                  <a:pt x="1933" y="467"/>
                  <a:pt x="1929" y="464"/>
                  <a:pt x="1922" y="457"/>
                </a:cubicBezTo>
                <a:cubicBezTo>
                  <a:pt x="1919" y="332"/>
                  <a:pt x="1819" y="265"/>
                  <a:pt x="1699" y="265"/>
                </a:cubicBezTo>
                <a:cubicBezTo>
                  <a:pt x="1620" y="265"/>
                  <a:pt x="1549" y="294"/>
                  <a:pt x="1510" y="350"/>
                </a:cubicBezTo>
                <a:lnTo>
                  <a:pt x="1510" y="265"/>
                </a:lnTo>
                <a:cubicBezTo>
                  <a:pt x="1449" y="264"/>
                  <a:pt x="1417" y="274"/>
                  <a:pt x="1385" y="322"/>
                </a:cubicBezTo>
                <a:lnTo>
                  <a:pt x="1381" y="322"/>
                </a:lnTo>
                <a:lnTo>
                  <a:pt x="1385" y="273"/>
                </a:lnTo>
                <a:lnTo>
                  <a:pt x="1206" y="273"/>
                </a:lnTo>
                <a:lnTo>
                  <a:pt x="1206" y="641"/>
                </a:lnTo>
                <a:lnTo>
                  <a:pt x="1385" y="641"/>
                </a:lnTo>
                <a:lnTo>
                  <a:pt x="1385" y="500"/>
                </a:lnTo>
                <a:cubicBezTo>
                  <a:pt x="1385" y="454"/>
                  <a:pt x="1408" y="427"/>
                  <a:pt x="1455" y="427"/>
                </a:cubicBezTo>
                <a:cubicBezTo>
                  <a:pt x="1463" y="427"/>
                  <a:pt x="1471" y="428"/>
                  <a:pt x="1478" y="431"/>
                </a:cubicBezTo>
                <a:cubicBezTo>
                  <a:pt x="1477" y="441"/>
                  <a:pt x="1476" y="452"/>
                  <a:pt x="1476" y="462"/>
                </a:cubicBezTo>
                <a:cubicBezTo>
                  <a:pt x="1476" y="584"/>
                  <a:pt x="1584" y="649"/>
                  <a:pt x="1699" y="649"/>
                </a:cubicBezTo>
                <a:cubicBezTo>
                  <a:pt x="1751" y="650"/>
                  <a:pt x="1801" y="636"/>
                  <a:pt x="1845" y="608"/>
                </a:cubicBezTo>
                <a:cubicBezTo>
                  <a:pt x="1904" y="638"/>
                  <a:pt x="1969" y="654"/>
                  <a:pt x="2036" y="655"/>
                </a:cubicBezTo>
                <a:cubicBezTo>
                  <a:pt x="2149" y="655"/>
                  <a:pt x="2273" y="593"/>
                  <a:pt x="2292" y="468"/>
                </a:cubicBezTo>
                <a:cubicBezTo>
                  <a:pt x="2295" y="451"/>
                  <a:pt x="2295" y="433"/>
                  <a:pt x="2292" y="416"/>
                </a:cubicBezTo>
                <a:lnTo>
                  <a:pt x="2323" y="413"/>
                </a:lnTo>
                <a:lnTo>
                  <a:pt x="2287" y="642"/>
                </a:lnTo>
                <a:lnTo>
                  <a:pt x="2467" y="642"/>
                </a:lnTo>
                <a:lnTo>
                  <a:pt x="2503" y="413"/>
                </a:lnTo>
                <a:lnTo>
                  <a:pt x="2563" y="417"/>
                </a:lnTo>
                <a:lnTo>
                  <a:pt x="2527" y="644"/>
                </a:lnTo>
                <a:lnTo>
                  <a:pt x="2706" y="644"/>
                </a:lnTo>
                <a:lnTo>
                  <a:pt x="2728" y="503"/>
                </a:lnTo>
                <a:cubicBezTo>
                  <a:pt x="2736" y="457"/>
                  <a:pt x="2763" y="429"/>
                  <a:pt x="2810" y="429"/>
                </a:cubicBezTo>
                <a:cubicBezTo>
                  <a:pt x="2827" y="430"/>
                  <a:pt x="2844" y="436"/>
                  <a:pt x="2858" y="447"/>
                </a:cubicBezTo>
                <a:cubicBezTo>
                  <a:pt x="2857" y="451"/>
                  <a:pt x="2856" y="455"/>
                  <a:pt x="2855" y="460"/>
                </a:cubicBezTo>
                <a:cubicBezTo>
                  <a:pt x="2841" y="549"/>
                  <a:pt x="2880" y="650"/>
                  <a:pt x="2980" y="650"/>
                </a:cubicBezTo>
                <a:cubicBezTo>
                  <a:pt x="3030" y="650"/>
                  <a:pt x="3064" y="628"/>
                  <a:pt x="3102" y="593"/>
                </a:cubicBezTo>
                <a:lnTo>
                  <a:pt x="3106" y="593"/>
                </a:lnTo>
                <a:lnTo>
                  <a:pt x="3093" y="641"/>
                </a:lnTo>
                <a:lnTo>
                  <a:pt x="3268" y="641"/>
                </a:lnTo>
                <a:lnTo>
                  <a:pt x="3304" y="415"/>
                </a:lnTo>
                <a:lnTo>
                  <a:pt x="3342" y="412"/>
                </a:lnTo>
                <a:lnTo>
                  <a:pt x="3306" y="641"/>
                </a:lnTo>
                <a:lnTo>
                  <a:pt x="3486" y="641"/>
                </a:lnTo>
                <a:lnTo>
                  <a:pt x="3523" y="413"/>
                </a:lnTo>
                <a:lnTo>
                  <a:pt x="3562" y="415"/>
                </a:lnTo>
                <a:cubicBezTo>
                  <a:pt x="3556" y="431"/>
                  <a:pt x="3552" y="447"/>
                  <a:pt x="3550" y="463"/>
                </a:cubicBezTo>
                <a:cubicBezTo>
                  <a:pt x="3530" y="590"/>
                  <a:pt x="3626" y="650"/>
                  <a:pt x="3742" y="650"/>
                </a:cubicBezTo>
                <a:cubicBezTo>
                  <a:pt x="3827" y="650"/>
                  <a:pt x="3932" y="609"/>
                  <a:pt x="3970" y="520"/>
                </a:cubicBezTo>
                <a:lnTo>
                  <a:pt x="3795" y="520"/>
                </a:lnTo>
                <a:cubicBezTo>
                  <a:pt x="3789" y="538"/>
                  <a:pt x="3773" y="550"/>
                  <a:pt x="3754" y="551"/>
                </a:cubicBezTo>
                <a:cubicBezTo>
                  <a:pt x="3717" y="551"/>
                  <a:pt x="3717" y="517"/>
                  <a:pt x="3722" y="488"/>
                </a:cubicBezTo>
                <a:lnTo>
                  <a:pt x="3976" y="488"/>
                </a:lnTo>
                <a:cubicBezTo>
                  <a:pt x="3976" y="568"/>
                  <a:pt x="4019" y="644"/>
                  <a:pt x="4106" y="644"/>
                </a:cubicBezTo>
                <a:cubicBezTo>
                  <a:pt x="4148" y="644"/>
                  <a:pt x="4200" y="623"/>
                  <a:pt x="4224" y="583"/>
                </a:cubicBezTo>
                <a:lnTo>
                  <a:pt x="4229" y="583"/>
                </a:lnTo>
                <a:lnTo>
                  <a:pt x="4219" y="620"/>
                </a:lnTo>
                <a:cubicBezTo>
                  <a:pt x="4208" y="666"/>
                  <a:pt x="4173" y="702"/>
                  <a:pt x="4125" y="702"/>
                </a:cubicBezTo>
                <a:cubicBezTo>
                  <a:pt x="4080" y="702"/>
                  <a:pt x="4037" y="686"/>
                  <a:pt x="4003" y="657"/>
                </a:cubicBezTo>
                <a:lnTo>
                  <a:pt x="3944" y="781"/>
                </a:lnTo>
                <a:lnTo>
                  <a:pt x="3961" y="787"/>
                </a:lnTo>
                <a:cubicBezTo>
                  <a:pt x="4010" y="807"/>
                  <a:pt x="4062" y="817"/>
                  <a:pt x="4114" y="816"/>
                </a:cubicBezTo>
                <a:cubicBezTo>
                  <a:pt x="4243" y="816"/>
                  <a:pt x="4370" y="758"/>
                  <a:pt x="4392" y="614"/>
                </a:cubicBezTo>
                <a:lnTo>
                  <a:pt x="4444" y="287"/>
                </a:lnTo>
                <a:lnTo>
                  <a:pt x="4543" y="599"/>
                </a:lnTo>
                <a:lnTo>
                  <a:pt x="4418" y="788"/>
                </a:lnTo>
                <a:lnTo>
                  <a:pt x="4606" y="788"/>
                </a:lnTo>
                <a:lnTo>
                  <a:pt x="4925" y="266"/>
                </a:lnTo>
                <a:lnTo>
                  <a:pt x="4737" y="266"/>
                </a:lnTo>
                <a:lnTo>
                  <a:pt x="4737" y="266"/>
                </a:lnTo>
                <a:lnTo>
                  <a:pt x="4673" y="411"/>
                </a:lnTo>
                <a:lnTo>
                  <a:pt x="4655" y="467"/>
                </a:lnTo>
                <a:lnTo>
                  <a:pt x="4651" y="467"/>
                </a:lnTo>
                <a:lnTo>
                  <a:pt x="4649" y="411"/>
                </a:lnTo>
                <a:lnTo>
                  <a:pt x="4631" y="266"/>
                </a:lnTo>
                <a:lnTo>
                  <a:pt x="4274" y="266"/>
                </a:lnTo>
                <a:lnTo>
                  <a:pt x="4271" y="319"/>
                </a:lnTo>
                <a:lnTo>
                  <a:pt x="4266" y="319"/>
                </a:lnTo>
                <a:cubicBezTo>
                  <a:pt x="4249" y="280"/>
                  <a:pt x="4210" y="256"/>
                  <a:pt x="4168" y="258"/>
                </a:cubicBezTo>
                <a:cubicBezTo>
                  <a:pt x="4079" y="258"/>
                  <a:pt x="4012" y="335"/>
                  <a:pt x="3987" y="415"/>
                </a:cubicBezTo>
                <a:cubicBezTo>
                  <a:pt x="3978" y="320"/>
                  <a:pt x="3898" y="265"/>
                  <a:pt x="3792" y="265"/>
                </a:cubicBezTo>
                <a:cubicBezTo>
                  <a:pt x="3713" y="264"/>
                  <a:pt x="3638" y="300"/>
                  <a:pt x="3590" y="363"/>
                </a:cubicBezTo>
                <a:lnTo>
                  <a:pt x="3604" y="275"/>
                </a:lnTo>
                <a:lnTo>
                  <a:pt x="3544" y="278"/>
                </a:lnTo>
                <a:lnTo>
                  <a:pt x="3563" y="155"/>
                </a:lnTo>
                <a:lnTo>
                  <a:pt x="3383" y="155"/>
                </a:lnTo>
                <a:lnTo>
                  <a:pt x="3363" y="278"/>
                </a:lnTo>
                <a:lnTo>
                  <a:pt x="3326" y="276"/>
                </a:lnTo>
                <a:lnTo>
                  <a:pt x="3326" y="274"/>
                </a:lnTo>
                <a:lnTo>
                  <a:pt x="3151" y="274"/>
                </a:lnTo>
                <a:lnTo>
                  <a:pt x="3150" y="318"/>
                </a:lnTo>
                <a:lnTo>
                  <a:pt x="3145" y="318"/>
                </a:lnTo>
                <a:cubicBezTo>
                  <a:pt x="3125" y="282"/>
                  <a:pt x="3091" y="266"/>
                  <a:pt x="3046" y="266"/>
                </a:cubicBezTo>
                <a:cubicBezTo>
                  <a:pt x="2959" y="266"/>
                  <a:pt x="2895" y="336"/>
                  <a:pt x="2867" y="414"/>
                </a:cubicBezTo>
                <a:lnTo>
                  <a:pt x="2890" y="268"/>
                </a:lnTo>
                <a:cubicBezTo>
                  <a:pt x="2830" y="267"/>
                  <a:pt x="2796" y="277"/>
                  <a:pt x="2756" y="326"/>
                </a:cubicBezTo>
                <a:lnTo>
                  <a:pt x="2752" y="326"/>
                </a:lnTo>
                <a:lnTo>
                  <a:pt x="2765" y="277"/>
                </a:lnTo>
                <a:lnTo>
                  <a:pt x="2585" y="277"/>
                </a:lnTo>
                <a:lnTo>
                  <a:pt x="2524" y="279"/>
                </a:lnTo>
                <a:lnTo>
                  <a:pt x="2544" y="156"/>
                </a:lnTo>
                <a:lnTo>
                  <a:pt x="2363" y="156"/>
                </a:lnTo>
                <a:lnTo>
                  <a:pt x="2344" y="279"/>
                </a:lnTo>
                <a:lnTo>
                  <a:pt x="2301" y="276"/>
                </a:lnTo>
                <a:lnTo>
                  <a:pt x="2283" y="389"/>
                </a:lnTo>
                <a:cubicBezTo>
                  <a:pt x="2265" y="352"/>
                  <a:pt x="2227" y="331"/>
                  <a:pt x="2177" y="319"/>
                </a:cubicBezTo>
                <a:lnTo>
                  <a:pt x="2136" y="310"/>
                </a:lnTo>
                <a:cubicBezTo>
                  <a:pt x="2122" y="306"/>
                  <a:pt x="2099" y="303"/>
                  <a:pt x="2102" y="284"/>
                </a:cubicBezTo>
                <a:cubicBezTo>
                  <a:pt x="2105" y="262"/>
                  <a:pt x="2131" y="256"/>
                  <a:pt x="2147" y="256"/>
                </a:cubicBezTo>
                <a:cubicBezTo>
                  <a:pt x="2185" y="257"/>
                  <a:pt x="2222" y="271"/>
                  <a:pt x="2251" y="295"/>
                </a:cubicBezTo>
                <a:lnTo>
                  <a:pt x="2323" y="161"/>
                </a:lnTo>
                <a:cubicBezTo>
                  <a:pt x="2278" y="131"/>
                  <a:pt x="2224" y="115"/>
                  <a:pt x="2170" y="116"/>
                </a:cubicBezTo>
                <a:close/>
                <a:moveTo>
                  <a:pt x="85" y="118"/>
                </a:moveTo>
                <a:lnTo>
                  <a:pt x="0" y="641"/>
                </a:lnTo>
                <a:lnTo>
                  <a:pt x="184" y="641"/>
                </a:lnTo>
                <a:lnTo>
                  <a:pt x="206" y="418"/>
                </a:lnTo>
                <a:cubicBezTo>
                  <a:pt x="208" y="397"/>
                  <a:pt x="210" y="376"/>
                  <a:pt x="211" y="356"/>
                </a:cubicBezTo>
                <a:lnTo>
                  <a:pt x="217" y="356"/>
                </a:lnTo>
                <a:cubicBezTo>
                  <a:pt x="219" y="378"/>
                  <a:pt x="223" y="400"/>
                  <a:pt x="229" y="421"/>
                </a:cubicBezTo>
                <a:lnTo>
                  <a:pt x="297" y="641"/>
                </a:lnTo>
                <a:lnTo>
                  <a:pt x="408" y="641"/>
                </a:lnTo>
                <a:lnTo>
                  <a:pt x="483" y="407"/>
                </a:lnTo>
                <a:cubicBezTo>
                  <a:pt x="488" y="390"/>
                  <a:pt x="492" y="373"/>
                  <a:pt x="495" y="355"/>
                </a:cubicBezTo>
                <a:lnTo>
                  <a:pt x="499" y="355"/>
                </a:lnTo>
                <a:lnTo>
                  <a:pt x="525" y="641"/>
                </a:lnTo>
                <a:lnTo>
                  <a:pt x="709" y="641"/>
                </a:lnTo>
                <a:lnTo>
                  <a:pt x="623" y="119"/>
                </a:lnTo>
                <a:lnTo>
                  <a:pt x="429" y="119"/>
                </a:lnTo>
                <a:lnTo>
                  <a:pt x="370" y="324"/>
                </a:lnTo>
                <a:cubicBezTo>
                  <a:pt x="365" y="347"/>
                  <a:pt x="360" y="370"/>
                  <a:pt x="357" y="393"/>
                </a:cubicBezTo>
                <a:lnTo>
                  <a:pt x="352" y="393"/>
                </a:lnTo>
                <a:lnTo>
                  <a:pt x="280" y="118"/>
                </a:lnTo>
                <a:lnTo>
                  <a:pt x="85" y="118"/>
                </a:lnTo>
                <a:close/>
                <a:moveTo>
                  <a:pt x="1066" y="265"/>
                </a:moveTo>
                <a:cubicBezTo>
                  <a:pt x="983" y="265"/>
                  <a:pt x="910" y="321"/>
                  <a:pt x="888" y="402"/>
                </a:cubicBezTo>
                <a:lnTo>
                  <a:pt x="888" y="273"/>
                </a:lnTo>
                <a:lnTo>
                  <a:pt x="709" y="273"/>
                </a:lnTo>
                <a:lnTo>
                  <a:pt x="709" y="641"/>
                </a:lnTo>
                <a:lnTo>
                  <a:pt x="888" y="641"/>
                </a:lnTo>
                <a:lnTo>
                  <a:pt x="888" y="519"/>
                </a:lnTo>
                <a:cubicBezTo>
                  <a:pt x="912" y="604"/>
                  <a:pt x="987" y="650"/>
                  <a:pt x="1085" y="650"/>
                </a:cubicBezTo>
                <a:cubicBezTo>
                  <a:pt x="1116" y="649"/>
                  <a:pt x="1146" y="643"/>
                  <a:pt x="1175" y="632"/>
                </a:cubicBezTo>
                <a:lnTo>
                  <a:pt x="1183" y="481"/>
                </a:lnTo>
                <a:cubicBezTo>
                  <a:pt x="1162" y="496"/>
                  <a:pt x="1141" y="510"/>
                  <a:pt x="1114" y="510"/>
                </a:cubicBezTo>
                <a:cubicBezTo>
                  <a:pt x="1041" y="508"/>
                  <a:pt x="1045" y="399"/>
                  <a:pt x="1117" y="402"/>
                </a:cubicBezTo>
                <a:cubicBezTo>
                  <a:pt x="1142" y="404"/>
                  <a:pt x="1165" y="415"/>
                  <a:pt x="1183" y="433"/>
                </a:cubicBezTo>
                <a:lnTo>
                  <a:pt x="1183" y="284"/>
                </a:lnTo>
                <a:cubicBezTo>
                  <a:pt x="1147" y="272"/>
                  <a:pt x="1109" y="265"/>
                  <a:pt x="1070" y="265"/>
                </a:cubicBezTo>
                <a:cubicBezTo>
                  <a:pt x="1069" y="265"/>
                  <a:pt x="1068" y="265"/>
                  <a:pt x="1066" y="265"/>
                </a:cubicBezTo>
                <a:close/>
                <a:moveTo>
                  <a:pt x="4972" y="270"/>
                </a:moveTo>
                <a:cubicBezTo>
                  <a:pt x="4935" y="270"/>
                  <a:pt x="4916" y="315"/>
                  <a:pt x="4943" y="342"/>
                </a:cubicBezTo>
                <a:cubicBezTo>
                  <a:pt x="4969" y="368"/>
                  <a:pt x="5014" y="350"/>
                  <a:pt x="5014" y="312"/>
                </a:cubicBezTo>
                <a:cubicBezTo>
                  <a:pt x="5014" y="289"/>
                  <a:pt x="4996" y="270"/>
                  <a:pt x="4972" y="270"/>
                </a:cubicBezTo>
                <a:close/>
                <a:moveTo>
                  <a:pt x="4972" y="277"/>
                </a:moveTo>
                <a:cubicBezTo>
                  <a:pt x="4992" y="277"/>
                  <a:pt x="5007" y="293"/>
                  <a:pt x="5007" y="312"/>
                </a:cubicBezTo>
                <a:cubicBezTo>
                  <a:pt x="5007" y="343"/>
                  <a:pt x="4970" y="359"/>
                  <a:pt x="4948" y="337"/>
                </a:cubicBezTo>
                <a:cubicBezTo>
                  <a:pt x="4926" y="315"/>
                  <a:pt x="4941" y="277"/>
                  <a:pt x="4972" y="277"/>
                </a:cubicBezTo>
                <a:close/>
                <a:moveTo>
                  <a:pt x="4977" y="287"/>
                </a:moveTo>
                <a:cubicBezTo>
                  <a:pt x="4976" y="287"/>
                  <a:pt x="4975" y="288"/>
                  <a:pt x="4974" y="288"/>
                </a:cubicBezTo>
                <a:lnTo>
                  <a:pt x="4957" y="288"/>
                </a:lnTo>
                <a:lnTo>
                  <a:pt x="4957" y="336"/>
                </a:lnTo>
                <a:lnTo>
                  <a:pt x="4963" y="336"/>
                </a:lnTo>
                <a:lnTo>
                  <a:pt x="4963" y="315"/>
                </a:lnTo>
                <a:lnTo>
                  <a:pt x="4973" y="315"/>
                </a:lnTo>
                <a:lnTo>
                  <a:pt x="4973" y="314"/>
                </a:lnTo>
                <a:cubicBezTo>
                  <a:pt x="4976" y="314"/>
                  <a:pt x="4978" y="315"/>
                  <a:pt x="4980" y="317"/>
                </a:cubicBezTo>
                <a:cubicBezTo>
                  <a:pt x="4982" y="320"/>
                  <a:pt x="4983" y="324"/>
                  <a:pt x="4983" y="327"/>
                </a:cubicBezTo>
                <a:cubicBezTo>
                  <a:pt x="4984" y="330"/>
                  <a:pt x="4984" y="333"/>
                  <a:pt x="4985" y="336"/>
                </a:cubicBezTo>
                <a:lnTo>
                  <a:pt x="4992" y="336"/>
                </a:lnTo>
                <a:cubicBezTo>
                  <a:pt x="4991" y="332"/>
                  <a:pt x="4990" y="327"/>
                  <a:pt x="4989" y="322"/>
                </a:cubicBezTo>
                <a:cubicBezTo>
                  <a:pt x="4990" y="317"/>
                  <a:pt x="4986" y="313"/>
                  <a:pt x="4982" y="312"/>
                </a:cubicBezTo>
                <a:cubicBezTo>
                  <a:pt x="4987" y="311"/>
                  <a:pt x="4991" y="306"/>
                  <a:pt x="4991" y="300"/>
                </a:cubicBezTo>
                <a:cubicBezTo>
                  <a:pt x="4990" y="293"/>
                  <a:pt x="4984" y="287"/>
                  <a:pt x="4977" y="287"/>
                </a:cubicBezTo>
                <a:close/>
                <a:moveTo>
                  <a:pt x="4963" y="294"/>
                </a:moveTo>
                <a:lnTo>
                  <a:pt x="4975" y="294"/>
                </a:lnTo>
                <a:cubicBezTo>
                  <a:pt x="4982" y="294"/>
                  <a:pt x="4984" y="297"/>
                  <a:pt x="4984" y="301"/>
                </a:cubicBezTo>
                <a:cubicBezTo>
                  <a:pt x="4984" y="305"/>
                  <a:pt x="4982" y="308"/>
                  <a:pt x="4975" y="309"/>
                </a:cubicBezTo>
                <a:lnTo>
                  <a:pt x="4963" y="309"/>
                </a:lnTo>
                <a:lnTo>
                  <a:pt x="4963" y="294"/>
                </a:lnTo>
                <a:close/>
                <a:moveTo>
                  <a:pt x="3783" y="360"/>
                </a:moveTo>
                <a:cubicBezTo>
                  <a:pt x="3794" y="360"/>
                  <a:pt x="3803" y="364"/>
                  <a:pt x="3810" y="372"/>
                </a:cubicBezTo>
                <a:cubicBezTo>
                  <a:pt x="3819" y="383"/>
                  <a:pt x="3823" y="397"/>
                  <a:pt x="3820" y="411"/>
                </a:cubicBezTo>
                <a:lnTo>
                  <a:pt x="3820" y="413"/>
                </a:lnTo>
                <a:lnTo>
                  <a:pt x="3731" y="413"/>
                </a:lnTo>
                <a:lnTo>
                  <a:pt x="3731" y="410"/>
                </a:lnTo>
                <a:cubicBezTo>
                  <a:pt x="3733" y="386"/>
                  <a:pt x="3749" y="367"/>
                  <a:pt x="3772" y="361"/>
                </a:cubicBezTo>
                <a:cubicBezTo>
                  <a:pt x="3775" y="360"/>
                  <a:pt x="3778" y="360"/>
                  <a:pt x="3781" y="360"/>
                </a:cubicBezTo>
                <a:cubicBezTo>
                  <a:pt x="3782" y="360"/>
                  <a:pt x="3783" y="360"/>
                  <a:pt x="3783" y="360"/>
                </a:cubicBezTo>
                <a:close/>
                <a:moveTo>
                  <a:pt x="4213" y="398"/>
                </a:moveTo>
                <a:cubicBezTo>
                  <a:pt x="4243" y="398"/>
                  <a:pt x="4255" y="424"/>
                  <a:pt x="4251" y="452"/>
                </a:cubicBezTo>
                <a:cubicBezTo>
                  <a:pt x="4247" y="479"/>
                  <a:pt x="4228" y="503"/>
                  <a:pt x="4198" y="503"/>
                </a:cubicBezTo>
                <a:cubicBezTo>
                  <a:pt x="4167" y="503"/>
                  <a:pt x="4151" y="481"/>
                  <a:pt x="4155" y="451"/>
                </a:cubicBezTo>
                <a:cubicBezTo>
                  <a:pt x="4159" y="421"/>
                  <a:pt x="4184" y="399"/>
                  <a:pt x="4213" y="398"/>
                </a:cubicBezTo>
                <a:close/>
                <a:moveTo>
                  <a:pt x="3088" y="406"/>
                </a:moveTo>
                <a:cubicBezTo>
                  <a:pt x="3116" y="406"/>
                  <a:pt x="3132" y="426"/>
                  <a:pt x="3128" y="455"/>
                </a:cubicBezTo>
                <a:cubicBezTo>
                  <a:pt x="3123" y="483"/>
                  <a:pt x="3105" y="510"/>
                  <a:pt x="3071" y="510"/>
                </a:cubicBezTo>
                <a:cubicBezTo>
                  <a:pt x="3037" y="510"/>
                  <a:pt x="3029" y="485"/>
                  <a:pt x="3034" y="456"/>
                </a:cubicBezTo>
                <a:cubicBezTo>
                  <a:pt x="3037" y="429"/>
                  <a:pt x="3060" y="408"/>
                  <a:pt x="3088" y="406"/>
                </a:cubicBezTo>
                <a:close/>
                <a:moveTo>
                  <a:pt x="1707" y="412"/>
                </a:moveTo>
                <a:cubicBezTo>
                  <a:pt x="1734" y="411"/>
                  <a:pt x="1757" y="434"/>
                  <a:pt x="1757" y="462"/>
                </a:cubicBezTo>
                <a:cubicBezTo>
                  <a:pt x="1757" y="489"/>
                  <a:pt x="1735" y="512"/>
                  <a:pt x="1707" y="512"/>
                </a:cubicBezTo>
                <a:cubicBezTo>
                  <a:pt x="1680" y="512"/>
                  <a:pt x="1657" y="489"/>
                  <a:pt x="1657" y="462"/>
                </a:cubicBezTo>
                <a:cubicBezTo>
                  <a:pt x="1657" y="434"/>
                  <a:pt x="1679" y="412"/>
                  <a:pt x="1707" y="412"/>
                </a:cubicBezTo>
                <a:close/>
              </a:path>
            </a:pathLst>
          </a:custGeom>
          <a:solidFill>
            <a:srgbClr val="D923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pitchFamily="2" charset="0"/>
            </a:endParaRPr>
          </a:p>
        </p:txBody>
      </p:sp>
      <p:pic>
        <p:nvPicPr>
          <p:cNvPr id="35" name="Picture 34" descr="Text&#10;&#10;Description automatically generated">
            <a:extLst>
              <a:ext uri="{FF2B5EF4-FFF2-40B4-BE49-F238E27FC236}">
                <a16:creationId xmlns:a16="http://schemas.microsoft.com/office/drawing/2014/main" id="{3C2F0244-A924-ED76-4085-2105D87778F3}"/>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427772" y="2396737"/>
            <a:ext cx="793682" cy="416043"/>
          </a:xfrm>
          <a:prstGeom prst="rect">
            <a:avLst/>
          </a:prstGeom>
        </p:spPr>
      </p:pic>
      <p:pic>
        <p:nvPicPr>
          <p:cNvPr id="36" name="Picture 35">
            <a:extLst>
              <a:ext uri="{FF2B5EF4-FFF2-40B4-BE49-F238E27FC236}">
                <a16:creationId xmlns:a16="http://schemas.microsoft.com/office/drawing/2014/main" id="{77FB27FB-3DBF-6D95-6015-7F78462EB69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434257" y="2869083"/>
            <a:ext cx="780713" cy="249827"/>
          </a:xfrm>
          <a:prstGeom prst="rect">
            <a:avLst/>
          </a:prstGeom>
        </p:spPr>
      </p:pic>
      <p:pic>
        <p:nvPicPr>
          <p:cNvPr id="37" name="Picture 36" descr="A close up of a sign&#10;&#10;Description automatically generated">
            <a:extLst>
              <a:ext uri="{FF2B5EF4-FFF2-40B4-BE49-F238E27FC236}">
                <a16:creationId xmlns:a16="http://schemas.microsoft.com/office/drawing/2014/main" id="{777219D8-B2E5-DBA9-DDCE-57B0EC666552}"/>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322381" y="3993721"/>
            <a:ext cx="913074" cy="205442"/>
          </a:xfrm>
          <a:prstGeom prst="rect">
            <a:avLst/>
          </a:prstGeom>
        </p:spPr>
      </p:pic>
      <p:pic>
        <p:nvPicPr>
          <p:cNvPr id="38" name="Picture 37">
            <a:extLst>
              <a:ext uri="{FF2B5EF4-FFF2-40B4-BE49-F238E27FC236}">
                <a16:creationId xmlns:a16="http://schemas.microsoft.com/office/drawing/2014/main" id="{7C9FC6FB-C756-B8C6-38EA-DDE8D9F1F7BA}"/>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8401262" y="4338262"/>
            <a:ext cx="846703" cy="268721"/>
          </a:xfrm>
          <a:prstGeom prst="rect">
            <a:avLst/>
          </a:prstGeom>
        </p:spPr>
      </p:pic>
      <p:sp>
        <p:nvSpPr>
          <p:cNvPr id="39" name="Oval 38">
            <a:extLst>
              <a:ext uri="{FF2B5EF4-FFF2-40B4-BE49-F238E27FC236}">
                <a16:creationId xmlns:a16="http://schemas.microsoft.com/office/drawing/2014/main" id="{D8813970-D739-800A-1F83-18C071B2ED07}"/>
              </a:ext>
            </a:extLst>
          </p:cNvPr>
          <p:cNvSpPr/>
          <p:nvPr/>
        </p:nvSpPr>
        <p:spPr>
          <a:xfrm>
            <a:off x="1002515" y="5621383"/>
            <a:ext cx="496876" cy="49687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rPr>
              <a:t>80</a:t>
            </a:r>
            <a:r>
              <a:rPr kumimoji="0" lang="en-GB" sz="1200" b="1" i="0" u="none" strike="noStrike" kern="1200" cap="none" spc="0" normalizeH="0" baseline="30000" noProof="0">
                <a:ln>
                  <a:noFill/>
                </a:ln>
                <a:solidFill>
                  <a:srgbClr val="FFFFFF"/>
                </a:solidFill>
                <a:effectLst/>
                <a:uLnTx/>
                <a:uFillTx/>
                <a:latin typeface="Manrope" pitchFamily="2" charset="0"/>
                <a:cs typeface="Segoe UI" panose="020B0502040204020203" pitchFamily="34" charset="0"/>
              </a:rPr>
              <a:t>%</a:t>
            </a:r>
            <a:endParaRPr kumimoji="0" lang="en-US" sz="1200" b="1" i="0" u="none" strike="noStrike" kern="1200" cap="none" spc="0" normalizeH="0" baseline="30000" noProof="0">
              <a:ln>
                <a:noFill/>
              </a:ln>
              <a:solidFill>
                <a:srgbClr val="FFFFFF"/>
              </a:solidFill>
              <a:effectLst/>
              <a:uLnTx/>
              <a:uFillTx/>
              <a:latin typeface="Manrope" pitchFamily="2" charset="0"/>
              <a:cs typeface="Segoe UI" panose="020B0502040204020203" pitchFamily="34" charset="0"/>
            </a:endParaRPr>
          </a:p>
        </p:txBody>
      </p:sp>
      <p:sp>
        <p:nvSpPr>
          <p:cNvPr id="41" name="Oval 40">
            <a:extLst>
              <a:ext uri="{FF2B5EF4-FFF2-40B4-BE49-F238E27FC236}">
                <a16:creationId xmlns:a16="http://schemas.microsoft.com/office/drawing/2014/main" id="{387883B3-4661-6A40-4DFF-3152B3218101}"/>
              </a:ext>
            </a:extLst>
          </p:cNvPr>
          <p:cNvSpPr/>
          <p:nvPr/>
        </p:nvSpPr>
        <p:spPr>
          <a:xfrm>
            <a:off x="4658368" y="5621383"/>
            <a:ext cx="496876" cy="49687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rPr>
              <a:t>70</a:t>
            </a:r>
            <a:r>
              <a:rPr kumimoji="0" lang="en-GB" sz="1200" b="1" i="0" u="none" strike="noStrike" kern="1200" cap="none" spc="0" normalizeH="0" baseline="30000" noProof="0">
                <a:ln>
                  <a:noFill/>
                </a:ln>
                <a:solidFill>
                  <a:srgbClr val="FFFFFF"/>
                </a:solidFill>
                <a:effectLst/>
                <a:uLnTx/>
                <a:uFillTx/>
                <a:latin typeface="Manrope" pitchFamily="2" charset="0"/>
                <a:cs typeface="Segoe UI" panose="020B0502040204020203" pitchFamily="34" charset="0"/>
              </a:rPr>
              <a:t>%</a:t>
            </a:r>
            <a:endParaRPr kumimoji="0" lang="en-US" sz="1200" b="1" i="0" u="none" strike="noStrike" kern="1200" cap="none" spc="0" normalizeH="0" baseline="30000" noProof="0">
              <a:ln>
                <a:noFill/>
              </a:ln>
              <a:solidFill>
                <a:srgbClr val="FFFFFF"/>
              </a:solidFill>
              <a:effectLst/>
              <a:uLnTx/>
              <a:uFillTx/>
              <a:latin typeface="Manrope" pitchFamily="2" charset="0"/>
              <a:cs typeface="Segoe UI" panose="020B0502040204020203" pitchFamily="34" charset="0"/>
            </a:endParaRPr>
          </a:p>
        </p:txBody>
      </p:sp>
      <p:grpSp>
        <p:nvGrpSpPr>
          <p:cNvPr id="43" name="Group 42">
            <a:extLst>
              <a:ext uri="{FF2B5EF4-FFF2-40B4-BE49-F238E27FC236}">
                <a16:creationId xmlns:a16="http://schemas.microsoft.com/office/drawing/2014/main" id="{D00EA0BF-EAB3-C3AB-AABB-5DC7294A0654}"/>
              </a:ext>
            </a:extLst>
          </p:cNvPr>
          <p:cNvGrpSpPr/>
          <p:nvPr/>
        </p:nvGrpSpPr>
        <p:grpSpPr>
          <a:xfrm>
            <a:off x="8867015" y="5621383"/>
            <a:ext cx="1947010" cy="496876"/>
            <a:chOff x="9334497" y="5929931"/>
            <a:chExt cx="2141711" cy="546564"/>
          </a:xfrm>
        </p:grpSpPr>
        <p:sp>
          <p:nvSpPr>
            <p:cNvPr id="45" name="Pentagon 96">
              <a:extLst>
                <a:ext uri="{FF2B5EF4-FFF2-40B4-BE49-F238E27FC236}">
                  <a16:creationId xmlns:a16="http://schemas.microsoft.com/office/drawing/2014/main" id="{0A148C26-F1D8-DBDA-147C-A21C86E8591D}"/>
                </a:ext>
              </a:extLst>
            </p:cNvPr>
            <p:cNvSpPr/>
            <p:nvPr/>
          </p:nvSpPr>
          <p:spPr>
            <a:xfrm>
              <a:off x="9503584" y="6046299"/>
              <a:ext cx="1972624" cy="313829"/>
            </a:xfrm>
            <a:prstGeom prst="homePlate">
              <a:avLst>
                <a:gd name="adj" fmla="val 49957"/>
              </a:avLst>
            </a:prstGeom>
            <a:solidFill>
              <a:schemeClr val="accent5"/>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all" spc="100" normalizeH="0" baseline="0" noProof="0">
                  <a:ln>
                    <a:noFill/>
                  </a:ln>
                  <a:solidFill>
                    <a:srgbClr val="FFFFFF"/>
                  </a:solidFill>
                  <a:effectLst/>
                  <a:uLnTx/>
                  <a:uFillTx/>
                  <a:latin typeface="Manrope" pitchFamily="2" charset="0"/>
                </a:rPr>
                <a:t>Automation</a:t>
              </a:r>
            </a:p>
          </p:txBody>
        </p:sp>
        <p:sp>
          <p:nvSpPr>
            <p:cNvPr id="44" name="Oval 43">
              <a:extLst>
                <a:ext uri="{FF2B5EF4-FFF2-40B4-BE49-F238E27FC236}">
                  <a16:creationId xmlns:a16="http://schemas.microsoft.com/office/drawing/2014/main" id="{43C52BDE-4592-0C61-3A86-64CE3AB48A9A}"/>
                </a:ext>
              </a:extLst>
            </p:cNvPr>
            <p:cNvSpPr/>
            <p:nvPr/>
          </p:nvSpPr>
          <p:spPr>
            <a:xfrm>
              <a:off x="9334497" y="5929931"/>
              <a:ext cx="546564" cy="54656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Manrope" pitchFamily="2" charset="0"/>
                  <a:cs typeface="Segoe UI" panose="020B0502040204020203" pitchFamily="34" charset="0"/>
                </a:rPr>
                <a:t>50</a:t>
              </a:r>
              <a:r>
                <a:rPr kumimoji="0" lang="en-GB" sz="1200" b="1" i="0" u="none" strike="noStrike" kern="1200" cap="none" spc="0" normalizeH="0" baseline="30000" noProof="0">
                  <a:ln>
                    <a:noFill/>
                  </a:ln>
                  <a:solidFill>
                    <a:srgbClr val="FFFFFF"/>
                  </a:solidFill>
                  <a:effectLst/>
                  <a:uLnTx/>
                  <a:uFillTx/>
                  <a:latin typeface="Manrope" pitchFamily="2" charset="0"/>
                  <a:cs typeface="Segoe UI" panose="020B0502040204020203" pitchFamily="34" charset="0"/>
                </a:rPr>
                <a:t>%</a:t>
              </a:r>
              <a:endParaRPr kumimoji="0" lang="en-US" sz="1200" b="1" i="0" u="none" strike="noStrike" kern="1200" cap="none" spc="0" normalizeH="0" baseline="30000" noProof="0">
                <a:ln>
                  <a:noFill/>
                </a:ln>
                <a:solidFill>
                  <a:srgbClr val="FFFFFF"/>
                </a:solidFill>
                <a:effectLst/>
                <a:uLnTx/>
                <a:uFillTx/>
                <a:latin typeface="Manrope" pitchFamily="2" charset="0"/>
                <a:cs typeface="Segoe UI" panose="020B0502040204020203" pitchFamily="34" charset="0"/>
              </a:endParaRPr>
            </a:p>
          </p:txBody>
        </p:sp>
      </p:grpSp>
      <p:pic>
        <p:nvPicPr>
          <p:cNvPr id="47" name="Picture 46">
            <a:extLst>
              <a:ext uri="{FF2B5EF4-FFF2-40B4-BE49-F238E27FC236}">
                <a16:creationId xmlns:a16="http://schemas.microsoft.com/office/drawing/2014/main" id="{4F8EF320-0659-08E1-A6BD-056D74EAE5B7}"/>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900910" y="3419179"/>
            <a:ext cx="859444" cy="193965"/>
          </a:xfrm>
          <a:prstGeom prst="rect">
            <a:avLst/>
          </a:prstGeom>
        </p:spPr>
      </p:pic>
      <p:pic>
        <p:nvPicPr>
          <p:cNvPr id="48" name="Picture 47">
            <a:extLst>
              <a:ext uri="{FF2B5EF4-FFF2-40B4-BE49-F238E27FC236}">
                <a16:creationId xmlns:a16="http://schemas.microsoft.com/office/drawing/2014/main" id="{7F2A1D74-A6B2-9374-3CF7-CC5F2FD1133E}"/>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19825" y="5246473"/>
            <a:ext cx="914400" cy="249138"/>
          </a:xfrm>
          <a:prstGeom prst="rect">
            <a:avLst/>
          </a:prstGeom>
        </p:spPr>
      </p:pic>
      <p:pic>
        <p:nvPicPr>
          <p:cNvPr id="49" name="Picture 48">
            <a:extLst>
              <a:ext uri="{FF2B5EF4-FFF2-40B4-BE49-F238E27FC236}">
                <a16:creationId xmlns:a16="http://schemas.microsoft.com/office/drawing/2014/main" id="{EC1137BF-3280-168C-CD50-39596E240106}"/>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66233" y="4144448"/>
            <a:ext cx="662086" cy="224698"/>
          </a:xfrm>
          <a:prstGeom prst="rect">
            <a:avLst/>
          </a:prstGeom>
        </p:spPr>
      </p:pic>
      <p:pic>
        <p:nvPicPr>
          <p:cNvPr id="50" name="Picture 2" descr="Pin by Shorna Richards on Business | Oracle logo, Oracle, Logos">
            <a:extLst>
              <a:ext uri="{FF2B5EF4-FFF2-40B4-BE49-F238E27FC236}">
                <a16:creationId xmlns:a16="http://schemas.microsoft.com/office/drawing/2014/main" id="{1B72C36A-3A6F-DA20-32A7-F30EC4B4B695}"/>
              </a:ext>
            </a:extLst>
          </p:cNvPr>
          <p:cNvPicPr>
            <a:picLocks noChangeAspect="1" noChangeArrowheads="1"/>
          </p:cNvPicPr>
          <p:nvPr/>
        </p:nvPicPr>
        <p:blipFill rotWithShape="1">
          <a:blip r:embed="rId14" cstate="email">
            <a:extLst>
              <a:ext uri="{28A0092B-C50C-407E-A947-70E740481C1C}">
                <a14:useLocalDpi xmlns:a14="http://schemas.microsoft.com/office/drawing/2010/main"/>
              </a:ext>
            </a:extLst>
          </a:blip>
          <a:srcRect/>
          <a:stretch/>
        </p:blipFill>
        <p:spPr bwMode="auto">
          <a:xfrm>
            <a:off x="907408" y="3044070"/>
            <a:ext cx="846450" cy="14570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id="{19046AB3-894A-2ADB-2EC5-081B23F88E61}"/>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1018889" y="4456311"/>
            <a:ext cx="546178" cy="325705"/>
          </a:xfrm>
          <a:prstGeom prst="rect">
            <a:avLst/>
          </a:prstGeom>
        </p:spPr>
      </p:pic>
      <p:pic>
        <p:nvPicPr>
          <p:cNvPr id="52" name="Picture 2" descr="Sql Server Logo Transparent Png">
            <a:extLst>
              <a:ext uri="{FF2B5EF4-FFF2-40B4-BE49-F238E27FC236}">
                <a16:creationId xmlns:a16="http://schemas.microsoft.com/office/drawing/2014/main" id="{9544432D-5506-8ECE-4DB8-974E14E84575}"/>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904431" y="2640518"/>
            <a:ext cx="930720" cy="231831"/>
          </a:xfrm>
          <a:prstGeom prst="rect">
            <a:avLst/>
          </a:prstGeom>
          <a:noFill/>
          <a:extLst>
            <a:ext uri="{909E8E84-426E-40DD-AFC4-6F175D3DCCD1}">
              <a14:hiddenFill xmlns:a14="http://schemas.microsoft.com/office/drawing/2010/main">
                <a:solidFill>
                  <a:srgbClr val="FFFFFF"/>
                </a:solidFill>
              </a14:hiddenFill>
            </a:ext>
          </a:extLst>
        </p:spPr>
      </p:pic>
      <p:pic>
        <p:nvPicPr>
          <p:cNvPr id="53" name="Graphic 52" descr="Badge Tick1 with solid fill">
            <a:extLst>
              <a:ext uri="{FF2B5EF4-FFF2-40B4-BE49-F238E27FC236}">
                <a16:creationId xmlns:a16="http://schemas.microsoft.com/office/drawing/2014/main" id="{381DA80B-664A-A753-99B2-6B5AF4260D1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46351" y="2645522"/>
            <a:ext cx="241825" cy="241825"/>
          </a:xfrm>
          <a:prstGeom prst="rect">
            <a:avLst/>
          </a:prstGeom>
        </p:spPr>
      </p:pic>
      <p:pic>
        <p:nvPicPr>
          <p:cNvPr id="54" name="Graphic 53" descr="Badge Tick1 with solid fill">
            <a:extLst>
              <a:ext uri="{FF2B5EF4-FFF2-40B4-BE49-F238E27FC236}">
                <a16:creationId xmlns:a16="http://schemas.microsoft.com/office/drawing/2014/main" id="{BAE10A0B-BBD9-5FC1-201A-04E62B5432C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46351" y="3012206"/>
            <a:ext cx="241825" cy="241825"/>
          </a:xfrm>
          <a:prstGeom prst="rect">
            <a:avLst/>
          </a:prstGeom>
        </p:spPr>
      </p:pic>
      <p:pic>
        <p:nvPicPr>
          <p:cNvPr id="55" name="Graphic 54" descr="Badge Tick1 with solid fill">
            <a:extLst>
              <a:ext uri="{FF2B5EF4-FFF2-40B4-BE49-F238E27FC236}">
                <a16:creationId xmlns:a16="http://schemas.microsoft.com/office/drawing/2014/main" id="{741BE994-B942-482F-081E-69678F908F7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46351" y="3762204"/>
            <a:ext cx="241825" cy="241825"/>
          </a:xfrm>
          <a:prstGeom prst="rect">
            <a:avLst/>
          </a:prstGeom>
        </p:spPr>
      </p:pic>
      <p:pic>
        <p:nvPicPr>
          <p:cNvPr id="56" name="Graphic 55" descr="Badge Tick1 with solid fill">
            <a:extLst>
              <a:ext uri="{FF2B5EF4-FFF2-40B4-BE49-F238E27FC236}">
                <a16:creationId xmlns:a16="http://schemas.microsoft.com/office/drawing/2014/main" id="{93442861-9A54-3604-3FEC-62D72BBDF58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46351" y="4875521"/>
            <a:ext cx="241825" cy="241825"/>
          </a:xfrm>
          <a:prstGeom prst="rect">
            <a:avLst/>
          </a:prstGeom>
        </p:spPr>
      </p:pic>
      <p:pic>
        <p:nvPicPr>
          <p:cNvPr id="57" name="Graphic 56" descr="Badge Tick1 with solid fill">
            <a:extLst>
              <a:ext uri="{FF2B5EF4-FFF2-40B4-BE49-F238E27FC236}">
                <a16:creationId xmlns:a16="http://schemas.microsoft.com/office/drawing/2014/main" id="{C95AC88A-9603-9725-CB8B-67EEB9FAD8E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46351" y="3379652"/>
            <a:ext cx="241825" cy="241825"/>
          </a:xfrm>
          <a:prstGeom prst="rect">
            <a:avLst/>
          </a:prstGeom>
        </p:spPr>
      </p:pic>
      <p:pic>
        <p:nvPicPr>
          <p:cNvPr id="58" name="Graphic 57" descr="Badge Tick1 with solid fill">
            <a:extLst>
              <a:ext uri="{FF2B5EF4-FFF2-40B4-BE49-F238E27FC236}">
                <a16:creationId xmlns:a16="http://schemas.microsoft.com/office/drawing/2014/main" id="{32CAB045-AC1F-C2CA-9E52-5B11BA7855E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869339" y="2818354"/>
            <a:ext cx="241825" cy="241825"/>
          </a:xfrm>
          <a:prstGeom prst="rect">
            <a:avLst/>
          </a:prstGeom>
        </p:spPr>
      </p:pic>
      <p:pic>
        <p:nvPicPr>
          <p:cNvPr id="59" name="Graphic 58" descr="Badge Tick1 with solid fill">
            <a:extLst>
              <a:ext uri="{FF2B5EF4-FFF2-40B4-BE49-F238E27FC236}">
                <a16:creationId xmlns:a16="http://schemas.microsoft.com/office/drawing/2014/main" id="{ECCEBE86-736A-F712-54AF-45F6A5FD298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869339" y="3247774"/>
            <a:ext cx="241825" cy="241825"/>
          </a:xfrm>
          <a:prstGeom prst="rect">
            <a:avLst/>
          </a:prstGeom>
        </p:spPr>
      </p:pic>
      <p:pic>
        <p:nvPicPr>
          <p:cNvPr id="60" name="Graphic 59" descr="Badge Tick1 with solid fill">
            <a:extLst>
              <a:ext uri="{FF2B5EF4-FFF2-40B4-BE49-F238E27FC236}">
                <a16:creationId xmlns:a16="http://schemas.microsoft.com/office/drawing/2014/main" id="{C09B1FBD-822A-40B7-FB98-9787F6355F6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869339" y="4578387"/>
            <a:ext cx="241825" cy="241825"/>
          </a:xfrm>
          <a:prstGeom prst="rect">
            <a:avLst/>
          </a:prstGeom>
        </p:spPr>
      </p:pic>
      <p:pic>
        <p:nvPicPr>
          <p:cNvPr id="61" name="Graphic 60" descr="Badge Tick1 with solid fill">
            <a:extLst>
              <a:ext uri="{FF2B5EF4-FFF2-40B4-BE49-F238E27FC236}">
                <a16:creationId xmlns:a16="http://schemas.microsoft.com/office/drawing/2014/main" id="{DCE841E7-CDAC-C8EE-D713-3025B9A9677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869339" y="5029969"/>
            <a:ext cx="241825" cy="241825"/>
          </a:xfrm>
          <a:prstGeom prst="rect">
            <a:avLst/>
          </a:prstGeom>
        </p:spPr>
      </p:pic>
      <p:pic>
        <p:nvPicPr>
          <p:cNvPr id="62" name="Graphic 61" descr="Badge Tick1 with solid fill">
            <a:extLst>
              <a:ext uri="{FF2B5EF4-FFF2-40B4-BE49-F238E27FC236}">
                <a16:creationId xmlns:a16="http://schemas.microsoft.com/office/drawing/2014/main" id="{F50635CE-C92B-1252-7925-7ACBD02379E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869339" y="3694894"/>
            <a:ext cx="241825" cy="241825"/>
          </a:xfrm>
          <a:prstGeom prst="rect">
            <a:avLst/>
          </a:prstGeom>
        </p:spPr>
      </p:pic>
      <p:pic>
        <p:nvPicPr>
          <p:cNvPr id="63" name="Graphic 62" descr="Badge Tick1 with solid fill">
            <a:extLst>
              <a:ext uri="{FF2B5EF4-FFF2-40B4-BE49-F238E27FC236}">
                <a16:creationId xmlns:a16="http://schemas.microsoft.com/office/drawing/2014/main" id="{15BF9349-C32B-029E-1859-1EA02851292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874217" y="2801897"/>
            <a:ext cx="241825" cy="241825"/>
          </a:xfrm>
          <a:prstGeom prst="rect">
            <a:avLst/>
          </a:prstGeom>
        </p:spPr>
      </p:pic>
      <p:pic>
        <p:nvPicPr>
          <p:cNvPr id="64" name="Graphic 63" descr="Badge Tick1 with solid fill">
            <a:extLst>
              <a:ext uri="{FF2B5EF4-FFF2-40B4-BE49-F238E27FC236}">
                <a16:creationId xmlns:a16="http://schemas.microsoft.com/office/drawing/2014/main" id="{263FF03E-846E-5920-566A-27519C874AB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874217" y="3281005"/>
            <a:ext cx="241825" cy="241825"/>
          </a:xfrm>
          <a:prstGeom prst="rect">
            <a:avLst/>
          </a:prstGeom>
        </p:spPr>
      </p:pic>
      <p:pic>
        <p:nvPicPr>
          <p:cNvPr id="65" name="Graphic 64" descr="Badge Tick1 with solid fill">
            <a:extLst>
              <a:ext uri="{FF2B5EF4-FFF2-40B4-BE49-F238E27FC236}">
                <a16:creationId xmlns:a16="http://schemas.microsoft.com/office/drawing/2014/main" id="{6926CB07-629B-1112-30E1-14B9644AC27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869339" y="4140350"/>
            <a:ext cx="241825" cy="241825"/>
          </a:xfrm>
          <a:prstGeom prst="rect">
            <a:avLst/>
          </a:prstGeom>
        </p:spPr>
      </p:pic>
      <p:pic>
        <p:nvPicPr>
          <p:cNvPr id="66" name="Graphic 65" descr="Badge Tick1 with solid fill">
            <a:extLst>
              <a:ext uri="{FF2B5EF4-FFF2-40B4-BE49-F238E27FC236}">
                <a16:creationId xmlns:a16="http://schemas.microsoft.com/office/drawing/2014/main" id="{C74CCDEC-7FC4-E2AB-E465-D4FFA535C1F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29155" y="2891274"/>
            <a:ext cx="241825" cy="241825"/>
          </a:xfrm>
          <a:prstGeom prst="rect">
            <a:avLst/>
          </a:prstGeom>
        </p:spPr>
      </p:pic>
      <p:pic>
        <p:nvPicPr>
          <p:cNvPr id="67" name="Graphic 66" descr="Badge Tick1 with solid fill">
            <a:extLst>
              <a:ext uri="{FF2B5EF4-FFF2-40B4-BE49-F238E27FC236}">
                <a16:creationId xmlns:a16="http://schemas.microsoft.com/office/drawing/2014/main" id="{48423458-2767-38A5-84C8-2D44569552A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29155" y="3629252"/>
            <a:ext cx="241825" cy="241825"/>
          </a:xfrm>
          <a:prstGeom prst="rect">
            <a:avLst/>
          </a:prstGeom>
        </p:spPr>
      </p:pic>
      <p:pic>
        <p:nvPicPr>
          <p:cNvPr id="68" name="Graphic 67" descr="Badge Tick1 with solid fill">
            <a:extLst>
              <a:ext uri="{FF2B5EF4-FFF2-40B4-BE49-F238E27FC236}">
                <a16:creationId xmlns:a16="http://schemas.microsoft.com/office/drawing/2014/main" id="{94C5542C-ACCD-BE3F-4085-EF1610AD27C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40521" y="2516770"/>
            <a:ext cx="241825" cy="241825"/>
          </a:xfrm>
          <a:prstGeom prst="rect">
            <a:avLst/>
          </a:prstGeom>
        </p:spPr>
      </p:pic>
      <p:pic>
        <p:nvPicPr>
          <p:cNvPr id="69" name="Graphic 68" descr="Badge Tick1 with solid fill">
            <a:extLst>
              <a:ext uri="{FF2B5EF4-FFF2-40B4-BE49-F238E27FC236}">
                <a16:creationId xmlns:a16="http://schemas.microsoft.com/office/drawing/2014/main" id="{C3A00117-F0E6-AAD6-F60F-C263265DFB2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40521" y="2873077"/>
            <a:ext cx="241825" cy="241825"/>
          </a:xfrm>
          <a:prstGeom prst="rect">
            <a:avLst/>
          </a:prstGeom>
        </p:spPr>
      </p:pic>
      <p:pic>
        <p:nvPicPr>
          <p:cNvPr id="70" name="Graphic 69" descr="Badge Tick1 with solid fill">
            <a:extLst>
              <a:ext uri="{FF2B5EF4-FFF2-40B4-BE49-F238E27FC236}">
                <a16:creationId xmlns:a16="http://schemas.microsoft.com/office/drawing/2014/main" id="{AB1CF49C-B191-A59E-0AA7-7218B1271B2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40521" y="3250195"/>
            <a:ext cx="241825" cy="241825"/>
          </a:xfrm>
          <a:prstGeom prst="rect">
            <a:avLst/>
          </a:prstGeom>
        </p:spPr>
      </p:pic>
      <p:pic>
        <p:nvPicPr>
          <p:cNvPr id="71" name="Graphic 70" descr="Badge Tick1 with solid fill">
            <a:extLst>
              <a:ext uri="{FF2B5EF4-FFF2-40B4-BE49-F238E27FC236}">
                <a16:creationId xmlns:a16="http://schemas.microsoft.com/office/drawing/2014/main" id="{F450625F-35A9-1803-1F59-BAC53A43A8C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40521" y="3626032"/>
            <a:ext cx="241825" cy="241825"/>
          </a:xfrm>
          <a:prstGeom prst="rect">
            <a:avLst/>
          </a:prstGeom>
        </p:spPr>
      </p:pic>
      <p:pic>
        <p:nvPicPr>
          <p:cNvPr id="72" name="Graphic 71" descr="Badge Tick1 with solid fill">
            <a:extLst>
              <a:ext uri="{FF2B5EF4-FFF2-40B4-BE49-F238E27FC236}">
                <a16:creationId xmlns:a16="http://schemas.microsoft.com/office/drawing/2014/main" id="{A8FB3204-CF12-19C9-8752-C3FC300B241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40521" y="4336045"/>
            <a:ext cx="241825" cy="241825"/>
          </a:xfrm>
          <a:prstGeom prst="rect">
            <a:avLst/>
          </a:prstGeom>
        </p:spPr>
      </p:pic>
      <p:pic>
        <p:nvPicPr>
          <p:cNvPr id="73" name="Graphic 72" descr="Badge Tick1 with solid fill">
            <a:extLst>
              <a:ext uri="{FF2B5EF4-FFF2-40B4-BE49-F238E27FC236}">
                <a16:creationId xmlns:a16="http://schemas.microsoft.com/office/drawing/2014/main" id="{D1D6A2CD-7C5C-D6B4-3FCD-C047D21A4D4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40521" y="3976650"/>
            <a:ext cx="241825" cy="241825"/>
          </a:xfrm>
          <a:prstGeom prst="rect">
            <a:avLst/>
          </a:prstGeom>
        </p:spPr>
      </p:pic>
      <p:pic>
        <p:nvPicPr>
          <p:cNvPr id="74" name="Graphic 73" descr="Badge Tick1 with solid fill">
            <a:extLst>
              <a:ext uri="{FF2B5EF4-FFF2-40B4-BE49-F238E27FC236}">
                <a16:creationId xmlns:a16="http://schemas.microsoft.com/office/drawing/2014/main" id="{A706A38D-DC5B-F17F-D3C4-1CCF36E1A58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29155" y="3998241"/>
            <a:ext cx="241825" cy="241825"/>
          </a:xfrm>
          <a:prstGeom prst="rect">
            <a:avLst/>
          </a:prstGeom>
        </p:spPr>
      </p:pic>
      <p:pic>
        <p:nvPicPr>
          <p:cNvPr id="75" name="Picture 2">
            <a:extLst>
              <a:ext uri="{FF2B5EF4-FFF2-40B4-BE49-F238E27FC236}">
                <a16:creationId xmlns:a16="http://schemas.microsoft.com/office/drawing/2014/main" id="{1997DADB-CE15-388E-C1C1-CAE7B93E50BC}"/>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1113789" y="3681648"/>
            <a:ext cx="488478" cy="390782"/>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 descr="image">
            <a:extLst>
              <a:ext uri="{FF2B5EF4-FFF2-40B4-BE49-F238E27FC236}">
                <a16:creationId xmlns:a16="http://schemas.microsoft.com/office/drawing/2014/main" id="{EACF7EF6-C3B9-441D-F254-9B972F4F3090}"/>
              </a:ext>
            </a:extLst>
          </p:cNvPr>
          <p:cNvPicPr>
            <a:picLocks noChangeAspect="1" noChangeArrowheads="1"/>
          </p:cNvPicPr>
          <p:nvPr/>
        </p:nvPicPr>
        <p:blipFill>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167857" y="4875707"/>
            <a:ext cx="356378" cy="246940"/>
          </a:xfrm>
          <a:prstGeom prst="rect">
            <a:avLst/>
          </a:prstGeom>
          <a:noFill/>
          <a:extLst>
            <a:ext uri="{909E8E84-426E-40DD-AFC4-6F175D3DCCD1}">
              <a14:hiddenFill xmlns:a14="http://schemas.microsoft.com/office/drawing/2010/main">
                <a:solidFill>
                  <a:srgbClr val="FFFFFF"/>
                </a:solidFill>
              </a14:hiddenFill>
            </a:ext>
          </a:extLst>
        </p:spPr>
      </p:pic>
      <p:pic>
        <p:nvPicPr>
          <p:cNvPr id="77" name="Graphic 76" descr="Badge Tick1 with solid fill">
            <a:extLst>
              <a:ext uri="{FF2B5EF4-FFF2-40B4-BE49-F238E27FC236}">
                <a16:creationId xmlns:a16="http://schemas.microsoft.com/office/drawing/2014/main" id="{4C2B9D6D-A308-1C7E-F23D-8A08AD92C75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46351" y="4149839"/>
            <a:ext cx="241825" cy="241825"/>
          </a:xfrm>
          <a:prstGeom prst="rect">
            <a:avLst/>
          </a:prstGeom>
        </p:spPr>
      </p:pic>
      <p:pic>
        <p:nvPicPr>
          <p:cNvPr id="78" name="Graphic 77" descr="Badge Tick1 with solid fill">
            <a:extLst>
              <a:ext uri="{FF2B5EF4-FFF2-40B4-BE49-F238E27FC236}">
                <a16:creationId xmlns:a16="http://schemas.microsoft.com/office/drawing/2014/main" id="{0E342B38-DE18-54B8-7206-60FE158FEF4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46351" y="4501034"/>
            <a:ext cx="241825" cy="241825"/>
          </a:xfrm>
          <a:prstGeom prst="rect">
            <a:avLst/>
          </a:prstGeom>
        </p:spPr>
      </p:pic>
      <p:pic>
        <p:nvPicPr>
          <p:cNvPr id="79" name="Graphic 78" descr="Badge Tick1 with solid fill">
            <a:extLst>
              <a:ext uri="{FF2B5EF4-FFF2-40B4-BE49-F238E27FC236}">
                <a16:creationId xmlns:a16="http://schemas.microsoft.com/office/drawing/2014/main" id="{87FB8B73-0980-39FB-FEC7-A11A847CFF0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646351" y="5238865"/>
            <a:ext cx="241825" cy="241825"/>
          </a:xfrm>
          <a:prstGeom prst="rect">
            <a:avLst/>
          </a:prstGeom>
        </p:spPr>
      </p:pic>
      <p:pic>
        <p:nvPicPr>
          <p:cNvPr id="80" name="Graphic 79" descr="Badge Tick1 with solid fill">
            <a:extLst>
              <a:ext uri="{FF2B5EF4-FFF2-40B4-BE49-F238E27FC236}">
                <a16:creationId xmlns:a16="http://schemas.microsoft.com/office/drawing/2014/main" id="{939EF811-5FA0-B471-9813-C5A826BF2A5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874217" y="4140350"/>
            <a:ext cx="241825" cy="241825"/>
          </a:xfrm>
          <a:prstGeom prst="rect">
            <a:avLst/>
          </a:prstGeom>
        </p:spPr>
      </p:pic>
      <p:pic>
        <p:nvPicPr>
          <p:cNvPr id="81" name="Graphic 80" descr="Badge Tick1 with solid fill">
            <a:extLst>
              <a:ext uri="{FF2B5EF4-FFF2-40B4-BE49-F238E27FC236}">
                <a16:creationId xmlns:a16="http://schemas.microsoft.com/office/drawing/2014/main" id="{C46A023B-EDF5-3E82-17AE-5E7D3FFDB50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874217" y="3724461"/>
            <a:ext cx="241825" cy="241825"/>
          </a:xfrm>
          <a:prstGeom prst="rect">
            <a:avLst/>
          </a:prstGeom>
        </p:spPr>
      </p:pic>
      <p:pic>
        <p:nvPicPr>
          <p:cNvPr id="82" name="Graphic 81" descr="Badge Tick1 with solid fill">
            <a:extLst>
              <a:ext uri="{FF2B5EF4-FFF2-40B4-BE49-F238E27FC236}">
                <a16:creationId xmlns:a16="http://schemas.microsoft.com/office/drawing/2014/main" id="{EC8A7051-42CB-AE99-A6B3-DF89779FF09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874217" y="5029969"/>
            <a:ext cx="241825" cy="241825"/>
          </a:xfrm>
          <a:prstGeom prst="rect">
            <a:avLst/>
          </a:prstGeom>
        </p:spPr>
      </p:pic>
      <p:grpSp>
        <p:nvGrpSpPr>
          <p:cNvPr id="83" name="Group 82">
            <a:extLst>
              <a:ext uri="{FF2B5EF4-FFF2-40B4-BE49-F238E27FC236}">
                <a16:creationId xmlns:a16="http://schemas.microsoft.com/office/drawing/2014/main" id="{F2598E2F-0894-21F6-67E0-5D2F0735F74F}"/>
              </a:ext>
            </a:extLst>
          </p:cNvPr>
          <p:cNvGrpSpPr/>
          <p:nvPr/>
        </p:nvGrpSpPr>
        <p:grpSpPr>
          <a:xfrm>
            <a:off x="10988038" y="6143991"/>
            <a:ext cx="612015" cy="292608"/>
            <a:chOff x="10540824" y="6492071"/>
            <a:chExt cx="612015" cy="292608"/>
          </a:xfrm>
        </p:grpSpPr>
        <p:pic>
          <p:nvPicPr>
            <p:cNvPr id="84" name="Graphic 135">
              <a:extLst>
                <a:ext uri="{FF2B5EF4-FFF2-40B4-BE49-F238E27FC236}">
                  <a16:creationId xmlns:a16="http://schemas.microsoft.com/office/drawing/2014/main" id="{5DB9CBAE-D16A-8660-D2D7-9C8F68F8DDB6}"/>
                </a:ext>
              </a:extLst>
            </p:cNvPr>
            <p:cNvPicPr>
              <a:picLocks noChangeAspect="1"/>
            </p:cNvPicPr>
            <p:nvPr/>
          </p:nvPicPr>
          <p:blipFill>
            <a:blip r:embed="rId21" cstate="email">
              <a:lum bright="70000" contrast="-70000"/>
              <a:extLst>
                <a:ext uri="{28A0092B-C50C-407E-A947-70E740481C1C}">
                  <a14:useLocalDpi xmlns:a14="http://schemas.microsoft.com/office/drawing/2010/main"/>
                </a:ext>
              </a:extLst>
            </a:blip>
            <a:srcRect/>
            <a:stretch/>
          </p:blipFill>
          <p:spPr>
            <a:xfrm>
              <a:off x="10540824" y="6492071"/>
              <a:ext cx="292608" cy="292608"/>
            </a:xfrm>
            <a:prstGeom prst="rect">
              <a:avLst/>
            </a:prstGeom>
          </p:spPr>
        </p:pic>
        <p:sp>
          <p:nvSpPr>
            <p:cNvPr id="85" name="Rectangle 84">
              <a:extLst>
                <a:ext uri="{FF2B5EF4-FFF2-40B4-BE49-F238E27FC236}">
                  <a16:creationId xmlns:a16="http://schemas.microsoft.com/office/drawing/2014/main" id="{CCB390C1-0651-8985-684B-77DB81B83320}"/>
                </a:ext>
              </a:extLst>
            </p:cNvPr>
            <p:cNvSpPr/>
            <p:nvPr/>
          </p:nvSpPr>
          <p:spPr>
            <a:xfrm>
              <a:off x="10885137" y="6553737"/>
              <a:ext cx="267702" cy="16927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anrope" pitchFamily="2" charset="0"/>
                </a:rPr>
                <a:t>N/A</a:t>
              </a:r>
            </a:p>
          </p:txBody>
        </p:sp>
      </p:grpSp>
      <p:grpSp>
        <p:nvGrpSpPr>
          <p:cNvPr id="86" name="Group 85">
            <a:extLst>
              <a:ext uri="{FF2B5EF4-FFF2-40B4-BE49-F238E27FC236}">
                <a16:creationId xmlns:a16="http://schemas.microsoft.com/office/drawing/2014/main" id="{A7F7B35B-F4C1-729B-9EC7-AE14F1DC75C5}"/>
              </a:ext>
            </a:extLst>
          </p:cNvPr>
          <p:cNvGrpSpPr/>
          <p:nvPr/>
        </p:nvGrpSpPr>
        <p:grpSpPr>
          <a:xfrm>
            <a:off x="8796338" y="6143991"/>
            <a:ext cx="2316936" cy="292608"/>
            <a:chOff x="8562212" y="6492071"/>
            <a:chExt cx="2316936" cy="292608"/>
          </a:xfrm>
        </p:grpSpPr>
        <p:sp>
          <p:nvSpPr>
            <p:cNvPr id="87" name="Rectangle 86">
              <a:extLst>
                <a:ext uri="{FF2B5EF4-FFF2-40B4-BE49-F238E27FC236}">
                  <a16:creationId xmlns:a16="http://schemas.microsoft.com/office/drawing/2014/main" id="{1558296C-F645-5894-400B-7D2AF1FA784B}"/>
                </a:ext>
              </a:extLst>
            </p:cNvPr>
            <p:cNvSpPr/>
            <p:nvPr/>
          </p:nvSpPr>
          <p:spPr>
            <a:xfrm>
              <a:off x="8906524" y="6553738"/>
              <a:ext cx="1972624" cy="16927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anrope" pitchFamily="2" charset="0"/>
                </a:rPr>
                <a:t>Automated Conversion</a:t>
              </a:r>
            </a:p>
          </p:txBody>
        </p:sp>
        <p:pic>
          <p:nvPicPr>
            <p:cNvPr id="88" name="Graphic 87" descr="Badge Tick1 with solid fill">
              <a:extLst>
                <a:ext uri="{FF2B5EF4-FFF2-40B4-BE49-F238E27FC236}">
                  <a16:creationId xmlns:a16="http://schemas.microsoft.com/office/drawing/2014/main" id="{0E20A628-3CE2-62A1-F1E7-5D5CF93E97D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562212" y="6492071"/>
              <a:ext cx="292608" cy="292608"/>
            </a:xfrm>
            <a:prstGeom prst="rect">
              <a:avLst/>
            </a:prstGeom>
          </p:spPr>
        </p:pic>
      </p:grpSp>
      <p:sp>
        <p:nvSpPr>
          <p:cNvPr id="89" name="Rectangle 88">
            <a:extLst>
              <a:ext uri="{FF2B5EF4-FFF2-40B4-BE49-F238E27FC236}">
                <a16:creationId xmlns:a16="http://schemas.microsoft.com/office/drawing/2014/main" id="{1A15D06C-B07D-C371-1D76-448367AA9BDE}"/>
              </a:ext>
            </a:extLst>
          </p:cNvPr>
          <p:cNvSpPr/>
          <p:nvPr/>
        </p:nvSpPr>
        <p:spPr>
          <a:xfrm>
            <a:off x="7151419" y="6205657"/>
            <a:ext cx="1521207" cy="16927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anrope" pitchFamily="2" charset="0"/>
              </a:rPr>
              <a:t>Automated Analysis</a:t>
            </a:r>
          </a:p>
        </p:txBody>
      </p:sp>
      <p:pic>
        <p:nvPicPr>
          <p:cNvPr id="90" name="Graphic 89" descr="Badge Tick1 with solid fill">
            <a:extLst>
              <a:ext uri="{FF2B5EF4-FFF2-40B4-BE49-F238E27FC236}">
                <a16:creationId xmlns:a16="http://schemas.microsoft.com/office/drawing/2014/main" id="{054F6F30-0706-3D9D-19A7-5A1F35C79EC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807108" y="6143991"/>
            <a:ext cx="292608" cy="292608"/>
          </a:xfrm>
          <a:prstGeom prst="rect">
            <a:avLst/>
          </a:prstGeom>
        </p:spPr>
      </p:pic>
      <p:pic>
        <p:nvPicPr>
          <p:cNvPr id="91" name="Graphic 90" descr="Badge Tick1 with solid fill">
            <a:extLst>
              <a:ext uri="{FF2B5EF4-FFF2-40B4-BE49-F238E27FC236}">
                <a16:creationId xmlns:a16="http://schemas.microsoft.com/office/drawing/2014/main" id="{3EA2753D-3178-66EB-87C2-4F46D8D26CA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29155" y="3260263"/>
            <a:ext cx="241825" cy="241825"/>
          </a:xfrm>
          <a:prstGeom prst="rect">
            <a:avLst/>
          </a:prstGeom>
        </p:spPr>
      </p:pic>
      <p:pic>
        <p:nvPicPr>
          <p:cNvPr id="92" name="Graphic 91" descr="Badge Tick1 with solid fill">
            <a:extLst>
              <a:ext uri="{FF2B5EF4-FFF2-40B4-BE49-F238E27FC236}">
                <a16:creationId xmlns:a16="http://schemas.microsoft.com/office/drawing/2014/main" id="{2C255694-BA52-5712-569F-A0FF2E52F26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29155" y="4367232"/>
            <a:ext cx="241825" cy="241825"/>
          </a:xfrm>
          <a:prstGeom prst="rect">
            <a:avLst/>
          </a:prstGeom>
        </p:spPr>
      </p:pic>
      <p:pic>
        <p:nvPicPr>
          <p:cNvPr id="93" name="Graphic 92" descr="Badge Tick1 with solid fill">
            <a:extLst>
              <a:ext uri="{FF2B5EF4-FFF2-40B4-BE49-F238E27FC236}">
                <a16:creationId xmlns:a16="http://schemas.microsoft.com/office/drawing/2014/main" id="{C42D6F5D-7800-BA2E-9494-16813275EB3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29155" y="2522285"/>
            <a:ext cx="241825" cy="241825"/>
          </a:xfrm>
          <a:prstGeom prst="rect">
            <a:avLst/>
          </a:prstGeom>
        </p:spPr>
      </p:pic>
      <p:pic>
        <p:nvPicPr>
          <p:cNvPr id="94" name="Picture 2" descr="Dr. Fisseha Berhane">
            <a:extLst>
              <a:ext uri="{FF2B5EF4-FFF2-40B4-BE49-F238E27FC236}">
                <a16:creationId xmlns:a16="http://schemas.microsoft.com/office/drawing/2014/main" id="{E856F7AB-EB5C-45B7-8619-AC06471FD24A}"/>
              </a:ext>
            </a:extLst>
          </p:cNvPr>
          <p:cNvPicPr>
            <a:picLocks noChangeAspect="1" noChangeArrowheads="1"/>
          </p:cNvPicPr>
          <p:nvPr/>
        </p:nvPicPr>
        <p:blipFill rotWithShape="1">
          <a:blip r:embed="rId22" cstate="email">
            <a:extLst>
              <a:ext uri="{28A0092B-C50C-407E-A947-70E740481C1C}">
                <a14:useLocalDpi xmlns:a14="http://schemas.microsoft.com/office/drawing/2010/main"/>
              </a:ext>
            </a:extLst>
          </a:blip>
          <a:srcRect t="-4091"/>
          <a:stretch/>
        </p:blipFill>
        <p:spPr bwMode="auto">
          <a:xfrm>
            <a:off x="4573432" y="4554450"/>
            <a:ext cx="293777" cy="345846"/>
          </a:xfrm>
          <a:prstGeom prst="rect">
            <a:avLst/>
          </a:prstGeom>
          <a:noFill/>
          <a:extLst>
            <a:ext uri="{909E8E84-426E-40DD-AFC4-6F175D3DCCD1}">
              <a14:hiddenFill xmlns:a14="http://schemas.microsoft.com/office/drawing/2010/main">
                <a:solidFill>
                  <a:srgbClr val="FFFFFF"/>
                </a:solidFill>
              </a14:hiddenFill>
            </a:ext>
          </a:extLst>
        </p:spPr>
      </p:pic>
      <p:pic>
        <p:nvPicPr>
          <p:cNvPr id="95" name="Graphic 94" descr="Badge Tick1 with solid fill">
            <a:extLst>
              <a:ext uri="{FF2B5EF4-FFF2-40B4-BE49-F238E27FC236}">
                <a16:creationId xmlns:a16="http://schemas.microsoft.com/office/drawing/2014/main" id="{9C72247E-DF2F-8ABA-DBA7-C3E792C3178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874217" y="4594655"/>
            <a:ext cx="241825" cy="241825"/>
          </a:xfrm>
          <a:prstGeom prst="rect">
            <a:avLst/>
          </a:prstGeom>
        </p:spPr>
      </p:pic>
      <p:sp>
        <p:nvSpPr>
          <p:cNvPr id="10" name="Rectangle 9">
            <a:extLst>
              <a:ext uri="{FF2B5EF4-FFF2-40B4-BE49-F238E27FC236}">
                <a16:creationId xmlns:a16="http://schemas.microsoft.com/office/drawing/2014/main" id="{6574D4EB-7D04-8EF5-3C52-D4931F8F6DB4}"/>
              </a:ext>
            </a:extLst>
          </p:cNvPr>
          <p:cNvSpPr/>
          <p:nvPr/>
        </p:nvSpPr>
        <p:spPr>
          <a:xfrm>
            <a:off x="4291125" y="997737"/>
            <a:ext cx="3181326" cy="3386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Manrope" pitchFamily="2" charset="0"/>
              </a:rPr>
              <a:t>Data Pipelines</a:t>
            </a:r>
          </a:p>
        </p:txBody>
      </p:sp>
      <p:sp>
        <p:nvSpPr>
          <p:cNvPr id="14" name="Rectangle 13">
            <a:extLst>
              <a:ext uri="{FF2B5EF4-FFF2-40B4-BE49-F238E27FC236}">
                <a16:creationId xmlns:a16="http://schemas.microsoft.com/office/drawing/2014/main" id="{932006F2-E6F8-B441-8F15-B7EABB0CECEF}"/>
              </a:ext>
            </a:extLst>
          </p:cNvPr>
          <p:cNvSpPr/>
          <p:nvPr/>
        </p:nvSpPr>
        <p:spPr>
          <a:xfrm>
            <a:off x="8376404" y="997737"/>
            <a:ext cx="3181326" cy="3386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Manrope" pitchFamily="2" charset="0"/>
              </a:rPr>
              <a:t>Data Visualization</a:t>
            </a:r>
          </a:p>
        </p:txBody>
      </p:sp>
      <p:sp>
        <p:nvSpPr>
          <p:cNvPr id="5" name="Text Placeholder 4">
            <a:extLst>
              <a:ext uri="{FF2B5EF4-FFF2-40B4-BE49-F238E27FC236}">
                <a16:creationId xmlns:a16="http://schemas.microsoft.com/office/drawing/2014/main" id="{1EA98DC4-9EFF-C6FF-51DD-7E8586F58112}"/>
              </a:ext>
            </a:extLst>
          </p:cNvPr>
          <p:cNvSpPr>
            <a:spLocks noGrp="1"/>
          </p:cNvSpPr>
          <p:nvPr>
            <p:ph type="body" sz="quarter" idx="15"/>
          </p:nvPr>
        </p:nvSpPr>
        <p:spPr>
          <a:xfrm flipH="1">
            <a:off x="623888" y="457200"/>
            <a:ext cx="8172450" cy="244101"/>
          </a:xfrm>
        </p:spPr>
        <p:txBody>
          <a:bodyPr/>
          <a:lstStyle/>
          <a:p>
            <a:r>
              <a:rPr kumimoji="0" lang="en-US" sz="1500" b="0" i="0" u="none" strike="noStrike" kern="1200" cap="none" spc="0" normalizeH="0" baseline="0" noProof="0">
                <a:ln>
                  <a:noFill/>
                </a:ln>
                <a:solidFill>
                  <a:srgbClr val="000000"/>
                </a:solidFill>
                <a:effectLst/>
                <a:uLnTx/>
                <a:uFillTx/>
                <a:latin typeface="Manrope"/>
              </a:rPr>
              <a:t>Amaze® for Migration – Snowflake Ecosystem</a:t>
            </a:r>
          </a:p>
        </p:txBody>
      </p:sp>
      <p:sp>
        <p:nvSpPr>
          <p:cNvPr id="8" name="Rectangle 7">
            <a:extLst>
              <a:ext uri="{FF2B5EF4-FFF2-40B4-BE49-F238E27FC236}">
                <a16:creationId xmlns:a16="http://schemas.microsoft.com/office/drawing/2014/main" id="{9B98D264-8F44-7E3E-E639-30C5B1E39944}"/>
              </a:ext>
            </a:extLst>
          </p:cNvPr>
          <p:cNvSpPr/>
          <p:nvPr/>
        </p:nvSpPr>
        <p:spPr>
          <a:xfrm>
            <a:off x="865086" y="997737"/>
            <a:ext cx="2527391" cy="3386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Manrope" pitchFamily="2" charset="0"/>
              </a:rPr>
              <a:t>Data</a:t>
            </a:r>
            <a:endParaRPr kumimoji="0" lang="en-US" sz="1600" b="0" i="0" u="none" strike="noStrike" kern="1200" cap="none" spc="0" normalizeH="0" baseline="0" noProof="0">
              <a:ln>
                <a:noFill/>
              </a:ln>
              <a:solidFill>
                <a:srgbClr val="FFFFFF"/>
              </a:solidFill>
              <a:effectLst/>
              <a:uLnTx/>
              <a:uFillTx/>
              <a:latin typeface="Manrope" pitchFamily="2" charset="0"/>
            </a:endParaRPr>
          </a:p>
        </p:txBody>
      </p:sp>
      <p:grpSp>
        <p:nvGrpSpPr>
          <p:cNvPr id="15" name="Group 14">
            <a:extLst>
              <a:ext uri="{FF2B5EF4-FFF2-40B4-BE49-F238E27FC236}">
                <a16:creationId xmlns:a16="http://schemas.microsoft.com/office/drawing/2014/main" id="{3CDC31AE-7159-6A77-1890-5B3731719315}"/>
              </a:ext>
            </a:extLst>
          </p:cNvPr>
          <p:cNvGrpSpPr/>
          <p:nvPr/>
        </p:nvGrpSpPr>
        <p:grpSpPr>
          <a:xfrm>
            <a:off x="577961" y="841317"/>
            <a:ext cx="648880" cy="648880"/>
            <a:chOff x="577961" y="841317"/>
            <a:chExt cx="648880" cy="648880"/>
          </a:xfrm>
        </p:grpSpPr>
        <p:sp>
          <p:nvSpPr>
            <p:cNvPr id="6" name="Oval 5">
              <a:extLst>
                <a:ext uri="{FF2B5EF4-FFF2-40B4-BE49-F238E27FC236}">
                  <a16:creationId xmlns:a16="http://schemas.microsoft.com/office/drawing/2014/main" id="{905F86FA-B27F-063C-3738-175D0D84CFFF}"/>
                </a:ext>
              </a:extLst>
            </p:cNvPr>
            <p:cNvSpPr/>
            <p:nvPr/>
          </p:nvSpPr>
          <p:spPr>
            <a:xfrm>
              <a:off x="577961" y="841317"/>
              <a:ext cx="648880" cy="648880"/>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D9A7256-CA11-2E0D-6C2C-401861A6AEFF}"/>
                </a:ext>
              </a:extLst>
            </p:cNvPr>
            <p:cNvSpPr/>
            <p:nvPr/>
          </p:nvSpPr>
          <p:spPr>
            <a:xfrm>
              <a:off x="634270" y="897625"/>
              <a:ext cx="536265" cy="53626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Freeform 11">
            <a:extLst>
              <a:ext uri="{FF2B5EF4-FFF2-40B4-BE49-F238E27FC236}">
                <a16:creationId xmlns:a16="http://schemas.microsoft.com/office/drawing/2014/main" id="{671A333D-FCAA-8FF3-1391-22F9D3686F21}"/>
              </a:ext>
            </a:extLst>
          </p:cNvPr>
          <p:cNvSpPr>
            <a:spLocks noEditPoints="1"/>
          </p:cNvSpPr>
          <p:nvPr/>
        </p:nvSpPr>
        <p:spPr bwMode="auto">
          <a:xfrm>
            <a:off x="772842" y="1004975"/>
            <a:ext cx="261213" cy="307542"/>
          </a:xfrm>
          <a:custGeom>
            <a:avLst/>
            <a:gdLst>
              <a:gd name="T0" fmla="*/ 1502 w 5303"/>
              <a:gd name="T1" fmla="*/ 814 h 6230"/>
              <a:gd name="T2" fmla="*/ 477 w 5303"/>
              <a:gd name="T3" fmla="*/ 1104 h 6230"/>
              <a:gd name="T4" fmla="*/ 1 w 5303"/>
              <a:gd name="T5" fmla="*/ 3544 h 6230"/>
              <a:gd name="T6" fmla="*/ 1533 w 5303"/>
              <a:gd name="T7" fmla="*/ 6214 h 6230"/>
              <a:gd name="T8" fmla="*/ 4045 w 5303"/>
              <a:gd name="T9" fmla="*/ 5333 h 6230"/>
              <a:gd name="T10" fmla="*/ 5302 w 5303"/>
              <a:gd name="T11" fmla="*/ 4679 h 6230"/>
              <a:gd name="T12" fmla="*/ 5265 w 5303"/>
              <a:gd name="T13" fmla="*/ 632 h 6230"/>
              <a:gd name="T14" fmla="*/ 3381 w 5303"/>
              <a:gd name="T15" fmla="*/ 269 h 6230"/>
              <a:gd name="T16" fmla="*/ 5019 w 5303"/>
              <a:gd name="T17" fmla="*/ 790 h 6230"/>
              <a:gd name="T18" fmla="*/ 3614 w 5303"/>
              <a:gd name="T19" fmla="*/ 1193 h 6230"/>
              <a:gd name="T20" fmla="*/ 2004 w 5303"/>
              <a:gd name="T21" fmla="*/ 856 h 6230"/>
              <a:gd name="T22" fmla="*/ 3381 w 5303"/>
              <a:gd name="T23" fmla="*/ 269 h 6230"/>
              <a:gd name="T24" fmla="*/ 5039 w 5303"/>
              <a:gd name="T25" fmla="*/ 2067 h 6230"/>
              <a:gd name="T26" fmla="*/ 3832 w 5303"/>
              <a:gd name="T27" fmla="*/ 2464 h 6230"/>
              <a:gd name="T28" fmla="*/ 3777 w 5303"/>
              <a:gd name="T29" fmla="*/ 1532 h 6230"/>
              <a:gd name="T30" fmla="*/ 4936 w 5303"/>
              <a:gd name="T31" fmla="*/ 1146 h 6230"/>
              <a:gd name="T32" fmla="*/ 3377 w 5303"/>
              <a:gd name="T33" fmla="*/ 1418 h 6230"/>
              <a:gd name="T34" fmla="*/ 3053 w 5303"/>
              <a:gd name="T35" fmla="*/ 1882 h 6230"/>
              <a:gd name="T36" fmla="*/ 685 w 5303"/>
              <a:gd name="T37" fmla="*/ 1869 h 6230"/>
              <a:gd name="T38" fmla="*/ 714 w 5303"/>
              <a:gd name="T39" fmla="*/ 1276 h 6230"/>
              <a:gd name="T40" fmla="*/ 3527 w 5303"/>
              <a:gd name="T41" fmla="*/ 2895 h 6230"/>
              <a:gd name="T42" fmla="*/ 1553 w 5303"/>
              <a:gd name="T43" fmla="*/ 3327 h 6230"/>
              <a:gd name="T44" fmla="*/ 264 w 5303"/>
              <a:gd name="T45" fmla="*/ 2912 h 6230"/>
              <a:gd name="T46" fmla="*/ 390 w 5303"/>
              <a:gd name="T47" fmla="*/ 2026 h 6230"/>
              <a:gd name="T48" fmla="*/ 5039 w 5303"/>
              <a:gd name="T49" fmla="*/ 2365 h 6230"/>
              <a:gd name="T50" fmla="*/ 4747 w 5303"/>
              <a:gd name="T51" fmla="*/ 3530 h 6230"/>
              <a:gd name="T52" fmla="*/ 3802 w 5303"/>
              <a:gd name="T53" fmla="*/ 3743 h 6230"/>
              <a:gd name="T54" fmla="*/ 3892 w 5303"/>
              <a:gd name="T55" fmla="*/ 2723 h 6230"/>
              <a:gd name="T56" fmla="*/ 5039 w 5303"/>
              <a:gd name="T57" fmla="*/ 2365 h 6230"/>
              <a:gd name="T58" fmla="*/ 845 w 5303"/>
              <a:gd name="T59" fmla="*/ 2944 h 6230"/>
              <a:gd name="T60" fmla="*/ 3530 w 5303"/>
              <a:gd name="T61" fmla="*/ 3229 h 6230"/>
              <a:gd name="T62" fmla="*/ 3483 w 5303"/>
              <a:gd name="T63" fmla="*/ 4222 h 6230"/>
              <a:gd name="T64" fmla="*/ 1602 w 5303"/>
              <a:gd name="T65" fmla="*/ 4606 h 6230"/>
              <a:gd name="T66" fmla="*/ 264 w 5303"/>
              <a:gd name="T67" fmla="*/ 4187 h 6230"/>
              <a:gd name="T68" fmla="*/ 401 w 5303"/>
              <a:gd name="T69" fmla="*/ 3307 h 6230"/>
              <a:gd name="T70" fmla="*/ 5030 w 5303"/>
              <a:gd name="T71" fmla="*/ 3654 h 6230"/>
              <a:gd name="T72" fmla="*/ 4149 w 5303"/>
              <a:gd name="T73" fmla="*/ 5057 h 6230"/>
              <a:gd name="T74" fmla="*/ 3805 w 5303"/>
              <a:gd name="T75" fmla="*/ 4552 h 6230"/>
              <a:gd name="T76" fmla="*/ 4364 w 5303"/>
              <a:gd name="T77" fmla="*/ 3915 h 6230"/>
              <a:gd name="T78" fmla="*/ 843 w 5303"/>
              <a:gd name="T79" fmla="*/ 3671 h 6230"/>
              <a:gd name="T80" fmla="*/ 1110 w 5303"/>
              <a:gd name="T81" fmla="*/ 3942 h 6230"/>
              <a:gd name="T82" fmla="*/ 3534 w 5303"/>
              <a:gd name="T83" fmla="*/ 4502 h 6230"/>
              <a:gd name="T84" fmla="*/ 3282 w 5303"/>
              <a:gd name="T85" fmla="*/ 5724 h 6230"/>
              <a:gd name="T86" fmla="*/ 1010 w 5303"/>
              <a:gd name="T87" fmla="*/ 5882 h 6230"/>
              <a:gd name="T88" fmla="*/ 269 w 5303"/>
              <a:gd name="T89" fmla="*/ 4514 h 6230"/>
              <a:gd name="T90" fmla="*/ 2370 w 5303"/>
              <a:gd name="T91" fmla="*/ 4854 h 6230"/>
              <a:gd name="T92" fmla="*/ 843 w 5303"/>
              <a:gd name="T93" fmla="*/ 5039 h 6230"/>
              <a:gd name="T94" fmla="*/ 1110 w 5303"/>
              <a:gd name="T95" fmla="*/ 5310 h 6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303" h="6230">
                <a:moveTo>
                  <a:pt x="3442" y="6"/>
                </a:moveTo>
                <a:cubicBezTo>
                  <a:pt x="2725" y="0"/>
                  <a:pt x="2042" y="151"/>
                  <a:pt x="1719" y="413"/>
                </a:cubicBezTo>
                <a:cubicBezTo>
                  <a:pt x="1587" y="520"/>
                  <a:pt x="1502" y="677"/>
                  <a:pt x="1502" y="814"/>
                </a:cubicBezTo>
                <a:lnTo>
                  <a:pt x="1502" y="871"/>
                </a:lnTo>
                <a:lnTo>
                  <a:pt x="1354" y="887"/>
                </a:lnTo>
                <a:cubicBezTo>
                  <a:pt x="1057" y="918"/>
                  <a:pt x="684" y="1010"/>
                  <a:pt x="477" y="1104"/>
                </a:cubicBezTo>
                <a:cubicBezTo>
                  <a:pt x="264" y="1200"/>
                  <a:pt x="106" y="1336"/>
                  <a:pt x="38" y="1482"/>
                </a:cubicBezTo>
                <a:lnTo>
                  <a:pt x="0" y="1563"/>
                </a:lnTo>
                <a:lnTo>
                  <a:pt x="1" y="3544"/>
                </a:lnTo>
                <a:lnTo>
                  <a:pt x="2" y="5526"/>
                </a:lnTo>
                <a:lnTo>
                  <a:pt x="31" y="5592"/>
                </a:lnTo>
                <a:cubicBezTo>
                  <a:pt x="178" y="5921"/>
                  <a:pt x="725" y="6148"/>
                  <a:pt x="1533" y="6214"/>
                </a:cubicBezTo>
                <a:cubicBezTo>
                  <a:pt x="1728" y="6230"/>
                  <a:pt x="2240" y="6220"/>
                  <a:pt x="2439" y="6196"/>
                </a:cubicBezTo>
                <a:cubicBezTo>
                  <a:pt x="3275" y="6096"/>
                  <a:pt x="3767" y="5826"/>
                  <a:pt x="3798" y="5451"/>
                </a:cubicBezTo>
                <a:cubicBezTo>
                  <a:pt x="3806" y="5351"/>
                  <a:pt x="3774" y="5367"/>
                  <a:pt x="4045" y="5333"/>
                </a:cubicBezTo>
                <a:cubicBezTo>
                  <a:pt x="4253" y="5308"/>
                  <a:pt x="4457" y="5263"/>
                  <a:pt x="4641" y="5202"/>
                </a:cubicBezTo>
                <a:cubicBezTo>
                  <a:pt x="4970" y="5093"/>
                  <a:pt x="5173" y="4948"/>
                  <a:pt x="5264" y="4758"/>
                </a:cubicBezTo>
                <a:lnTo>
                  <a:pt x="5302" y="4679"/>
                </a:lnTo>
                <a:lnTo>
                  <a:pt x="5302" y="2696"/>
                </a:lnTo>
                <a:lnTo>
                  <a:pt x="5303" y="712"/>
                </a:lnTo>
                <a:lnTo>
                  <a:pt x="5265" y="632"/>
                </a:lnTo>
                <a:cubicBezTo>
                  <a:pt x="5138" y="361"/>
                  <a:pt x="4753" y="164"/>
                  <a:pt x="4158" y="66"/>
                </a:cubicBezTo>
                <a:cubicBezTo>
                  <a:pt x="3923" y="27"/>
                  <a:pt x="3681" y="8"/>
                  <a:pt x="3442" y="6"/>
                </a:cubicBezTo>
                <a:close/>
                <a:moveTo>
                  <a:pt x="3381" y="269"/>
                </a:moveTo>
                <a:cubicBezTo>
                  <a:pt x="3807" y="267"/>
                  <a:pt x="4235" y="313"/>
                  <a:pt x="4549" y="409"/>
                </a:cubicBezTo>
                <a:cubicBezTo>
                  <a:pt x="4786" y="481"/>
                  <a:pt x="4968" y="599"/>
                  <a:pt x="5020" y="713"/>
                </a:cubicBezTo>
                <a:cubicBezTo>
                  <a:pt x="5042" y="763"/>
                  <a:pt x="5042" y="765"/>
                  <a:pt x="5019" y="790"/>
                </a:cubicBezTo>
                <a:cubicBezTo>
                  <a:pt x="4982" y="832"/>
                  <a:pt x="4842" y="908"/>
                  <a:pt x="4693" y="970"/>
                </a:cubicBezTo>
                <a:cubicBezTo>
                  <a:pt x="4451" y="1069"/>
                  <a:pt x="4186" y="1134"/>
                  <a:pt x="3889" y="1169"/>
                </a:cubicBezTo>
                <a:cubicBezTo>
                  <a:pt x="3803" y="1179"/>
                  <a:pt x="3679" y="1190"/>
                  <a:pt x="3614" y="1193"/>
                </a:cubicBezTo>
                <a:lnTo>
                  <a:pt x="3495" y="1199"/>
                </a:lnTo>
                <a:lnTo>
                  <a:pt x="3370" y="1134"/>
                </a:lnTo>
                <a:cubicBezTo>
                  <a:pt x="3053" y="970"/>
                  <a:pt x="2605" y="879"/>
                  <a:pt x="2004" y="856"/>
                </a:cubicBezTo>
                <a:cubicBezTo>
                  <a:pt x="1750" y="847"/>
                  <a:pt x="1757" y="850"/>
                  <a:pt x="1782" y="750"/>
                </a:cubicBezTo>
                <a:cubicBezTo>
                  <a:pt x="1816" y="616"/>
                  <a:pt x="1963" y="509"/>
                  <a:pt x="2232" y="421"/>
                </a:cubicBezTo>
                <a:cubicBezTo>
                  <a:pt x="2533" y="322"/>
                  <a:pt x="2956" y="271"/>
                  <a:pt x="3381" y="269"/>
                </a:cubicBezTo>
                <a:close/>
                <a:moveTo>
                  <a:pt x="5039" y="1091"/>
                </a:moveTo>
                <a:lnTo>
                  <a:pt x="5039" y="1579"/>
                </a:lnTo>
                <a:lnTo>
                  <a:pt x="5039" y="2067"/>
                </a:lnTo>
                <a:lnTo>
                  <a:pt x="4993" y="2109"/>
                </a:lnTo>
                <a:cubicBezTo>
                  <a:pt x="4846" y="2244"/>
                  <a:pt x="4427" y="2386"/>
                  <a:pt x="4004" y="2445"/>
                </a:cubicBezTo>
                <a:cubicBezTo>
                  <a:pt x="3927" y="2455"/>
                  <a:pt x="3849" y="2464"/>
                  <a:pt x="3832" y="2464"/>
                </a:cubicBezTo>
                <a:lnTo>
                  <a:pt x="3802" y="2464"/>
                </a:lnTo>
                <a:lnTo>
                  <a:pt x="3802" y="2035"/>
                </a:lnTo>
                <a:cubicBezTo>
                  <a:pt x="3802" y="1644"/>
                  <a:pt x="3799" y="1599"/>
                  <a:pt x="3777" y="1532"/>
                </a:cubicBezTo>
                <a:cubicBezTo>
                  <a:pt x="3764" y="1492"/>
                  <a:pt x="3755" y="1456"/>
                  <a:pt x="3758" y="1454"/>
                </a:cubicBezTo>
                <a:cubicBezTo>
                  <a:pt x="3760" y="1451"/>
                  <a:pt x="3809" y="1444"/>
                  <a:pt x="3866" y="1438"/>
                </a:cubicBezTo>
                <a:cubicBezTo>
                  <a:pt x="4275" y="1393"/>
                  <a:pt x="4676" y="1284"/>
                  <a:pt x="4936" y="1146"/>
                </a:cubicBezTo>
                <a:lnTo>
                  <a:pt x="5039" y="1091"/>
                </a:lnTo>
                <a:close/>
                <a:moveTo>
                  <a:pt x="1891" y="1120"/>
                </a:moveTo>
                <a:cubicBezTo>
                  <a:pt x="2517" y="1120"/>
                  <a:pt x="3136" y="1225"/>
                  <a:pt x="3377" y="1418"/>
                </a:cubicBezTo>
                <a:cubicBezTo>
                  <a:pt x="3467" y="1490"/>
                  <a:pt x="3501" y="1530"/>
                  <a:pt x="3517" y="1581"/>
                </a:cubicBezTo>
                <a:cubicBezTo>
                  <a:pt x="3531" y="1628"/>
                  <a:pt x="3530" y="1631"/>
                  <a:pt x="3488" y="1666"/>
                </a:cubicBezTo>
                <a:cubicBezTo>
                  <a:pt x="3424" y="1720"/>
                  <a:pt x="3199" y="1831"/>
                  <a:pt x="3053" y="1882"/>
                </a:cubicBezTo>
                <a:cubicBezTo>
                  <a:pt x="2830" y="1959"/>
                  <a:pt x="2641" y="2002"/>
                  <a:pt x="2377" y="2033"/>
                </a:cubicBezTo>
                <a:cubicBezTo>
                  <a:pt x="2223" y="2052"/>
                  <a:pt x="1786" y="2066"/>
                  <a:pt x="1652" y="2057"/>
                </a:cubicBezTo>
                <a:cubicBezTo>
                  <a:pt x="1269" y="2031"/>
                  <a:pt x="945" y="1968"/>
                  <a:pt x="685" y="1869"/>
                </a:cubicBezTo>
                <a:cubicBezTo>
                  <a:pt x="539" y="1813"/>
                  <a:pt x="366" y="1723"/>
                  <a:pt x="308" y="1673"/>
                </a:cubicBezTo>
                <a:cubicBezTo>
                  <a:pt x="262" y="1633"/>
                  <a:pt x="261" y="1631"/>
                  <a:pt x="276" y="1586"/>
                </a:cubicBezTo>
                <a:cubicBezTo>
                  <a:pt x="315" y="1467"/>
                  <a:pt x="468" y="1359"/>
                  <a:pt x="714" y="1276"/>
                </a:cubicBezTo>
                <a:cubicBezTo>
                  <a:pt x="1030" y="1170"/>
                  <a:pt x="1462" y="1120"/>
                  <a:pt x="1891" y="1120"/>
                </a:cubicBezTo>
                <a:close/>
                <a:moveTo>
                  <a:pt x="3533" y="1952"/>
                </a:moveTo>
                <a:cubicBezTo>
                  <a:pt x="3545" y="1952"/>
                  <a:pt x="3539" y="2862"/>
                  <a:pt x="3527" y="2895"/>
                </a:cubicBezTo>
                <a:cubicBezTo>
                  <a:pt x="3500" y="2966"/>
                  <a:pt x="3202" y="3118"/>
                  <a:pt x="2930" y="3199"/>
                </a:cubicBezTo>
                <a:cubicBezTo>
                  <a:pt x="2777" y="3245"/>
                  <a:pt x="2596" y="3282"/>
                  <a:pt x="2395" y="3308"/>
                </a:cubicBezTo>
                <a:cubicBezTo>
                  <a:pt x="2218" y="3332"/>
                  <a:pt x="1737" y="3342"/>
                  <a:pt x="1553" y="3327"/>
                </a:cubicBezTo>
                <a:cubicBezTo>
                  <a:pt x="1133" y="3291"/>
                  <a:pt x="784" y="3205"/>
                  <a:pt x="495" y="3064"/>
                </a:cubicBezTo>
                <a:cubicBezTo>
                  <a:pt x="426" y="3030"/>
                  <a:pt x="346" y="2982"/>
                  <a:pt x="317" y="2957"/>
                </a:cubicBezTo>
                <a:lnTo>
                  <a:pt x="264" y="2912"/>
                </a:lnTo>
                <a:lnTo>
                  <a:pt x="264" y="2438"/>
                </a:lnTo>
                <a:cubicBezTo>
                  <a:pt x="264" y="2178"/>
                  <a:pt x="266" y="1964"/>
                  <a:pt x="269" y="1964"/>
                </a:cubicBezTo>
                <a:cubicBezTo>
                  <a:pt x="271" y="1964"/>
                  <a:pt x="326" y="1992"/>
                  <a:pt x="390" y="2026"/>
                </a:cubicBezTo>
                <a:cubicBezTo>
                  <a:pt x="1162" y="2430"/>
                  <a:pt x="2655" y="2421"/>
                  <a:pt x="3423" y="2007"/>
                </a:cubicBezTo>
                <a:cubicBezTo>
                  <a:pt x="3480" y="1977"/>
                  <a:pt x="3529" y="1952"/>
                  <a:pt x="3533" y="1952"/>
                </a:cubicBezTo>
                <a:close/>
                <a:moveTo>
                  <a:pt x="5039" y="2365"/>
                </a:moveTo>
                <a:lnTo>
                  <a:pt x="5039" y="2847"/>
                </a:lnTo>
                <a:cubicBezTo>
                  <a:pt x="5039" y="3151"/>
                  <a:pt x="5034" y="3337"/>
                  <a:pt x="5026" y="3352"/>
                </a:cubicBezTo>
                <a:cubicBezTo>
                  <a:pt x="5006" y="3390"/>
                  <a:pt x="4871" y="3476"/>
                  <a:pt x="4747" y="3530"/>
                </a:cubicBezTo>
                <a:cubicBezTo>
                  <a:pt x="4601" y="3593"/>
                  <a:pt x="4379" y="3657"/>
                  <a:pt x="4170" y="3695"/>
                </a:cubicBezTo>
                <a:cubicBezTo>
                  <a:pt x="4079" y="3712"/>
                  <a:pt x="3959" y="3730"/>
                  <a:pt x="3903" y="3734"/>
                </a:cubicBezTo>
                <a:lnTo>
                  <a:pt x="3802" y="3743"/>
                </a:lnTo>
                <a:lnTo>
                  <a:pt x="3802" y="3237"/>
                </a:lnTo>
                <a:lnTo>
                  <a:pt x="3802" y="2730"/>
                </a:lnTo>
                <a:lnTo>
                  <a:pt x="3892" y="2723"/>
                </a:lnTo>
                <a:cubicBezTo>
                  <a:pt x="4026" y="2711"/>
                  <a:pt x="4301" y="2658"/>
                  <a:pt x="4458" y="2613"/>
                </a:cubicBezTo>
                <a:cubicBezTo>
                  <a:pt x="4626" y="2565"/>
                  <a:pt x="4866" y="2469"/>
                  <a:pt x="4965" y="2409"/>
                </a:cubicBezTo>
                <a:lnTo>
                  <a:pt x="5039" y="2365"/>
                </a:lnTo>
                <a:close/>
                <a:moveTo>
                  <a:pt x="845" y="2401"/>
                </a:moveTo>
                <a:cubicBezTo>
                  <a:pt x="699" y="2401"/>
                  <a:pt x="580" y="2523"/>
                  <a:pt x="580" y="2673"/>
                </a:cubicBezTo>
                <a:cubicBezTo>
                  <a:pt x="580" y="2822"/>
                  <a:pt x="699" y="2944"/>
                  <a:pt x="845" y="2944"/>
                </a:cubicBezTo>
                <a:cubicBezTo>
                  <a:pt x="992" y="2944"/>
                  <a:pt x="1110" y="2822"/>
                  <a:pt x="1110" y="2673"/>
                </a:cubicBezTo>
                <a:cubicBezTo>
                  <a:pt x="1110" y="2523"/>
                  <a:pt x="992" y="2401"/>
                  <a:pt x="845" y="2401"/>
                </a:cubicBezTo>
                <a:close/>
                <a:moveTo>
                  <a:pt x="3530" y="3229"/>
                </a:moveTo>
                <a:cubicBezTo>
                  <a:pt x="3536" y="3226"/>
                  <a:pt x="3538" y="3439"/>
                  <a:pt x="3536" y="3702"/>
                </a:cubicBezTo>
                <a:lnTo>
                  <a:pt x="3533" y="4180"/>
                </a:lnTo>
                <a:lnTo>
                  <a:pt x="3483" y="4222"/>
                </a:lnTo>
                <a:cubicBezTo>
                  <a:pt x="3423" y="4274"/>
                  <a:pt x="3198" y="4386"/>
                  <a:pt x="3047" y="4438"/>
                </a:cubicBezTo>
                <a:cubicBezTo>
                  <a:pt x="2812" y="4520"/>
                  <a:pt x="2523" y="4577"/>
                  <a:pt x="2222" y="4601"/>
                </a:cubicBezTo>
                <a:cubicBezTo>
                  <a:pt x="2074" y="4613"/>
                  <a:pt x="1706" y="4616"/>
                  <a:pt x="1602" y="4606"/>
                </a:cubicBezTo>
                <a:cubicBezTo>
                  <a:pt x="1227" y="4571"/>
                  <a:pt x="1039" y="4537"/>
                  <a:pt x="805" y="4463"/>
                </a:cubicBezTo>
                <a:cubicBezTo>
                  <a:pt x="615" y="4402"/>
                  <a:pt x="391" y="4297"/>
                  <a:pt x="317" y="4233"/>
                </a:cubicBezTo>
                <a:lnTo>
                  <a:pt x="264" y="4187"/>
                </a:lnTo>
                <a:lnTo>
                  <a:pt x="264" y="3712"/>
                </a:lnTo>
                <a:cubicBezTo>
                  <a:pt x="264" y="3451"/>
                  <a:pt x="268" y="3239"/>
                  <a:pt x="273" y="3241"/>
                </a:cubicBezTo>
                <a:cubicBezTo>
                  <a:pt x="279" y="3244"/>
                  <a:pt x="336" y="3273"/>
                  <a:pt x="401" y="3307"/>
                </a:cubicBezTo>
                <a:cubicBezTo>
                  <a:pt x="1167" y="3699"/>
                  <a:pt x="2604" y="3698"/>
                  <a:pt x="3381" y="3304"/>
                </a:cubicBezTo>
                <a:cubicBezTo>
                  <a:pt x="3457" y="3265"/>
                  <a:pt x="3525" y="3231"/>
                  <a:pt x="3530" y="3229"/>
                </a:cubicBezTo>
                <a:close/>
                <a:moveTo>
                  <a:pt x="5030" y="3654"/>
                </a:moveTo>
                <a:cubicBezTo>
                  <a:pt x="5035" y="3652"/>
                  <a:pt x="5039" y="3868"/>
                  <a:pt x="5039" y="4134"/>
                </a:cubicBezTo>
                <a:cubicBezTo>
                  <a:pt x="5039" y="4600"/>
                  <a:pt x="5038" y="4621"/>
                  <a:pt x="5013" y="4673"/>
                </a:cubicBezTo>
                <a:cubicBezTo>
                  <a:pt x="4930" y="4844"/>
                  <a:pt x="4609" y="4987"/>
                  <a:pt x="4149" y="5057"/>
                </a:cubicBezTo>
                <a:cubicBezTo>
                  <a:pt x="4078" y="5068"/>
                  <a:pt x="3971" y="5081"/>
                  <a:pt x="3911" y="5087"/>
                </a:cubicBezTo>
                <a:lnTo>
                  <a:pt x="3801" y="5097"/>
                </a:lnTo>
                <a:lnTo>
                  <a:pt x="3805" y="4552"/>
                </a:lnTo>
                <a:lnTo>
                  <a:pt x="3808" y="4008"/>
                </a:lnTo>
                <a:lnTo>
                  <a:pt x="3858" y="4004"/>
                </a:lnTo>
                <a:cubicBezTo>
                  <a:pt x="3959" y="3997"/>
                  <a:pt x="4224" y="3950"/>
                  <a:pt x="4364" y="3915"/>
                </a:cubicBezTo>
                <a:cubicBezTo>
                  <a:pt x="4566" y="3864"/>
                  <a:pt x="4710" y="3811"/>
                  <a:pt x="4877" y="3729"/>
                </a:cubicBezTo>
                <a:cubicBezTo>
                  <a:pt x="4956" y="3690"/>
                  <a:pt x="5025" y="3656"/>
                  <a:pt x="5030" y="3654"/>
                </a:cubicBezTo>
                <a:close/>
                <a:moveTo>
                  <a:pt x="843" y="3671"/>
                </a:moveTo>
                <a:cubicBezTo>
                  <a:pt x="698" y="3672"/>
                  <a:pt x="580" y="3793"/>
                  <a:pt x="580" y="3942"/>
                </a:cubicBezTo>
                <a:cubicBezTo>
                  <a:pt x="580" y="4092"/>
                  <a:pt x="699" y="4213"/>
                  <a:pt x="845" y="4213"/>
                </a:cubicBezTo>
                <a:cubicBezTo>
                  <a:pt x="992" y="4213"/>
                  <a:pt x="1110" y="4092"/>
                  <a:pt x="1110" y="3942"/>
                </a:cubicBezTo>
                <a:cubicBezTo>
                  <a:pt x="1110" y="3792"/>
                  <a:pt x="992" y="3671"/>
                  <a:pt x="845" y="3671"/>
                </a:cubicBezTo>
                <a:cubicBezTo>
                  <a:pt x="845" y="3671"/>
                  <a:pt x="844" y="3671"/>
                  <a:pt x="843" y="3671"/>
                </a:cubicBezTo>
                <a:close/>
                <a:moveTo>
                  <a:pt x="3534" y="4502"/>
                </a:moveTo>
                <a:cubicBezTo>
                  <a:pt x="3537" y="4502"/>
                  <a:pt x="3539" y="4711"/>
                  <a:pt x="3539" y="4966"/>
                </a:cubicBezTo>
                <a:cubicBezTo>
                  <a:pt x="3539" y="5292"/>
                  <a:pt x="3535" y="5445"/>
                  <a:pt x="3524" y="5482"/>
                </a:cubicBezTo>
                <a:cubicBezTo>
                  <a:pt x="3504" y="5549"/>
                  <a:pt x="3383" y="5670"/>
                  <a:pt x="3282" y="5724"/>
                </a:cubicBezTo>
                <a:cubicBezTo>
                  <a:pt x="3106" y="5816"/>
                  <a:pt x="2799" y="5894"/>
                  <a:pt x="2458" y="5933"/>
                </a:cubicBezTo>
                <a:cubicBezTo>
                  <a:pt x="2289" y="5952"/>
                  <a:pt x="1768" y="5966"/>
                  <a:pt x="1602" y="5956"/>
                </a:cubicBezTo>
                <a:cubicBezTo>
                  <a:pt x="1442" y="5947"/>
                  <a:pt x="1168" y="5912"/>
                  <a:pt x="1010" y="5882"/>
                </a:cubicBezTo>
                <a:cubicBezTo>
                  <a:pt x="630" y="5808"/>
                  <a:pt x="364" y="5675"/>
                  <a:pt x="290" y="5523"/>
                </a:cubicBezTo>
                <a:cubicBezTo>
                  <a:pt x="265" y="5471"/>
                  <a:pt x="264" y="5450"/>
                  <a:pt x="264" y="4992"/>
                </a:cubicBezTo>
                <a:cubicBezTo>
                  <a:pt x="264" y="4729"/>
                  <a:pt x="267" y="4514"/>
                  <a:pt x="269" y="4514"/>
                </a:cubicBezTo>
                <a:cubicBezTo>
                  <a:pt x="272" y="4514"/>
                  <a:pt x="308" y="4534"/>
                  <a:pt x="348" y="4557"/>
                </a:cubicBezTo>
                <a:cubicBezTo>
                  <a:pt x="558" y="4682"/>
                  <a:pt x="939" y="4792"/>
                  <a:pt x="1352" y="4848"/>
                </a:cubicBezTo>
                <a:cubicBezTo>
                  <a:pt x="1564" y="4876"/>
                  <a:pt x="2158" y="4880"/>
                  <a:pt x="2370" y="4854"/>
                </a:cubicBezTo>
                <a:cubicBezTo>
                  <a:pt x="2811" y="4800"/>
                  <a:pt x="3204" y="4689"/>
                  <a:pt x="3443" y="4551"/>
                </a:cubicBezTo>
                <a:cubicBezTo>
                  <a:pt x="3490" y="4524"/>
                  <a:pt x="3531" y="4502"/>
                  <a:pt x="3534" y="4502"/>
                </a:cubicBezTo>
                <a:close/>
                <a:moveTo>
                  <a:pt x="843" y="5039"/>
                </a:moveTo>
                <a:cubicBezTo>
                  <a:pt x="698" y="5040"/>
                  <a:pt x="580" y="5161"/>
                  <a:pt x="580" y="5310"/>
                </a:cubicBezTo>
                <a:cubicBezTo>
                  <a:pt x="580" y="5460"/>
                  <a:pt x="699" y="5581"/>
                  <a:pt x="845" y="5581"/>
                </a:cubicBezTo>
                <a:cubicBezTo>
                  <a:pt x="992" y="5581"/>
                  <a:pt x="1110" y="5460"/>
                  <a:pt x="1110" y="5310"/>
                </a:cubicBezTo>
                <a:cubicBezTo>
                  <a:pt x="1110" y="5160"/>
                  <a:pt x="992" y="5039"/>
                  <a:pt x="845" y="5039"/>
                </a:cubicBezTo>
                <a:cubicBezTo>
                  <a:pt x="845" y="5039"/>
                  <a:pt x="844" y="5039"/>
                  <a:pt x="843" y="5039"/>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pitchFamily="2" charset="0"/>
            </a:endParaRPr>
          </a:p>
        </p:txBody>
      </p:sp>
      <p:grpSp>
        <p:nvGrpSpPr>
          <p:cNvPr id="17" name="Group 16">
            <a:extLst>
              <a:ext uri="{FF2B5EF4-FFF2-40B4-BE49-F238E27FC236}">
                <a16:creationId xmlns:a16="http://schemas.microsoft.com/office/drawing/2014/main" id="{1962B043-A512-65F4-01BB-94C7A8647DB5}"/>
              </a:ext>
            </a:extLst>
          </p:cNvPr>
          <p:cNvGrpSpPr/>
          <p:nvPr/>
        </p:nvGrpSpPr>
        <p:grpSpPr>
          <a:xfrm>
            <a:off x="4012537" y="841317"/>
            <a:ext cx="648880" cy="648880"/>
            <a:chOff x="577961" y="841317"/>
            <a:chExt cx="648880" cy="648880"/>
          </a:xfrm>
        </p:grpSpPr>
        <p:sp>
          <p:nvSpPr>
            <p:cNvPr id="19" name="Oval 18">
              <a:extLst>
                <a:ext uri="{FF2B5EF4-FFF2-40B4-BE49-F238E27FC236}">
                  <a16:creationId xmlns:a16="http://schemas.microsoft.com/office/drawing/2014/main" id="{AA983BD9-340F-8DBD-9F9C-C167074AA84B}"/>
                </a:ext>
              </a:extLst>
            </p:cNvPr>
            <p:cNvSpPr/>
            <p:nvPr/>
          </p:nvSpPr>
          <p:spPr>
            <a:xfrm>
              <a:off x="577961" y="841317"/>
              <a:ext cx="648880" cy="648880"/>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E31207D-3DEA-56CA-26D5-2F3A74EE732A}"/>
                </a:ext>
              </a:extLst>
            </p:cNvPr>
            <p:cNvSpPr/>
            <p:nvPr/>
          </p:nvSpPr>
          <p:spPr>
            <a:xfrm>
              <a:off x="634270" y="897625"/>
              <a:ext cx="536265" cy="53626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Freeform 13">
            <a:extLst>
              <a:ext uri="{FF2B5EF4-FFF2-40B4-BE49-F238E27FC236}">
                <a16:creationId xmlns:a16="http://schemas.microsoft.com/office/drawing/2014/main" id="{11B92DAE-FB94-A69A-20F4-6924060C2029}"/>
              </a:ext>
            </a:extLst>
          </p:cNvPr>
          <p:cNvSpPr>
            <a:spLocks noEditPoints="1"/>
          </p:cNvSpPr>
          <p:nvPr/>
        </p:nvSpPr>
        <p:spPr bwMode="auto">
          <a:xfrm>
            <a:off x="4168883" y="1018906"/>
            <a:ext cx="334245" cy="295713"/>
          </a:xfrm>
          <a:custGeom>
            <a:avLst/>
            <a:gdLst>
              <a:gd name="T0" fmla="*/ 1505 w 7450"/>
              <a:gd name="T1" fmla="*/ 4839 h 6599"/>
              <a:gd name="T2" fmla="*/ 0 w 7450"/>
              <a:gd name="T3" fmla="*/ 2097 h 6599"/>
              <a:gd name="T4" fmla="*/ 3473 w 7450"/>
              <a:gd name="T5" fmla="*/ 746 h 6599"/>
              <a:gd name="T6" fmla="*/ 7404 w 7450"/>
              <a:gd name="T7" fmla="*/ 778 h 6599"/>
              <a:gd name="T8" fmla="*/ 5950 w 7450"/>
              <a:gd name="T9" fmla="*/ 4023 h 6599"/>
              <a:gd name="T10" fmla="*/ 5824 w 7450"/>
              <a:gd name="T11" fmla="*/ 6553 h 6599"/>
              <a:gd name="T12" fmla="*/ 3895 w 7450"/>
              <a:gd name="T13" fmla="*/ 6526 h 6599"/>
              <a:gd name="T14" fmla="*/ 2046 w 7450"/>
              <a:gd name="T15" fmla="*/ 6285 h 6599"/>
              <a:gd name="T16" fmla="*/ 1425 w 7450"/>
              <a:gd name="T17" fmla="*/ 6095 h 6599"/>
              <a:gd name="T18" fmla="*/ 3581 w 7450"/>
              <a:gd name="T19" fmla="*/ 5972 h 6599"/>
              <a:gd name="T20" fmla="*/ 5625 w 7450"/>
              <a:gd name="T21" fmla="*/ 6115 h 6599"/>
              <a:gd name="T22" fmla="*/ 3592 w 7450"/>
              <a:gd name="T23" fmla="*/ 5663 h 6599"/>
              <a:gd name="T24" fmla="*/ 1937 w 7450"/>
              <a:gd name="T25" fmla="*/ 4014 h 6599"/>
              <a:gd name="T26" fmla="*/ 2041 w 7450"/>
              <a:gd name="T27" fmla="*/ 5906 h 6599"/>
              <a:gd name="T28" fmla="*/ 5636 w 7450"/>
              <a:gd name="T29" fmla="*/ 5687 h 6599"/>
              <a:gd name="T30" fmla="*/ 5502 w 7450"/>
              <a:gd name="T31" fmla="*/ 4110 h 6599"/>
              <a:gd name="T32" fmla="*/ 3859 w 7450"/>
              <a:gd name="T33" fmla="*/ 5663 h 6599"/>
              <a:gd name="T34" fmla="*/ 5410 w 7450"/>
              <a:gd name="T35" fmla="*/ 5906 h 6599"/>
              <a:gd name="T36" fmla="*/ 3725 w 7450"/>
              <a:gd name="T37" fmla="*/ 4114 h 6599"/>
              <a:gd name="T38" fmla="*/ 3666 w 7450"/>
              <a:gd name="T39" fmla="*/ 4532 h 6599"/>
              <a:gd name="T40" fmla="*/ 3829 w 7450"/>
              <a:gd name="T41" fmla="*/ 4501 h 6599"/>
              <a:gd name="T42" fmla="*/ 3115 w 7450"/>
              <a:gd name="T43" fmla="*/ 4474 h 6599"/>
              <a:gd name="T44" fmla="*/ 4298 w 7450"/>
              <a:gd name="T45" fmla="*/ 3815 h 6599"/>
              <a:gd name="T46" fmla="*/ 2749 w 7450"/>
              <a:gd name="T47" fmla="*/ 3163 h 6599"/>
              <a:gd name="T48" fmla="*/ 4298 w 7450"/>
              <a:gd name="T49" fmla="*/ 3815 h 6599"/>
              <a:gd name="T50" fmla="*/ 3640 w 7450"/>
              <a:gd name="T51" fmla="*/ 3697 h 6599"/>
              <a:gd name="T52" fmla="*/ 3359 w 7450"/>
              <a:gd name="T53" fmla="*/ 3539 h 6599"/>
              <a:gd name="T54" fmla="*/ 4381 w 7450"/>
              <a:gd name="T55" fmla="*/ 3518 h 6599"/>
              <a:gd name="T56" fmla="*/ 1646 w 7450"/>
              <a:gd name="T57" fmla="*/ 3269 h 6599"/>
              <a:gd name="T58" fmla="*/ 1905 w 7450"/>
              <a:gd name="T59" fmla="*/ 3753 h 6599"/>
              <a:gd name="T60" fmla="*/ 1044 w 7450"/>
              <a:gd name="T61" fmla="*/ 3442 h 6599"/>
              <a:gd name="T62" fmla="*/ 7189 w 7450"/>
              <a:gd name="T63" fmla="*/ 3119 h 6599"/>
              <a:gd name="T64" fmla="*/ 5509 w 7450"/>
              <a:gd name="T65" fmla="*/ 3507 h 6599"/>
              <a:gd name="T66" fmla="*/ 5736 w 7450"/>
              <a:gd name="T67" fmla="*/ 3613 h 6599"/>
              <a:gd name="T68" fmla="*/ 6193 w 7450"/>
              <a:gd name="T69" fmla="*/ 3570 h 6599"/>
              <a:gd name="T70" fmla="*/ 4255 w 7450"/>
              <a:gd name="T71" fmla="*/ 2442 h 6599"/>
              <a:gd name="T72" fmla="*/ 4025 w 7450"/>
              <a:gd name="T73" fmla="*/ 3030 h 6599"/>
              <a:gd name="T74" fmla="*/ 3832 w 7450"/>
              <a:gd name="T75" fmla="*/ 2846 h 6599"/>
              <a:gd name="T76" fmla="*/ 3342 w 7450"/>
              <a:gd name="T77" fmla="*/ 2680 h 6599"/>
              <a:gd name="T78" fmla="*/ 4373 w 7450"/>
              <a:gd name="T79" fmla="*/ 2681 h 6599"/>
              <a:gd name="T80" fmla="*/ 367 w 7450"/>
              <a:gd name="T81" fmla="*/ 2238 h 6599"/>
              <a:gd name="T82" fmla="*/ 1934 w 7450"/>
              <a:gd name="T83" fmla="*/ 3006 h 6599"/>
              <a:gd name="T84" fmla="*/ 1115 w 7450"/>
              <a:gd name="T85" fmla="*/ 2864 h 6599"/>
              <a:gd name="T86" fmla="*/ 1173 w 7450"/>
              <a:gd name="T87" fmla="*/ 2871 h 6599"/>
              <a:gd name="T88" fmla="*/ 7084 w 7450"/>
              <a:gd name="T89" fmla="*/ 2238 h 6599"/>
              <a:gd name="T90" fmla="*/ 5728 w 7450"/>
              <a:gd name="T91" fmla="*/ 2859 h 6599"/>
              <a:gd name="T92" fmla="*/ 6407 w 7450"/>
              <a:gd name="T93" fmla="*/ 2691 h 6599"/>
              <a:gd name="T94" fmla="*/ 1942 w 7450"/>
              <a:gd name="T95" fmla="*/ 1772 h 6599"/>
              <a:gd name="T96" fmla="*/ 373 w 7450"/>
              <a:gd name="T97" fmla="*/ 1933 h 6599"/>
              <a:gd name="T98" fmla="*/ 1715 w 7450"/>
              <a:gd name="T99" fmla="*/ 1932 h 6599"/>
              <a:gd name="T100" fmla="*/ 1226 w 7450"/>
              <a:gd name="T101" fmla="*/ 2105 h 6599"/>
              <a:gd name="T102" fmla="*/ 7109 w 7450"/>
              <a:gd name="T103" fmla="*/ 1481 h 6599"/>
              <a:gd name="T104" fmla="*/ 5646 w 7450"/>
              <a:gd name="T105" fmla="*/ 2268 h 6599"/>
              <a:gd name="T106" fmla="*/ 6234 w 7450"/>
              <a:gd name="T107" fmla="*/ 2111 h 6599"/>
              <a:gd name="T108" fmla="*/ 5215 w 7450"/>
              <a:gd name="T109" fmla="*/ 1724 h 6599"/>
              <a:gd name="T110" fmla="*/ 1819 w 7450"/>
              <a:gd name="T111" fmla="*/ 1520 h 6599"/>
              <a:gd name="T112" fmla="*/ 2209 w 7450"/>
              <a:gd name="T113" fmla="*/ 478 h 6599"/>
              <a:gd name="T114" fmla="*/ 6092 w 7450"/>
              <a:gd name="T115" fmla="*/ 1513 h 6599"/>
              <a:gd name="T116" fmla="*/ 4666 w 7450"/>
              <a:gd name="T117" fmla="*/ 863 h 6599"/>
              <a:gd name="T118" fmla="*/ 6092 w 7450"/>
              <a:gd name="T119" fmla="*/ 1513 h 6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450" h="6599">
                <a:moveTo>
                  <a:pt x="1534" y="6548"/>
                </a:moveTo>
                <a:cubicBezTo>
                  <a:pt x="1438" y="6522"/>
                  <a:pt x="1393" y="6498"/>
                  <a:pt x="1325" y="6437"/>
                </a:cubicBezTo>
                <a:cubicBezTo>
                  <a:pt x="1236" y="6356"/>
                  <a:pt x="1190" y="6265"/>
                  <a:pt x="1180" y="6145"/>
                </a:cubicBezTo>
                <a:cubicBezTo>
                  <a:pt x="1162" y="5955"/>
                  <a:pt x="1250" y="5791"/>
                  <a:pt x="1415" y="5705"/>
                </a:cubicBezTo>
                <a:lnTo>
                  <a:pt x="1509" y="5656"/>
                </a:lnTo>
                <a:lnTo>
                  <a:pt x="1505" y="4839"/>
                </a:lnTo>
                <a:lnTo>
                  <a:pt x="1500" y="4023"/>
                </a:lnTo>
                <a:lnTo>
                  <a:pt x="1309" y="4004"/>
                </a:lnTo>
                <a:cubicBezTo>
                  <a:pt x="1072" y="3980"/>
                  <a:pt x="946" y="3957"/>
                  <a:pt x="761" y="3904"/>
                </a:cubicBezTo>
                <a:cubicBezTo>
                  <a:pt x="428" y="3808"/>
                  <a:pt x="144" y="3615"/>
                  <a:pt x="47" y="3417"/>
                </a:cubicBezTo>
                <a:lnTo>
                  <a:pt x="0" y="3322"/>
                </a:lnTo>
                <a:lnTo>
                  <a:pt x="0" y="2097"/>
                </a:lnTo>
                <a:lnTo>
                  <a:pt x="0" y="872"/>
                </a:lnTo>
                <a:lnTo>
                  <a:pt x="47" y="778"/>
                </a:lnTo>
                <a:cubicBezTo>
                  <a:pt x="108" y="652"/>
                  <a:pt x="267" y="506"/>
                  <a:pt x="435" y="419"/>
                </a:cubicBezTo>
                <a:cubicBezTo>
                  <a:pt x="1248" y="0"/>
                  <a:pt x="2734" y="135"/>
                  <a:pt x="3142" y="666"/>
                </a:cubicBezTo>
                <a:cubicBezTo>
                  <a:pt x="3173" y="706"/>
                  <a:pt x="3203" y="745"/>
                  <a:pt x="3209" y="752"/>
                </a:cubicBezTo>
                <a:cubicBezTo>
                  <a:pt x="3215" y="760"/>
                  <a:pt x="3334" y="757"/>
                  <a:pt x="3473" y="746"/>
                </a:cubicBezTo>
                <a:cubicBezTo>
                  <a:pt x="3665" y="732"/>
                  <a:pt x="3786" y="732"/>
                  <a:pt x="3980" y="747"/>
                </a:cubicBezTo>
                <a:lnTo>
                  <a:pt x="4234" y="766"/>
                </a:lnTo>
                <a:lnTo>
                  <a:pt x="4258" y="727"/>
                </a:lnTo>
                <a:cubicBezTo>
                  <a:pt x="4306" y="649"/>
                  <a:pt x="4474" y="503"/>
                  <a:pt x="4593" y="436"/>
                </a:cubicBezTo>
                <a:cubicBezTo>
                  <a:pt x="5110" y="143"/>
                  <a:pt x="6084" y="85"/>
                  <a:pt x="6752" y="307"/>
                </a:cubicBezTo>
                <a:cubicBezTo>
                  <a:pt x="7063" y="411"/>
                  <a:pt x="7312" y="590"/>
                  <a:pt x="7404" y="778"/>
                </a:cubicBezTo>
                <a:lnTo>
                  <a:pt x="7450" y="872"/>
                </a:lnTo>
                <a:lnTo>
                  <a:pt x="7450" y="2097"/>
                </a:lnTo>
                <a:lnTo>
                  <a:pt x="7450" y="3322"/>
                </a:lnTo>
                <a:lnTo>
                  <a:pt x="7404" y="3417"/>
                </a:lnTo>
                <a:cubicBezTo>
                  <a:pt x="7254" y="3722"/>
                  <a:pt x="6785" y="3940"/>
                  <a:pt x="6144" y="4004"/>
                </a:cubicBezTo>
                <a:lnTo>
                  <a:pt x="5950" y="4023"/>
                </a:lnTo>
                <a:lnTo>
                  <a:pt x="5946" y="4839"/>
                </a:lnTo>
                <a:lnTo>
                  <a:pt x="5942" y="5656"/>
                </a:lnTo>
                <a:lnTo>
                  <a:pt x="6036" y="5705"/>
                </a:lnTo>
                <a:cubicBezTo>
                  <a:pt x="6200" y="5791"/>
                  <a:pt x="6288" y="5955"/>
                  <a:pt x="6271" y="6145"/>
                </a:cubicBezTo>
                <a:cubicBezTo>
                  <a:pt x="6260" y="6264"/>
                  <a:pt x="6215" y="6356"/>
                  <a:pt x="6127" y="6436"/>
                </a:cubicBezTo>
                <a:cubicBezTo>
                  <a:pt x="6033" y="6521"/>
                  <a:pt x="5953" y="6552"/>
                  <a:pt x="5824" y="6553"/>
                </a:cubicBezTo>
                <a:cubicBezTo>
                  <a:pt x="5639" y="6555"/>
                  <a:pt x="5462" y="6441"/>
                  <a:pt x="5405" y="6285"/>
                </a:cubicBezTo>
                <a:lnTo>
                  <a:pt x="5385" y="6231"/>
                </a:lnTo>
                <a:lnTo>
                  <a:pt x="4775" y="6231"/>
                </a:lnTo>
                <a:lnTo>
                  <a:pt x="4164" y="6231"/>
                </a:lnTo>
                <a:lnTo>
                  <a:pt x="4134" y="6298"/>
                </a:lnTo>
                <a:cubicBezTo>
                  <a:pt x="4098" y="6377"/>
                  <a:pt x="3981" y="6489"/>
                  <a:pt x="3895" y="6526"/>
                </a:cubicBezTo>
                <a:cubicBezTo>
                  <a:pt x="3806" y="6565"/>
                  <a:pt x="3635" y="6561"/>
                  <a:pt x="3541" y="6519"/>
                </a:cubicBezTo>
                <a:cubicBezTo>
                  <a:pt x="3449" y="6478"/>
                  <a:pt x="3353" y="6383"/>
                  <a:pt x="3314" y="6295"/>
                </a:cubicBezTo>
                <a:lnTo>
                  <a:pt x="3286" y="6231"/>
                </a:lnTo>
                <a:lnTo>
                  <a:pt x="2676" y="6231"/>
                </a:lnTo>
                <a:lnTo>
                  <a:pt x="2065" y="6231"/>
                </a:lnTo>
                <a:lnTo>
                  <a:pt x="2046" y="6285"/>
                </a:lnTo>
                <a:cubicBezTo>
                  <a:pt x="1981" y="6464"/>
                  <a:pt x="1719" y="6599"/>
                  <a:pt x="1534" y="6548"/>
                </a:cubicBezTo>
                <a:close/>
                <a:moveTo>
                  <a:pt x="1769" y="6241"/>
                </a:moveTo>
                <a:cubicBezTo>
                  <a:pt x="1815" y="6194"/>
                  <a:pt x="1825" y="6171"/>
                  <a:pt x="1825" y="6115"/>
                </a:cubicBezTo>
                <a:cubicBezTo>
                  <a:pt x="1825" y="6023"/>
                  <a:pt x="1789" y="5958"/>
                  <a:pt x="1719" y="5925"/>
                </a:cubicBezTo>
                <a:cubicBezTo>
                  <a:pt x="1649" y="5891"/>
                  <a:pt x="1624" y="5891"/>
                  <a:pt x="1550" y="5921"/>
                </a:cubicBezTo>
                <a:cubicBezTo>
                  <a:pt x="1487" y="5948"/>
                  <a:pt x="1426" y="6033"/>
                  <a:pt x="1425" y="6095"/>
                </a:cubicBezTo>
                <a:cubicBezTo>
                  <a:pt x="1425" y="6156"/>
                  <a:pt x="1475" y="6246"/>
                  <a:pt x="1523" y="6272"/>
                </a:cubicBezTo>
                <a:cubicBezTo>
                  <a:pt x="1547" y="6285"/>
                  <a:pt x="1600" y="6296"/>
                  <a:pt x="1640" y="6297"/>
                </a:cubicBezTo>
                <a:cubicBezTo>
                  <a:pt x="1700" y="6297"/>
                  <a:pt x="1721" y="6288"/>
                  <a:pt x="1769" y="6241"/>
                </a:cubicBezTo>
                <a:close/>
                <a:moveTo>
                  <a:pt x="3826" y="6272"/>
                </a:moveTo>
                <a:cubicBezTo>
                  <a:pt x="3938" y="6214"/>
                  <a:pt x="3956" y="6046"/>
                  <a:pt x="3860" y="5960"/>
                </a:cubicBezTo>
                <a:cubicBezTo>
                  <a:pt x="3765" y="5875"/>
                  <a:pt x="3674" y="5879"/>
                  <a:pt x="3581" y="5972"/>
                </a:cubicBezTo>
                <a:cubicBezTo>
                  <a:pt x="3421" y="6131"/>
                  <a:pt x="3622" y="6377"/>
                  <a:pt x="3826" y="6272"/>
                </a:cubicBezTo>
                <a:close/>
                <a:moveTo>
                  <a:pt x="5927" y="6269"/>
                </a:moveTo>
                <a:cubicBezTo>
                  <a:pt x="5979" y="6238"/>
                  <a:pt x="6025" y="6156"/>
                  <a:pt x="6025" y="6095"/>
                </a:cubicBezTo>
                <a:cubicBezTo>
                  <a:pt x="6025" y="6033"/>
                  <a:pt x="5964" y="5948"/>
                  <a:pt x="5901" y="5921"/>
                </a:cubicBezTo>
                <a:cubicBezTo>
                  <a:pt x="5827" y="5891"/>
                  <a:pt x="5802" y="5891"/>
                  <a:pt x="5731" y="5925"/>
                </a:cubicBezTo>
                <a:cubicBezTo>
                  <a:pt x="5661" y="5958"/>
                  <a:pt x="5625" y="6023"/>
                  <a:pt x="5625" y="6115"/>
                </a:cubicBezTo>
                <a:cubicBezTo>
                  <a:pt x="5625" y="6171"/>
                  <a:pt x="5636" y="6194"/>
                  <a:pt x="5682" y="6241"/>
                </a:cubicBezTo>
                <a:cubicBezTo>
                  <a:pt x="5728" y="6287"/>
                  <a:pt x="5751" y="6297"/>
                  <a:pt x="5809" y="6297"/>
                </a:cubicBezTo>
                <a:cubicBezTo>
                  <a:pt x="5847" y="6297"/>
                  <a:pt x="5900" y="6284"/>
                  <a:pt x="5927" y="6269"/>
                </a:cubicBezTo>
                <a:close/>
                <a:moveTo>
                  <a:pt x="3322" y="5892"/>
                </a:moveTo>
                <a:cubicBezTo>
                  <a:pt x="3377" y="5794"/>
                  <a:pt x="3454" y="5721"/>
                  <a:pt x="3538" y="5686"/>
                </a:cubicBezTo>
                <a:lnTo>
                  <a:pt x="3592" y="5663"/>
                </a:lnTo>
                <a:lnTo>
                  <a:pt x="3592" y="5300"/>
                </a:lnTo>
                <a:lnTo>
                  <a:pt x="3592" y="4936"/>
                </a:lnTo>
                <a:lnTo>
                  <a:pt x="3415" y="4925"/>
                </a:lnTo>
                <a:cubicBezTo>
                  <a:pt x="3212" y="4912"/>
                  <a:pt x="2894" y="4851"/>
                  <a:pt x="2701" y="4788"/>
                </a:cubicBezTo>
                <a:cubicBezTo>
                  <a:pt x="2255" y="4641"/>
                  <a:pt x="1976" y="4390"/>
                  <a:pt x="1947" y="4108"/>
                </a:cubicBezTo>
                <a:lnTo>
                  <a:pt x="1937" y="4014"/>
                </a:lnTo>
                <a:lnTo>
                  <a:pt x="1848" y="4014"/>
                </a:lnTo>
                <a:lnTo>
                  <a:pt x="1759" y="4014"/>
                </a:lnTo>
                <a:lnTo>
                  <a:pt x="1759" y="4839"/>
                </a:lnTo>
                <a:lnTo>
                  <a:pt x="1759" y="5663"/>
                </a:lnTo>
                <a:lnTo>
                  <a:pt x="1815" y="5687"/>
                </a:lnTo>
                <a:cubicBezTo>
                  <a:pt x="1898" y="5722"/>
                  <a:pt x="2001" y="5821"/>
                  <a:pt x="2041" y="5906"/>
                </a:cubicBezTo>
                <a:lnTo>
                  <a:pt x="2076" y="5981"/>
                </a:lnTo>
                <a:lnTo>
                  <a:pt x="2674" y="5981"/>
                </a:lnTo>
                <a:lnTo>
                  <a:pt x="3272" y="5981"/>
                </a:lnTo>
                <a:lnTo>
                  <a:pt x="3322" y="5892"/>
                </a:lnTo>
                <a:close/>
                <a:moveTo>
                  <a:pt x="5410" y="5906"/>
                </a:moveTo>
                <a:cubicBezTo>
                  <a:pt x="5450" y="5821"/>
                  <a:pt x="5552" y="5722"/>
                  <a:pt x="5636" y="5687"/>
                </a:cubicBezTo>
                <a:lnTo>
                  <a:pt x="5692" y="5663"/>
                </a:lnTo>
                <a:lnTo>
                  <a:pt x="5692" y="4839"/>
                </a:lnTo>
                <a:lnTo>
                  <a:pt x="5692" y="4014"/>
                </a:lnTo>
                <a:lnTo>
                  <a:pt x="5603" y="4014"/>
                </a:lnTo>
                <a:lnTo>
                  <a:pt x="5513" y="4014"/>
                </a:lnTo>
                <a:lnTo>
                  <a:pt x="5502" y="4110"/>
                </a:lnTo>
                <a:cubicBezTo>
                  <a:pt x="5486" y="4253"/>
                  <a:pt x="5424" y="4363"/>
                  <a:pt x="5291" y="4486"/>
                </a:cubicBezTo>
                <a:cubicBezTo>
                  <a:pt x="5063" y="4698"/>
                  <a:pt x="4690" y="4843"/>
                  <a:pt x="4211" y="4906"/>
                </a:cubicBezTo>
                <a:cubicBezTo>
                  <a:pt x="4113" y="4919"/>
                  <a:pt x="3994" y="4930"/>
                  <a:pt x="3946" y="4930"/>
                </a:cubicBezTo>
                <a:lnTo>
                  <a:pt x="3859" y="4931"/>
                </a:lnTo>
                <a:lnTo>
                  <a:pt x="3859" y="5297"/>
                </a:lnTo>
                <a:lnTo>
                  <a:pt x="3859" y="5663"/>
                </a:lnTo>
                <a:lnTo>
                  <a:pt x="3913" y="5690"/>
                </a:lnTo>
                <a:cubicBezTo>
                  <a:pt x="4014" y="5742"/>
                  <a:pt x="4076" y="5800"/>
                  <a:pt x="4128" y="5890"/>
                </a:cubicBezTo>
                <a:lnTo>
                  <a:pt x="4179" y="5981"/>
                </a:lnTo>
                <a:lnTo>
                  <a:pt x="4777" y="5981"/>
                </a:lnTo>
                <a:lnTo>
                  <a:pt x="5375" y="5981"/>
                </a:lnTo>
                <a:lnTo>
                  <a:pt x="5410" y="5906"/>
                </a:lnTo>
                <a:close/>
                <a:moveTo>
                  <a:pt x="4292" y="4639"/>
                </a:moveTo>
                <a:cubicBezTo>
                  <a:pt x="4743" y="4557"/>
                  <a:pt x="5093" y="4390"/>
                  <a:pt x="5201" y="4205"/>
                </a:cubicBezTo>
                <a:cubicBezTo>
                  <a:pt x="5238" y="4142"/>
                  <a:pt x="5242" y="4118"/>
                  <a:pt x="5242" y="3933"/>
                </a:cubicBezTo>
                <a:cubicBezTo>
                  <a:pt x="5242" y="3822"/>
                  <a:pt x="5238" y="3731"/>
                  <a:pt x="5233" y="3731"/>
                </a:cubicBezTo>
                <a:cubicBezTo>
                  <a:pt x="5227" y="3731"/>
                  <a:pt x="5190" y="3754"/>
                  <a:pt x="5149" y="3782"/>
                </a:cubicBezTo>
                <a:cubicBezTo>
                  <a:pt x="4845" y="3991"/>
                  <a:pt x="4318" y="4114"/>
                  <a:pt x="3725" y="4114"/>
                </a:cubicBezTo>
                <a:cubicBezTo>
                  <a:pt x="3128" y="4114"/>
                  <a:pt x="2610" y="3992"/>
                  <a:pt x="2297" y="3778"/>
                </a:cubicBezTo>
                <a:cubicBezTo>
                  <a:pt x="2259" y="3752"/>
                  <a:pt x="2220" y="3731"/>
                  <a:pt x="2210" y="3731"/>
                </a:cubicBezTo>
                <a:cubicBezTo>
                  <a:pt x="2186" y="3731"/>
                  <a:pt x="2186" y="4027"/>
                  <a:pt x="2211" y="4124"/>
                </a:cubicBezTo>
                <a:cubicBezTo>
                  <a:pt x="2271" y="4361"/>
                  <a:pt x="2696" y="4574"/>
                  <a:pt x="3275" y="4657"/>
                </a:cubicBezTo>
                <a:cubicBezTo>
                  <a:pt x="3494" y="4688"/>
                  <a:pt x="4079" y="4678"/>
                  <a:pt x="4292" y="4639"/>
                </a:cubicBezTo>
                <a:close/>
                <a:moveTo>
                  <a:pt x="3666" y="4532"/>
                </a:moveTo>
                <a:cubicBezTo>
                  <a:pt x="3619" y="4512"/>
                  <a:pt x="3594" y="4478"/>
                  <a:pt x="3582" y="4417"/>
                </a:cubicBezTo>
                <a:cubicBezTo>
                  <a:pt x="3573" y="4374"/>
                  <a:pt x="3580" y="4357"/>
                  <a:pt x="3622" y="4315"/>
                </a:cubicBezTo>
                <a:cubicBezTo>
                  <a:pt x="3657" y="4280"/>
                  <a:pt x="3689" y="4264"/>
                  <a:pt x="3725" y="4264"/>
                </a:cubicBezTo>
                <a:cubicBezTo>
                  <a:pt x="3762" y="4264"/>
                  <a:pt x="3794" y="4280"/>
                  <a:pt x="3829" y="4315"/>
                </a:cubicBezTo>
                <a:cubicBezTo>
                  <a:pt x="3871" y="4357"/>
                  <a:pt x="3878" y="4374"/>
                  <a:pt x="3869" y="4419"/>
                </a:cubicBezTo>
                <a:cubicBezTo>
                  <a:pt x="3863" y="4448"/>
                  <a:pt x="3845" y="4485"/>
                  <a:pt x="3829" y="4501"/>
                </a:cubicBezTo>
                <a:cubicBezTo>
                  <a:pt x="3794" y="4536"/>
                  <a:pt x="3713" y="4552"/>
                  <a:pt x="3666" y="4532"/>
                </a:cubicBezTo>
                <a:close/>
                <a:moveTo>
                  <a:pt x="3115" y="4474"/>
                </a:moveTo>
                <a:cubicBezTo>
                  <a:pt x="3020" y="4393"/>
                  <a:pt x="3082" y="4231"/>
                  <a:pt x="3209" y="4231"/>
                </a:cubicBezTo>
                <a:cubicBezTo>
                  <a:pt x="3235" y="4231"/>
                  <a:pt x="3277" y="4248"/>
                  <a:pt x="3303" y="4270"/>
                </a:cubicBezTo>
                <a:cubicBezTo>
                  <a:pt x="3398" y="4352"/>
                  <a:pt x="3335" y="4514"/>
                  <a:pt x="3209" y="4514"/>
                </a:cubicBezTo>
                <a:cubicBezTo>
                  <a:pt x="3182" y="4514"/>
                  <a:pt x="3140" y="4496"/>
                  <a:pt x="3115" y="4474"/>
                </a:cubicBezTo>
                <a:close/>
                <a:moveTo>
                  <a:pt x="4148" y="4474"/>
                </a:moveTo>
                <a:cubicBezTo>
                  <a:pt x="4084" y="4419"/>
                  <a:pt x="4084" y="4325"/>
                  <a:pt x="4148" y="4270"/>
                </a:cubicBezTo>
                <a:cubicBezTo>
                  <a:pt x="4243" y="4189"/>
                  <a:pt x="4382" y="4250"/>
                  <a:pt x="4382" y="4372"/>
                </a:cubicBezTo>
                <a:cubicBezTo>
                  <a:pt x="4382" y="4448"/>
                  <a:pt x="4317" y="4514"/>
                  <a:pt x="4242" y="4514"/>
                </a:cubicBezTo>
                <a:cubicBezTo>
                  <a:pt x="4215" y="4514"/>
                  <a:pt x="4173" y="4496"/>
                  <a:pt x="4148" y="4474"/>
                </a:cubicBezTo>
                <a:close/>
                <a:moveTo>
                  <a:pt x="4298" y="3815"/>
                </a:moveTo>
                <a:cubicBezTo>
                  <a:pt x="4650" y="3753"/>
                  <a:pt x="4958" y="3628"/>
                  <a:pt x="5112" y="3484"/>
                </a:cubicBezTo>
                <a:cubicBezTo>
                  <a:pt x="5234" y="3370"/>
                  <a:pt x="5242" y="3347"/>
                  <a:pt x="5242" y="3107"/>
                </a:cubicBezTo>
                <a:lnTo>
                  <a:pt x="5242" y="2898"/>
                </a:lnTo>
                <a:lnTo>
                  <a:pt x="5180" y="2941"/>
                </a:lnTo>
                <a:cubicBezTo>
                  <a:pt x="5000" y="3064"/>
                  <a:pt x="4724" y="3171"/>
                  <a:pt x="4434" y="3230"/>
                </a:cubicBezTo>
                <a:cubicBezTo>
                  <a:pt x="3906" y="3339"/>
                  <a:pt x="3215" y="3311"/>
                  <a:pt x="2749" y="3163"/>
                </a:cubicBezTo>
                <a:cubicBezTo>
                  <a:pt x="2571" y="3107"/>
                  <a:pt x="2351" y="3004"/>
                  <a:pt x="2263" y="2937"/>
                </a:cubicBezTo>
                <a:lnTo>
                  <a:pt x="2209" y="2896"/>
                </a:lnTo>
                <a:lnTo>
                  <a:pt x="2209" y="3106"/>
                </a:lnTo>
                <a:cubicBezTo>
                  <a:pt x="2209" y="3350"/>
                  <a:pt x="2216" y="3372"/>
                  <a:pt x="2346" y="3491"/>
                </a:cubicBezTo>
                <a:cubicBezTo>
                  <a:pt x="2535" y="3663"/>
                  <a:pt x="2892" y="3788"/>
                  <a:pt x="3359" y="3846"/>
                </a:cubicBezTo>
                <a:cubicBezTo>
                  <a:pt x="3565" y="3872"/>
                  <a:pt x="4072" y="3855"/>
                  <a:pt x="4298" y="3815"/>
                </a:cubicBezTo>
                <a:close/>
                <a:moveTo>
                  <a:pt x="3640" y="3697"/>
                </a:moveTo>
                <a:cubicBezTo>
                  <a:pt x="3592" y="3669"/>
                  <a:pt x="3568" y="3588"/>
                  <a:pt x="3592" y="3530"/>
                </a:cubicBezTo>
                <a:cubicBezTo>
                  <a:pt x="3617" y="3470"/>
                  <a:pt x="3654" y="3447"/>
                  <a:pt x="3725" y="3447"/>
                </a:cubicBezTo>
                <a:cubicBezTo>
                  <a:pt x="3797" y="3447"/>
                  <a:pt x="3834" y="3470"/>
                  <a:pt x="3858" y="3530"/>
                </a:cubicBezTo>
                <a:cubicBezTo>
                  <a:pt x="3883" y="3589"/>
                  <a:pt x="3858" y="3671"/>
                  <a:pt x="3808" y="3698"/>
                </a:cubicBezTo>
                <a:cubicBezTo>
                  <a:pt x="3770" y="3718"/>
                  <a:pt x="3675" y="3718"/>
                  <a:pt x="3640" y="3697"/>
                </a:cubicBezTo>
                <a:close/>
                <a:moveTo>
                  <a:pt x="3144" y="3674"/>
                </a:moveTo>
                <a:cubicBezTo>
                  <a:pt x="3100" y="3650"/>
                  <a:pt x="3060" y="3588"/>
                  <a:pt x="3059" y="3544"/>
                </a:cubicBezTo>
                <a:cubicBezTo>
                  <a:pt x="3059" y="3529"/>
                  <a:pt x="3078" y="3493"/>
                  <a:pt x="3102" y="3465"/>
                </a:cubicBezTo>
                <a:cubicBezTo>
                  <a:pt x="3136" y="3424"/>
                  <a:pt x="3158" y="3414"/>
                  <a:pt x="3209" y="3414"/>
                </a:cubicBezTo>
                <a:cubicBezTo>
                  <a:pt x="3259" y="3414"/>
                  <a:pt x="3281" y="3424"/>
                  <a:pt x="3316" y="3465"/>
                </a:cubicBezTo>
                <a:cubicBezTo>
                  <a:pt x="3339" y="3493"/>
                  <a:pt x="3359" y="3527"/>
                  <a:pt x="3359" y="3539"/>
                </a:cubicBezTo>
                <a:cubicBezTo>
                  <a:pt x="3359" y="3591"/>
                  <a:pt x="3324" y="3647"/>
                  <a:pt x="3277" y="3671"/>
                </a:cubicBezTo>
                <a:cubicBezTo>
                  <a:pt x="3217" y="3703"/>
                  <a:pt x="3196" y="3703"/>
                  <a:pt x="3144" y="3674"/>
                </a:cubicBezTo>
                <a:close/>
                <a:moveTo>
                  <a:pt x="4170" y="3671"/>
                </a:moveTo>
                <a:cubicBezTo>
                  <a:pt x="4126" y="3647"/>
                  <a:pt x="4092" y="3589"/>
                  <a:pt x="4092" y="3539"/>
                </a:cubicBezTo>
                <a:cubicBezTo>
                  <a:pt x="4092" y="3527"/>
                  <a:pt x="4111" y="3493"/>
                  <a:pt x="4135" y="3465"/>
                </a:cubicBezTo>
                <a:cubicBezTo>
                  <a:pt x="4210" y="3377"/>
                  <a:pt x="4341" y="3405"/>
                  <a:pt x="4381" y="3518"/>
                </a:cubicBezTo>
                <a:cubicBezTo>
                  <a:pt x="4397" y="3564"/>
                  <a:pt x="4359" y="3646"/>
                  <a:pt x="4308" y="3673"/>
                </a:cubicBezTo>
                <a:cubicBezTo>
                  <a:pt x="4249" y="3703"/>
                  <a:pt x="4230" y="3703"/>
                  <a:pt x="4170" y="3671"/>
                </a:cubicBezTo>
                <a:close/>
                <a:moveTo>
                  <a:pt x="1905" y="3753"/>
                </a:moveTo>
                <a:cubicBezTo>
                  <a:pt x="1941" y="3744"/>
                  <a:pt x="1942" y="3738"/>
                  <a:pt x="1942" y="3506"/>
                </a:cubicBezTo>
                <a:lnTo>
                  <a:pt x="1942" y="3269"/>
                </a:lnTo>
                <a:lnTo>
                  <a:pt x="1646" y="3269"/>
                </a:lnTo>
                <a:cubicBezTo>
                  <a:pt x="1111" y="3270"/>
                  <a:pt x="645" y="3166"/>
                  <a:pt x="352" y="2980"/>
                </a:cubicBezTo>
                <a:cubicBezTo>
                  <a:pt x="309" y="2953"/>
                  <a:pt x="270" y="2931"/>
                  <a:pt x="265" y="2931"/>
                </a:cubicBezTo>
                <a:cubicBezTo>
                  <a:pt x="260" y="2931"/>
                  <a:pt x="258" y="3016"/>
                  <a:pt x="261" y="3119"/>
                </a:cubicBezTo>
                <a:cubicBezTo>
                  <a:pt x="267" y="3295"/>
                  <a:pt x="270" y="3313"/>
                  <a:pt x="312" y="3367"/>
                </a:cubicBezTo>
                <a:cubicBezTo>
                  <a:pt x="437" y="3532"/>
                  <a:pt x="837" y="3695"/>
                  <a:pt x="1234" y="3745"/>
                </a:cubicBezTo>
                <a:cubicBezTo>
                  <a:pt x="1370" y="3762"/>
                  <a:pt x="1850" y="3768"/>
                  <a:pt x="1905" y="3753"/>
                </a:cubicBezTo>
                <a:close/>
                <a:moveTo>
                  <a:pt x="1555" y="3625"/>
                </a:moveTo>
                <a:cubicBezTo>
                  <a:pt x="1508" y="3589"/>
                  <a:pt x="1493" y="3527"/>
                  <a:pt x="1517" y="3470"/>
                </a:cubicBezTo>
                <a:cubicBezTo>
                  <a:pt x="1570" y="3345"/>
                  <a:pt x="1759" y="3389"/>
                  <a:pt x="1759" y="3526"/>
                </a:cubicBezTo>
                <a:cubicBezTo>
                  <a:pt x="1759" y="3619"/>
                  <a:pt x="1630" y="3681"/>
                  <a:pt x="1555" y="3625"/>
                </a:cubicBezTo>
                <a:close/>
                <a:moveTo>
                  <a:pt x="1060" y="3570"/>
                </a:moveTo>
                <a:cubicBezTo>
                  <a:pt x="1020" y="3520"/>
                  <a:pt x="1018" y="3499"/>
                  <a:pt x="1044" y="3442"/>
                </a:cubicBezTo>
                <a:cubicBezTo>
                  <a:pt x="1064" y="3398"/>
                  <a:pt x="1122" y="3364"/>
                  <a:pt x="1177" y="3364"/>
                </a:cubicBezTo>
                <a:cubicBezTo>
                  <a:pt x="1226" y="3364"/>
                  <a:pt x="1292" y="3438"/>
                  <a:pt x="1292" y="3494"/>
                </a:cubicBezTo>
                <a:cubicBezTo>
                  <a:pt x="1292" y="3605"/>
                  <a:pt x="1130" y="3659"/>
                  <a:pt x="1060" y="3570"/>
                </a:cubicBezTo>
                <a:close/>
                <a:moveTo>
                  <a:pt x="6184" y="3747"/>
                </a:moveTo>
                <a:cubicBezTo>
                  <a:pt x="6601" y="3700"/>
                  <a:pt x="7008" y="3539"/>
                  <a:pt x="7139" y="3367"/>
                </a:cubicBezTo>
                <a:cubicBezTo>
                  <a:pt x="7180" y="3313"/>
                  <a:pt x="7184" y="3295"/>
                  <a:pt x="7189" y="3119"/>
                </a:cubicBezTo>
                <a:cubicBezTo>
                  <a:pt x="7192" y="3016"/>
                  <a:pt x="7191" y="2931"/>
                  <a:pt x="7187" y="2931"/>
                </a:cubicBezTo>
                <a:cubicBezTo>
                  <a:pt x="7183" y="2931"/>
                  <a:pt x="7136" y="2957"/>
                  <a:pt x="7082" y="2989"/>
                </a:cubicBezTo>
                <a:cubicBezTo>
                  <a:pt x="6888" y="3106"/>
                  <a:pt x="6567" y="3205"/>
                  <a:pt x="6242" y="3250"/>
                </a:cubicBezTo>
                <a:cubicBezTo>
                  <a:pt x="6155" y="3261"/>
                  <a:pt x="5954" y="3270"/>
                  <a:pt x="5796" y="3270"/>
                </a:cubicBezTo>
                <a:lnTo>
                  <a:pt x="5509" y="3268"/>
                </a:lnTo>
                <a:lnTo>
                  <a:pt x="5509" y="3507"/>
                </a:lnTo>
                <a:cubicBezTo>
                  <a:pt x="5509" y="3719"/>
                  <a:pt x="5512" y="3746"/>
                  <a:pt x="5538" y="3752"/>
                </a:cubicBezTo>
                <a:cubicBezTo>
                  <a:pt x="5594" y="3767"/>
                  <a:pt x="6036" y="3763"/>
                  <a:pt x="6184" y="3747"/>
                </a:cubicBezTo>
                <a:close/>
                <a:moveTo>
                  <a:pt x="5736" y="3613"/>
                </a:moveTo>
                <a:cubicBezTo>
                  <a:pt x="5646" y="3542"/>
                  <a:pt x="5703" y="3397"/>
                  <a:pt x="5820" y="3397"/>
                </a:cubicBezTo>
                <a:cubicBezTo>
                  <a:pt x="5898" y="3397"/>
                  <a:pt x="5949" y="3447"/>
                  <a:pt x="5949" y="3522"/>
                </a:cubicBezTo>
                <a:cubicBezTo>
                  <a:pt x="5949" y="3635"/>
                  <a:pt x="5829" y="3686"/>
                  <a:pt x="5736" y="3613"/>
                </a:cubicBezTo>
                <a:close/>
                <a:moveTo>
                  <a:pt x="6193" y="3570"/>
                </a:moveTo>
                <a:cubicBezTo>
                  <a:pt x="6147" y="3512"/>
                  <a:pt x="6150" y="3455"/>
                  <a:pt x="6200" y="3405"/>
                </a:cubicBezTo>
                <a:cubicBezTo>
                  <a:pt x="6263" y="3341"/>
                  <a:pt x="6370" y="3360"/>
                  <a:pt x="6407" y="3442"/>
                </a:cubicBezTo>
                <a:cubicBezTo>
                  <a:pt x="6433" y="3499"/>
                  <a:pt x="6430" y="3520"/>
                  <a:pt x="6391" y="3570"/>
                </a:cubicBezTo>
                <a:cubicBezTo>
                  <a:pt x="6364" y="3604"/>
                  <a:pt x="6342" y="3614"/>
                  <a:pt x="6292" y="3614"/>
                </a:cubicBezTo>
                <a:cubicBezTo>
                  <a:pt x="6242" y="3614"/>
                  <a:pt x="6220" y="3604"/>
                  <a:pt x="6193" y="3570"/>
                </a:cubicBezTo>
                <a:close/>
                <a:moveTo>
                  <a:pt x="4025" y="3030"/>
                </a:moveTo>
                <a:cubicBezTo>
                  <a:pt x="4506" y="2986"/>
                  <a:pt x="4905" y="2852"/>
                  <a:pt x="5111" y="2667"/>
                </a:cubicBezTo>
                <a:cubicBezTo>
                  <a:pt x="5233" y="2557"/>
                  <a:pt x="5242" y="2532"/>
                  <a:pt x="5242" y="2290"/>
                </a:cubicBezTo>
                <a:lnTo>
                  <a:pt x="5242" y="2081"/>
                </a:lnTo>
                <a:lnTo>
                  <a:pt x="5146" y="2143"/>
                </a:lnTo>
                <a:cubicBezTo>
                  <a:pt x="4930" y="2281"/>
                  <a:pt x="4624" y="2384"/>
                  <a:pt x="4255" y="2442"/>
                </a:cubicBezTo>
                <a:cubicBezTo>
                  <a:pt x="3968" y="2487"/>
                  <a:pt x="3421" y="2482"/>
                  <a:pt x="3134" y="2432"/>
                </a:cubicBezTo>
                <a:cubicBezTo>
                  <a:pt x="2787" y="2372"/>
                  <a:pt x="2471" y="2259"/>
                  <a:pt x="2280" y="2128"/>
                </a:cubicBezTo>
                <a:lnTo>
                  <a:pt x="2209" y="2079"/>
                </a:lnTo>
                <a:lnTo>
                  <a:pt x="2209" y="2289"/>
                </a:lnTo>
                <a:cubicBezTo>
                  <a:pt x="2209" y="2532"/>
                  <a:pt x="2217" y="2557"/>
                  <a:pt x="2340" y="2667"/>
                </a:cubicBezTo>
                <a:cubicBezTo>
                  <a:pt x="2643" y="2940"/>
                  <a:pt x="3349" y="3092"/>
                  <a:pt x="4025" y="3030"/>
                </a:cubicBezTo>
                <a:close/>
                <a:moveTo>
                  <a:pt x="3619" y="2846"/>
                </a:moveTo>
                <a:cubicBezTo>
                  <a:pt x="3595" y="2818"/>
                  <a:pt x="3575" y="2785"/>
                  <a:pt x="3575" y="2772"/>
                </a:cubicBezTo>
                <a:cubicBezTo>
                  <a:pt x="3575" y="2718"/>
                  <a:pt x="3612" y="2662"/>
                  <a:pt x="3663" y="2637"/>
                </a:cubicBezTo>
                <a:cubicBezTo>
                  <a:pt x="3714" y="2613"/>
                  <a:pt x="3725" y="2613"/>
                  <a:pt x="3781" y="2637"/>
                </a:cubicBezTo>
                <a:cubicBezTo>
                  <a:pt x="3838" y="2661"/>
                  <a:pt x="3875" y="2714"/>
                  <a:pt x="3875" y="2772"/>
                </a:cubicBezTo>
                <a:cubicBezTo>
                  <a:pt x="3875" y="2785"/>
                  <a:pt x="3856" y="2818"/>
                  <a:pt x="3832" y="2846"/>
                </a:cubicBezTo>
                <a:cubicBezTo>
                  <a:pt x="3798" y="2887"/>
                  <a:pt x="3776" y="2897"/>
                  <a:pt x="3725" y="2897"/>
                </a:cubicBezTo>
                <a:cubicBezTo>
                  <a:pt x="3675" y="2897"/>
                  <a:pt x="3653" y="2887"/>
                  <a:pt x="3619" y="2846"/>
                </a:cubicBezTo>
                <a:close/>
                <a:moveTo>
                  <a:pt x="3123" y="2847"/>
                </a:moveTo>
                <a:cubicBezTo>
                  <a:pt x="3075" y="2819"/>
                  <a:pt x="3052" y="2738"/>
                  <a:pt x="3076" y="2680"/>
                </a:cubicBezTo>
                <a:cubicBezTo>
                  <a:pt x="3100" y="2620"/>
                  <a:pt x="3137" y="2597"/>
                  <a:pt x="3209" y="2597"/>
                </a:cubicBezTo>
                <a:cubicBezTo>
                  <a:pt x="3280" y="2597"/>
                  <a:pt x="3317" y="2620"/>
                  <a:pt x="3342" y="2680"/>
                </a:cubicBezTo>
                <a:cubicBezTo>
                  <a:pt x="3366" y="2739"/>
                  <a:pt x="3342" y="2821"/>
                  <a:pt x="3291" y="2848"/>
                </a:cubicBezTo>
                <a:cubicBezTo>
                  <a:pt x="3253" y="2868"/>
                  <a:pt x="3159" y="2868"/>
                  <a:pt x="3123" y="2847"/>
                </a:cubicBezTo>
                <a:close/>
                <a:moveTo>
                  <a:pt x="4157" y="2847"/>
                </a:moveTo>
                <a:cubicBezTo>
                  <a:pt x="4108" y="2819"/>
                  <a:pt x="4085" y="2738"/>
                  <a:pt x="4109" y="2680"/>
                </a:cubicBezTo>
                <a:cubicBezTo>
                  <a:pt x="4134" y="2620"/>
                  <a:pt x="4171" y="2597"/>
                  <a:pt x="4242" y="2597"/>
                </a:cubicBezTo>
                <a:cubicBezTo>
                  <a:pt x="4315" y="2597"/>
                  <a:pt x="4352" y="2621"/>
                  <a:pt x="4373" y="2681"/>
                </a:cubicBezTo>
                <a:cubicBezTo>
                  <a:pt x="4393" y="2739"/>
                  <a:pt x="4375" y="2806"/>
                  <a:pt x="4329" y="2841"/>
                </a:cubicBezTo>
                <a:cubicBezTo>
                  <a:pt x="4296" y="2866"/>
                  <a:pt x="4196" y="2870"/>
                  <a:pt x="4157" y="2847"/>
                </a:cubicBezTo>
                <a:close/>
                <a:moveTo>
                  <a:pt x="1938" y="2764"/>
                </a:moveTo>
                <a:lnTo>
                  <a:pt x="1943" y="2522"/>
                </a:lnTo>
                <a:lnTo>
                  <a:pt x="1638" y="2522"/>
                </a:lnTo>
                <a:cubicBezTo>
                  <a:pt x="1106" y="2522"/>
                  <a:pt x="680" y="2427"/>
                  <a:pt x="367" y="2238"/>
                </a:cubicBezTo>
                <a:cubicBezTo>
                  <a:pt x="314" y="2207"/>
                  <a:pt x="268" y="2181"/>
                  <a:pt x="265" y="2181"/>
                </a:cubicBezTo>
                <a:cubicBezTo>
                  <a:pt x="262" y="2181"/>
                  <a:pt x="259" y="2256"/>
                  <a:pt x="259" y="2349"/>
                </a:cubicBezTo>
                <a:cubicBezTo>
                  <a:pt x="259" y="2471"/>
                  <a:pt x="266" y="2533"/>
                  <a:pt x="286" y="2576"/>
                </a:cubicBezTo>
                <a:cubicBezTo>
                  <a:pt x="345" y="2699"/>
                  <a:pt x="582" y="2840"/>
                  <a:pt x="870" y="2922"/>
                </a:cubicBezTo>
                <a:cubicBezTo>
                  <a:pt x="1101" y="2988"/>
                  <a:pt x="1301" y="3011"/>
                  <a:pt x="1634" y="3008"/>
                </a:cubicBezTo>
                <a:lnTo>
                  <a:pt x="1934" y="3006"/>
                </a:lnTo>
                <a:lnTo>
                  <a:pt x="1938" y="2764"/>
                </a:lnTo>
                <a:close/>
                <a:moveTo>
                  <a:pt x="1554" y="2876"/>
                </a:moveTo>
                <a:cubicBezTo>
                  <a:pt x="1487" y="2825"/>
                  <a:pt x="1494" y="2686"/>
                  <a:pt x="1567" y="2658"/>
                </a:cubicBezTo>
                <a:cubicBezTo>
                  <a:pt x="1705" y="2605"/>
                  <a:pt x="1824" y="2763"/>
                  <a:pt x="1720" y="2861"/>
                </a:cubicBezTo>
                <a:cubicBezTo>
                  <a:pt x="1677" y="2901"/>
                  <a:pt x="1597" y="2909"/>
                  <a:pt x="1554" y="2876"/>
                </a:cubicBezTo>
                <a:close/>
                <a:moveTo>
                  <a:pt x="1115" y="2864"/>
                </a:moveTo>
                <a:cubicBezTo>
                  <a:pt x="1071" y="2846"/>
                  <a:pt x="1025" y="2784"/>
                  <a:pt x="1025" y="2742"/>
                </a:cubicBezTo>
                <a:cubicBezTo>
                  <a:pt x="1025" y="2725"/>
                  <a:pt x="1048" y="2689"/>
                  <a:pt x="1076" y="2661"/>
                </a:cubicBezTo>
                <a:cubicBezTo>
                  <a:pt x="1118" y="2618"/>
                  <a:pt x="1135" y="2612"/>
                  <a:pt x="1180" y="2620"/>
                </a:cubicBezTo>
                <a:cubicBezTo>
                  <a:pt x="1246" y="2633"/>
                  <a:pt x="1292" y="2686"/>
                  <a:pt x="1292" y="2749"/>
                </a:cubicBezTo>
                <a:cubicBezTo>
                  <a:pt x="1292" y="2795"/>
                  <a:pt x="1243" y="2864"/>
                  <a:pt x="1210" y="2864"/>
                </a:cubicBezTo>
                <a:cubicBezTo>
                  <a:pt x="1202" y="2864"/>
                  <a:pt x="1185" y="2867"/>
                  <a:pt x="1173" y="2871"/>
                </a:cubicBezTo>
                <a:cubicBezTo>
                  <a:pt x="1160" y="2875"/>
                  <a:pt x="1134" y="2872"/>
                  <a:pt x="1115" y="2864"/>
                </a:cubicBezTo>
                <a:close/>
                <a:moveTo>
                  <a:pt x="6259" y="2988"/>
                </a:moveTo>
                <a:cubicBezTo>
                  <a:pt x="6673" y="2930"/>
                  <a:pt x="7018" y="2783"/>
                  <a:pt x="7143" y="2610"/>
                </a:cubicBezTo>
                <a:cubicBezTo>
                  <a:pt x="7190" y="2545"/>
                  <a:pt x="7192" y="2535"/>
                  <a:pt x="7192" y="2361"/>
                </a:cubicBezTo>
                <a:cubicBezTo>
                  <a:pt x="7192" y="2262"/>
                  <a:pt x="7189" y="2181"/>
                  <a:pt x="7186" y="2181"/>
                </a:cubicBezTo>
                <a:cubicBezTo>
                  <a:pt x="7182" y="2181"/>
                  <a:pt x="7136" y="2207"/>
                  <a:pt x="7084" y="2238"/>
                </a:cubicBezTo>
                <a:cubicBezTo>
                  <a:pt x="6769" y="2428"/>
                  <a:pt x="6347" y="2522"/>
                  <a:pt x="5813" y="2522"/>
                </a:cubicBezTo>
                <a:lnTo>
                  <a:pt x="5509" y="2522"/>
                </a:lnTo>
                <a:lnTo>
                  <a:pt x="5509" y="2757"/>
                </a:lnTo>
                <a:cubicBezTo>
                  <a:pt x="5509" y="2886"/>
                  <a:pt x="5514" y="2997"/>
                  <a:pt x="5520" y="3003"/>
                </a:cubicBezTo>
                <a:cubicBezTo>
                  <a:pt x="5541" y="3024"/>
                  <a:pt x="6075" y="3014"/>
                  <a:pt x="6259" y="2988"/>
                </a:cubicBezTo>
                <a:close/>
                <a:moveTo>
                  <a:pt x="5728" y="2859"/>
                </a:moveTo>
                <a:cubicBezTo>
                  <a:pt x="5632" y="2756"/>
                  <a:pt x="5747" y="2606"/>
                  <a:pt x="5883" y="2658"/>
                </a:cubicBezTo>
                <a:cubicBezTo>
                  <a:pt x="5924" y="2673"/>
                  <a:pt x="5961" y="2757"/>
                  <a:pt x="5949" y="2806"/>
                </a:cubicBezTo>
                <a:cubicBezTo>
                  <a:pt x="5926" y="2898"/>
                  <a:pt x="5794" y="2929"/>
                  <a:pt x="5728" y="2859"/>
                </a:cubicBezTo>
                <a:close/>
                <a:moveTo>
                  <a:pt x="6244" y="2862"/>
                </a:moveTo>
                <a:cubicBezTo>
                  <a:pt x="6131" y="2818"/>
                  <a:pt x="6129" y="2677"/>
                  <a:pt x="6241" y="2631"/>
                </a:cubicBezTo>
                <a:cubicBezTo>
                  <a:pt x="6306" y="2604"/>
                  <a:pt x="6379" y="2631"/>
                  <a:pt x="6407" y="2691"/>
                </a:cubicBezTo>
                <a:cubicBezTo>
                  <a:pt x="6434" y="2750"/>
                  <a:pt x="6430" y="2773"/>
                  <a:pt x="6388" y="2820"/>
                </a:cubicBezTo>
                <a:cubicBezTo>
                  <a:pt x="6342" y="2870"/>
                  <a:pt x="6297" y="2883"/>
                  <a:pt x="6244" y="2862"/>
                </a:cubicBezTo>
                <a:close/>
                <a:moveTo>
                  <a:pt x="1827" y="2264"/>
                </a:moveTo>
                <a:lnTo>
                  <a:pt x="1942" y="2264"/>
                </a:lnTo>
                <a:lnTo>
                  <a:pt x="1942" y="2018"/>
                </a:lnTo>
                <a:lnTo>
                  <a:pt x="1942" y="1772"/>
                </a:lnTo>
                <a:lnTo>
                  <a:pt x="1613" y="1771"/>
                </a:lnTo>
                <a:cubicBezTo>
                  <a:pt x="1383" y="1771"/>
                  <a:pt x="1233" y="1762"/>
                  <a:pt x="1114" y="1742"/>
                </a:cubicBezTo>
                <a:cubicBezTo>
                  <a:pt x="813" y="1692"/>
                  <a:pt x="499" y="1585"/>
                  <a:pt x="342" y="1481"/>
                </a:cubicBezTo>
                <a:lnTo>
                  <a:pt x="267" y="1431"/>
                </a:lnTo>
                <a:lnTo>
                  <a:pt x="262" y="1601"/>
                </a:lnTo>
                <a:cubicBezTo>
                  <a:pt x="257" y="1803"/>
                  <a:pt x="269" y="1841"/>
                  <a:pt x="373" y="1933"/>
                </a:cubicBezTo>
                <a:cubicBezTo>
                  <a:pt x="511" y="2054"/>
                  <a:pt x="760" y="2158"/>
                  <a:pt x="1068" y="2222"/>
                </a:cubicBezTo>
                <a:cubicBezTo>
                  <a:pt x="1206" y="2251"/>
                  <a:pt x="1582" y="2281"/>
                  <a:pt x="1665" y="2270"/>
                </a:cubicBezTo>
                <a:cubicBezTo>
                  <a:pt x="1691" y="2267"/>
                  <a:pt x="1764" y="2264"/>
                  <a:pt x="1827" y="2264"/>
                </a:cubicBezTo>
                <a:close/>
                <a:moveTo>
                  <a:pt x="1543" y="2118"/>
                </a:moveTo>
                <a:cubicBezTo>
                  <a:pt x="1489" y="2074"/>
                  <a:pt x="1491" y="1985"/>
                  <a:pt x="1549" y="1936"/>
                </a:cubicBezTo>
                <a:cubicBezTo>
                  <a:pt x="1605" y="1888"/>
                  <a:pt x="1657" y="1887"/>
                  <a:pt x="1715" y="1932"/>
                </a:cubicBezTo>
                <a:cubicBezTo>
                  <a:pt x="1770" y="1975"/>
                  <a:pt x="1775" y="2064"/>
                  <a:pt x="1725" y="2114"/>
                </a:cubicBezTo>
                <a:cubicBezTo>
                  <a:pt x="1684" y="2156"/>
                  <a:pt x="1592" y="2158"/>
                  <a:pt x="1543" y="2118"/>
                </a:cubicBezTo>
                <a:close/>
                <a:moveTo>
                  <a:pt x="1074" y="2082"/>
                </a:moveTo>
                <a:cubicBezTo>
                  <a:pt x="1017" y="2025"/>
                  <a:pt x="1013" y="1984"/>
                  <a:pt x="1058" y="1926"/>
                </a:cubicBezTo>
                <a:cubicBezTo>
                  <a:pt x="1102" y="1871"/>
                  <a:pt x="1163" y="1857"/>
                  <a:pt x="1225" y="1889"/>
                </a:cubicBezTo>
                <a:cubicBezTo>
                  <a:pt x="1313" y="1934"/>
                  <a:pt x="1313" y="2060"/>
                  <a:pt x="1226" y="2105"/>
                </a:cubicBezTo>
                <a:cubicBezTo>
                  <a:pt x="1156" y="2141"/>
                  <a:pt x="1129" y="2137"/>
                  <a:pt x="1074" y="2082"/>
                </a:cubicBezTo>
                <a:close/>
                <a:moveTo>
                  <a:pt x="6217" y="2246"/>
                </a:moveTo>
                <a:cubicBezTo>
                  <a:pt x="6656" y="2195"/>
                  <a:pt x="7100" y="1996"/>
                  <a:pt x="7174" y="1818"/>
                </a:cubicBezTo>
                <a:cubicBezTo>
                  <a:pt x="7186" y="1789"/>
                  <a:pt x="7191" y="1704"/>
                  <a:pt x="7188" y="1601"/>
                </a:cubicBezTo>
                <a:lnTo>
                  <a:pt x="7184" y="1431"/>
                </a:lnTo>
                <a:lnTo>
                  <a:pt x="7109" y="1481"/>
                </a:lnTo>
                <a:cubicBezTo>
                  <a:pt x="6952" y="1585"/>
                  <a:pt x="6638" y="1692"/>
                  <a:pt x="6336" y="1742"/>
                </a:cubicBezTo>
                <a:cubicBezTo>
                  <a:pt x="6218" y="1762"/>
                  <a:pt x="6068" y="1771"/>
                  <a:pt x="5838" y="1771"/>
                </a:cubicBezTo>
                <a:lnTo>
                  <a:pt x="5509" y="1772"/>
                </a:lnTo>
                <a:lnTo>
                  <a:pt x="5509" y="2017"/>
                </a:lnTo>
                <a:lnTo>
                  <a:pt x="5509" y="2263"/>
                </a:lnTo>
                <a:lnTo>
                  <a:pt x="5646" y="2268"/>
                </a:lnTo>
                <a:cubicBezTo>
                  <a:pt x="5831" y="2274"/>
                  <a:pt x="6036" y="2267"/>
                  <a:pt x="6217" y="2246"/>
                </a:cubicBezTo>
                <a:close/>
                <a:moveTo>
                  <a:pt x="5728" y="2109"/>
                </a:moveTo>
                <a:cubicBezTo>
                  <a:pt x="5680" y="2058"/>
                  <a:pt x="5682" y="1989"/>
                  <a:pt x="5733" y="1938"/>
                </a:cubicBezTo>
                <a:cubicBezTo>
                  <a:pt x="5828" y="1843"/>
                  <a:pt x="5991" y="1944"/>
                  <a:pt x="5944" y="2068"/>
                </a:cubicBezTo>
                <a:cubicBezTo>
                  <a:pt x="5911" y="2153"/>
                  <a:pt x="5791" y="2176"/>
                  <a:pt x="5728" y="2109"/>
                </a:cubicBezTo>
                <a:close/>
                <a:moveTo>
                  <a:pt x="6234" y="2111"/>
                </a:moveTo>
                <a:cubicBezTo>
                  <a:pt x="6126" y="2053"/>
                  <a:pt x="6135" y="1925"/>
                  <a:pt x="6249" y="1881"/>
                </a:cubicBezTo>
                <a:cubicBezTo>
                  <a:pt x="6307" y="1859"/>
                  <a:pt x="6372" y="1887"/>
                  <a:pt x="6407" y="1949"/>
                </a:cubicBezTo>
                <a:cubicBezTo>
                  <a:pt x="6438" y="2005"/>
                  <a:pt x="6410" y="2084"/>
                  <a:pt x="6348" y="2112"/>
                </a:cubicBezTo>
                <a:cubicBezTo>
                  <a:pt x="6298" y="2135"/>
                  <a:pt x="6277" y="2135"/>
                  <a:pt x="6234" y="2111"/>
                </a:cubicBezTo>
                <a:close/>
                <a:moveTo>
                  <a:pt x="4159" y="2195"/>
                </a:moveTo>
                <a:cubicBezTo>
                  <a:pt x="4634" y="2143"/>
                  <a:pt x="5119" y="1927"/>
                  <a:pt x="5215" y="1724"/>
                </a:cubicBezTo>
                <a:cubicBezTo>
                  <a:pt x="5356" y="1426"/>
                  <a:pt x="4916" y="1128"/>
                  <a:pt x="4176" y="1021"/>
                </a:cubicBezTo>
                <a:cubicBezTo>
                  <a:pt x="3935" y="986"/>
                  <a:pt x="3378" y="995"/>
                  <a:pt x="3154" y="1038"/>
                </a:cubicBezTo>
                <a:cubicBezTo>
                  <a:pt x="2646" y="1133"/>
                  <a:pt x="2265" y="1339"/>
                  <a:pt x="2213" y="1544"/>
                </a:cubicBezTo>
                <a:cubicBezTo>
                  <a:pt x="2186" y="1652"/>
                  <a:pt x="2212" y="1721"/>
                  <a:pt x="2324" y="1830"/>
                </a:cubicBezTo>
                <a:cubicBezTo>
                  <a:pt x="2634" y="2133"/>
                  <a:pt x="3374" y="2281"/>
                  <a:pt x="4159" y="2195"/>
                </a:cubicBezTo>
                <a:close/>
                <a:moveTo>
                  <a:pt x="1819" y="1520"/>
                </a:moveTo>
                <a:lnTo>
                  <a:pt x="1955" y="1509"/>
                </a:lnTo>
                <a:lnTo>
                  <a:pt x="1974" y="1446"/>
                </a:lnTo>
                <a:cubicBezTo>
                  <a:pt x="2021" y="1290"/>
                  <a:pt x="2219" y="1103"/>
                  <a:pt x="2467" y="982"/>
                </a:cubicBezTo>
                <a:cubicBezTo>
                  <a:pt x="2595" y="920"/>
                  <a:pt x="2851" y="831"/>
                  <a:pt x="2901" y="831"/>
                </a:cubicBezTo>
                <a:cubicBezTo>
                  <a:pt x="2942" y="831"/>
                  <a:pt x="2928" y="802"/>
                  <a:pt x="2858" y="742"/>
                </a:cubicBezTo>
                <a:cubicBezTo>
                  <a:pt x="2733" y="635"/>
                  <a:pt x="2490" y="536"/>
                  <a:pt x="2209" y="478"/>
                </a:cubicBezTo>
                <a:cubicBezTo>
                  <a:pt x="2001" y="435"/>
                  <a:pt x="1493" y="418"/>
                  <a:pt x="1264" y="447"/>
                </a:cubicBezTo>
                <a:cubicBezTo>
                  <a:pt x="687" y="518"/>
                  <a:pt x="259" y="740"/>
                  <a:pt x="259" y="967"/>
                </a:cubicBezTo>
                <a:cubicBezTo>
                  <a:pt x="259" y="1050"/>
                  <a:pt x="290" y="1110"/>
                  <a:pt x="372" y="1184"/>
                </a:cubicBezTo>
                <a:cubicBezTo>
                  <a:pt x="462" y="1265"/>
                  <a:pt x="564" y="1323"/>
                  <a:pt x="720" y="1379"/>
                </a:cubicBezTo>
                <a:cubicBezTo>
                  <a:pt x="1028" y="1492"/>
                  <a:pt x="1463" y="1548"/>
                  <a:pt x="1819" y="1520"/>
                </a:cubicBezTo>
                <a:close/>
                <a:moveTo>
                  <a:pt x="6092" y="1513"/>
                </a:moveTo>
                <a:cubicBezTo>
                  <a:pt x="6631" y="1463"/>
                  <a:pt x="7062" y="1286"/>
                  <a:pt x="7173" y="1069"/>
                </a:cubicBezTo>
                <a:cubicBezTo>
                  <a:pt x="7258" y="905"/>
                  <a:pt x="7091" y="710"/>
                  <a:pt x="6757" y="581"/>
                </a:cubicBezTo>
                <a:cubicBezTo>
                  <a:pt x="6457" y="465"/>
                  <a:pt x="6150" y="423"/>
                  <a:pt x="5712" y="435"/>
                </a:cubicBezTo>
                <a:cubicBezTo>
                  <a:pt x="5297" y="448"/>
                  <a:pt x="5034" y="503"/>
                  <a:pt x="4764" y="634"/>
                </a:cubicBezTo>
                <a:cubicBezTo>
                  <a:pt x="4662" y="684"/>
                  <a:pt x="4525" y="786"/>
                  <a:pt x="4525" y="813"/>
                </a:cubicBezTo>
                <a:cubicBezTo>
                  <a:pt x="4525" y="820"/>
                  <a:pt x="4589" y="842"/>
                  <a:pt x="4666" y="863"/>
                </a:cubicBezTo>
                <a:cubicBezTo>
                  <a:pt x="4743" y="883"/>
                  <a:pt x="4891" y="942"/>
                  <a:pt x="4995" y="993"/>
                </a:cubicBezTo>
                <a:cubicBezTo>
                  <a:pt x="5154" y="1071"/>
                  <a:pt x="5203" y="1105"/>
                  <a:pt x="5311" y="1212"/>
                </a:cubicBezTo>
                <a:cubicBezTo>
                  <a:pt x="5406" y="1308"/>
                  <a:pt x="5445" y="1360"/>
                  <a:pt x="5469" y="1426"/>
                </a:cubicBezTo>
                <a:lnTo>
                  <a:pt x="5499" y="1513"/>
                </a:lnTo>
                <a:lnTo>
                  <a:pt x="5600" y="1518"/>
                </a:lnTo>
                <a:cubicBezTo>
                  <a:pt x="5816" y="1531"/>
                  <a:pt x="5907" y="1530"/>
                  <a:pt x="6092" y="1513"/>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pitchFamily="2" charset="0"/>
            </a:endParaRPr>
          </a:p>
        </p:txBody>
      </p:sp>
      <p:grpSp>
        <p:nvGrpSpPr>
          <p:cNvPr id="23" name="Group 22">
            <a:extLst>
              <a:ext uri="{FF2B5EF4-FFF2-40B4-BE49-F238E27FC236}">
                <a16:creationId xmlns:a16="http://schemas.microsoft.com/office/drawing/2014/main" id="{FB2420A1-F7D8-1830-D6FA-98CC24D08D95}"/>
              </a:ext>
            </a:extLst>
          </p:cNvPr>
          <p:cNvGrpSpPr/>
          <p:nvPr/>
        </p:nvGrpSpPr>
        <p:grpSpPr>
          <a:xfrm>
            <a:off x="8145266" y="841317"/>
            <a:ext cx="648880" cy="648880"/>
            <a:chOff x="577961" y="841317"/>
            <a:chExt cx="648880" cy="648880"/>
          </a:xfrm>
        </p:grpSpPr>
        <p:sp>
          <p:nvSpPr>
            <p:cNvPr id="24" name="Oval 23">
              <a:extLst>
                <a:ext uri="{FF2B5EF4-FFF2-40B4-BE49-F238E27FC236}">
                  <a16:creationId xmlns:a16="http://schemas.microsoft.com/office/drawing/2014/main" id="{BD5C8682-0349-8101-6007-3C1099E27FDC}"/>
                </a:ext>
              </a:extLst>
            </p:cNvPr>
            <p:cNvSpPr/>
            <p:nvPr/>
          </p:nvSpPr>
          <p:spPr>
            <a:xfrm>
              <a:off x="577961" y="841317"/>
              <a:ext cx="648880" cy="648880"/>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5BC54E49-D423-D300-9F01-F264C44C6B63}"/>
                </a:ext>
              </a:extLst>
            </p:cNvPr>
            <p:cNvSpPr/>
            <p:nvPr/>
          </p:nvSpPr>
          <p:spPr>
            <a:xfrm>
              <a:off x="634270" y="897625"/>
              <a:ext cx="536265" cy="53626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Freeform 14">
            <a:extLst>
              <a:ext uri="{FF2B5EF4-FFF2-40B4-BE49-F238E27FC236}">
                <a16:creationId xmlns:a16="http://schemas.microsoft.com/office/drawing/2014/main" id="{707CE199-1D50-E369-32DA-B74B1FFCCEAA}"/>
              </a:ext>
            </a:extLst>
          </p:cNvPr>
          <p:cNvSpPr>
            <a:spLocks noEditPoints="1"/>
          </p:cNvSpPr>
          <p:nvPr/>
        </p:nvSpPr>
        <p:spPr bwMode="auto">
          <a:xfrm>
            <a:off x="8320788" y="1047616"/>
            <a:ext cx="306556" cy="237557"/>
          </a:xfrm>
          <a:custGeom>
            <a:avLst/>
            <a:gdLst>
              <a:gd name="T0" fmla="*/ 6177 w 6207"/>
              <a:gd name="T1" fmla="*/ 187 h 4806"/>
              <a:gd name="T2" fmla="*/ 3107 w 6207"/>
              <a:gd name="T3" fmla="*/ 4806 h 4806"/>
              <a:gd name="T4" fmla="*/ 207 w 6207"/>
              <a:gd name="T5" fmla="*/ 1407 h 4806"/>
              <a:gd name="T6" fmla="*/ 4407 w 6207"/>
              <a:gd name="T7" fmla="*/ 4607 h 4806"/>
              <a:gd name="T8" fmla="*/ 1007 w 6207"/>
              <a:gd name="T9" fmla="*/ 3707 h 4806"/>
              <a:gd name="T10" fmla="*/ 807 w 6207"/>
              <a:gd name="T11" fmla="*/ 3207 h 4806"/>
              <a:gd name="T12" fmla="*/ 807 w 6207"/>
              <a:gd name="T13" fmla="*/ 4207 h 4806"/>
              <a:gd name="T14" fmla="*/ 1807 w 6207"/>
              <a:gd name="T15" fmla="*/ 3407 h 4806"/>
              <a:gd name="T16" fmla="*/ 1607 w 6207"/>
              <a:gd name="T17" fmla="*/ 2607 h 4806"/>
              <a:gd name="T18" fmla="*/ 1607 w 6207"/>
              <a:gd name="T19" fmla="*/ 4207 h 4806"/>
              <a:gd name="T20" fmla="*/ 2607 w 6207"/>
              <a:gd name="T21" fmla="*/ 3807 h 4806"/>
              <a:gd name="T22" fmla="*/ 2407 w 6207"/>
              <a:gd name="T23" fmla="*/ 3407 h 4806"/>
              <a:gd name="T24" fmla="*/ 2407 w 6207"/>
              <a:gd name="T25" fmla="*/ 4207 h 4806"/>
              <a:gd name="T26" fmla="*/ 3407 w 6207"/>
              <a:gd name="T27" fmla="*/ 3607 h 4806"/>
              <a:gd name="T28" fmla="*/ 3207 w 6207"/>
              <a:gd name="T29" fmla="*/ 3007 h 4806"/>
              <a:gd name="T30" fmla="*/ 3207 w 6207"/>
              <a:gd name="T31" fmla="*/ 4207 h 4806"/>
              <a:gd name="T32" fmla="*/ 4207 w 6207"/>
              <a:gd name="T33" fmla="*/ 3407 h 4806"/>
              <a:gd name="T34" fmla="*/ 4007 w 6207"/>
              <a:gd name="T35" fmla="*/ 2607 h 4806"/>
              <a:gd name="T36" fmla="*/ 4007 w 6207"/>
              <a:gd name="T37" fmla="*/ 4207 h 4806"/>
              <a:gd name="T38" fmla="*/ 1581 w 6207"/>
              <a:gd name="T39" fmla="*/ 2195 h 4806"/>
              <a:gd name="T40" fmla="*/ 826 w 6207"/>
              <a:gd name="T41" fmla="*/ 2777 h 4806"/>
              <a:gd name="T42" fmla="*/ 1218 w 6207"/>
              <a:gd name="T43" fmla="*/ 2000 h 4806"/>
              <a:gd name="T44" fmla="*/ 1979 w 6207"/>
              <a:gd name="T45" fmla="*/ 2236 h 4806"/>
              <a:gd name="T46" fmla="*/ 2807 w 6207"/>
              <a:gd name="T47" fmla="*/ 2305 h 4806"/>
              <a:gd name="T48" fmla="*/ 3609 w 6207"/>
              <a:gd name="T49" fmla="*/ 1922 h 4806"/>
              <a:gd name="T50" fmla="*/ 3566 w 6207"/>
              <a:gd name="T51" fmla="*/ 2211 h 4806"/>
              <a:gd name="T52" fmla="*/ 2754 w 6207"/>
              <a:gd name="T53" fmla="*/ 2596 h 4806"/>
              <a:gd name="T54" fmla="*/ 2207 w 6207"/>
              <a:gd name="T55" fmla="*/ 2707 h 4806"/>
              <a:gd name="T56" fmla="*/ 707 w 6207"/>
              <a:gd name="T57" fmla="*/ 2607 h 4806"/>
              <a:gd name="T58" fmla="*/ 3038 w 6207"/>
              <a:gd name="T59" fmla="*/ 2376 h 4806"/>
              <a:gd name="T60" fmla="*/ 1407 w 6207"/>
              <a:gd name="T61" fmla="*/ 1907 h 4806"/>
              <a:gd name="T62" fmla="*/ 3807 w 6207"/>
              <a:gd name="T63" fmla="*/ 1907 h 4806"/>
              <a:gd name="T64" fmla="*/ 6007 w 6207"/>
              <a:gd name="T65" fmla="*/ 1407 h 4806"/>
              <a:gd name="T66" fmla="*/ 5945 w 6207"/>
              <a:gd name="T67" fmla="*/ 4607 h 4806"/>
              <a:gd name="T68" fmla="*/ 5107 w 6207"/>
              <a:gd name="T69" fmla="*/ 3452 h 4806"/>
              <a:gd name="T70" fmla="*/ 5607 w 6207"/>
              <a:gd name="T71" fmla="*/ 3907 h 4806"/>
              <a:gd name="T72" fmla="*/ 4807 w 6207"/>
              <a:gd name="T73" fmla="*/ 2807 h 4806"/>
              <a:gd name="T74" fmla="*/ 4807 w 6207"/>
              <a:gd name="T75" fmla="*/ 3007 h 4806"/>
              <a:gd name="T76" fmla="*/ 5807 w 6207"/>
              <a:gd name="T77" fmla="*/ 2907 h 4806"/>
              <a:gd name="T78" fmla="*/ 4807 w 6207"/>
              <a:gd name="T79" fmla="*/ 2407 h 4806"/>
              <a:gd name="T80" fmla="*/ 4807 w 6207"/>
              <a:gd name="T81" fmla="*/ 2607 h 4806"/>
              <a:gd name="T82" fmla="*/ 5807 w 6207"/>
              <a:gd name="T83" fmla="*/ 2507 h 4806"/>
              <a:gd name="T84" fmla="*/ 4807 w 6207"/>
              <a:gd name="T85" fmla="*/ 2007 h 4806"/>
              <a:gd name="T86" fmla="*/ 4807 w 6207"/>
              <a:gd name="T87" fmla="*/ 2207 h 4806"/>
              <a:gd name="T88" fmla="*/ 5807 w 6207"/>
              <a:gd name="T89" fmla="*/ 1707 h 4806"/>
              <a:gd name="T90" fmla="*/ 6007 w 6207"/>
              <a:gd name="T91" fmla="*/ 268 h 4806"/>
              <a:gd name="T92" fmla="*/ 207 w 6207"/>
              <a:gd name="T93" fmla="*/ 268 h 4806"/>
              <a:gd name="T94" fmla="*/ 407 w 6207"/>
              <a:gd name="T95" fmla="*/ 707 h 4806"/>
              <a:gd name="T96" fmla="*/ 707 w 6207"/>
              <a:gd name="T97" fmla="*/ 1007 h 4806"/>
              <a:gd name="T98" fmla="*/ 607 w 6207"/>
              <a:gd name="T99" fmla="*/ 607 h 4806"/>
              <a:gd name="T100" fmla="*/ 1207 w 6207"/>
              <a:gd name="T101" fmla="*/ 707 h 4806"/>
              <a:gd name="T102" fmla="*/ 1507 w 6207"/>
              <a:gd name="T103" fmla="*/ 1007 h 4806"/>
              <a:gd name="T104" fmla="*/ 1407 w 6207"/>
              <a:gd name="T105" fmla="*/ 607 h 4806"/>
              <a:gd name="T106" fmla="*/ 2007 w 6207"/>
              <a:gd name="T107" fmla="*/ 707 h 4806"/>
              <a:gd name="T108" fmla="*/ 2307 w 6207"/>
              <a:gd name="T109" fmla="*/ 1007 h 4806"/>
              <a:gd name="T110" fmla="*/ 2207 w 6207"/>
              <a:gd name="T111" fmla="*/ 607 h 4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207" h="4806">
                <a:moveTo>
                  <a:pt x="187" y="4777"/>
                </a:moveTo>
                <a:cubicBezTo>
                  <a:pt x="113" y="4743"/>
                  <a:pt x="42" y="4665"/>
                  <a:pt x="21" y="4596"/>
                </a:cubicBezTo>
                <a:cubicBezTo>
                  <a:pt x="0" y="4524"/>
                  <a:pt x="1" y="287"/>
                  <a:pt x="22" y="214"/>
                </a:cubicBezTo>
                <a:cubicBezTo>
                  <a:pt x="42" y="146"/>
                  <a:pt x="146" y="42"/>
                  <a:pt x="215" y="22"/>
                </a:cubicBezTo>
                <a:cubicBezTo>
                  <a:pt x="287" y="0"/>
                  <a:pt x="5924" y="0"/>
                  <a:pt x="5996" y="21"/>
                </a:cubicBezTo>
                <a:cubicBezTo>
                  <a:pt x="6065" y="42"/>
                  <a:pt x="6143" y="113"/>
                  <a:pt x="6177" y="187"/>
                </a:cubicBezTo>
                <a:lnTo>
                  <a:pt x="6207" y="250"/>
                </a:lnTo>
                <a:lnTo>
                  <a:pt x="6206" y="2407"/>
                </a:lnTo>
                <a:cubicBezTo>
                  <a:pt x="6206" y="4549"/>
                  <a:pt x="6206" y="4563"/>
                  <a:pt x="6181" y="4619"/>
                </a:cubicBezTo>
                <a:cubicBezTo>
                  <a:pt x="6147" y="4695"/>
                  <a:pt x="6101" y="4741"/>
                  <a:pt x="6026" y="4777"/>
                </a:cubicBezTo>
                <a:lnTo>
                  <a:pt x="5963" y="4806"/>
                </a:lnTo>
                <a:lnTo>
                  <a:pt x="3107" y="4806"/>
                </a:lnTo>
                <a:lnTo>
                  <a:pt x="251" y="4806"/>
                </a:lnTo>
                <a:lnTo>
                  <a:pt x="187" y="4777"/>
                </a:lnTo>
                <a:close/>
                <a:moveTo>
                  <a:pt x="4407" y="3007"/>
                </a:moveTo>
                <a:lnTo>
                  <a:pt x="4407" y="1407"/>
                </a:lnTo>
                <a:lnTo>
                  <a:pt x="2307" y="1407"/>
                </a:lnTo>
                <a:lnTo>
                  <a:pt x="207" y="1407"/>
                </a:lnTo>
                <a:lnTo>
                  <a:pt x="207" y="2976"/>
                </a:lnTo>
                <a:lnTo>
                  <a:pt x="207" y="4545"/>
                </a:lnTo>
                <a:lnTo>
                  <a:pt x="238" y="4576"/>
                </a:lnTo>
                <a:lnTo>
                  <a:pt x="268" y="4607"/>
                </a:lnTo>
                <a:lnTo>
                  <a:pt x="2338" y="4607"/>
                </a:lnTo>
                <a:lnTo>
                  <a:pt x="4407" y="4607"/>
                </a:lnTo>
                <a:lnTo>
                  <a:pt x="4407" y="3007"/>
                </a:lnTo>
                <a:close/>
                <a:moveTo>
                  <a:pt x="407" y="3707"/>
                </a:moveTo>
                <a:lnTo>
                  <a:pt x="407" y="3007"/>
                </a:lnTo>
                <a:lnTo>
                  <a:pt x="707" y="3007"/>
                </a:lnTo>
                <a:lnTo>
                  <a:pt x="1007" y="3007"/>
                </a:lnTo>
                <a:lnTo>
                  <a:pt x="1007" y="3707"/>
                </a:lnTo>
                <a:lnTo>
                  <a:pt x="1007" y="4407"/>
                </a:lnTo>
                <a:lnTo>
                  <a:pt x="707" y="4407"/>
                </a:lnTo>
                <a:lnTo>
                  <a:pt x="407" y="4407"/>
                </a:lnTo>
                <a:lnTo>
                  <a:pt x="407" y="3707"/>
                </a:lnTo>
                <a:close/>
                <a:moveTo>
                  <a:pt x="807" y="3707"/>
                </a:moveTo>
                <a:lnTo>
                  <a:pt x="807" y="3207"/>
                </a:lnTo>
                <a:lnTo>
                  <a:pt x="707" y="3207"/>
                </a:lnTo>
                <a:lnTo>
                  <a:pt x="607" y="3207"/>
                </a:lnTo>
                <a:lnTo>
                  <a:pt x="607" y="3707"/>
                </a:lnTo>
                <a:lnTo>
                  <a:pt x="607" y="4207"/>
                </a:lnTo>
                <a:lnTo>
                  <a:pt x="707" y="4207"/>
                </a:lnTo>
                <a:lnTo>
                  <a:pt x="807" y="4207"/>
                </a:lnTo>
                <a:lnTo>
                  <a:pt x="807" y="3707"/>
                </a:lnTo>
                <a:close/>
                <a:moveTo>
                  <a:pt x="1207" y="3407"/>
                </a:moveTo>
                <a:lnTo>
                  <a:pt x="1207" y="2407"/>
                </a:lnTo>
                <a:lnTo>
                  <a:pt x="1507" y="2407"/>
                </a:lnTo>
                <a:lnTo>
                  <a:pt x="1807" y="2407"/>
                </a:lnTo>
                <a:lnTo>
                  <a:pt x="1807" y="3407"/>
                </a:lnTo>
                <a:lnTo>
                  <a:pt x="1807" y="4407"/>
                </a:lnTo>
                <a:lnTo>
                  <a:pt x="1507" y="4407"/>
                </a:lnTo>
                <a:lnTo>
                  <a:pt x="1207" y="4407"/>
                </a:lnTo>
                <a:lnTo>
                  <a:pt x="1207" y="3407"/>
                </a:lnTo>
                <a:close/>
                <a:moveTo>
                  <a:pt x="1607" y="3407"/>
                </a:moveTo>
                <a:lnTo>
                  <a:pt x="1607" y="2607"/>
                </a:lnTo>
                <a:lnTo>
                  <a:pt x="1507" y="2607"/>
                </a:lnTo>
                <a:lnTo>
                  <a:pt x="1407" y="2607"/>
                </a:lnTo>
                <a:lnTo>
                  <a:pt x="1407" y="3407"/>
                </a:lnTo>
                <a:lnTo>
                  <a:pt x="1407" y="4207"/>
                </a:lnTo>
                <a:lnTo>
                  <a:pt x="1507" y="4207"/>
                </a:lnTo>
                <a:lnTo>
                  <a:pt x="1607" y="4207"/>
                </a:lnTo>
                <a:lnTo>
                  <a:pt x="1607" y="3407"/>
                </a:lnTo>
                <a:close/>
                <a:moveTo>
                  <a:pt x="2007" y="3807"/>
                </a:moveTo>
                <a:lnTo>
                  <a:pt x="2007" y="3207"/>
                </a:lnTo>
                <a:lnTo>
                  <a:pt x="2307" y="3207"/>
                </a:lnTo>
                <a:lnTo>
                  <a:pt x="2607" y="3207"/>
                </a:lnTo>
                <a:lnTo>
                  <a:pt x="2607" y="3807"/>
                </a:lnTo>
                <a:lnTo>
                  <a:pt x="2607" y="4407"/>
                </a:lnTo>
                <a:lnTo>
                  <a:pt x="2307" y="4407"/>
                </a:lnTo>
                <a:lnTo>
                  <a:pt x="2007" y="4407"/>
                </a:lnTo>
                <a:lnTo>
                  <a:pt x="2007" y="3807"/>
                </a:lnTo>
                <a:close/>
                <a:moveTo>
                  <a:pt x="2407" y="3807"/>
                </a:moveTo>
                <a:lnTo>
                  <a:pt x="2407" y="3407"/>
                </a:lnTo>
                <a:lnTo>
                  <a:pt x="2307" y="3407"/>
                </a:lnTo>
                <a:lnTo>
                  <a:pt x="2207" y="3407"/>
                </a:lnTo>
                <a:lnTo>
                  <a:pt x="2207" y="3807"/>
                </a:lnTo>
                <a:lnTo>
                  <a:pt x="2207" y="4207"/>
                </a:lnTo>
                <a:lnTo>
                  <a:pt x="2307" y="4207"/>
                </a:lnTo>
                <a:lnTo>
                  <a:pt x="2407" y="4207"/>
                </a:lnTo>
                <a:lnTo>
                  <a:pt x="2407" y="3807"/>
                </a:lnTo>
                <a:close/>
                <a:moveTo>
                  <a:pt x="2807" y="3607"/>
                </a:moveTo>
                <a:lnTo>
                  <a:pt x="2807" y="2807"/>
                </a:lnTo>
                <a:lnTo>
                  <a:pt x="3107" y="2807"/>
                </a:lnTo>
                <a:lnTo>
                  <a:pt x="3407" y="2807"/>
                </a:lnTo>
                <a:lnTo>
                  <a:pt x="3407" y="3607"/>
                </a:lnTo>
                <a:lnTo>
                  <a:pt x="3407" y="4407"/>
                </a:lnTo>
                <a:lnTo>
                  <a:pt x="3107" y="4407"/>
                </a:lnTo>
                <a:lnTo>
                  <a:pt x="2807" y="4407"/>
                </a:lnTo>
                <a:lnTo>
                  <a:pt x="2807" y="3607"/>
                </a:lnTo>
                <a:close/>
                <a:moveTo>
                  <a:pt x="3207" y="3607"/>
                </a:moveTo>
                <a:lnTo>
                  <a:pt x="3207" y="3007"/>
                </a:lnTo>
                <a:lnTo>
                  <a:pt x="3107" y="3007"/>
                </a:lnTo>
                <a:lnTo>
                  <a:pt x="3007" y="3007"/>
                </a:lnTo>
                <a:lnTo>
                  <a:pt x="3007" y="3607"/>
                </a:lnTo>
                <a:lnTo>
                  <a:pt x="3007" y="4207"/>
                </a:lnTo>
                <a:lnTo>
                  <a:pt x="3107" y="4207"/>
                </a:lnTo>
                <a:lnTo>
                  <a:pt x="3207" y="4207"/>
                </a:lnTo>
                <a:lnTo>
                  <a:pt x="3207" y="3607"/>
                </a:lnTo>
                <a:close/>
                <a:moveTo>
                  <a:pt x="3607" y="3407"/>
                </a:moveTo>
                <a:lnTo>
                  <a:pt x="3607" y="2407"/>
                </a:lnTo>
                <a:lnTo>
                  <a:pt x="3907" y="2407"/>
                </a:lnTo>
                <a:lnTo>
                  <a:pt x="4207" y="2407"/>
                </a:lnTo>
                <a:lnTo>
                  <a:pt x="4207" y="3407"/>
                </a:lnTo>
                <a:lnTo>
                  <a:pt x="4207" y="4407"/>
                </a:lnTo>
                <a:lnTo>
                  <a:pt x="3907" y="4407"/>
                </a:lnTo>
                <a:lnTo>
                  <a:pt x="3607" y="4407"/>
                </a:lnTo>
                <a:lnTo>
                  <a:pt x="3607" y="3407"/>
                </a:lnTo>
                <a:close/>
                <a:moveTo>
                  <a:pt x="4007" y="3407"/>
                </a:moveTo>
                <a:lnTo>
                  <a:pt x="4007" y="2607"/>
                </a:lnTo>
                <a:lnTo>
                  <a:pt x="3907" y="2607"/>
                </a:lnTo>
                <a:lnTo>
                  <a:pt x="3807" y="2607"/>
                </a:lnTo>
                <a:lnTo>
                  <a:pt x="3807" y="3407"/>
                </a:lnTo>
                <a:lnTo>
                  <a:pt x="3807" y="4207"/>
                </a:lnTo>
                <a:lnTo>
                  <a:pt x="3907" y="4207"/>
                </a:lnTo>
                <a:lnTo>
                  <a:pt x="4007" y="4207"/>
                </a:lnTo>
                <a:lnTo>
                  <a:pt x="4007" y="3407"/>
                </a:lnTo>
                <a:close/>
                <a:moveTo>
                  <a:pt x="2187" y="2977"/>
                </a:moveTo>
                <a:cubicBezTo>
                  <a:pt x="2042" y="2909"/>
                  <a:pt x="1980" y="2766"/>
                  <a:pt x="2026" y="2600"/>
                </a:cubicBezTo>
                <a:cubicBezTo>
                  <a:pt x="2031" y="2581"/>
                  <a:pt x="1991" y="2533"/>
                  <a:pt x="1834" y="2378"/>
                </a:cubicBezTo>
                <a:lnTo>
                  <a:pt x="1636" y="2180"/>
                </a:lnTo>
                <a:lnTo>
                  <a:pt x="1581" y="2195"/>
                </a:lnTo>
                <a:cubicBezTo>
                  <a:pt x="1518" y="2211"/>
                  <a:pt x="1436" y="2204"/>
                  <a:pt x="1381" y="2175"/>
                </a:cubicBezTo>
                <a:lnTo>
                  <a:pt x="1343" y="2155"/>
                </a:lnTo>
                <a:lnTo>
                  <a:pt x="1169" y="2284"/>
                </a:lnTo>
                <a:lnTo>
                  <a:pt x="996" y="2413"/>
                </a:lnTo>
                <a:lnTo>
                  <a:pt x="1003" y="2483"/>
                </a:lnTo>
                <a:cubicBezTo>
                  <a:pt x="1015" y="2605"/>
                  <a:pt x="946" y="2720"/>
                  <a:pt x="826" y="2777"/>
                </a:cubicBezTo>
                <a:cubicBezTo>
                  <a:pt x="709" y="2832"/>
                  <a:pt x="597" y="2810"/>
                  <a:pt x="500" y="2713"/>
                </a:cubicBezTo>
                <a:cubicBezTo>
                  <a:pt x="374" y="2587"/>
                  <a:pt x="374" y="2427"/>
                  <a:pt x="500" y="2300"/>
                </a:cubicBezTo>
                <a:cubicBezTo>
                  <a:pt x="595" y="2204"/>
                  <a:pt x="722" y="2181"/>
                  <a:pt x="833" y="2239"/>
                </a:cubicBezTo>
                <a:lnTo>
                  <a:pt x="871" y="2258"/>
                </a:lnTo>
                <a:lnTo>
                  <a:pt x="1045" y="2129"/>
                </a:lnTo>
                <a:lnTo>
                  <a:pt x="1218" y="2000"/>
                </a:lnTo>
                <a:lnTo>
                  <a:pt x="1211" y="1941"/>
                </a:lnTo>
                <a:cubicBezTo>
                  <a:pt x="1199" y="1847"/>
                  <a:pt x="1226" y="1773"/>
                  <a:pt x="1300" y="1700"/>
                </a:cubicBezTo>
                <a:cubicBezTo>
                  <a:pt x="1365" y="1635"/>
                  <a:pt x="1428" y="1607"/>
                  <a:pt x="1507" y="1607"/>
                </a:cubicBezTo>
                <a:cubicBezTo>
                  <a:pt x="1672" y="1607"/>
                  <a:pt x="1821" y="1767"/>
                  <a:pt x="1803" y="1925"/>
                </a:cubicBezTo>
                <a:cubicBezTo>
                  <a:pt x="1799" y="1960"/>
                  <a:pt x="1792" y="1999"/>
                  <a:pt x="1788" y="2013"/>
                </a:cubicBezTo>
                <a:cubicBezTo>
                  <a:pt x="1782" y="2033"/>
                  <a:pt x="1822" y="2079"/>
                  <a:pt x="1979" y="2236"/>
                </a:cubicBezTo>
                <a:lnTo>
                  <a:pt x="2178" y="2434"/>
                </a:lnTo>
                <a:lnTo>
                  <a:pt x="2227" y="2420"/>
                </a:lnTo>
                <a:cubicBezTo>
                  <a:pt x="2254" y="2413"/>
                  <a:pt x="2295" y="2407"/>
                  <a:pt x="2319" y="2407"/>
                </a:cubicBezTo>
                <a:cubicBezTo>
                  <a:pt x="2364" y="2407"/>
                  <a:pt x="2485" y="2456"/>
                  <a:pt x="2500" y="2480"/>
                </a:cubicBezTo>
                <a:cubicBezTo>
                  <a:pt x="2505" y="2489"/>
                  <a:pt x="2561" y="2467"/>
                  <a:pt x="2657" y="2419"/>
                </a:cubicBezTo>
                <a:cubicBezTo>
                  <a:pt x="2800" y="2347"/>
                  <a:pt x="2807" y="2342"/>
                  <a:pt x="2807" y="2305"/>
                </a:cubicBezTo>
                <a:cubicBezTo>
                  <a:pt x="2807" y="2228"/>
                  <a:pt x="2836" y="2164"/>
                  <a:pt x="2900" y="2100"/>
                </a:cubicBezTo>
                <a:cubicBezTo>
                  <a:pt x="2967" y="2033"/>
                  <a:pt x="3028" y="2007"/>
                  <a:pt x="3115" y="2007"/>
                </a:cubicBezTo>
                <a:cubicBezTo>
                  <a:pt x="3159" y="2007"/>
                  <a:pt x="3257" y="2046"/>
                  <a:pt x="3309" y="2084"/>
                </a:cubicBezTo>
                <a:cubicBezTo>
                  <a:pt x="3325" y="2096"/>
                  <a:pt x="3355" y="2087"/>
                  <a:pt x="3471" y="2035"/>
                </a:cubicBezTo>
                <a:lnTo>
                  <a:pt x="3612" y="1972"/>
                </a:lnTo>
                <a:lnTo>
                  <a:pt x="3609" y="1922"/>
                </a:lnTo>
                <a:cubicBezTo>
                  <a:pt x="3597" y="1763"/>
                  <a:pt x="3745" y="1607"/>
                  <a:pt x="3907" y="1607"/>
                </a:cubicBezTo>
                <a:cubicBezTo>
                  <a:pt x="4018" y="1607"/>
                  <a:pt x="4127" y="1680"/>
                  <a:pt x="4177" y="1787"/>
                </a:cubicBezTo>
                <a:cubicBezTo>
                  <a:pt x="4215" y="1868"/>
                  <a:pt x="4215" y="1945"/>
                  <a:pt x="4177" y="2026"/>
                </a:cubicBezTo>
                <a:cubicBezTo>
                  <a:pt x="4103" y="2185"/>
                  <a:pt x="3924" y="2248"/>
                  <a:pt x="3770" y="2170"/>
                </a:cubicBezTo>
                <a:lnTo>
                  <a:pt x="3719" y="2143"/>
                </a:lnTo>
                <a:lnTo>
                  <a:pt x="3566" y="2211"/>
                </a:lnTo>
                <a:lnTo>
                  <a:pt x="3413" y="2279"/>
                </a:lnTo>
                <a:lnTo>
                  <a:pt x="3405" y="2334"/>
                </a:lnTo>
                <a:cubicBezTo>
                  <a:pt x="3378" y="2524"/>
                  <a:pt x="3196" y="2646"/>
                  <a:pt x="3019" y="2593"/>
                </a:cubicBezTo>
                <a:cubicBezTo>
                  <a:pt x="2993" y="2585"/>
                  <a:pt x="2956" y="2566"/>
                  <a:pt x="2937" y="2550"/>
                </a:cubicBezTo>
                <a:lnTo>
                  <a:pt x="2901" y="2522"/>
                </a:lnTo>
                <a:lnTo>
                  <a:pt x="2754" y="2596"/>
                </a:lnTo>
                <a:cubicBezTo>
                  <a:pt x="2613" y="2666"/>
                  <a:pt x="2607" y="2671"/>
                  <a:pt x="2607" y="2709"/>
                </a:cubicBezTo>
                <a:cubicBezTo>
                  <a:pt x="2607" y="2785"/>
                  <a:pt x="2578" y="2849"/>
                  <a:pt x="2514" y="2913"/>
                </a:cubicBezTo>
                <a:cubicBezTo>
                  <a:pt x="2416" y="3010"/>
                  <a:pt x="2306" y="3032"/>
                  <a:pt x="2187" y="2977"/>
                </a:cubicBezTo>
                <a:close/>
                <a:moveTo>
                  <a:pt x="2376" y="2776"/>
                </a:moveTo>
                <a:cubicBezTo>
                  <a:pt x="2438" y="2714"/>
                  <a:pt x="2394" y="2607"/>
                  <a:pt x="2307" y="2607"/>
                </a:cubicBezTo>
                <a:cubicBezTo>
                  <a:pt x="2255" y="2607"/>
                  <a:pt x="2207" y="2655"/>
                  <a:pt x="2207" y="2707"/>
                </a:cubicBezTo>
                <a:cubicBezTo>
                  <a:pt x="2207" y="2758"/>
                  <a:pt x="2255" y="2807"/>
                  <a:pt x="2307" y="2807"/>
                </a:cubicBezTo>
                <a:cubicBezTo>
                  <a:pt x="2331" y="2807"/>
                  <a:pt x="2357" y="2795"/>
                  <a:pt x="2376" y="2776"/>
                </a:cubicBezTo>
                <a:close/>
                <a:moveTo>
                  <a:pt x="776" y="2576"/>
                </a:moveTo>
                <a:cubicBezTo>
                  <a:pt x="838" y="2514"/>
                  <a:pt x="794" y="2407"/>
                  <a:pt x="707" y="2407"/>
                </a:cubicBezTo>
                <a:cubicBezTo>
                  <a:pt x="655" y="2407"/>
                  <a:pt x="607" y="2455"/>
                  <a:pt x="607" y="2507"/>
                </a:cubicBezTo>
                <a:cubicBezTo>
                  <a:pt x="607" y="2558"/>
                  <a:pt x="655" y="2607"/>
                  <a:pt x="707" y="2607"/>
                </a:cubicBezTo>
                <a:cubicBezTo>
                  <a:pt x="731" y="2607"/>
                  <a:pt x="757" y="2595"/>
                  <a:pt x="776" y="2576"/>
                </a:cubicBezTo>
                <a:close/>
                <a:moveTo>
                  <a:pt x="3176" y="2376"/>
                </a:moveTo>
                <a:cubicBezTo>
                  <a:pt x="3238" y="2314"/>
                  <a:pt x="3194" y="2207"/>
                  <a:pt x="3107" y="2207"/>
                </a:cubicBezTo>
                <a:cubicBezTo>
                  <a:pt x="3082" y="2207"/>
                  <a:pt x="3057" y="2218"/>
                  <a:pt x="3038" y="2237"/>
                </a:cubicBezTo>
                <a:cubicBezTo>
                  <a:pt x="3018" y="2257"/>
                  <a:pt x="3007" y="2282"/>
                  <a:pt x="3007" y="2307"/>
                </a:cubicBezTo>
                <a:cubicBezTo>
                  <a:pt x="3007" y="2331"/>
                  <a:pt x="3018" y="2357"/>
                  <a:pt x="3038" y="2376"/>
                </a:cubicBezTo>
                <a:cubicBezTo>
                  <a:pt x="3057" y="2395"/>
                  <a:pt x="3082" y="2407"/>
                  <a:pt x="3107" y="2407"/>
                </a:cubicBezTo>
                <a:cubicBezTo>
                  <a:pt x="3131" y="2407"/>
                  <a:pt x="3157" y="2395"/>
                  <a:pt x="3176" y="2376"/>
                </a:cubicBezTo>
                <a:close/>
                <a:moveTo>
                  <a:pt x="1576" y="1976"/>
                </a:moveTo>
                <a:cubicBezTo>
                  <a:pt x="1638" y="1914"/>
                  <a:pt x="1594" y="1807"/>
                  <a:pt x="1507" y="1807"/>
                </a:cubicBezTo>
                <a:cubicBezTo>
                  <a:pt x="1482" y="1807"/>
                  <a:pt x="1457" y="1818"/>
                  <a:pt x="1438" y="1837"/>
                </a:cubicBezTo>
                <a:cubicBezTo>
                  <a:pt x="1418" y="1857"/>
                  <a:pt x="1407" y="1882"/>
                  <a:pt x="1407" y="1907"/>
                </a:cubicBezTo>
                <a:cubicBezTo>
                  <a:pt x="1407" y="1931"/>
                  <a:pt x="1418" y="1957"/>
                  <a:pt x="1438" y="1976"/>
                </a:cubicBezTo>
                <a:cubicBezTo>
                  <a:pt x="1457" y="1995"/>
                  <a:pt x="1482" y="2007"/>
                  <a:pt x="1507" y="2007"/>
                </a:cubicBezTo>
                <a:cubicBezTo>
                  <a:pt x="1531" y="2007"/>
                  <a:pt x="1557" y="1995"/>
                  <a:pt x="1576" y="1976"/>
                </a:cubicBezTo>
                <a:close/>
                <a:moveTo>
                  <a:pt x="3976" y="1976"/>
                </a:moveTo>
                <a:cubicBezTo>
                  <a:pt x="4038" y="1914"/>
                  <a:pt x="3994" y="1807"/>
                  <a:pt x="3907" y="1807"/>
                </a:cubicBezTo>
                <a:cubicBezTo>
                  <a:pt x="3855" y="1807"/>
                  <a:pt x="3807" y="1855"/>
                  <a:pt x="3807" y="1907"/>
                </a:cubicBezTo>
                <a:cubicBezTo>
                  <a:pt x="3807" y="1958"/>
                  <a:pt x="3855" y="2007"/>
                  <a:pt x="3907" y="2007"/>
                </a:cubicBezTo>
                <a:cubicBezTo>
                  <a:pt x="3931" y="2007"/>
                  <a:pt x="3957" y="1995"/>
                  <a:pt x="3976" y="1976"/>
                </a:cubicBezTo>
                <a:close/>
                <a:moveTo>
                  <a:pt x="5976" y="4576"/>
                </a:moveTo>
                <a:lnTo>
                  <a:pt x="6007" y="4545"/>
                </a:lnTo>
                <a:lnTo>
                  <a:pt x="6007" y="2976"/>
                </a:lnTo>
                <a:lnTo>
                  <a:pt x="6007" y="1407"/>
                </a:lnTo>
                <a:lnTo>
                  <a:pt x="5307" y="1407"/>
                </a:lnTo>
                <a:lnTo>
                  <a:pt x="4607" y="1407"/>
                </a:lnTo>
                <a:lnTo>
                  <a:pt x="4607" y="3007"/>
                </a:lnTo>
                <a:lnTo>
                  <a:pt x="4607" y="4607"/>
                </a:lnTo>
                <a:lnTo>
                  <a:pt x="5276" y="4607"/>
                </a:lnTo>
                <a:lnTo>
                  <a:pt x="5945" y="4607"/>
                </a:lnTo>
                <a:lnTo>
                  <a:pt x="5976" y="4576"/>
                </a:lnTo>
                <a:close/>
                <a:moveTo>
                  <a:pt x="5191" y="4394"/>
                </a:moveTo>
                <a:cubicBezTo>
                  <a:pt x="5049" y="4358"/>
                  <a:pt x="4927" y="4258"/>
                  <a:pt x="4860" y="4122"/>
                </a:cubicBezTo>
                <a:cubicBezTo>
                  <a:pt x="4816" y="4032"/>
                  <a:pt x="4813" y="4020"/>
                  <a:pt x="4813" y="3907"/>
                </a:cubicBezTo>
                <a:cubicBezTo>
                  <a:pt x="4813" y="3793"/>
                  <a:pt x="4816" y="3782"/>
                  <a:pt x="4860" y="3691"/>
                </a:cubicBezTo>
                <a:cubicBezTo>
                  <a:pt x="4916" y="3579"/>
                  <a:pt x="4988" y="3509"/>
                  <a:pt x="5107" y="3452"/>
                </a:cubicBezTo>
                <a:cubicBezTo>
                  <a:pt x="5180" y="3417"/>
                  <a:pt x="5200" y="3413"/>
                  <a:pt x="5307" y="3413"/>
                </a:cubicBezTo>
                <a:cubicBezTo>
                  <a:pt x="5420" y="3413"/>
                  <a:pt x="5432" y="3416"/>
                  <a:pt x="5522" y="3460"/>
                </a:cubicBezTo>
                <a:cubicBezTo>
                  <a:pt x="5903" y="3648"/>
                  <a:pt x="5897" y="4179"/>
                  <a:pt x="5512" y="4359"/>
                </a:cubicBezTo>
                <a:cubicBezTo>
                  <a:pt x="5423" y="4401"/>
                  <a:pt x="5279" y="4416"/>
                  <a:pt x="5191" y="4394"/>
                </a:cubicBezTo>
                <a:close/>
                <a:moveTo>
                  <a:pt x="5411" y="4187"/>
                </a:moveTo>
                <a:cubicBezTo>
                  <a:pt x="5516" y="4151"/>
                  <a:pt x="5607" y="4022"/>
                  <a:pt x="5607" y="3907"/>
                </a:cubicBezTo>
                <a:cubicBezTo>
                  <a:pt x="5607" y="3751"/>
                  <a:pt x="5464" y="3607"/>
                  <a:pt x="5309" y="3607"/>
                </a:cubicBezTo>
                <a:cubicBezTo>
                  <a:pt x="5228" y="3607"/>
                  <a:pt x="5165" y="3635"/>
                  <a:pt x="5100" y="3700"/>
                </a:cubicBezTo>
                <a:cubicBezTo>
                  <a:pt x="4972" y="3828"/>
                  <a:pt x="4975" y="4005"/>
                  <a:pt x="5107" y="4123"/>
                </a:cubicBezTo>
                <a:cubicBezTo>
                  <a:pt x="5199" y="4206"/>
                  <a:pt x="5295" y="4226"/>
                  <a:pt x="5411" y="4187"/>
                </a:cubicBezTo>
                <a:close/>
                <a:moveTo>
                  <a:pt x="4807" y="2907"/>
                </a:moveTo>
                <a:lnTo>
                  <a:pt x="4807" y="2807"/>
                </a:lnTo>
                <a:lnTo>
                  <a:pt x="4907" y="2807"/>
                </a:lnTo>
                <a:lnTo>
                  <a:pt x="5007" y="2807"/>
                </a:lnTo>
                <a:lnTo>
                  <a:pt x="5007" y="2907"/>
                </a:lnTo>
                <a:lnTo>
                  <a:pt x="5007" y="3007"/>
                </a:lnTo>
                <a:lnTo>
                  <a:pt x="4907" y="3007"/>
                </a:lnTo>
                <a:lnTo>
                  <a:pt x="4807" y="3007"/>
                </a:lnTo>
                <a:lnTo>
                  <a:pt x="4807" y="2907"/>
                </a:lnTo>
                <a:close/>
                <a:moveTo>
                  <a:pt x="5207" y="2907"/>
                </a:moveTo>
                <a:lnTo>
                  <a:pt x="5207" y="2807"/>
                </a:lnTo>
                <a:lnTo>
                  <a:pt x="5507" y="2807"/>
                </a:lnTo>
                <a:lnTo>
                  <a:pt x="5807" y="2807"/>
                </a:lnTo>
                <a:lnTo>
                  <a:pt x="5807" y="2907"/>
                </a:lnTo>
                <a:lnTo>
                  <a:pt x="5807" y="3007"/>
                </a:lnTo>
                <a:lnTo>
                  <a:pt x="5507" y="3007"/>
                </a:lnTo>
                <a:lnTo>
                  <a:pt x="5207" y="3007"/>
                </a:lnTo>
                <a:lnTo>
                  <a:pt x="5207" y="2907"/>
                </a:lnTo>
                <a:close/>
                <a:moveTo>
                  <a:pt x="4807" y="2507"/>
                </a:moveTo>
                <a:lnTo>
                  <a:pt x="4807" y="2407"/>
                </a:lnTo>
                <a:lnTo>
                  <a:pt x="4907" y="2407"/>
                </a:lnTo>
                <a:lnTo>
                  <a:pt x="5007" y="2407"/>
                </a:lnTo>
                <a:lnTo>
                  <a:pt x="5007" y="2507"/>
                </a:lnTo>
                <a:lnTo>
                  <a:pt x="5007" y="2607"/>
                </a:lnTo>
                <a:lnTo>
                  <a:pt x="4907" y="2607"/>
                </a:lnTo>
                <a:lnTo>
                  <a:pt x="4807" y="2607"/>
                </a:lnTo>
                <a:lnTo>
                  <a:pt x="4807" y="2507"/>
                </a:lnTo>
                <a:close/>
                <a:moveTo>
                  <a:pt x="5207" y="2507"/>
                </a:moveTo>
                <a:lnTo>
                  <a:pt x="5207" y="2407"/>
                </a:lnTo>
                <a:lnTo>
                  <a:pt x="5507" y="2407"/>
                </a:lnTo>
                <a:lnTo>
                  <a:pt x="5807" y="2407"/>
                </a:lnTo>
                <a:lnTo>
                  <a:pt x="5807" y="2507"/>
                </a:lnTo>
                <a:lnTo>
                  <a:pt x="5807" y="2607"/>
                </a:lnTo>
                <a:lnTo>
                  <a:pt x="5507" y="2607"/>
                </a:lnTo>
                <a:lnTo>
                  <a:pt x="5207" y="2607"/>
                </a:lnTo>
                <a:lnTo>
                  <a:pt x="5207" y="2507"/>
                </a:lnTo>
                <a:close/>
                <a:moveTo>
                  <a:pt x="4807" y="2107"/>
                </a:moveTo>
                <a:lnTo>
                  <a:pt x="4807" y="2007"/>
                </a:lnTo>
                <a:lnTo>
                  <a:pt x="5307" y="2007"/>
                </a:lnTo>
                <a:lnTo>
                  <a:pt x="5807" y="2007"/>
                </a:lnTo>
                <a:lnTo>
                  <a:pt x="5807" y="2107"/>
                </a:lnTo>
                <a:lnTo>
                  <a:pt x="5807" y="2207"/>
                </a:lnTo>
                <a:lnTo>
                  <a:pt x="5307" y="2207"/>
                </a:lnTo>
                <a:lnTo>
                  <a:pt x="4807" y="2207"/>
                </a:lnTo>
                <a:lnTo>
                  <a:pt x="4807" y="2107"/>
                </a:lnTo>
                <a:close/>
                <a:moveTo>
                  <a:pt x="4807" y="1707"/>
                </a:moveTo>
                <a:lnTo>
                  <a:pt x="4807" y="1607"/>
                </a:lnTo>
                <a:lnTo>
                  <a:pt x="5307" y="1607"/>
                </a:lnTo>
                <a:lnTo>
                  <a:pt x="5807" y="1607"/>
                </a:lnTo>
                <a:lnTo>
                  <a:pt x="5807" y="1707"/>
                </a:lnTo>
                <a:lnTo>
                  <a:pt x="5807" y="1807"/>
                </a:lnTo>
                <a:lnTo>
                  <a:pt x="5307" y="1807"/>
                </a:lnTo>
                <a:lnTo>
                  <a:pt x="4807" y="1807"/>
                </a:lnTo>
                <a:lnTo>
                  <a:pt x="4807" y="1707"/>
                </a:lnTo>
                <a:close/>
                <a:moveTo>
                  <a:pt x="6007" y="737"/>
                </a:moveTo>
                <a:lnTo>
                  <a:pt x="6007" y="268"/>
                </a:lnTo>
                <a:lnTo>
                  <a:pt x="5976" y="237"/>
                </a:lnTo>
                <a:lnTo>
                  <a:pt x="5945" y="207"/>
                </a:lnTo>
                <a:lnTo>
                  <a:pt x="3107" y="207"/>
                </a:lnTo>
                <a:lnTo>
                  <a:pt x="268" y="207"/>
                </a:lnTo>
                <a:lnTo>
                  <a:pt x="238" y="237"/>
                </a:lnTo>
                <a:lnTo>
                  <a:pt x="207" y="268"/>
                </a:lnTo>
                <a:lnTo>
                  <a:pt x="207" y="737"/>
                </a:lnTo>
                <a:lnTo>
                  <a:pt x="207" y="1207"/>
                </a:lnTo>
                <a:lnTo>
                  <a:pt x="3107" y="1207"/>
                </a:lnTo>
                <a:lnTo>
                  <a:pt x="6007" y="1207"/>
                </a:lnTo>
                <a:lnTo>
                  <a:pt x="6007" y="737"/>
                </a:lnTo>
                <a:close/>
                <a:moveTo>
                  <a:pt x="407" y="707"/>
                </a:moveTo>
                <a:lnTo>
                  <a:pt x="407" y="407"/>
                </a:lnTo>
                <a:lnTo>
                  <a:pt x="707" y="407"/>
                </a:lnTo>
                <a:lnTo>
                  <a:pt x="1007" y="407"/>
                </a:lnTo>
                <a:lnTo>
                  <a:pt x="1007" y="707"/>
                </a:lnTo>
                <a:lnTo>
                  <a:pt x="1007" y="1007"/>
                </a:lnTo>
                <a:lnTo>
                  <a:pt x="707" y="1007"/>
                </a:lnTo>
                <a:lnTo>
                  <a:pt x="407" y="1007"/>
                </a:lnTo>
                <a:lnTo>
                  <a:pt x="407" y="707"/>
                </a:lnTo>
                <a:close/>
                <a:moveTo>
                  <a:pt x="807" y="707"/>
                </a:moveTo>
                <a:lnTo>
                  <a:pt x="807" y="607"/>
                </a:lnTo>
                <a:lnTo>
                  <a:pt x="707" y="607"/>
                </a:lnTo>
                <a:lnTo>
                  <a:pt x="607" y="607"/>
                </a:lnTo>
                <a:lnTo>
                  <a:pt x="607" y="707"/>
                </a:lnTo>
                <a:lnTo>
                  <a:pt x="607" y="807"/>
                </a:lnTo>
                <a:lnTo>
                  <a:pt x="707" y="807"/>
                </a:lnTo>
                <a:lnTo>
                  <a:pt x="807" y="807"/>
                </a:lnTo>
                <a:lnTo>
                  <a:pt x="807" y="707"/>
                </a:lnTo>
                <a:close/>
                <a:moveTo>
                  <a:pt x="1207" y="707"/>
                </a:moveTo>
                <a:lnTo>
                  <a:pt x="1207" y="407"/>
                </a:lnTo>
                <a:lnTo>
                  <a:pt x="1507" y="407"/>
                </a:lnTo>
                <a:lnTo>
                  <a:pt x="1807" y="407"/>
                </a:lnTo>
                <a:lnTo>
                  <a:pt x="1807" y="707"/>
                </a:lnTo>
                <a:lnTo>
                  <a:pt x="1807" y="1007"/>
                </a:lnTo>
                <a:lnTo>
                  <a:pt x="1507" y="1007"/>
                </a:lnTo>
                <a:lnTo>
                  <a:pt x="1207" y="1007"/>
                </a:lnTo>
                <a:lnTo>
                  <a:pt x="1207" y="707"/>
                </a:lnTo>
                <a:close/>
                <a:moveTo>
                  <a:pt x="1607" y="707"/>
                </a:moveTo>
                <a:lnTo>
                  <a:pt x="1607" y="607"/>
                </a:lnTo>
                <a:lnTo>
                  <a:pt x="1507" y="607"/>
                </a:lnTo>
                <a:lnTo>
                  <a:pt x="1407" y="607"/>
                </a:lnTo>
                <a:lnTo>
                  <a:pt x="1407" y="707"/>
                </a:lnTo>
                <a:lnTo>
                  <a:pt x="1407" y="807"/>
                </a:lnTo>
                <a:lnTo>
                  <a:pt x="1507" y="807"/>
                </a:lnTo>
                <a:lnTo>
                  <a:pt x="1607" y="807"/>
                </a:lnTo>
                <a:lnTo>
                  <a:pt x="1607" y="707"/>
                </a:lnTo>
                <a:close/>
                <a:moveTo>
                  <a:pt x="2007" y="707"/>
                </a:moveTo>
                <a:lnTo>
                  <a:pt x="2007" y="407"/>
                </a:lnTo>
                <a:lnTo>
                  <a:pt x="2307" y="407"/>
                </a:lnTo>
                <a:lnTo>
                  <a:pt x="2607" y="407"/>
                </a:lnTo>
                <a:lnTo>
                  <a:pt x="2607" y="707"/>
                </a:lnTo>
                <a:lnTo>
                  <a:pt x="2607" y="1007"/>
                </a:lnTo>
                <a:lnTo>
                  <a:pt x="2307" y="1007"/>
                </a:lnTo>
                <a:lnTo>
                  <a:pt x="2007" y="1007"/>
                </a:lnTo>
                <a:lnTo>
                  <a:pt x="2007" y="707"/>
                </a:lnTo>
                <a:close/>
                <a:moveTo>
                  <a:pt x="2407" y="707"/>
                </a:moveTo>
                <a:lnTo>
                  <a:pt x="2407" y="607"/>
                </a:lnTo>
                <a:lnTo>
                  <a:pt x="2307" y="607"/>
                </a:lnTo>
                <a:lnTo>
                  <a:pt x="2207" y="607"/>
                </a:lnTo>
                <a:lnTo>
                  <a:pt x="2207" y="707"/>
                </a:lnTo>
                <a:lnTo>
                  <a:pt x="2207" y="807"/>
                </a:lnTo>
                <a:lnTo>
                  <a:pt x="2307" y="807"/>
                </a:lnTo>
                <a:lnTo>
                  <a:pt x="2407" y="807"/>
                </a:lnTo>
                <a:lnTo>
                  <a:pt x="2407" y="707"/>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pitchFamily="2" charset="0"/>
            </a:endParaRPr>
          </a:p>
        </p:txBody>
      </p:sp>
    </p:spTree>
    <p:extLst>
      <p:ext uri="{BB962C8B-B14F-4D97-AF65-F5344CB8AC3E}">
        <p14:creationId xmlns:p14="http://schemas.microsoft.com/office/powerpoint/2010/main" val="3047339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FE239-5D17-F707-6079-AA2F3019988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CCD8922-D42B-BA11-2556-DC85810A8F76}"/>
              </a:ext>
            </a:extLst>
          </p:cNvPr>
          <p:cNvSpPr>
            <a:spLocks noGrp="1"/>
          </p:cNvSpPr>
          <p:nvPr>
            <p:ph type="body" sz="quarter" idx="15"/>
          </p:nvPr>
        </p:nvSpPr>
        <p:spPr>
          <a:xfrm flipH="1">
            <a:off x="623888" y="457200"/>
            <a:ext cx="8172450" cy="244101"/>
          </a:xfrm>
        </p:spPr>
        <p:txBody>
          <a:bodyPr/>
          <a:lstStyle/>
          <a:p>
            <a:pPr lvl="0"/>
            <a:r>
              <a:rPr lang="en-US" noProof="0"/>
              <a:t>FinOps Partner Solution</a:t>
            </a:r>
          </a:p>
        </p:txBody>
      </p:sp>
      <p:grpSp>
        <p:nvGrpSpPr>
          <p:cNvPr id="92" name="Group 91">
            <a:extLst>
              <a:ext uri="{FF2B5EF4-FFF2-40B4-BE49-F238E27FC236}">
                <a16:creationId xmlns:a16="http://schemas.microsoft.com/office/drawing/2014/main" id="{403742F3-0C5A-DAC1-7856-54F0A6DBEFFE}"/>
              </a:ext>
            </a:extLst>
          </p:cNvPr>
          <p:cNvGrpSpPr/>
          <p:nvPr/>
        </p:nvGrpSpPr>
        <p:grpSpPr>
          <a:xfrm>
            <a:off x="623888" y="908050"/>
            <a:ext cx="2674897" cy="5473700"/>
            <a:chOff x="623888" y="908050"/>
            <a:chExt cx="2674897" cy="5473700"/>
          </a:xfrm>
        </p:grpSpPr>
        <p:grpSp>
          <p:nvGrpSpPr>
            <p:cNvPr id="3" name="Group 2">
              <a:extLst>
                <a:ext uri="{FF2B5EF4-FFF2-40B4-BE49-F238E27FC236}">
                  <a16:creationId xmlns:a16="http://schemas.microsoft.com/office/drawing/2014/main" id="{ACE2E85B-049C-F544-33B3-E3958BD750E4}"/>
                </a:ext>
              </a:extLst>
            </p:cNvPr>
            <p:cNvGrpSpPr/>
            <p:nvPr/>
          </p:nvGrpSpPr>
          <p:grpSpPr>
            <a:xfrm>
              <a:off x="623888" y="908050"/>
              <a:ext cx="950026" cy="950026"/>
              <a:chOff x="623888" y="908050"/>
              <a:chExt cx="950026" cy="950026"/>
            </a:xfrm>
          </p:grpSpPr>
          <p:grpSp>
            <p:nvGrpSpPr>
              <p:cNvPr id="4" name="Group 3">
                <a:extLst>
                  <a:ext uri="{FF2B5EF4-FFF2-40B4-BE49-F238E27FC236}">
                    <a16:creationId xmlns:a16="http://schemas.microsoft.com/office/drawing/2014/main" id="{1C58D24A-40AE-8AE3-F0AC-7FE2E2FC0730}"/>
                  </a:ext>
                </a:extLst>
              </p:cNvPr>
              <p:cNvGrpSpPr/>
              <p:nvPr/>
            </p:nvGrpSpPr>
            <p:grpSpPr>
              <a:xfrm>
                <a:off x="623888" y="908050"/>
                <a:ext cx="950026" cy="950026"/>
                <a:chOff x="1450992" y="1491427"/>
                <a:chExt cx="950026" cy="950026"/>
              </a:xfrm>
            </p:grpSpPr>
            <p:sp>
              <p:nvSpPr>
                <p:cNvPr id="10" name="Oval 9">
                  <a:extLst>
                    <a:ext uri="{FF2B5EF4-FFF2-40B4-BE49-F238E27FC236}">
                      <a16:creationId xmlns:a16="http://schemas.microsoft.com/office/drawing/2014/main" id="{8F51669C-188F-A23F-5381-8B74A05878F5}"/>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0DEA062-0AE1-3AC1-D10A-5351393D5028}"/>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76149AE6-9A53-B52D-9525-EF334B0ACB07}"/>
                  </a:ext>
                </a:extLst>
              </p:cNvPr>
              <p:cNvGrpSpPr/>
              <p:nvPr/>
            </p:nvGrpSpPr>
            <p:grpSpPr>
              <a:xfrm>
                <a:off x="896117" y="1162004"/>
                <a:ext cx="430649" cy="419618"/>
                <a:chOff x="999053" y="1144790"/>
                <a:chExt cx="521085" cy="461580"/>
              </a:xfrm>
            </p:grpSpPr>
            <p:grpSp>
              <p:nvGrpSpPr>
                <p:cNvPr id="6" name="Group 5">
                  <a:extLst>
                    <a:ext uri="{FF2B5EF4-FFF2-40B4-BE49-F238E27FC236}">
                      <a16:creationId xmlns:a16="http://schemas.microsoft.com/office/drawing/2014/main" id="{BEF0B518-3233-2911-CA06-F5E97B8DBC01}"/>
                    </a:ext>
                  </a:extLst>
                </p:cNvPr>
                <p:cNvGrpSpPr/>
                <p:nvPr/>
              </p:nvGrpSpPr>
              <p:grpSpPr>
                <a:xfrm>
                  <a:off x="999053" y="1144790"/>
                  <a:ext cx="521085" cy="461580"/>
                  <a:chOff x="496843" y="1099540"/>
                  <a:chExt cx="521085" cy="461580"/>
                </a:xfrm>
              </p:grpSpPr>
              <p:sp>
                <p:nvSpPr>
                  <p:cNvPr id="8" name="Freeform: Shape 11">
                    <a:extLst>
                      <a:ext uri="{FF2B5EF4-FFF2-40B4-BE49-F238E27FC236}">
                        <a16:creationId xmlns:a16="http://schemas.microsoft.com/office/drawing/2014/main" id="{6C616FF1-AB4A-4765-6818-65ADC8448B44}"/>
                      </a:ext>
                    </a:extLst>
                  </p:cNvPr>
                  <p:cNvSpPr/>
                  <p:nvPr/>
                </p:nvSpPr>
                <p:spPr>
                  <a:xfrm>
                    <a:off x="496843" y="1099540"/>
                    <a:ext cx="521085" cy="461580"/>
                  </a:xfrm>
                  <a:custGeom>
                    <a:avLst/>
                    <a:gdLst>
                      <a:gd name="connsiteX0" fmla="*/ 3881676 w 4877038"/>
                      <a:gd name="connsiteY0" fmla="*/ 3204448 h 4876085"/>
                      <a:gd name="connsiteX1" fmla="*/ 3774043 w 4877038"/>
                      <a:gd name="connsiteY1" fmla="*/ 3204448 h 4876085"/>
                      <a:gd name="connsiteX2" fmla="*/ 3774043 w 4877038"/>
                      <a:gd name="connsiteY2" fmla="*/ 3204448 h 4876085"/>
                      <a:gd name="connsiteX3" fmla="*/ 3678793 w 4877038"/>
                      <a:gd name="connsiteY3" fmla="*/ 3299698 h 4876085"/>
                      <a:gd name="connsiteX4" fmla="*/ 3485436 w 4877038"/>
                      <a:gd name="connsiteY4" fmla="*/ 3106341 h 4876085"/>
                      <a:gd name="connsiteX5" fmla="*/ 3309223 w 4877038"/>
                      <a:gd name="connsiteY5" fmla="*/ 567928 h 4876085"/>
                      <a:gd name="connsiteX6" fmla="*/ 567928 w 4877038"/>
                      <a:gd name="connsiteY6" fmla="*/ 567928 h 4876085"/>
                      <a:gd name="connsiteX7" fmla="*/ 567928 w 4877038"/>
                      <a:gd name="connsiteY7" fmla="*/ 3309223 h 4876085"/>
                      <a:gd name="connsiteX8" fmla="*/ 3107293 w 4877038"/>
                      <a:gd name="connsiteY8" fmla="*/ 3485436 h 4876085"/>
                      <a:gd name="connsiteX9" fmla="*/ 3300651 w 4877038"/>
                      <a:gd name="connsiteY9" fmla="*/ 3678793 h 4876085"/>
                      <a:gd name="connsiteX10" fmla="*/ 3205401 w 4877038"/>
                      <a:gd name="connsiteY10" fmla="*/ 3774043 h 4876085"/>
                      <a:gd name="connsiteX11" fmla="*/ 3205401 w 4877038"/>
                      <a:gd name="connsiteY11" fmla="*/ 3881676 h 4876085"/>
                      <a:gd name="connsiteX12" fmla="*/ 4059793 w 4877038"/>
                      <a:gd name="connsiteY12" fmla="*/ 4736068 h 4876085"/>
                      <a:gd name="connsiteX13" fmla="*/ 4737021 w 4877038"/>
                      <a:gd name="connsiteY13" fmla="*/ 4736068 h 4876085"/>
                      <a:gd name="connsiteX14" fmla="*/ 4737021 w 4877038"/>
                      <a:gd name="connsiteY14" fmla="*/ 4058841 h 4876085"/>
                      <a:gd name="connsiteX15" fmla="*/ 3881676 w 4877038"/>
                      <a:gd name="connsiteY15" fmla="*/ 3204448 h 4876085"/>
                      <a:gd name="connsiteX16" fmla="*/ 674608 w 4877038"/>
                      <a:gd name="connsiteY16" fmla="*/ 3201591 h 4876085"/>
                      <a:gd name="connsiteX17" fmla="*/ 662226 w 4877038"/>
                      <a:gd name="connsiteY17" fmla="*/ 675561 h 4876085"/>
                      <a:gd name="connsiteX18" fmla="*/ 3188256 w 4877038"/>
                      <a:gd name="connsiteY18" fmla="*/ 662226 h 4876085"/>
                      <a:gd name="connsiteX19" fmla="*/ 3201591 w 4877038"/>
                      <a:gd name="connsiteY19" fmla="*/ 675561 h 4876085"/>
                      <a:gd name="connsiteX20" fmla="*/ 3201591 w 4877038"/>
                      <a:gd name="connsiteY20" fmla="*/ 3201591 h 4876085"/>
                      <a:gd name="connsiteX21" fmla="*/ 674608 w 4877038"/>
                      <a:gd name="connsiteY21" fmla="*/ 3201591 h 4876085"/>
                      <a:gd name="connsiteX22" fmla="*/ 674608 w 4877038"/>
                      <a:gd name="connsiteY22" fmla="*/ 3201591 h 4876085"/>
                      <a:gd name="connsiteX23" fmla="*/ 3224451 w 4877038"/>
                      <a:gd name="connsiteY23" fmla="*/ 3388281 h 4876085"/>
                      <a:gd name="connsiteX24" fmla="*/ 3308271 w 4877038"/>
                      <a:gd name="connsiteY24" fmla="*/ 3309223 h 4876085"/>
                      <a:gd name="connsiteX25" fmla="*/ 3387328 w 4877038"/>
                      <a:gd name="connsiteY25" fmla="*/ 3225403 h 4876085"/>
                      <a:gd name="connsiteX26" fmla="*/ 3570208 w 4877038"/>
                      <a:gd name="connsiteY26" fmla="*/ 3408283 h 4876085"/>
                      <a:gd name="connsiteX27" fmla="*/ 3407331 w 4877038"/>
                      <a:gd name="connsiteY27" fmla="*/ 3571161 h 4876085"/>
                      <a:gd name="connsiteX28" fmla="*/ 3224451 w 4877038"/>
                      <a:gd name="connsiteY28" fmla="*/ 3388281 h 4876085"/>
                      <a:gd name="connsiteX29" fmla="*/ 4628436 w 4877038"/>
                      <a:gd name="connsiteY29" fmla="*/ 4629388 h 4876085"/>
                      <a:gd name="connsiteX30" fmla="*/ 4166473 w 4877038"/>
                      <a:gd name="connsiteY30" fmla="*/ 4629388 h 4876085"/>
                      <a:gd name="connsiteX31" fmla="*/ 3365421 w 4877038"/>
                      <a:gd name="connsiteY31" fmla="*/ 3828336 h 4876085"/>
                      <a:gd name="connsiteX32" fmla="*/ 3827383 w 4877038"/>
                      <a:gd name="connsiteY32" fmla="*/ 3366373 h 4876085"/>
                      <a:gd name="connsiteX33" fmla="*/ 4628436 w 4877038"/>
                      <a:gd name="connsiteY33" fmla="*/ 4167426 h 4876085"/>
                      <a:gd name="connsiteX34" fmla="*/ 4628436 w 4877038"/>
                      <a:gd name="connsiteY34" fmla="*/ 4629388 h 4876085"/>
                      <a:gd name="connsiteX35" fmla="*/ 4628436 w 4877038"/>
                      <a:gd name="connsiteY35" fmla="*/ 4629388 h 4876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877038" h="4876085">
                        <a:moveTo>
                          <a:pt x="3881676" y="3204448"/>
                        </a:moveTo>
                        <a:cubicBezTo>
                          <a:pt x="3852148" y="3174921"/>
                          <a:pt x="3803571" y="3174921"/>
                          <a:pt x="3774043" y="3204448"/>
                        </a:cubicBezTo>
                        <a:cubicBezTo>
                          <a:pt x="3774043" y="3204448"/>
                          <a:pt x="3774043" y="3204448"/>
                          <a:pt x="3774043" y="3204448"/>
                        </a:cubicBezTo>
                        <a:lnTo>
                          <a:pt x="3678793" y="3299698"/>
                        </a:lnTo>
                        <a:lnTo>
                          <a:pt x="3485436" y="3106341"/>
                        </a:lnTo>
                        <a:cubicBezTo>
                          <a:pt x="4059793" y="2347198"/>
                          <a:pt x="4000738" y="1259443"/>
                          <a:pt x="3309223" y="567928"/>
                        </a:cubicBezTo>
                        <a:cubicBezTo>
                          <a:pt x="2551986" y="-189309"/>
                          <a:pt x="1325166" y="-189309"/>
                          <a:pt x="567928" y="567928"/>
                        </a:cubicBezTo>
                        <a:cubicBezTo>
                          <a:pt x="-189309" y="1325166"/>
                          <a:pt x="-189309" y="2551986"/>
                          <a:pt x="567928" y="3309223"/>
                        </a:cubicBezTo>
                        <a:cubicBezTo>
                          <a:pt x="1251823" y="3993118"/>
                          <a:pt x="2334816" y="4068366"/>
                          <a:pt x="3107293" y="3485436"/>
                        </a:cubicBezTo>
                        <a:lnTo>
                          <a:pt x="3300651" y="3678793"/>
                        </a:lnTo>
                        <a:lnTo>
                          <a:pt x="3205401" y="3774043"/>
                        </a:lnTo>
                        <a:cubicBezTo>
                          <a:pt x="3175873" y="3803571"/>
                          <a:pt x="3175873" y="3852148"/>
                          <a:pt x="3205401" y="3881676"/>
                        </a:cubicBezTo>
                        <a:lnTo>
                          <a:pt x="4059793" y="4736068"/>
                        </a:lnTo>
                        <a:cubicBezTo>
                          <a:pt x="4246483" y="4922758"/>
                          <a:pt x="4550331" y="4922758"/>
                          <a:pt x="4737021" y="4736068"/>
                        </a:cubicBezTo>
                        <a:cubicBezTo>
                          <a:pt x="4923711" y="4549378"/>
                          <a:pt x="4923711" y="4245531"/>
                          <a:pt x="4737021" y="4058841"/>
                        </a:cubicBezTo>
                        <a:lnTo>
                          <a:pt x="3881676" y="3204448"/>
                        </a:lnTo>
                        <a:close/>
                        <a:moveTo>
                          <a:pt x="674608" y="3201591"/>
                        </a:moveTo>
                        <a:cubicBezTo>
                          <a:pt x="-26432" y="2507218"/>
                          <a:pt x="-32147" y="1376601"/>
                          <a:pt x="662226" y="675561"/>
                        </a:cubicBezTo>
                        <a:cubicBezTo>
                          <a:pt x="1356598" y="-25479"/>
                          <a:pt x="2487216" y="-31194"/>
                          <a:pt x="3188256" y="662226"/>
                        </a:cubicBezTo>
                        <a:cubicBezTo>
                          <a:pt x="3193018" y="666988"/>
                          <a:pt x="3196828" y="670798"/>
                          <a:pt x="3201591" y="675561"/>
                        </a:cubicBezTo>
                        <a:cubicBezTo>
                          <a:pt x="3897868" y="1371838"/>
                          <a:pt x="3897868" y="2505313"/>
                          <a:pt x="3201591" y="3201591"/>
                        </a:cubicBezTo>
                        <a:cubicBezTo>
                          <a:pt x="2503408" y="3898821"/>
                          <a:pt x="1371838" y="3898821"/>
                          <a:pt x="674608" y="3201591"/>
                        </a:cubicBezTo>
                        <a:lnTo>
                          <a:pt x="674608" y="3201591"/>
                        </a:lnTo>
                        <a:close/>
                        <a:moveTo>
                          <a:pt x="3224451" y="3388281"/>
                        </a:moveTo>
                        <a:cubicBezTo>
                          <a:pt x="3253026" y="3362563"/>
                          <a:pt x="3281601" y="3336846"/>
                          <a:pt x="3308271" y="3309223"/>
                        </a:cubicBezTo>
                        <a:cubicBezTo>
                          <a:pt x="3335893" y="3281601"/>
                          <a:pt x="3361611" y="3253978"/>
                          <a:pt x="3387328" y="3225403"/>
                        </a:cubicBezTo>
                        <a:lnTo>
                          <a:pt x="3570208" y="3408283"/>
                        </a:lnTo>
                        <a:lnTo>
                          <a:pt x="3407331" y="3571161"/>
                        </a:lnTo>
                        <a:lnTo>
                          <a:pt x="3224451" y="3388281"/>
                        </a:lnTo>
                        <a:close/>
                        <a:moveTo>
                          <a:pt x="4628436" y="4629388"/>
                        </a:moveTo>
                        <a:cubicBezTo>
                          <a:pt x="4500801" y="4757023"/>
                          <a:pt x="4294108" y="4757023"/>
                          <a:pt x="4166473" y="4629388"/>
                        </a:cubicBezTo>
                        <a:lnTo>
                          <a:pt x="3365421" y="3828336"/>
                        </a:lnTo>
                        <a:lnTo>
                          <a:pt x="3827383" y="3366373"/>
                        </a:lnTo>
                        <a:lnTo>
                          <a:pt x="4628436" y="4167426"/>
                        </a:lnTo>
                        <a:cubicBezTo>
                          <a:pt x="4755118" y="4295061"/>
                          <a:pt x="4755118" y="4501753"/>
                          <a:pt x="4628436" y="4629388"/>
                        </a:cubicBezTo>
                        <a:lnTo>
                          <a:pt x="4628436" y="4629388"/>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E8D585EC-069C-BC91-BAB2-71A86B00BA20}"/>
                      </a:ext>
                    </a:extLst>
                  </p:cNvPr>
                  <p:cNvSpPr/>
                  <p:nvPr/>
                </p:nvSpPr>
                <p:spPr>
                  <a:xfrm>
                    <a:off x="663871" y="1154579"/>
                    <a:ext cx="80142" cy="185797"/>
                  </a:xfrm>
                  <a:custGeom>
                    <a:avLst/>
                    <a:gdLst>
                      <a:gd name="connsiteX0" fmla="*/ 421005 w 750072"/>
                      <a:gd name="connsiteY0" fmla="*/ 2858 h 1962738"/>
                      <a:gd name="connsiteX1" fmla="*/ 379095 w 750072"/>
                      <a:gd name="connsiteY1" fmla="*/ 0 h 1962738"/>
                      <a:gd name="connsiteX2" fmla="*/ 371475 w 750072"/>
                      <a:gd name="connsiteY2" fmla="*/ 0 h 1962738"/>
                      <a:gd name="connsiteX3" fmla="*/ 0 w 750072"/>
                      <a:gd name="connsiteY3" fmla="*/ 371475 h 1962738"/>
                      <a:gd name="connsiteX4" fmla="*/ 1905 w 750072"/>
                      <a:gd name="connsiteY4" fmla="*/ 414338 h 1962738"/>
                      <a:gd name="connsiteX5" fmla="*/ 157163 w 750072"/>
                      <a:gd name="connsiteY5" fmla="*/ 1768793 h 1962738"/>
                      <a:gd name="connsiteX6" fmla="*/ 400050 w 750072"/>
                      <a:gd name="connsiteY6" fmla="*/ 1961198 h 1962738"/>
                      <a:gd name="connsiteX7" fmla="*/ 592455 w 750072"/>
                      <a:gd name="connsiteY7" fmla="*/ 1768793 h 1962738"/>
                      <a:gd name="connsiteX8" fmla="*/ 747713 w 750072"/>
                      <a:gd name="connsiteY8" fmla="*/ 414338 h 1962738"/>
                      <a:gd name="connsiteX9" fmla="*/ 421005 w 750072"/>
                      <a:gd name="connsiteY9" fmla="*/ 2858 h 1962738"/>
                      <a:gd name="connsiteX10" fmla="*/ 596265 w 750072"/>
                      <a:gd name="connsiteY10" fmla="*/ 397193 h 1962738"/>
                      <a:gd name="connsiteX11" fmla="*/ 441008 w 750072"/>
                      <a:gd name="connsiteY11" fmla="*/ 1751648 h 1962738"/>
                      <a:gd name="connsiteX12" fmla="*/ 366713 w 750072"/>
                      <a:gd name="connsiteY12" fmla="*/ 1809750 h 1962738"/>
                      <a:gd name="connsiteX13" fmla="*/ 307658 w 750072"/>
                      <a:gd name="connsiteY13" fmla="*/ 1751648 h 1962738"/>
                      <a:gd name="connsiteX14" fmla="*/ 152400 w 750072"/>
                      <a:gd name="connsiteY14" fmla="*/ 397193 h 1962738"/>
                      <a:gd name="connsiteX15" fmla="*/ 344805 w 750072"/>
                      <a:gd name="connsiteY15" fmla="*/ 154305 h 1962738"/>
                      <a:gd name="connsiteX16" fmla="*/ 369570 w 750072"/>
                      <a:gd name="connsiteY16" fmla="*/ 152400 h 1962738"/>
                      <a:gd name="connsiteX17" fmla="*/ 377190 w 750072"/>
                      <a:gd name="connsiteY17" fmla="*/ 152400 h 1962738"/>
                      <a:gd name="connsiteX18" fmla="*/ 596265 w 750072"/>
                      <a:gd name="connsiteY18" fmla="*/ 371475 h 1962738"/>
                      <a:gd name="connsiteX19" fmla="*/ 596265 w 750072"/>
                      <a:gd name="connsiteY19" fmla="*/ 397193 h 196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0072" h="1962738">
                        <a:moveTo>
                          <a:pt x="421005" y="2858"/>
                        </a:moveTo>
                        <a:cubicBezTo>
                          <a:pt x="406717" y="953"/>
                          <a:pt x="392430" y="0"/>
                          <a:pt x="379095" y="0"/>
                        </a:cubicBezTo>
                        <a:lnTo>
                          <a:pt x="371475" y="0"/>
                        </a:lnTo>
                        <a:cubicBezTo>
                          <a:pt x="166688" y="0"/>
                          <a:pt x="0" y="166688"/>
                          <a:pt x="0" y="371475"/>
                        </a:cubicBezTo>
                        <a:cubicBezTo>
                          <a:pt x="0" y="385763"/>
                          <a:pt x="953" y="400050"/>
                          <a:pt x="1905" y="414338"/>
                        </a:cubicBezTo>
                        <a:lnTo>
                          <a:pt x="157163" y="1768793"/>
                        </a:lnTo>
                        <a:cubicBezTo>
                          <a:pt x="171450" y="1888808"/>
                          <a:pt x="280035" y="1975485"/>
                          <a:pt x="400050" y="1961198"/>
                        </a:cubicBezTo>
                        <a:cubicBezTo>
                          <a:pt x="501015" y="1949768"/>
                          <a:pt x="581025" y="1869758"/>
                          <a:pt x="592455" y="1768793"/>
                        </a:cubicBezTo>
                        <a:lnTo>
                          <a:pt x="747713" y="414338"/>
                        </a:lnTo>
                        <a:cubicBezTo>
                          <a:pt x="770573" y="210503"/>
                          <a:pt x="624840" y="26670"/>
                          <a:pt x="421005" y="2858"/>
                        </a:cubicBezTo>
                        <a:close/>
                        <a:moveTo>
                          <a:pt x="596265" y="397193"/>
                        </a:moveTo>
                        <a:lnTo>
                          <a:pt x="441008" y="1751648"/>
                        </a:lnTo>
                        <a:cubicBezTo>
                          <a:pt x="437198" y="1787843"/>
                          <a:pt x="403860" y="1814513"/>
                          <a:pt x="366713" y="1809750"/>
                        </a:cubicBezTo>
                        <a:cubicBezTo>
                          <a:pt x="336233" y="1805940"/>
                          <a:pt x="311467" y="1782128"/>
                          <a:pt x="307658" y="1751648"/>
                        </a:cubicBezTo>
                        <a:lnTo>
                          <a:pt x="152400" y="397193"/>
                        </a:lnTo>
                        <a:cubicBezTo>
                          <a:pt x="139065" y="277178"/>
                          <a:pt x="224790" y="168593"/>
                          <a:pt x="344805" y="154305"/>
                        </a:cubicBezTo>
                        <a:cubicBezTo>
                          <a:pt x="353378" y="153353"/>
                          <a:pt x="361950" y="152400"/>
                          <a:pt x="369570" y="152400"/>
                        </a:cubicBezTo>
                        <a:lnTo>
                          <a:pt x="377190" y="152400"/>
                        </a:lnTo>
                        <a:cubicBezTo>
                          <a:pt x="498158" y="152400"/>
                          <a:pt x="596265" y="250508"/>
                          <a:pt x="596265" y="371475"/>
                        </a:cubicBezTo>
                        <a:cubicBezTo>
                          <a:pt x="597218" y="381000"/>
                          <a:pt x="597218" y="388620"/>
                          <a:pt x="596265" y="397193"/>
                        </a:cubicBez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Freeform: Shape 14">
                  <a:extLst>
                    <a:ext uri="{FF2B5EF4-FFF2-40B4-BE49-F238E27FC236}">
                      <a16:creationId xmlns:a16="http://schemas.microsoft.com/office/drawing/2014/main" id="{4CF0AEF9-69C8-1114-7590-4727C7B4EE7C}"/>
                    </a:ext>
                  </a:extLst>
                </p:cNvPr>
                <p:cNvSpPr/>
                <p:nvPr/>
              </p:nvSpPr>
              <p:spPr>
                <a:xfrm>
                  <a:off x="1176028" y="1403980"/>
                  <a:ext cx="60248" cy="53378"/>
                </a:xfrm>
                <a:custGeom>
                  <a:avLst/>
                  <a:gdLst>
                    <a:gd name="connsiteX0" fmla="*/ 481965 w 563880"/>
                    <a:gd name="connsiteY0" fmla="*/ 82868 h 563880"/>
                    <a:gd name="connsiteX1" fmla="*/ 281940 w 563880"/>
                    <a:gd name="connsiteY1" fmla="*/ 0 h 563880"/>
                    <a:gd name="connsiteX2" fmla="*/ 0 w 563880"/>
                    <a:gd name="connsiteY2" fmla="*/ 281940 h 563880"/>
                    <a:gd name="connsiteX3" fmla="*/ 281940 w 563880"/>
                    <a:gd name="connsiteY3" fmla="*/ 563880 h 563880"/>
                    <a:gd name="connsiteX4" fmla="*/ 563880 w 563880"/>
                    <a:gd name="connsiteY4" fmla="*/ 281940 h 563880"/>
                    <a:gd name="connsiteX5" fmla="*/ 481965 w 563880"/>
                    <a:gd name="connsiteY5" fmla="*/ 82868 h 563880"/>
                    <a:gd name="connsiteX6" fmla="*/ 374333 w 563880"/>
                    <a:gd name="connsiteY6" fmla="*/ 374333 h 563880"/>
                    <a:gd name="connsiteX7" fmla="*/ 282893 w 563880"/>
                    <a:gd name="connsiteY7" fmla="*/ 412433 h 563880"/>
                    <a:gd name="connsiteX8" fmla="*/ 153353 w 563880"/>
                    <a:gd name="connsiteY8" fmla="*/ 282893 h 563880"/>
                    <a:gd name="connsiteX9" fmla="*/ 282893 w 563880"/>
                    <a:gd name="connsiteY9" fmla="*/ 153353 h 563880"/>
                    <a:gd name="connsiteX10" fmla="*/ 412433 w 563880"/>
                    <a:gd name="connsiteY10" fmla="*/ 282893 h 563880"/>
                    <a:gd name="connsiteX11" fmla="*/ 374333 w 563880"/>
                    <a:gd name="connsiteY11" fmla="*/ 374333 h 563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3880" h="563880">
                      <a:moveTo>
                        <a:pt x="481965" y="82868"/>
                      </a:moveTo>
                      <a:cubicBezTo>
                        <a:pt x="430530" y="31433"/>
                        <a:pt x="360045" y="0"/>
                        <a:pt x="281940" y="0"/>
                      </a:cubicBezTo>
                      <a:cubicBezTo>
                        <a:pt x="125730" y="0"/>
                        <a:pt x="0" y="126683"/>
                        <a:pt x="0" y="281940"/>
                      </a:cubicBezTo>
                      <a:cubicBezTo>
                        <a:pt x="0" y="438150"/>
                        <a:pt x="126683" y="563880"/>
                        <a:pt x="281940" y="563880"/>
                      </a:cubicBezTo>
                      <a:cubicBezTo>
                        <a:pt x="437198" y="563880"/>
                        <a:pt x="563880" y="437197"/>
                        <a:pt x="563880" y="281940"/>
                      </a:cubicBezTo>
                      <a:cubicBezTo>
                        <a:pt x="563880" y="204788"/>
                        <a:pt x="532448" y="134303"/>
                        <a:pt x="481965" y="82868"/>
                      </a:cubicBezTo>
                      <a:close/>
                      <a:moveTo>
                        <a:pt x="374333" y="374333"/>
                      </a:moveTo>
                      <a:cubicBezTo>
                        <a:pt x="350520" y="398145"/>
                        <a:pt x="318135" y="412433"/>
                        <a:pt x="282893" y="412433"/>
                      </a:cubicBezTo>
                      <a:cubicBezTo>
                        <a:pt x="211455" y="412433"/>
                        <a:pt x="153353" y="354330"/>
                        <a:pt x="153353" y="282893"/>
                      </a:cubicBezTo>
                      <a:cubicBezTo>
                        <a:pt x="153353" y="211455"/>
                        <a:pt x="211455" y="153353"/>
                        <a:pt x="282893" y="153353"/>
                      </a:cubicBezTo>
                      <a:cubicBezTo>
                        <a:pt x="354330" y="153353"/>
                        <a:pt x="412433" y="211455"/>
                        <a:pt x="412433" y="282893"/>
                      </a:cubicBezTo>
                      <a:cubicBezTo>
                        <a:pt x="411480" y="319088"/>
                        <a:pt x="397193" y="351472"/>
                        <a:pt x="374333" y="374333"/>
                      </a:cubicBez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12" name="TextBox 11">
              <a:extLst>
                <a:ext uri="{FF2B5EF4-FFF2-40B4-BE49-F238E27FC236}">
                  <a16:creationId xmlns:a16="http://schemas.microsoft.com/office/drawing/2014/main" id="{DA974257-186C-93FE-7CC9-ACF3B9039420}"/>
                </a:ext>
              </a:extLst>
            </p:cNvPr>
            <p:cNvSpPr txBox="1"/>
            <p:nvPr/>
          </p:nvSpPr>
          <p:spPr>
            <a:xfrm>
              <a:off x="1763701" y="1199934"/>
              <a:ext cx="1022716" cy="492443"/>
            </a:xfrm>
            <a:prstGeom prst="rect">
              <a:avLst/>
            </a:prstGeom>
            <a:noFill/>
          </p:spPr>
          <p:txBody>
            <a:bodyPr wrap="none" lIns="0" tIns="0" rIns="0" bIns="0" rtlCol="0">
              <a:spAutoFit/>
            </a:bodyPr>
            <a:lstStyle/>
            <a:p>
              <a:r>
                <a:rPr kumimoji="0" lang="en-IN" sz="1600" b="0" i="0" u="none" strike="noStrike" kern="1200" cap="none" spc="0" normalizeH="0" baseline="0" noProof="0">
                  <a:ln>
                    <a:noFill/>
                  </a:ln>
                  <a:solidFill>
                    <a:schemeClr val="tx2"/>
                  </a:solidFill>
                  <a:effectLst/>
                  <a:uLnTx/>
                  <a:uFillTx/>
                  <a:latin typeface="Manrope" pitchFamily="2" charset="0"/>
                </a:rPr>
                <a:t>Problem</a:t>
              </a:r>
              <a:br>
                <a:rPr kumimoji="0" lang="en-IN" sz="1600" b="0" i="0" u="none" strike="noStrike" kern="1200" cap="none" spc="0" normalizeH="0" baseline="0" noProof="0">
                  <a:ln>
                    <a:noFill/>
                  </a:ln>
                  <a:solidFill>
                    <a:schemeClr val="tx2"/>
                  </a:solidFill>
                  <a:effectLst/>
                  <a:uLnTx/>
                  <a:uFillTx/>
                  <a:latin typeface="Manrope" pitchFamily="2" charset="0"/>
                </a:rPr>
              </a:br>
              <a:r>
                <a:rPr kumimoji="0" lang="en-IN" sz="1600" b="0" i="0" u="none" strike="noStrike" kern="1200" cap="none" spc="0" normalizeH="0" baseline="0" noProof="0">
                  <a:ln>
                    <a:noFill/>
                  </a:ln>
                  <a:solidFill>
                    <a:schemeClr val="tx2"/>
                  </a:solidFill>
                  <a:effectLst/>
                  <a:uLnTx/>
                  <a:uFillTx/>
                  <a:latin typeface="Manrope" pitchFamily="2" charset="0"/>
                </a:rPr>
                <a:t>Statement</a:t>
              </a:r>
            </a:p>
          </p:txBody>
        </p:sp>
        <p:sp>
          <p:nvSpPr>
            <p:cNvPr id="13" name="Rectangle 12">
              <a:extLst>
                <a:ext uri="{FF2B5EF4-FFF2-40B4-BE49-F238E27FC236}">
                  <a16:creationId xmlns:a16="http://schemas.microsoft.com/office/drawing/2014/main" id="{6AC01663-24CC-361D-ABD5-02781661E85C}"/>
                </a:ext>
              </a:extLst>
            </p:cNvPr>
            <p:cNvSpPr/>
            <p:nvPr/>
          </p:nvSpPr>
          <p:spPr>
            <a:xfrm>
              <a:off x="623888" y="1979271"/>
              <a:ext cx="2674897" cy="44024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E93ACD3-E4EB-D045-BEC0-2F88097FC3E0}"/>
                </a:ext>
              </a:extLst>
            </p:cNvPr>
            <p:cNvSpPr txBox="1"/>
            <p:nvPr/>
          </p:nvSpPr>
          <p:spPr>
            <a:xfrm>
              <a:off x="706330" y="2274269"/>
              <a:ext cx="2418835" cy="2863413"/>
            </a:xfrm>
            <a:prstGeom prst="rect">
              <a:avLst/>
            </a:prstGeom>
            <a:noFill/>
          </p:spPr>
          <p:txBody>
            <a:bodyPr wrap="square" rIns="90000" bIns="4680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In today's data-centric landscape, organizations struggle with maintaining data pipeline integrity, efficiency, and reliability. </a:t>
              </a:r>
            </a:p>
            <a:p>
              <a:pPr marR="0" lvl="0" algn="l" defTabSz="914400" rtl="0" eaLnBrk="1" fontAlgn="auto" latinLnBrk="0" hangingPunct="1">
                <a:lnSpc>
                  <a:spcPct val="100000"/>
                </a:lnSpc>
                <a:spcBef>
                  <a:spcPts val="0"/>
                </a:spcBef>
                <a:spcAft>
                  <a:spcPts val="0"/>
                </a:spcAft>
                <a:buClr>
                  <a:schemeClr val="accent1"/>
                </a:buClr>
                <a:buSzTx/>
                <a:tabLst/>
                <a:defRPr/>
              </a:pP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Without a dedicated Data Observability platform, they face issues like inefficient resource utilization, data quality challenges, compliance risks, and poor collaboration.</a:t>
              </a:r>
            </a:p>
            <a:p>
              <a:pPr marR="0" lvl="0" algn="l" defTabSz="914400" rtl="0" eaLnBrk="1" fontAlgn="auto" latinLnBrk="0" hangingPunct="1">
                <a:lnSpc>
                  <a:spcPct val="100000"/>
                </a:lnSpc>
                <a:spcBef>
                  <a:spcPts val="0"/>
                </a:spcBef>
                <a:spcAft>
                  <a:spcPts val="0"/>
                </a:spcAft>
                <a:buClr>
                  <a:schemeClr val="accent1"/>
                </a:buClr>
                <a:buSzTx/>
                <a:tabLst/>
                <a:defRPr/>
              </a:pPr>
              <a:endParaRPr kumimoji="0" lang="en-US" sz="1200" b="0" i="0" u="none" strike="noStrike" kern="1200" cap="none" spc="0" normalizeH="0" baseline="0" noProof="0">
                <a:ln>
                  <a:noFill/>
                </a:ln>
                <a:effectLst/>
                <a:uLnTx/>
                <a:uFillTx/>
                <a:latin typeface="Manrope" pitchFamily="2" charset="0"/>
              </a:endParaRPr>
            </a:p>
          </p:txBody>
        </p:sp>
      </p:grpSp>
      <p:grpSp>
        <p:nvGrpSpPr>
          <p:cNvPr id="91" name="Group 90">
            <a:extLst>
              <a:ext uri="{FF2B5EF4-FFF2-40B4-BE49-F238E27FC236}">
                <a16:creationId xmlns:a16="http://schemas.microsoft.com/office/drawing/2014/main" id="{7315664C-E7BB-9085-4915-088CFE51C1E2}"/>
              </a:ext>
            </a:extLst>
          </p:cNvPr>
          <p:cNvGrpSpPr/>
          <p:nvPr/>
        </p:nvGrpSpPr>
        <p:grpSpPr>
          <a:xfrm>
            <a:off x="3377459" y="946880"/>
            <a:ext cx="2678509" cy="5434870"/>
            <a:chOff x="3312571" y="946880"/>
            <a:chExt cx="2678509" cy="5434870"/>
          </a:xfrm>
        </p:grpSpPr>
        <p:sp>
          <p:nvSpPr>
            <p:cNvPr id="25" name="TextBox 24">
              <a:extLst>
                <a:ext uri="{FF2B5EF4-FFF2-40B4-BE49-F238E27FC236}">
                  <a16:creationId xmlns:a16="http://schemas.microsoft.com/office/drawing/2014/main" id="{FF7D8792-5E3E-C5BD-C8C5-9ED1B063012E}"/>
                </a:ext>
              </a:extLst>
            </p:cNvPr>
            <p:cNvSpPr txBox="1"/>
            <p:nvPr/>
          </p:nvSpPr>
          <p:spPr>
            <a:xfrm>
              <a:off x="4455996" y="1304107"/>
              <a:ext cx="791883" cy="246221"/>
            </a:xfrm>
            <a:prstGeom prst="rect">
              <a:avLst/>
            </a:prstGeom>
            <a:noFill/>
          </p:spPr>
          <p:txBody>
            <a:bodyPr wrap="none" lIns="0" tIns="0" rIns="0" bIns="0" rtlCol="0">
              <a:spAutoFit/>
            </a:bodyPr>
            <a:lstStyle/>
            <a:p>
              <a:r>
                <a:rPr kumimoji="0" lang="en-IN" sz="1600" b="0" i="0" u="none" strike="noStrike" kern="1200" cap="none" spc="0" normalizeH="0" baseline="0" noProof="0">
                  <a:ln>
                    <a:noFill/>
                  </a:ln>
                  <a:solidFill>
                    <a:schemeClr val="tx2"/>
                  </a:solidFill>
                  <a:effectLst/>
                  <a:uLnTx/>
                  <a:uFillTx/>
                  <a:latin typeface="Manrope" pitchFamily="2" charset="0"/>
                </a:rPr>
                <a:t>Solution</a:t>
              </a:r>
            </a:p>
          </p:txBody>
        </p:sp>
        <p:sp>
          <p:nvSpPr>
            <p:cNvPr id="26" name="Rectangle 25">
              <a:extLst>
                <a:ext uri="{FF2B5EF4-FFF2-40B4-BE49-F238E27FC236}">
                  <a16:creationId xmlns:a16="http://schemas.microsoft.com/office/drawing/2014/main" id="{F20783E6-CC9A-537F-8816-FEDB3E84E20A}"/>
                </a:ext>
              </a:extLst>
            </p:cNvPr>
            <p:cNvSpPr/>
            <p:nvPr/>
          </p:nvSpPr>
          <p:spPr>
            <a:xfrm>
              <a:off x="3316183" y="1979271"/>
              <a:ext cx="2674897" cy="44024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1B858F3-03C1-258E-A45E-EFC3C3335335}"/>
                </a:ext>
              </a:extLst>
            </p:cNvPr>
            <p:cNvSpPr txBox="1"/>
            <p:nvPr/>
          </p:nvSpPr>
          <p:spPr>
            <a:xfrm>
              <a:off x="3398625" y="2274269"/>
              <a:ext cx="2418835" cy="2678747"/>
            </a:xfrm>
            <a:prstGeom prst="rect">
              <a:avLst/>
            </a:prstGeom>
            <a:noFill/>
          </p:spPr>
          <p:txBody>
            <a:bodyPr wrap="square" rIns="90000" bIns="4680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Unravel, addresses the challenges of lacking a Data Observability platform by providing a comprehensive solution. </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Its unified monitoring and alerting offer real-time insights into data pipeline health and performance, eliminating operational blind spots. Unravel ensures the integrity, efficiency, and reliability of data operations.</a:t>
              </a:r>
            </a:p>
          </p:txBody>
        </p:sp>
        <p:grpSp>
          <p:nvGrpSpPr>
            <p:cNvPr id="52" name="Group 51">
              <a:extLst>
                <a:ext uri="{FF2B5EF4-FFF2-40B4-BE49-F238E27FC236}">
                  <a16:creationId xmlns:a16="http://schemas.microsoft.com/office/drawing/2014/main" id="{A48FDBAC-826D-F784-B2A5-C9EF3823E435}"/>
                </a:ext>
              </a:extLst>
            </p:cNvPr>
            <p:cNvGrpSpPr/>
            <p:nvPr/>
          </p:nvGrpSpPr>
          <p:grpSpPr>
            <a:xfrm>
              <a:off x="3312571" y="946880"/>
              <a:ext cx="950026" cy="950026"/>
              <a:chOff x="623888" y="2415941"/>
              <a:chExt cx="950026" cy="950026"/>
            </a:xfrm>
          </p:grpSpPr>
          <p:grpSp>
            <p:nvGrpSpPr>
              <p:cNvPr id="53" name="Group 52">
                <a:extLst>
                  <a:ext uri="{FF2B5EF4-FFF2-40B4-BE49-F238E27FC236}">
                    <a16:creationId xmlns:a16="http://schemas.microsoft.com/office/drawing/2014/main" id="{56AECEDA-EB98-B524-D442-4A14D7CAE8A9}"/>
                  </a:ext>
                </a:extLst>
              </p:cNvPr>
              <p:cNvGrpSpPr/>
              <p:nvPr/>
            </p:nvGrpSpPr>
            <p:grpSpPr>
              <a:xfrm>
                <a:off x="623888" y="2415941"/>
                <a:ext cx="950026" cy="950026"/>
                <a:chOff x="1450992" y="1491427"/>
                <a:chExt cx="950026" cy="950026"/>
              </a:xfrm>
            </p:grpSpPr>
            <p:sp>
              <p:nvSpPr>
                <p:cNvPr id="57" name="Oval 56">
                  <a:extLst>
                    <a:ext uri="{FF2B5EF4-FFF2-40B4-BE49-F238E27FC236}">
                      <a16:creationId xmlns:a16="http://schemas.microsoft.com/office/drawing/2014/main" id="{0E22DEE6-158D-E51E-653B-3A1D9480C3E5}"/>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98646D3-F308-E34C-FB65-D6947B1344ED}"/>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94F44A30-D77B-AC93-FBB2-3684FD8A96DA}"/>
                  </a:ext>
                </a:extLst>
              </p:cNvPr>
              <p:cNvGrpSpPr/>
              <p:nvPr/>
            </p:nvGrpSpPr>
            <p:grpSpPr>
              <a:xfrm>
                <a:off x="922492" y="2653844"/>
                <a:ext cx="393745" cy="476178"/>
                <a:chOff x="471952" y="2307982"/>
                <a:chExt cx="524075" cy="576176"/>
              </a:xfrm>
            </p:grpSpPr>
            <p:sp>
              <p:nvSpPr>
                <p:cNvPr id="55" name="Freeform: Shape 8">
                  <a:extLst>
                    <a:ext uri="{FF2B5EF4-FFF2-40B4-BE49-F238E27FC236}">
                      <a16:creationId xmlns:a16="http://schemas.microsoft.com/office/drawing/2014/main" id="{9B2DB302-75AB-D228-66DF-EBE57332C24C}"/>
                    </a:ext>
                  </a:extLst>
                </p:cNvPr>
                <p:cNvSpPr/>
                <p:nvPr/>
              </p:nvSpPr>
              <p:spPr>
                <a:xfrm>
                  <a:off x="744472" y="2307982"/>
                  <a:ext cx="251555" cy="167277"/>
                </a:xfrm>
                <a:custGeom>
                  <a:avLst/>
                  <a:gdLst>
                    <a:gd name="connsiteX0" fmla="*/ 174644 w 199593"/>
                    <a:gd name="connsiteY0" fmla="*/ 0 h 149695"/>
                    <a:gd name="connsiteX1" fmla="*/ 58215 w 199593"/>
                    <a:gd name="connsiteY1" fmla="*/ 0 h 149695"/>
                    <a:gd name="connsiteX2" fmla="*/ 33266 w 199593"/>
                    <a:gd name="connsiteY2" fmla="*/ 24949 h 149695"/>
                    <a:gd name="connsiteX3" fmla="*/ 33266 w 199593"/>
                    <a:gd name="connsiteY3" fmla="*/ 41582 h 149695"/>
                    <a:gd name="connsiteX4" fmla="*/ 0 w 199593"/>
                    <a:gd name="connsiteY4" fmla="*/ 74848 h 149695"/>
                    <a:gd name="connsiteX5" fmla="*/ 33266 w 199593"/>
                    <a:gd name="connsiteY5" fmla="*/ 108113 h 149695"/>
                    <a:gd name="connsiteX6" fmla="*/ 33266 w 199593"/>
                    <a:gd name="connsiteY6" fmla="*/ 149695 h 149695"/>
                    <a:gd name="connsiteX7" fmla="*/ 99797 w 199593"/>
                    <a:gd name="connsiteY7" fmla="*/ 149695 h 149695"/>
                    <a:gd name="connsiteX8" fmla="*/ 99797 w 199593"/>
                    <a:gd name="connsiteY8" fmla="*/ 133062 h 149695"/>
                    <a:gd name="connsiteX9" fmla="*/ 116429 w 199593"/>
                    <a:gd name="connsiteY9" fmla="*/ 116429 h 149695"/>
                    <a:gd name="connsiteX10" fmla="*/ 133062 w 199593"/>
                    <a:gd name="connsiteY10" fmla="*/ 133062 h 149695"/>
                    <a:gd name="connsiteX11" fmla="*/ 133062 w 199593"/>
                    <a:gd name="connsiteY11" fmla="*/ 149695 h 149695"/>
                    <a:gd name="connsiteX12" fmla="*/ 174644 w 199593"/>
                    <a:gd name="connsiteY12" fmla="*/ 149695 h 149695"/>
                    <a:gd name="connsiteX13" fmla="*/ 199593 w 199593"/>
                    <a:gd name="connsiteY13" fmla="*/ 124746 h 149695"/>
                    <a:gd name="connsiteX14" fmla="*/ 199593 w 199593"/>
                    <a:gd name="connsiteY14" fmla="*/ 24949 h 149695"/>
                    <a:gd name="connsiteX15" fmla="*/ 174644 w 199593"/>
                    <a:gd name="connsiteY15" fmla="*/ 0 h 149695"/>
                    <a:gd name="connsiteX16" fmla="*/ 182961 w 199593"/>
                    <a:gd name="connsiteY16" fmla="*/ 124746 h 149695"/>
                    <a:gd name="connsiteX17" fmla="*/ 174644 w 199593"/>
                    <a:gd name="connsiteY17" fmla="*/ 133062 h 149695"/>
                    <a:gd name="connsiteX18" fmla="*/ 149695 w 199593"/>
                    <a:gd name="connsiteY18" fmla="*/ 133062 h 149695"/>
                    <a:gd name="connsiteX19" fmla="*/ 116429 w 199593"/>
                    <a:gd name="connsiteY19" fmla="*/ 99797 h 149695"/>
                    <a:gd name="connsiteX20" fmla="*/ 83164 w 199593"/>
                    <a:gd name="connsiteY20" fmla="*/ 133062 h 149695"/>
                    <a:gd name="connsiteX21" fmla="*/ 49898 w 199593"/>
                    <a:gd name="connsiteY21" fmla="*/ 133062 h 149695"/>
                    <a:gd name="connsiteX22" fmla="*/ 49898 w 199593"/>
                    <a:gd name="connsiteY22" fmla="*/ 91480 h 149695"/>
                    <a:gd name="connsiteX23" fmla="*/ 33266 w 199593"/>
                    <a:gd name="connsiteY23" fmla="*/ 91480 h 149695"/>
                    <a:gd name="connsiteX24" fmla="*/ 16633 w 199593"/>
                    <a:gd name="connsiteY24" fmla="*/ 74848 h 149695"/>
                    <a:gd name="connsiteX25" fmla="*/ 33266 w 199593"/>
                    <a:gd name="connsiteY25" fmla="*/ 58215 h 149695"/>
                    <a:gd name="connsiteX26" fmla="*/ 49898 w 199593"/>
                    <a:gd name="connsiteY26" fmla="*/ 58215 h 149695"/>
                    <a:gd name="connsiteX27" fmla="*/ 49898 w 199593"/>
                    <a:gd name="connsiteY27" fmla="*/ 24949 h 149695"/>
                    <a:gd name="connsiteX28" fmla="*/ 58215 w 199593"/>
                    <a:gd name="connsiteY28" fmla="*/ 16633 h 149695"/>
                    <a:gd name="connsiteX29" fmla="*/ 174644 w 199593"/>
                    <a:gd name="connsiteY29" fmla="*/ 16633 h 149695"/>
                    <a:gd name="connsiteX30" fmla="*/ 182961 w 199593"/>
                    <a:gd name="connsiteY30" fmla="*/ 24949 h 14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9593" h="149695">
                      <a:moveTo>
                        <a:pt x="174644" y="0"/>
                      </a:moveTo>
                      <a:lnTo>
                        <a:pt x="58215" y="0"/>
                      </a:lnTo>
                      <a:cubicBezTo>
                        <a:pt x="44459" y="0"/>
                        <a:pt x="33266" y="11194"/>
                        <a:pt x="33266" y="24949"/>
                      </a:cubicBezTo>
                      <a:lnTo>
                        <a:pt x="33266" y="41582"/>
                      </a:lnTo>
                      <a:cubicBezTo>
                        <a:pt x="14920" y="41582"/>
                        <a:pt x="0" y="56502"/>
                        <a:pt x="0" y="74848"/>
                      </a:cubicBezTo>
                      <a:cubicBezTo>
                        <a:pt x="0" y="93193"/>
                        <a:pt x="14920" y="108113"/>
                        <a:pt x="33266" y="108113"/>
                      </a:cubicBezTo>
                      <a:lnTo>
                        <a:pt x="33266" y="149695"/>
                      </a:lnTo>
                      <a:lnTo>
                        <a:pt x="99797" y="149695"/>
                      </a:lnTo>
                      <a:lnTo>
                        <a:pt x="99797" y="133062"/>
                      </a:lnTo>
                      <a:cubicBezTo>
                        <a:pt x="99797" y="123889"/>
                        <a:pt x="107256" y="116429"/>
                        <a:pt x="116429" y="116429"/>
                      </a:cubicBezTo>
                      <a:cubicBezTo>
                        <a:pt x="125602" y="116429"/>
                        <a:pt x="133062" y="123889"/>
                        <a:pt x="133062" y="133062"/>
                      </a:cubicBezTo>
                      <a:lnTo>
                        <a:pt x="133062" y="149695"/>
                      </a:lnTo>
                      <a:lnTo>
                        <a:pt x="174644" y="149695"/>
                      </a:lnTo>
                      <a:cubicBezTo>
                        <a:pt x="188400" y="149695"/>
                        <a:pt x="199593" y="138501"/>
                        <a:pt x="199593" y="124746"/>
                      </a:cubicBezTo>
                      <a:lnTo>
                        <a:pt x="199593" y="24949"/>
                      </a:lnTo>
                      <a:cubicBezTo>
                        <a:pt x="199593" y="11194"/>
                        <a:pt x="188400" y="0"/>
                        <a:pt x="174644" y="0"/>
                      </a:cubicBezTo>
                      <a:close/>
                      <a:moveTo>
                        <a:pt x="182961" y="124746"/>
                      </a:moveTo>
                      <a:cubicBezTo>
                        <a:pt x="182961" y="129328"/>
                        <a:pt x="179235" y="133062"/>
                        <a:pt x="174644" y="133062"/>
                      </a:cubicBezTo>
                      <a:lnTo>
                        <a:pt x="149695" y="133062"/>
                      </a:lnTo>
                      <a:cubicBezTo>
                        <a:pt x="149695" y="114716"/>
                        <a:pt x="134775" y="99797"/>
                        <a:pt x="116429" y="99797"/>
                      </a:cubicBezTo>
                      <a:cubicBezTo>
                        <a:pt x="98084" y="99797"/>
                        <a:pt x="83164" y="114716"/>
                        <a:pt x="83164" y="133062"/>
                      </a:cubicBezTo>
                      <a:lnTo>
                        <a:pt x="49898" y="133062"/>
                      </a:lnTo>
                      <a:lnTo>
                        <a:pt x="49898" y="91480"/>
                      </a:lnTo>
                      <a:lnTo>
                        <a:pt x="33266" y="91480"/>
                      </a:lnTo>
                      <a:cubicBezTo>
                        <a:pt x="24093" y="91480"/>
                        <a:pt x="16633" y="84020"/>
                        <a:pt x="16633" y="74848"/>
                      </a:cubicBezTo>
                      <a:cubicBezTo>
                        <a:pt x="16633" y="65675"/>
                        <a:pt x="24093" y="58215"/>
                        <a:pt x="33266" y="58215"/>
                      </a:cubicBezTo>
                      <a:lnTo>
                        <a:pt x="49898" y="58215"/>
                      </a:lnTo>
                      <a:lnTo>
                        <a:pt x="49898" y="24949"/>
                      </a:lnTo>
                      <a:cubicBezTo>
                        <a:pt x="49898" y="20367"/>
                        <a:pt x="53624" y="16633"/>
                        <a:pt x="58215" y="16633"/>
                      </a:cubicBezTo>
                      <a:lnTo>
                        <a:pt x="174644" y="16633"/>
                      </a:lnTo>
                      <a:cubicBezTo>
                        <a:pt x="179235" y="16633"/>
                        <a:pt x="182961" y="20367"/>
                        <a:pt x="182961" y="24949"/>
                      </a:cubicBezTo>
                      <a:close/>
                    </a:path>
                  </a:pathLst>
                </a:custGeom>
                <a:solidFill>
                  <a:schemeClr val="bg1"/>
                </a:solidFill>
                <a:ln w="81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Shape 9">
                  <a:extLst>
                    <a:ext uri="{FF2B5EF4-FFF2-40B4-BE49-F238E27FC236}">
                      <a16:creationId xmlns:a16="http://schemas.microsoft.com/office/drawing/2014/main" id="{45A3332B-734F-6EFB-ECB6-7C10C6BE6353}"/>
                    </a:ext>
                  </a:extLst>
                </p:cNvPr>
                <p:cNvSpPr/>
                <p:nvPr/>
              </p:nvSpPr>
              <p:spPr>
                <a:xfrm>
                  <a:off x="471952" y="2363740"/>
                  <a:ext cx="419260" cy="520418"/>
                </a:xfrm>
                <a:custGeom>
                  <a:avLst/>
                  <a:gdLst>
                    <a:gd name="connsiteX0" fmla="*/ 249492 w 332655"/>
                    <a:gd name="connsiteY0" fmla="*/ 116429 h 465717"/>
                    <a:gd name="connsiteX1" fmla="*/ 216226 w 332655"/>
                    <a:gd name="connsiteY1" fmla="*/ 149695 h 465717"/>
                    <a:gd name="connsiteX2" fmla="*/ 182961 w 332655"/>
                    <a:gd name="connsiteY2" fmla="*/ 149695 h 465717"/>
                    <a:gd name="connsiteX3" fmla="*/ 182961 w 332655"/>
                    <a:gd name="connsiteY3" fmla="*/ 108113 h 465717"/>
                    <a:gd name="connsiteX4" fmla="*/ 166328 w 332655"/>
                    <a:gd name="connsiteY4" fmla="*/ 108113 h 465717"/>
                    <a:gd name="connsiteX5" fmla="*/ 149695 w 332655"/>
                    <a:gd name="connsiteY5" fmla="*/ 91480 h 465717"/>
                    <a:gd name="connsiteX6" fmla="*/ 166328 w 332655"/>
                    <a:gd name="connsiteY6" fmla="*/ 74848 h 465717"/>
                    <a:gd name="connsiteX7" fmla="*/ 182961 w 332655"/>
                    <a:gd name="connsiteY7" fmla="*/ 74848 h 465717"/>
                    <a:gd name="connsiteX8" fmla="*/ 182961 w 332655"/>
                    <a:gd name="connsiteY8" fmla="*/ 0 h 465717"/>
                    <a:gd name="connsiteX9" fmla="*/ 160664 w 332655"/>
                    <a:gd name="connsiteY9" fmla="*/ 0 h 465717"/>
                    <a:gd name="connsiteX10" fmla="*/ 0 w 332655"/>
                    <a:gd name="connsiteY10" fmla="*/ 160664 h 465717"/>
                    <a:gd name="connsiteX11" fmla="*/ 58930 w 332655"/>
                    <a:gd name="connsiteY11" fmla="*/ 285011 h 465717"/>
                    <a:gd name="connsiteX12" fmla="*/ 91480 w 332655"/>
                    <a:gd name="connsiteY12" fmla="*/ 311648 h 465717"/>
                    <a:gd name="connsiteX13" fmla="*/ 91480 w 332655"/>
                    <a:gd name="connsiteY13" fmla="*/ 334194 h 465717"/>
                    <a:gd name="connsiteX14" fmla="*/ 74848 w 332655"/>
                    <a:gd name="connsiteY14" fmla="*/ 357613 h 465717"/>
                    <a:gd name="connsiteX15" fmla="*/ 93310 w 332655"/>
                    <a:gd name="connsiteY15" fmla="*/ 381598 h 465717"/>
                    <a:gd name="connsiteX16" fmla="*/ 91480 w 332655"/>
                    <a:gd name="connsiteY16" fmla="*/ 390870 h 465717"/>
                    <a:gd name="connsiteX17" fmla="*/ 108562 w 332655"/>
                    <a:gd name="connsiteY17" fmla="*/ 414431 h 465717"/>
                    <a:gd name="connsiteX18" fmla="*/ 166328 w 332655"/>
                    <a:gd name="connsiteY18" fmla="*/ 465718 h 465717"/>
                    <a:gd name="connsiteX19" fmla="*/ 224093 w 332655"/>
                    <a:gd name="connsiteY19" fmla="*/ 414431 h 465717"/>
                    <a:gd name="connsiteX20" fmla="*/ 241175 w 332655"/>
                    <a:gd name="connsiteY20" fmla="*/ 390870 h 465717"/>
                    <a:gd name="connsiteX21" fmla="*/ 239346 w 332655"/>
                    <a:gd name="connsiteY21" fmla="*/ 381589 h 465717"/>
                    <a:gd name="connsiteX22" fmla="*/ 257808 w 332655"/>
                    <a:gd name="connsiteY22" fmla="*/ 357605 h 465717"/>
                    <a:gd name="connsiteX23" fmla="*/ 241175 w 332655"/>
                    <a:gd name="connsiteY23" fmla="*/ 334186 h 465717"/>
                    <a:gd name="connsiteX24" fmla="*/ 241175 w 332655"/>
                    <a:gd name="connsiteY24" fmla="*/ 311640 h 465717"/>
                    <a:gd name="connsiteX25" fmla="*/ 273726 w 332655"/>
                    <a:gd name="connsiteY25" fmla="*/ 285003 h 465717"/>
                    <a:gd name="connsiteX26" fmla="*/ 332656 w 332655"/>
                    <a:gd name="connsiteY26" fmla="*/ 160664 h 465717"/>
                    <a:gd name="connsiteX27" fmla="*/ 332656 w 332655"/>
                    <a:gd name="connsiteY27" fmla="*/ 149695 h 465717"/>
                    <a:gd name="connsiteX28" fmla="*/ 282757 w 332655"/>
                    <a:gd name="connsiteY28" fmla="*/ 149695 h 465717"/>
                    <a:gd name="connsiteX29" fmla="*/ 249492 w 332655"/>
                    <a:gd name="connsiteY29" fmla="*/ 116429 h 465717"/>
                    <a:gd name="connsiteX30" fmla="*/ 160664 w 332655"/>
                    <a:gd name="connsiteY30" fmla="*/ 16633 h 465717"/>
                    <a:gd name="connsiteX31" fmla="*/ 166328 w 332655"/>
                    <a:gd name="connsiteY31" fmla="*/ 16633 h 465717"/>
                    <a:gd name="connsiteX32" fmla="*/ 166328 w 332655"/>
                    <a:gd name="connsiteY32" fmla="*/ 58215 h 465717"/>
                    <a:gd name="connsiteX33" fmla="*/ 133062 w 332655"/>
                    <a:gd name="connsiteY33" fmla="*/ 91480 h 465717"/>
                    <a:gd name="connsiteX34" fmla="*/ 166328 w 332655"/>
                    <a:gd name="connsiteY34" fmla="*/ 124746 h 465717"/>
                    <a:gd name="connsiteX35" fmla="*/ 166328 w 332655"/>
                    <a:gd name="connsiteY35" fmla="*/ 149695 h 465717"/>
                    <a:gd name="connsiteX36" fmla="*/ 133062 w 332655"/>
                    <a:gd name="connsiteY36" fmla="*/ 149695 h 465717"/>
                    <a:gd name="connsiteX37" fmla="*/ 99797 w 332655"/>
                    <a:gd name="connsiteY37" fmla="*/ 116429 h 465717"/>
                    <a:gd name="connsiteX38" fmla="*/ 66531 w 332655"/>
                    <a:gd name="connsiteY38" fmla="*/ 149695 h 465717"/>
                    <a:gd name="connsiteX39" fmla="*/ 17049 w 332655"/>
                    <a:gd name="connsiteY39" fmla="*/ 149695 h 465717"/>
                    <a:gd name="connsiteX40" fmla="*/ 160664 w 332655"/>
                    <a:gd name="connsiteY40" fmla="*/ 16633 h 465717"/>
                    <a:gd name="connsiteX41" fmla="*/ 69459 w 332655"/>
                    <a:gd name="connsiteY41" fmla="*/ 272137 h 465717"/>
                    <a:gd name="connsiteX42" fmla="*/ 16749 w 332655"/>
                    <a:gd name="connsiteY42" fmla="*/ 166328 h 465717"/>
                    <a:gd name="connsiteX43" fmla="*/ 83164 w 332655"/>
                    <a:gd name="connsiteY43" fmla="*/ 166328 h 465717"/>
                    <a:gd name="connsiteX44" fmla="*/ 83164 w 332655"/>
                    <a:gd name="connsiteY44" fmla="*/ 149695 h 465717"/>
                    <a:gd name="connsiteX45" fmla="*/ 99797 w 332655"/>
                    <a:gd name="connsiteY45" fmla="*/ 133062 h 465717"/>
                    <a:gd name="connsiteX46" fmla="*/ 116429 w 332655"/>
                    <a:gd name="connsiteY46" fmla="*/ 149695 h 465717"/>
                    <a:gd name="connsiteX47" fmla="*/ 116429 w 332655"/>
                    <a:gd name="connsiteY47" fmla="*/ 166328 h 465717"/>
                    <a:gd name="connsiteX48" fmla="*/ 166328 w 332655"/>
                    <a:gd name="connsiteY48" fmla="*/ 166328 h 465717"/>
                    <a:gd name="connsiteX49" fmla="*/ 166328 w 332655"/>
                    <a:gd name="connsiteY49" fmla="*/ 199593 h 465717"/>
                    <a:gd name="connsiteX50" fmla="*/ 133062 w 332655"/>
                    <a:gd name="connsiteY50" fmla="*/ 232859 h 465717"/>
                    <a:gd name="connsiteX51" fmla="*/ 166328 w 332655"/>
                    <a:gd name="connsiteY51" fmla="*/ 266125 h 465717"/>
                    <a:gd name="connsiteX52" fmla="*/ 166328 w 332655"/>
                    <a:gd name="connsiteY52" fmla="*/ 332656 h 465717"/>
                    <a:gd name="connsiteX53" fmla="*/ 108113 w 332655"/>
                    <a:gd name="connsiteY53" fmla="*/ 332656 h 465717"/>
                    <a:gd name="connsiteX54" fmla="*/ 108113 w 332655"/>
                    <a:gd name="connsiteY54" fmla="*/ 303765 h 465717"/>
                    <a:gd name="connsiteX55" fmla="*/ 166328 w 332655"/>
                    <a:gd name="connsiteY55" fmla="*/ 449085 h 465717"/>
                    <a:gd name="connsiteX56" fmla="*/ 125586 w 332655"/>
                    <a:gd name="connsiteY56" fmla="*/ 415820 h 465717"/>
                    <a:gd name="connsiteX57" fmla="*/ 207070 w 332655"/>
                    <a:gd name="connsiteY57" fmla="*/ 415820 h 465717"/>
                    <a:gd name="connsiteX58" fmla="*/ 166328 w 332655"/>
                    <a:gd name="connsiteY58" fmla="*/ 449085 h 465717"/>
                    <a:gd name="connsiteX59" fmla="*/ 216226 w 332655"/>
                    <a:gd name="connsiteY59" fmla="*/ 399187 h 465717"/>
                    <a:gd name="connsiteX60" fmla="*/ 116429 w 332655"/>
                    <a:gd name="connsiteY60" fmla="*/ 399187 h 465717"/>
                    <a:gd name="connsiteX61" fmla="*/ 108113 w 332655"/>
                    <a:gd name="connsiteY61" fmla="*/ 390870 h 465717"/>
                    <a:gd name="connsiteX62" fmla="*/ 116429 w 332655"/>
                    <a:gd name="connsiteY62" fmla="*/ 382554 h 465717"/>
                    <a:gd name="connsiteX63" fmla="*/ 216226 w 332655"/>
                    <a:gd name="connsiteY63" fmla="*/ 382554 h 465717"/>
                    <a:gd name="connsiteX64" fmla="*/ 224543 w 332655"/>
                    <a:gd name="connsiteY64" fmla="*/ 390870 h 465717"/>
                    <a:gd name="connsiteX65" fmla="*/ 216226 w 332655"/>
                    <a:gd name="connsiteY65" fmla="*/ 399187 h 465717"/>
                    <a:gd name="connsiteX66" fmla="*/ 232859 w 332655"/>
                    <a:gd name="connsiteY66" fmla="*/ 365921 h 465717"/>
                    <a:gd name="connsiteX67" fmla="*/ 216226 w 332655"/>
                    <a:gd name="connsiteY67" fmla="*/ 365921 h 465717"/>
                    <a:gd name="connsiteX68" fmla="*/ 116429 w 332655"/>
                    <a:gd name="connsiteY68" fmla="*/ 365921 h 465717"/>
                    <a:gd name="connsiteX69" fmla="*/ 99797 w 332655"/>
                    <a:gd name="connsiteY69" fmla="*/ 365921 h 465717"/>
                    <a:gd name="connsiteX70" fmla="*/ 91480 w 332655"/>
                    <a:gd name="connsiteY70" fmla="*/ 357605 h 465717"/>
                    <a:gd name="connsiteX71" fmla="*/ 99797 w 332655"/>
                    <a:gd name="connsiteY71" fmla="*/ 349288 h 465717"/>
                    <a:gd name="connsiteX72" fmla="*/ 232859 w 332655"/>
                    <a:gd name="connsiteY72" fmla="*/ 349288 h 465717"/>
                    <a:gd name="connsiteX73" fmla="*/ 241175 w 332655"/>
                    <a:gd name="connsiteY73" fmla="*/ 357605 h 465717"/>
                    <a:gd name="connsiteX74" fmla="*/ 232859 w 332655"/>
                    <a:gd name="connsiteY74" fmla="*/ 365921 h 465717"/>
                    <a:gd name="connsiteX75" fmla="*/ 263197 w 332655"/>
                    <a:gd name="connsiteY75" fmla="*/ 272137 h 465717"/>
                    <a:gd name="connsiteX76" fmla="*/ 224543 w 332655"/>
                    <a:gd name="connsiteY76" fmla="*/ 303765 h 465717"/>
                    <a:gd name="connsiteX77" fmla="*/ 224543 w 332655"/>
                    <a:gd name="connsiteY77" fmla="*/ 332656 h 465717"/>
                    <a:gd name="connsiteX78" fmla="*/ 182961 w 332655"/>
                    <a:gd name="connsiteY78" fmla="*/ 332656 h 465717"/>
                    <a:gd name="connsiteX79" fmla="*/ 182961 w 332655"/>
                    <a:gd name="connsiteY79" fmla="*/ 249492 h 465717"/>
                    <a:gd name="connsiteX80" fmla="*/ 166328 w 332655"/>
                    <a:gd name="connsiteY80" fmla="*/ 249492 h 465717"/>
                    <a:gd name="connsiteX81" fmla="*/ 149695 w 332655"/>
                    <a:gd name="connsiteY81" fmla="*/ 232859 h 465717"/>
                    <a:gd name="connsiteX82" fmla="*/ 166328 w 332655"/>
                    <a:gd name="connsiteY82" fmla="*/ 216226 h 465717"/>
                    <a:gd name="connsiteX83" fmla="*/ 182961 w 332655"/>
                    <a:gd name="connsiteY83" fmla="*/ 216226 h 465717"/>
                    <a:gd name="connsiteX84" fmla="*/ 182961 w 332655"/>
                    <a:gd name="connsiteY84" fmla="*/ 166328 h 465717"/>
                    <a:gd name="connsiteX85" fmla="*/ 232859 w 332655"/>
                    <a:gd name="connsiteY85" fmla="*/ 166328 h 465717"/>
                    <a:gd name="connsiteX86" fmla="*/ 232859 w 332655"/>
                    <a:gd name="connsiteY86" fmla="*/ 149695 h 465717"/>
                    <a:gd name="connsiteX87" fmla="*/ 249492 w 332655"/>
                    <a:gd name="connsiteY87" fmla="*/ 133062 h 465717"/>
                    <a:gd name="connsiteX88" fmla="*/ 266125 w 332655"/>
                    <a:gd name="connsiteY88" fmla="*/ 149695 h 465717"/>
                    <a:gd name="connsiteX89" fmla="*/ 266125 w 332655"/>
                    <a:gd name="connsiteY89" fmla="*/ 166328 h 465717"/>
                    <a:gd name="connsiteX90" fmla="*/ 315906 w 332655"/>
                    <a:gd name="connsiteY90" fmla="*/ 166328 h 465717"/>
                    <a:gd name="connsiteX91" fmla="*/ 263197 w 332655"/>
                    <a:gd name="connsiteY91" fmla="*/ 272137 h 465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332655" h="465717">
                      <a:moveTo>
                        <a:pt x="249492" y="116429"/>
                      </a:moveTo>
                      <a:cubicBezTo>
                        <a:pt x="231146" y="116429"/>
                        <a:pt x="216226" y="131349"/>
                        <a:pt x="216226" y="149695"/>
                      </a:cubicBezTo>
                      <a:lnTo>
                        <a:pt x="182961" y="149695"/>
                      </a:lnTo>
                      <a:lnTo>
                        <a:pt x="182961" y="108113"/>
                      </a:lnTo>
                      <a:lnTo>
                        <a:pt x="166328" y="108113"/>
                      </a:lnTo>
                      <a:cubicBezTo>
                        <a:pt x="157155" y="108113"/>
                        <a:pt x="149695" y="100653"/>
                        <a:pt x="149695" y="91480"/>
                      </a:cubicBezTo>
                      <a:cubicBezTo>
                        <a:pt x="149695" y="82307"/>
                        <a:pt x="157155" y="74848"/>
                        <a:pt x="166328" y="74848"/>
                      </a:cubicBezTo>
                      <a:lnTo>
                        <a:pt x="182961" y="74848"/>
                      </a:lnTo>
                      <a:lnTo>
                        <a:pt x="182961" y="0"/>
                      </a:lnTo>
                      <a:lnTo>
                        <a:pt x="160664" y="0"/>
                      </a:lnTo>
                      <a:cubicBezTo>
                        <a:pt x="72078" y="0"/>
                        <a:pt x="0" y="72078"/>
                        <a:pt x="0" y="160664"/>
                      </a:cubicBezTo>
                      <a:cubicBezTo>
                        <a:pt x="0" y="209049"/>
                        <a:pt x="21481" y="254373"/>
                        <a:pt x="58930" y="285011"/>
                      </a:cubicBezTo>
                      <a:lnTo>
                        <a:pt x="91480" y="311648"/>
                      </a:lnTo>
                      <a:lnTo>
                        <a:pt x="91480" y="334194"/>
                      </a:lnTo>
                      <a:cubicBezTo>
                        <a:pt x="81825" y="337637"/>
                        <a:pt x="74848" y="346785"/>
                        <a:pt x="74848" y="357613"/>
                      </a:cubicBezTo>
                      <a:cubicBezTo>
                        <a:pt x="74848" y="369115"/>
                        <a:pt x="82707" y="378728"/>
                        <a:pt x="93310" y="381598"/>
                      </a:cubicBezTo>
                      <a:cubicBezTo>
                        <a:pt x="92154" y="384467"/>
                        <a:pt x="91480" y="387585"/>
                        <a:pt x="91480" y="390870"/>
                      </a:cubicBezTo>
                      <a:cubicBezTo>
                        <a:pt x="91480" y="401865"/>
                        <a:pt x="98674" y="411112"/>
                        <a:pt x="108562" y="414431"/>
                      </a:cubicBezTo>
                      <a:cubicBezTo>
                        <a:pt x="112005" y="443272"/>
                        <a:pt x="136580" y="465718"/>
                        <a:pt x="166328" y="465718"/>
                      </a:cubicBezTo>
                      <a:cubicBezTo>
                        <a:pt x="196076" y="465718"/>
                        <a:pt x="220650" y="443272"/>
                        <a:pt x="224093" y="414431"/>
                      </a:cubicBezTo>
                      <a:cubicBezTo>
                        <a:pt x="233982" y="411112"/>
                        <a:pt x="241175" y="401865"/>
                        <a:pt x="241175" y="390870"/>
                      </a:cubicBezTo>
                      <a:cubicBezTo>
                        <a:pt x="241175" y="387585"/>
                        <a:pt x="240502" y="384467"/>
                        <a:pt x="239346" y="381589"/>
                      </a:cubicBezTo>
                      <a:cubicBezTo>
                        <a:pt x="249949" y="378712"/>
                        <a:pt x="257808" y="369106"/>
                        <a:pt x="257808" y="357605"/>
                      </a:cubicBezTo>
                      <a:cubicBezTo>
                        <a:pt x="257808" y="346777"/>
                        <a:pt x="250831" y="337629"/>
                        <a:pt x="241175" y="334186"/>
                      </a:cubicBezTo>
                      <a:lnTo>
                        <a:pt x="241175" y="311640"/>
                      </a:lnTo>
                      <a:lnTo>
                        <a:pt x="273726" y="285003"/>
                      </a:lnTo>
                      <a:cubicBezTo>
                        <a:pt x="311174" y="254373"/>
                        <a:pt x="332656" y="209049"/>
                        <a:pt x="332656" y="160664"/>
                      </a:cubicBezTo>
                      <a:lnTo>
                        <a:pt x="332656" y="149695"/>
                      </a:lnTo>
                      <a:lnTo>
                        <a:pt x="282757" y="149695"/>
                      </a:lnTo>
                      <a:cubicBezTo>
                        <a:pt x="282757" y="131349"/>
                        <a:pt x="267838" y="116429"/>
                        <a:pt x="249492" y="116429"/>
                      </a:cubicBezTo>
                      <a:close/>
                      <a:moveTo>
                        <a:pt x="160664" y="16633"/>
                      </a:moveTo>
                      <a:lnTo>
                        <a:pt x="166328" y="16633"/>
                      </a:lnTo>
                      <a:lnTo>
                        <a:pt x="166328" y="58215"/>
                      </a:lnTo>
                      <a:cubicBezTo>
                        <a:pt x="147982" y="58215"/>
                        <a:pt x="133062" y="73134"/>
                        <a:pt x="133062" y="91480"/>
                      </a:cubicBezTo>
                      <a:cubicBezTo>
                        <a:pt x="133062" y="109826"/>
                        <a:pt x="147982" y="124746"/>
                        <a:pt x="166328" y="124746"/>
                      </a:cubicBezTo>
                      <a:lnTo>
                        <a:pt x="166328" y="149695"/>
                      </a:lnTo>
                      <a:lnTo>
                        <a:pt x="133062" y="149695"/>
                      </a:lnTo>
                      <a:cubicBezTo>
                        <a:pt x="133062" y="131349"/>
                        <a:pt x="118143" y="116429"/>
                        <a:pt x="99797" y="116429"/>
                      </a:cubicBezTo>
                      <a:cubicBezTo>
                        <a:pt x="81451" y="116429"/>
                        <a:pt x="66531" y="131349"/>
                        <a:pt x="66531" y="149695"/>
                      </a:cubicBezTo>
                      <a:lnTo>
                        <a:pt x="17049" y="149695"/>
                      </a:lnTo>
                      <a:cubicBezTo>
                        <a:pt x="22670" y="75380"/>
                        <a:pt x="84935" y="16633"/>
                        <a:pt x="160664" y="16633"/>
                      </a:cubicBezTo>
                      <a:close/>
                      <a:moveTo>
                        <a:pt x="69459" y="272137"/>
                      </a:moveTo>
                      <a:cubicBezTo>
                        <a:pt x="37349" y="245866"/>
                        <a:pt x="18338" y="207560"/>
                        <a:pt x="16749" y="166328"/>
                      </a:cubicBezTo>
                      <a:lnTo>
                        <a:pt x="83164" y="166328"/>
                      </a:lnTo>
                      <a:lnTo>
                        <a:pt x="83164" y="149695"/>
                      </a:lnTo>
                      <a:cubicBezTo>
                        <a:pt x="83164" y="140522"/>
                        <a:pt x="90624" y="133062"/>
                        <a:pt x="99797" y="133062"/>
                      </a:cubicBezTo>
                      <a:cubicBezTo>
                        <a:pt x="108970" y="133062"/>
                        <a:pt x="116429" y="140522"/>
                        <a:pt x="116429" y="149695"/>
                      </a:cubicBezTo>
                      <a:lnTo>
                        <a:pt x="116429" y="166328"/>
                      </a:lnTo>
                      <a:lnTo>
                        <a:pt x="166328" y="166328"/>
                      </a:lnTo>
                      <a:lnTo>
                        <a:pt x="166328" y="199593"/>
                      </a:lnTo>
                      <a:cubicBezTo>
                        <a:pt x="147982" y="199593"/>
                        <a:pt x="133062" y="214513"/>
                        <a:pt x="133062" y="232859"/>
                      </a:cubicBezTo>
                      <a:cubicBezTo>
                        <a:pt x="133062" y="251205"/>
                        <a:pt x="147982" y="266125"/>
                        <a:pt x="166328" y="266125"/>
                      </a:cubicBezTo>
                      <a:lnTo>
                        <a:pt x="166328" y="332656"/>
                      </a:lnTo>
                      <a:lnTo>
                        <a:pt x="108113" y="332656"/>
                      </a:lnTo>
                      <a:lnTo>
                        <a:pt x="108113" y="303765"/>
                      </a:lnTo>
                      <a:close/>
                      <a:moveTo>
                        <a:pt x="166328" y="449085"/>
                      </a:moveTo>
                      <a:cubicBezTo>
                        <a:pt x="146252" y="449085"/>
                        <a:pt x="129453" y="434773"/>
                        <a:pt x="125586" y="415820"/>
                      </a:cubicBezTo>
                      <a:lnTo>
                        <a:pt x="207070" y="415820"/>
                      </a:lnTo>
                      <a:cubicBezTo>
                        <a:pt x="203203" y="434773"/>
                        <a:pt x="186404" y="449085"/>
                        <a:pt x="166328" y="449085"/>
                      </a:cubicBezTo>
                      <a:close/>
                      <a:moveTo>
                        <a:pt x="216226" y="399187"/>
                      </a:moveTo>
                      <a:lnTo>
                        <a:pt x="116429" y="399187"/>
                      </a:lnTo>
                      <a:cubicBezTo>
                        <a:pt x="111839" y="399187"/>
                        <a:pt x="108113" y="395453"/>
                        <a:pt x="108113" y="390870"/>
                      </a:cubicBezTo>
                      <a:cubicBezTo>
                        <a:pt x="108113" y="386288"/>
                        <a:pt x="111839" y="382554"/>
                        <a:pt x="116429" y="382554"/>
                      </a:cubicBezTo>
                      <a:lnTo>
                        <a:pt x="216226" y="382554"/>
                      </a:lnTo>
                      <a:cubicBezTo>
                        <a:pt x="220817" y="382554"/>
                        <a:pt x="224543" y="386288"/>
                        <a:pt x="224543" y="390870"/>
                      </a:cubicBezTo>
                      <a:cubicBezTo>
                        <a:pt x="224543" y="395453"/>
                        <a:pt x="220817" y="399187"/>
                        <a:pt x="216226" y="399187"/>
                      </a:cubicBezTo>
                      <a:close/>
                      <a:moveTo>
                        <a:pt x="232859" y="365921"/>
                      </a:moveTo>
                      <a:lnTo>
                        <a:pt x="216226" y="365921"/>
                      </a:lnTo>
                      <a:lnTo>
                        <a:pt x="116429" y="365921"/>
                      </a:lnTo>
                      <a:lnTo>
                        <a:pt x="99797" y="365921"/>
                      </a:lnTo>
                      <a:cubicBezTo>
                        <a:pt x="95206" y="365921"/>
                        <a:pt x="91480" y="362187"/>
                        <a:pt x="91480" y="357605"/>
                      </a:cubicBezTo>
                      <a:cubicBezTo>
                        <a:pt x="91480" y="353022"/>
                        <a:pt x="95206" y="349288"/>
                        <a:pt x="99797" y="349288"/>
                      </a:cubicBezTo>
                      <a:lnTo>
                        <a:pt x="232859" y="349288"/>
                      </a:lnTo>
                      <a:cubicBezTo>
                        <a:pt x="237450" y="349288"/>
                        <a:pt x="241175" y="353022"/>
                        <a:pt x="241175" y="357605"/>
                      </a:cubicBezTo>
                      <a:cubicBezTo>
                        <a:pt x="241175" y="362187"/>
                        <a:pt x="237450" y="365921"/>
                        <a:pt x="232859" y="365921"/>
                      </a:cubicBezTo>
                      <a:close/>
                      <a:moveTo>
                        <a:pt x="263197" y="272137"/>
                      </a:moveTo>
                      <a:lnTo>
                        <a:pt x="224543" y="303765"/>
                      </a:lnTo>
                      <a:lnTo>
                        <a:pt x="224543" y="332656"/>
                      </a:lnTo>
                      <a:lnTo>
                        <a:pt x="182961" y="332656"/>
                      </a:lnTo>
                      <a:lnTo>
                        <a:pt x="182961" y="249492"/>
                      </a:lnTo>
                      <a:lnTo>
                        <a:pt x="166328" y="249492"/>
                      </a:lnTo>
                      <a:cubicBezTo>
                        <a:pt x="157155" y="249492"/>
                        <a:pt x="149695" y="242032"/>
                        <a:pt x="149695" y="232859"/>
                      </a:cubicBezTo>
                      <a:cubicBezTo>
                        <a:pt x="149695" y="223686"/>
                        <a:pt x="157155" y="216226"/>
                        <a:pt x="166328" y="216226"/>
                      </a:cubicBezTo>
                      <a:lnTo>
                        <a:pt x="182961" y="216226"/>
                      </a:lnTo>
                      <a:lnTo>
                        <a:pt x="182961" y="166328"/>
                      </a:lnTo>
                      <a:lnTo>
                        <a:pt x="232859" y="166328"/>
                      </a:lnTo>
                      <a:lnTo>
                        <a:pt x="232859" y="149695"/>
                      </a:lnTo>
                      <a:cubicBezTo>
                        <a:pt x="232859" y="140522"/>
                        <a:pt x="240319" y="133062"/>
                        <a:pt x="249492" y="133062"/>
                      </a:cubicBezTo>
                      <a:cubicBezTo>
                        <a:pt x="258665" y="133062"/>
                        <a:pt x="266125" y="140522"/>
                        <a:pt x="266125" y="149695"/>
                      </a:cubicBezTo>
                      <a:lnTo>
                        <a:pt x="266125" y="166328"/>
                      </a:lnTo>
                      <a:lnTo>
                        <a:pt x="315906" y="166328"/>
                      </a:lnTo>
                      <a:cubicBezTo>
                        <a:pt x="314318" y="207560"/>
                        <a:pt x="295307" y="245866"/>
                        <a:pt x="263197" y="272137"/>
                      </a:cubicBezTo>
                      <a:close/>
                    </a:path>
                  </a:pathLst>
                </a:custGeom>
                <a:solidFill>
                  <a:schemeClr val="bg1"/>
                </a:solidFill>
                <a:ln w="81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grpSp>
        <p:nvGrpSpPr>
          <p:cNvPr id="90" name="Group 89">
            <a:extLst>
              <a:ext uri="{FF2B5EF4-FFF2-40B4-BE49-F238E27FC236}">
                <a16:creationId xmlns:a16="http://schemas.microsoft.com/office/drawing/2014/main" id="{A9D7AFAF-48D5-52DD-4970-74EE58A963AE}"/>
              </a:ext>
            </a:extLst>
          </p:cNvPr>
          <p:cNvGrpSpPr/>
          <p:nvPr/>
        </p:nvGrpSpPr>
        <p:grpSpPr>
          <a:xfrm>
            <a:off x="6134642" y="946880"/>
            <a:ext cx="2674897" cy="5434870"/>
            <a:chOff x="6073519" y="946880"/>
            <a:chExt cx="2674897" cy="5434870"/>
          </a:xfrm>
        </p:grpSpPr>
        <p:sp>
          <p:nvSpPr>
            <p:cNvPr id="37" name="TextBox 36">
              <a:extLst>
                <a:ext uri="{FF2B5EF4-FFF2-40B4-BE49-F238E27FC236}">
                  <a16:creationId xmlns:a16="http://schemas.microsoft.com/office/drawing/2014/main" id="{2A00E42D-25DF-D347-8580-100A1BFDB484}"/>
                </a:ext>
              </a:extLst>
            </p:cNvPr>
            <p:cNvSpPr txBox="1"/>
            <p:nvPr/>
          </p:nvSpPr>
          <p:spPr>
            <a:xfrm>
              <a:off x="7213332" y="1290493"/>
              <a:ext cx="796693" cy="246221"/>
            </a:xfrm>
            <a:prstGeom prst="rect">
              <a:avLst/>
            </a:prstGeom>
            <a:noFill/>
          </p:spPr>
          <p:txBody>
            <a:bodyPr wrap="none" lIns="0" tIns="0" rIns="0" bIns="0" rtlCol="0">
              <a:spAutoFit/>
            </a:bodyPr>
            <a:lstStyle/>
            <a:p>
              <a:r>
                <a:rPr kumimoji="0" lang="en-IN" sz="1600" b="0" i="0" u="none" strike="noStrike" kern="1200" cap="none" spc="0" normalizeH="0" baseline="0" noProof="0">
                  <a:ln>
                    <a:noFill/>
                  </a:ln>
                  <a:solidFill>
                    <a:schemeClr val="tx2"/>
                  </a:solidFill>
                  <a:effectLst/>
                  <a:uLnTx/>
                  <a:uFillTx/>
                  <a:latin typeface="Manrope" pitchFamily="2" charset="0"/>
                </a:rPr>
                <a:t>Benefits</a:t>
              </a:r>
            </a:p>
          </p:txBody>
        </p:sp>
        <p:sp>
          <p:nvSpPr>
            <p:cNvPr id="38" name="Rectangle 37">
              <a:extLst>
                <a:ext uri="{FF2B5EF4-FFF2-40B4-BE49-F238E27FC236}">
                  <a16:creationId xmlns:a16="http://schemas.microsoft.com/office/drawing/2014/main" id="{75446587-B1B1-F11A-53C4-B4D1E97B4F66}"/>
                </a:ext>
              </a:extLst>
            </p:cNvPr>
            <p:cNvSpPr/>
            <p:nvPr/>
          </p:nvSpPr>
          <p:spPr>
            <a:xfrm>
              <a:off x="6073519" y="1979271"/>
              <a:ext cx="2674897" cy="44024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D14FF934-1D99-BF4D-0323-254C3B94256C}"/>
                </a:ext>
              </a:extLst>
            </p:cNvPr>
            <p:cNvSpPr txBox="1"/>
            <p:nvPr/>
          </p:nvSpPr>
          <p:spPr>
            <a:xfrm>
              <a:off x="6155961" y="2274269"/>
              <a:ext cx="2418835" cy="3417410"/>
            </a:xfrm>
            <a:prstGeom prst="rect">
              <a:avLst/>
            </a:prstGeom>
            <a:noFill/>
          </p:spPr>
          <p:txBody>
            <a:bodyPr wrap="square" rIns="90000" bIns="4680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Unravel enhances Snowflake workload performance monitoring by providing insights into query execution, resource utilization, and system health. </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It efficiently manages costs with recommendations for cost-effective configurations and optimizes resource allocation to prevent underutilization or overutilization of Snowflake warehouses. Benefits are </a:t>
              </a:r>
              <a:r>
                <a:rPr kumimoji="0" lang="en-US" sz="1200" b="0" i="0" u="none" strike="noStrike" kern="1200" cap="none" spc="0" normalizeH="0" baseline="0" noProof="0" err="1">
                  <a:ln>
                    <a:noFill/>
                  </a:ln>
                  <a:effectLst/>
                  <a:uLnTx/>
                  <a:uFillTx/>
                  <a:latin typeface="Manrope" pitchFamily="2" charset="0"/>
                </a:rPr>
                <a:t>upto</a:t>
              </a:r>
              <a:r>
                <a:rPr kumimoji="0" lang="en-US" sz="1200" b="0" i="0" u="none" strike="noStrike" kern="1200" cap="none" spc="0" normalizeH="0" baseline="0" noProof="0">
                  <a:ln>
                    <a:noFill/>
                  </a:ln>
                  <a:effectLst/>
                  <a:uLnTx/>
                  <a:uFillTx/>
                  <a:latin typeface="Manrope" pitchFamily="2" charset="0"/>
                </a:rPr>
                <a:t>  </a:t>
              </a:r>
              <a:r>
                <a:rPr kumimoji="0" lang="en-US" sz="1200" b="1" i="0" u="none" strike="noStrike" kern="1200" cap="none" spc="0" normalizeH="0" baseline="0" noProof="0">
                  <a:ln>
                    <a:noFill/>
                  </a:ln>
                  <a:effectLst/>
                  <a:uLnTx/>
                  <a:uFillTx/>
                  <a:latin typeface="Manrope" pitchFamily="2" charset="0"/>
                </a:rPr>
                <a:t>30-40% average productivity savings</a:t>
              </a:r>
            </a:p>
          </p:txBody>
        </p:sp>
        <p:grpSp>
          <p:nvGrpSpPr>
            <p:cNvPr id="59" name="Group 58">
              <a:extLst>
                <a:ext uri="{FF2B5EF4-FFF2-40B4-BE49-F238E27FC236}">
                  <a16:creationId xmlns:a16="http://schemas.microsoft.com/office/drawing/2014/main" id="{B6EBE29A-C123-0FF3-8182-0F17E248A2BC}"/>
                </a:ext>
              </a:extLst>
            </p:cNvPr>
            <p:cNvGrpSpPr/>
            <p:nvPr/>
          </p:nvGrpSpPr>
          <p:grpSpPr>
            <a:xfrm>
              <a:off x="6073519" y="946880"/>
              <a:ext cx="950026" cy="950026"/>
              <a:chOff x="623888" y="3923832"/>
              <a:chExt cx="950026" cy="950026"/>
            </a:xfrm>
          </p:grpSpPr>
          <p:grpSp>
            <p:nvGrpSpPr>
              <p:cNvPr id="60" name="Group 59">
                <a:extLst>
                  <a:ext uri="{FF2B5EF4-FFF2-40B4-BE49-F238E27FC236}">
                    <a16:creationId xmlns:a16="http://schemas.microsoft.com/office/drawing/2014/main" id="{CB4861EA-CEB7-5151-7E81-AB59C06D8DBD}"/>
                  </a:ext>
                </a:extLst>
              </p:cNvPr>
              <p:cNvGrpSpPr/>
              <p:nvPr/>
            </p:nvGrpSpPr>
            <p:grpSpPr>
              <a:xfrm>
                <a:off x="623888" y="3923832"/>
                <a:ext cx="950026" cy="950026"/>
                <a:chOff x="1450992" y="1491427"/>
                <a:chExt cx="950026" cy="950026"/>
              </a:xfrm>
            </p:grpSpPr>
            <p:sp>
              <p:nvSpPr>
                <p:cNvPr id="67" name="Oval 66">
                  <a:extLst>
                    <a:ext uri="{FF2B5EF4-FFF2-40B4-BE49-F238E27FC236}">
                      <a16:creationId xmlns:a16="http://schemas.microsoft.com/office/drawing/2014/main" id="{F051C5AF-1383-7550-BE6D-CA815DD451A3}"/>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1BDFE49F-8D26-B4C1-70F0-D568C403F830}"/>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973187D-05F6-C7F2-09B2-ACC155DA55D1}"/>
                  </a:ext>
                </a:extLst>
              </p:cNvPr>
              <p:cNvGrpSpPr/>
              <p:nvPr/>
            </p:nvGrpSpPr>
            <p:grpSpPr>
              <a:xfrm>
                <a:off x="908009" y="4132528"/>
                <a:ext cx="437025" cy="488137"/>
                <a:chOff x="425359" y="3860014"/>
                <a:chExt cx="581681" cy="488137"/>
              </a:xfrm>
            </p:grpSpPr>
            <p:sp>
              <p:nvSpPr>
                <p:cNvPr id="62" name="Freeform: Shape 32">
                  <a:extLst>
                    <a:ext uri="{FF2B5EF4-FFF2-40B4-BE49-F238E27FC236}">
                      <a16:creationId xmlns:a16="http://schemas.microsoft.com/office/drawing/2014/main" id="{5AD2F52F-F8FF-03FD-12EE-481EC13ADCB3}"/>
                    </a:ext>
                  </a:extLst>
                </p:cNvPr>
                <p:cNvSpPr/>
                <p:nvPr/>
              </p:nvSpPr>
              <p:spPr>
                <a:xfrm>
                  <a:off x="519064" y="3963507"/>
                  <a:ext cx="133063" cy="158619"/>
                </a:xfrm>
                <a:custGeom>
                  <a:avLst/>
                  <a:gdLst>
                    <a:gd name="connsiteX0" fmla="*/ 6511 w 101456"/>
                    <a:gd name="connsiteY0" fmla="*/ 60028 h 144118"/>
                    <a:gd name="connsiteX1" fmla="*/ 19291 w 101456"/>
                    <a:gd name="connsiteY1" fmla="*/ 60028 h 144118"/>
                    <a:gd name="connsiteX2" fmla="*/ 19291 w 101456"/>
                    <a:gd name="connsiteY2" fmla="*/ 137608 h 144118"/>
                    <a:gd name="connsiteX3" fmla="*/ 25801 w 101456"/>
                    <a:gd name="connsiteY3" fmla="*/ 144118 h 144118"/>
                    <a:gd name="connsiteX4" fmla="*/ 75657 w 101456"/>
                    <a:gd name="connsiteY4" fmla="*/ 144118 h 144118"/>
                    <a:gd name="connsiteX5" fmla="*/ 82167 w 101456"/>
                    <a:gd name="connsiteY5" fmla="*/ 137608 h 144118"/>
                    <a:gd name="connsiteX6" fmla="*/ 82167 w 101456"/>
                    <a:gd name="connsiteY6" fmla="*/ 60028 h 144118"/>
                    <a:gd name="connsiteX7" fmla="*/ 94947 w 101456"/>
                    <a:gd name="connsiteY7" fmla="*/ 60028 h 144118"/>
                    <a:gd name="connsiteX8" fmla="*/ 100922 w 101456"/>
                    <a:gd name="connsiteY8" fmla="*/ 56102 h 144118"/>
                    <a:gd name="connsiteX9" fmla="*/ 99689 w 101456"/>
                    <a:gd name="connsiteY9" fmla="*/ 49059 h 144118"/>
                    <a:gd name="connsiteX10" fmla="*/ 55470 w 101456"/>
                    <a:gd name="connsiteY10" fmla="*/ 2050 h 144118"/>
                    <a:gd name="connsiteX11" fmla="*/ 50728 w 101456"/>
                    <a:gd name="connsiteY11" fmla="*/ 0 h 144118"/>
                    <a:gd name="connsiteX12" fmla="*/ 45987 w 101456"/>
                    <a:gd name="connsiteY12" fmla="*/ 2050 h 144118"/>
                    <a:gd name="connsiteX13" fmla="*/ 1768 w 101456"/>
                    <a:gd name="connsiteY13" fmla="*/ 49059 h 144118"/>
                    <a:gd name="connsiteX14" fmla="*/ 534 w 101456"/>
                    <a:gd name="connsiteY14" fmla="*/ 56102 h 144118"/>
                    <a:gd name="connsiteX15" fmla="*/ 6511 w 101456"/>
                    <a:gd name="connsiteY15" fmla="*/ 60028 h 144118"/>
                    <a:gd name="connsiteX16" fmla="*/ 50729 w 101456"/>
                    <a:gd name="connsiteY16" fmla="*/ 16010 h 144118"/>
                    <a:gd name="connsiteX17" fmla="*/ 79888 w 101456"/>
                    <a:gd name="connsiteY17" fmla="*/ 47010 h 144118"/>
                    <a:gd name="connsiteX18" fmla="*/ 75658 w 101456"/>
                    <a:gd name="connsiteY18" fmla="*/ 47010 h 144118"/>
                    <a:gd name="connsiteX19" fmla="*/ 69148 w 101456"/>
                    <a:gd name="connsiteY19" fmla="*/ 53519 h 144118"/>
                    <a:gd name="connsiteX20" fmla="*/ 69148 w 101456"/>
                    <a:gd name="connsiteY20" fmla="*/ 131099 h 144118"/>
                    <a:gd name="connsiteX21" fmla="*/ 32310 w 101456"/>
                    <a:gd name="connsiteY21" fmla="*/ 131099 h 144118"/>
                    <a:gd name="connsiteX22" fmla="*/ 32310 w 101456"/>
                    <a:gd name="connsiteY22" fmla="*/ 53519 h 144118"/>
                    <a:gd name="connsiteX23" fmla="*/ 25801 w 101456"/>
                    <a:gd name="connsiteY23" fmla="*/ 47010 h 144118"/>
                    <a:gd name="connsiteX24" fmla="*/ 21570 w 101456"/>
                    <a:gd name="connsiteY24" fmla="*/ 47010 h 144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1456" h="144118">
                      <a:moveTo>
                        <a:pt x="6511" y="60028"/>
                      </a:moveTo>
                      <a:lnTo>
                        <a:pt x="19291" y="60028"/>
                      </a:lnTo>
                      <a:lnTo>
                        <a:pt x="19291" y="137608"/>
                      </a:lnTo>
                      <a:cubicBezTo>
                        <a:pt x="19291" y="141204"/>
                        <a:pt x="22206" y="144118"/>
                        <a:pt x="25801" y="144118"/>
                      </a:cubicBezTo>
                      <a:lnTo>
                        <a:pt x="75657" y="144118"/>
                      </a:lnTo>
                      <a:cubicBezTo>
                        <a:pt x="79252" y="144118"/>
                        <a:pt x="82167" y="141204"/>
                        <a:pt x="82167" y="137608"/>
                      </a:cubicBezTo>
                      <a:lnTo>
                        <a:pt x="82167" y="60028"/>
                      </a:lnTo>
                      <a:lnTo>
                        <a:pt x="94947" y="60028"/>
                      </a:lnTo>
                      <a:cubicBezTo>
                        <a:pt x="97543" y="60028"/>
                        <a:pt x="99891" y="58485"/>
                        <a:pt x="100922" y="56102"/>
                      </a:cubicBezTo>
                      <a:cubicBezTo>
                        <a:pt x="101952" y="53719"/>
                        <a:pt x="101468" y="50951"/>
                        <a:pt x="99689" y="49059"/>
                      </a:cubicBezTo>
                      <a:lnTo>
                        <a:pt x="55470" y="2050"/>
                      </a:lnTo>
                      <a:cubicBezTo>
                        <a:pt x="54240" y="741"/>
                        <a:pt x="52524" y="0"/>
                        <a:pt x="50728" y="0"/>
                      </a:cubicBezTo>
                      <a:cubicBezTo>
                        <a:pt x="48933" y="0"/>
                        <a:pt x="47218" y="741"/>
                        <a:pt x="45987" y="2050"/>
                      </a:cubicBezTo>
                      <a:lnTo>
                        <a:pt x="1768" y="49059"/>
                      </a:lnTo>
                      <a:cubicBezTo>
                        <a:pt x="-11" y="50951"/>
                        <a:pt x="-496" y="53719"/>
                        <a:pt x="534" y="56102"/>
                      </a:cubicBezTo>
                      <a:cubicBezTo>
                        <a:pt x="1566" y="58485"/>
                        <a:pt x="3914" y="60028"/>
                        <a:pt x="6511" y="60028"/>
                      </a:cubicBezTo>
                      <a:close/>
                      <a:moveTo>
                        <a:pt x="50729" y="16010"/>
                      </a:moveTo>
                      <a:lnTo>
                        <a:pt x="79888" y="47010"/>
                      </a:lnTo>
                      <a:lnTo>
                        <a:pt x="75658" y="47010"/>
                      </a:lnTo>
                      <a:cubicBezTo>
                        <a:pt x="72063" y="47010"/>
                        <a:pt x="69148" y="49924"/>
                        <a:pt x="69148" y="53519"/>
                      </a:cubicBezTo>
                      <a:lnTo>
                        <a:pt x="69148" y="131099"/>
                      </a:lnTo>
                      <a:lnTo>
                        <a:pt x="32310" y="131099"/>
                      </a:lnTo>
                      <a:lnTo>
                        <a:pt x="32310" y="53519"/>
                      </a:lnTo>
                      <a:cubicBezTo>
                        <a:pt x="32310" y="49924"/>
                        <a:pt x="29396" y="47010"/>
                        <a:pt x="25801" y="47010"/>
                      </a:cubicBezTo>
                      <a:lnTo>
                        <a:pt x="21570" y="47010"/>
                      </a:ln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Shape 33">
                  <a:extLst>
                    <a:ext uri="{FF2B5EF4-FFF2-40B4-BE49-F238E27FC236}">
                      <a16:creationId xmlns:a16="http://schemas.microsoft.com/office/drawing/2014/main" id="{018599D2-2DEA-0CE0-7E6F-17B12677BB6D}"/>
                    </a:ext>
                  </a:extLst>
                </p:cNvPr>
                <p:cNvSpPr/>
                <p:nvPr/>
              </p:nvSpPr>
              <p:spPr>
                <a:xfrm>
                  <a:off x="649668" y="3914218"/>
                  <a:ext cx="133063" cy="207909"/>
                </a:xfrm>
                <a:custGeom>
                  <a:avLst/>
                  <a:gdLst>
                    <a:gd name="connsiteX0" fmla="*/ 6510 w 101456"/>
                    <a:gd name="connsiteY0" fmla="*/ 60028 h 188902"/>
                    <a:gd name="connsiteX1" fmla="*/ 19291 w 101456"/>
                    <a:gd name="connsiteY1" fmla="*/ 60028 h 188902"/>
                    <a:gd name="connsiteX2" fmla="*/ 19291 w 101456"/>
                    <a:gd name="connsiteY2" fmla="*/ 182393 h 188902"/>
                    <a:gd name="connsiteX3" fmla="*/ 25801 w 101456"/>
                    <a:gd name="connsiteY3" fmla="*/ 188902 h 188902"/>
                    <a:gd name="connsiteX4" fmla="*/ 75657 w 101456"/>
                    <a:gd name="connsiteY4" fmla="*/ 188902 h 188902"/>
                    <a:gd name="connsiteX5" fmla="*/ 82167 w 101456"/>
                    <a:gd name="connsiteY5" fmla="*/ 182393 h 188902"/>
                    <a:gd name="connsiteX6" fmla="*/ 82167 w 101456"/>
                    <a:gd name="connsiteY6" fmla="*/ 60028 h 188902"/>
                    <a:gd name="connsiteX7" fmla="*/ 94947 w 101456"/>
                    <a:gd name="connsiteY7" fmla="*/ 60028 h 188902"/>
                    <a:gd name="connsiteX8" fmla="*/ 100922 w 101456"/>
                    <a:gd name="connsiteY8" fmla="*/ 56102 h 188902"/>
                    <a:gd name="connsiteX9" fmla="*/ 99688 w 101456"/>
                    <a:gd name="connsiteY9" fmla="*/ 49059 h 188902"/>
                    <a:gd name="connsiteX10" fmla="*/ 55470 w 101456"/>
                    <a:gd name="connsiteY10" fmla="*/ 2050 h 188902"/>
                    <a:gd name="connsiteX11" fmla="*/ 50728 w 101456"/>
                    <a:gd name="connsiteY11" fmla="*/ 0 h 188902"/>
                    <a:gd name="connsiteX12" fmla="*/ 45987 w 101456"/>
                    <a:gd name="connsiteY12" fmla="*/ 2050 h 188902"/>
                    <a:gd name="connsiteX13" fmla="*/ 1768 w 101456"/>
                    <a:gd name="connsiteY13" fmla="*/ 49059 h 188902"/>
                    <a:gd name="connsiteX14" fmla="*/ 534 w 101456"/>
                    <a:gd name="connsiteY14" fmla="*/ 56102 h 188902"/>
                    <a:gd name="connsiteX15" fmla="*/ 6510 w 101456"/>
                    <a:gd name="connsiteY15" fmla="*/ 60028 h 188902"/>
                    <a:gd name="connsiteX16" fmla="*/ 50728 w 101456"/>
                    <a:gd name="connsiteY16" fmla="*/ 16010 h 188902"/>
                    <a:gd name="connsiteX17" fmla="*/ 79887 w 101456"/>
                    <a:gd name="connsiteY17" fmla="*/ 47010 h 188902"/>
                    <a:gd name="connsiteX18" fmla="*/ 75656 w 101456"/>
                    <a:gd name="connsiteY18" fmla="*/ 47010 h 188902"/>
                    <a:gd name="connsiteX19" fmla="*/ 69146 w 101456"/>
                    <a:gd name="connsiteY19" fmla="*/ 53519 h 188902"/>
                    <a:gd name="connsiteX20" fmla="*/ 69146 w 101456"/>
                    <a:gd name="connsiteY20" fmla="*/ 175884 h 188902"/>
                    <a:gd name="connsiteX21" fmla="*/ 32309 w 101456"/>
                    <a:gd name="connsiteY21" fmla="*/ 175884 h 188902"/>
                    <a:gd name="connsiteX22" fmla="*/ 32309 w 101456"/>
                    <a:gd name="connsiteY22" fmla="*/ 53519 h 188902"/>
                    <a:gd name="connsiteX23" fmla="*/ 25799 w 101456"/>
                    <a:gd name="connsiteY23" fmla="*/ 47010 h 188902"/>
                    <a:gd name="connsiteX24" fmla="*/ 21568 w 101456"/>
                    <a:gd name="connsiteY24" fmla="*/ 47010 h 18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1456" h="188902">
                      <a:moveTo>
                        <a:pt x="6510" y="60028"/>
                      </a:moveTo>
                      <a:lnTo>
                        <a:pt x="19291" y="60028"/>
                      </a:lnTo>
                      <a:lnTo>
                        <a:pt x="19291" y="182393"/>
                      </a:lnTo>
                      <a:cubicBezTo>
                        <a:pt x="19291" y="185988"/>
                        <a:pt x="22206" y="188902"/>
                        <a:pt x="25801" y="188902"/>
                      </a:cubicBezTo>
                      <a:lnTo>
                        <a:pt x="75657" y="188902"/>
                      </a:lnTo>
                      <a:cubicBezTo>
                        <a:pt x="79253" y="188902"/>
                        <a:pt x="82167" y="185988"/>
                        <a:pt x="82167" y="182393"/>
                      </a:cubicBezTo>
                      <a:lnTo>
                        <a:pt x="82167" y="60028"/>
                      </a:lnTo>
                      <a:lnTo>
                        <a:pt x="94947" y="60028"/>
                      </a:lnTo>
                      <a:cubicBezTo>
                        <a:pt x="97544" y="60028"/>
                        <a:pt x="99891" y="58485"/>
                        <a:pt x="100922" y="56102"/>
                      </a:cubicBezTo>
                      <a:cubicBezTo>
                        <a:pt x="101952" y="53719"/>
                        <a:pt x="101467" y="50951"/>
                        <a:pt x="99688" y="49059"/>
                      </a:cubicBezTo>
                      <a:lnTo>
                        <a:pt x="55470" y="2050"/>
                      </a:lnTo>
                      <a:cubicBezTo>
                        <a:pt x="54240" y="741"/>
                        <a:pt x="52524" y="0"/>
                        <a:pt x="50728" y="0"/>
                      </a:cubicBezTo>
                      <a:cubicBezTo>
                        <a:pt x="48933" y="0"/>
                        <a:pt x="47217" y="741"/>
                        <a:pt x="45987" y="2050"/>
                      </a:cubicBezTo>
                      <a:lnTo>
                        <a:pt x="1768" y="49059"/>
                      </a:lnTo>
                      <a:cubicBezTo>
                        <a:pt x="-11" y="50951"/>
                        <a:pt x="-496" y="53719"/>
                        <a:pt x="534" y="56102"/>
                      </a:cubicBezTo>
                      <a:cubicBezTo>
                        <a:pt x="1565" y="58485"/>
                        <a:pt x="3914" y="60028"/>
                        <a:pt x="6510" y="60028"/>
                      </a:cubicBezTo>
                      <a:close/>
                      <a:moveTo>
                        <a:pt x="50728" y="16010"/>
                      </a:moveTo>
                      <a:lnTo>
                        <a:pt x="79887" y="47010"/>
                      </a:lnTo>
                      <a:lnTo>
                        <a:pt x="75656" y="47010"/>
                      </a:lnTo>
                      <a:cubicBezTo>
                        <a:pt x="72060" y="47010"/>
                        <a:pt x="69146" y="49924"/>
                        <a:pt x="69146" y="53519"/>
                      </a:cubicBezTo>
                      <a:lnTo>
                        <a:pt x="69146" y="175884"/>
                      </a:lnTo>
                      <a:lnTo>
                        <a:pt x="32309" y="175884"/>
                      </a:lnTo>
                      <a:lnTo>
                        <a:pt x="32309" y="53519"/>
                      </a:lnTo>
                      <a:cubicBezTo>
                        <a:pt x="32309" y="49924"/>
                        <a:pt x="29394" y="47010"/>
                        <a:pt x="25799" y="47010"/>
                      </a:cubicBezTo>
                      <a:lnTo>
                        <a:pt x="21568" y="47010"/>
                      </a:ln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Shape 34">
                  <a:extLst>
                    <a:ext uri="{FF2B5EF4-FFF2-40B4-BE49-F238E27FC236}">
                      <a16:creationId xmlns:a16="http://schemas.microsoft.com/office/drawing/2014/main" id="{69D5F9BE-D2F8-C920-AB0D-271D7C3D7B35}"/>
                    </a:ext>
                  </a:extLst>
                </p:cNvPr>
                <p:cNvSpPr/>
                <p:nvPr/>
              </p:nvSpPr>
              <p:spPr>
                <a:xfrm>
                  <a:off x="780270" y="3860014"/>
                  <a:ext cx="133062" cy="262111"/>
                </a:xfrm>
                <a:custGeom>
                  <a:avLst/>
                  <a:gdLst>
                    <a:gd name="connsiteX0" fmla="*/ 6510 w 101455"/>
                    <a:gd name="connsiteY0" fmla="*/ 60029 h 238149"/>
                    <a:gd name="connsiteX1" fmla="*/ 19291 w 101455"/>
                    <a:gd name="connsiteY1" fmla="*/ 60029 h 238149"/>
                    <a:gd name="connsiteX2" fmla="*/ 19291 w 101455"/>
                    <a:gd name="connsiteY2" fmla="*/ 130680 h 238149"/>
                    <a:gd name="connsiteX3" fmla="*/ 25800 w 101455"/>
                    <a:gd name="connsiteY3" fmla="*/ 137190 h 238149"/>
                    <a:gd name="connsiteX4" fmla="*/ 32310 w 101455"/>
                    <a:gd name="connsiteY4" fmla="*/ 130680 h 238149"/>
                    <a:gd name="connsiteX5" fmla="*/ 32310 w 101455"/>
                    <a:gd name="connsiteY5" fmla="*/ 53519 h 238149"/>
                    <a:gd name="connsiteX6" fmla="*/ 25800 w 101455"/>
                    <a:gd name="connsiteY6" fmla="*/ 47010 h 238149"/>
                    <a:gd name="connsiteX7" fmla="*/ 21570 w 101455"/>
                    <a:gd name="connsiteY7" fmla="*/ 47010 h 238149"/>
                    <a:gd name="connsiteX8" fmla="*/ 50728 w 101455"/>
                    <a:gd name="connsiteY8" fmla="*/ 16010 h 238149"/>
                    <a:gd name="connsiteX9" fmla="*/ 79887 w 101455"/>
                    <a:gd name="connsiteY9" fmla="*/ 47010 h 238149"/>
                    <a:gd name="connsiteX10" fmla="*/ 75657 w 101455"/>
                    <a:gd name="connsiteY10" fmla="*/ 47010 h 238149"/>
                    <a:gd name="connsiteX11" fmla="*/ 69147 w 101455"/>
                    <a:gd name="connsiteY11" fmla="*/ 53519 h 238149"/>
                    <a:gd name="connsiteX12" fmla="*/ 69147 w 101455"/>
                    <a:gd name="connsiteY12" fmla="*/ 225131 h 238149"/>
                    <a:gd name="connsiteX13" fmla="*/ 32309 w 101455"/>
                    <a:gd name="connsiteY13" fmla="*/ 225131 h 238149"/>
                    <a:gd name="connsiteX14" fmla="*/ 32309 w 101455"/>
                    <a:gd name="connsiteY14" fmla="*/ 156717 h 238149"/>
                    <a:gd name="connsiteX15" fmla="*/ 25800 w 101455"/>
                    <a:gd name="connsiteY15" fmla="*/ 150208 h 238149"/>
                    <a:gd name="connsiteX16" fmla="*/ 19290 w 101455"/>
                    <a:gd name="connsiteY16" fmla="*/ 156717 h 238149"/>
                    <a:gd name="connsiteX17" fmla="*/ 19290 w 101455"/>
                    <a:gd name="connsiteY17" fmla="*/ 231640 h 238149"/>
                    <a:gd name="connsiteX18" fmla="*/ 25800 w 101455"/>
                    <a:gd name="connsiteY18" fmla="*/ 238149 h 238149"/>
                    <a:gd name="connsiteX19" fmla="*/ 75656 w 101455"/>
                    <a:gd name="connsiteY19" fmla="*/ 238149 h 238149"/>
                    <a:gd name="connsiteX20" fmla="*/ 82165 w 101455"/>
                    <a:gd name="connsiteY20" fmla="*/ 231640 h 238149"/>
                    <a:gd name="connsiteX21" fmla="*/ 82165 w 101455"/>
                    <a:gd name="connsiteY21" fmla="*/ 60029 h 238149"/>
                    <a:gd name="connsiteX22" fmla="*/ 94946 w 101455"/>
                    <a:gd name="connsiteY22" fmla="*/ 60029 h 238149"/>
                    <a:gd name="connsiteX23" fmla="*/ 100921 w 101455"/>
                    <a:gd name="connsiteY23" fmla="*/ 56103 h 238149"/>
                    <a:gd name="connsiteX24" fmla="*/ 99687 w 101455"/>
                    <a:gd name="connsiteY24" fmla="*/ 49060 h 238149"/>
                    <a:gd name="connsiteX25" fmla="*/ 55470 w 101455"/>
                    <a:gd name="connsiteY25" fmla="*/ 2050 h 238149"/>
                    <a:gd name="connsiteX26" fmla="*/ 50728 w 101455"/>
                    <a:gd name="connsiteY26" fmla="*/ 0 h 238149"/>
                    <a:gd name="connsiteX27" fmla="*/ 45986 w 101455"/>
                    <a:gd name="connsiteY27" fmla="*/ 2050 h 238149"/>
                    <a:gd name="connsiteX28" fmla="*/ 1769 w 101455"/>
                    <a:gd name="connsiteY28" fmla="*/ 49059 h 238149"/>
                    <a:gd name="connsiteX29" fmla="*/ 534 w 101455"/>
                    <a:gd name="connsiteY29" fmla="*/ 56102 h 238149"/>
                    <a:gd name="connsiteX30" fmla="*/ 6510 w 101455"/>
                    <a:gd name="connsiteY30" fmla="*/ 60029 h 238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1455" h="238149">
                      <a:moveTo>
                        <a:pt x="6510" y="60029"/>
                      </a:moveTo>
                      <a:lnTo>
                        <a:pt x="19291" y="60029"/>
                      </a:lnTo>
                      <a:lnTo>
                        <a:pt x="19291" y="130680"/>
                      </a:lnTo>
                      <a:cubicBezTo>
                        <a:pt x="19291" y="134276"/>
                        <a:pt x="22205" y="137190"/>
                        <a:pt x="25800" y="137190"/>
                      </a:cubicBezTo>
                      <a:cubicBezTo>
                        <a:pt x="29396" y="137190"/>
                        <a:pt x="32310" y="134276"/>
                        <a:pt x="32310" y="130680"/>
                      </a:cubicBezTo>
                      <a:lnTo>
                        <a:pt x="32310" y="53519"/>
                      </a:lnTo>
                      <a:cubicBezTo>
                        <a:pt x="32310" y="49924"/>
                        <a:pt x="29396" y="47010"/>
                        <a:pt x="25800" y="47010"/>
                      </a:cubicBezTo>
                      <a:lnTo>
                        <a:pt x="21570" y="47010"/>
                      </a:lnTo>
                      <a:lnTo>
                        <a:pt x="50728" y="16010"/>
                      </a:lnTo>
                      <a:lnTo>
                        <a:pt x="79887" y="47010"/>
                      </a:lnTo>
                      <a:lnTo>
                        <a:pt x="75657" y="47010"/>
                      </a:lnTo>
                      <a:cubicBezTo>
                        <a:pt x="72061" y="47010"/>
                        <a:pt x="69147" y="49924"/>
                        <a:pt x="69147" y="53519"/>
                      </a:cubicBezTo>
                      <a:lnTo>
                        <a:pt x="69147" y="225131"/>
                      </a:lnTo>
                      <a:lnTo>
                        <a:pt x="32309" y="225131"/>
                      </a:lnTo>
                      <a:lnTo>
                        <a:pt x="32309" y="156717"/>
                      </a:lnTo>
                      <a:cubicBezTo>
                        <a:pt x="32309" y="153122"/>
                        <a:pt x="29395" y="150208"/>
                        <a:pt x="25800" y="150208"/>
                      </a:cubicBezTo>
                      <a:cubicBezTo>
                        <a:pt x="22204" y="150208"/>
                        <a:pt x="19290" y="153122"/>
                        <a:pt x="19290" y="156717"/>
                      </a:cubicBezTo>
                      <a:lnTo>
                        <a:pt x="19290" y="231640"/>
                      </a:lnTo>
                      <a:cubicBezTo>
                        <a:pt x="19290" y="235235"/>
                        <a:pt x="22204" y="238149"/>
                        <a:pt x="25800" y="238149"/>
                      </a:cubicBezTo>
                      <a:lnTo>
                        <a:pt x="75656" y="238149"/>
                      </a:lnTo>
                      <a:cubicBezTo>
                        <a:pt x="79251" y="238149"/>
                        <a:pt x="82165" y="235235"/>
                        <a:pt x="82165" y="231640"/>
                      </a:cubicBezTo>
                      <a:lnTo>
                        <a:pt x="82165" y="60029"/>
                      </a:lnTo>
                      <a:lnTo>
                        <a:pt x="94946" y="60029"/>
                      </a:lnTo>
                      <a:cubicBezTo>
                        <a:pt x="97543" y="60029"/>
                        <a:pt x="99890" y="58486"/>
                        <a:pt x="100921" y="56103"/>
                      </a:cubicBezTo>
                      <a:cubicBezTo>
                        <a:pt x="101951" y="53719"/>
                        <a:pt x="101466" y="50952"/>
                        <a:pt x="99687" y="49060"/>
                      </a:cubicBezTo>
                      <a:lnTo>
                        <a:pt x="55470" y="2050"/>
                      </a:lnTo>
                      <a:cubicBezTo>
                        <a:pt x="54240" y="741"/>
                        <a:pt x="52524" y="0"/>
                        <a:pt x="50728" y="0"/>
                      </a:cubicBezTo>
                      <a:cubicBezTo>
                        <a:pt x="48933" y="0"/>
                        <a:pt x="47216" y="741"/>
                        <a:pt x="45986" y="2050"/>
                      </a:cubicBezTo>
                      <a:lnTo>
                        <a:pt x="1769" y="49059"/>
                      </a:lnTo>
                      <a:cubicBezTo>
                        <a:pt x="-11" y="50951"/>
                        <a:pt x="-496" y="53719"/>
                        <a:pt x="534" y="56102"/>
                      </a:cubicBezTo>
                      <a:cubicBezTo>
                        <a:pt x="1566" y="58486"/>
                        <a:pt x="3913" y="60029"/>
                        <a:pt x="6510" y="60029"/>
                      </a:cubicBezTo>
                      <a:close/>
                    </a:path>
                  </a:pathLst>
                </a:custGeom>
                <a:solidFill>
                  <a:schemeClr val="bg1"/>
                </a:solid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35">
                  <a:extLst>
                    <a:ext uri="{FF2B5EF4-FFF2-40B4-BE49-F238E27FC236}">
                      <a16:creationId xmlns:a16="http://schemas.microsoft.com/office/drawing/2014/main" id="{501660E4-80F4-DC4C-B91D-7D6350D824A5}"/>
                    </a:ext>
                  </a:extLst>
                </p:cNvPr>
                <p:cNvSpPr/>
                <p:nvPr/>
              </p:nvSpPr>
              <p:spPr>
                <a:xfrm>
                  <a:off x="425359" y="4193909"/>
                  <a:ext cx="468329" cy="154242"/>
                </a:xfrm>
                <a:custGeom>
                  <a:avLst/>
                  <a:gdLst>
                    <a:gd name="connsiteX0" fmla="*/ 347458 w 357084"/>
                    <a:gd name="connsiteY0" fmla="*/ 73007 h 140141"/>
                    <a:gd name="connsiteX1" fmla="*/ 338673 w 357084"/>
                    <a:gd name="connsiteY1" fmla="*/ 77795 h 140141"/>
                    <a:gd name="connsiteX2" fmla="*/ 325278 w 357084"/>
                    <a:gd name="connsiteY2" fmla="*/ 85179 h 140141"/>
                    <a:gd name="connsiteX3" fmla="*/ 201915 w 357084"/>
                    <a:gd name="connsiteY3" fmla="*/ 126734 h 140141"/>
                    <a:gd name="connsiteX4" fmla="*/ 54246 w 357084"/>
                    <a:gd name="connsiteY4" fmla="*/ 113552 h 140141"/>
                    <a:gd name="connsiteX5" fmla="*/ 53668 w 357084"/>
                    <a:gd name="connsiteY5" fmla="*/ 113526 h 140141"/>
                    <a:gd name="connsiteX6" fmla="*/ 13019 w 357084"/>
                    <a:gd name="connsiteY6" fmla="*/ 113526 h 140141"/>
                    <a:gd name="connsiteX7" fmla="*/ 13019 w 357084"/>
                    <a:gd name="connsiteY7" fmla="*/ 40448 h 140141"/>
                    <a:gd name="connsiteX8" fmla="*/ 53667 w 357084"/>
                    <a:gd name="connsiteY8" fmla="*/ 40448 h 140141"/>
                    <a:gd name="connsiteX9" fmla="*/ 57871 w 357084"/>
                    <a:gd name="connsiteY9" fmla="*/ 38909 h 140141"/>
                    <a:gd name="connsiteX10" fmla="*/ 103253 w 357084"/>
                    <a:gd name="connsiteY10" fmla="*/ 12570 h 140141"/>
                    <a:gd name="connsiteX11" fmla="*/ 106934 w 357084"/>
                    <a:gd name="connsiteY11" fmla="*/ 4132 h 140141"/>
                    <a:gd name="connsiteX12" fmla="*/ 98495 w 357084"/>
                    <a:gd name="connsiteY12" fmla="*/ 452 h 140141"/>
                    <a:gd name="connsiteX13" fmla="*/ 51362 w 357084"/>
                    <a:gd name="connsiteY13" fmla="*/ 27429 h 140141"/>
                    <a:gd name="connsiteX14" fmla="*/ 6510 w 357084"/>
                    <a:gd name="connsiteY14" fmla="*/ 27429 h 140141"/>
                    <a:gd name="connsiteX15" fmla="*/ 0 w 357084"/>
                    <a:gd name="connsiteY15" fmla="*/ 33939 h 140141"/>
                    <a:gd name="connsiteX16" fmla="*/ 0 w 357084"/>
                    <a:gd name="connsiteY16" fmla="*/ 120036 h 140141"/>
                    <a:gd name="connsiteX17" fmla="*/ 6510 w 357084"/>
                    <a:gd name="connsiteY17" fmla="*/ 126546 h 140141"/>
                    <a:gd name="connsiteX18" fmla="*/ 53377 w 357084"/>
                    <a:gd name="connsiteY18" fmla="*/ 126546 h 140141"/>
                    <a:gd name="connsiteX19" fmla="*/ 200758 w 357084"/>
                    <a:gd name="connsiteY19" fmla="*/ 139702 h 140141"/>
                    <a:gd name="connsiteX20" fmla="*/ 210731 w 357084"/>
                    <a:gd name="connsiteY20" fmla="*/ 140141 h 140141"/>
                    <a:gd name="connsiteX21" fmla="*/ 331592 w 357084"/>
                    <a:gd name="connsiteY21" fmla="*/ 96565 h 140141"/>
                    <a:gd name="connsiteX22" fmla="*/ 344903 w 357084"/>
                    <a:gd name="connsiteY22" fmla="*/ 89226 h 140141"/>
                    <a:gd name="connsiteX23" fmla="*/ 353689 w 357084"/>
                    <a:gd name="connsiteY23" fmla="*/ 84440 h 140141"/>
                    <a:gd name="connsiteX24" fmla="*/ 356290 w 357084"/>
                    <a:gd name="connsiteY24" fmla="*/ 75608 h 140141"/>
                    <a:gd name="connsiteX25" fmla="*/ 347458 w 357084"/>
                    <a:gd name="connsiteY25" fmla="*/ 73007 h 140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7084" h="140141">
                      <a:moveTo>
                        <a:pt x="347458" y="73007"/>
                      </a:moveTo>
                      <a:lnTo>
                        <a:pt x="338673" y="77795"/>
                      </a:lnTo>
                      <a:cubicBezTo>
                        <a:pt x="334268" y="80195"/>
                        <a:pt x="329801" y="82672"/>
                        <a:pt x="325278" y="85179"/>
                      </a:cubicBezTo>
                      <a:cubicBezTo>
                        <a:pt x="287001" y="106402"/>
                        <a:pt x="243621" y="130464"/>
                        <a:pt x="201915" y="126734"/>
                      </a:cubicBezTo>
                      <a:lnTo>
                        <a:pt x="54246" y="113552"/>
                      </a:lnTo>
                      <a:cubicBezTo>
                        <a:pt x="54054" y="113535"/>
                        <a:pt x="53861" y="113526"/>
                        <a:pt x="53668" y="113526"/>
                      </a:cubicBezTo>
                      <a:lnTo>
                        <a:pt x="13019" y="113526"/>
                      </a:lnTo>
                      <a:lnTo>
                        <a:pt x="13019" y="40448"/>
                      </a:lnTo>
                      <a:lnTo>
                        <a:pt x="53667" y="40448"/>
                      </a:lnTo>
                      <a:cubicBezTo>
                        <a:pt x="55206" y="40448"/>
                        <a:pt x="56695" y="39902"/>
                        <a:pt x="57871" y="38909"/>
                      </a:cubicBezTo>
                      <a:cubicBezTo>
                        <a:pt x="58058" y="38750"/>
                        <a:pt x="76968" y="22893"/>
                        <a:pt x="103253" y="12570"/>
                      </a:cubicBezTo>
                      <a:cubicBezTo>
                        <a:pt x="106600" y="11256"/>
                        <a:pt x="108247" y="7478"/>
                        <a:pt x="106934" y="4132"/>
                      </a:cubicBezTo>
                      <a:cubicBezTo>
                        <a:pt x="105619" y="786"/>
                        <a:pt x="101842" y="-862"/>
                        <a:pt x="98495" y="452"/>
                      </a:cubicBezTo>
                      <a:cubicBezTo>
                        <a:pt x="74854" y="9736"/>
                        <a:pt x="57047" y="22940"/>
                        <a:pt x="51362" y="27429"/>
                      </a:cubicBezTo>
                      <a:lnTo>
                        <a:pt x="6510" y="27429"/>
                      </a:lnTo>
                      <a:cubicBezTo>
                        <a:pt x="2914" y="27429"/>
                        <a:pt x="0" y="30344"/>
                        <a:pt x="0" y="33939"/>
                      </a:cubicBezTo>
                      <a:lnTo>
                        <a:pt x="0" y="120036"/>
                      </a:lnTo>
                      <a:cubicBezTo>
                        <a:pt x="0" y="123631"/>
                        <a:pt x="2914" y="126546"/>
                        <a:pt x="6510" y="126546"/>
                      </a:cubicBezTo>
                      <a:lnTo>
                        <a:pt x="53377" y="126546"/>
                      </a:lnTo>
                      <a:lnTo>
                        <a:pt x="200758" y="139702"/>
                      </a:lnTo>
                      <a:cubicBezTo>
                        <a:pt x="204086" y="139999"/>
                        <a:pt x="207408" y="140141"/>
                        <a:pt x="210731" y="140141"/>
                      </a:cubicBezTo>
                      <a:cubicBezTo>
                        <a:pt x="252996" y="140141"/>
                        <a:pt x="294586" y="117084"/>
                        <a:pt x="331592" y="96565"/>
                      </a:cubicBezTo>
                      <a:cubicBezTo>
                        <a:pt x="336087" y="94073"/>
                        <a:pt x="340526" y="91612"/>
                        <a:pt x="344903" y="89226"/>
                      </a:cubicBezTo>
                      <a:lnTo>
                        <a:pt x="353689" y="84440"/>
                      </a:lnTo>
                      <a:cubicBezTo>
                        <a:pt x="356845" y="82719"/>
                        <a:pt x="358009" y="78766"/>
                        <a:pt x="356290" y="75608"/>
                      </a:cubicBezTo>
                      <a:cubicBezTo>
                        <a:pt x="354568" y="72452"/>
                        <a:pt x="350614" y="71287"/>
                        <a:pt x="347458" y="73007"/>
                      </a:cubicBezTo>
                      <a:close/>
                    </a:path>
                  </a:pathLst>
                </a:custGeom>
                <a:solidFill>
                  <a:schemeClr val="bg1"/>
                </a:solidFill>
                <a:ln w="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Shape 36">
                  <a:extLst>
                    <a:ext uri="{FF2B5EF4-FFF2-40B4-BE49-F238E27FC236}">
                      <a16:creationId xmlns:a16="http://schemas.microsoft.com/office/drawing/2014/main" id="{41A023E0-C1EF-2584-2A72-69F50EE83631}"/>
                    </a:ext>
                  </a:extLst>
                </p:cNvPr>
                <p:cNvSpPr/>
                <p:nvPr/>
              </p:nvSpPr>
              <p:spPr>
                <a:xfrm>
                  <a:off x="581920" y="4142381"/>
                  <a:ext cx="425120" cy="131574"/>
                </a:xfrm>
                <a:custGeom>
                  <a:avLst/>
                  <a:gdLst>
                    <a:gd name="connsiteX0" fmla="*/ 319113 w 324138"/>
                    <a:gd name="connsiteY0" fmla="*/ 52507 h 119546"/>
                    <a:gd name="connsiteX1" fmla="*/ 289725 w 324138"/>
                    <a:gd name="connsiteY1" fmla="*/ 44522 h 119546"/>
                    <a:gd name="connsiteX2" fmla="*/ 285581 w 324138"/>
                    <a:gd name="connsiteY2" fmla="*/ 32847 h 119546"/>
                    <a:gd name="connsiteX3" fmla="*/ 256798 w 324138"/>
                    <a:gd name="connsiteY3" fmla="*/ 26017 h 119546"/>
                    <a:gd name="connsiteX4" fmla="*/ 241317 w 324138"/>
                    <a:gd name="connsiteY4" fmla="*/ 34176 h 119546"/>
                    <a:gd name="connsiteX5" fmla="*/ 238135 w 324138"/>
                    <a:gd name="connsiteY5" fmla="*/ 23804 h 119546"/>
                    <a:gd name="connsiteX6" fmla="*/ 208422 w 324138"/>
                    <a:gd name="connsiteY6" fmla="*/ 15731 h 119546"/>
                    <a:gd name="connsiteX7" fmla="*/ 196850 w 324138"/>
                    <a:gd name="connsiteY7" fmla="*/ 22005 h 119546"/>
                    <a:gd name="connsiteX8" fmla="*/ 192399 w 324138"/>
                    <a:gd name="connsiteY8" fmla="*/ 9419 h 119546"/>
                    <a:gd name="connsiteX9" fmla="*/ 163188 w 324138"/>
                    <a:gd name="connsiteY9" fmla="*/ 2665 h 119546"/>
                    <a:gd name="connsiteX10" fmla="*/ 79651 w 324138"/>
                    <a:gd name="connsiteY10" fmla="*/ 46480 h 119546"/>
                    <a:gd name="connsiteX11" fmla="*/ 5319 w 324138"/>
                    <a:gd name="connsiteY11" fmla="*/ 39633 h 119546"/>
                    <a:gd name="connsiteX12" fmla="*/ 111 w 324138"/>
                    <a:gd name="connsiteY12" fmla="*/ 47224 h 119546"/>
                    <a:gd name="connsiteX13" fmla="*/ 7702 w 324138"/>
                    <a:gd name="connsiteY13" fmla="*/ 52432 h 119546"/>
                    <a:gd name="connsiteX14" fmla="*/ 77329 w 324138"/>
                    <a:gd name="connsiteY14" fmla="*/ 59587 h 119546"/>
                    <a:gd name="connsiteX15" fmla="*/ 79996 w 324138"/>
                    <a:gd name="connsiteY15" fmla="*/ 60159 h 119546"/>
                    <a:gd name="connsiteX16" fmla="*/ 166948 w 324138"/>
                    <a:gd name="connsiteY16" fmla="*/ 60159 h 119546"/>
                    <a:gd name="connsiteX17" fmla="*/ 178152 w 324138"/>
                    <a:gd name="connsiteY17" fmla="*/ 71395 h 119546"/>
                    <a:gd name="connsiteX18" fmla="*/ 168352 w 324138"/>
                    <a:gd name="connsiteY18" fmla="*/ 82542 h 119546"/>
                    <a:gd name="connsiteX19" fmla="*/ 58144 w 324138"/>
                    <a:gd name="connsiteY19" fmla="*/ 96500 h 119546"/>
                    <a:gd name="connsiteX20" fmla="*/ 52453 w 324138"/>
                    <a:gd name="connsiteY20" fmla="*/ 102978 h 119546"/>
                    <a:gd name="connsiteX21" fmla="*/ 58183 w 324138"/>
                    <a:gd name="connsiteY21" fmla="*/ 109421 h 119546"/>
                    <a:gd name="connsiteX22" fmla="*/ 104988 w 324138"/>
                    <a:gd name="connsiteY22" fmla="*/ 115063 h 119546"/>
                    <a:gd name="connsiteX23" fmla="*/ 235324 w 324138"/>
                    <a:gd name="connsiteY23" fmla="*/ 89486 h 119546"/>
                    <a:gd name="connsiteX24" fmla="*/ 293817 w 324138"/>
                    <a:gd name="connsiteY24" fmla="*/ 56970 h 119546"/>
                    <a:gd name="connsiteX25" fmla="*/ 308719 w 324138"/>
                    <a:gd name="connsiteY25" fmla="*/ 60349 h 119546"/>
                    <a:gd name="connsiteX26" fmla="*/ 310849 w 324138"/>
                    <a:gd name="connsiteY26" fmla="*/ 70029 h 119546"/>
                    <a:gd name="connsiteX27" fmla="*/ 304928 w 324138"/>
                    <a:gd name="connsiteY27" fmla="*/ 77950 h 119546"/>
                    <a:gd name="connsiteX28" fmla="*/ 251033 w 324138"/>
                    <a:gd name="connsiteY28" fmla="*/ 107320 h 119546"/>
                    <a:gd name="connsiteX29" fmla="*/ 248432 w 324138"/>
                    <a:gd name="connsiteY29" fmla="*/ 116151 h 119546"/>
                    <a:gd name="connsiteX30" fmla="*/ 254154 w 324138"/>
                    <a:gd name="connsiteY30" fmla="*/ 119546 h 119546"/>
                    <a:gd name="connsiteX31" fmla="*/ 257263 w 324138"/>
                    <a:gd name="connsiteY31" fmla="*/ 118751 h 119546"/>
                    <a:gd name="connsiteX32" fmla="*/ 311158 w 324138"/>
                    <a:gd name="connsiteY32" fmla="*/ 89381 h 119546"/>
                    <a:gd name="connsiteX33" fmla="*/ 323574 w 324138"/>
                    <a:gd name="connsiteY33" fmla="*/ 72778 h 119546"/>
                    <a:gd name="connsiteX34" fmla="*/ 319113 w 324138"/>
                    <a:gd name="connsiteY34" fmla="*/ 52507 h 119546"/>
                    <a:gd name="connsiteX35" fmla="*/ 150488 w 324138"/>
                    <a:gd name="connsiteY35" fmla="*/ 47140 h 119546"/>
                    <a:gd name="connsiteX36" fmla="*/ 106422 w 324138"/>
                    <a:gd name="connsiteY36" fmla="*/ 47140 h 119546"/>
                    <a:gd name="connsiteX37" fmla="*/ 169234 w 324138"/>
                    <a:gd name="connsiteY37" fmla="*/ 14196 h 119546"/>
                    <a:gd name="connsiteX38" fmla="*/ 181908 w 324138"/>
                    <a:gd name="connsiteY38" fmla="*/ 17130 h 119546"/>
                    <a:gd name="connsiteX39" fmla="*/ 183614 w 324138"/>
                    <a:gd name="connsiteY39" fmla="*/ 25270 h 119546"/>
                    <a:gd name="connsiteX40" fmla="*/ 178616 w 324138"/>
                    <a:gd name="connsiteY40" fmla="*/ 31891 h 119546"/>
                    <a:gd name="connsiteX41" fmla="*/ 178615 w 324138"/>
                    <a:gd name="connsiteY41" fmla="*/ 31892 h 119546"/>
                    <a:gd name="connsiteX42" fmla="*/ 175155 w 324138"/>
                    <a:gd name="connsiteY42" fmla="*/ 48576 h 119546"/>
                    <a:gd name="connsiteX43" fmla="*/ 214626 w 324138"/>
                    <a:gd name="connsiteY43" fmla="*/ 27176 h 119546"/>
                    <a:gd name="connsiteX44" fmla="*/ 226996 w 324138"/>
                    <a:gd name="connsiteY44" fmla="*/ 30542 h 119546"/>
                    <a:gd name="connsiteX45" fmla="*/ 228004 w 324138"/>
                    <a:gd name="connsiteY45" fmla="*/ 37881 h 119546"/>
                    <a:gd name="connsiteX46" fmla="*/ 223373 w 324138"/>
                    <a:gd name="connsiteY46" fmla="*/ 43634 h 119546"/>
                    <a:gd name="connsiteX47" fmla="*/ 189137 w 324138"/>
                    <a:gd name="connsiteY47" fmla="*/ 61677 h 119546"/>
                    <a:gd name="connsiteX48" fmla="*/ 175155 w 324138"/>
                    <a:gd name="connsiteY48" fmla="*/ 48576 h 119546"/>
                    <a:gd name="connsiteX49" fmla="*/ 276528 w 324138"/>
                    <a:gd name="connsiteY49" fmla="*/ 48049 h 119546"/>
                    <a:gd name="connsiteX50" fmla="*/ 271877 w 324138"/>
                    <a:gd name="connsiteY50" fmla="*/ 54270 h 119546"/>
                    <a:gd name="connsiteX51" fmla="*/ 228999 w 324138"/>
                    <a:gd name="connsiteY51" fmla="*/ 78106 h 119546"/>
                    <a:gd name="connsiteX52" fmla="*/ 112369 w 324138"/>
                    <a:gd name="connsiteY52" fmla="*/ 102754 h 119546"/>
                    <a:gd name="connsiteX53" fmla="*/ 169988 w 324138"/>
                    <a:gd name="connsiteY53" fmla="*/ 95456 h 119546"/>
                    <a:gd name="connsiteX54" fmla="*/ 190814 w 324138"/>
                    <a:gd name="connsiteY54" fmla="*/ 75509 h 119546"/>
                    <a:gd name="connsiteX55" fmla="*/ 262869 w 324138"/>
                    <a:gd name="connsiteY55" fmla="*/ 37534 h 119546"/>
                    <a:gd name="connsiteX56" fmla="*/ 274987 w 324138"/>
                    <a:gd name="connsiteY56" fmla="*/ 40413 h 119546"/>
                    <a:gd name="connsiteX57" fmla="*/ 276528 w 324138"/>
                    <a:gd name="connsiteY57" fmla="*/ 48049 h 11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24138" h="119546">
                      <a:moveTo>
                        <a:pt x="319113" y="52507"/>
                      </a:moveTo>
                      <a:cubicBezTo>
                        <a:pt x="312192" y="43331"/>
                        <a:pt x="300135" y="40163"/>
                        <a:pt x="289725" y="44522"/>
                      </a:cubicBezTo>
                      <a:cubicBezTo>
                        <a:pt x="289460" y="40359"/>
                        <a:pt x="288049" y="36303"/>
                        <a:pt x="285581" y="32847"/>
                      </a:cubicBezTo>
                      <a:cubicBezTo>
                        <a:pt x="279072" y="23735"/>
                        <a:pt x="266698" y="20798"/>
                        <a:pt x="256798" y="26017"/>
                      </a:cubicBezTo>
                      <a:lnTo>
                        <a:pt x="241317" y="34176"/>
                      </a:lnTo>
                      <a:cubicBezTo>
                        <a:pt x="241118" y="30541"/>
                        <a:pt x="240046" y="26963"/>
                        <a:pt x="238135" y="23804"/>
                      </a:cubicBezTo>
                      <a:cubicBezTo>
                        <a:pt x="231957" y="13593"/>
                        <a:pt x="218905" y="10048"/>
                        <a:pt x="208422" y="15731"/>
                      </a:cubicBezTo>
                      <a:lnTo>
                        <a:pt x="196850" y="22005"/>
                      </a:lnTo>
                      <a:cubicBezTo>
                        <a:pt x="196642" y="17506"/>
                        <a:pt x="195119" y="13121"/>
                        <a:pt x="192399" y="9419"/>
                      </a:cubicBezTo>
                      <a:cubicBezTo>
                        <a:pt x="185614" y="188"/>
                        <a:pt x="173330" y="-2654"/>
                        <a:pt x="163188" y="2665"/>
                      </a:cubicBezTo>
                      <a:lnTo>
                        <a:pt x="79651" y="46480"/>
                      </a:lnTo>
                      <a:cubicBezTo>
                        <a:pt x="70256" y="42873"/>
                        <a:pt x="40306" y="33118"/>
                        <a:pt x="5319" y="39633"/>
                      </a:cubicBezTo>
                      <a:cubicBezTo>
                        <a:pt x="1785" y="40292"/>
                        <a:pt x="-547" y="43690"/>
                        <a:pt x="111" y="47224"/>
                      </a:cubicBezTo>
                      <a:cubicBezTo>
                        <a:pt x="769" y="50759"/>
                        <a:pt x="4170" y="53089"/>
                        <a:pt x="7702" y="52432"/>
                      </a:cubicBezTo>
                      <a:cubicBezTo>
                        <a:pt x="45054" y="45479"/>
                        <a:pt x="77019" y="59449"/>
                        <a:pt x="77329" y="59587"/>
                      </a:cubicBezTo>
                      <a:cubicBezTo>
                        <a:pt x="78168" y="59964"/>
                        <a:pt x="79077" y="60159"/>
                        <a:pt x="79996" y="60159"/>
                      </a:cubicBezTo>
                      <a:lnTo>
                        <a:pt x="166948" y="60159"/>
                      </a:lnTo>
                      <a:cubicBezTo>
                        <a:pt x="173126" y="60159"/>
                        <a:pt x="178152" y="65199"/>
                        <a:pt x="178152" y="71395"/>
                      </a:cubicBezTo>
                      <a:cubicBezTo>
                        <a:pt x="178152" y="77042"/>
                        <a:pt x="173939" y="81834"/>
                        <a:pt x="168352" y="82542"/>
                      </a:cubicBezTo>
                      <a:lnTo>
                        <a:pt x="58144" y="96500"/>
                      </a:lnTo>
                      <a:cubicBezTo>
                        <a:pt x="54883" y="96913"/>
                        <a:pt x="52442" y="99691"/>
                        <a:pt x="52453" y="102978"/>
                      </a:cubicBezTo>
                      <a:cubicBezTo>
                        <a:pt x="52463" y="106264"/>
                        <a:pt x="54920" y="109028"/>
                        <a:pt x="58183" y="109421"/>
                      </a:cubicBezTo>
                      <a:lnTo>
                        <a:pt x="104988" y="115063"/>
                      </a:lnTo>
                      <a:cubicBezTo>
                        <a:pt x="150325" y="120526"/>
                        <a:pt x="195396" y="111684"/>
                        <a:pt x="235324" y="89486"/>
                      </a:cubicBezTo>
                      <a:lnTo>
                        <a:pt x="293817" y="56970"/>
                      </a:lnTo>
                      <a:cubicBezTo>
                        <a:pt x="298960" y="54294"/>
                        <a:pt x="305217" y="55707"/>
                        <a:pt x="308719" y="60349"/>
                      </a:cubicBezTo>
                      <a:cubicBezTo>
                        <a:pt x="310804" y="63113"/>
                        <a:pt x="311581" y="66641"/>
                        <a:pt x="310849" y="70029"/>
                      </a:cubicBezTo>
                      <a:cubicBezTo>
                        <a:pt x="310118" y="73411"/>
                        <a:pt x="307960" y="76298"/>
                        <a:pt x="304928" y="77950"/>
                      </a:cubicBezTo>
                      <a:lnTo>
                        <a:pt x="251033" y="107320"/>
                      </a:lnTo>
                      <a:cubicBezTo>
                        <a:pt x="247877" y="109041"/>
                        <a:pt x="246713" y="112994"/>
                        <a:pt x="248432" y="116151"/>
                      </a:cubicBezTo>
                      <a:cubicBezTo>
                        <a:pt x="249614" y="118318"/>
                        <a:pt x="251848" y="119546"/>
                        <a:pt x="254154" y="119546"/>
                      </a:cubicBezTo>
                      <a:cubicBezTo>
                        <a:pt x="255207" y="119546"/>
                        <a:pt x="256274" y="119290"/>
                        <a:pt x="257263" y="118751"/>
                      </a:cubicBezTo>
                      <a:lnTo>
                        <a:pt x="311158" y="89381"/>
                      </a:lnTo>
                      <a:cubicBezTo>
                        <a:pt x="317517" y="85916"/>
                        <a:pt x="322043" y="79864"/>
                        <a:pt x="323574" y="72778"/>
                      </a:cubicBezTo>
                      <a:cubicBezTo>
                        <a:pt x="325107" y="65685"/>
                        <a:pt x="323481" y="58297"/>
                        <a:pt x="319113" y="52507"/>
                      </a:cubicBezTo>
                      <a:close/>
                      <a:moveTo>
                        <a:pt x="150488" y="47140"/>
                      </a:moveTo>
                      <a:lnTo>
                        <a:pt x="106422" y="47140"/>
                      </a:lnTo>
                      <a:lnTo>
                        <a:pt x="169234" y="14196"/>
                      </a:lnTo>
                      <a:cubicBezTo>
                        <a:pt x="173634" y="11889"/>
                        <a:pt x="178964" y="13123"/>
                        <a:pt x="181908" y="17130"/>
                      </a:cubicBezTo>
                      <a:cubicBezTo>
                        <a:pt x="183652" y="19503"/>
                        <a:pt x="184257" y="22394"/>
                        <a:pt x="183614" y="25270"/>
                      </a:cubicBezTo>
                      <a:cubicBezTo>
                        <a:pt x="182972" y="28140"/>
                        <a:pt x="181197" y="30491"/>
                        <a:pt x="178616" y="31891"/>
                      </a:cubicBezTo>
                      <a:cubicBezTo>
                        <a:pt x="178616" y="31891"/>
                        <a:pt x="178616" y="31891"/>
                        <a:pt x="178615" y="31892"/>
                      </a:cubicBezTo>
                      <a:close/>
                      <a:moveTo>
                        <a:pt x="175155" y="48576"/>
                      </a:moveTo>
                      <a:lnTo>
                        <a:pt x="214626" y="27176"/>
                      </a:lnTo>
                      <a:cubicBezTo>
                        <a:pt x="218992" y="24810"/>
                        <a:pt x="224423" y="26290"/>
                        <a:pt x="226996" y="30542"/>
                      </a:cubicBezTo>
                      <a:cubicBezTo>
                        <a:pt x="228342" y="32768"/>
                        <a:pt x="228700" y="35374"/>
                        <a:pt x="228004" y="37881"/>
                      </a:cubicBezTo>
                      <a:cubicBezTo>
                        <a:pt x="227310" y="40383"/>
                        <a:pt x="225664" y="42426"/>
                        <a:pt x="223373" y="43634"/>
                      </a:cubicBezTo>
                      <a:lnTo>
                        <a:pt x="189137" y="61677"/>
                      </a:lnTo>
                      <a:cubicBezTo>
                        <a:pt x="186476" y="55614"/>
                        <a:pt x="181412" y="50839"/>
                        <a:pt x="175155" y="48576"/>
                      </a:cubicBezTo>
                      <a:close/>
                      <a:moveTo>
                        <a:pt x="276528" y="48049"/>
                      </a:moveTo>
                      <a:cubicBezTo>
                        <a:pt x="275925" y="50728"/>
                        <a:pt x="274273" y="52939"/>
                        <a:pt x="271877" y="54270"/>
                      </a:cubicBezTo>
                      <a:lnTo>
                        <a:pt x="228999" y="78106"/>
                      </a:lnTo>
                      <a:cubicBezTo>
                        <a:pt x="193195" y="98011"/>
                        <a:pt x="152996" y="106487"/>
                        <a:pt x="112369" y="102754"/>
                      </a:cubicBezTo>
                      <a:lnTo>
                        <a:pt x="169988" y="95456"/>
                      </a:lnTo>
                      <a:cubicBezTo>
                        <a:pt x="180678" y="94103"/>
                        <a:pt x="189034" y="85841"/>
                        <a:pt x="190814" y="75509"/>
                      </a:cubicBezTo>
                      <a:lnTo>
                        <a:pt x="262869" y="37534"/>
                      </a:lnTo>
                      <a:cubicBezTo>
                        <a:pt x="267036" y="35338"/>
                        <a:pt x="272245" y="36575"/>
                        <a:pt x="274987" y="40413"/>
                      </a:cubicBezTo>
                      <a:cubicBezTo>
                        <a:pt x="276586" y="42651"/>
                        <a:pt x="277133" y="45364"/>
                        <a:pt x="276528" y="48049"/>
                      </a:cubicBezTo>
                      <a:close/>
                    </a:path>
                  </a:pathLst>
                </a:custGeom>
                <a:solidFill>
                  <a:schemeClr val="bg1"/>
                </a:solidFill>
                <a:ln w="85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grpSp>
        <p:nvGrpSpPr>
          <p:cNvPr id="89" name="Group 88">
            <a:extLst>
              <a:ext uri="{FF2B5EF4-FFF2-40B4-BE49-F238E27FC236}">
                <a16:creationId xmlns:a16="http://schemas.microsoft.com/office/drawing/2014/main" id="{72BAB5B9-2D71-B5CC-281B-A12FBC3ACDBC}"/>
              </a:ext>
            </a:extLst>
          </p:cNvPr>
          <p:cNvGrpSpPr/>
          <p:nvPr/>
        </p:nvGrpSpPr>
        <p:grpSpPr>
          <a:xfrm>
            <a:off x="8888213" y="946880"/>
            <a:ext cx="2674897" cy="5434870"/>
            <a:chOff x="8888213" y="946880"/>
            <a:chExt cx="2674897" cy="5434870"/>
          </a:xfrm>
        </p:grpSpPr>
        <p:sp>
          <p:nvSpPr>
            <p:cNvPr id="49" name="TextBox 48">
              <a:extLst>
                <a:ext uri="{FF2B5EF4-FFF2-40B4-BE49-F238E27FC236}">
                  <a16:creationId xmlns:a16="http://schemas.microsoft.com/office/drawing/2014/main" id="{662CAD0D-7607-038B-B868-DA98838FE450}"/>
                </a:ext>
              </a:extLst>
            </p:cNvPr>
            <p:cNvSpPr txBox="1"/>
            <p:nvPr/>
          </p:nvSpPr>
          <p:spPr>
            <a:xfrm>
              <a:off x="10028026" y="1199934"/>
              <a:ext cx="621965" cy="492443"/>
            </a:xfrm>
            <a:prstGeom prst="rect">
              <a:avLst/>
            </a:prstGeom>
            <a:noFill/>
          </p:spPr>
          <p:txBody>
            <a:bodyPr wrap="none" lIns="0" tIns="0" rIns="0" bIns="0" rtlCol="0">
              <a:spAutoFit/>
            </a:bodyPr>
            <a:lstStyle/>
            <a:p>
              <a:r>
                <a:rPr kumimoji="0" lang="en-IN" sz="1600" b="0" i="0" u="none" strike="noStrike" kern="1200" cap="none" spc="0" normalizeH="0" baseline="0" noProof="0">
                  <a:ln>
                    <a:noFill/>
                  </a:ln>
                  <a:solidFill>
                    <a:schemeClr val="tx2"/>
                  </a:solidFill>
                  <a:effectLst/>
                  <a:uLnTx/>
                  <a:uFillTx/>
                  <a:latin typeface="Manrope" pitchFamily="2" charset="0"/>
                </a:rPr>
                <a:t>Future</a:t>
              </a:r>
              <a:br>
                <a:rPr kumimoji="0" lang="en-IN" sz="1600" b="0" i="0" u="none" strike="noStrike" kern="1200" cap="none" spc="0" normalizeH="0" baseline="0" noProof="0">
                  <a:ln>
                    <a:noFill/>
                  </a:ln>
                  <a:solidFill>
                    <a:schemeClr val="tx2"/>
                  </a:solidFill>
                  <a:effectLst/>
                  <a:uLnTx/>
                  <a:uFillTx/>
                  <a:latin typeface="Manrope" pitchFamily="2" charset="0"/>
                </a:rPr>
              </a:br>
              <a:r>
                <a:rPr kumimoji="0" lang="en-IN" sz="1600" b="0" i="0" u="none" strike="noStrike" kern="1200" cap="none" spc="0" normalizeH="0" baseline="0" noProof="0">
                  <a:ln>
                    <a:noFill/>
                  </a:ln>
                  <a:solidFill>
                    <a:schemeClr val="tx2"/>
                  </a:solidFill>
                  <a:effectLst/>
                  <a:uLnTx/>
                  <a:uFillTx/>
                  <a:latin typeface="Manrope" pitchFamily="2" charset="0"/>
                </a:rPr>
                <a:t>Scope</a:t>
              </a:r>
            </a:p>
          </p:txBody>
        </p:sp>
        <p:sp>
          <p:nvSpPr>
            <p:cNvPr id="50" name="Rectangle 49">
              <a:extLst>
                <a:ext uri="{FF2B5EF4-FFF2-40B4-BE49-F238E27FC236}">
                  <a16:creationId xmlns:a16="http://schemas.microsoft.com/office/drawing/2014/main" id="{3B4919A9-B1B2-4884-E6AF-51A0537A76AE}"/>
                </a:ext>
              </a:extLst>
            </p:cNvPr>
            <p:cNvSpPr/>
            <p:nvPr/>
          </p:nvSpPr>
          <p:spPr>
            <a:xfrm>
              <a:off x="8888213" y="1979271"/>
              <a:ext cx="2674897" cy="440247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B2E3B2E-B1DE-5510-4DC9-5E5250DA8022}"/>
                </a:ext>
              </a:extLst>
            </p:cNvPr>
            <p:cNvSpPr txBox="1"/>
            <p:nvPr/>
          </p:nvSpPr>
          <p:spPr>
            <a:xfrm>
              <a:off x="8970655" y="2274269"/>
              <a:ext cx="2418835" cy="2124749"/>
            </a:xfrm>
            <a:prstGeom prst="rect">
              <a:avLst/>
            </a:prstGeom>
            <a:noFill/>
          </p:spPr>
          <p:txBody>
            <a:bodyPr wrap="square" rIns="90000" bIns="46800">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AI-driven cloud cost optimization and recommendations for Snowflake compute.</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Enhance its support for organizations using Snowflake across multiple cloud providers.</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200" b="0" i="0" u="none" strike="noStrike" kern="1200" cap="none" spc="0" normalizeH="0" baseline="0" noProof="0">
                <a:ln>
                  <a:noFill/>
                </a:ln>
                <a:effectLst/>
                <a:uLnTx/>
                <a:uFillTx/>
                <a:latin typeface="Manrope" pitchFamily="2"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200" b="0" i="0" u="none" strike="noStrike" kern="1200" cap="none" spc="0" normalizeH="0" baseline="0" noProof="0">
                  <a:ln>
                    <a:noFill/>
                  </a:ln>
                  <a:effectLst/>
                  <a:uLnTx/>
                  <a:uFillTx/>
                  <a:latin typeface="Manrope" pitchFamily="2" charset="0"/>
                </a:rPr>
                <a:t>Data lineage feature</a:t>
              </a:r>
            </a:p>
          </p:txBody>
        </p:sp>
        <p:grpSp>
          <p:nvGrpSpPr>
            <p:cNvPr id="69" name="Group 68">
              <a:extLst>
                <a:ext uri="{FF2B5EF4-FFF2-40B4-BE49-F238E27FC236}">
                  <a16:creationId xmlns:a16="http://schemas.microsoft.com/office/drawing/2014/main" id="{9E96216F-7789-78F7-33B4-58F7F700CA41}"/>
                </a:ext>
              </a:extLst>
            </p:cNvPr>
            <p:cNvGrpSpPr/>
            <p:nvPr/>
          </p:nvGrpSpPr>
          <p:grpSpPr>
            <a:xfrm>
              <a:off x="8888213" y="946880"/>
              <a:ext cx="950026" cy="950026"/>
              <a:chOff x="623888" y="5431724"/>
              <a:chExt cx="950026" cy="950026"/>
            </a:xfrm>
          </p:grpSpPr>
          <p:grpSp>
            <p:nvGrpSpPr>
              <p:cNvPr id="70" name="Group 69">
                <a:extLst>
                  <a:ext uri="{FF2B5EF4-FFF2-40B4-BE49-F238E27FC236}">
                    <a16:creationId xmlns:a16="http://schemas.microsoft.com/office/drawing/2014/main" id="{12C9940E-D087-61B4-565A-B4855CEA9519}"/>
                  </a:ext>
                </a:extLst>
              </p:cNvPr>
              <p:cNvGrpSpPr/>
              <p:nvPr/>
            </p:nvGrpSpPr>
            <p:grpSpPr>
              <a:xfrm>
                <a:off x="623888" y="5431724"/>
                <a:ext cx="950026" cy="950026"/>
                <a:chOff x="1450992" y="1491427"/>
                <a:chExt cx="950026" cy="950026"/>
              </a:xfrm>
            </p:grpSpPr>
            <p:sp>
              <p:nvSpPr>
                <p:cNvPr id="87" name="Oval 86">
                  <a:extLst>
                    <a:ext uri="{FF2B5EF4-FFF2-40B4-BE49-F238E27FC236}">
                      <a16:creationId xmlns:a16="http://schemas.microsoft.com/office/drawing/2014/main" id="{28507C42-6E5C-73BB-F43D-35549D94472D}"/>
                    </a:ext>
                  </a:extLst>
                </p:cNvPr>
                <p:cNvSpPr/>
                <p:nvPr/>
              </p:nvSpPr>
              <p:spPr>
                <a:xfrm>
                  <a:off x="1450992" y="1491427"/>
                  <a:ext cx="950026" cy="950026"/>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D55B2A47-38A0-B311-3F95-FBFB1EECC97E}"/>
                    </a:ext>
                  </a:extLst>
                </p:cNvPr>
                <p:cNvSpPr/>
                <p:nvPr/>
              </p:nvSpPr>
              <p:spPr>
                <a:xfrm>
                  <a:off x="1533434" y="1573868"/>
                  <a:ext cx="785145" cy="78514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5C64C493-F966-164A-B54C-1AD8D389C2EF}"/>
                  </a:ext>
                </a:extLst>
              </p:cNvPr>
              <p:cNvGrpSpPr/>
              <p:nvPr/>
            </p:nvGrpSpPr>
            <p:grpSpPr>
              <a:xfrm>
                <a:off x="901730" y="5690505"/>
                <a:ext cx="456777" cy="439442"/>
                <a:chOff x="4623792" y="3723894"/>
                <a:chExt cx="410763" cy="417616"/>
              </a:xfrm>
              <a:solidFill>
                <a:schemeClr val="bg1"/>
              </a:solidFill>
            </p:grpSpPr>
            <p:grpSp>
              <p:nvGrpSpPr>
                <p:cNvPr id="72" name="Group 71">
                  <a:extLst>
                    <a:ext uri="{FF2B5EF4-FFF2-40B4-BE49-F238E27FC236}">
                      <a16:creationId xmlns:a16="http://schemas.microsoft.com/office/drawing/2014/main" id="{14663C1A-6C65-4F7E-1E79-89EF6B09E317}"/>
                    </a:ext>
                  </a:extLst>
                </p:cNvPr>
                <p:cNvGrpSpPr/>
                <p:nvPr/>
              </p:nvGrpSpPr>
              <p:grpSpPr>
                <a:xfrm>
                  <a:off x="4685407" y="3874513"/>
                  <a:ext cx="205382" cy="205382"/>
                  <a:chOff x="4685407" y="3874513"/>
                  <a:chExt cx="205382" cy="205382"/>
                </a:xfrm>
                <a:grpFill/>
              </p:grpSpPr>
              <p:sp>
                <p:nvSpPr>
                  <p:cNvPr id="85" name="Freeform: Shape 29">
                    <a:extLst>
                      <a:ext uri="{FF2B5EF4-FFF2-40B4-BE49-F238E27FC236}">
                        <a16:creationId xmlns:a16="http://schemas.microsoft.com/office/drawing/2014/main" id="{895C64EE-C8C7-EAD7-A746-4AC99BB1A1F8}"/>
                      </a:ext>
                    </a:extLst>
                  </p:cNvPr>
                  <p:cNvSpPr/>
                  <p:nvPr/>
                </p:nvSpPr>
                <p:spPr>
                  <a:xfrm>
                    <a:off x="4685407" y="3874513"/>
                    <a:ext cx="205382" cy="205382"/>
                  </a:xfrm>
                  <a:custGeom>
                    <a:avLst/>
                    <a:gdLst>
                      <a:gd name="connsiteX0" fmla="*/ 102691 w 205382"/>
                      <a:gd name="connsiteY0" fmla="*/ 0 h 205382"/>
                      <a:gd name="connsiteX1" fmla="*/ 0 w 205382"/>
                      <a:gd name="connsiteY1" fmla="*/ 102691 h 205382"/>
                      <a:gd name="connsiteX2" fmla="*/ 102691 w 205382"/>
                      <a:gd name="connsiteY2" fmla="*/ 205383 h 205382"/>
                      <a:gd name="connsiteX3" fmla="*/ 205383 w 205382"/>
                      <a:gd name="connsiteY3" fmla="*/ 102691 h 205382"/>
                      <a:gd name="connsiteX4" fmla="*/ 102691 w 205382"/>
                      <a:gd name="connsiteY4" fmla="*/ 0 h 205382"/>
                      <a:gd name="connsiteX5" fmla="*/ 152962 w 205382"/>
                      <a:gd name="connsiteY5" fmla="*/ 176061 h 205382"/>
                      <a:gd name="connsiteX6" fmla="*/ 146280 w 205382"/>
                      <a:gd name="connsiteY6" fmla="*/ 164484 h 205382"/>
                      <a:gd name="connsiteX7" fmla="*/ 134423 w 205382"/>
                      <a:gd name="connsiteY7" fmla="*/ 171330 h 205382"/>
                      <a:gd name="connsiteX8" fmla="*/ 141084 w 205382"/>
                      <a:gd name="connsiteY8" fmla="*/ 182859 h 205382"/>
                      <a:gd name="connsiteX9" fmla="*/ 109551 w 205382"/>
                      <a:gd name="connsiteY9" fmla="*/ 191341 h 205382"/>
                      <a:gd name="connsiteX10" fmla="*/ 109551 w 205382"/>
                      <a:gd name="connsiteY10" fmla="*/ 171152 h 205382"/>
                      <a:gd name="connsiteX11" fmla="*/ 95859 w 205382"/>
                      <a:gd name="connsiteY11" fmla="*/ 171152 h 205382"/>
                      <a:gd name="connsiteX12" fmla="*/ 95859 w 205382"/>
                      <a:gd name="connsiteY12" fmla="*/ 191341 h 205382"/>
                      <a:gd name="connsiteX13" fmla="*/ 64326 w 205382"/>
                      <a:gd name="connsiteY13" fmla="*/ 182859 h 205382"/>
                      <a:gd name="connsiteX14" fmla="*/ 70987 w 205382"/>
                      <a:gd name="connsiteY14" fmla="*/ 171330 h 205382"/>
                      <a:gd name="connsiteX15" fmla="*/ 59130 w 205382"/>
                      <a:gd name="connsiteY15" fmla="*/ 164484 h 205382"/>
                      <a:gd name="connsiteX16" fmla="*/ 52448 w 205382"/>
                      <a:gd name="connsiteY16" fmla="*/ 176061 h 205382"/>
                      <a:gd name="connsiteX17" fmla="*/ 29342 w 205382"/>
                      <a:gd name="connsiteY17" fmla="*/ 152955 h 205382"/>
                      <a:gd name="connsiteX18" fmla="*/ 40919 w 205382"/>
                      <a:gd name="connsiteY18" fmla="*/ 146274 h 205382"/>
                      <a:gd name="connsiteX19" fmla="*/ 34073 w 205382"/>
                      <a:gd name="connsiteY19" fmla="*/ 134416 h 205382"/>
                      <a:gd name="connsiteX20" fmla="*/ 22544 w 205382"/>
                      <a:gd name="connsiteY20" fmla="*/ 141077 h 205382"/>
                      <a:gd name="connsiteX21" fmla="*/ 14062 w 205382"/>
                      <a:gd name="connsiteY21" fmla="*/ 109544 h 205382"/>
                      <a:gd name="connsiteX22" fmla="*/ 34230 w 205382"/>
                      <a:gd name="connsiteY22" fmla="*/ 109544 h 205382"/>
                      <a:gd name="connsiteX23" fmla="*/ 34230 w 205382"/>
                      <a:gd name="connsiteY23" fmla="*/ 95852 h 205382"/>
                      <a:gd name="connsiteX24" fmla="*/ 14041 w 205382"/>
                      <a:gd name="connsiteY24" fmla="*/ 95852 h 205382"/>
                      <a:gd name="connsiteX25" fmla="*/ 22524 w 205382"/>
                      <a:gd name="connsiteY25" fmla="*/ 64319 h 205382"/>
                      <a:gd name="connsiteX26" fmla="*/ 34052 w 205382"/>
                      <a:gd name="connsiteY26" fmla="*/ 70980 h 205382"/>
                      <a:gd name="connsiteX27" fmla="*/ 40899 w 205382"/>
                      <a:gd name="connsiteY27" fmla="*/ 59123 h 205382"/>
                      <a:gd name="connsiteX28" fmla="*/ 29322 w 205382"/>
                      <a:gd name="connsiteY28" fmla="*/ 52441 h 205382"/>
                      <a:gd name="connsiteX29" fmla="*/ 52427 w 205382"/>
                      <a:gd name="connsiteY29" fmla="*/ 29336 h 205382"/>
                      <a:gd name="connsiteX30" fmla="*/ 59109 w 205382"/>
                      <a:gd name="connsiteY30" fmla="*/ 40912 h 205382"/>
                      <a:gd name="connsiteX31" fmla="*/ 70967 w 205382"/>
                      <a:gd name="connsiteY31" fmla="*/ 34066 h 205382"/>
                      <a:gd name="connsiteX32" fmla="*/ 64305 w 205382"/>
                      <a:gd name="connsiteY32" fmla="*/ 22537 h 205382"/>
                      <a:gd name="connsiteX33" fmla="*/ 95838 w 205382"/>
                      <a:gd name="connsiteY33" fmla="*/ 14055 h 205382"/>
                      <a:gd name="connsiteX34" fmla="*/ 95838 w 205382"/>
                      <a:gd name="connsiteY34" fmla="*/ 34230 h 205382"/>
                      <a:gd name="connsiteX35" fmla="*/ 109531 w 205382"/>
                      <a:gd name="connsiteY35" fmla="*/ 34230 h 205382"/>
                      <a:gd name="connsiteX36" fmla="*/ 109531 w 205382"/>
                      <a:gd name="connsiteY36" fmla="*/ 14041 h 205382"/>
                      <a:gd name="connsiteX37" fmla="*/ 141064 w 205382"/>
                      <a:gd name="connsiteY37" fmla="*/ 22524 h 205382"/>
                      <a:gd name="connsiteX38" fmla="*/ 134403 w 205382"/>
                      <a:gd name="connsiteY38" fmla="*/ 34052 h 205382"/>
                      <a:gd name="connsiteX39" fmla="*/ 146260 w 205382"/>
                      <a:gd name="connsiteY39" fmla="*/ 40899 h 205382"/>
                      <a:gd name="connsiteX40" fmla="*/ 152942 w 205382"/>
                      <a:gd name="connsiteY40" fmla="*/ 29322 h 205382"/>
                      <a:gd name="connsiteX41" fmla="*/ 176047 w 205382"/>
                      <a:gd name="connsiteY41" fmla="*/ 52427 h 205382"/>
                      <a:gd name="connsiteX42" fmla="*/ 164471 w 205382"/>
                      <a:gd name="connsiteY42" fmla="*/ 59109 h 205382"/>
                      <a:gd name="connsiteX43" fmla="*/ 171317 w 205382"/>
                      <a:gd name="connsiteY43" fmla="*/ 70967 h 205382"/>
                      <a:gd name="connsiteX44" fmla="*/ 182845 w 205382"/>
                      <a:gd name="connsiteY44" fmla="*/ 64305 h 205382"/>
                      <a:gd name="connsiteX45" fmla="*/ 191328 w 205382"/>
                      <a:gd name="connsiteY45" fmla="*/ 95838 h 205382"/>
                      <a:gd name="connsiteX46" fmla="*/ 171152 w 205382"/>
                      <a:gd name="connsiteY46" fmla="*/ 95838 h 205382"/>
                      <a:gd name="connsiteX47" fmla="*/ 171152 w 205382"/>
                      <a:gd name="connsiteY47" fmla="*/ 109531 h 205382"/>
                      <a:gd name="connsiteX48" fmla="*/ 191341 w 205382"/>
                      <a:gd name="connsiteY48" fmla="*/ 109531 h 205382"/>
                      <a:gd name="connsiteX49" fmla="*/ 182859 w 205382"/>
                      <a:gd name="connsiteY49" fmla="*/ 141064 h 205382"/>
                      <a:gd name="connsiteX50" fmla="*/ 171330 w 205382"/>
                      <a:gd name="connsiteY50" fmla="*/ 134403 h 205382"/>
                      <a:gd name="connsiteX51" fmla="*/ 164484 w 205382"/>
                      <a:gd name="connsiteY51" fmla="*/ 146260 h 205382"/>
                      <a:gd name="connsiteX52" fmla="*/ 176061 w 205382"/>
                      <a:gd name="connsiteY52" fmla="*/ 152942 h 205382"/>
                      <a:gd name="connsiteX53" fmla="*/ 152962 w 205382"/>
                      <a:gd name="connsiteY53" fmla="*/ 176061 h 20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05382" h="205382">
                        <a:moveTo>
                          <a:pt x="102691" y="0"/>
                        </a:moveTo>
                        <a:cubicBezTo>
                          <a:pt x="46067" y="0"/>
                          <a:pt x="0" y="46067"/>
                          <a:pt x="0" y="102691"/>
                        </a:cubicBezTo>
                        <a:cubicBezTo>
                          <a:pt x="0" y="159315"/>
                          <a:pt x="46067" y="205383"/>
                          <a:pt x="102691" y="205383"/>
                        </a:cubicBezTo>
                        <a:cubicBezTo>
                          <a:pt x="159315" y="205383"/>
                          <a:pt x="205383" y="159315"/>
                          <a:pt x="205383" y="102691"/>
                        </a:cubicBezTo>
                        <a:cubicBezTo>
                          <a:pt x="205383" y="46067"/>
                          <a:pt x="159315" y="0"/>
                          <a:pt x="102691" y="0"/>
                        </a:cubicBezTo>
                        <a:close/>
                        <a:moveTo>
                          <a:pt x="152962" y="176061"/>
                        </a:moveTo>
                        <a:lnTo>
                          <a:pt x="146280" y="164484"/>
                        </a:lnTo>
                        <a:lnTo>
                          <a:pt x="134423" y="171330"/>
                        </a:lnTo>
                        <a:lnTo>
                          <a:pt x="141084" y="182859"/>
                        </a:lnTo>
                        <a:cubicBezTo>
                          <a:pt x="131397" y="187515"/>
                          <a:pt x="120779" y="190479"/>
                          <a:pt x="109551" y="191341"/>
                        </a:cubicBezTo>
                        <a:lnTo>
                          <a:pt x="109551" y="171152"/>
                        </a:lnTo>
                        <a:lnTo>
                          <a:pt x="95859" y="171152"/>
                        </a:lnTo>
                        <a:lnTo>
                          <a:pt x="95859" y="191341"/>
                        </a:lnTo>
                        <a:cubicBezTo>
                          <a:pt x="84631" y="190479"/>
                          <a:pt x="74006" y="187521"/>
                          <a:pt x="64326" y="182859"/>
                        </a:cubicBezTo>
                        <a:lnTo>
                          <a:pt x="70987" y="171330"/>
                        </a:lnTo>
                        <a:lnTo>
                          <a:pt x="59130" y="164484"/>
                        </a:lnTo>
                        <a:lnTo>
                          <a:pt x="52448" y="176061"/>
                        </a:lnTo>
                        <a:cubicBezTo>
                          <a:pt x="43404" y="169845"/>
                          <a:pt x="35565" y="162006"/>
                          <a:pt x="29342" y="152955"/>
                        </a:cubicBezTo>
                        <a:lnTo>
                          <a:pt x="40919" y="146274"/>
                        </a:lnTo>
                        <a:lnTo>
                          <a:pt x="34073" y="134416"/>
                        </a:lnTo>
                        <a:lnTo>
                          <a:pt x="22544" y="141077"/>
                        </a:lnTo>
                        <a:cubicBezTo>
                          <a:pt x="17889" y="131390"/>
                          <a:pt x="14924" y="120772"/>
                          <a:pt x="14062" y="109544"/>
                        </a:cubicBezTo>
                        <a:lnTo>
                          <a:pt x="34230" y="109544"/>
                        </a:lnTo>
                        <a:lnTo>
                          <a:pt x="34230" y="95852"/>
                        </a:lnTo>
                        <a:lnTo>
                          <a:pt x="14041" y="95852"/>
                        </a:lnTo>
                        <a:cubicBezTo>
                          <a:pt x="14904" y="84625"/>
                          <a:pt x="17861" y="73999"/>
                          <a:pt x="22524" y="64319"/>
                        </a:cubicBezTo>
                        <a:lnTo>
                          <a:pt x="34052" y="70980"/>
                        </a:lnTo>
                        <a:lnTo>
                          <a:pt x="40899" y="59123"/>
                        </a:lnTo>
                        <a:lnTo>
                          <a:pt x="29322" y="52441"/>
                        </a:lnTo>
                        <a:cubicBezTo>
                          <a:pt x="35538" y="43397"/>
                          <a:pt x="43377" y="35559"/>
                          <a:pt x="52427" y="29336"/>
                        </a:cubicBezTo>
                        <a:lnTo>
                          <a:pt x="59109" y="40912"/>
                        </a:lnTo>
                        <a:lnTo>
                          <a:pt x="70967" y="34066"/>
                        </a:lnTo>
                        <a:lnTo>
                          <a:pt x="64305" y="22537"/>
                        </a:lnTo>
                        <a:cubicBezTo>
                          <a:pt x="73993" y="17882"/>
                          <a:pt x="84611" y="14918"/>
                          <a:pt x="95838" y="14055"/>
                        </a:cubicBezTo>
                        <a:lnTo>
                          <a:pt x="95838" y="34230"/>
                        </a:lnTo>
                        <a:lnTo>
                          <a:pt x="109531" y="34230"/>
                        </a:lnTo>
                        <a:lnTo>
                          <a:pt x="109531" y="14041"/>
                        </a:lnTo>
                        <a:cubicBezTo>
                          <a:pt x="120758" y="14904"/>
                          <a:pt x="131383" y="17861"/>
                          <a:pt x="141064" y="22524"/>
                        </a:cubicBezTo>
                        <a:lnTo>
                          <a:pt x="134403" y="34052"/>
                        </a:lnTo>
                        <a:lnTo>
                          <a:pt x="146260" y="40899"/>
                        </a:lnTo>
                        <a:lnTo>
                          <a:pt x="152942" y="29322"/>
                        </a:lnTo>
                        <a:cubicBezTo>
                          <a:pt x="161985" y="35538"/>
                          <a:pt x="169824" y="43377"/>
                          <a:pt x="176047" y="52427"/>
                        </a:cubicBezTo>
                        <a:lnTo>
                          <a:pt x="164471" y="59109"/>
                        </a:lnTo>
                        <a:lnTo>
                          <a:pt x="171317" y="70967"/>
                        </a:lnTo>
                        <a:lnTo>
                          <a:pt x="182845" y="64305"/>
                        </a:lnTo>
                        <a:cubicBezTo>
                          <a:pt x="187501" y="73993"/>
                          <a:pt x="190465" y="84611"/>
                          <a:pt x="191328" y="95838"/>
                        </a:cubicBezTo>
                        <a:lnTo>
                          <a:pt x="171152" y="95838"/>
                        </a:lnTo>
                        <a:lnTo>
                          <a:pt x="171152" y="109531"/>
                        </a:lnTo>
                        <a:lnTo>
                          <a:pt x="191341" y="109531"/>
                        </a:lnTo>
                        <a:cubicBezTo>
                          <a:pt x="190479" y="120758"/>
                          <a:pt x="187521" y="131383"/>
                          <a:pt x="182859" y="141064"/>
                        </a:cubicBezTo>
                        <a:lnTo>
                          <a:pt x="171330" y="134403"/>
                        </a:lnTo>
                        <a:lnTo>
                          <a:pt x="164484" y="146260"/>
                        </a:lnTo>
                        <a:lnTo>
                          <a:pt x="176061" y="152942"/>
                        </a:lnTo>
                        <a:cubicBezTo>
                          <a:pt x="169845" y="162006"/>
                          <a:pt x="162006" y="169845"/>
                          <a:pt x="152962" y="176061"/>
                        </a:cubicBezTo>
                        <a:close/>
                      </a:path>
                    </a:pathLst>
                  </a:custGeom>
                  <a:grp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Freeform: Shape 30">
                    <a:extLst>
                      <a:ext uri="{FF2B5EF4-FFF2-40B4-BE49-F238E27FC236}">
                        <a16:creationId xmlns:a16="http://schemas.microsoft.com/office/drawing/2014/main" id="{86A19FA1-308A-D6F7-8DF8-1E6B1356E57B}"/>
                      </a:ext>
                    </a:extLst>
                  </p:cNvPr>
                  <p:cNvSpPr/>
                  <p:nvPr/>
                </p:nvSpPr>
                <p:spPr>
                  <a:xfrm>
                    <a:off x="4781252" y="3922435"/>
                    <a:ext cx="44595" cy="81174"/>
                  </a:xfrm>
                  <a:custGeom>
                    <a:avLst/>
                    <a:gdLst>
                      <a:gd name="connsiteX0" fmla="*/ 13692 w 44595"/>
                      <a:gd name="connsiteY0" fmla="*/ 0 h 81174"/>
                      <a:gd name="connsiteX1" fmla="*/ 0 w 44595"/>
                      <a:gd name="connsiteY1" fmla="*/ 0 h 81174"/>
                      <a:gd name="connsiteX2" fmla="*/ 0 w 44595"/>
                      <a:gd name="connsiteY2" fmla="*/ 54769 h 81174"/>
                      <a:gd name="connsiteX3" fmla="*/ 3320 w 44595"/>
                      <a:gd name="connsiteY3" fmla="*/ 60636 h 81174"/>
                      <a:gd name="connsiteX4" fmla="*/ 37551 w 44595"/>
                      <a:gd name="connsiteY4" fmla="*/ 81174 h 81174"/>
                      <a:gd name="connsiteX5" fmla="*/ 44595 w 44595"/>
                      <a:gd name="connsiteY5" fmla="*/ 69433 h 81174"/>
                      <a:gd name="connsiteX6" fmla="*/ 13692 w 44595"/>
                      <a:gd name="connsiteY6" fmla="*/ 50894 h 81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95" h="81174">
                        <a:moveTo>
                          <a:pt x="13692" y="0"/>
                        </a:moveTo>
                        <a:lnTo>
                          <a:pt x="0" y="0"/>
                        </a:lnTo>
                        <a:lnTo>
                          <a:pt x="0" y="54769"/>
                        </a:lnTo>
                        <a:cubicBezTo>
                          <a:pt x="0" y="57179"/>
                          <a:pt x="1267" y="59404"/>
                          <a:pt x="3320" y="60636"/>
                        </a:cubicBezTo>
                        <a:lnTo>
                          <a:pt x="37551" y="81174"/>
                        </a:lnTo>
                        <a:lnTo>
                          <a:pt x="44595" y="69433"/>
                        </a:lnTo>
                        <a:lnTo>
                          <a:pt x="13692" y="50894"/>
                        </a:lnTo>
                        <a:close/>
                      </a:path>
                    </a:pathLst>
                  </a:custGeom>
                  <a:grpFill/>
                  <a:ln w="818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3" name="Freeform: Shape 17">
                  <a:extLst>
                    <a:ext uri="{FF2B5EF4-FFF2-40B4-BE49-F238E27FC236}">
                      <a16:creationId xmlns:a16="http://schemas.microsoft.com/office/drawing/2014/main" id="{476B291A-C80F-9DC5-A76F-5B4AACF77104}"/>
                    </a:ext>
                  </a:extLst>
                </p:cNvPr>
                <p:cNvSpPr/>
                <p:nvPr/>
              </p:nvSpPr>
              <p:spPr>
                <a:xfrm>
                  <a:off x="4623794" y="3723894"/>
                  <a:ext cx="410761" cy="417616"/>
                </a:xfrm>
                <a:custGeom>
                  <a:avLst/>
                  <a:gdLst>
                    <a:gd name="connsiteX0" fmla="*/ 325874 w 410761"/>
                    <a:gd name="connsiteY0" fmla="*/ 1374 h 417616"/>
                    <a:gd name="connsiteX1" fmla="*/ 318706 w 410761"/>
                    <a:gd name="connsiteY1" fmla="*/ 724 h 417616"/>
                    <a:gd name="connsiteX2" fmla="*/ 314920 w 410761"/>
                    <a:gd name="connsiteY2" fmla="*/ 6851 h 417616"/>
                    <a:gd name="connsiteX3" fmla="*/ 314920 w 410761"/>
                    <a:gd name="connsiteY3" fmla="*/ 34235 h 417616"/>
                    <a:gd name="connsiteX4" fmla="*/ 54769 w 410761"/>
                    <a:gd name="connsiteY4" fmla="*/ 34235 h 417616"/>
                    <a:gd name="connsiteX5" fmla="*/ 54769 w 410761"/>
                    <a:gd name="connsiteY5" fmla="*/ 47928 h 417616"/>
                    <a:gd name="connsiteX6" fmla="*/ 321766 w 410761"/>
                    <a:gd name="connsiteY6" fmla="*/ 47928 h 417616"/>
                    <a:gd name="connsiteX7" fmla="*/ 328613 w 410761"/>
                    <a:gd name="connsiteY7" fmla="*/ 41082 h 417616"/>
                    <a:gd name="connsiteX8" fmla="*/ 328613 w 410761"/>
                    <a:gd name="connsiteY8" fmla="*/ 20543 h 417616"/>
                    <a:gd name="connsiteX9" fmla="*/ 392890 w 410761"/>
                    <a:gd name="connsiteY9" fmla="*/ 68747 h 417616"/>
                    <a:gd name="connsiteX10" fmla="*/ 328613 w 410761"/>
                    <a:gd name="connsiteY10" fmla="*/ 122310 h 417616"/>
                    <a:gd name="connsiteX11" fmla="*/ 328613 w 410761"/>
                    <a:gd name="connsiteY11" fmla="*/ 95850 h 417616"/>
                    <a:gd name="connsiteX12" fmla="*/ 321766 w 410761"/>
                    <a:gd name="connsiteY12" fmla="*/ 89004 h 417616"/>
                    <a:gd name="connsiteX13" fmla="*/ 164306 w 410761"/>
                    <a:gd name="connsiteY13" fmla="*/ 89004 h 417616"/>
                    <a:gd name="connsiteX14" fmla="*/ 0 w 410761"/>
                    <a:gd name="connsiteY14" fmla="*/ 253310 h 417616"/>
                    <a:gd name="connsiteX15" fmla="*/ 164306 w 410761"/>
                    <a:gd name="connsiteY15" fmla="*/ 417617 h 417616"/>
                    <a:gd name="connsiteX16" fmla="*/ 164306 w 410761"/>
                    <a:gd name="connsiteY16" fmla="*/ 410771 h 417616"/>
                    <a:gd name="connsiteX17" fmla="*/ 164450 w 410761"/>
                    <a:gd name="connsiteY17" fmla="*/ 417617 h 417616"/>
                    <a:gd name="connsiteX18" fmla="*/ 165292 w 410761"/>
                    <a:gd name="connsiteY18" fmla="*/ 417610 h 417616"/>
                    <a:gd name="connsiteX19" fmla="*/ 165292 w 410761"/>
                    <a:gd name="connsiteY19" fmla="*/ 403918 h 417616"/>
                    <a:gd name="connsiteX20" fmla="*/ 164279 w 410761"/>
                    <a:gd name="connsiteY20" fmla="*/ 403925 h 417616"/>
                    <a:gd name="connsiteX21" fmla="*/ 13692 w 410761"/>
                    <a:gd name="connsiteY21" fmla="*/ 253310 h 417616"/>
                    <a:gd name="connsiteX22" fmla="*/ 164306 w 410761"/>
                    <a:gd name="connsiteY22" fmla="*/ 102696 h 417616"/>
                    <a:gd name="connsiteX23" fmla="*/ 314920 w 410761"/>
                    <a:gd name="connsiteY23" fmla="*/ 102696 h 417616"/>
                    <a:gd name="connsiteX24" fmla="*/ 314920 w 410761"/>
                    <a:gd name="connsiteY24" fmla="*/ 136927 h 417616"/>
                    <a:gd name="connsiteX25" fmla="*/ 318864 w 410761"/>
                    <a:gd name="connsiteY25" fmla="*/ 143123 h 417616"/>
                    <a:gd name="connsiteX26" fmla="*/ 326148 w 410761"/>
                    <a:gd name="connsiteY26" fmla="*/ 142185 h 417616"/>
                    <a:gd name="connsiteX27" fmla="*/ 408301 w 410761"/>
                    <a:gd name="connsiteY27" fmla="*/ 73724 h 417616"/>
                    <a:gd name="connsiteX28" fmla="*/ 410759 w 410761"/>
                    <a:gd name="connsiteY28" fmla="*/ 68288 h 417616"/>
                    <a:gd name="connsiteX29" fmla="*/ 408020 w 410761"/>
                    <a:gd name="connsiteY29" fmla="*/ 62989 h 417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761" h="417616">
                      <a:moveTo>
                        <a:pt x="325874" y="1374"/>
                      </a:moveTo>
                      <a:cubicBezTo>
                        <a:pt x="323800" y="-194"/>
                        <a:pt x="321020" y="-433"/>
                        <a:pt x="318706" y="724"/>
                      </a:cubicBezTo>
                      <a:cubicBezTo>
                        <a:pt x="316385" y="1888"/>
                        <a:pt x="314920" y="4256"/>
                        <a:pt x="314920" y="6851"/>
                      </a:cubicBezTo>
                      <a:lnTo>
                        <a:pt x="314920" y="34235"/>
                      </a:lnTo>
                      <a:lnTo>
                        <a:pt x="54769" y="34235"/>
                      </a:lnTo>
                      <a:lnTo>
                        <a:pt x="54769" y="47928"/>
                      </a:lnTo>
                      <a:lnTo>
                        <a:pt x="321766" y="47928"/>
                      </a:lnTo>
                      <a:cubicBezTo>
                        <a:pt x="325552" y="47928"/>
                        <a:pt x="328613" y="44867"/>
                        <a:pt x="328613" y="41082"/>
                      </a:cubicBezTo>
                      <a:lnTo>
                        <a:pt x="328613" y="20543"/>
                      </a:lnTo>
                      <a:lnTo>
                        <a:pt x="392890" y="68747"/>
                      </a:lnTo>
                      <a:lnTo>
                        <a:pt x="328613" y="122310"/>
                      </a:lnTo>
                      <a:lnTo>
                        <a:pt x="328613" y="95850"/>
                      </a:lnTo>
                      <a:cubicBezTo>
                        <a:pt x="328613" y="92064"/>
                        <a:pt x="325552" y="89004"/>
                        <a:pt x="321766" y="89004"/>
                      </a:cubicBezTo>
                      <a:lnTo>
                        <a:pt x="164306" y="89004"/>
                      </a:lnTo>
                      <a:cubicBezTo>
                        <a:pt x="73712" y="89004"/>
                        <a:pt x="0" y="162716"/>
                        <a:pt x="0" y="253310"/>
                      </a:cubicBezTo>
                      <a:cubicBezTo>
                        <a:pt x="0" y="343905"/>
                        <a:pt x="73712" y="417617"/>
                        <a:pt x="164306" y="417617"/>
                      </a:cubicBezTo>
                      <a:lnTo>
                        <a:pt x="164306" y="410771"/>
                      </a:lnTo>
                      <a:lnTo>
                        <a:pt x="164450" y="417617"/>
                      </a:lnTo>
                      <a:lnTo>
                        <a:pt x="165292" y="417610"/>
                      </a:lnTo>
                      <a:lnTo>
                        <a:pt x="165292" y="403918"/>
                      </a:lnTo>
                      <a:lnTo>
                        <a:pt x="164279" y="403925"/>
                      </a:lnTo>
                      <a:cubicBezTo>
                        <a:pt x="81243" y="403911"/>
                        <a:pt x="13692" y="336354"/>
                        <a:pt x="13692" y="253310"/>
                      </a:cubicBezTo>
                      <a:cubicBezTo>
                        <a:pt x="13692" y="170260"/>
                        <a:pt x="81256" y="102696"/>
                        <a:pt x="164306" y="102696"/>
                      </a:cubicBezTo>
                      <a:lnTo>
                        <a:pt x="314920" y="102696"/>
                      </a:lnTo>
                      <a:lnTo>
                        <a:pt x="314920" y="136927"/>
                      </a:lnTo>
                      <a:cubicBezTo>
                        <a:pt x="314920" y="139583"/>
                        <a:pt x="316461" y="142000"/>
                        <a:pt x="318864" y="143123"/>
                      </a:cubicBezTo>
                      <a:cubicBezTo>
                        <a:pt x="321260" y="144252"/>
                        <a:pt x="324108" y="143889"/>
                        <a:pt x="326148" y="142185"/>
                      </a:cubicBezTo>
                      <a:lnTo>
                        <a:pt x="408301" y="73724"/>
                      </a:lnTo>
                      <a:cubicBezTo>
                        <a:pt x="409903" y="72382"/>
                        <a:pt x="410814" y="70383"/>
                        <a:pt x="410759" y="68288"/>
                      </a:cubicBezTo>
                      <a:cubicBezTo>
                        <a:pt x="410704" y="66193"/>
                        <a:pt x="409698" y="64242"/>
                        <a:pt x="408020" y="62989"/>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Shape 18">
                  <a:extLst>
                    <a:ext uri="{FF2B5EF4-FFF2-40B4-BE49-F238E27FC236}">
                      <a16:creationId xmlns:a16="http://schemas.microsoft.com/office/drawing/2014/main" id="{F927C5E5-C47B-B1E1-A451-26AED6C70346}"/>
                    </a:ext>
                  </a:extLst>
                </p:cNvPr>
                <p:cNvSpPr/>
                <p:nvPr/>
              </p:nvSpPr>
              <p:spPr>
                <a:xfrm>
                  <a:off x="4852349" y="4107348"/>
                  <a:ext cx="18491" cy="18491"/>
                </a:xfrm>
                <a:custGeom>
                  <a:avLst/>
                  <a:gdLst>
                    <a:gd name="connsiteX0" fmla="*/ 5867 w 18491"/>
                    <a:gd name="connsiteY0" fmla="*/ 18491 h 18491"/>
                    <a:gd name="connsiteX1" fmla="*/ 18491 w 18491"/>
                    <a:gd name="connsiteY1" fmla="*/ 11837 h 18491"/>
                    <a:gd name="connsiteX2" fmla="*/ 11590 w 18491"/>
                    <a:gd name="connsiteY2" fmla="*/ 0 h 18491"/>
                    <a:gd name="connsiteX3" fmla="*/ 0 w 18491"/>
                    <a:gd name="connsiteY3" fmla="*/ 6120 h 18491"/>
                  </a:gdLst>
                  <a:ahLst/>
                  <a:cxnLst>
                    <a:cxn ang="0">
                      <a:pos x="connsiteX0" y="connsiteY0"/>
                    </a:cxn>
                    <a:cxn ang="0">
                      <a:pos x="connsiteX1" y="connsiteY1"/>
                    </a:cxn>
                    <a:cxn ang="0">
                      <a:pos x="connsiteX2" y="connsiteY2"/>
                    </a:cxn>
                    <a:cxn ang="0">
                      <a:pos x="connsiteX3" y="connsiteY3"/>
                    </a:cxn>
                  </a:cxnLst>
                  <a:rect l="l" t="t" r="r" b="b"/>
                  <a:pathLst>
                    <a:path w="18491" h="18491">
                      <a:moveTo>
                        <a:pt x="5867" y="18491"/>
                      </a:moveTo>
                      <a:cubicBezTo>
                        <a:pt x="10194" y="16437"/>
                        <a:pt x="14438" y="14199"/>
                        <a:pt x="18491" y="11837"/>
                      </a:cubicBezTo>
                      <a:lnTo>
                        <a:pt x="11590" y="0"/>
                      </a:lnTo>
                      <a:cubicBezTo>
                        <a:pt x="7873" y="2170"/>
                        <a:pt x="3978" y="4224"/>
                        <a:pt x="0" y="6120"/>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Freeform: Shape 19">
                  <a:extLst>
                    <a:ext uri="{FF2B5EF4-FFF2-40B4-BE49-F238E27FC236}">
                      <a16:creationId xmlns:a16="http://schemas.microsoft.com/office/drawing/2014/main" id="{E0286B41-5E8B-F1F2-DEDA-39EFA3EBBFD2}"/>
                    </a:ext>
                  </a:extLst>
                </p:cNvPr>
                <p:cNvSpPr/>
                <p:nvPr/>
              </p:nvSpPr>
              <p:spPr>
                <a:xfrm>
                  <a:off x="4874934" y="4092273"/>
                  <a:ext cx="19196" cy="19189"/>
                </a:xfrm>
                <a:custGeom>
                  <a:avLst/>
                  <a:gdLst>
                    <a:gd name="connsiteX0" fmla="*/ 0 w 19196"/>
                    <a:gd name="connsiteY0" fmla="*/ 8010 h 19189"/>
                    <a:gd name="connsiteX1" fmla="*/ 7914 w 19196"/>
                    <a:gd name="connsiteY1" fmla="*/ 19190 h 19189"/>
                    <a:gd name="connsiteX2" fmla="*/ 19196 w 19196"/>
                    <a:gd name="connsiteY2" fmla="*/ 10454 h 19189"/>
                    <a:gd name="connsiteX3" fmla="*/ 10358 w 19196"/>
                    <a:gd name="connsiteY3" fmla="*/ 0 h 19189"/>
                    <a:gd name="connsiteX4" fmla="*/ 0 w 19196"/>
                    <a:gd name="connsiteY4" fmla="*/ 8010 h 19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6" h="19189">
                      <a:moveTo>
                        <a:pt x="0" y="8010"/>
                      </a:moveTo>
                      <a:lnTo>
                        <a:pt x="7914" y="19190"/>
                      </a:lnTo>
                      <a:cubicBezTo>
                        <a:pt x="11775" y="16451"/>
                        <a:pt x="15575" y="13514"/>
                        <a:pt x="19196" y="10454"/>
                      </a:cubicBezTo>
                      <a:lnTo>
                        <a:pt x="10358" y="0"/>
                      </a:lnTo>
                      <a:cubicBezTo>
                        <a:pt x="7038" y="2800"/>
                        <a:pt x="3553" y="5491"/>
                        <a:pt x="0" y="8010"/>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Freeform: Shape 20">
                  <a:extLst>
                    <a:ext uri="{FF2B5EF4-FFF2-40B4-BE49-F238E27FC236}">
                      <a16:creationId xmlns:a16="http://schemas.microsoft.com/office/drawing/2014/main" id="{4F7C1D82-241B-0684-B5AE-B5FA15B2033A}"/>
                    </a:ext>
                  </a:extLst>
                </p:cNvPr>
                <p:cNvSpPr/>
                <p:nvPr/>
              </p:nvSpPr>
              <p:spPr>
                <a:xfrm>
                  <a:off x="4933660" y="4003267"/>
                  <a:ext cx="16300" cy="16307"/>
                </a:xfrm>
                <a:custGeom>
                  <a:avLst/>
                  <a:gdLst>
                    <a:gd name="connsiteX0" fmla="*/ 0 w 16300"/>
                    <a:gd name="connsiteY0" fmla="*/ 12775 h 16307"/>
                    <a:gd name="connsiteX1" fmla="*/ 13227 w 16300"/>
                    <a:gd name="connsiteY1" fmla="*/ 16307 h 16307"/>
                    <a:gd name="connsiteX2" fmla="*/ 16301 w 16300"/>
                    <a:gd name="connsiteY2" fmla="*/ 2355 h 16307"/>
                    <a:gd name="connsiteX3" fmla="*/ 2807 w 16300"/>
                    <a:gd name="connsiteY3" fmla="*/ 0 h 16307"/>
                    <a:gd name="connsiteX4" fmla="*/ 0 w 16300"/>
                    <a:gd name="connsiteY4" fmla="*/ 12775 h 16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00" h="16307">
                      <a:moveTo>
                        <a:pt x="0" y="12775"/>
                      </a:moveTo>
                      <a:lnTo>
                        <a:pt x="13227" y="16307"/>
                      </a:lnTo>
                      <a:cubicBezTo>
                        <a:pt x="14452" y="11741"/>
                        <a:pt x="15479" y="7045"/>
                        <a:pt x="16301" y="2355"/>
                      </a:cubicBezTo>
                      <a:lnTo>
                        <a:pt x="2807" y="0"/>
                      </a:lnTo>
                      <a:cubicBezTo>
                        <a:pt x="2054" y="4299"/>
                        <a:pt x="1116" y="8592"/>
                        <a:pt x="0" y="12775"/>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Shape 21">
                  <a:extLst>
                    <a:ext uri="{FF2B5EF4-FFF2-40B4-BE49-F238E27FC236}">
                      <a16:creationId xmlns:a16="http://schemas.microsoft.com/office/drawing/2014/main" id="{363CA0CA-ED95-9303-FAE2-8B751B43A25E}"/>
                    </a:ext>
                  </a:extLst>
                </p:cNvPr>
                <p:cNvSpPr/>
                <p:nvPr/>
              </p:nvSpPr>
              <p:spPr>
                <a:xfrm>
                  <a:off x="4938151" y="3977204"/>
                  <a:ext cx="14253" cy="14253"/>
                </a:xfrm>
                <a:custGeom>
                  <a:avLst/>
                  <a:gdLst>
                    <a:gd name="connsiteX0" fmla="*/ 0 w 14253"/>
                    <a:gd name="connsiteY0" fmla="*/ 13076 h 14253"/>
                    <a:gd name="connsiteX1" fmla="*/ 13637 w 14253"/>
                    <a:gd name="connsiteY1" fmla="*/ 14254 h 14253"/>
                    <a:gd name="connsiteX2" fmla="*/ 14254 w 14253"/>
                    <a:gd name="connsiteY2" fmla="*/ 0 h 14253"/>
                    <a:gd name="connsiteX3" fmla="*/ 561 w 14253"/>
                    <a:gd name="connsiteY3" fmla="*/ 0 h 14253"/>
                    <a:gd name="connsiteX4" fmla="*/ 0 w 14253"/>
                    <a:gd name="connsiteY4" fmla="*/ 13076 h 14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53" h="14253">
                      <a:moveTo>
                        <a:pt x="0" y="13076"/>
                      </a:moveTo>
                      <a:lnTo>
                        <a:pt x="13637" y="14254"/>
                      </a:lnTo>
                      <a:cubicBezTo>
                        <a:pt x="14048" y="9530"/>
                        <a:pt x="14254" y="4731"/>
                        <a:pt x="14254" y="0"/>
                      </a:cubicBezTo>
                      <a:lnTo>
                        <a:pt x="561" y="0"/>
                      </a:lnTo>
                      <a:cubicBezTo>
                        <a:pt x="561" y="4347"/>
                        <a:pt x="377" y="8742"/>
                        <a:pt x="0" y="13076"/>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22">
                  <a:extLst>
                    <a:ext uri="{FF2B5EF4-FFF2-40B4-BE49-F238E27FC236}">
                      <a16:creationId xmlns:a16="http://schemas.microsoft.com/office/drawing/2014/main" id="{3F2B5732-9BE3-528D-E57E-A96CBC874D0B}"/>
                    </a:ext>
                  </a:extLst>
                </p:cNvPr>
                <p:cNvSpPr/>
                <p:nvPr/>
              </p:nvSpPr>
              <p:spPr>
                <a:xfrm>
                  <a:off x="4911704" y="4052251"/>
                  <a:ext cx="18888" cy="18895"/>
                </a:xfrm>
                <a:custGeom>
                  <a:avLst/>
                  <a:gdLst>
                    <a:gd name="connsiteX0" fmla="*/ 0 w 18888"/>
                    <a:gd name="connsiteY0" fmla="*/ 11036 h 18895"/>
                    <a:gd name="connsiteX1" fmla="*/ 11221 w 18888"/>
                    <a:gd name="connsiteY1" fmla="*/ 18895 h 18895"/>
                    <a:gd name="connsiteX2" fmla="*/ 18888 w 18888"/>
                    <a:gd name="connsiteY2" fmla="*/ 6819 h 18895"/>
                    <a:gd name="connsiteX3" fmla="*/ 7017 w 18888"/>
                    <a:gd name="connsiteY3" fmla="*/ 0 h 18895"/>
                    <a:gd name="connsiteX4" fmla="*/ 0 w 18888"/>
                    <a:gd name="connsiteY4" fmla="*/ 11036 h 1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88" h="18895">
                      <a:moveTo>
                        <a:pt x="0" y="11036"/>
                      </a:moveTo>
                      <a:lnTo>
                        <a:pt x="11221" y="18895"/>
                      </a:lnTo>
                      <a:cubicBezTo>
                        <a:pt x="13918" y="15048"/>
                        <a:pt x="16499" y="10988"/>
                        <a:pt x="18888" y="6819"/>
                      </a:cubicBezTo>
                      <a:lnTo>
                        <a:pt x="7017" y="0"/>
                      </a:lnTo>
                      <a:cubicBezTo>
                        <a:pt x="4826" y="3813"/>
                        <a:pt x="2465" y="7524"/>
                        <a:pt x="0" y="11036"/>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Shape 23">
                  <a:extLst>
                    <a:ext uri="{FF2B5EF4-FFF2-40B4-BE49-F238E27FC236}">
                      <a16:creationId xmlns:a16="http://schemas.microsoft.com/office/drawing/2014/main" id="{4A493D49-4A1C-BD76-1889-EDA57F2F48FD}"/>
                    </a:ext>
                  </a:extLst>
                </p:cNvPr>
                <p:cNvSpPr/>
                <p:nvPr/>
              </p:nvSpPr>
              <p:spPr>
                <a:xfrm>
                  <a:off x="4924739" y="4028522"/>
                  <a:ext cx="17868" cy="17882"/>
                </a:xfrm>
                <a:custGeom>
                  <a:avLst/>
                  <a:gdLst>
                    <a:gd name="connsiteX0" fmla="*/ 0 w 17868"/>
                    <a:gd name="connsiteY0" fmla="*/ 12118 h 17882"/>
                    <a:gd name="connsiteX1" fmla="*/ 12419 w 17868"/>
                    <a:gd name="connsiteY1" fmla="*/ 17882 h 17882"/>
                    <a:gd name="connsiteX2" fmla="*/ 17868 w 17868"/>
                    <a:gd name="connsiteY2" fmla="*/ 4683 h 17882"/>
                    <a:gd name="connsiteX3" fmla="*/ 5004 w 17868"/>
                    <a:gd name="connsiteY3" fmla="*/ 0 h 17882"/>
                    <a:gd name="connsiteX4" fmla="*/ 0 w 17868"/>
                    <a:gd name="connsiteY4" fmla="*/ 12118 h 17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68" h="17882">
                      <a:moveTo>
                        <a:pt x="0" y="12118"/>
                      </a:moveTo>
                      <a:lnTo>
                        <a:pt x="12419" y="17882"/>
                      </a:lnTo>
                      <a:cubicBezTo>
                        <a:pt x="14418" y="13569"/>
                        <a:pt x="16259" y="9133"/>
                        <a:pt x="17868" y="4683"/>
                      </a:cubicBezTo>
                      <a:lnTo>
                        <a:pt x="5004" y="0"/>
                      </a:lnTo>
                      <a:cubicBezTo>
                        <a:pt x="3526" y="4080"/>
                        <a:pt x="1842" y="8161"/>
                        <a:pt x="0" y="12118"/>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Shape 24">
                  <a:extLst>
                    <a:ext uri="{FF2B5EF4-FFF2-40B4-BE49-F238E27FC236}">
                      <a16:creationId xmlns:a16="http://schemas.microsoft.com/office/drawing/2014/main" id="{A798E826-F7D6-07BB-028D-B7C66CBCB09C}"/>
                    </a:ext>
                  </a:extLst>
                </p:cNvPr>
                <p:cNvSpPr/>
                <p:nvPr/>
              </p:nvSpPr>
              <p:spPr>
                <a:xfrm>
                  <a:off x="4802112" y="4125401"/>
                  <a:ext cx="15417" cy="15410"/>
                </a:xfrm>
                <a:custGeom>
                  <a:avLst/>
                  <a:gdLst>
                    <a:gd name="connsiteX0" fmla="*/ 15417 w 15417"/>
                    <a:gd name="connsiteY0" fmla="*/ 13480 h 15410"/>
                    <a:gd name="connsiteX1" fmla="*/ 12973 w 15417"/>
                    <a:gd name="connsiteY1" fmla="*/ 0 h 15410"/>
                    <a:gd name="connsiteX2" fmla="*/ 0 w 15417"/>
                    <a:gd name="connsiteY2" fmla="*/ 1773 h 15410"/>
                    <a:gd name="connsiteX3" fmla="*/ 1273 w 15417"/>
                    <a:gd name="connsiteY3" fmla="*/ 15411 h 15410"/>
                    <a:gd name="connsiteX4" fmla="*/ 15417 w 15417"/>
                    <a:gd name="connsiteY4" fmla="*/ 13480 h 15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17" h="15410">
                      <a:moveTo>
                        <a:pt x="15417" y="13480"/>
                      </a:moveTo>
                      <a:lnTo>
                        <a:pt x="12973" y="0"/>
                      </a:lnTo>
                      <a:cubicBezTo>
                        <a:pt x="8756" y="767"/>
                        <a:pt x="4388" y="1362"/>
                        <a:pt x="0" y="1773"/>
                      </a:cubicBezTo>
                      <a:lnTo>
                        <a:pt x="1273" y="15411"/>
                      </a:lnTo>
                      <a:cubicBezTo>
                        <a:pt x="6052" y="14966"/>
                        <a:pt x="10810" y="14315"/>
                        <a:pt x="15417" y="13480"/>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Shape 25">
                  <a:extLst>
                    <a:ext uri="{FF2B5EF4-FFF2-40B4-BE49-F238E27FC236}">
                      <a16:creationId xmlns:a16="http://schemas.microsoft.com/office/drawing/2014/main" id="{8648DE4D-7D1F-6134-3EE7-EDBAA5FEEC40}"/>
                    </a:ext>
                  </a:extLst>
                </p:cNvPr>
                <p:cNvSpPr/>
                <p:nvPr/>
              </p:nvSpPr>
              <p:spPr>
                <a:xfrm>
                  <a:off x="4827846" y="4118528"/>
                  <a:ext cx="17197" cy="17211"/>
                </a:xfrm>
                <a:custGeom>
                  <a:avLst/>
                  <a:gdLst>
                    <a:gd name="connsiteX0" fmla="*/ 12467 w 17197"/>
                    <a:gd name="connsiteY0" fmla="*/ 0 h 17211"/>
                    <a:gd name="connsiteX1" fmla="*/ 0 w 17197"/>
                    <a:gd name="connsiteY1" fmla="*/ 3998 h 17211"/>
                    <a:gd name="connsiteX2" fmla="*/ 3608 w 17197"/>
                    <a:gd name="connsiteY2" fmla="*/ 17211 h 17211"/>
                    <a:gd name="connsiteX3" fmla="*/ 17197 w 17197"/>
                    <a:gd name="connsiteY3" fmla="*/ 12850 h 17211"/>
                  </a:gdLst>
                  <a:ahLst/>
                  <a:cxnLst>
                    <a:cxn ang="0">
                      <a:pos x="connsiteX0" y="connsiteY0"/>
                    </a:cxn>
                    <a:cxn ang="0">
                      <a:pos x="connsiteX1" y="connsiteY1"/>
                    </a:cxn>
                    <a:cxn ang="0">
                      <a:pos x="connsiteX2" y="connsiteY2"/>
                    </a:cxn>
                    <a:cxn ang="0">
                      <a:pos x="connsiteX3" y="connsiteY3"/>
                    </a:cxn>
                  </a:cxnLst>
                  <a:rect l="l" t="t" r="r" b="b"/>
                  <a:pathLst>
                    <a:path w="17197" h="17211">
                      <a:moveTo>
                        <a:pt x="12467" y="0"/>
                      </a:moveTo>
                      <a:cubicBezTo>
                        <a:pt x="8366" y="1513"/>
                        <a:pt x="4176" y="2855"/>
                        <a:pt x="0" y="3998"/>
                      </a:cubicBezTo>
                      <a:lnTo>
                        <a:pt x="3608" y="17211"/>
                      </a:lnTo>
                      <a:cubicBezTo>
                        <a:pt x="8167" y="15958"/>
                        <a:pt x="12741" y="14500"/>
                        <a:pt x="17197" y="12850"/>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Shape 26">
                  <a:extLst>
                    <a:ext uri="{FF2B5EF4-FFF2-40B4-BE49-F238E27FC236}">
                      <a16:creationId xmlns:a16="http://schemas.microsoft.com/office/drawing/2014/main" id="{A5028BA9-BBA6-F944-601A-4DBFCD0130D1}"/>
                    </a:ext>
                  </a:extLst>
                </p:cNvPr>
                <p:cNvSpPr/>
                <p:nvPr/>
              </p:nvSpPr>
              <p:spPr>
                <a:xfrm>
                  <a:off x="4894918" y="4073707"/>
                  <a:ext cx="19333" cy="19340"/>
                </a:xfrm>
                <a:custGeom>
                  <a:avLst/>
                  <a:gdLst>
                    <a:gd name="connsiteX0" fmla="*/ 0 w 19333"/>
                    <a:gd name="connsiteY0" fmla="*/ 9674 h 19340"/>
                    <a:gd name="connsiteX1" fmla="*/ 9708 w 19333"/>
                    <a:gd name="connsiteY1" fmla="*/ 19340 h 19340"/>
                    <a:gd name="connsiteX2" fmla="*/ 19333 w 19333"/>
                    <a:gd name="connsiteY2" fmla="*/ 8784 h 19340"/>
                    <a:gd name="connsiteX3" fmla="*/ 8825 w 19333"/>
                    <a:gd name="connsiteY3" fmla="*/ 0 h 19340"/>
                    <a:gd name="connsiteX4" fmla="*/ 0 w 19333"/>
                    <a:gd name="connsiteY4" fmla="*/ 9674 h 19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33" h="19340">
                      <a:moveTo>
                        <a:pt x="0" y="9674"/>
                      </a:moveTo>
                      <a:lnTo>
                        <a:pt x="9708" y="19340"/>
                      </a:lnTo>
                      <a:cubicBezTo>
                        <a:pt x="13028" y="15999"/>
                        <a:pt x="16266" y="12446"/>
                        <a:pt x="19333" y="8784"/>
                      </a:cubicBezTo>
                      <a:lnTo>
                        <a:pt x="8825" y="0"/>
                      </a:lnTo>
                      <a:cubicBezTo>
                        <a:pt x="6011" y="3361"/>
                        <a:pt x="3047" y="6613"/>
                        <a:pt x="0" y="9674"/>
                      </a:cubicBez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Freeform: Shape 27">
                  <a:extLst>
                    <a:ext uri="{FF2B5EF4-FFF2-40B4-BE49-F238E27FC236}">
                      <a16:creationId xmlns:a16="http://schemas.microsoft.com/office/drawing/2014/main" id="{89A24D36-499B-CAD5-0DB9-2E7844414C53}"/>
                    </a:ext>
                  </a:extLst>
                </p:cNvPr>
                <p:cNvSpPr/>
                <p:nvPr/>
              </p:nvSpPr>
              <p:spPr>
                <a:xfrm>
                  <a:off x="4623792" y="3758129"/>
                  <a:ext cx="13692" cy="13692"/>
                </a:xfrm>
                <a:custGeom>
                  <a:avLst/>
                  <a:gdLst>
                    <a:gd name="connsiteX0" fmla="*/ 0 w 13692"/>
                    <a:gd name="connsiteY0" fmla="*/ 0 h 13692"/>
                    <a:gd name="connsiteX1" fmla="*/ 13692 w 13692"/>
                    <a:gd name="connsiteY1" fmla="*/ 0 h 13692"/>
                    <a:gd name="connsiteX2" fmla="*/ 13692 w 13692"/>
                    <a:gd name="connsiteY2" fmla="*/ 13692 h 13692"/>
                    <a:gd name="connsiteX3" fmla="*/ 0 w 13692"/>
                    <a:gd name="connsiteY3" fmla="*/ 13692 h 13692"/>
                  </a:gdLst>
                  <a:ahLst/>
                  <a:cxnLst>
                    <a:cxn ang="0">
                      <a:pos x="connsiteX0" y="connsiteY0"/>
                    </a:cxn>
                    <a:cxn ang="0">
                      <a:pos x="connsiteX1" y="connsiteY1"/>
                    </a:cxn>
                    <a:cxn ang="0">
                      <a:pos x="connsiteX2" y="connsiteY2"/>
                    </a:cxn>
                    <a:cxn ang="0">
                      <a:pos x="connsiteX3" y="connsiteY3"/>
                    </a:cxn>
                  </a:cxnLst>
                  <a:rect l="l" t="t" r="r" b="b"/>
                  <a:pathLst>
                    <a:path w="13692" h="13692">
                      <a:moveTo>
                        <a:pt x="0" y="0"/>
                      </a:moveTo>
                      <a:lnTo>
                        <a:pt x="13692" y="0"/>
                      </a:lnTo>
                      <a:lnTo>
                        <a:pt x="13692" y="13692"/>
                      </a:lnTo>
                      <a:lnTo>
                        <a:pt x="0" y="13692"/>
                      </a:ln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Shape 28">
                  <a:extLst>
                    <a:ext uri="{FF2B5EF4-FFF2-40B4-BE49-F238E27FC236}">
                      <a16:creationId xmlns:a16="http://schemas.microsoft.com/office/drawing/2014/main" id="{EFF956FB-FB65-3142-C329-D1CF6EDB4A88}"/>
                    </a:ext>
                  </a:extLst>
                </p:cNvPr>
                <p:cNvSpPr/>
                <p:nvPr/>
              </p:nvSpPr>
              <p:spPr>
                <a:xfrm>
                  <a:off x="4651176" y="3758129"/>
                  <a:ext cx="13692" cy="13692"/>
                </a:xfrm>
                <a:custGeom>
                  <a:avLst/>
                  <a:gdLst>
                    <a:gd name="connsiteX0" fmla="*/ 0 w 13692"/>
                    <a:gd name="connsiteY0" fmla="*/ 0 h 13692"/>
                    <a:gd name="connsiteX1" fmla="*/ 13692 w 13692"/>
                    <a:gd name="connsiteY1" fmla="*/ 0 h 13692"/>
                    <a:gd name="connsiteX2" fmla="*/ 13692 w 13692"/>
                    <a:gd name="connsiteY2" fmla="*/ 13692 h 13692"/>
                    <a:gd name="connsiteX3" fmla="*/ 0 w 13692"/>
                    <a:gd name="connsiteY3" fmla="*/ 13692 h 13692"/>
                  </a:gdLst>
                  <a:ahLst/>
                  <a:cxnLst>
                    <a:cxn ang="0">
                      <a:pos x="connsiteX0" y="connsiteY0"/>
                    </a:cxn>
                    <a:cxn ang="0">
                      <a:pos x="connsiteX1" y="connsiteY1"/>
                    </a:cxn>
                    <a:cxn ang="0">
                      <a:pos x="connsiteX2" y="connsiteY2"/>
                    </a:cxn>
                    <a:cxn ang="0">
                      <a:pos x="connsiteX3" y="connsiteY3"/>
                    </a:cxn>
                  </a:cxnLst>
                  <a:rect l="l" t="t" r="r" b="b"/>
                  <a:pathLst>
                    <a:path w="13692" h="13692">
                      <a:moveTo>
                        <a:pt x="0" y="0"/>
                      </a:moveTo>
                      <a:lnTo>
                        <a:pt x="13692" y="0"/>
                      </a:lnTo>
                      <a:lnTo>
                        <a:pt x="13692" y="13692"/>
                      </a:lnTo>
                      <a:lnTo>
                        <a:pt x="0" y="13692"/>
                      </a:lnTo>
                      <a:close/>
                    </a:path>
                  </a:pathLst>
                </a:custGeom>
                <a:grpFill/>
                <a:ln w="68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pic>
        <p:nvPicPr>
          <p:cNvPr id="16" name="Picture 4" descr="Data Observability Platform | Unravel Data">
            <a:extLst>
              <a:ext uri="{FF2B5EF4-FFF2-40B4-BE49-F238E27FC236}">
                <a16:creationId xmlns:a16="http://schemas.microsoft.com/office/drawing/2014/main" id="{40497443-B2AE-1397-B9F0-197DF4F3A3AD}"/>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769534" y="209338"/>
            <a:ext cx="589674" cy="44225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0C2C17EF-252B-70ED-0852-8170D0A8580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500163" y="240896"/>
            <a:ext cx="1158340" cy="384081"/>
          </a:xfrm>
          <a:prstGeom prst="rect">
            <a:avLst/>
          </a:prstGeom>
        </p:spPr>
      </p:pic>
    </p:spTree>
    <p:extLst>
      <p:ext uri="{BB962C8B-B14F-4D97-AF65-F5344CB8AC3E}">
        <p14:creationId xmlns:p14="http://schemas.microsoft.com/office/powerpoint/2010/main" val="4239919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96A84-E086-85F9-0DE3-30DF121A4FDC}"/>
            </a:ext>
          </a:extLst>
        </p:cNvPr>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A9DCD76F-1971-8523-32D0-E6E077C48837}"/>
              </a:ext>
            </a:extLst>
          </p:cNvPr>
          <p:cNvPicPr>
            <a:picLocks noGrp="1" noChangeAspect="1"/>
          </p:cNvPicPr>
          <p:nvPr>
            <p:ph type="pic" sz="quarter" idx="16"/>
          </p:nvPr>
        </p:nvPicPr>
        <p:blipFill>
          <a:blip r:embed="rId2" cstate="email">
            <a:extLst>
              <a:ext uri="{28A0092B-C50C-407E-A947-70E740481C1C}">
                <a14:useLocalDpi xmlns:a14="http://schemas.microsoft.com/office/drawing/2010/main"/>
              </a:ext>
            </a:extLst>
          </a:blip>
          <a:srcRect/>
          <a:stretch/>
        </p:blipFill>
        <p:spPr>
          <a:xfrm>
            <a:off x="0" y="0"/>
            <a:ext cx="12192000" cy="6858000"/>
          </a:xfrm>
        </p:spPr>
      </p:pic>
      <p:sp>
        <p:nvSpPr>
          <p:cNvPr id="8" name="Title 7">
            <a:extLst>
              <a:ext uri="{FF2B5EF4-FFF2-40B4-BE49-F238E27FC236}">
                <a16:creationId xmlns:a16="http://schemas.microsoft.com/office/drawing/2014/main" id="{C5FBAD97-2662-0CD7-A055-15700EDDB6B4}"/>
              </a:ext>
            </a:extLst>
          </p:cNvPr>
          <p:cNvSpPr>
            <a:spLocks noGrp="1"/>
          </p:cNvSpPr>
          <p:nvPr>
            <p:ph type="title"/>
          </p:nvPr>
        </p:nvSpPr>
        <p:spPr>
          <a:xfrm>
            <a:off x="623888" y="2843834"/>
            <a:ext cx="8180649" cy="738664"/>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4800" b="0" i="0" u="none" strike="noStrike" kern="1200" cap="none" spc="0" normalizeH="0" baseline="0" noProof="0">
                <a:ln>
                  <a:noFill/>
                </a:ln>
                <a:solidFill>
                  <a:srgbClr val="FFFFFF"/>
                </a:solidFill>
                <a:effectLst/>
                <a:uLnTx/>
                <a:uFillTx/>
                <a:latin typeface="Manrope Light"/>
                <a:ea typeface="Lato" panose="020F0502020204030203" pitchFamily="34" charset="0"/>
                <a:cs typeface="Lato" panose="020F0502020204030203" pitchFamily="34" charset="0"/>
                <a:sym typeface="Arial"/>
              </a:rPr>
              <a:t>Success Stories</a:t>
            </a:r>
          </a:p>
        </p:txBody>
      </p:sp>
    </p:spTree>
    <p:extLst>
      <p:ext uri="{BB962C8B-B14F-4D97-AF65-F5344CB8AC3E}">
        <p14:creationId xmlns:p14="http://schemas.microsoft.com/office/powerpoint/2010/main" val="2178979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CB816-B635-236E-865E-5B5AA3CA9C2C}"/>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8DBBA24A-159B-BE5C-6A6C-A22055A4EC32}"/>
              </a:ext>
            </a:extLst>
          </p:cNvPr>
          <p:cNvSpPr>
            <a:spLocks noGrp="1"/>
          </p:cNvSpPr>
          <p:nvPr>
            <p:ph type="body" sz="quarter" idx="15"/>
          </p:nvPr>
        </p:nvSpPr>
        <p:spPr>
          <a:xfrm flipH="1">
            <a:off x="623888" y="457200"/>
            <a:ext cx="8172450" cy="244101"/>
          </a:xfrm>
        </p:spPr>
        <p:txBody>
          <a:bodyPr/>
          <a:lstStyle/>
          <a:p>
            <a:r>
              <a:rPr lang="en-US"/>
              <a:t>IQVIA  - Hexaware Snowflake Journey</a:t>
            </a:r>
          </a:p>
        </p:txBody>
      </p:sp>
      <p:pic>
        <p:nvPicPr>
          <p:cNvPr id="17" name="Picture 16" descr="A close up of a logo&#10;&#10;Description automatically generated">
            <a:extLst>
              <a:ext uri="{FF2B5EF4-FFF2-40B4-BE49-F238E27FC236}">
                <a16:creationId xmlns:a16="http://schemas.microsoft.com/office/drawing/2014/main" id="{B31FDD6D-3D99-9FC2-2C3E-1744986B4CF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379193" y="141458"/>
            <a:ext cx="1277547" cy="540642"/>
          </a:xfrm>
          <a:prstGeom prst="rect">
            <a:avLst/>
          </a:prstGeom>
        </p:spPr>
      </p:pic>
      <p:pic>
        <p:nvPicPr>
          <p:cNvPr id="18" name="Picture 17" descr="A logo with a black background&#10;&#10;Description automatically generated">
            <a:extLst>
              <a:ext uri="{FF2B5EF4-FFF2-40B4-BE49-F238E27FC236}">
                <a16:creationId xmlns:a16="http://schemas.microsoft.com/office/drawing/2014/main" id="{65AE3558-2184-89CE-43F0-2A7715FB757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519166" y="5986670"/>
            <a:ext cx="863619" cy="409900"/>
          </a:xfrm>
          <a:prstGeom prst="rect">
            <a:avLst/>
          </a:prstGeom>
        </p:spPr>
      </p:pic>
      <p:pic>
        <p:nvPicPr>
          <p:cNvPr id="19" name="Picture 18" descr="A black and grey text&#10;&#10;Description automatically generated">
            <a:extLst>
              <a:ext uri="{FF2B5EF4-FFF2-40B4-BE49-F238E27FC236}">
                <a16:creationId xmlns:a16="http://schemas.microsoft.com/office/drawing/2014/main" id="{59F0C9CF-65FF-0970-1851-8EAA17BB24E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88137" y="6045751"/>
            <a:ext cx="984419" cy="291737"/>
          </a:xfrm>
          <a:prstGeom prst="rect">
            <a:avLst/>
          </a:prstGeom>
        </p:spPr>
      </p:pic>
      <p:pic>
        <p:nvPicPr>
          <p:cNvPr id="20" name="Graphic 19">
            <a:extLst>
              <a:ext uri="{FF2B5EF4-FFF2-40B4-BE49-F238E27FC236}">
                <a16:creationId xmlns:a16="http://schemas.microsoft.com/office/drawing/2014/main" id="{2DAA52E7-9BAF-A7D1-FD5D-E921E704F2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39554" y="6089186"/>
            <a:ext cx="657149" cy="251565"/>
          </a:xfrm>
          <a:prstGeom prst="rect">
            <a:avLst/>
          </a:prstGeom>
        </p:spPr>
      </p:pic>
      <p:pic>
        <p:nvPicPr>
          <p:cNvPr id="21" name="Picture 20" descr="A yellow rectangular objects on a black background&#10;&#10;Description automatically generated">
            <a:extLst>
              <a:ext uri="{FF2B5EF4-FFF2-40B4-BE49-F238E27FC236}">
                <a16:creationId xmlns:a16="http://schemas.microsoft.com/office/drawing/2014/main" id="{2646CEF9-FC06-395F-C172-B1AB1EEB66B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318734" y="5923569"/>
            <a:ext cx="400846" cy="459859"/>
          </a:xfrm>
          <a:prstGeom prst="rect">
            <a:avLst/>
          </a:prstGeom>
        </p:spPr>
      </p:pic>
      <p:pic>
        <p:nvPicPr>
          <p:cNvPr id="1026" name="Picture 2" descr="Azure has a new logo, but where do you download it? Here!">
            <a:extLst>
              <a:ext uri="{FF2B5EF4-FFF2-40B4-BE49-F238E27FC236}">
                <a16:creationId xmlns:a16="http://schemas.microsoft.com/office/drawing/2014/main" id="{CB8C683F-C359-F143-AB86-4AC195E62FD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916406" y="5913093"/>
            <a:ext cx="469083" cy="469083"/>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Straight Connector 32">
            <a:extLst>
              <a:ext uri="{FF2B5EF4-FFF2-40B4-BE49-F238E27FC236}">
                <a16:creationId xmlns:a16="http://schemas.microsoft.com/office/drawing/2014/main" id="{C4C37632-29F3-20B3-5D19-AF837F066DA3}"/>
              </a:ext>
            </a:extLst>
          </p:cNvPr>
          <p:cNvCxnSpPr>
            <a:cxnSpLocks/>
          </p:cNvCxnSpPr>
          <p:nvPr/>
        </p:nvCxnSpPr>
        <p:spPr>
          <a:xfrm flipV="1">
            <a:off x="1139042" y="1861759"/>
            <a:ext cx="10607040" cy="0"/>
          </a:xfrm>
          <a:prstGeom prst="line">
            <a:avLst/>
          </a:prstGeom>
          <a:ln w="19050">
            <a:solidFill>
              <a:schemeClr val="bg1">
                <a:lumMod val="50000"/>
              </a:schemeClr>
            </a:solidFill>
            <a:headEnd type="oval" w="lg" len="lg"/>
            <a:tailEnd type="triangle" w="lg" len="lg"/>
          </a:ln>
        </p:spPr>
        <p:style>
          <a:lnRef idx="1">
            <a:schemeClr val="accent1"/>
          </a:lnRef>
          <a:fillRef idx="0">
            <a:schemeClr val="accent1"/>
          </a:fillRef>
          <a:effectRef idx="0">
            <a:schemeClr val="accent1"/>
          </a:effectRef>
          <a:fontRef idx="minor">
            <a:schemeClr val="tx1"/>
          </a:fontRef>
        </p:style>
      </p:cxnSp>
      <p:pic>
        <p:nvPicPr>
          <p:cNvPr id="40" name="Picture 39" descr="A blue and black text&#10;&#10;AI-generated content may be incorrect.">
            <a:extLst>
              <a:ext uri="{FF2B5EF4-FFF2-40B4-BE49-F238E27FC236}">
                <a16:creationId xmlns:a16="http://schemas.microsoft.com/office/drawing/2014/main" id="{94E50F10-8E18-5C2F-016B-ED804E28EDE1}"/>
              </a:ext>
            </a:extLst>
          </p:cNvPr>
          <p:cNvPicPr>
            <a:picLocks noChangeAspect="1"/>
          </p:cNvPicPr>
          <p:nvPr/>
        </p:nvPicPr>
        <p:blipFill>
          <a:blip r:embed="rId8" cstate="email">
            <a:extLst>
              <a:ext uri="{28A0092B-C50C-407E-A947-70E740481C1C}">
                <a14:useLocalDpi xmlns:a14="http://schemas.microsoft.com/office/drawing/2010/main"/>
              </a:ext>
            </a:extLst>
          </a:blip>
          <a:srcRect/>
          <a:stretch/>
        </p:blipFill>
        <p:spPr>
          <a:xfrm>
            <a:off x="2686228" y="5893471"/>
            <a:ext cx="562702" cy="548640"/>
          </a:xfrm>
          <a:prstGeom prst="rect">
            <a:avLst/>
          </a:prstGeom>
        </p:spPr>
      </p:pic>
      <p:sp>
        <p:nvSpPr>
          <p:cNvPr id="22" name="Rectangle 21">
            <a:extLst>
              <a:ext uri="{FF2B5EF4-FFF2-40B4-BE49-F238E27FC236}">
                <a16:creationId xmlns:a16="http://schemas.microsoft.com/office/drawing/2014/main" id="{13795B2A-D770-A2D0-571C-C9B0704A4BF3}"/>
              </a:ext>
            </a:extLst>
          </p:cNvPr>
          <p:cNvSpPr/>
          <p:nvPr/>
        </p:nvSpPr>
        <p:spPr>
          <a:xfrm>
            <a:off x="318537" y="5490827"/>
            <a:ext cx="11319756"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Managed Services and Production Support Work in Progress</a:t>
            </a:r>
          </a:p>
        </p:txBody>
      </p:sp>
      <p:sp>
        <p:nvSpPr>
          <p:cNvPr id="23" name="Rectangle 22">
            <a:extLst>
              <a:ext uri="{FF2B5EF4-FFF2-40B4-BE49-F238E27FC236}">
                <a16:creationId xmlns:a16="http://schemas.microsoft.com/office/drawing/2014/main" id="{2E7BEDD1-C6ED-56EC-6DE2-BD610B8DFB80}"/>
              </a:ext>
            </a:extLst>
          </p:cNvPr>
          <p:cNvSpPr/>
          <p:nvPr/>
        </p:nvSpPr>
        <p:spPr>
          <a:xfrm>
            <a:off x="3069442" y="858718"/>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Automated Migration to Snowflake - HSDC</a:t>
            </a:r>
          </a:p>
        </p:txBody>
      </p:sp>
      <p:cxnSp>
        <p:nvCxnSpPr>
          <p:cNvPr id="24" name="Straight Connector 23">
            <a:extLst>
              <a:ext uri="{FF2B5EF4-FFF2-40B4-BE49-F238E27FC236}">
                <a16:creationId xmlns:a16="http://schemas.microsoft.com/office/drawing/2014/main" id="{B9436926-E8E6-3302-7D55-C4A85A121480}"/>
              </a:ext>
            </a:extLst>
          </p:cNvPr>
          <p:cNvCxnSpPr>
            <a:cxnSpLocks/>
          </p:cNvCxnSpPr>
          <p:nvPr/>
        </p:nvCxnSpPr>
        <p:spPr>
          <a:xfrm flipV="1">
            <a:off x="3883629" y="1228050"/>
            <a:ext cx="0" cy="64008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8" name="Picture 27" descr="A blue and black text&#10;&#10;AI-generated content may be incorrect.">
            <a:extLst>
              <a:ext uri="{FF2B5EF4-FFF2-40B4-BE49-F238E27FC236}">
                <a16:creationId xmlns:a16="http://schemas.microsoft.com/office/drawing/2014/main" id="{B58EF3D1-616A-BBF4-E497-C7232A558920}"/>
              </a:ext>
            </a:extLst>
          </p:cNvPr>
          <p:cNvPicPr>
            <a:picLocks noChangeAspect="1"/>
          </p:cNvPicPr>
          <p:nvPr/>
        </p:nvPicPr>
        <p:blipFill>
          <a:blip r:embed="rId9" cstate="email">
            <a:extLst>
              <a:ext uri="{28A0092B-C50C-407E-A947-70E740481C1C}">
                <a14:useLocalDpi xmlns:a14="http://schemas.microsoft.com/office/drawing/2010/main"/>
              </a:ext>
            </a:extLst>
          </a:blip>
          <a:srcRect/>
          <a:stretch/>
        </p:blipFill>
        <p:spPr>
          <a:xfrm>
            <a:off x="3658317" y="1284126"/>
            <a:ext cx="478247" cy="461632"/>
          </a:xfrm>
          <a:prstGeom prst="rect">
            <a:avLst/>
          </a:prstGeom>
        </p:spPr>
      </p:pic>
      <p:sp>
        <p:nvSpPr>
          <p:cNvPr id="43" name="Oval 42">
            <a:extLst>
              <a:ext uri="{FF2B5EF4-FFF2-40B4-BE49-F238E27FC236}">
                <a16:creationId xmlns:a16="http://schemas.microsoft.com/office/drawing/2014/main" id="{EB3027BB-9531-C9CD-594C-819FE812BCAD}"/>
              </a:ext>
            </a:extLst>
          </p:cNvPr>
          <p:cNvSpPr/>
          <p:nvPr/>
        </p:nvSpPr>
        <p:spPr bwMode="auto">
          <a:xfrm>
            <a:off x="3798742" y="1799093"/>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30" name="TextBox 29">
            <a:extLst>
              <a:ext uri="{FF2B5EF4-FFF2-40B4-BE49-F238E27FC236}">
                <a16:creationId xmlns:a16="http://schemas.microsoft.com/office/drawing/2014/main" id="{F86D8CF3-A991-12C2-3720-EC57A70A335D}"/>
              </a:ext>
            </a:extLst>
          </p:cNvPr>
          <p:cNvSpPr txBox="1"/>
          <p:nvPr/>
        </p:nvSpPr>
        <p:spPr>
          <a:xfrm flipH="1">
            <a:off x="3587211" y="2535905"/>
            <a:ext cx="744419"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2023</a:t>
            </a:r>
          </a:p>
        </p:txBody>
      </p:sp>
      <p:sp>
        <p:nvSpPr>
          <p:cNvPr id="31" name="Isosceles Triangle 30">
            <a:extLst>
              <a:ext uri="{FF2B5EF4-FFF2-40B4-BE49-F238E27FC236}">
                <a16:creationId xmlns:a16="http://schemas.microsoft.com/office/drawing/2014/main" id="{D60D0716-96B0-6829-A95F-B61853BD704C}"/>
              </a:ext>
            </a:extLst>
          </p:cNvPr>
          <p:cNvSpPr/>
          <p:nvPr/>
        </p:nvSpPr>
        <p:spPr>
          <a:xfrm rot="10800000">
            <a:off x="3658318" y="2091114"/>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32" name="TextBox 31">
            <a:extLst>
              <a:ext uri="{FF2B5EF4-FFF2-40B4-BE49-F238E27FC236}">
                <a16:creationId xmlns:a16="http://schemas.microsoft.com/office/drawing/2014/main" id="{ED5EC09F-6154-6A52-116F-1ED80522EC8F}"/>
              </a:ext>
            </a:extLst>
          </p:cNvPr>
          <p:cNvSpPr txBox="1"/>
          <p:nvPr/>
        </p:nvSpPr>
        <p:spPr>
          <a:xfrm flipH="1">
            <a:off x="3031670" y="2804505"/>
            <a:ext cx="2136104" cy="2731517"/>
          </a:xfrm>
          <a:prstGeom prst="rect">
            <a:avLst/>
          </a:prstGeom>
          <a:noFill/>
        </p:spPr>
        <p:txBody>
          <a:bodyPr wrap="square" lIns="0" tIns="0" rIns="0" bIns="0" anchor="t">
            <a:spAutoFit/>
          </a:bodyPr>
          <a:lstStyle/>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Cleansed, formatted &amp; aligned to a Central Data Model and subsequently into Snowflake.</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lang="en-US" sz="1050">
                <a:solidFill>
                  <a:srgbClr val="000000"/>
                </a:solidFill>
                <a:latin typeface="Manrope"/>
              </a:rPr>
              <a:t>L</a:t>
            </a:r>
            <a:r>
              <a:rPr kumimoji="0" lang="en-US" sz="1050" b="0" i="0" u="none" strike="noStrike" kern="1200" cap="none" spc="0" normalizeH="0" baseline="0" noProof="0" err="1">
                <a:ln>
                  <a:noFill/>
                </a:ln>
                <a:solidFill>
                  <a:srgbClr val="000000"/>
                </a:solidFill>
                <a:effectLst/>
                <a:uLnTx/>
                <a:uFillTx/>
                <a:latin typeface="Manrope"/>
              </a:rPr>
              <a:t>oaded</a:t>
            </a:r>
            <a:r>
              <a:rPr kumimoji="0" lang="en-US" sz="1050" b="0" i="0" u="none" strike="noStrike" kern="1200" cap="none" spc="0" normalizeH="0" baseline="0" noProof="0">
                <a:ln>
                  <a:noFill/>
                </a:ln>
                <a:solidFill>
                  <a:srgbClr val="000000"/>
                </a:solidFill>
                <a:effectLst/>
                <a:uLnTx/>
                <a:uFillTx/>
                <a:latin typeface="Manrope"/>
              </a:rPr>
              <a:t> data set is shared from Snowflake to customers through the Snowflake client share</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Manrope"/>
              </a:rPr>
              <a:t>Enabled Data-as-a-Service (DaaS) to customers using Snowflake</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&gt; 50 % reduction in cost of d</a:t>
            </a:r>
            <a:r>
              <a:rPr lang="en-US" sz="1050" b="1" spc="10" err="1">
                <a:solidFill>
                  <a:srgbClr val="000000"/>
                </a:solidFill>
                <a:latin typeface="Manrope"/>
                <a:cs typeface="Mongolian Baiti" panose="03000500000000000000" pitchFamily="66" charset="0"/>
              </a:rPr>
              <a:t>ata</a:t>
            </a:r>
            <a:r>
              <a:rPr lang="en-US" sz="1050" b="1" spc="10">
                <a:solidFill>
                  <a:srgbClr val="000000"/>
                </a:solidFill>
                <a:latin typeface="Manrope"/>
                <a:cs typeface="Mongolian Baiti" panose="03000500000000000000" pitchFamily="66" charset="0"/>
              </a:rPr>
              <a:t> sharing </a:t>
            </a: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in centralizing global data assets on Snowflake.</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p:txBody>
      </p:sp>
      <p:pic>
        <p:nvPicPr>
          <p:cNvPr id="1041" name="Picture 17" descr="Fivetran - Build automated and secured data pipelines in minutes">
            <a:extLst>
              <a:ext uri="{FF2B5EF4-FFF2-40B4-BE49-F238E27FC236}">
                <a16:creationId xmlns:a16="http://schemas.microsoft.com/office/drawing/2014/main" id="{B9B32A9E-3905-A141-3F1E-28D3C9165D0E}"/>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4744869" y="6045752"/>
            <a:ext cx="984419" cy="273984"/>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12A1D707-DC44-3544-19AF-00A2132F6240}"/>
              </a:ext>
            </a:extLst>
          </p:cNvPr>
          <p:cNvSpPr/>
          <p:nvPr/>
        </p:nvSpPr>
        <p:spPr>
          <a:xfrm>
            <a:off x="842824" y="847936"/>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w="0"/>
                <a:solidFill>
                  <a:srgbClr val="FFFFFF"/>
                </a:solidFill>
                <a:effectLst>
                  <a:outerShdw blurRad="38100" dist="19050" dir="2700000" algn="tl" rotWithShape="0">
                    <a:srgbClr val="000000">
                      <a:alpha val="40000"/>
                    </a:srgbClr>
                  </a:outerShdw>
                </a:effectLst>
                <a:uLnTx/>
                <a:uFillTx/>
                <a:latin typeface="Manrope"/>
                <a:cs typeface="Mongolian Baiti" panose="03000500000000000000" pitchFamily="66" charset="0"/>
              </a:rPr>
              <a:t>Built and supported On Premise Centralized DW </a:t>
            </a:r>
          </a:p>
        </p:txBody>
      </p:sp>
      <p:cxnSp>
        <p:nvCxnSpPr>
          <p:cNvPr id="36" name="Straight Connector 35">
            <a:extLst>
              <a:ext uri="{FF2B5EF4-FFF2-40B4-BE49-F238E27FC236}">
                <a16:creationId xmlns:a16="http://schemas.microsoft.com/office/drawing/2014/main" id="{B92060E9-6853-9ED6-67BA-DB2B2D7BC43A}"/>
              </a:ext>
            </a:extLst>
          </p:cNvPr>
          <p:cNvCxnSpPr>
            <a:cxnSpLocks/>
          </p:cNvCxnSpPr>
          <p:nvPr/>
        </p:nvCxnSpPr>
        <p:spPr>
          <a:xfrm flipV="1">
            <a:off x="1677870" y="1230447"/>
            <a:ext cx="0" cy="64008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Isosceles Triangle 34">
            <a:extLst>
              <a:ext uri="{FF2B5EF4-FFF2-40B4-BE49-F238E27FC236}">
                <a16:creationId xmlns:a16="http://schemas.microsoft.com/office/drawing/2014/main" id="{D9F6D818-4036-933A-1E2D-ACE8284131CF}"/>
              </a:ext>
            </a:extLst>
          </p:cNvPr>
          <p:cNvSpPr/>
          <p:nvPr/>
        </p:nvSpPr>
        <p:spPr>
          <a:xfrm rot="10800000">
            <a:off x="1448735" y="2069097"/>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41" name="Oval 40">
            <a:extLst>
              <a:ext uri="{FF2B5EF4-FFF2-40B4-BE49-F238E27FC236}">
                <a16:creationId xmlns:a16="http://schemas.microsoft.com/office/drawing/2014/main" id="{50A3FDB2-4F1A-9041-00B9-E550CA264880}"/>
              </a:ext>
            </a:extLst>
          </p:cNvPr>
          <p:cNvSpPr/>
          <p:nvPr/>
        </p:nvSpPr>
        <p:spPr bwMode="auto">
          <a:xfrm>
            <a:off x="1606880" y="1805720"/>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42" name="TextBox 41">
            <a:extLst>
              <a:ext uri="{FF2B5EF4-FFF2-40B4-BE49-F238E27FC236}">
                <a16:creationId xmlns:a16="http://schemas.microsoft.com/office/drawing/2014/main" id="{2D32C421-35FA-63E8-B1E4-FBC1C77A5B70}"/>
              </a:ext>
            </a:extLst>
          </p:cNvPr>
          <p:cNvSpPr txBox="1"/>
          <p:nvPr/>
        </p:nvSpPr>
        <p:spPr>
          <a:xfrm flipH="1">
            <a:off x="726385" y="2804505"/>
            <a:ext cx="2011680" cy="2646878"/>
          </a:xfrm>
          <a:prstGeom prst="rect">
            <a:avLst/>
          </a:prstGeom>
          <a:noFill/>
        </p:spPr>
        <p:txBody>
          <a:bodyPr wrap="square" lIns="0" tIns="0" rIns="0" bIns="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50" spc="10">
                <a:solidFill>
                  <a:srgbClr val="000000"/>
                </a:solidFill>
                <a:latin typeface="Manrope"/>
                <a:cs typeface="Mongolian Baiti" panose="03000500000000000000" pitchFamily="66" charset="0"/>
              </a:rPr>
              <a:t>Support and enhancement of Clinical Data Repository on Hadoop. </a:t>
            </a: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Built centralized DW managed to support and feed all of the standard reporting Applications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All the ETL's and transformations were built through Informatica and SQL Server.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p:txBody>
      </p:sp>
      <p:sp>
        <p:nvSpPr>
          <p:cNvPr id="44" name="TextBox 43">
            <a:extLst>
              <a:ext uri="{FF2B5EF4-FFF2-40B4-BE49-F238E27FC236}">
                <a16:creationId xmlns:a16="http://schemas.microsoft.com/office/drawing/2014/main" id="{A7039C33-C5F0-B3F6-3EB0-2326399FD09A}"/>
              </a:ext>
            </a:extLst>
          </p:cNvPr>
          <p:cNvSpPr txBox="1"/>
          <p:nvPr/>
        </p:nvSpPr>
        <p:spPr>
          <a:xfrm flipH="1">
            <a:off x="1209148" y="2535905"/>
            <a:ext cx="1046803"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2008 -2022</a:t>
            </a:r>
          </a:p>
        </p:txBody>
      </p:sp>
      <p:cxnSp>
        <p:nvCxnSpPr>
          <p:cNvPr id="45" name="Straight Connector 44">
            <a:extLst>
              <a:ext uri="{FF2B5EF4-FFF2-40B4-BE49-F238E27FC236}">
                <a16:creationId xmlns:a16="http://schemas.microsoft.com/office/drawing/2014/main" id="{66C1DC40-CB3B-0840-5E97-3B03BA522B18}"/>
              </a:ext>
            </a:extLst>
          </p:cNvPr>
          <p:cNvCxnSpPr>
            <a:cxnSpLocks/>
          </p:cNvCxnSpPr>
          <p:nvPr/>
        </p:nvCxnSpPr>
        <p:spPr>
          <a:xfrm flipV="1">
            <a:off x="5965078" y="1239559"/>
            <a:ext cx="0" cy="64008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EA054A72-2CD8-57C1-C5EA-2FA064E4062C}"/>
              </a:ext>
            </a:extLst>
          </p:cNvPr>
          <p:cNvSpPr/>
          <p:nvPr/>
        </p:nvSpPr>
        <p:spPr>
          <a:xfrm>
            <a:off x="5167774" y="858718"/>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Celonis to Power BI Migration </a:t>
            </a:r>
          </a:p>
        </p:txBody>
      </p:sp>
      <p:sp>
        <p:nvSpPr>
          <p:cNvPr id="47" name="Oval 46">
            <a:extLst>
              <a:ext uri="{FF2B5EF4-FFF2-40B4-BE49-F238E27FC236}">
                <a16:creationId xmlns:a16="http://schemas.microsoft.com/office/drawing/2014/main" id="{9CF5E279-CFFA-FB59-72CA-B8A4E6BF09D1}"/>
              </a:ext>
            </a:extLst>
          </p:cNvPr>
          <p:cNvSpPr/>
          <p:nvPr/>
        </p:nvSpPr>
        <p:spPr bwMode="auto">
          <a:xfrm>
            <a:off x="5899428" y="1761953"/>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48" name="Isosceles Triangle 47">
            <a:extLst>
              <a:ext uri="{FF2B5EF4-FFF2-40B4-BE49-F238E27FC236}">
                <a16:creationId xmlns:a16="http://schemas.microsoft.com/office/drawing/2014/main" id="{43AD2968-EA12-D401-9544-499A020C5C8E}"/>
              </a:ext>
            </a:extLst>
          </p:cNvPr>
          <p:cNvSpPr/>
          <p:nvPr/>
        </p:nvSpPr>
        <p:spPr>
          <a:xfrm rot="10800000">
            <a:off x="5752386" y="2091061"/>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93" name="TextBox 92">
            <a:extLst>
              <a:ext uri="{FF2B5EF4-FFF2-40B4-BE49-F238E27FC236}">
                <a16:creationId xmlns:a16="http://schemas.microsoft.com/office/drawing/2014/main" id="{6876363C-75B7-F942-2ED3-C17A12CF0AF2}"/>
              </a:ext>
            </a:extLst>
          </p:cNvPr>
          <p:cNvSpPr txBox="1"/>
          <p:nvPr/>
        </p:nvSpPr>
        <p:spPr>
          <a:xfrm flipH="1">
            <a:off x="5336955" y="2804505"/>
            <a:ext cx="2011680" cy="2492990"/>
          </a:xfrm>
          <a:prstGeom prst="rect">
            <a:avLst/>
          </a:prstGeom>
          <a:noFill/>
        </p:spPr>
        <p:txBody>
          <a:bodyPr wrap="square" lIns="0" tIns="0" rIns="0" bIns="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err="1">
                <a:ln>
                  <a:noFill/>
                </a:ln>
                <a:solidFill>
                  <a:srgbClr val="000000"/>
                </a:solidFill>
                <a:effectLst/>
                <a:uLnTx/>
                <a:uFillTx/>
                <a:latin typeface="Manrope"/>
                <a:cs typeface="Mongolian Baiti" panose="03000500000000000000" pitchFamily="66" charset="0"/>
              </a:rPr>
              <a:t>Celonis</a:t>
            </a: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 based procurement/vendor reporting were  migrated to Snowflake and Power Bi successfully.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Development of data load processes to migrate from SAP-BW based ETL to Snowflake DBT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Performance improvement by 50%</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4x increase in data refresh rate, enhanced user efficiency.</a:t>
            </a:r>
          </a:p>
        </p:txBody>
      </p:sp>
      <p:sp>
        <p:nvSpPr>
          <p:cNvPr id="94" name="TextBox 93">
            <a:extLst>
              <a:ext uri="{FF2B5EF4-FFF2-40B4-BE49-F238E27FC236}">
                <a16:creationId xmlns:a16="http://schemas.microsoft.com/office/drawing/2014/main" id="{E5232D6E-637F-0053-606F-EF9FC32AF1DA}"/>
              </a:ext>
            </a:extLst>
          </p:cNvPr>
          <p:cNvSpPr txBox="1"/>
          <p:nvPr/>
        </p:nvSpPr>
        <p:spPr>
          <a:xfrm flipH="1">
            <a:off x="5441676" y="2520375"/>
            <a:ext cx="1046803"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2024</a:t>
            </a:r>
          </a:p>
        </p:txBody>
      </p:sp>
      <p:sp>
        <p:nvSpPr>
          <p:cNvPr id="95" name="Isosceles Triangle 94">
            <a:extLst>
              <a:ext uri="{FF2B5EF4-FFF2-40B4-BE49-F238E27FC236}">
                <a16:creationId xmlns:a16="http://schemas.microsoft.com/office/drawing/2014/main" id="{0E3469E6-C041-1339-AB37-4FE812FBC3E3}"/>
              </a:ext>
            </a:extLst>
          </p:cNvPr>
          <p:cNvSpPr/>
          <p:nvPr/>
        </p:nvSpPr>
        <p:spPr>
          <a:xfrm rot="10800000">
            <a:off x="8128528" y="2109783"/>
            <a:ext cx="458270" cy="284162"/>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96" name="TextBox 95">
            <a:extLst>
              <a:ext uri="{FF2B5EF4-FFF2-40B4-BE49-F238E27FC236}">
                <a16:creationId xmlns:a16="http://schemas.microsoft.com/office/drawing/2014/main" id="{AB2D8033-A415-250D-B8B8-08E18C98E93C}"/>
              </a:ext>
            </a:extLst>
          </p:cNvPr>
          <p:cNvSpPr txBox="1"/>
          <p:nvPr/>
        </p:nvSpPr>
        <p:spPr>
          <a:xfrm flipH="1">
            <a:off x="7834262" y="2535905"/>
            <a:ext cx="1046803"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2024</a:t>
            </a:r>
          </a:p>
        </p:txBody>
      </p:sp>
      <p:cxnSp>
        <p:nvCxnSpPr>
          <p:cNvPr id="97" name="Straight Connector 96">
            <a:extLst>
              <a:ext uri="{FF2B5EF4-FFF2-40B4-BE49-F238E27FC236}">
                <a16:creationId xmlns:a16="http://schemas.microsoft.com/office/drawing/2014/main" id="{0005970E-6169-EC1A-A1AA-011BD1DB6FD9}"/>
              </a:ext>
            </a:extLst>
          </p:cNvPr>
          <p:cNvCxnSpPr>
            <a:cxnSpLocks/>
          </p:cNvCxnSpPr>
          <p:nvPr/>
        </p:nvCxnSpPr>
        <p:spPr>
          <a:xfrm flipV="1">
            <a:off x="8331026" y="1240088"/>
            <a:ext cx="0" cy="64008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12EB1D05-6EBE-A113-8D19-D2E92F80AC06}"/>
              </a:ext>
            </a:extLst>
          </p:cNvPr>
          <p:cNvSpPr/>
          <p:nvPr/>
        </p:nvSpPr>
        <p:spPr>
          <a:xfrm>
            <a:off x="7510174" y="874535"/>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Workday and SAP Reports Migration</a:t>
            </a:r>
          </a:p>
        </p:txBody>
      </p:sp>
      <p:sp>
        <p:nvSpPr>
          <p:cNvPr id="99" name="Oval 98">
            <a:extLst>
              <a:ext uri="{FF2B5EF4-FFF2-40B4-BE49-F238E27FC236}">
                <a16:creationId xmlns:a16="http://schemas.microsoft.com/office/drawing/2014/main" id="{304FA391-7379-F3D0-3BBF-BC1DF788569A}"/>
              </a:ext>
            </a:extLst>
          </p:cNvPr>
          <p:cNvSpPr/>
          <p:nvPr/>
        </p:nvSpPr>
        <p:spPr bwMode="auto">
          <a:xfrm>
            <a:off x="8240691" y="1816209"/>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100" name="TextBox 99">
            <a:extLst>
              <a:ext uri="{FF2B5EF4-FFF2-40B4-BE49-F238E27FC236}">
                <a16:creationId xmlns:a16="http://schemas.microsoft.com/office/drawing/2014/main" id="{585314C4-3C9B-ED07-59DE-970BEBBCDD95}"/>
              </a:ext>
            </a:extLst>
          </p:cNvPr>
          <p:cNvSpPr txBox="1"/>
          <p:nvPr/>
        </p:nvSpPr>
        <p:spPr>
          <a:xfrm flipH="1">
            <a:off x="7510174" y="2804505"/>
            <a:ext cx="2011680" cy="1769715"/>
          </a:xfrm>
          <a:prstGeom prst="rect">
            <a:avLst/>
          </a:prstGeom>
          <a:noFill/>
        </p:spPr>
        <p:txBody>
          <a:bodyPr wrap="square" lIns="0" tIns="0" rIns="0" bIns="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Successful go-live of Workday Data Mart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Successful migration of ~20+ SAP native reports from SAP to Snowflake (EDP).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Increased data refresh rate by 3x, achieving near-instant data availability. </a:t>
            </a:r>
          </a:p>
        </p:txBody>
      </p:sp>
      <p:pic>
        <p:nvPicPr>
          <p:cNvPr id="101" name="Picture 100" descr="A blue and black sign with black text&#10;&#10;Description automatically generated">
            <a:extLst>
              <a:ext uri="{FF2B5EF4-FFF2-40B4-BE49-F238E27FC236}">
                <a16:creationId xmlns:a16="http://schemas.microsoft.com/office/drawing/2014/main" id="{E023F0EC-E52A-0122-5E3F-897A4B0C537B}"/>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9069012" y="5975986"/>
            <a:ext cx="562702" cy="376411"/>
          </a:xfrm>
          <a:prstGeom prst="rect">
            <a:avLst/>
          </a:prstGeom>
        </p:spPr>
      </p:pic>
      <p:sp>
        <p:nvSpPr>
          <p:cNvPr id="102" name="Isosceles Triangle 101">
            <a:extLst>
              <a:ext uri="{FF2B5EF4-FFF2-40B4-BE49-F238E27FC236}">
                <a16:creationId xmlns:a16="http://schemas.microsoft.com/office/drawing/2014/main" id="{84603E0C-DFCD-CF9C-AE15-041E60D1A88D}"/>
              </a:ext>
            </a:extLst>
          </p:cNvPr>
          <p:cNvSpPr/>
          <p:nvPr/>
        </p:nvSpPr>
        <p:spPr>
          <a:xfrm rot="10800000">
            <a:off x="10171393" y="2083893"/>
            <a:ext cx="458270" cy="284162"/>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103" name="TextBox 102">
            <a:extLst>
              <a:ext uri="{FF2B5EF4-FFF2-40B4-BE49-F238E27FC236}">
                <a16:creationId xmlns:a16="http://schemas.microsoft.com/office/drawing/2014/main" id="{A832FB83-A7EC-EA05-6233-D2500B6FB343}"/>
              </a:ext>
            </a:extLst>
          </p:cNvPr>
          <p:cNvSpPr txBox="1"/>
          <p:nvPr/>
        </p:nvSpPr>
        <p:spPr>
          <a:xfrm flipH="1">
            <a:off x="9876462" y="2535905"/>
            <a:ext cx="1046803"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2025</a:t>
            </a:r>
          </a:p>
        </p:txBody>
      </p:sp>
      <p:cxnSp>
        <p:nvCxnSpPr>
          <p:cNvPr id="104" name="Straight Connector 103">
            <a:extLst>
              <a:ext uri="{FF2B5EF4-FFF2-40B4-BE49-F238E27FC236}">
                <a16:creationId xmlns:a16="http://schemas.microsoft.com/office/drawing/2014/main" id="{AFC5B3FB-B10D-9586-A802-C4D59CE62642}"/>
              </a:ext>
            </a:extLst>
          </p:cNvPr>
          <p:cNvCxnSpPr>
            <a:cxnSpLocks/>
          </p:cNvCxnSpPr>
          <p:nvPr/>
        </p:nvCxnSpPr>
        <p:spPr>
          <a:xfrm flipV="1">
            <a:off x="10347102" y="1231107"/>
            <a:ext cx="0" cy="64008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19A8F5EA-A338-A148-6AEA-7E5F29FF4034}"/>
              </a:ext>
            </a:extLst>
          </p:cNvPr>
          <p:cNvSpPr/>
          <p:nvPr/>
        </p:nvSpPr>
        <p:spPr>
          <a:xfrm>
            <a:off x="9506997" y="878712"/>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CDAS Migration</a:t>
            </a:r>
          </a:p>
        </p:txBody>
      </p:sp>
      <p:sp>
        <p:nvSpPr>
          <p:cNvPr id="106" name="Oval 105">
            <a:extLst>
              <a:ext uri="{FF2B5EF4-FFF2-40B4-BE49-F238E27FC236}">
                <a16:creationId xmlns:a16="http://schemas.microsoft.com/office/drawing/2014/main" id="{92E6B084-B512-98BA-09A7-3CED9467966E}"/>
              </a:ext>
            </a:extLst>
          </p:cNvPr>
          <p:cNvSpPr/>
          <p:nvPr/>
        </p:nvSpPr>
        <p:spPr bwMode="auto">
          <a:xfrm>
            <a:off x="10265988" y="1790641"/>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107" name="TextBox 106">
            <a:extLst>
              <a:ext uri="{FF2B5EF4-FFF2-40B4-BE49-F238E27FC236}">
                <a16:creationId xmlns:a16="http://schemas.microsoft.com/office/drawing/2014/main" id="{DF0B8750-443B-695A-5185-167A4CBC74A8}"/>
              </a:ext>
            </a:extLst>
          </p:cNvPr>
          <p:cNvSpPr txBox="1"/>
          <p:nvPr/>
        </p:nvSpPr>
        <p:spPr>
          <a:xfrm flipH="1">
            <a:off x="9564388" y="2767192"/>
            <a:ext cx="2243085" cy="2646878"/>
          </a:xfrm>
          <a:prstGeom prst="rect">
            <a:avLst/>
          </a:prstGeom>
          <a:noFill/>
        </p:spPr>
        <p:txBody>
          <a:bodyPr wrap="square" lIns="0" tIns="0" rIns="0" bIns="0" anchor="t">
            <a:spAutoFit/>
          </a:bodyPr>
          <a:lstStyle>
            <a:defPPr>
              <a:defRPr lang="en-US"/>
            </a:defPPr>
            <a:lvl1pPr marL="171450" marR="0" lvl="0" indent="-171450" fontAlgn="auto">
              <a:lnSpc>
                <a:spcPct val="100000"/>
              </a:lnSpc>
              <a:spcBef>
                <a:spcPts val="0"/>
              </a:spcBef>
              <a:spcAft>
                <a:spcPts val="600"/>
              </a:spcAft>
              <a:buClrTx/>
              <a:buSzTx/>
              <a:buFont typeface="Arial" panose="020B0604020202020204" pitchFamily="34" charset="0"/>
              <a:buChar char="•"/>
              <a:tabLst/>
              <a:defRPr kumimoji="0" sz="1050" b="0" i="0" u="none" strike="noStrike" cap="none" spc="10" normalizeH="0" baseline="0">
                <a:ln>
                  <a:noFill/>
                </a:ln>
                <a:solidFill>
                  <a:srgbClr val="000000"/>
                </a:solidFill>
                <a:effectLst/>
                <a:uLnTx/>
                <a:uFillTx/>
                <a:latin typeface="Manrope"/>
                <a:cs typeface="Mongolian Baiti" panose="03000500000000000000" pitchFamily="66" charset="0"/>
              </a:defRPr>
            </a:lvl1pPr>
          </a:lstStyle>
          <a:p>
            <a:r>
              <a:rPr lang="en-US"/>
              <a:t>Migration of on-premise CDAS data platform on Hadoop to Snowflake.</a:t>
            </a:r>
            <a:endParaRPr lang="en-GB" sz="1800" b="0" i="0" u="none" strike="noStrike" baseline="0">
              <a:solidFill>
                <a:srgbClr val="000000"/>
              </a:solidFill>
              <a:latin typeface="Lato" panose="020F0502020204030203" pitchFamily="34" charset="0"/>
            </a:endParaRPr>
          </a:p>
          <a:p>
            <a:r>
              <a:rPr lang="en-US"/>
              <a:t>Large volume of heterogeneous data coming from many different sources across the globe </a:t>
            </a:r>
          </a:p>
          <a:p>
            <a:r>
              <a:rPr lang="en-US"/>
              <a:t>Intelligent Applications moved to Snowpark.</a:t>
            </a:r>
          </a:p>
          <a:p>
            <a:r>
              <a:rPr lang="en-US"/>
              <a:t>AI/ML workloads &amp; Hypothesis testing </a:t>
            </a:r>
          </a:p>
          <a:p>
            <a:r>
              <a:rPr lang="en-US"/>
              <a:t>Operational and Analytics for  drug development cycle delivered through Snowflake</a:t>
            </a:r>
          </a:p>
          <a:p>
            <a:r>
              <a:rPr lang="en-US" b="1"/>
              <a:t>30% reduction in TCO </a:t>
            </a:r>
          </a:p>
        </p:txBody>
      </p:sp>
      <p:pic>
        <p:nvPicPr>
          <p:cNvPr id="108" name="Picture 107" descr="A close up of a logo&#10;&#10;AI-generated content may be incorrect.">
            <a:extLst>
              <a:ext uri="{FF2B5EF4-FFF2-40B4-BE49-F238E27FC236}">
                <a16:creationId xmlns:a16="http://schemas.microsoft.com/office/drawing/2014/main" id="{937AA723-A625-6C9C-CF5C-6E74A81517F3}"/>
              </a:ext>
            </a:extLst>
          </p:cNvPr>
          <p:cNvPicPr>
            <a:picLocks noChangeAspect="1"/>
          </p:cNvPicPr>
          <p:nvPr/>
        </p:nvPicPr>
        <p:blipFill>
          <a:blip r:embed="rId12" cstate="email">
            <a:extLst>
              <a:ext uri="{28A0092B-C50C-407E-A947-70E740481C1C}">
                <a14:useLocalDpi xmlns:a14="http://schemas.microsoft.com/office/drawing/2010/main"/>
              </a:ext>
            </a:extLst>
          </a:blip>
          <a:srcRect t="35586" b="37728"/>
          <a:stretch/>
        </p:blipFill>
        <p:spPr>
          <a:xfrm>
            <a:off x="467835" y="5990271"/>
            <a:ext cx="1245190" cy="332285"/>
          </a:xfrm>
          <a:prstGeom prst="rect">
            <a:avLst/>
          </a:prstGeom>
        </p:spPr>
      </p:pic>
      <p:pic>
        <p:nvPicPr>
          <p:cNvPr id="109" name="Picture 108" descr="A close-up of a logo&#10;&#10;AI-generated content may be incorrect.">
            <a:extLst>
              <a:ext uri="{FF2B5EF4-FFF2-40B4-BE49-F238E27FC236}">
                <a16:creationId xmlns:a16="http://schemas.microsoft.com/office/drawing/2014/main" id="{D6D865E7-96FC-974E-BC41-DB286B88B38D}"/>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0042422" y="5964826"/>
            <a:ext cx="1340592" cy="365616"/>
          </a:xfrm>
          <a:prstGeom prst="rect">
            <a:avLst/>
          </a:prstGeom>
        </p:spPr>
      </p:pic>
    </p:spTree>
    <p:extLst>
      <p:ext uri="{BB962C8B-B14F-4D97-AF65-F5344CB8AC3E}">
        <p14:creationId xmlns:p14="http://schemas.microsoft.com/office/powerpoint/2010/main" val="1529176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5F177-73EA-5463-28D3-86868FD2B70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D0081EF-ED21-B82A-7A30-05D41C5F06DC}"/>
              </a:ext>
            </a:extLst>
          </p:cNvPr>
          <p:cNvSpPr>
            <a:spLocks noGrp="1"/>
          </p:cNvSpPr>
          <p:nvPr>
            <p:ph type="body" sz="quarter" idx="20"/>
          </p:nvPr>
        </p:nvSpPr>
        <p:spPr>
          <a:xfrm>
            <a:off x="623887" y="1247209"/>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pic>
        <p:nvPicPr>
          <p:cNvPr id="20" name="Picture Placeholder 19" descr="A group of people in a lab&#10;&#10;AI-generated content may be incorrect.">
            <a:extLst>
              <a:ext uri="{FF2B5EF4-FFF2-40B4-BE49-F238E27FC236}">
                <a16:creationId xmlns:a16="http://schemas.microsoft.com/office/drawing/2014/main" id="{B88717B7-2DDF-AFDE-F6C8-AD834E1F1A87}"/>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a:fillRect/>
          </a:stretch>
        </p:blipFill>
        <p:spPr/>
      </p:pic>
      <p:sp>
        <p:nvSpPr>
          <p:cNvPr id="14" name="Text Placeholder 13">
            <a:extLst>
              <a:ext uri="{FF2B5EF4-FFF2-40B4-BE49-F238E27FC236}">
                <a16:creationId xmlns:a16="http://schemas.microsoft.com/office/drawing/2014/main" id="{67F15D44-5FDF-29E7-4BFB-FC3E03EB8729}"/>
              </a:ext>
            </a:extLst>
          </p:cNvPr>
          <p:cNvSpPr>
            <a:spLocks noGrp="1"/>
          </p:cNvSpPr>
          <p:nvPr>
            <p:ph type="body" sz="quarter" idx="21"/>
          </p:nvPr>
        </p:nvSpPr>
        <p:spPr>
          <a:xfrm flipH="1">
            <a:off x="623887" y="397259"/>
            <a:ext cx="5400675" cy="216401"/>
          </a:xfrm>
        </p:spPr>
        <p:txBody>
          <a:bodyPr/>
          <a:lstStyle/>
          <a:p>
            <a:r>
              <a:rPr lang="en-US"/>
              <a:t>Healthcare Life Sciences</a:t>
            </a:r>
          </a:p>
        </p:txBody>
      </p:sp>
      <p:sp>
        <p:nvSpPr>
          <p:cNvPr id="45" name="TextBox 44">
            <a:extLst>
              <a:ext uri="{FF2B5EF4-FFF2-40B4-BE49-F238E27FC236}">
                <a16:creationId xmlns:a16="http://schemas.microsoft.com/office/drawing/2014/main" id="{12AC917F-23E1-1D5F-BC17-F72391894CA2}"/>
              </a:ext>
            </a:extLst>
          </p:cNvPr>
          <p:cNvSpPr txBox="1"/>
          <p:nvPr/>
        </p:nvSpPr>
        <p:spPr>
          <a:xfrm>
            <a:off x="530468" y="1553581"/>
            <a:ext cx="5494093" cy="132343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Multiple source data(Sales data at National &amp; Sub National Level, DDD, NPA, Channel Dynamics </a:t>
            </a:r>
            <a:r>
              <a:rPr kumimoji="0" lang="en-US" sz="1000" b="0" i="0" u="none" strike="noStrike" kern="1200" cap="none" spc="0" normalizeH="0" baseline="0" noProof="0" err="1">
                <a:ln>
                  <a:noFill/>
                </a:ln>
                <a:solidFill>
                  <a:srgbClr val="000000"/>
                </a:solidFill>
                <a:effectLst/>
                <a:uLnTx/>
                <a:uFillTx/>
                <a:latin typeface="Manrope"/>
              </a:rPr>
              <a:t>ets</a:t>
            </a:r>
            <a:r>
              <a:rPr kumimoji="0" lang="en-US" sz="1000" b="0" i="0" u="none" strike="noStrike" kern="1200" cap="none" spc="0" normalizeH="0" baseline="0" noProof="0">
                <a:ln>
                  <a:noFill/>
                </a:ln>
                <a:solidFill>
                  <a:srgbClr val="000000"/>
                </a:solidFill>
                <a:effectLst/>
                <a:uLnTx/>
                <a:uFillTx/>
                <a:latin typeface="Manrope"/>
              </a:rPr>
              <a:t>.)</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Different formats of data from national &amp; sub-national levels.</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No integrated view of data</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Manual intervention was required in data cleansing, management &amp; decision-making</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Huge turnaround times in delivering data and intelligence insights to end-users</a:t>
            </a:r>
          </a:p>
        </p:txBody>
      </p:sp>
      <p:sp>
        <p:nvSpPr>
          <p:cNvPr id="3" name="TextBox 2">
            <a:extLst>
              <a:ext uri="{FF2B5EF4-FFF2-40B4-BE49-F238E27FC236}">
                <a16:creationId xmlns:a16="http://schemas.microsoft.com/office/drawing/2014/main" id="{F64E515B-F5CD-9CBB-920B-D08148ACE184}"/>
              </a:ext>
            </a:extLst>
          </p:cNvPr>
          <p:cNvSpPr txBox="1"/>
          <p:nvPr/>
        </p:nvSpPr>
        <p:spPr>
          <a:xfrm>
            <a:off x="530469" y="704309"/>
            <a:ext cx="5494093" cy="5924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rgbClr val="000000"/>
                </a:solidFill>
                <a:effectLst/>
                <a:uLnTx/>
                <a:uFillTx/>
                <a:latin typeface="Manrope"/>
              </a:rPr>
              <a:t>Case Study: Accelerated migration to Snowflake (HSDC) by a leading health information organization in US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i="0" u="none" strike="noStrike" kern="1200" cap="none" spc="0" normalizeH="0" baseline="0" noProof="0">
              <a:ln>
                <a:noFill/>
              </a:ln>
              <a:solidFill>
                <a:srgbClr val="000000"/>
              </a:solidFill>
              <a:effectLst/>
              <a:uLnTx/>
              <a:uFillTx/>
              <a:latin typeface="Manrope"/>
            </a:endParaRPr>
          </a:p>
        </p:txBody>
      </p:sp>
      <p:sp>
        <p:nvSpPr>
          <p:cNvPr id="6" name="Text Placeholder 3">
            <a:extLst>
              <a:ext uri="{FF2B5EF4-FFF2-40B4-BE49-F238E27FC236}">
                <a16:creationId xmlns:a16="http://schemas.microsoft.com/office/drawing/2014/main" id="{0CF68123-1EA3-0A59-2C1A-789E9BE0D02F}"/>
              </a:ext>
            </a:extLst>
          </p:cNvPr>
          <p:cNvSpPr txBox="1">
            <a:spLocks/>
          </p:cNvSpPr>
          <p:nvPr/>
        </p:nvSpPr>
        <p:spPr>
          <a:xfrm>
            <a:off x="623887" y="3201461"/>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r>
              <a:rPr kumimoji="0" lang="en-IN" sz="1400" b="0" i="0" u="none" strike="noStrike" kern="1200" cap="none" spc="10" normalizeH="0" baseline="0" noProof="0">
                <a:ln>
                  <a:noFill/>
                </a:ln>
                <a:solidFill>
                  <a:srgbClr val="3C2CDA"/>
                </a:solidFill>
                <a:effectLst/>
                <a:uLnTx/>
                <a:uFillTx/>
                <a:latin typeface="Manrope Medium" pitchFamily="2" charset="0"/>
              </a:rPr>
              <a:t>Solution</a:t>
            </a:r>
          </a:p>
        </p:txBody>
      </p:sp>
      <p:sp>
        <p:nvSpPr>
          <p:cNvPr id="7" name="TextBox 6">
            <a:extLst>
              <a:ext uri="{FF2B5EF4-FFF2-40B4-BE49-F238E27FC236}">
                <a16:creationId xmlns:a16="http://schemas.microsoft.com/office/drawing/2014/main" id="{99DE8A0C-3960-A9F2-034E-11BB498CA519}"/>
              </a:ext>
            </a:extLst>
          </p:cNvPr>
          <p:cNvSpPr txBox="1"/>
          <p:nvPr/>
        </p:nvSpPr>
        <p:spPr>
          <a:xfrm>
            <a:off x="530468" y="3507833"/>
            <a:ext cx="5494093" cy="193899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Creation of a cloud Big Data tenant and ingest different formats of real-time/batch data integration from different sources.</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The ingested data was cleansed, de-duped &amp; bridged.</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Cleansed data formatted &amp; aligned to a Central Data Model and subsequently into Snowflake.</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The loaded data set is shared from Snowflake to customers through the Snowflake client share</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Enabled Data-as-a-Service (DaaS) to those customers using Snowflake. DaaS enabled end customers to have easy access to their datasets and third-party data in a standardized structure from one centralized location</a:t>
            </a:r>
          </a:p>
        </p:txBody>
      </p:sp>
      <p:sp>
        <p:nvSpPr>
          <p:cNvPr id="8" name="Text Placeholder 22">
            <a:extLst>
              <a:ext uri="{FF2B5EF4-FFF2-40B4-BE49-F238E27FC236}">
                <a16:creationId xmlns:a16="http://schemas.microsoft.com/office/drawing/2014/main" id="{6A0F2C0A-2ADE-0C19-BF3C-F5A152022683}"/>
              </a:ext>
            </a:extLst>
          </p:cNvPr>
          <p:cNvSpPr>
            <a:spLocks noGrp="1"/>
          </p:cNvSpPr>
          <p:nvPr>
            <p:ph type="body" sz="quarter" idx="18"/>
          </p:nvPr>
        </p:nvSpPr>
        <p:spPr>
          <a:xfrm>
            <a:off x="623888" y="5948214"/>
            <a:ext cx="1463330" cy="599363"/>
          </a:xfrm>
        </p:spPr>
        <p:txBody>
          <a:bodyPr>
            <a:normAutofit/>
          </a:bodyPr>
          <a:lstStyle/>
          <a:p>
            <a:r>
              <a:rPr kumimoji="0" lang="en-US" b="0" i="0" u="none" strike="noStrike" kern="1200" cap="none" spc="10" normalizeH="0" baseline="0" noProof="0">
                <a:ln>
                  <a:noFill/>
                </a:ln>
                <a:solidFill>
                  <a:schemeClr val="tx1"/>
                </a:solidFill>
                <a:effectLst/>
                <a:uLnTx/>
                <a:uFillTx/>
                <a:latin typeface="Manrope"/>
              </a:rPr>
              <a:t>Reduction in data cleansing &amp; processing times</a:t>
            </a:r>
          </a:p>
        </p:txBody>
      </p:sp>
      <p:sp>
        <p:nvSpPr>
          <p:cNvPr id="9" name="Text Placeholder 23">
            <a:extLst>
              <a:ext uri="{FF2B5EF4-FFF2-40B4-BE49-F238E27FC236}">
                <a16:creationId xmlns:a16="http://schemas.microsoft.com/office/drawing/2014/main" id="{267B71B7-A16F-DB0C-C710-288D5107F1A3}"/>
              </a:ext>
            </a:extLst>
          </p:cNvPr>
          <p:cNvSpPr>
            <a:spLocks noGrp="1"/>
          </p:cNvSpPr>
          <p:nvPr>
            <p:ph type="body" sz="quarter" idx="19"/>
          </p:nvPr>
        </p:nvSpPr>
        <p:spPr>
          <a:xfrm>
            <a:off x="623888" y="5537474"/>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3000" b="0" i="0" u="none" strike="noStrike" kern="1200" cap="none" spc="0" normalizeH="0" baseline="0" noProof="0">
                <a:ln>
                  <a:noFill/>
                </a:ln>
                <a:solidFill>
                  <a:srgbClr val="3C2CDA"/>
                </a:solidFill>
                <a:effectLst/>
                <a:uLnTx/>
                <a:uFillTx/>
                <a:latin typeface="Manrope Light"/>
              </a:rPr>
              <a:t>75%</a:t>
            </a:r>
          </a:p>
        </p:txBody>
      </p:sp>
      <p:sp>
        <p:nvSpPr>
          <p:cNvPr id="10" name="Text Placeholder 24">
            <a:extLst>
              <a:ext uri="{FF2B5EF4-FFF2-40B4-BE49-F238E27FC236}">
                <a16:creationId xmlns:a16="http://schemas.microsoft.com/office/drawing/2014/main" id="{AAA882E2-E791-34DD-0566-09329514D1BE}"/>
              </a:ext>
            </a:extLst>
          </p:cNvPr>
          <p:cNvSpPr>
            <a:spLocks noGrp="1"/>
          </p:cNvSpPr>
          <p:nvPr>
            <p:ph type="body" sz="quarter" idx="24"/>
          </p:nvPr>
        </p:nvSpPr>
        <p:spPr>
          <a:xfrm>
            <a:off x="2417168" y="5955141"/>
            <a:ext cx="1369641" cy="774051"/>
          </a:xfrm>
        </p:spPr>
        <p:txBody>
          <a:bodyPr>
            <a:normAutofit/>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b="0" i="0" u="none" strike="noStrike" kern="1200" cap="none" spc="10" normalizeH="0" baseline="0" noProof="0">
                <a:ln>
                  <a:noFill/>
                </a:ln>
                <a:solidFill>
                  <a:schemeClr val="tx1"/>
                </a:solidFill>
                <a:effectLst/>
                <a:uLnTx/>
                <a:uFillTx/>
                <a:latin typeface="Manrope"/>
              </a:rPr>
              <a:t>1M+ data feeds from 140K data providers</a:t>
            </a:r>
          </a:p>
        </p:txBody>
      </p:sp>
      <p:sp>
        <p:nvSpPr>
          <p:cNvPr id="11" name="Text Placeholder 25">
            <a:extLst>
              <a:ext uri="{FF2B5EF4-FFF2-40B4-BE49-F238E27FC236}">
                <a16:creationId xmlns:a16="http://schemas.microsoft.com/office/drawing/2014/main" id="{168553B0-B64F-8D25-7890-BA2B26A53622}"/>
              </a:ext>
            </a:extLst>
          </p:cNvPr>
          <p:cNvSpPr>
            <a:spLocks noGrp="1"/>
          </p:cNvSpPr>
          <p:nvPr>
            <p:ph type="body" sz="quarter" idx="25"/>
          </p:nvPr>
        </p:nvSpPr>
        <p:spPr>
          <a:xfrm>
            <a:off x="2417168" y="5537474"/>
            <a:ext cx="1081406" cy="415498"/>
          </a:xfrm>
        </p:spPr>
        <p:txBody>
          <a:bodyPr/>
          <a:lstStyle/>
          <a:p>
            <a:r>
              <a:rPr kumimoji="0" lang="en-US" sz="3000" b="0" i="0" u="none" strike="noStrike" kern="1200" cap="none" spc="0" normalizeH="0" baseline="0" noProof="0">
                <a:ln>
                  <a:noFill/>
                </a:ln>
                <a:solidFill>
                  <a:srgbClr val="3C2CDA"/>
                </a:solidFill>
                <a:effectLst/>
                <a:uLnTx/>
                <a:uFillTx/>
                <a:latin typeface="Manrope Light"/>
              </a:rPr>
              <a:t>1M+</a:t>
            </a:r>
          </a:p>
        </p:txBody>
      </p:sp>
      <p:sp>
        <p:nvSpPr>
          <p:cNvPr id="12" name="Text Placeholder 24">
            <a:extLst>
              <a:ext uri="{FF2B5EF4-FFF2-40B4-BE49-F238E27FC236}">
                <a16:creationId xmlns:a16="http://schemas.microsoft.com/office/drawing/2014/main" id="{179A40B8-94E2-CBD5-D224-6F77E5038939}"/>
              </a:ext>
            </a:extLst>
          </p:cNvPr>
          <p:cNvSpPr txBox="1">
            <a:spLocks/>
          </p:cNvSpPr>
          <p:nvPr/>
        </p:nvSpPr>
        <p:spPr>
          <a:xfrm>
            <a:off x="4116759" y="5955141"/>
            <a:ext cx="1907804" cy="774051"/>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000" b="0" i="0" u="none" strike="noStrike" kern="1200" cap="none" spc="10" normalizeH="0" baseline="0" noProof="0">
                <a:ln>
                  <a:noFill/>
                </a:ln>
                <a:solidFill>
                  <a:schemeClr val="tx1"/>
                </a:solidFill>
                <a:effectLst/>
                <a:uLnTx/>
                <a:uFillTx/>
                <a:latin typeface="Manrope"/>
              </a:rPr>
              <a:t>Reduced client cost &amp; overhead in centralizing global data assets</a:t>
            </a:r>
          </a:p>
        </p:txBody>
      </p:sp>
      <p:sp>
        <p:nvSpPr>
          <p:cNvPr id="13" name="Text Placeholder 25">
            <a:extLst>
              <a:ext uri="{FF2B5EF4-FFF2-40B4-BE49-F238E27FC236}">
                <a16:creationId xmlns:a16="http://schemas.microsoft.com/office/drawing/2014/main" id="{1FEEFC0D-C03D-BF9C-E3A8-EC3825E97DB6}"/>
              </a:ext>
            </a:extLst>
          </p:cNvPr>
          <p:cNvSpPr txBox="1">
            <a:spLocks/>
          </p:cNvSpPr>
          <p:nvPr/>
        </p:nvSpPr>
        <p:spPr>
          <a:xfrm>
            <a:off x="4116759" y="5537474"/>
            <a:ext cx="108140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a:ln>
                  <a:noFill/>
                </a:ln>
                <a:solidFill>
                  <a:srgbClr val="3C2CDA"/>
                </a:solidFill>
                <a:effectLst/>
                <a:uLnTx/>
                <a:uFillTx/>
                <a:latin typeface="Manrope Light"/>
              </a:rPr>
              <a:t>50%</a:t>
            </a:r>
          </a:p>
        </p:txBody>
      </p:sp>
      <p:pic>
        <p:nvPicPr>
          <p:cNvPr id="2" name="Picture 1" descr="A close up of a logo&#10;&#10;Description automatically generated">
            <a:extLst>
              <a:ext uri="{FF2B5EF4-FFF2-40B4-BE49-F238E27FC236}">
                <a16:creationId xmlns:a16="http://schemas.microsoft.com/office/drawing/2014/main" id="{1355863D-A206-D880-E4AA-FE348649F76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576901" y="141458"/>
            <a:ext cx="1277547" cy="540642"/>
          </a:xfrm>
          <a:prstGeom prst="rect">
            <a:avLst/>
          </a:prstGeom>
        </p:spPr>
      </p:pic>
    </p:spTree>
    <p:extLst>
      <p:ext uri="{BB962C8B-B14F-4D97-AF65-F5344CB8AC3E}">
        <p14:creationId xmlns:p14="http://schemas.microsoft.com/office/powerpoint/2010/main" val="506422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D2941-BFB4-21BC-E116-B2D0C6671C9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4785795-C64C-DACF-1DC1-204C7A6EF856}"/>
              </a:ext>
            </a:extLst>
          </p:cNvPr>
          <p:cNvSpPr>
            <a:spLocks noGrp="1"/>
          </p:cNvSpPr>
          <p:nvPr>
            <p:ph type="body" sz="quarter" idx="20"/>
          </p:nvPr>
        </p:nvSpPr>
        <p:spPr>
          <a:xfrm>
            <a:off x="623887" y="1247209"/>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pic>
        <p:nvPicPr>
          <p:cNvPr id="35" name="Picture Placeholder 34" descr="A group of people in a lab&#10;&#10;AI-generated content may be incorrect.">
            <a:extLst>
              <a:ext uri="{FF2B5EF4-FFF2-40B4-BE49-F238E27FC236}">
                <a16:creationId xmlns:a16="http://schemas.microsoft.com/office/drawing/2014/main" id="{2F990C08-0E07-AF71-E862-2AFCE40C0E40}"/>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a:fillRect/>
          </a:stretch>
        </p:blipFill>
        <p:spPr/>
      </p:pic>
      <p:sp>
        <p:nvSpPr>
          <p:cNvPr id="45" name="TextBox 44">
            <a:extLst>
              <a:ext uri="{FF2B5EF4-FFF2-40B4-BE49-F238E27FC236}">
                <a16:creationId xmlns:a16="http://schemas.microsoft.com/office/drawing/2014/main" id="{A4CCFEC4-AAF3-12FB-F8D2-6C239701588B}"/>
              </a:ext>
            </a:extLst>
          </p:cNvPr>
          <p:cNvSpPr txBox="1"/>
          <p:nvPr/>
        </p:nvSpPr>
        <p:spPr>
          <a:xfrm>
            <a:off x="530468" y="1553581"/>
            <a:ext cx="5494093" cy="93871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Current enterprise data was in different systems like SAP, Workday and in house application database. Informatica was used as ETL process to facilitate data requirement for internal teams like Finance, MRDW.</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Managing and maintaining such system require more resources and time. Many time data consistency issues between systems caused challenges for many teams</a:t>
            </a:r>
          </a:p>
        </p:txBody>
      </p:sp>
      <p:sp>
        <p:nvSpPr>
          <p:cNvPr id="6" name="Text Placeholder 3">
            <a:extLst>
              <a:ext uri="{FF2B5EF4-FFF2-40B4-BE49-F238E27FC236}">
                <a16:creationId xmlns:a16="http://schemas.microsoft.com/office/drawing/2014/main" id="{723E8BC2-9426-8C24-B01E-57D58B73F241}"/>
              </a:ext>
            </a:extLst>
          </p:cNvPr>
          <p:cNvSpPr txBox="1">
            <a:spLocks/>
          </p:cNvSpPr>
          <p:nvPr/>
        </p:nvSpPr>
        <p:spPr>
          <a:xfrm>
            <a:off x="623887" y="2560941"/>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r>
              <a:rPr kumimoji="0" lang="en-IN" sz="1400" b="0" i="0" u="none" strike="noStrike" kern="1200" cap="none" spc="10" normalizeH="0" baseline="0" noProof="0">
                <a:ln>
                  <a:noFill/>
                </a:ln>
                <a:solidFill>
                  <a:srgbClr val="3C2CDA"/>
                </a:solidFill>
                <a:effectLst/>
                <a:uLnTx/>
                <a:uFillTx/>
                <a:latin typeface="Manrope Medium" pitchFamily="2" charset="0"/>
              </a:rPr>
              <a:t>Solution</a:t>
            </a:r>
          </a:p>
        </p:txBody>
      </p:sp>
      <p:sp>
        <p:nvSpPr>
          <p:cNvPr id="7" name="TextBox 6">
            <a:extLst>
              <a:ext uri="{FF2B5EF4-FFF2-40B4-BE49-F238E27FC236}">
                <a16:creationId xmlns:a16="http://schemas.microsoft.com/office/drawing/2014/main" id="{E680679C-4B75-225B-3F9A-D0DE2B44079A}"/>
              </a:ext>
            </a:extLst>
          </p:cNvPr>
          <p:cNvSpPr txBox="1"/>
          <p:nvPr/>
        </p:nvSpPr>
        <p:spPr>
          <a:xfrm>
            <a:off x="530468" y="2867313"/>
            <a:ext cx="5494093" cy="224676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Hexaware Team worked with IQVIA architecture team to design and develop new Enterprise </a:t>
            </a:r>
            <a:r>
              <a:rPr lang="en-US" sz="1000">
                <a:solidFill>
                  <a:srgbClr val="000000"/>
                </a:solidFill>
                <a:latin typeface="Manrope"/>
              </a:rPr>
              <a:t>C</a:t>
            </a:r>
            <a:r>
              <a:rPr kumimoji="0" lang="en-US" sz="1000" b="0" i="0" u="none" strike="noStrike" kern="1200" cap="none" spc="0" normalizeH="0" baseline="0" noProof="0">
                <a:ln>
                  <a:noFill/>
                </a:ln>
                <a:solidFill>
                  <a:srgbClr val="000000"/>
                </a:solidFill>
                <a:effectLst/>
                <a:uLnTx/>
                <a:uFillTx/>
                <a:latin typeface="Manrope"/>
              </a:rPr>
              <a:t>loud Data platform ( ECDP)</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Data from all sources systems were made available in data lake using replication tool.</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Data lake serve as reporting layer for the application so relieving the respective infrastructure from some of the workload</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Data from date lake is consumed by the ETL process and load common data model which cater most of the reporting need.</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Successful go-live of Workday Data Mart</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err="1">
                <a:ln>
                  <a:noFill/>
                </a:ln>
                <a:solidFill>
                  <a:srgbClr val="000000"/>
                </a:solidFill>
                <a:effectLst/>
                <a:uLnTx/>
                <a:uFillTx/>
                <a:latin typeface="Manrope"/>
              </a:rPr>
              <a:t>Celonis</a:t>
            </a:r>
            <a:r>
              <a:rPr kumimoji="0" lang="en-US" sz="1000" b="0" i="0" u="none" strike="noStrike" kern="1200" cap="none" spc="0" normalizeH="0" baseline="0" noProof="0">
                <a:ln>
                  <a:noFill/>
                </a:ln>
                <a:solidFill>
                  <a:srgbClr val="000000"/>
                </a:solidFill>
                <a:effectLst/>
                <a:uLnTx/>
                <a:uFillTx/>
                <a:latin typeface="Manrope"/>
              </a:rPr>
              <a:t> based procurement/vendor reporting were  migrated to Snowflake and Power Bi successfully..</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Successful migration of ~20+ SAP native reports from SAP to Snowflake (EDP).</a:t>
            </a:r>
          </a:p>
        </p:txBody>
      </p:sp>
      <p:sp>
        <p:nvSpPr>
          <p:cNvPr id="23" name="Text Placeholder 24">
            <a:extLst>
              <a:ext uri="{FF2B5EF4-FFF2-40B4-BE49-F238E27FC236}">
                <a16:creationId xmlns:a16="http://schemas.microsoft.com/office/drawing/2014/main" id="{7E7D07A7-114C-C10A-D7D4-D15B286F3266}"/>
              </a:ext>
            </a:extLst>
          </p:cNvPr>
          <p:cNvSpPr txBox="1">
            <a:spLocks/>
          </p:cNvSpPr>
          <p:nvPr/>
        </p:nvSpPr>
        <p:spPr>
          <a:xfrm>
            <a:off x="623887" y="5730400"/>
            <a:ext cx="1757568" cy="774051"/>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000" b="0" i="0" u="none" strike="noStrike" kern="1200" cap="none" spc="10" normalizeH="0" baseline="0" noProof="0">
                <a:ln>
                  <a:noFill/>
                </a:ln>
                <a:solidFill>
                  <a:schemeClr val="tx1"/>
                </a:solidFill>
                <a:effectLst/>
                <a:uLnTx/>
                <a:uFillTx/>
                <a:latin typeface="Manrope"/>
              </a:rPr>
              <a:t>Reduced client cost &amp; overhead in centralizing global data assets</a:t>
            </a: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IN" sz="1000" b="0" i="0" u="none" strike="noStrike" kern="1200" cap="none" spc="10" normalizeH="0" baseline="0" noProof="0">
              <a:ln>
                <a:noFill/>
              </a:ln>
              <a:solidFill>
                <a:schemeClr val="tx1"/>
              </a:solidFill>
              <a:effectLst/>
              <a:uLnTx/>
              <a:uFillTx/>
              <a:latin typeface="Manrope"/>
            </a:endParaRPr>
          </a:p>
        </p:txBody>
      </p:sp>
      <p:sp>
        <p:nvSpPr>
          <p:cNvPr id="24" name="Text Placeholder 25">
            <a:extLst>
              <a:ext uri="{FF2B5EF4-FFF2-40B4-BE49-F238E27FC236}">
                <a16:creationId xmlns:a16="http://schemas.microsoft.com/office/drawing/2014/main" id="{0429B727-8B29-20D5-CAE5-0ADB25A2A8A3}"/>
              </a:ext>
            </a:extLst>
          </p:cNvPr>
          <p:cNvSpPr txBox="1">
            <a:spLocks/>
          </p:cNvSpPr>
          <p:nvPr/>
        </p:nvSpPr>
        <p:spPr>
          <a:xfrm>
            <a:off x="623887" y="5312733"/>
            <a:ext cx="108140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IN" sz="3000" b="0" i="0" u="none" strike="noStrike" kern="1200" cap="none" spc="0" normalizeH="0" baseline="0" noProof="0">
                <a:ln>
                  <a:noFill/>
                </a:ln>
                <a:solidFill>
                  <a:srgbClr val="3C2CDA"/>
                </a:solidFill>
                <a:effectLst/>
                <a:uLnTx/>
                <a:uFillTx/>
                <a:latin typeface="Manrope Light"/>
              </a:rPr>
              <a:t>50%</a:t>
            </a:r>
          </a:p>
        </p:txBody>
      </p:sp>
      <p:sp>
        <p:nvSpPr>
          <p:cNvPr id="32" name="Text Placeholder 13">
            <a:extLst>
              <a:ext uri="{FF2B5EF4-FFF2-40B4-BE49-F238E27FC236}">
                <a16:creationId xmlns:a16="http://schemas.microsoft.com/office/drawing/2014/main" id="{47336E74-D3BF-0B22-3581-80278F2AC042}"/>
              </a:ext>
            </a:extLst>
          </p:cNvPr>
          <p:cNvSpPr txBox="1">
            <a:spLocks/>
          </p:cNvSpPr>
          <p:nvPr/>
        </p:nvSpPr>
        <p:spPr>
          <a:xfrm flipH="1">
            <a:off x="623887" y="457200"/>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Healthcare Life Sciences</a:t>
            </a:r>
          </a:p>
        </p:txBody>
      </p:sp>
      <p:sp>
        <p:nvSpPr>
          <p:cNvPr id="33" name="TextBox 32">
            <a:extLst>
              <a:ext uri="{FF2B5EF4-FFF2-40B4-BE49-F238E27FC236}">
                <a16:creationId xmlns:a16="http://schemas.microsoft.com/office/drawing/2014/main" id="{F8FAD486-0BAD-FA97-3E97-55DB811939CB}"/>
              </a:ext>
            </a:extLst>
          </p:cNvPr>
          <p:cNvSpPr txBox="1"/>
          <p:nvPr/>
        </p:nvSpPr>
        <p:spPr>
          <a:xfrm>
            <a:off x="530469" y="704309"/>
            <a:ext cx="5494093"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anrope"/>
              </a:rPr>
              <a:t>Case Study: Modernize EDP platform using cloud technologies with Snowflake and DBT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anrope"/>
            </a:endParaRPr>
          </a:p>
        </p:txBody>
      </p:sp>
      <p:pic>
        <p:nvPicPr>
          <p:cNvPr id="2" name="Picture 1" descr="A close up of a logo&#10;&#10;Description automatically generated">
            <a:extLst>
              <a:ext uri="{FF2B5EF4-FFF2-40B4-BE49-F238E27FC236}">
                <a16:creationId xmlns:a16="http://schemas.microsoft.com/office/drawing/2014/main" id="{B3B60BE7-BADD-4B10-E020-86430EC600A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420447" y="154470"/>
            <a:ext cx="1418201" cy="600164"/>
          </a:xfrm>
          <a:prstGeom prst="rect">
            <a:avLst/>
          </a:prstGeom>
        </p:spPr>
      </p:pic>
      <p:sp>
        <p:nvSpPr>
          <p:cNvPr id="3" name="Text Placeholder 24">
            <a:extLst>
              <a:ext uri="{FF2B5EF4-FFF2-40B4-BE49-F238E27FC236}">
                <a16:creationId xmlns:a16="http://schemas.microsoft.com/office/drawing/2014/main" id="{C7EA220F-91E3-29A0-3AA2-2BF76FA01E4A}"/>
              </a:ext>
            </a:extLst>
          </p:cNvPr>
          <p:cNvSpPr txBox="1">
            <a:spLocks/>
          </p:cNvSpPr>
          <p:nvPr/>
        </p:nvSpPr>
        <p:spPr>
          <a:xfrm>
            <a:off x="3342048" y="5777931"/>
            <a:ext cx="1757568" cy="774051"/>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000" b="0" i="0" u="none" strike="noStrike" kern="1200" cap="none" spc="10" normalizeH="0" baseline="0" noProof="0">
                <a:ln>
                  <a:noFill/>
                </a:ln>
                <a:solidFill>
                  <a:schemeClr val="tx1"/>
                </a:solidFill>
                <a:effectLst/>
                <a:uLnTx/>
                <a:uFillTx/>
                <a:latin typeface="Manrope"/>
              </a:rPr>
              <a:t>Increased data refresh rate and </a:t>
            </a:r>
            <a:r>
              <a:rPr lang="en-US">
                <a:solidFill>
                  <a:schemeClr val="tx1"/>
                </a:solidFill>
                <a:latin typeface="Manrope"/>
              </a:rPr>
              <a:t>enhanced user efficiency</a:t>
            </a:r>
            <a:endParaRPr kumimoji="0" lang="en-IN" sz="1000" b="0" i="0" u="none" strike="noStrike" kern="1200" cap="none" spc="10" normalizeH="0" baseline="0" noProof="0">
              <a:ln>
                <a:noFill/>
              </a:ln>
              <a:solidFill>
                <a:schemeClr val="tx1"/>
              </a:solidFill>
              <a:effectLst/>
              <a:uLnTx/>
              <a:uFillTx/>
              <a:latin typeface="Manrope"/>
            </a:endParaRPr>
          </a:p>
        </p:txBody>
      </p:sp>
      <p:sp>
        <p:nvSpPr>
          <p:cNvPr id="5" name="Text Placeholder 25">
            <a:extLst>
              <a:ext uri="{FF2B5EF4-FFF2-40B4-BE49-F238E27FC236}">
                <a16:creationId xmlns:a16="http://schemas.microsoft.com/office/drawing/2014/main" id="{3C2AD1D6-9076-2726-223A-D57363E7382A}"/>
              </a:ext>
            </a:extLst>
          </p:cNvPr>
          <p:cNvSpPr txBox="1">
            <a:spLocks/>
          </p:cNvSpPr>
          <p:nvPr/>
        </p:nvSpPr>
        <p:spPr>
          <a:xfrm>
            <a:off x="3342047" y="5336611"/>
            <a:ext cx="1192995"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lang="en-IN">
                <a:solidFill>
                  <a:srgbClr val="3C2CDA"/>
                </a:solidFill>
                <a:latin typeface="Manrope Light"/>
              </a:rPr>
              <a:t>3</a:t>
            </a:r>
            <a:r>
              <a:rPr kumimoji="0" lang="en-IN" sz="3000" b="0" i="0" u="none" strike="noStrike" kern="1200" cap="none" spc="0" normalizeH="0" baseline="0" noProof="0">
                <a:ln>
                  <a:noFill/>
                </a:ln>
                <a:solidFill>
                  <a:srgbClr val="3C2CDA"/>
                </a:solidFill>
                <a:effectLst/>
                <a:uLnTx/>
                <a:uFillTx/>
                <a:latin typeface="Manrope Light"/>
              </a:rPr>
              <a:t>X</a:t>
            </a:r>
          </a:p>
        </p:txBody>
      </p:sp>
    </p:spTree>
    <p:extLst>
      <p:ext uri="{BB962C8B-B14F-4D97-AF65-F5344CB8AC3E}">
        <p14:creationId xmlns:p14="http://schemas.microsoft.com/office/powerpoint/2010/main" val="3510969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4741F-F3EE-243E-3CC8-4BAB1FBF7944}"/>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F463F4F6-4D95-0F2D-4D23-C6B53AEA79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
        <p:nvSpPr>
          <p:cNvPr id="7" name="Text Placeholder 3">
            <a:extLst>
              <a:ext uri="{FF2B5EF4-FFF2-40B4-BE49-F238E27FC236}">
                <a16:creationId xmlns:a16="http://schemas.microsoft.com/office/drawing/2014/main" id="{B28796A0-1B9D-AD28-43CB-51C95D50F522}"/>
              </a:ext>
            </a:extLst>
          </p:cNvPr>
          <p:cNvSpPr txBox="1">
            <a:spLocks/>
          </p:cNvSpPr>
          <p:nvPr/>
        </p:nvSpPr>
        <p:spPr>
          <a:xfrm flipH="1">
            <a:off x="238279" y="405883"/>
            <a:ext cx="8172450" cy="244101"/>
          </a:xfrm>
          <a:prstGeom prst="rect">
            <a:avLst/>
          </a:prstGeom>
        </p:spPr>
        <p:txBody>
          <a:bodyPr wrap="square" lIns="0" tIns="36000" rIns="0" bIns="0" anchor="t" anchorCtr="0">
            <a:spAutoFit/>
          </a:bodyPr>
          <a:lstStyle>
            <a:defPPr>
              <a:defRPr lang="en-US"/>
            </a:defPPr>
            <a:lvl1pPr indent="0">
              <a:lnSpc>
                <a:spcPct val="90000"/>
              </a:lnSpc>
              <a:spcBef>
                <a:spcPts val="1000"/>
              </a:spcBef>
              <a:buClr>
                <a:schemeClr val="accent1"/>
              </a:buClr>
              <a:buFont typeface="Arial" panose="020B0604020202020204" pitchFamily="34" charset="0"/>
              <a:buNone/>
              <a:defRPr kumimoji="0" sz="1500" b="0" i="0" u="none" strike="noStrike" cap="none" spc="0" normalizeH="0" baseline="0">
                <a:ln>
                  <a:noFill/>
                </a:ln>
                <a:solidFill>
                  <a:srgbClr val="000000"/>
                </a:solidFill>
                <a:effectLst/>
                <a:uLnTx/>
                <a:uFillTx/>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FMI- Hexaware Snowflake Journey</a:t>
            </a:r>
          </a:p>
        </p:txBody>
      </p:sp>
      <p:cxnSp>
        <p:nvCxnSpPr>
          <p:cNvPr id="14" name="Straight Connector 13">
            <a:extLst>
              <a:ext uri="{FF2B5EF4-FFF2-40B4-BE49-F238E27FC236}">
                <a16:creationId xmlns:a16="http://schemas.microsoft.com/office/drawing/2014/main" id="{B85F9C17-40EA-22CF-51BB-C88ED43F55CC}"/>
              </a:ext>
            </a:extLst>
          </p:cNvPr>
          <p:cNvCxnSpPr>
            <a:cxnSpLocks/>
          </p:cNvCxnSpPr>
          <p:nvPr/>
        </p:nvCxnSpPr>
        <p:spPr>
          <a:xfrm flipV="1">
            <a:off x="3095784" y="1330226"/>
            <a:ext cx="0" cy="73152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33111C2-3F65-4C0E-E48B-88A01B2F8149}"/>
              </a:ext>
            </a:extLst>
          </p:cNvPr>
          <p:cNvSpPr/>
          <p:nvPr/>
        </p:nvSpPr>
        <p:spPr>
          <a:xfrm>
            <a:off x="2311833" y="933133"/>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Migration from Teradata to Snowflake</a:t>
            </a:r>
          </a:p>
        </p:txBody>
      </p:sp>
      <p:cxnSp>
        <p:nvCxnSpPr>
          <p:cNvPr id="9" name="Straight Connector 8">
            <a:extLst>
              <a:ext uri="{FF2B5EF4-FFF2-40B4-BE49-F238E27FC236}">
                <a16:creationId xmlns:a16="http://schemas.microsoft.com/office/drawing/2014/main" id="{12097355-2173-348A-48B2-8E68A22307CD}"/>
              </a:ext>
            </a:extLst>
          </p:cNvPr>
          <p:cNvCxnSpPr>
            <a:cxnSpLocks/>
          </p:cNvCxnSpPr>
          <p:nvPr/>
        </p:nvCxnSpPr>
        <p:spPr>
          <a:xfrm flipV="1">
            <a:off x="4945158" y="1331320"/>
            <a:ext cx="0" cy="73152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B69A67F-3EDD-E8EF-072A-A0E6992FE2DC}"/>
              </a:ext>
            </a:extLst>
          </p:cNvPr>
          <p:cNvCxnSpPr>
            <a:cxnSpLocks/>
          </p:cNvCxnSpPr>
          <p:nvPr/>
        </p:nvCxnSpPr>
        <p:spPr>
          <a:xfrm flipV="1">
            <a:off x="6794012" y="1339338"/>
            <a:ext cx="0" cy="73152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D4ACE0D-45B3-5608-8C97-B247F98F9142}"/>
              </a:ext>
            </a:extLst>
          </p:cNvPr>
          <p:cNvCxnSpPr>
            <a:cxnSpLocks/>
          </p:cNvCxnSpPr>
          <p:nvPr/>
        </p:nvCxnSpPr>
        <p:spPr>
          <a:xfrm flipV="1">
            <a:off x="8630831" y="1335323"/>
            <a:ext cx="0" cy="73152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592322E-05B2-C98B-1C55-046A5B9D258B}"/>
              </a:ext>
            </a:extLst>
          </p:cNvPr>
          <p:cNvCxnSpPr>
            <a:cxnSpLocks/>
          </p:cNvCxnSpPr>
          <p:nvPr/>
        </p:nvCxnSpPr>
        <p:spPr>
          <a:xfrm flipV="1">
            <a:off x="10479681" y="1331309"/>
            <a:ext cx="0" cy="73152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66BEAE9D-8D3C-B0E8-23AD-69B85821D99F}"/>
              </a:ext>
            </a:extLst>
          </p:cNvPr>
          <p:cNvSpPr/>
          <p:nvPr/>
        </p:nvSpPr>
        <p:spPr>
          <a:xfrm>
            <a:off x="9608732" y="933133"/>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Event Driven Architecture </a:t>
            </a:r>
          </a:p>
        </p:txBody>
      </p:sp>
      <p:pic>
        <p:nvPicPr>
          <p:cNvPr id="74" name="Picture 73" descr="A logo with a black background&#10;&#10;Description automatically generated">
            <a:extLst>
              <a:ext uri="{FF2B5EF4-FFF2-40B4-BE49-F238E27FC236}">
                <a16:creationId xmlns:a16="http://schemas.microsoft.com/office/drawing/2014/main" id="{254D9877-C06A-C474-E1C2-FC18107AE8A7}"/>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915689" y="5751889"/>
            <a:ext cx="863619" cy="409900"/>
          </a:xfrm>
          <a:prstGeom prst="rect">
            <a:avLst/>
          </a:prstGeom>
        </p:spPr>
      </p:pic>
      <p:pic>
        <p:nvPicPr>
          <p:cNvPr id="75" name="Picture 74" descr="A blue text on a white background&#10;&#10;Description automatically generated">
            <a:extLst>
              <a:ext uri="{FF2B5EF4-FFF2-40B4-BE49-F238E27FC236}">
                <a16:creationId xmlns:a16="http://schemas.microsoft.com/office/drawing/2014/main" id="{872589FF-8F97-9B14-CD4A-F682BA9E46A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889866" y="5737641"/>
            <a:ext cx="1247246" cy="438397"/>
          </a:xfrm>
          <a:prstGeom prst="rect">
            <a:avLst/>
          </a:prstGeom>
        </p:spPr>
      </p:pic>
      <p:pic>
        <p:nvPicPr>
          <p:cNvPr id="76" name="Picture 75" descr="A blue and black logo&#10;&#10;Description automatically generated">
            <a:extLst>
              <a:ext uri="{FF2B5EF4-FFF2-40B4-BE49-F238E27FC236}">
                <a16:creationId xmlns:a16="http://schemas.microsoft.com/office/drawing/2014/main" id="{34C8F92B-2AFD-0525-935A-739811FD46C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247670" y="5874262"/>
            <a:ext cx="836226" cy="165154"/>
          </a:xfrm>
          <a:prstGeom prst="rect">
            <a:avLst/>
          </a:prstGeom>
        </p:spPr>
      </p:pic>
      <p:pic>
        <p:nvPicPr>
          <p:cNvPr id="77" name="Picture 76" descr="A black and grey text&#10;&#10;Description automatically generated">
            <a:extLst>
              <a:ext uri="{FF2B5EF4-FFF2-40B4-BE49-F238E27FC236}">
                <a16:creationId xmlns:a16="http://schemas.microsoft.com/office/drawing/2014/main" id="{5D5BFC26-AA87-B833-133F-83E132932ED4}"/>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375757" y="5810971"/>
            <a:ext cx="984419" cy="291737"/>
          </a:xfrm>
          <a:prstGeom prst="rect">
            <a:avLst/>
          </a:prstGeom>
        </p:spPr>
      </p:pic>
      <p:pic>
        <p:nvPicPr>
          <p:cNvPr id="78" name="Picture 77">
            <a:extLst>
              <a:ext uri="{FF2B5EF4-FFF2-40B4-BE49-F238E27FC236}">
                <a16:creationId xmlns:a16="http://schemas.microsoft.com/office/drawing/2014/main" id="{50B2B5BD-EDFA-4C76-FDFB-066E241DB90B}"/>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502429" y="5646028"/>
            <a:ext cx="675123" cy="621623"/>
          </a:xfrm>
          <a:prstGeom prst="rect">
            <a:avLst/>
          </a:prstGeom>
        </p:spPr>
      </p:pic>
      <p:pic>
        <p:nvPicPr>
          <p:cNvPr id="79" name="Picture 78" descr="A blue and grey logo&#10;&#10;Description automatically generated">
            <a:extLst>
              <a:ext uri="{FF2B5EF4-FFF2-40B4-BE49-F238E27FC236}">
                <a16:creationId xmlns:a16="http://schemas.microsoft.com/office/drawing/2014/main" id="{3DAA3182-70FA-E3D7-DC07-4AE8EE897847}"/>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499052" y="5816882"/>
            <a:ext cx="361181" cy="279915"/>
          </a:xfrm>
          <a:prstGeom prst="rect">
            <a:avLst/>
          </a:prstGeom>
        </p:spPr>
      </p:pic>
      <p:pic>
        <p:nvPicPr>
          <p:cNvPr id="80" name="Picture 79">
            <a:extLst>
              <a:ext uri="{FF2B5EF4-FFF2-40B4-BE49-F238E27FC236}">
                <a16:creationId xmlns:a16="http://schemas.microsoft.com/office/drawing/2014/main" id="{159B6B49-A92D-F294-4EDE-FB78B5C95619}"/>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204632" y="5678324"/>
            <a:ext cx="520861" cy="557031"/>
          </a:xfrm>
          <a:prstGeom prst="rect">
            <a:avLst/>
          </a:prstGeom>
        </p:spPr>
      </p:pic>
      <p:pic>
        <p:nvPicPr>
          <p:cNvPr id="81" name="Graphic 80">
            <a:extLst>
              <a:ext uri="{FF2B5EF4-FFF2-40B4-BE49-F238E27FC236}">
                <a16:creationId xmlns:a16="http://schemas.microsoft.com/office/drawing/2014/main" id="{F2609548-BCE3-C95C-D719-CC066FE2342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01727" y="5848475"/>
            <a:ext cx="566149" cy="216729"/>
          </a:xfrm>
          <a:prstGeom prst="rect">
            <a:avLst/>
          </a:prstGeom>
        </p:spPr>
      </p:pic>
      <p:pic>
        <p:nvPicPr>
          <p:cNvPr id="83" name="Picture 82" descr="A yellow rectangular objects on a black background&#10;&#10;Description automatically generated">
            <a:extLst>
              <a:ext uri="{FF2B5EF4-FFF2-40B4-BE49-F238E27FC236}">
                <a16:creationId xmlns:a16="http://schemas.microsoft.com/office/drawing/2014/main" id="{5A7EA46A-6711-F902-1985-A525F530FF80}"/>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778354" y="5726910"/>
            <a:ext cx="400846" cy="459859"/>
          </a:xfrm>
          <a:prstGeom prst="rect">
            <a:avLst/>
          </a:prstGeom>
        </p:spPr>
      </p:pic>
      <p:pic>
        <p:nvPicPr>
          <p:cNvPr id="84" name="Picture 83" descr="A blue and black sign with black text&#10;&#10;Description automatically generated">
            <a:extLst>
              <a:ext uri="{FF2B5EF4-FFF2-40B4-BE49-F238E27FC236}">
                <a16:creationId xmlns:a16="http://schemas.microsoft.com/office/drawing/2014/main" id="{8819DD74-67B7-BF64-5450-F7C4D7674E16}"/>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0381359" y="5726037"/>
            <a:ext cx="690059" cy="461604"/>
          </a:xfrm>
          <a:prstGeom prst="rect">
            <a:avLst/>
          </a:prstGeom>
        </p:spPr>
      </p:pic>
      <p:pic>
        <p:nvPicPr>
          <p:cNvPr id="85" name="Picture 84">
            <a:extLst>
              <a:ext uri="{FF2B5EF4-FFF2-40B4-BE49-F238E27FC236}">
                <a16:creationId xmlns:a16="http://schemas.microsoft.com/office/drawing/2014/main" id="{1221E3A3-07E3-DF29-5E7A-E7BD701940D0}"/>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11429754" y="5762624"/>
            <a:ext cx="475147" cy="388431"/>
          </a:xfrm>
          <a:prstGeom prst="rect">
            <a:avLst/>
          </a:prstGeom>
        </p:spPr>
      </p:pic>
      <p:pic>
        <p:nvPicPr>
          <p:cNvPr id="1026" name="Picture 2" descr="Azure has a new logo, but where do you download it? Here!">
            <a:extLst>
              <a:ext uri="{FF2B5EF4-FFF2-40B4-BE49-F238E27FC236}">
                <a16:creationId xmlns:a16="http://schemas.microsoft.com/office/drawing/2014/main" id="{E4EF343B-E0AE-DE57-362F-024A42EFDD46}"/>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238279" y="5739177"/>
            <a:ext cx="469083" cy="469083"/>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90" descr="A close up of a logo&#10;&#10;Description automatically generated">
            <a:extLst>
              <a:ext uri="{FF2B5EF4-FFF2-40B4-BE49-F238E27FC236}">
                <a16:creationId xmlns:a16="http://schemas.microsoft.com/office/drawing/2014/main" id="{B90560E0-DF7B-730E-AC68-5BAFD89D8D10}"/>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8712314" y="186937"/>
            <a:ext cx="1656448" cy="457773"/>
          </a:xfrm>
          <a:prstGeom prst="rect">
            <a:avLst/>
          </a:prstGeom>
        </p:spPr>
      </p:pic>
      <p:sp>
        <p:nvSpPr>
          <p:cNvPr id="10" name="Rectangle 9">
            <a:extLst>
              <a:ext uri="{FF2B5EF4-FFF2-40B4-BE49-F238E27FC236}">
                <a16:creationId xmlns:a16="http://schemas.microsoft.com/office/drawing/2014/main" id="{250760E1-758B-5BF1-8EDF-8F3C30051E84}"/>
              </a:ext>
            </a:extLst>
          </p:cNvPr>
          <p:cNvSpPr/>
          <p:nvPr/>
        </p:nvSpPr>
        <p:spPr>
          <a:xfrm>
            <a:off x="5968197" y="933133"/>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Migration from S/4 Hana to Snowflake </a:t>
            </a:r>
          </a:p>
        </p:txBody>
      </p:sp>
      <p:sp>
        <p:nvSpPr>
          <p:cNvPr id="12" name="Rectangle 11">
            <a:extLst>
              <a:ext uri="{FF2B5EF4-FFF2-40B4-BE49-F238E27FC236}">
                <a16:creationId xmlns:a16="http://schemas.microsoft.com/office/drawing/2014/main" id="{912B79D1-0191-2E09-F98F-CC91FE2DE07F}"/>
              </a:ext>
            </a:extLst>
          </p:cNvPr>
          <p:cNvSpPr/>
          <p:nvPr/>
        </p:nvSpPr>
        <p:spPr>
          <a:xfrm>
            <a:off x="7735910" y="933133"/>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Fleet Management</a:t>
            </a:r>
          </a:p>
        </p:txBody>
      </p:sp>
      <p:sp>
        <p:nvSpPr>
          <p:cNvPr id="17" name="Rectangle 16">
            <a:extLst>
              <a:ext uri="{FF2B5EF4-FFF2-40B4-BE49-F238E27FC236}">
                <a16:creationId xmlns:a16="http://schemas.microsoft.com/office/drawing/2014/main" id="{6F323299-15B9-D597-5FED-19F77EFD1408}"/>
              </a:ext>
            </a:extLst>
          </p:cNvPr>
          <p:cNvSpPr/>
          <p:nvPr/>
        </p:nvSpPr>
        <p:spPr>
          <a:xfrm>
            <a:off x="4138912" y="933133"/>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Leach Analytics</a:t>
            </a:r>
          </a:p>
        </p:txBody>
      </p:sp>
      <p:pic>
        <p:nvPicPr>
          <p:cNvPr id="28" name="Picture 27" descr="A blue and black text&#10;&#10;AI-generated content may be incorrect.">
            <a:extLst>
              <a:ext uri="{FF2B5EF4-FFF2-40B4-BE49-F238E27FC236}">
                <a16:creationId xmlns:a16="http://schemas.microsoft.com/office/drawing/2014/main" id="{581C1E96-5F81-F8E5-0743-4B17EF2A1DBA}"/>
              </a:ext>
            </a:extLst>
          </p:cNvPr>
          <p:cNvPicPr>
            <a:picLocks noChangeAspect="1"/>
          </p:cNvPicPr>
          <p:nvPr/>
        </p:nvPicPr>
        <p:blipFill>
          <a:blip r:embed="rId17" cstate="email">
            <a:extLst>
              <a:ext uri="{28A0092B-C50C-407E-A947-70E740481C1C}">
                <a14:useLocalDpi xmlns:a14="http://schemas.microsoft.com/office/drawing/2010/main"/>
              </a:ext>
            </a:extLst>
          </a:blip>
          <a:srcRect/>
          <a:stretch/>
        </p:blipFill>
        <p:spPr>
          <a:xfrm>
            <a:off x="2848936" y="1437089"/>
            <a:ext cx="518808" cy="500784"/>
          </a:xfrm>
          <a:prstGeom prst="rect">
            <a:avLst/>
          </a:prstGeom>
        </p:spPr>
      </p:pic>
      <p:sp>
        <p:nvSpPr>
          <p:cNvPr id="34" name="Rectangle 33">
            <a:extLst>
              <a:ext uri="{FF2B5EF4-FFF2-40B4-BE49-F238E27FC236}">
                <a16:creationId xmlns:a16="http://schemas.microsoft.com/office/drawing/2014/main" id="{7EC9B1AD-A4B6-35E7-D4EC-CCA59C4882B2}"/>
              </a:ext>
            </a:extLst>
          </p:cNvPr>
          <p:cNvSpPr/>
          <p:nvPr/>
        </p:nvSpPr>
        <p:spPr>
          <a:xfrm>
            <a:off x="289971" y="933133"/>
            <a:ext cx="1706159"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w="0"/>
                <a:solidFill>
                  <a:srgbClr val="FFFFFF"/>
                </a:solidFill>
                <a:effectLst>
                  <a:outerShdw blurRad="38100" dist="19050" dir="2700000" algn="tl" rotWithShape="0">
                    <a:srgbClr val="000000">
                      <a:alpha val="40000"/>
                    </a:srgbClr>
                  </a:outerShdw>
                </a:effectLst>
                <a:uLnTx/>
                <a:uFillTx/>
                <a:latin typeface="Manrope"/>
                <a:cs typeface="Mongolian Baiti" panose="03000500000000000000" pitchFamily="66" charset="0"/>
              </a:rPr>
              <a:t>Started as BI Support in 2006 </a:t>
            </a:r>
          </a:p>
        </p:txBody>
      </p:sp>
      <p:cxnSp>
        <p:nvCxnSpPr>
          <p:cNvPr id="36" name="Straight Connector 35">
            <a:extLst>
              <a:ext uri="{FF2B5EF4-FFF2-40B4-BE49-F238E27FC236}">
                <a16:creationId xmlns:a16="http://schemas.microsoft.com/office/drawing/2014/main" id="{F54B9A29-5A53-FDBF-12C0-9613BEC63FAB}"/>
              </a:ext>
            </a:extLst>
          </p:cNvPr>
          <p:cNvCxnSpPr>
            <a:cxnSpLocks/>
          </p:cNvCxnSpPr>
          <p:nvPr/>
        </p:nvCxnSpPr>
        <p:spPr>
          <a:xfrm flipV="1">
            <a:off x="1111530" y="1309828"/>
            <a:ext cx="0" cy="731520"/>
          </a:xfrm>
          <a:prstGeom prst="line">
            <a:avLst/>
          </a:prstGeom>
          <a:ln w="1905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8A9D8-AE02-7AE8-D9EB-55A5A318B7F3}"/>
              </a:ext>
            </a:extLst>
          </p:cNvPr>
          <p:cNvCxnSpPr>
            <a:cxnSpLocks/>
          </p:cNvCxnSpPr>
          <p:nvPr/>
        </p:nvCxnSpPr>
        <p:spPr>
          <a:xfrm flipV="1">
            <a:off x="472820" y="2026394"/>
            <a:ext cx="11155680" cy="0"/>
          </a:xfrm>
          <a:prstGeom prst="line">
            <a:avLst/>
          </a:prstGeom>
          <a:ln w="19050">
            <a:solidFill>
              <a:schemeClr val="bg1">
                <a:lumMod val="50000"/>
              </a:schemeClr>
            </a:solidFill>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5ACE8578-6E98-3264-1DC3-A559526F34EA}"/>
              </a:ext>
            </a:extLst>
          </p:cNvPr>
          <p:cNvSpPr/>
          <p:nvPr/>
        </p:nvSpPr>
        <p:spPr bwMode="auto">
          <a:xfrm>
            <a:off x="3019030" y="1956540"/>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43" name="Oval 42">
            <a:extLst>
              <a:ext uri="{FF2B5EF4-FFF2-40B4-BE49-F238E27FC236}">
                <a16:creationId xmlns:a16="http://schemas.microsoft.com/office/drawing/2014/main" id="{F8B5F2F0-C650-89A9-D518-80B706B3881F}"/>
              </a:ext>
            </a:extLst>
          </p:cNvPr>
          <p:cNvSpPr/>
          <p:nvPr/>
        </p:nvSpPr>
        <p:spPr bwMode="auto">
          <a:xfrm>
            <a:off x="4863995" y="1957514"/>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49" name="Oval 48">
            <a:extLst>
              <a:ext uri="{FF2B5EF4-FFF2-40B4-BE49-F238E27FC236}">
                <a16:creationId xmlns:a16="http://schemas.microsoft.com/office/drawing/2014/main" id="{85EC0258-C6A6-4B82-7763-F22330DF4F17}"/>
              </a:ext>
            </a:extLst>
          </p:cNvPr>
          <p:cNvSpPr/>
          <p:nvPr/>
        </p:nvSpPr>
        <p:spPr bwMode="auto">
          <a:xfrm>
            <a:off x="8553927" y="1957513"/>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55" name="Oval 54">
            <a:extLst>
              <a:ext uri="{FF2B5EF4-FFF2-40B4-BE49-F238E27FC236}">
                <a16:creationId xmlns:a16="http://schemas.microsoft.com/office/drawing/2014/main" id="{B6EF4A07-BC1A-6F1C-94F1-45D230085F6C}"/>
              </a:ext>
            </a:extLst>
          </p:cNvPr>
          <p:cNvSpPr/>
          <p:nvPr/>
        </p:nvSpPr>
        <p:spPr bwMode="auto">
          <a:xfrm>
            <a:off x="10398894" y="1956540"/>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69" name="Oval 68">
            <a:extLst>
              <a:ext uri="{FF2B5EF4-FFF2-40B4-BE49-F238E27FC236}">
                <a16:creationId xmlns:a16="http://schemas.microsoft.com/office/drawing/2014/main" id="{3A74BCB3-9BC4-4AF7-81D6-F1D7EE21AB54}"/>
              </a:ext>
            </a:extLst>
          </p:cNvPr>
          <p:cNvSpPr/>
          <p:nvPr/>
        </p:nvSpPr>
        <p:spPr bwMode="auto">
          <a:xfrm>
            <a:off x="6708962" y="1956540"/>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44" name="TextBox 43">
            <a:extLst>
              <a:ext uri="{FF2B5EF4-FFF2-40B4-BE49-F238E27FC236}">
                <a16:creationId xmlns:a16="http://schemas.microsoft.com/office/drawing/2014/main" id="{9570488D-5354-0D97-8A29-2A8E7E6A71F1}"/>
              </a:ext>
            </a:extLst>
          </p:cNvPr>
          <p:cNvSpPr txBox="1"/>
          <p:nvPr/>
        </p:nvSpPr>
        <p:spPr>
          <a:xfrm flipH="1">
            <a:off x="2159404" y="2835528"/>
            <a:ext cx="1886243" cy="1769715"/>
          </a:xfrm>
          <a:prstGeom prst="rect">
            <a:avLst/>
          </a:prstGeom>
          <a:noFill/>
        </p:spPr>
        <p:txBody>
          <a:bodyPr wrap="square" lIns="0" tIns="0" rIns="0" bIns="0" anchor="ctr">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Migration from Teradata and Hadoop to Snowflake database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Leveraged Amaze® for Snowflake  platform for automated assessment, conversion and validation for during transformation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50% Lesser TCO due to increase in automation</a:t>
            </a:r>
          </a:p>
        </p:txBody>
      </p:sp>
      <p:sp>
        <p:nvSpPr>
          <p:cNvPr id="54" name="TextBox 53">
            <a:extLst>
              <a:ext uri="{FF2B5EF4-FFF2-40B4-BE49-F238E27FC236}">
                <a16:creationId xmlns:a16="http://schemas.microsoft.com/office/drawing/2014/main" id="{1BF7505D-B943-821A-C3B3-EA2413C0FBEA}"/>
              </a:ext>
            </a:extLst>
          </p:cNvPr>
          <p:cNvSpPr txBox="1"/>
          <p:nvPr/>
        </p:nvSpPr>
        <p:spPr>
          <a:xfrm flipH="1">
            <a:off x="9810254" y="2835528"/>
            <a:ext cx="2152969" cy="1685077"/>
          </a:xfrm>
          <a:prstGeom prst="rect">
            <a:avLst/>
          </a:prstGeom>
          <a:noFill/>
        </p:spPr>
        <p:txBody>
          <a:bodyPr wrap="square" lIns="0" tIns="0" rIns="0" bIns="0" anchor="ctr">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Implemented strategy and solution for efficiently automated, event-driven data workflows from SQL Server source databases to Snowflake target databases.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 Reduced Data Refresh Rate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endParaRPr>
          </a:p>
        </p:txBody>
      </p:sp>
      <p:sp>
        <p:nvSpPr>
          <p:cNvPr id="4" name="TextBox 3">
            <a:extLst>
              <a:ext uri="{FF2B5EF4-FFF2-40B4-BE49-F238E27FC236}">
                <a16:creationId xmlns:a16="http://schemas.microsoft.com/office/drawing/2014/main" id="{814AEC0D-BB20-424E-205D-53F1206FC5FC}"/>
              </a:ext>
            </a:extLst>
          </p:cNvPr>
          <p:cNvSpPr txBox="1"/>
          <p:nvPr/>
        </p:nvSpPr>
        <p:spPr>
          <a:xfrm flipH="1">
            <a:off x="2739328" y="2617876"/>
            <a:ext cx="744419"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2019</a:t>
            </a:r>
          </a:p>
        </p:txBody>
      </p:sp>
      <p:sp>
        <p:nvSpPr>
          <p:cNvPr id="47" name="TextBox 46">
            <a:extLst>
              <a:ext uri="{FF2B5EF4-FFF2-40B4-BE49-F238E27FC236}">
                <a16:creationId xmlns:a16="http://schemas.microsoft.com/office/drawing/2014/main" id="{B087F6BB-CD6E-C113-485B-7E06098F0665}"/>
              </a:ext>
            </a:extLst>
          </p:cNvPr>
          <p:cNvSpPr txBox="1"/>
          <p:nvPr/>
        </p:nvSpPr>
        <p:spPr>
          <a:xfrm flipH="1">
            <a:off x="5827692" y="2835528"/>
            <a:ext cx="1886241" cy="2169825"/>
          </a:xfrm>
          <a:prstGeom prst="rect">
            <a:avLst/>
          </a:prstGeom>
          <a:noFill/>
        </p:spPr>
        <p:txBody>
          <a:bodyPr wrap="square" lIns="0" tIns="0" rIns="0" bIns="0" anchor="ctr">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Migration from S/4 Hana to Snowflake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Enhancement in the staging, data warehouse and consumption layer objects to accommodate data model changes necessitated due to S4 HANA data structure.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50% Lesser TCO due to increase in automation</a:t>
            </a: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p:txBody>
      </p:sp>
      <p:sp>
        <p:nvSpPr>
          <p:cNvPr id="5" name="TextBox 4">
            <a:extLst>
              <a:ext uri="{FF2B5EF4-FFF2-40B4-BE49-F238E27FC236}">
                <a16:creationId xmlns:a16="http://schemas.microsoft.com/office/drawing/2014/main" id="{111DA661-F3E0-8E6D-46A9-712998B94429}"/>
              </a:ext>
            </a:extLst>
          </p:cNvPr>
          <p:cNvSpPr txBox="1"/>
          <p:nvPr/>
        </p:nvSpPr>
        <p:spPr>
          <a:xfrm flipH="1">
            <a:off x="6324347" y="2617876"/>
            <a:ext cx="744419"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2023</a:t>
            </a:r>
          </a:p>
        </p:txBody>
      </p:sp>
      <p:sp>
        <p:nvSpPr>
          <p:cNvPr id="48" name="TextBox 47">
            <a:extLst>
              <a:ext uri="{FF2B5EF4-FFF2-40B4-BE49-F238E27FC236}">
                <a16:creationId xmlns:a16="http://schemas.microsoft.com/office/drawing/2014/main" id="{B436E9A5-ACA7-E234-FE50-D7AF2979E2C7}"/>
              </a:ext>
            </a:extLst>
          </p:cNvPr>
          <p:cNvSpPr txBox="1"/>
          <p:nvPr/>
        </p:nvSpPr>
        <p:spPr>
          <a:xfrm flipH="1">
            <a:off x="7953749" y="2835528"/>
            <a:ext cx="1488320" cy="1369606"/>
          </a:xfrm>
          <a:prstGeom prst="rect">
            <a:avLst/>
          </a:prstGeom>
          <a:noFill/>
        </p:spPr>
        <p:txBody>
          <a:bodyPr wrap="square" lIns="0" tIns="0" rIns="0" bIns="0" anchor="ctr">
            <a:spAutoFit/>
          </a:bodyPr>
          <a:lstStyle>
            <a:defPPr>
              <a:defRPr lang="en-US"/>
            </a:defPPr>
            <a:lvl1pPr marL="171450" marR="0" lvl="0" indent="-171450" fontAlgn="auto">
              <a:lnSpc>
                <a:spcPct val="100000"/>
              </a:lnSpc>
              <a:spcBef>
                <a:spcPts val="0"/>
              </a:spcBef>
              <a:spcAft>
                <a:spcPts val="600"/>
              </a:spcAft>
              <a:buClrTx/>
              <a:buSzTx/>
              <a:buFont typeface="Arial" panose="020B0604020202020204" pitchFamily="34" charset="0"/>
              <a:buChar char="•"/>
              <a:tabLst/>
              <a:defRPr sz="1200" spc="10">
                <a:solidFill>
                  <a:srgbClr val="000000"/>
                </a:solidFill>
                <a:latin typeface="Manrope"/>
                <a:cs typeface="Mongolian Baiti" panose="03000500000000000000" pitchFamily="66" charset="0"/>
              </a:defRPr>
            </a:lvl1p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Data Integration from New Fleet Management Solution CAT to Snowflake for real time analytical use cases.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endParaRPr>
          </a:p>
        </p:txBody>
      </p:sp>
      <p:sp>
        <p:nvSpPr>
          <p:cNvPr id="8" name="TextBox 7">
            <a:extLst>
              <a:ext uri="{FF2B5EF4-FFF2-40B4-BE49-F238E27FC236}">
                <a16:creationId xmlns:a16="http://schemas.microsoft.com/office/drawing/2014/main" id="{AFA01ECC-ED7E-A613-B13C-ECE2BDAA034A}"/>
              </a:ext>
            </a:extLst>
          </p:cNvPr>
          <p:cNvSpPr txBox="1"/>
          <p:nvPr/>
        </p:nvSpPr>
        <p:spPr>
          <a:xfrm flipH="1">
            <a:off x="8300977" y="2617876"/>
            <a:ext cx="744419"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2023</a:t>
            </a:r>
          </a:p>
        </p:txBody>
      </p:sp>
      <p:sp>
        <p:nvSpPr>
          <p:cNvPr id="50" name="TextBox 49">
            <a:extLst>
              <a:ext uri="{FF2B5EF4-FFF2-40B4-BE49-F238E27FC236}">
                <a16:creationId xmlns:a16="http://schemas.microsoft.com/office/drawing/2014/main" id="{66D2058E-5443-8802-1009-C65B1B2BD0ED}"/>
              </a:ext>
            </a:extLst>
          </p:cNvPr>
          <p:cNvSpPr txBox="1"/>
          <p:nvPr/>
        </p:nvSpPr>
        <p:spPr>
          <a:xfrm flipH="1">
            <a:off x="4052277" y="2835528"/>
            <a:ext cx="1942201" cy="1769715"/>
          </a:xfrm>
          <a:prstGeom prst="rect">
            <a:avLst/>
          </a:prstGeom>
          <a:noFill/>
        </p:spPr>
        <p:txBody>
          <a:bodyPr wrap="square" lIns="0" tIns="0" rIns="0" bIns="0" anchor="ctr">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Enhanced operational efficiency through advanced analytics to boost copper production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Utilized technology to access untapped copper resources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1" i="0" u="none" strike="noStrike" kern="1200" cap="none" spc="10" normalizeH="0" baseline="0" noProof="0">
                <a:ln>
                  <a:noFill/>
                </a:ln>
                <a:solidFill>
                  <a:srgbClr val="000000"/>
                </a:solidFill>
                <a:effectLst/>
                <a:uLnTx/>
                <a:uFillTx/>
                <a:latin typeface="Manrope"/>
                <a:cs typeface="Mongolian Baiti" panose="03000500000000000000" pitchFamily="66" charset="0"/>
              </a:rPr>
              <a:t>200M increase in pounds in annual Copper production</a:t>
            </a:r>
          </a:p>
        </p:txBody>
      </p:sp>
      <p:sp>
        <p:nvSpPr>
          <p:cNvPr id="15" name="TextBox 14">
            <a:extLst>
              <a:ext uri="{FF2B5EF4-FFF2-40B4-BE49-F238E27FC236}">
                <a16:creationId xmlns:a16="http://schemas.microsoft.com/office/drawing/2014/main" id="{4AB48805-3FB6-6ADC-8A80-6B732B7A694F}"/>
              </a:ext>
            </a:extLst>
          </p:cNvPr>
          <p:cNvSpPr txBox="1"/>
          <p:nvPr/>
        </p:nvSpPr>
        <p:spPr>
          <a:xfrm flipH="1">
            <a:off x="4592953" y="2617876"/>
            <a:ext cx="744419"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2020</a:t>
            </a:r>
          </a:p>
        </p:txBody>
      </p:sp>
      <p:sp>
        <p:nvSpPr>
          <p:cNvPr id="18" name="TextBox 17">
            <a:extLst>
              <a:ext uri="{FF2B5EF4-FFF2-40B4-BE49-F238E27FC236}">
                <a16:creationId xmlns:a16="http://schemas.microsoft.com/office/drawing/2014/main" id="{BFD5C0F3-55A0-8D12-CE29-1B194309AADF}"/>
              </a:ext>
            </a:extLst>
          </p:cNvPr>
          <p:cNvSpPr txBox="1"/>
          <p:nvPr/>
        </p:nvSpPr>
        <p:spPr>
          <a:xfrm flipH="1">
            <a:off x="10115393" y="2617876"/>
            <a:ext cx="744419"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2024</a:t>
            </a:r>
          </a:p>
        </p:txBody>
      </p:sp>
      <p:sp>
        <p:nvSpPr>
          <p:cNvPr id="29" name="Isosceles Triangle 28">
            <a:extLst>
              <a:ext uri="{FF2B5EF4-FFF2-40B4-BE49-F238E27FC236}">
                <a16:creationId xmlns:a16="http://schemas.microsoft.com/office/drawing/2014/main" id="{4BE2923A-ACA6-AAE8-9BF3-211B078F7DD5}"/>
              </a:ext>
            </a:extLst>
          </p:cNvPr>
          <p:cNvSpPr/>
          <p:nvPr/>
        </p:nvSpPr>
        <p:spPr>
          <a:xfrm rot="10800000">
            <a:off x="852137" y="2253793"/>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31" name="Oval 30">
            <a:extLst>
              <a:ext uri="{FF2B5EF4-FFF2-40B4-BE49-F238E27FC236}">
                <a16:creationId xmlns:a16="http://schemas.microsoft.com/office/drawing/2014/main" id="{95546FEA-507D-2B90-8813-909EFBAB78DD}"/>
              </a:ext>
            </a:extLst>
          </p:cNvPr>
          <p:cNvSpPr/>
          <p:nvPr/>
        </p:nvSpPr>
        <p:spPr bwMode="auto">
          <a:xfrm>
            <a:off x="1023187" y="1956540"/>
            <a:ext cx="177419" cy="177808"/>
          </a:xfrm>
          <a:prstGeom prst="ellipse">
            <a:avLst/>
          </a:prstGeom>
          <a:solidFill>
            <a:schemeClr val="accent4"/>
          </a:solidFill>
          <a:ln w="9525">
            <a:noFill/>
            <a:round/>
            <a:headEnd/>
            <a:tailEnd/>
          </a:ln>
          <a:effectLst/>
        </p:spPr>
        <p:txBody>
          <a:bodyPr vert="horz" wrap="square" lIns="121920" tIns="60960" rIns="121920" bIns="6096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Manrope"/>
            </a:endParaRPr>
          </a:p>
        </p:txBody>
      </p:sp>
      <p:sp>
        <p:nvSpPr>
          <p:cNvPr id="37" name="TextBox 36">
            <a:extLst>
              <a:ext uri="{FF2B5EF4-FFF2-40B4-BE49-F238E27FC236}">
                <a16:creationId xmlns:a16="http://schemas.microsoft.com/office/drawing/2014/main" id="{192B6221-708B-6D0C-6EF5-4B14579FCB28}"/>
              </a:ext>
            </a:extLst>
          </p:cNvPr>
          <p:cNvSpPr txBox="1"/>
          <p:nvPr/>
        </p:nvSpPr>
        <p:spPr>
          <a:xfrm flipH="1">
            <a:off x="153253" y="2835528"/>
            <a:ext cx="1886243" cy="1838965"/>
          </a:xfrm>
          <a:prstGeom prst="rect">
            <a:avLst/>
          </a:prstGeom>
          <a:noFill/>
        </p:spPr>
        <p:txBody>
          <a:bodyPr wrap="square" lIns="0" tIns="0" rIns="0" bIns="0" anchor="ctr">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SAP BW Implementation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Implementation of EDW on Teradata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Data Lake journey with Hortonworks Hadoop</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Reporting &amp; Analytics with SAP BO</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Azure, ADLS &amp; Power BI</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10" normalizeH="0" baseline="0" noProof="0">
                <a:ln>
                  <a:noFill/>
                </a:ln>
                <a:solidFill>
                  <a:srgbClr val="000000"/>
                </a:solidFill>
                <a:effectLst/>
                <a:uLnTx/>
                <a:uFillTx/>
                <a:latin typeface="Manrope"/>
                <a:cs typeface="Mongolian Baiti" panose="03000500000000000000" pitchFamily="66" charset="0"/>
              </a:rPr>
              <a:t>BAU support</a:t>
            </a:r>
          </a:p>
        </p:txBody>
      </p:sp>
      <p:sp>
        <p:nvSpPr>
          <p:cNvPr id="38" name="TextBox 37">
            <a:extLst>
              <a:ext uri="{FF2B5EF4-FFF2-40B4-BE49-F238E27FC236}">
                <a16:creationId xmlns:a16="http://schemas.microsoft.com/office/drawing/2014/main" id="{9C220941-BA7C-88A7-48EE-B9FFB0F9EE7C}"/>
              </a:ext>
            </a:extLst>
          </p:cNvPr>
          <p:cNvSpPr txBox="1"/>
          <p:nvPr/>
        </p:nvSpPr>
        <p:spPr>
          <a:xfrm flipH="1">
            <a:off x="527203" y="2606013"/>
            <a:ext cx="1083857"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10" normalizeH="0" baseline="0" noProof="0">
                <a:ln>
                  <a:noFill/>
                </a:ln>
                <a:solidFill>
                  <a:srgbClr val="000000"/>
                </a:solidFill>
                <a:effectLst/>
                <a:uLnTx/>
                <a:uFillTx/>
                <a:latin typeface="Manrope"/>
                <a:cs typeface="Mongolian Baiti" panose="03000500000000000000" pitchFamily="66" charset="0"/>
              </a:rPr>
              <a:t>2006 ..  2018</a:t>
            </a:r>
          </a:p>
        </p:txBody>
      </p:sp>
      <p:pic>
        <p:nvPicPr>
          <p:cNvPr id="40" name="Picture 39" descr="A blue and black text&#10;&#10;AI-generated content may be incorrect.">
            <a:extLst>
              <a:ext uri="{FF2B5EF4-FFF2-40B4-BE49-F238E27FC236}">
                <a16:creationId xmlns:a16="http://schemas.microsoft.com/office/drawing/2014/main" id="{F68DB173-F6F7-D5AD-1055-F66BE18D0B9B}"/>
              </a:ext>
            </a:extLst>
          </p:cNvPr>
          <p:cNvPicPr>
            <a:picLocks noChangeAspect="1"/>
          </p:cNvPicPr>
          <p:nvPr/>
        </p:nvPicPr>
        <p:blipFill>
          <a:blip r:embed="rId18" cstate="email">
            <a:extLst>
              <a:ext uri="{28A0092B-C50C-407E-A947-70E740481C1C}">
                <a14:useLocalDpi xmlns:a14="http://schemas.microsoft.com/office/drawing/2010/main"/>
              </a:ext>
            </a:extLst>
          </a:blip>
          <a:srcRect/>
          <a:stretch/>
        </p:blipFill>
        <p:spPr>
          <a:xfrm>
            <a:off x="1019198" y="5685591"/>
            <a:ext cx="562702" cy="548640"/>
          </a:xfrm>
          <a:prstGeom prst="rect">
            <a:avLst/>
          </a:prstGeom>
        </p:spPr>
      </p:pic>
      <p:sp>
        <p:nvSpPr>
          <p:cNvPr id="6" name="Rectangle 5">
            <a:extLst>
              <a:ext uri="{FF2B5EF4-FFF2-40B4-BE49-F238E27FC236}">
                <a16:creationId xmlns:a16="http://schemas.microsoft.com/office/drawing/2014/main" id="{FA6F4940-7DB0-3E69-5988-729E1E7908ED}"/>
              </a:ext>
            </a:extLst>
          </p:cNvPr>
          <p:cNvSpPr/>
          <p:nvPr/>
        </p:nvSpPr>
        <p:spPr>
          <a:xfrm>
            <a:off x="490173" y="5182731"/>
            <a:ext cx="11155680" cy="369332"/>
          </a:xfrm>
          <a:prstGeom prst="rect">
            <a:avLst/>
          </a:prstGeom>
          <a:solidFill>
            <a:schemeClr val="accent4"/>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anrope"/>
              </a:rPr>
              <a:t>Managed Services and Production Support Work in Progress</a:t>
            </a:r>
          </a:p>
        </p:txBody>
      </p:sp>
      <p:sp>
        <p:nvSpPr>
          <p:cNvPr id="26" name="Isosceles Triangle 25">
            <a:extLst>
              <a:ext uri="{FF2B5EF4-FFF2-40B4-BE49-F238E27FC236}">
                <a16:creationId xmlns:a16="http://schemas.microsoft.com/office/drawing/2014/main" id="{8185475E-6FC4-BFE3-4790-EF1484920ED1}"/>
              </a:ext>
            </a:extLst>
          </p:cNvPr>
          <p:cNvSpPr/>
          <p:nvPr/>
        </p:nvSpPr>
        <p:spPr>
          <a:xfrm rot="10800000">
            <a:off x="2866649" y="2253793"/>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27" name="Isosceles Triangle 26">
            <a:extLst>
              <a:ext uri="{FF2B5EF4-FFF2-40B4-BE49-F238E27FC236}">
                <a16:creationId xmlns:a16="http://schemas.microsoft.com/office/drawing/2014/main" id="{EB535C90-A33B-AF4A-2C49-A55249B1B882}"/>
              </a:ext>
            </a:extLst>
          </p:cNvPr>
          <p:cNvSpPr/>
          <p:nvPr/>
        </p:nvSpPr>
        <p:spPr>
          <a:xfrm rot="10800000">
            <a:off x="4723569" y="2253793"/>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30" name="Isosceles Triangle 29">
            <a:extLst>
              <a:ext uri="{FF2B5EF4-FFF2-40B4-BE49-F238E27FC236}">
                <a16:creationId xmlns:a16="http://schemas.microsoft.com/office/drawing/2014/main" id="{E037D45D-70C8-F57B-BCB1-EB050567550A}"/>
              </a:ext>
            </a:extLst>
          </p:cNvPr>
          <p:cNvSpPr/>
          <p:nvPr/>
        </p:nvSpPr>
        <p:spPr>
          <a:xfrm rot="10800000">
            <a:off x="6541677" y="2253793"/>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32" name="Isosceles Triangle 31">
            <a:extLst>
              <a:ext uri="{FF2B5EF4-FFF2-40B4-BE49-F238E27FC236}">
                <a16:creationId xmlns:a16="http://schemas.microsoft.com/office/drawing/2014/main" id="{5DBB8707-8773-F00C-BF79-65912278D6EA}"/>
              </a:ext>
            </a:extLst>
          </p:cNvPr>
          <p:cNvSpPr/>
          <p:nvPr/>
        </p:nvSpPr>
        <p:spPr>
          <a:xfrm rot="10800000">
            <a:off x="8444051" y="2253793"/>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39" name="Isosceles Triangle 38">
            <a:extLst>
              <a:ext uri="{FF2B5EF4-FFF2-40B4-BE49-F238E27FC236}">
                <a16:creationId xmlns:a16="http://schemas.microsoft.com/office/drawing/2014/main" id="{DF296BF7-8CF9-3A65-62CA-75B26634DCEE}"/>
              </a:ext>
            </a:extLst>
          </p:cNvPr>
          <p:cNvSpPr/>
          <p:nvPr/>
        </p:nvSpPr>
        <p:spPr>
          <a:xfrm rot="10800000">
            <a:off x="10258467" y="2253794"/>
            <a:ext cx="458270" cy="292106"/>
          </a:xfrm>
          <a:prstGeom prst="triangle">
            <a:avLst/>
          </a:prstGeom>
          <a:solidFill>
            <a:schemeClr val="accent5">
              <a:lumMod val="20000"/>
              <a:lumOff val="80000"/>
            </a:schemeClr>
          </a:solidFill>
          <a:ln w="716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anrope"/>
            </a:endParaRPr>
          </a:p>
        </p:txBody>
      </p:sp>
      <p:sp>
        <p:nvSpPr>
          <p:cNvPr id="2" name="TextBox 1">
            <a:extLst>
              <a:ext uri="{FF2B5EF4-FFF2-40B4-BE49-F238E27FC236}">
                <a16:creationId xmlns:a16="http://schemas.microsoft.com/office/drawing/2014/main" id="{44A83238-6260-F6F0-ADC0-0DF70B16B40E}"/>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631309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26862-EC4E-7DC1-899C-4C3C1E1E4322}"/>
            </a:ext>
          </a:extLst>
        </p:cNvPr>
        <p:cNvGrpSpPr/>
        <p:nvPr/>
      </p:nvGrpSpPr>
      <p:grpSpPr>
        <a:xfrm>
          <a:off x="0" y="0"/>
          <a:ext cx="0" cy="0"/>
          <a:chOff x="0" y="0"/>
          <a:chExt cx="0" cy="0"/>
        </a:xfrm>
      </p:grpSpPr>
      <p:sp>
        <p:nvSpPr>
          <p:cNvPr id="10" name="Text Placeholder 2">
            <a:extLst>
              <a:ext uri="{FF2B5EF4-FFF2-40B4-BE49-F238E27FC236}">
                <a16:creationId xmlns:a16="http://schemas.microsoft.com/office/drawing/2014/main" id="{DCC0DA5E-2EEF-6BCA-062E-9C73F02B27DE}"/>
              </a:ext>
            </a:extLst>
          </p:cNvPr>
          <p:cNvSpPr>
            <a:spLocks noGrp="1"/>
          </p:cNvSpPr>
          <p:nvPr>
            <p:ph type="body" sz="quarter" idx="18"/>
          </p:nvPr>
        </p:nvSpPr>
        <p:spPr>
          <a:xfrm>
            <a:off x="634521" y="5234279"/>
            <a:ext cx="1838938" cy="387798"/>
          </a:xfrm>
        </p:spPr>
        <p:txBody>
          <a:bodyPr>
            <a:noAutofit/>
          </a:bodyPr>
          <a:lstStyle/>
          <a:p>
            <a:r>
              <a:rPr lang="en-US" sz="3000">
                <a:latin typeface="Manrope" pitchFamily="2" charset="0"/>
              </a:rPr>
              <a:t>70-80%</a:t>
            </a:r>
          </a:p>
        </p:txBody>
      </p:sp>
      <p:sp>
        <p:nvSpPr>
          <p:cNvPr id="4" name="Text Placeholder 3">
            <a:extLst>
              <a:ext uri="{FF2B5EF4-FFF2-40B4-BE49-F238E27FC236}">
                <a16:creationId xmlns:a16="http://schemas.microsoft.com/office/drawing/2014/main" id="{C455B298-4E50-CC6E-F0F5-4CB100F1DE12}"/>
              </a:ext>
            </a:extLst>
          </p:cNvPr>
          <p:cNvSpPr>
            <a:spLocks noGrp="1"/>
          </p:cNvSpPr>
          <p:nvPr>
            <p:ph type="body" sz="quarter" idx="19"/>
          </p:nvPr>
        </p:nvSpPr>
        <p:spPr>
          <a:xfrm>
            <a:off x="619285" y="1396949"/>
            <a:ext cx="5398348" cy="1488840"/>
          </a:xfrm>
        </p:spPr>
        <p:txBody>
          <a:bodyPr lIns="0" tIns="0" rIns="0" bIns="0">
            <a:noAutofit/>
          </a:bodyPr>
          <a:lstStyle/>
          <a:p>
            <a:pPr marL="171450" indent="-171450">
              <a:lnSpc>
                <a:spcPct val="100000"/>
              </a:lnSpc>
              <a:spcBef>
                <a:spcPts val="0"/>
              </a:spcBef>
              <a:spcAft>
                <a:spcPts val="300"/>
              </a:spcAft>
              <a:buFont typeface="Arial" panose="020B0604020202020204" pitchFamily="34" charset="0"/>
              <a:buChar char="•"/>
            </a:pPr>
            <a:r>
              <a:rPr lang="en-US" sz="1000" kern="0" spc="0">
                <a:solidFill>
                  <a:srgbClr val="02051C"/>
                </a:solidFill>
                <a:latin typeface="Manrope" pitchFamily="2" charset="0"/>
                <a:cs typeface="Segoe UI" panose="020B0502040204020203" pitchFamily="34" charset="0"/>
              </a:rPr>
              <a:t>Existing DW application that sits on </a:t>
            </a:r>
            <a:r>
              <a:rPr lang="en-US" sz="1000" b="1" kern="0" spc="0">
                <a:solidFill>
                  <a:srgbClr val="02051C"/>
                </a:solidFill>
                <a:latin typeface="Manrope" pitchFamily="2" charset="0"/>
                <a:cs typeface="Segoe UI" panose="020B0502040204020203" pitchFamily="34" charset="0"/>
              </a:rPr>
              <a:t>Teradata appliance </a:t>
            </a:r>
            <a:r>
              <a:rPr lang="en-US" sz="1000" kern="0" spc="0">
                <a:solidFill>
                  <a:srgbClr val="02051C"/>
                </a:solidFill>
                <a:latin typeface="Manrope" pitchFamily="2" charset="0"/>
                <a:cs typeface="Segoe UI" panose="020B0502040204020203" pitchFamily="34" charset="0"/>
              </a:rPr>
              <a:t>proved very  expensive for processing the huge amount of IoT data generated from  the haul trucks deployed for their mining business</a:t>
            </a:r>
          </a:p>
          <a:p>
            <a:pPr marL="171450" indent="-171450">
              <a:lnSpc>
                <a:spcPct val="100000"/>
              </a:lnSpc>
              <a:spcBef>
                <a:spcPts val="0"/>
              </a:spcBef>
              <a:spcAft>
                <a:spcPts val="300"/>
              </a:spcAft>
              <a:buFont typeface="Arial" panose="020B0604020202020204" pitchFamily="34" charset="0"/>
              <a:buChar char="•"/>
            </a:pPr>
            <a:r>
              <a:rPr lang="en-US" sz="1000" kern="0" spc="0">
                <a:solidFill>
                  <a:srgbClr val="02051C"/>
                </a:solidFill>
                <a:latin typeface="Manrope" pitchFamily="2" charset="0"/>
                <a:cs typeface="Segoe UI" panose="020B0502040204020203" pitchFamily="34" charset="0"/>
              </a:rPr>
              <a:t> Data streamed from </a:t>
            </a:r>
            <a:r>
              <a:rPr lang="en-US" sz="1000" b="1" kern="0" spc="0">
                <a:solidFill>
                  <a:srgbClr val="02051C"/>
                </a:solidFill>
                <a:latin typeface="Manrope" pitchFamily="2" charset="0"/>
                <a:cs typeface="Segoe UI" panose="020B0502040204020203" pitchFamily="34" charset="0"/>
              </a:rPr>
              <a:t>IoT devices </a:t>
            </a:r>
            <a:r>
              <a:rPr lang="en-US" sz="1000" kern="0" spc="0">
                <a:solidFill>
                  <a:srgbClr val="02051C"/>
                </a:solidFill>
                <a:latin typeface="Manrope" pitchFamily="2" charset="0"/>
                <a:cs typeface="Segoe UI" panose="020B0502040204020203" pitchFamily="34" charset="0"/>
              </a:rPr>
              <a:t>moved to the warehouse through batch process that limited the possibility of any real-time analytics</a:t>
            </a:r>
          </a:p>
          <a:p>
            <a:pPr marL="171450" indent="-171450">
              <a:lnSpc>
                <a:spcPct val="100000"/>
              </a:lnSpc>
              <a:spcBef>
                <a:spcPts val="0"/>
              </a:spcBef>
              <a:spcAft>
                <a:spcPts val="300"/>
              </a:spcAft>
              <a:buFont typeface="Arial" panose="020B0604020202020204" pitchFamily="34" charset="0"/>
              <a:buChar char="•"/>
            </a:pPr>
            <a:r>
              <a:rPr lang="en-US" sz="1000" kern="0" spc="0">
                <a:solidFill>
                  <a:srgbClr val="02051C"/>
                </a:solidFill>
                <a:latin typeface="Manrope" pitchFamily="2" charset="0"/>
                <a:cs typeface="Segoe UI" panose="020B0502040204020203" pitchFamily="34" charset="0"/>
              </a:rPr>
              <a:t>Lack of scalability for business demands</a:t>
            </a:r>
          </a:p>
          <a:p>
            <a:pPr marL="171450" indent="-171450">
              <a:lnSpc>
                <a:spcPct val="100000"/>
              </a:lnSpc>
              <a:spcBef>
                <a:spcPts val="0"/>
              </a:spcBef>
              <a:spcAft>
                <a:spcPts val="300"/>
              </a:spcAft>
              <a:buFont typeface="Arial" panose="020B0604020202020204" pitchFamily="34" charset="0"/>
              <a:buChar char="•"/>
            </a:pPr>
            <a:r>
              <a:rPr lang="en-US" sz="1000" kern="0" spc="0">
                <a:solidFill>
                  <a:srgbClr val="02051C"/>
                </a:solidFill>
                <a:latin typeface="Manrope" pitchFamily="2" charset="0"/>
                <a:cs typeface="Segoe UI" panose="020B0502040204020203" pitchFamily="34" charset="0"/>
              </a:rPr>
              <a:t> No support for high-performance computation or analytics to manage  demand and inventory</a:t>
            </a:r>
          </a:p>
          <a:p>
            <a:pPr marL="171450" indent="-171450">
              <a:lnSpc>
                <a:spcPct val="100000"/>
              </a:lnSpc>
              <a:spcBef>
                <a:spcPts val="0"/>
              </a:spcBef>
              <a:spcAft>
                <a:spcPts val="300"/>
              </a:spcAft>
              <a:buFont typeface="Arial" panose="020B0604020202020204" pitchFamily="34" charset="0"/>
              <a:buChar char="•"/>
            </a:pPr>
            <a:r>
              <a:rPr lang="en-US" sz="1000" kern="0" spc="0">
                <a:solidFill>
                  <a:srgbClr val="02051C"/>
                </a:solidFill>
                <a:latin typeface="Manrope" pitchFamily="2" charset="0"/>
                <a:cs typeface="Segoe UI" panose="020B0502040204020203" pitchFamily="34" charset="0"/>
              </a:rPr>
              <a:t>No advanced self-service capabilities for non-technical data users</a:t>
            </a:r>
          </a:p>
          <a:p>
            <a:pPr marL="171450" indent="-171450">
              <a:lnSpc>
                <a:spcPct val="100000"/>
              </a:lnSpc>
              <a:spcBef>
                <a:spcPts val="0"/>
              </a:spcBef>
              <a:spcAft>
                <a:spcPts val="300"/>
              </a:spcAft>
            </a:pPr>
            <a:endParaRPr lang="en-US" sz="1000" kern="0" spc="0">
              <a:solidFill>
                <a:srgbClr val="02051C"/>
              </a:solidFill>
              <a:latin typeface="Manrope" pitchFamily="2" charset="0"/>
              <a:cs typeface="Segoe UI" panose="020B0502040204020203" pitchFamily="34" charset="0"/>
            </a:endParaRPr>
          </a:p>
        </p:txBody>
      </p:sp>
      <p:sp>
        <p:nvSpPr>
          <p:cNvPr id="9" name="Text Placeholder 1">
            <a:extLst>
              <a:ext uri="{FF2B5EF4-FFF2-40B4-BE49-F238E27FC236}">
                <a16:creationId xmlns:a16="http://schemas.microsoft.com/office/drawing/2014/main" id="{FEE8BDC9-7110-49CF-9596-0FBA60674322}"/>
              </a:ext>
            </a:extLst>
          </p:cNvPr>
          <p:cNvSpPr>
            <a:spLocks noGrp="1"/>
          </p:cNvSpPr>
          <p:nvPr>
            <p:ph type="body" sz="quarter" idx="4294967295"/>
          </p:nvPr>
        </p:nvSpPr>
        <p:spPr>
          <a:xfrm>
            <a:off x="634521" y="5655152"/>
            <a:ext cx="1838938" cy="258287"/>
          </a:xfrm>
          <a:prstGeom prst="rect">
            <a:avLst/>
          </a:prstGeom>
        </p:spPr>
        <p:txBody>
          <a:bodyPr>
            <a:noAutofit/>
          </a:bodyPr>
          <a:lstStyle/>
          <a:p>
            <a:pPr marL="0" indent="0">
              <a:buNone/>
            </a:pPr>
            <a:r>
              <a:rPr lang="en-US" sz="1000">
                <a:latin typeface="Manrope" pitchFamily="2" charset="0"/>
              </a:rPr>
              <a:t>Automation for transforming Teradata objects like Tables, Views, SQL Structures</a:t>
            </a:r>
          </a:p>
        </p:txBody>
      </p:sp>
      <p:sp>
        <p:nvSpPr>
          <p:cNvPr id="5" name="Text Placeholder 3">
            <a:extLst>
              <a:ext uri="{FF2B5EF4-FFF2-40B4-BE49-F238E27FC236}">
                <a16:creationId xmlns:a16="http://schemas.microsoft.com/office/drawing/2014/main" id="{1D3B02F7-3F0E-CF8E-09C3-702D8184B264}"/>
              </a:ext>
            </a:extLst>
          </p:cNvPr>
          <p:cNvSpPr txBox="1">
            <a:spLocks/>
          </p:cNvSpPr>
          <p:nvPr/>
        </p:nvSpPr>
        <p:spPr>
          <a:xfrm>
            <a:off x="616957" y="1104758"/>
            <a:ext cx="1856502" cy="259116"/>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CDA"/>
                </a:solidFill>
                <a:effectLst/>
                <a:uLnTx/>
                <a:uFillTx/>
                <a:latin typeface="Manrope" pitchFamily="2" charset="0"/>
              </a:rPr>
              <a:t>Business Problem</a:t>
            </a:r>
          </a:p>
        </p:txBody>
      </p:sp>
      <p:sp>
        <p:nvSpPr>
          <p:cNvPr id="15" name="Text Placeholder 3">
            <a:extLst>
              <a:ext uri="{FF2B5EF4-FFF2-40B4-BE49-F238E27FC236}">
                <a16:creationId xmlns:a16="http://schemas.microsoft.com/office/drawing/2014/main" id="{B4B33815-DD18-DAB0-A03E-E500CEBA7359}"/>
              </a:ext>
            </a:extLst>
          </p:cNvPr>
          <p:cNvSpPr txBox="1">
            <a:spLocks/>
          </p:cNvSpPr>
          <p:nvPr/>
        </p:nvSpPr>
        <p:spPr>
          <a:xfrm>
            <a:off x="616957" y="3202432"/>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pitchFamily="2" charset="0"/>
              </a:rPr>
              <a:t>Solution</a:t>
            </a:r>
          </a:p>
        </p:txBody>
      </p:sp>
      <p:sp>
        <p:nvSpPr>
          <p:cNvPr id="16" name="Text Placeholder 3">
            <a:extLst>
              <a:ext uri="{FF2B5EF4-FFF2-40B4-BE49-F238E27FC236}">
                <a16:creationId xmlns:a16="http://schemas.microsoft.com/office/drawing/2014/main" id="{4770173F-E027-C5B1-9F55-42DDFF322C0B}"/>
              </a:ext>
            </a:extLst>
          </p:cNvPr>
          <p:cNvSpPr txBox="1">
            <a:spLocks/>
          </p:cNvSpPr>
          <p:nvPr/>
        </p:nvSpPr>
        <p:spPr>
          <a:xfrm>
            <a:off x="620422" y="3499159"/>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Migration from Teradata and Hadoop to Snowflake database and introduced streaming data analytics by leveraging Azure Databricks</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All data other than streaming data was loaded in Snowflake DW</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1"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Azure Blob Storage </a:t>
            </a: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was used for storing data before moving it to Snowflake DW for historic reporting</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Leveraged </a:t>
            </a:r>
            <a:r>
              <a:rPr kumimoji="0" lang="en-US" sz="1000" b="1"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Amaze® for Snowflake  </a:t>
            </a: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platform for automated assessment, conversion and validation for during transformation</a:t>
            </a:r>
          </a:p>
          <a:p>
            <a:pPr marL="0" marR="0" lvl="0" indent="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None/>
              <a:tabLst/>
              <a:defRPr/>
            </a:pPr>
            <a:endPar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endParaRPr>
          </a:p>
        </p:txBody>
      </p:sp>
      <p:sp>
        <p:nvSpPr>
          <p:cNvPr id="11" name="Text Placeholder 1">
            <a:extLst>
              <a:ext uri="{FF2B5EF4-FFF2-40B4-BE49-F238E27FC236}">
                <a16:creationId xmlns:a16="http://schemas.microsoft.com/office/drawing/2014/main" id="{52EC388D-E753-F8CE-46A6-D7754C8AE701}"/>
              </a:ext>
            </a:extLst>
          </p:cNvPr>
          <p:cNvSpPr txBox="1">
            <a:spLocks/>
          </p:cNvSpPr>
          <p:nvPr/>
        </p:nvSpPr>
        <p:spPr>
          <a:xfrm>
            <a:off x="2673077" y="5654992"/>
            <a:ext cx="1757541" cy="415498"/>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1200" cap="none" spc="10" normalizeH="0" baseline="0" noProof="0">
                <a:ln>
                  <a:noFill/>
                </a:ln>
                <a:solidFill>
                  <a:schemeClr val="tx1"/>
                </a:solidFill>
                <a:effectLst/>
                <a:uLnTx/>
                <a:uFillTx/>
                <a:latin typeface="Manrope" pitchFamily="2" charset="0"/>
              </a:rPr>
              <a:t>Automation for transforming Teradata objects like Macros, Procedures, Inbuilt Functions</a:t>
            </a:r>
          </a:p>
        </p:txBody>
      </p:sp>
      <p:sp>
        <p:nvSpPr>
          <p:cNvPr id="12" name="Text Placeholder 2">
            <a:extLst>
              <a:ext uri="{FF2B5EF4-FFF2-40B4-BE49-F238E27FC236}">
                <a16:creationId xmlns:a16="http://schemas.microsoft.com/office/drawing/2014/main" id="{79355185-C651-8676-0CBC-DF120CD4E4CC}"/>
              </a:ext>
            </a:extLst>
          </p:cNvPr>
          <p:cNvSpPr txBox="1">
            <a:spLocks/>
          </p:cNvSpPr>
          <p:nvPr/>
        </p:nvSpPr>
        <p:spPr>
          <a:xfrm>
            <a:off x="2673078" y="5239494"/>
            <a:ext cx="1780032"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3000" b="0" i="0" u="none" strike="noStrike" kern="1200" cap="none" spc="0" normalizeH="0" baseline="0" noProof="0">
                <a:ln>
                  <a:noFill/>
                </a:ln>
                <a:solidFill>
                  <a:srgbClr val="3C2DDA"/>
                </a:solidFill>
                <a:effectLst/>
                <a:uLnTx/>
                <a:uFillTx/>
                <a:latin typeface="Manrope" pitchFamily="2" charset="0"/>
              </a:rPr>
              <a:t>50 – 80%</a:t>
            </a:r>
          </a:p>
        </p:txBody>
      </p:sp>
      <p:sp>
        <p:nvSpPr>
          <p:cNvPr id="14" name="Text Placeholder 1">
            <a:extLst>
              <a:ext uri="{FF2B5EF4-FFF2-40B4-BE49-F238E27FC236}">
                <a16:creationId xmlns:a16="http://schemas.microsoft.com/office/drawing/2014/main" id="{5BFB8654-FF9E-F662-FC61-0091767FF886}"/>
              </a:ext>
            </a:extLst>
          </p:cNvPr>
          <p:cNvSpPr txBox="1">
            <a:spLocks/>
          </p:cNvSpPr>
          <p:nvPr/>
        </p:nvSpPr>
        <p:spPr>
          <a:xfrm>
            <a:off x="4859300" y="5654992"/>
            <a:ext cx="1296951"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1200" cap="none" spc="10" normalizeH="0" baseline="0" noProof="0">
                <a:ln>
                  <a:noFill/>
                </a:ln>
                <a:solidFill>
                  <a:schemeClr val="tx1"/>
                </a:solidFill>
                <a:effectLst/>
                <a:uLnTx/>
                <a:uFillTx/>
                <a:latin typeface="Manrope" pitchFamily="2" charset="0"/>
              </a:rPr>
              <a:t>Lesser TCO due to increase in automation</a:t>
            </a:r>
          </a:p>
        </p:txBody>
      </p:sp>
      <p:sp>
        <p:nvSpPr>
          <p:cNvPr id="23" name="Text Placeholder 2">
            <a:extLst>
              <a:ext uri="{FF2B5EF4-FFF2-40B4-BE49-F238E27FC236}">
                <a16:creationId xmlns:a16="http://schemas.microsoft.com/office/drawing/2014/main" id="{36BF12DE-05B1-6F44-E98D-52DD505D9DB4}"/>
              </a:ext>
            </a:extLst>
          </p:cNvPr>
          <p:cNvSpPr txBox="1">
            <a:spLocks/>
          </p:cNvSpPr>
          <p:nvPr/>
        </p:nvSpPr>
        <p:spPr>
          <a:xfrm>
            <a:off x="4836808" y="5239495"/>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3000" b="0" i="0" u="none" strike="noStrike" kern="1200" cap="none" spc="0" normalizeH="0" baseline="0" noProof="0">
                <a:ln>
                  <a:noFill/>
                </a:ln>
                <a:solidFill>
                  <a:srgbClr val="3C2DDA"/>
                </a:solidFill>
                <a:effectLst/>
                <a:uLnTx/>
                <a:uFillTx/>
                <a:latin typeface="Manrope" pitchFamily="2" charset="0"/>
              </a:rPr>
              <a:t>50%</a:t>
            </a:r>
          </a:p>
        </p:txBody>
      </p:sp>
      <p:sp>
        <p:nvSpPr>
          <p:cNvPr id="8" name="Text Placeholder 13">
            <a:extLst>
              <a:ext uri="{FF2B5EF4-FFF2-40B4-BE49-F238E27FC236}">
                <a16:creationId xmlns:a16="http://schemas.microsoft.com/office/drawing/2014/main" id="{F13E0A26-431B-B197-5D36-96FFBC6D340D}"/>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pitchFamily="2" charset="0"/>
              </a:rPr>
              <a:t>Manufacturing</a:t>
            </a:r>
          </a:p>
        </p:txBody>
      </p:sp>
      <p:sp>
        <p:nvSpPr>
          <p:cNvPr id="17" name="TextBox 16">
            <a:extLst>
              <a:ext uri="{FF2B5EF4-FFF2-40B4-BE49-F238E27FC236}">
                <a16:creationId xmlns:a16="http://schemas.microsoft.com/office/drawing/2014/main" id="{1C4650EB-288D-8FA6-0D63-C43AA9C7AC3A}"/>
              </a:ext>
            </a:extLst>
          </p:cNvPr>
          <p:cNvSpPr txBox="1"/>
          <p:nvPr/>
        </p:nvSpPr>
        <p:spPr>
          <a:xfrm>
            <a:off x="527005" y="550564"/>
            <a:ext cx="5494093"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anrope" pitchFamily="2" charset="0"/>
              </a:rPr>
              <a:t>Case Study: Automated Snowflake transformation for a large </a:t>
            </a:r>
            <a:br>
              <a:rPr kumimoji="0" lang="en-US" sz="1100" b="0" i="0" u="none" strike="noStrike" kern="1200" cap="none" spc="0" normalizeH="0" baseline="0" noProof="0">
                <a:ln>
                  <a:noFill/>
                </a:ln>
                <a:solidFill>
                  <a:srgbClr val="000000"/>
                </a:solidFill>
                <a:effectLst/>
                <a:uLnTx/>
                <a:uFillTx/>
                <a:latin typeface="Manrope" pitchFamily="2" charset="0"/>
              </a:rPr>
            </a:br>
            <a:r>
              <a:rPr kumimoji="0" lang="en-US" sz="1100" b="0" i="0" u="none" strike="noStrike" kern="1200" cap="none" spc="0" normalizeH="0" baseline="0" noProof="0">
                <a:ln>
                  <a:noFill/>
                </a:ln>
                <a:solidFill>
                  <a:srgbClr val="000000"/>
                </a:solidFill>
                <a:effectLst/>
                <a:uLnTx/>
                <a:uFillTx/>
                <a:latin typeface="Manrope" pitchFamily="2" charset="0"/>
              </a:rPr>
              <a:t>US-based mining organization</a:t>
            </a:r>
          </a:p>
        </p:txBody>
      </p:sp>
      <p:pic>
        <p:nvPicPr>
          <p:cNvPr id="2" name="Picture 1" descr="A close up of a logo&#10;&#10;Description automatically generated">
            <a:extLst>
              <a:ext uri="{FF2B5EF4-FFF2-40B4-BE49-F238E27FC236}">
                <a16:creationId xmlns:a16="http://schemas.microsoft.com/office/drawing/2014/main" id="{40447B6F-E221-E215-2F06-705051665D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25023" y="115435"/>
            <a:ext cx="1854727" cy="512568"/>
          </a:xfrm>
          <a:prstGeom prst="rect">
            <a:avLst/>
          </a:prstGeom>
        </p:spPr>
      </p:pic>
      <p:pic>
        <p:nvPicPr>
          <p:cNvPr id="13" name="Picture Placeholder 12" descr="A yellow truck with rocks in the back&#10;&#10;AI-generated content may be incorrect.">
            <a:extLst>
              <a:ext uri="{FF2B5EF4-FFF2-40B4-BE49-F238E27FC236}">
                <a16:creationId xmlns:a16="http://schemas.microsoft.com/office/drawing/2014/main" id="{FE45530C-6828-632E-F866-CBC1195216D3}"/>
              </a:ext>
            </a:extLst>
          </p:cNvPr>
          <p:cNvPicPr>
            <a:picLocks noGrp="1" noChangeAspect="1"/>
          </p:cNvPicPr>
          <p:nvPr>
            <p:ph type="pic" sz="quarter" idx="17"/>
          </p:nvPr>
        </p:nvPicPr>
        <p:blipFill>
          <a:blip r:embed="rId4"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3496051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D4EF1-948B-4CEC-6CE9-D28FC66E328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BFEE7CA-608A-9B22-EDD9-9A8F20D02404}"/>
              </a:ext>
            </a:extLst>
          </p:cNvPr>
          <p:cNvSpPr>
            <a:spLocks noGrp="1"/>
          </p:cNvSpPr>
          <p:nvPr>
            <p:ph type="body" sz="quarter" idx="19"/>
          </p:nvPr>
        </p:nvSpPr>
        <p:spPr>
          <a:xfrm>
            <a:off x="619285" y="1518869"/>
            <a:ext cx="5398348" cy="1488840"/>
          </a:xfrm>
        </p:spPr>
        <p:txBody>
          <a:bodyPr lIns="0" tIns="0" rIns="0" bIns="0">
            <a:noAutofit/>
          </a:bodyPr>
          <a:lstStyle/>
          <a:p>
            <a:pPr marL="171450" indent="-171450">
              <a:lnSpc>
                <a:spcPct val="100000"/>
              </a:lnSpc>
              <a:spcBef>
                <a:spcPts val="0"/>
              </a:spcBef>
              <a:spcAft>
                <a:spcPts val="300"/>
              </a:spcAft>
              <a:buClr>
                <a:srgbClr val="02051C"/>
              </a:buClr>
            </a:pPr>
            <a:r>
              <a:rPr lang="en-US" sz="1000" b="1" kern="0" spc="0">
                <a:solidFill>
                  <a:srgbClr val="02051C"/>
                </a:solidFill>
                <a:latin typeface="Manrope" pitchFamily="2" charset="0"/>
                <a:cs typeface="Segoe UI" panose="020B0502040204020203" pitchFamily="34" charset="0"/>
              </a:rPr>
              <a:t>Complexity :</a:t>
            </a:r>
            <a:r>
              <a:rPr lang="en-US" sz="1000" kern="0" spc="0">
                <a:solidFill>
                  <a:srgbClr val="02051C"/>
                </a:solidFill>
                <a:latin typeface="Manrope" pitchFamily="2" charset="0"/>
                <a:cs typeface="Segoe UI" panose="020B0502040204020203" pitchFamily="34" charset="0"/>
              </a:rPr>
              <a:t> SAP analytics  environments have become too complicated, </a:t>
            </a:r>
          </a:p>
          <a:p>
            <a:pPr marL="171450" indent="-171450">
              <a:lnSpc>
                <a:spcPct val="100000"/>
              </a:lnSpc>
              <a:spcBef>
                <a:spcPts val="0"/>
              </a:spcBef>
              <a:spcAft>
                <a:spcPts val="300"/>
              </a:spcAft>
              <a:buClr>
                <a:srgbClr val="02051C"/>
              </a:buClr>
            </a:pPr>
            <a:r>
              <a:rPr lang="en-US" sz="1000" kern="0" spc="0">
                <a:solidFill>
                  <a:srgbClr val="02051C"/>
                </a:solidFill>
                <a:latin typeface="Manrope" pitchFamily="2" charset="0"/>
                <a:cs typeface="Segoe UI" panose="020B0502040204020203" pitchFamily="34" charset="0"/>
              </a:rPr>
              <a:t>Offload data from SAP BW to an enterprise data warehouse (EDW) or even to a data lake </a:t>
            </a:r>
          </a:p>
          <a:p>
            <a:pPr marL="171450" indent="-171450">
              <a:lnSpc>
                <a:spcPct val="100000"/>
              </a:lnSpc>
              <a:spcBef>
                <a:spcPts val="0"/>
              </a:spcBef>
              <a:spcAft>
                <a:spcPts val="300"/>
              </a:spcAft>
              <a:buClr>
                <a:srgbClr val="02051C"/>
              </a:buClr>
            </a:pPr>
            <a:r>
              <a:rPr lang="en-US" sz="1000" kern="0" spc="0">
                <a:solidFill>
                  <a:srgbClr val="02051C"/>
                </a:solidFill>
                <a:latin typeface="Manrope" pitchFamily="2" charset="0"/>
                <a:cs typeface="Segoe UI" panose="020B0502040204020203" pitchFamily="34" charset="0"/>
              </a:rPr>
              <a:t>because it is easier than getting non-SAP data </a:t>
            </a:r>
            <a:r>
              <a:rPr lang="en-US" sz="1000" kern="0">
                <a:solidFill>
                  <a:srgbClr val="02051C"/>
                </a:solidFill>
                <a:latin typeface="Manrope" pitchFamily="2" charset="0"/>
                <a:cs typeface="Segoe UI" panose="020B0502040204020203" pitchFamily="34" charset="0"/>
              </a:rPr>
              <a:t>i</a:t>
            </a:r>
            <a:r>
              <a:rPr lang="en-US" sz="1000" kern="0" spc="0">
                <a:solidFill>
                  <a:srgbClr val="02051C"/>
                </a:solidFill>
                <a:latin typeface="Manrope" pitchFamily="2" charset="0"/>
                <a:cs typeface="Segoe UI" panose="020B0502040204020203" pitchFamily="34" charset="0"/>
              </a:rPr>
              <a:t>nto SAP</a:t>
            </a:r>
          </a:p>
          <a:p>
            <a:pPr marL="171450" indent="-171450">
              <a:lnSpc>
                <a:spcPct val="100000"/>
              </a:lnSpc>
              <a:spcBef>
                <a:spcPts val="0"/>
              </a:spcBef>
              <a:spcAft>
                <a:spcPts val="300"/>
              </a:spcAft>
              <a:buClr>
                <a:srgbClr val="02051C"/>
              </a:buClr>
            </a:pPr>
            <a:r>
              <a:rPr lang="en-US" sz="1000" kern="0">
                <a:solidFill>
                  <a:srgbClr val="02051C"/>
                </a:solidFill>
                <a:latin typeface="Manrope" pitchFamily="2" charset="0"/>
                <a:cs typeface="Segoe UI" panose="020B0502040204020203" pitchFamily="34" charset="0"/>
              </a:rPr>
              <a:t> </a:t>
            </a:r>
          </a:p>
          <a:p>
            <a:pPr marL="171450" indent="-171450">
              <a:lnSpc>
                <a:spcPct val="100000"/>
              </a:lnSpc>
              <a:spcBef>
                <a:spcPts val="0"/>
              </a:spcBef>
              <a:spcAft>
                <a:spcPts val="300"/>
              </a:spcAft>
              <a:buClr>
                <a:srgbClr val="02051C"/>
              </a:buClr>
            </a:pPr>
            <a:r>
              <a:rPr lang="en-US" sz="1000" b="1" kern="0" spc="0">
                <a:solidFill>
                  <a:srgbClr val="02051C"/>
                </a:solidFill>
                <a:latin typeface="Manrope" pitchFamily="2" charset="0"/>
                <a:cs typeface="Segoe UI" panose="020B0502040204020203" pitchFamily="34" charset="0"/>
              </a:rPr>
              <a:t>Rigidity</a:t>
            </a:r>
            <a:r>
              <a:rPr lang="en-US" sz="1000" kern="0" spc="0">
                <a:solidFill>
                  <a:srgbClr val="02051C"/>
                </a:solidFill>
                <a:latin typeface="Manrope" pitchFamily="2" charset="0"/>
                <a:cs typeface="Segoe UI" panose="020B0502040204020203" pitchFamily="34" charset="0"/>
              </a:rPr>
              <a:t>:  Legacy data architectures are constrained by storage space and  computational </a:t>
            </a:r>
          </a:p>
          <a:p>
            <a:pPr marL="171450" indent="-171450">
              <a:lnSpc>
                <a:spcPct val="100000"/>
              </a:lnSpc>
              <a:spcBef>
                <a:spcPts val="0"/>
              </a:spcBef>
              <a:spcAft>
                <a:spcPts val="300"/>
              </a:spcAft>
              <a:buClr>
                <a:srgbClr val="02051C"/>
              </a:buClr>
            </a:pPr>
            <a:r>
              <a:rPr lang="en-US" sz="1000" kern="0" spc="0">
                <a:solidFill>
                  <a:srgbClr val="02051C"/>
                </a:solidFill>
                <a:latin typeface="Manrope" pitchFamily="2" charset="0"/>
                <a:cs typeface="Segoe UI" panose="020B0502040204020203" pitchFamily="34" charset="0"/>
              </a:rPr>
              <a:t>power. Legacy analytics platforms also require local deployment</a:t>
            </a:r>
          </a:p>
          <a:p>
            <a:pPr marL="171450" indent="-171450">
              <a:lnSpc>
                <a:spcPct val="100000"/>
              </a:lnSpc>
              <a:spcBef>
                <a:spcPts val="0"/>
              </a:spcBef>
              <a:spcAft>
                <a:spcPts val="300"/>
              </a:spcAft>
              <a:buClr>
                <a:srgbClr val="02051C"/>
              </a:buClr>
            </a:pPr>
            <a:endParaRPr lang="en-US" sz="1000" kern="0" spc="0">
              <a:solidFill>
                <a:srgbClr val="02051C"/>
              </a:solidFill>
              <a:latin typeface="Manrope" pitchFamily="2" charset="0"/>
              <a:cs typeface="Segoe UI" panose="020B0502040204020203" pitchFamily="34" charset="0"/>
            </a:endParaRPr>
          </a:p>
        </p:txBody>
      </p:sp>
      <p:sp>
        <p:nvSpPr>
          <p:cNvPr id="5" name="Text Placeholder 3">
            <a:extLst>
              <a:ext uri="{FF2B5EF4-FFF2-40B4-BE49-F238E27FC236}">
                <a16:creationId xmlns:a16="http://schemas.microsoft.com/office/drawing/2014/main" id="{EE86BC63-E8A2-C483-DBA1-AC5D87733380}"/>
              </a:ext>
            </a:extLst>
          </p:cNvPr>
          <p:cNvSpPr txBox="1">
            <a:spLocks/>
          </p:cNvSpPr>
          <p:nvPr/>
        </p:nvSpPr>
        <p:spPr>
          <a:xfrm>
            <a:off x="619285" y="1102913"/>
            <a:ext cx="2108675" cy="190342"/>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pitchFamily="2" charset="0"/>
              </a:rPr>
              <a:t>Business Problem</a:t>
            </a:r>
          </a:p>
        </p:txBody>
      </p:sp>
      <p:sp>
        <p:nvSpPr>
          <p:cNvPr id="15" name="Text Placeholder 3">
            <a:extLst>
              <a:ext uri="{FF2B5EF4-FFF2-40B4-BE49-F238E27FC236}">
                <a16:creationId xmlns:a16="http://schemas.microsoft.com/office/drawing/2014/main" id="{8E0CBFDA-66E0-AF81-60AC-06E4F7D234EC}"/>
              </a:ext>
            </a:extLst>
          </p:cNvPr>
          <p:cNvSpPr txBox="1">
            <a:spLocks/>
          </p:cNvSpPr>
          <p:nvPr/>
        </p:nvSpPr>
        <p:spPr>
          <a:xfrm>
            <a:off x="644411" y="2999976"/>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pitchFamily="2" charset="0"/>
              </a:rPr>
              <a:t>Solution</a:t>
            </a:r>
          </a:p>
        </p:txBody>
      </p:sp>
      <p:sp>
        <p:nvSpPr>
          <p:cNvPr id="16" name="Text Placeholder 3">
            <a:extLst>
              <a:ext uri="{FF2B5EF4-FFF2-40B4-BE49-F238E27FC236}">
                <a16:creationId xmlns:a16="http://schemas.microsoft.com/office/drawing/2014/main" id="{79C74B58-2C41-371A-2E32-E491EB1A3158}"/>
              </a:ext>
            </a:extLst>
          </p:cNvPr>
          <p:cNvSpPr txBox="1">
            <a:spLocks/>
          </p:cNvSpPr>
          <p:nvPr/>
        </p:nvSpPr>
        <p:spPr>
          <a:xfrm>
            <a:off x="635498" y="3263628"/>
            <a:ext cx="5400676" cy="1801892"/>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This Solution is implemented n two phases. </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Hexaware collaborated with customer to execute a 7-week Discovery phase (~ 60 Person Weeks) </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Enhancement in the staging, data warehouse and consumption layer objects to accommodate data model changes necessitated due to S4 HANA data structure.</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Built necessary extraction (initial and delta) routines/APIs/pipelines for S/4 HANA, SuccessFactors/HR modules to Snowflake and SAP Data tables in SQL Server</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rPr>
              <a:t>Evaluate and optimize the performance of the new landscape to match or exceed legacy systems wherever applicable.</a:t>
            </a:r>
          </a:p>
          <a:p>
            <a:pPr marL="0" marR="0" lvl="0" indent="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None/>
              <a:tabLst/>
              <a:defRPr/>
            </a:pPr>
            <a:endParaRPr kumimoji="0" lang="en-US" sz="1000" b="0" i="0" u="none" strike="noStrike" kern="0" cap="none" spc="0" normalizeH="0" baseline="0" noProof="0">
              <a:ln>
                <a:noFill/>
              </a:ln>
              <a:solidFill>
                <a:srgbClr val="02051C"/>
              </a:solidFill>
              <a:effectLst/>
              <a:uLnTx/>
              <a:uFillTx/>
              <a:latin typeface="Manrope" pitchFamily="2" charset="0"/>
              <a:cs typeface="Segoe UI" panose="020B0502040204020203" pitchFamily="34" charset="0"/>
            </a:endParaRPr>
          </a:p>
        </p:txBody>
      </p:sp>
      <p:sp>
        <p:nvSpPr>
          <p:cNvPr id="8" name="Text Placeholder 13">
            <a:extLst>
              <a:ext uri="{FF2B5EF4-FFF2-40B4-BE49-F238E27FC236}">
                <a16:creationId xmlns:a16="http://schemas.microsoft.com/office/drawing/2014/main" id="{030033E5-357E-5DEF-7101-15A201B892A8}"/>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pitchFamily="2" charset="0"/>
              </a:rPr>
              <a:t>Manufacturing</a:t>
            </a:r>
          </a:p>
        </p:txBody>
      </p:sp>
      <p:sp>
        <p:nvSpPr>
          <p:cNvPr id="17" name="TextBox 16">
            <a:extLst>
              <a:ext uri="{FF2B5EF4-FFF2-40B4-BE49-F238E27FC236}">
                <a16:creationId xmlns:a16="http://schemas.microsoft.com/office/drawing/2014/main" id="{898400AF-FB54-525A-89F7-FB8529193888}"/>
              </a:ext>
            </a:extLst>
          </p:cNvPr>
          <p:cNvSpPr txBox="1"/>
          <p:nvPr/>
        </p:nvSpPr>
        <p:spPr>
          <a:xfrm>
            <a:off x="527005" y="570143"/>
            <a:ext cx="5494093"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anrope" pitchFamily="2" charset="0"/>
              </a:rPr>
              <a:t>Case Study: SAP S/4 HANA to Snowflake Migration for a large </a:t>
            </a:r>
            <a:br>
              <a:rPr kumimoji="0" lang="en-US" sz="1100" b="0" i="0" u="none" strike="noStrike" kern="1200" cap="none" spc="0" normalizeH="0" baseline="0" noProof="0">
                <a:ln>
                  <a:noFill/>
                </a:ln>
                <a:solidFill>
                  <a:srgbClr val="000000"/>
                </a:solidFill>
                <a:effectLst/>
                <a:uLnTx/>
                <a:uFillTx/>
                <a:latin typeface="Manrope" pitchFamily="2" charset="0"/>
              </a:rPr>
            </a:br>
            <a:r>
              <a:rPr kumimoji="0" lang="en-US" sz="1100" b="0" i="0" u="none" strike="noStrike" kern="1200" cap="none" spc="0" normalizeH="0" baseline="0" noProof="0">
                <a:ln>
                  <a:noFill/>
                </a:ln>
                <a:solidFill>
                  <a:srgbClr val="000000"/>
                </a:solidFill>
                <a:effectLst/>
                <a:uLnTx/>
                <a:uFillTx/>
                <a:latin typeface="Manrope" pitchFamily="2" charset="0"/>
              </a:rPr>
              <a:t>US-based mining organization</a:t>
            </a:r>
          </a:p>
        </p:txBody>
      </p:sp>
      <p:sp>
        <p:nvSpPr>
          <p:cNvPr id="13" name="Text Placeholder 1">
            <a:extLst>
              <a:ext uri="{FF2B5EF4-FFF2-40B4-BE49-F238E27FC236}">
                <a16:creationId xmlns:a16="http://schemas.microsoft.com/office/drawing/2014/main" id="{0C33DF38-B2F6-1CAE-A52B-502B88685094}"/>
              </a:ext>
            </a:extLst>
          </p:cNvPr>
          <p:cNvSpPr txBox="1">
            <a:spLocks/>
          </p:cNvSpPr>
          <p:nvPr/>
        </p:nvSpPr>
        <p:spPr>
          <a:xfrm>
            <a:off x="641777" y="5943533"/>
            <a:ext cx="2497663"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1200" cap="none" spc="10" normalizeH="0" baseline="0" noProof="0">
                <a:ln>
                  <a:noFill/>
                </a:ln>
                <a:solidFill>
                  <a:schemeClr val="tx1"/>
                </a:solidFill>
                <a:effectLst/>
                <a:uLnTx/>
                <a:uFillTx/>
                <a:latin typeface="Manrope" pitchFamily="2" charset="0"/>
              </a:rPr>
              <a:t>Lesser TCO due to increase in automation</a:t>
            </a:r>
          </a:p>
        </p:txBody>
      </p:sp>
      <p:sp>
        <p:nvSpPr>
          <p:cNvPr id="18" name="Text Placeholder 2">
            <a:extLst>
              <a:ext uri="{FF2B5EF4-FFF2-40B4-BE49-F238E27FC236}">
                <a16:creationId xmlns:a16="http://schemas.microsoft.com/office/drawing/2014/main" id="{13FE6975-9FDE-6B22-CF1F-C84B95C58818}"/>
              </a:ext>
            </a:extLst>
          </p:cNvPr>
          <p:cNvSpPr txBox="1">
            <a:spLocks/>
          </p:cNvSpPr>
          <p:nvPr/>
        </p:nvSpPr>
        <p:spPr>
          <a:xfrm>
            <a:off x="619285" y="5528036"/>
            <a:ext cx="228737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3000" b="0" i="0" u="none" strike="noStrike" kern="1200" cap="none" spc="0" normalizeH="0" baseline="0" noProof="0">
                <a:ln>
                  <a:noFill/>
                </a:ln>
                <a:solidFill>
                  <a:srgbClr val="3C2DDA"/>
                </a:solidFill>
                <a:effectLst/>
                <a:uLnTx/>
                <a:uFillTx/>
                <a:latin typeface="Manrope" pitchFamily="2" charset="0"/>
              </a:rPr>
              <a:t>50%</a:t>
            </a:r>
          </a:p>
        </p:txBody>
      </p:sp>
      <p:pic>
        <p:nvPicPr>
          <p:cNvPr id="2" name="Picture 1" descr="A close up of a logo&#10;&#10;Description automatically generated">
            <a:extLst>
              <a:ext uri="{FF2B5EF4-FFF2-40B4-BE49-F238E27FC236}">
                <a16:creationId xmlns:a16="http://schemas.microsoft.com/office/drawing/2014/main" id="{ECC0E81B-7E70-BA33-E364-A32CEB9ECEC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57787" y="147436"/>
            <a:ext cx="1877273" cy="518800"/>
          </a:xfrm>
          <a:prstGeom prst="rect">
            <a:avLst/>
          </a:prstGeom>
        </p:spPr>
      </p:pic>
      <p:pic>
        <p:nvPicPr>
          <p:cNvPr id="9" name="Picture Placeholder 8" descr="A group of men looking at a computer screen&#10;&#10;AI-generated content may be incorrect.">
            <a:extLst>
              <a:ext uri="{FF2B5EF4-FFF2-40B4-BE49-F238E27FC236}">
                <a16:creationId xmlns:a16="http://schemas.microsoft.com/office/drawing/2014/main" id="{2D9D8C32-B3DA-12BC-48D6-EA90408CC1CB}"/>
              </a:ext>
            </a:extLst>
          </p:cNvPr>
          <p:cNvPicPr>
            <a:picLocks noGrp="1" noChangeAspect="1"/>
          </p:cNvPicPr>
          <p:nvPr>
            <p:ph type="pic" sz="quarter" idx="17"/>
          </p:nvPr>
        </p:nvPicPr>
        <p:blipFill>
          <a:blip r:embed="rId4"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1878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0BB2F-F2BF-5D08-F3EB-6EF3B18C219F}"/>
            </a:ext>
          </a:extLst>
        </p:cNvPr>
        <p:cNvGrpSpPr/>
        <p:nvPr/>
      </p:nvGrpSpPr>
      <p:grpSpPr>
        <a:xfrm>
          <a:off x="0" y="0"/>
          <a:ext cx="0" cy="0"/>
          <a:chOff x="0" y="0"/>
          <a:chExt cx="0" cy="0"/>
        </a:xfrm>
      </p:grpSpPr>
      <p:sp>
        <p:nvSpPr>
          <p:cNvPr id="10" name="Text Placeholder 2">
            <a:extLst>
              <a:ext uri="{FF2B5EF4-FFF2-40B4-BE49-F238E27FC236}">
                <a16:creationId xmlns:a16="http://schemas.microsoft.com/office/drawing/2014/main" id="{49F621C2-3343-0C61-2FD1-8C3A18AEA817}"/>
              </a:ext>
            </a:extLst>
          </p:cNvPr>
          <p:cNvSpPr>
            <a:spLocks noGrp="1"/>
          </p:cNvSpPr>
          <p:nvPr>
            <p:ph type="body" sz="quarter" idx="18"/>
          </p:nvPr>
        </p:nvSpPr>
        <p:spPr>
          <a:xfrm>
            <a:off x="634521" y="5234279"/>
            <a:ext cx="1838938" cy="387798"/>
          </a:xfrm>
          <a:noFill/>
        </p:spPr>
        <p:txBody>
          <a:bodyPr wrap="square" lIns="0" tIns="0" rIns="0" bIns="0" rtlCol="0">
            <a:spAutoFit/>
          </a:bodyPr>
          <a:lstStyle/>
          <a:p>
            <a:pPr>
              <a:buClr>
                <a:srgbClr val="3C2DDA"/>
              </a:buClr>
            </a:pPr>
            <a:r>
              <a:rPr lang="en-US" sz="3000" spc="0">
                <a:solidFill>
                  <a:srgbClr val="3C2DDA"/>
                </a:solidFill>
                <a:latin typeface="Manrope" pitchFamily="2" charset="0"/>
              </a:rPr>
              <a:t>200M</a:t>
            </a:r>
          </a:p>
        </p:txBody>
      </p:sp>
      <p:sp>
        <p:nvSpPr>
          <p:cNvPr id="4" name="Text Placeholder 3">
            <a:extLst>
              <a:ext uri="{FF2B5EF4-FFF2-40B4-BE49-F238E27FC236}">
                <a16:creationId xmlns:a16="http://schemas.microsoft.com/office/drawing/2014/main" id="{58F88708-F938-9D7C-00D6-92A321DEEB9D}"/>
              </a:ext>
            </a:extLst>
          </p:cNvPr>
          <p:cNvSpPr>
            <a:spLocks noGrp="1"/>
          </p:cNvSpPr>
          <p:nvPr>
            <p:ph type="body" sz="quarter" idx="19"/>
          </p:nvPr>
        </p:nvSpPr>
        <p:spPr>
          <a:xfrm>
            <a:off x="619285" y="1396949"/>
            <a:ext cx="5398348" cy="1488840"/>
          </a:xfrm>
        </p:spPr>
        <p:txBody>
          <a:bodyPr lIns="0" tIns="0" rIns="0" bIns="0">
            <a:noAutofit/>
          </a:bodyPr>
          <a:lstStyle/>
          <a:p>
            <a:pPr marL="171450" indent="-171450">
              <a:lnSpc>
                <a:spcPct val="100000"/>
              </a:lnSpc>
              <a:spcBef>
                <a:spcPts val="0"/>
              </a:spcBef>
              <a:spcAft>
                <a:spcPts val="300"/>
              </a:spcAft>
              <a:buClr>
                <a:srgbClr val="02051C"/>
              </a:buClr>
              <a:buFont typeface="Arial" panose="020B0604020202020204" pitchFamily="34" charset="0"/>
              <a:buChar char="•"/>
            </a:pPr>
            <a:r>
              <a:rPr lang="en-US" sz="1000" kern="0" spc="0">
                <a:solidFill>
                  <a:srgbClr val="02051C"/>
                </a:solidFill>
                <a:latin typeface="+mn-lt"/>
                <a:cs typeface="Segoe UI" panose="020B0502040204020203" pitchFamily="34" charset="0"/>
              </a:rPr>
              <a:t>One of the world’s leading mining companies in North America</a:t>
            </a:r>
          </a:p>
          <a:p>
            <a:pPr marL="171450" indent="-171450">
              <a:lnSpc>
                <a:spcPct val="100000"/>
              </a:lnSpc>
              <a:spcBef>
                <a:spcPts val="0"/>
              </a:spcBef>
              <a:spcAft>
                <a:spcPts val="300"/>
              </a:spcAft>
              <a:buClr>
                <a:srgbClr val="02051C"/>
              </a:buClr>
              <a:buFont typeface="Arial" panose="020B0604020202020204" pitchFamily="34" charset="0"/>
              <a:buChar char="•"/>
            </a:pPr>
            <a:r>
              <a:rPr lang="en-US" sz="1000" kern="0" spc="0">
                <a:solidFill>
                  <a:srgbClr val="02051C"/>
                </a:solidFill>
                <a:latin typeface="+mn-lt"/>
                <a:cs typeface="Segoe UI" panose="020B0502040204020203" pitchFamily="34" charset="0"/>
              </a:rPr>
              <a:t>Wanted to increase productions To maintain growth in its Americas copper operations </a:t>
            </a:r>
          </a:p>
          <a:p>
            <a:pPr marL="171450" indent="-171450">
              <a:lnSpc>
                <a:spcPct val="100000"/>
              </a:lnSpc>
              <a:spcBef>
                <a:spcPts val="0"/>
              </a:spcBef>
              <a:spcAft>
                <a:spcPts val="300"/>
              </a:spcAft>
              <a:buClr>
                <a:srgbClr val="02051C"/>
              </a:buClr>
              <a:buFont typeface="Arial" panose="020B0604020202020204" pitchFamily="34" charset="0"/>
              <a:buChar char="•"/>
            </a:pPr>
            <a:r>
              <a:rPr lang="en-US" sz="1000" kern="0" spc="0">
                <a:solidFill>
                  <a:srgbClr val="02051C"/>
                </a:solidFill>
                <a:latin typeface="+mn-lt"/>
                <a:cs typeface="Segoe UI" panose="020B0502040204020203" pitchFamily="34" charset="0"/>
              </a:rPr>
              <a:t>Faced challenges as the existing portfolio of mature mines and aging technology would lead to significant cash outlays and lengthy permitting to open new mines. </a:t>
            </a:r>
          </a:p>
          <a:p>
            <a:pPr marL="171450" indent="-171450">
              <a:lnSpc>
                <a:spcPct val="100000"/>
              </a:lnSpc>
              <a:spcBef>
                <a:spcPts val="0"/>
              </a:spcBef>
              <a:spcAft>
                <a:spcPts val="300"/>
              </a:spcAft>
              <a:buClr>
                <a:srgbClr val="02051C"/>
              </a:buClr>
            </a:pPr>
            <a:endParaRPr lang="en-US" sz="1000" kern="0" spc="0">
              <a:solidFill>
                <a:srgbClr val="02051C"/>
              </a:solidFill>
              <a:latin typeface="+mn-lt"/>
              <a:cs typeface="Segoe UI" panose="020B0502040204020203" pitchFamily="34" charset="0"/>
            </a:endParaRPr>
          </a:p>
        </p:txBody>
      </p:sp>
      <p:sp>
        <p:nvSpPr>
          <p:cNvPr id="9" name="Text Placeholder 1">
            <a:extLst>
              <a:ext uri="{FF2B5EF4-FFF2-40B4-BE49-F238E27FC236}">
                <a16:creationId xmlns:a16="http://schemas.microsoft.com/office/drawing/2014/main" id="{65E27666-8D31-A1D4-7FF8-BED66FFF4468}"/>
              </a:ext>
            </a:extLst>
          </p:cNvPr>
          <p:cNvSpPr>
            <a:spLocks noGrp="1"/>
          </p:cNvSpPr>
          <p:nvPr>
            <p:ph type="body" sz="quarter" idx="4294967295"/>
          </p:nvPr>
        </p:nvSpPr>
        <p:spPr>
          <a:xfrm>
            <a:off x="551490" y="5655152"/>
            <a:ext cx="1838938" cy="567615"/>
          </a:xfrm>
          <a:prstGeom prst="rect">
            <a:avLst/>
          </a:prstGeom>
        </p:spPr>
        <p:txBody>
          <a:bodyPr lIns="0" tIns="0" rIns="0" bIns="0">
            <a:normAutofit/>
          </a:bodyPr>
          <a:lstStyle/>
          <a:p>
            <a:pPr marL="0" indent="0">
              <a:buClr>
                <a:srgbClr val="3C2DDA"/>
              </a:buClr>
              <a:buNone/>
            </a:pPr>
            <a:r>
              <a:rPr lang="en-US" sz="1000" spc="10">
                <a:latin typeface="Manrope" pitchFamily="2" charset="0"/>
              </a:rPr>
              <a:t>Increase in pounds in annual copper productions across mines</a:t>
            </a:r>
          </a:p>
        </p:txBody>
      </p:sp>
      <p:sp>
        <p:nvSpPr>
          <p:cNvPr id="5" name="Text Placeholder 3">
            <a:extLst>
              <a:ext uri="{FF2B5EF4-FFF2-40B4-BE49-F238E27FC236}">
                <a16:creationId xmlns:a16="http://schemas.microsoft.com/office/drawing/2014/main" id="{D339D7A1-BE56-CF36-791A-39E069E77B33}"/>
              </a:ext>
            </a:extLst>
          </p:cNvPr>
          <p:cNvSpPr txBox="1">
            <a:spLocks/>
          </p:cNvSpPr>
          <p:nvPr/>
        </p:nvSpPr>
        <p:spPr>
          <a:xfrm>
            <a:off x="616957" y="1104758"/>
            <a:ext cx="1856502" cy="259116"/>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CDA"/>
                </a:solidFill>
                <a:effectLst/>
                <a:uLnTx/>
                <a:uFillTx/>
                <a:latin typeface="Manrope Medium" pitchFamily="2" charset="0"/>
              </a:rPr>
              <a:t>Business Problem</a:t>
            </a:r>
          </a:p>
        </p:txBody>
      </p:sp>
      <p:sp>
        <p:nvSpPr>
          <p:cNvPr id="15" name="Text Placeholder 3">
            <a:extLst>
              <a:ext uri="{FF2B5EF4-FFF2-40B4-BE49-F238E27FC236}">
                <a16:creationId xmlns:a16="http://schemas.microsoft.com/office/drawing/2014/main" id="{73220E31-BADF-DC20-5D9C-B64B91727380}"/>
              </a:ext>
            </a:extLst>
          </p:cNvPr>
          <p:cNvSpPr txBox="1">
            <a:spLocks/>
          </p:cNvSpPr>
          <p:nvPr/>
        </p:nvSpPr>
        <p:spPr>
          <a:xfrm>
            <a:off x="616957" y="2535164"/>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Solution</a:t>
            </a:r>
          </a:p>
        </p:txBody>
      </p:sp>
      <p:sp>
        <p:nvSpPr>
          <p:cNvPr id="16" name="Text Placeholder 3">
            <a:extLst>
              <a:ext uri="{FF2B5EF4-FFF2-40B4-BE49-F238E27FC236}">
                <a16:creationId xmlns:a16="http://schemas.microsoft.com/office/drawing/2014/main" id="{FD4BBCB4-9231-4C3C-2457-DFEE013C7D3A}"/>
              </a:ext>
            </a:extLst>
          </p:cNvPr>
          <p:cNvSpPr txBox="1">
            <a:spLocks/>
          </p:cNvSpPr>
          <p:nvPr/>
        </p:nvSpPr>
        <p:spPr>
          <a:xfrm>
            <a:off x="620422" y="2831891"/>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The solution involved enhancing operational efficiency through advanced analytics to boost copper production from existing mines and utilize technology to access untapped copper resources.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Client adopted a consulting-driven assessment approach to optimize decision-making across the entire value chain.</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Modern mining is a complex and technical undertaking. Technologies such as cloud computing, centralized data warehouses, wireless mesh networks, and IoT sensors enabled Hexaware to bring data closer to operational sites and leverage historical data for insights.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Hexaware utilized its expertise in data engineering and advanced analytics to unlock copper resources primed for production.</a:t>
            </a:r>
          </a:p>
          <a:p>
            <a:pPr marL="0" marR="0" lvl="0" indent="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None/>
              <a:tabLst/>
              <a:defRPr/>
            </a:pPr>
            <a:endPar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endParaRPr>
          </a:p>
        </p:txBody>
      </p:sp>
      <p:sp>
        <p:nvSpPr>
          <p:cNvPr id="11" name="Text Placeholder 1">
            <a:extLst>
              <a:ext uri="{FF2B5EF4-FFF2-40B4-BE49-F238E27FC236}">
                <a16:creationId xmlns:a16="http://schemas.microsoft.com/office/drawing/2014/main" id="{C5653550-9719-334C-2A97-BA7634147EAC}"/>
              </a:ext>
            </a:extLst>
          </p:cNvPr>
          <p:cNvSpPr txBox="1">
            <a:spLocks/>
          </p:cNvSpPr>
          <p:nvPr/>
        </p:nvSpPr>
        <p:spPr>
          <a:xfrm>
            <a:off x="2673077" y="5731210"/>
            <a:ext cx="1757541" cy="415498"/>
          </a:xfrm>
          <a:prstGeom prst="rect">
            <a:avLst/>
          </a:prstGeom>
        </p:spPr>
        <p:txBody>
          <a:bodyPr lIns="0" tIns="0" rIns="0" bIns="0">
            <a:no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kumimoji="0" sz="1000" b="0" i="0" u="none" strike="noStrike" cap="none" spc="10" normalizeH="0" baseline="0">
                <a:ln>
                  <a:noFill/>
                </a:ln>
                <a:effectLst/>
                <a:uLnTx/>
                <a:uFillTx/>
                <a:latin typeface="Manrope" pitchFamily="2" charset="0"/>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10000"/>
              </a:lnSpc>
            </a:pPr>
            <a:r>
              <a:rPr lang="en-US"/>
              <a:t>(up to $500M) EBITDA improvements by scaling analytics</a:t>
            </a:r>
          </a:p>
        </p:txBody>
      </p:sp>
      <p:sp>
        <p:nvSpPr>
          <p:cNvPr id="12" name="Text Placeholder 2">
            <a:extLst>
              <a:ext uri="{FF2B5EF4-FFF2-40B4-BE49-F238E27FC236}">
                <a16:creationId xmlns:a16="http://schemas.microsoft.com/office/drawing/2014/main" id="{DDF57DB1-F03E-EE3A-8945-5032E26CA13A}"/>
              </a:ext>
            </a:extLst>
          </p:cNvPr>
          <p:cNvSpPr txBox="1">
            <a:spLocks/>
          </p:cNvSpPr>
          <p:nvPr/>
        </p:nvSpPr>
        <p:spPr>
          <a:xfrm>
            <a:off x="2527045" y="5239494"/>
            <a:ext cx="1780032" cy="415498"/>
          </a:xfrm>
          <a:prstGeom prst="rect">
            <a:avLst/>
          </a:prstGeom>
          <a:noFill/>
        </p:spPr>
        <p:txBody>
          <a:bodyPr wrap="square" lIns="0" tIns="0" rIns="0" bIns="0" rtlCol="0">
            <a:sp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kumimoji="0" sz="3000" b="0" i="0" u="none" strike="noStrike" cap="none" spc="0" normalizeH="0" baseline="0">
                <a:ln>
                  <a:noFill/>
                </a:ln>
                <a:solidFill>
                  <a:srgbClr val="3C2DDA"/>
                </a:solidFill>
                <a:effectLst/>
                <a:uLnTx/>
                <a:uFillTx/>
                <a:latin typeface="Manrope" pitchFamily="2" charset="0"/>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$350M+</a:t>
            </a:r>
          </a:p>
        </p:txBody>
      </p:sp>
      <p:sp>
        <p:nvSpPr>
          <p:cNvPr id="14" name="Text Placeholder 1">
            <a:extLst>
              <a:ext uri="{FF2B5EF4-FFF2-40B4-BE49-F238E27FC236}">
                <a16:creationId xmlns:a16="http://schemas.microsoft.com/office/drawing/2014/main" id="{D8CD0708-DE86-CB2C-079F-210161E99333}"/>
              </a:ext>
            </a:extLst>
          </p:cNvPr>
          <p:cNvSpPr txBox="1">
            <a:spLocks/>
          </p:cNvSpPr>
          <p:nvPr/>
        </p:nvSpPr>
        <p:spPr>
          <a:xfrm>
            <a:off x="4714165" y="5654992"/>
            <a:ext cx="1296951"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kumimoji="0" sz="1000" b="0" i="0" u="none" strike="noStrike" cap="none" spc="10" normalizeH="0" baseline="0">
                <a:ln>
                  <a:noFill/>
                </a:ln>
                <a:effectLst/>
                <a:uLnTx/>
                <a:uFillTx/>
                <a:latin typeface="Manrope" pitchFamily="2" charset="0"/>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The cost of a new processing facility that could be avoided</a:t>
            </a:r>
          </a:p>
        </p:txBody>
      </p:sp>
      <p:sp>
        <p:nvSpPr>
          <p:cNvPr id="23" name="Text Placeholder 2">
            <a:extLst>
              <a:ext uri="{FF2B5EF4-FFF2-40B4-BE49-F238E27FC236}">
                <a16:creationId xmlns:a16="http://schemas.microsoft.com/office/drawing/2014/main" id="{C2235582-C57F-C631-DE54-ED1C25B3F27A}"/>
              </a:ext>
            </a:extLst>
          </p:cNvPr>
          <p:cNvSpPr txBox="1">
            <a:spLocks/>
          </p:cNvSpPr>
          <p:nvPr/>
        </p:nvSpPr>
        <p:spPr>
          <a:xfrm>
            <a:off x="4691672" y="5239495"/>
            <a:ext cx="1319443" cy="415498"/>
          </a:xfrm>
          <a:prstGeom prst="rect">
            <a:avLst/>
          </a:prstGeom>
          <a:noFill/>
        </p:spPr>
        <p:txBody>
          <a:bodyPr wrap="square" lIns="0" tIns="0" rIns="0" bIns="0" rtlCol="0">
            <a:sp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kumimoji="0" sz="3000" b="0" i="0" u="none" strike="noStrike" cap="none" spc="0" normalizeH="0" baseline="0">
                <a:ln>
                  <a:noFill/>
                </a:ln>
                <a:solidFill>
                  <a:srgbClr val="3C2DDA"/>
                </a:solidFill>
                <a:effectLst/>
                <a:uLnTx/>
                <a:uFillTx/>
                <a:latin typeface="Manrope" pitchFamily="2" charset="0"/>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$1.5-2B</a:t>
            </a:r>
          </a:p>
        </p:txBody>
      </p:sp>
      <p:sp>
        <p:nvSpPr>
          <p:cNvPr id="8" name="Text Placeholder 13">
            <a:extLst>
              <a:ext uri="{FF2B5EF4-FFF2-40B4-BE49-F238E27FC236}">
                <a16:creationId xmlns:a16="http://schemas.microsoft.com/office/drawing/2014/main" id="{A216DDDD-925B-9340-E874-19994E88DBB9}"/>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Manufacturing</a:t>
            </a:r>
          </a:p>
        </p:txBody>
      </p:sp>
      <p:sp>
        <p:nvSpPr>
          <p:cNvPr id="17" name="TextBox 16">
            <a:extLst>
              <a:ext uri="{FF2B5EF4-FFF2-40B4-BE49-F238E27FC236}">
                <a16:creationId xmlns:a16="http://schemas.microsoft.com/office/drawing/2014/main" id="{0ED2BD3F-A845-AE58-E50F-23CADFE38AA1}"/>
              </a:ext>
            </a:extLst>
          </p:cNvPr>
          <p:cNvSpPr txBox="1"/>
          <p:nvPr/>
        </p:nvSpPr>
        <p:spPr>
          <a:xfrm>
            <a:off x="527005" y="498968"/>
            <a:ext cx="5494093"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anrope"/>
              </a:rPr>
              <a:t>Case Study: Unlocking new mining production through Advanced analytics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anrope"/>
            </a:endParaRPr>
          </a:p>
        </p:txBody>
      </p:sp>
      <p:pic>
        <p:nvPicPr>
          <p:cNvPr id="2" name="Picture 1" descr="A close up of a logo&#10;&#10;Description automatically generated">
            <a:extLst>
              <a:ext uri="{FF2B5EF4-FFF2-40B4-BE49-F238E27FC236}">
                <a16:creationId xmlns:a16="http://schemas.microsoft.com/office/drawing/2014/main" id="{50029D24-261A-B575-3C43-FA031A16097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25023" y="115435"/>
            <a:ext cx="1854727" cy="512568"/>
          </a:xfrm>
          <a:prstGeom prst="rect">
            <a:avLst/>
          </a:prstGeom>
        </p:spPr>
      </p:pic>
      <p:pic>
        <p:nvPicPr>
          <p:cNvPr id="18" name="Picture Placeholder 17" descr="A person in a cave&#10;&#10;AI-generated content may be incorrect.">
            <a:extLst>
              <a:ext uri="{FF2B5EF4-FFF2-40B4-BE49-F238E27FC236}">
                <a16:creationId xmlns:a16="http://schemas.microsoft.com/office/drawing/2014/main" id="{569088D5-BB25-5CF2-912B-3999256C6B83}"/>
              </a:ext>
            </a:extLst>
          </p:cNvPr>
          <p:cNvPicPr>
            <a:picLocks noGrp="1" noChangeAspect="1"/>
          </p:cNvPicPr>
          <p:nvPr>
            <p:ph type="pic" sz="quarter" idx="17"/>
          </p:nvPr>
        </p:nvPicPr>
        <p:blipFill>
          <a:blip r:embed="rId4"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65363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56FEC-C520-FD1D-E619-5BA01E2486D8}"/>
            </a:ext>
          </a:extLst>
        </p:cNvPr>
        <p:cNvGrpSpPr/>
        <p:nvPr/>
      </p:nvGrpSpPr>
      <p:grpSpPr>
        <a:xfrm>
          <a:off x="0" y="0"/>
          <a:ext cx="0" cy="0"/>
          <a:chOff x="0" y="0"/>
          <a:chExt cx="0" cy="0"/>
        </a:xfrm>
      </p:grpSpPr>
      <p:pic>
        <p:nvPicPr>
          <p:cNvPr id="17" name="Picture Placeholder 16" descr="A person standing in front of a whiteboard&#10;&#10;Description automatically generated">
            <a:extLst>
              <a:ext uri="{FF2B5EF4-FFF2-40B4-BE49-F238E27FC236}">
                <a16:creationId xmlns:a16="http://schemas.microsoft.com/office/drawing/2014/main" id="{96EF2186-4199-295A-DDC4-1A0EEE9AF0B1}"/>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b="-131"/>
          <a:stretch/>
        </p:blipFill>
        <p:spPr>
          <a:xfrm>
            <a:off x="6438900" y="914401"/>
            <a:ext cx="5753100" cy="4856084"/>
          </a:xfrm>
        </p:spPr>
      </p:pic>
      <p:sp>
        <p:nvSpPr>
          <p:cNvPr id="27" name="Text Placeholder 3">
            <a:extLst>
              <a:ext uri="{FF2B5EF4-FFF2-40B4-BE49-F238E27FC236}">
                <a16:creationId xmlns:a16="http://schemas.microsoft.com/office/drawing/2014/main" id="{D05B4F31-E281-8D3A-238E-B6BE826DF50D}"/>
              </a:ext>
            </a:extLst>
          </p:cNvPr>
          <p:cNvSpPr txBox="1">
            <a:spLocks/>
          </p:cNvSpPr>
          <p:nvPr/>
        </p:nvSpPr>
        <p:spPr>
          <a:xfrm>
            <a:off x="625861" y="1203553"/>
            <a:ext cx="5398348" cy="1968126"/>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in silos: Combined data from multiple sources to single database accessible to all on snowflake</a:t>
            </a:r>
          </a:p>
          <a:p>
            <a:pPr marL="171450" marR="0" lvl="0" indent="-171450" algn="l" defTabSz="914400" rtl="0" eaLnBrk="1" fontAlgn="auto" latinLnBrk="0" hangingPunct="1">
              <a:lnSpc>
                <a:spcPct val="100000"/>
              </a:lnSpc>
              <a:spcBef>
                <a:spcPts val="0"/>
              </a:spcBef>
              <a:spcAft>
                <a:spcPts val="300"/>
              </a:spcAft>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Troubleshooting: Troubleshooting is major pain due to complex logic implemented in Oracle PL/SQL script</a:t>
            </a:r>
          </a:p>
          <a:p>
            <a:pPr marL="171450" marR="0" lvl="0" indent="-171450" algn="l" defTabSz="914400" rtl="0" eaLnBrk="1" fontAlgn="auto" latinLnBrk="0" hangingPunct="1">
              <a:lnSpc>
                <a:spcPct val="100000"/>
              </a:lnSpc>
              <a:spcBef>
                <a:spcPts val="0"/>
              </a:spcBef>
              <a:spcAft>
                <a:spcPts val="300"/>
              </a:spcAft>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Dirty Data: Missing Fields and quality of data in source &amp; lookup DBs</a:t>
            </a:r>
          </a:p>
          <a:p>
            <a:pPr marL="171450" marR="0" lvl="0" indent="-171450" algn="l" defTabSz="914400" rtl="0" eaLnBrk="1" fontAlgn="auto" latinLnBrk="0" hangingPunct="1">
              <a:lnSpc>
                <a:spcPct val="100000"/>
              </a:lnSpc>
              <a:spcBef>
                <a:spcPts val="0"/>
              </a:spcBef>
              <a:spcAft>
                <a:spcPts val="300"/>
              </a:spcAft>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Insights: With current databases in oracle DW and reporting systems it was difficult to stich parts together for more insightful data</a:t>
            </a:r>
          </a:p>
          <a:p>
            <a:pPr marL="171450" marR="0" lvl="0" indent="-171450" algn="l" defTabSz="914400" rtl="0" eaLnBrk="1" fontAlgn="auto" latinLnBrk="0" hangingPunct="1">
              <a:lnSpc>
                <a:spcPct val="100000"/>
              </a:lnSpc>
              <a:spcBef>
                <a:spcPts val="0"/>
              </a:spcBef>
              <a:spcAft>
                <a:spcPts val="300"/>
              </a:spcAft>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Low ROI: With existing databases and different investments in licensing and hardware costs more from maintenance perspective </a:t>
            </a:r>
          </a:p>
          <a:p>
            <a:pPr marL="171450" marR="0" lvl="0" indent="-171450" algn="l" defTabSz="914400" rtl="0" eaLnBrk="1" fontAlgn="auto" latinLnBrk="0" hangingPunct="1">
              <a:lnSpc>
                <a:spcPct val="100000"/>
              </a:lnSpc>
              <a:spcBef>
                <a:spcPts val="0"/>
              </a:spcBef>
              <a:spcAft>
                <a:spcPts val="300"/>
              </a:spcAft>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Scalability: current DW and data marts are not scalable enough to handle future loads and needs</a:t>
            </a:r>
          </a:p>
          <a:p>
            <a:pPr marL="171450" marR="0" lvl="0" indent="-171450" algn="l" defTabSz="914400" rtl="0" eaLnBrk="1" fontAlgn="auto" latinLnBrk="0" hangingPunct="1">
              <a:lnSpc>
                <a:spcPct val="100000"/>
              </a:lnSpc>
              <a:spcBef>
                <a:spcPts val="0"/>
              </a:spcBef>
              <a:spcAft>
                <a:spcPts val="300"/>
              </a:spcAft>
              <a:buSzTx/>
              <a:buFont typeface="Arial" panose="020B0604020202020204" pitchFamily="34" charset="0"/>
              <a:buNone/>
              <a:tabLst/>
              <a:defRPr/>
            </a:pPr>
            <a:endPar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endParaRPr>
          </a:p>
        </p:txBody>
      </p:sp>
      <p:sp>
        <p:nvSpPr>
          <p:cNvPr id="30" name="Text Placeholder 3">
            <a:extLst>
              <a:ext uri="{FF2B5EF4-FFF2-40B4-BE49-F238E27FC236}">
                <a16:creationId xmlns:a16="http://schemas.microsoft.com/office/drawing/2014/main" id="{9BF99044-9928-D374-823A-0B8F4C8F2E80}"/>
              </a:ext>
            </a:extLst>
          </p:cNvPr>
          <p:cNvSpPr txBox="1">
            <a:spLocks/>
          </p:cNvSpPr>
          <p:nvPr/>
        </p:nvSpPr>
        <p:spPr>
          <a:xfrm>
            <a:off x="625861" y="3445377"/>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Implemented RAPID the centralized Datawarehouse/</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Datalake</a:t>
            </a: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which is Single source of truth for all type of data with scalability with snowflake DB.</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Current data pipelines and logic implemented in PL/SQL moved to HVR, Snowflake Connectors for data replication and IICS, Lambda function for better handling of complexity of business logic.</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Availability of more insightful data with Easy data sharing with security with third-party/ vendors and teams around the world</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Reports in OBIEE &amp; Qlik repointed to snowflake from existing DB and better self serviced dashboards built using </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PowerBI</a:t>
            </a: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by Business &amp; IT folks</a:t>
            </a:r>
          </a:p>
          <a:p>
            <a:pPr marL="171450" marR="0" lvl="0" indent="-17145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Unified view of customer, Product and other important attributes from single source of truth from snowflake</a:t>
            </a:r>
          </a:p>
          <a:p>
            <a:pPr marL="0" marR="0" lvl="0" indent="0" algn="l" defTabSz="914400" rtl="0" eaLnBrk="1" fontAlgn="auto" latinLnBrk="0" hangingPunct="1">
              <a:lnSpc>
                <a:spcPct val="100000"/>
              </a:lnSpc>
              <a:spcBef>
                <a:spcPts val="0"/>
              </a:spcBef>
              <a:spcAft>
                <a:spcPts val="300"/>
              </a:spcAft>
              <a:buClr>
                <a:schemeClr val="accent1"/>
              </a:buClr>
              <a:buSzTx/>
              <a:buFont typeface="Arial" panose="020B0604020202020204" pitchFamily="34" charset="0"/>
              <a:buNone/>
              <a:tabLst/>
              <a:defRPr/>
            </a:pPr>
            <a:endPar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endParaRPr>
          </a:p>
        </p:txBody>
      </p:sp>
      <p:sp>
        <p:nvSpPr>
          <p:cNvPr id="31" name="Text Placeholder 13">
            <a:extLst>
              <a:ext uri="{FF2B5EF4-FFF2-40B4-BE49-F238E27FC236}">
                <a16:creationId xmlns:a16="http://schemas.microsoft.com/office/drawing/2014/main" id="{51782028-B427-EB0A-9F02-116DCFD94E5D}"/>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Manufacturing</a:t>
            </a:r>
          </a:p>
        </p:txBody>
      </p:sp>
      <p:sp>
        <p:nvSpPr>
          <p:cNvPr id="32" name="TextBox 31">
            <a:extLst>
              <a:ext uri="{FF2B5EF4-FFF2-40B4-BE49-F238E27FC236}">
                <a16:creationId xmlns:a16="http://schemas.microsoft.com/office/drawing/2014/main" id="{17A8EA0E-ADB5-49BB-B22A-9D8BB59EADB0}"/>
              </a:ext>
            </a:extLst>
          </p:cNvPr>
          <p:cNvSpPr txBox="1"/>
          <p:nvPr/>
        </p:nvSpPr>
        <p:spPr>
          <a:xfrm>
            <a:off x="527005" y="498968"/>
            <a:ext cx="5494093"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0" cap="none" spc="0" normalizeH="0" baseline="0" noProof="0">
                <a:ln>
                  <a:noFill/>
                </a:ln>
                <a:solidFill>
                  <a:srgbClr val="000000"/>
                </a:solidFill>
                <a:effectLst/>
                <a:uLnTx/>
                <a:uFillTx/>
                <a:latin typeface="Manrope"/>
              </a:rPr>
              <a:t>Case Study: Transformative platform on Snowflake for a Electronics Manufacturer</a:t>
            </a:r>
          </a:p>
        </p:txBody>
      </p:sp>
      <p:sp>
        <p:nvSpPr>
          <p:cNvPr id="41" name="Text Placeholder 2">
            <a:extLst>
              <a:ext uri="{FF2B5EF4-FFF2-40B4-BE49-F238E27FC236}">
                <a16:creationId xmlns:a16="http://schemas.microsoft.com/office/drawing/2014/main" id="{B9411E6A-D433-F24A-644B-115FC457A097}"/>
              </a:ext>
            </a:extLst>
          </p:cNvPr>
          <p:cNvSpPr txBox="1">
            <a:spLocks/>
          </p:cNvSpPr>
          <p:nvPr/>
        </p:nvSpPr>
        <p:spPr>
          <a:xfrm>
            <a:off x="628667" y="5405875"/>
            <a:ext cx="1838938" cy="387798"/>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800" b="0" i="0" u="none" strike="noStrike" kern="1200" cap="none" spc="10" normalizeH="0" baseline="0" noProof="0">
                <a:ln>
                  <a:noFill/>
                </a:ln>
                <a:solidFill>
                  <a:srgbClr val="3C2CDA"/>
                </a:solidFill>
                <a:effectLst/>
                <a:uLnTx/>
                <a:uFillTx/>
                <a:latin typeface="Manrope"/>
              </a:rPr>
              <a:t>30-40%</a:t>
            </a:r>
          </a:p>
        </p:txBody>
      </p:sp>
      <p:sp>
        <p:nvSpPr>
          <p:cNvPr id="42" name="Text Placeholder 1">
            <a:extLst>
              <a:ext uri="{FF2B5EF4-FFF2-40B4-BE49-F238E27FC236}">
                <a16:creationId xmlns:a16="http://schemas.microsoft.com/office/drawing/2014/main" id="{A47CA9D7-33CA-961D-3E87-8E24248C8814}"/>
              </a:ext>
            </a:extLst>
          </p:cNvPr>
          <p:cNvSpPr txBox="1">
            <a:spLocks/>
          </p:cNvSpPr>
          <p:nvPr/>
        </p:nvSpPr>
        <p:spPr>
          <a:xfrm>
            <a:off x="527005" y="5800715"/>
            <a:ext cx="2332403" cy="662448"/>
          </a:xfrm>
          <a:prstGeom prst="rect">
            <a:avLst/>
          </a:prstGeom>
        </p:spPr>
        <p:txBody>
          <a:bodyPr>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None/>
              <a:tabLst/>
              <a:defRPr/>
            </a:pPr>
            <a:r>
              <a:rPr kumimoji="0" lang="en-US" sz="1000" b="0" i="0" u="none" strike="noStrike" kern="1200" cap="none" spc="0" normalizeH="0" baseline="0" noProof="0">
                <a:ln>
                  <a:noFill/>
                </a:ln>
                <a:effectLst/>
                <a:uLnTx/>
                <a:uFillTx/>
                <a:latin typeface="Manrope"/>
              </a:rPr>
              <a:t>Development time using Framework driven approach to populate data in Snowflake DW</a:t>
            </a:r>
          </a:p>
        </p:txBody>
      </p:sp>
      <p:sp>
        <p:nvSpPr>
          <p:cNvPr id="45" name="Text Placeholder 1">
            <a:extLst>
              <a:ext uri="{FF2B5EF4-FFF2-40B4-BE49-F238E27FC236}">
                <a16:creationId xmlns:a16="http://schemas.microsoft.com/office/drawing/2014/main" id="{055EAE26-C432-0EC1-4C2B-CFDF9BC04B7E}"/>
              </a:ext>
            </a:extLst>
          </p:cNvPr>
          <p:cNvSpPr txBox="1">
            <a:spLocks/>
          </p:cNvSpPr>
          <p:nvPr/>
        </p:nvSpPr>
        <p:spPr>
          <a:xfrm>
            <a:off x="2976449" y="5829992"/>
            <a:ext cx="1644978" cy="415499"/>
          </a:xfrm>
          <a:prstGeom prst="rect">
            <a:avLst/>
          </a:prstGeom>
        </p:spPr>
        <p:txBody>
          <a:bodyPr>
            <a:noAutofit/>
          </a:bodyPr>
          <a:lstStyle>
            <a:defPPr>
              <a:defRPr lang="en-US"/>
            </a:defPPr>
            <a:lvl1pPr marR="0" lvl="0" indent="0" fontAlgn="auto">
              <a:lnSpc>
                <a:spcPct val="90000"/>
              </a:lnSpc>
              <a:spcBef>
                <a:spcPts val="1000"/>
              </a:spcBef>
              <a:spcAft>
                <a:spcPts val="0"/>
              </a:spcAft>
              <a:buClr>
                <a:srgbClr val="3C2CDA"/>
              </a:buClr>
              <a:buSzTx/>
              <a:buFont typeface="Arial" panose="020B0604020202020204" pitchFamily="34" charset="0"/>
              <a:buNone/>
              <a:tabLst/>
              <a:defRPr kumimoji="0" sz="1000" b="0" i="0" u="none" strike="noStrike" cap="none" spc="0" normalizeH="0" baseline="0">
                <a:ln>
                  <a:noFill/>
                </a:ln>
                <a:effectLst/>
                <a:uLnTx/>
                <a:uFillTx/>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Lesser TCO due to increase in automation</a:t>
            </a:r>
          </a:p>
        </p:txBody>
      </p:sp>
      <p:sp>
        <p:nvSpPr>
          <p:cNvPr id="46" name="Text Placeholder 2">
            <a:extLst>
              <a:ext uri="{FF2B5EF4-FFF2-40B4-BE49-F238E27FC236}">
                <a16:creationId xmlns:a16="http://schemas.microsoft.com/office/drawing/2014/main" id="{4DF3D495-DD7F-C53F-8E34-B53717797DEF}"/>
              </a:ext>
            </a:extLst>
          </p:cNvPr>
          <p:cNvSpPr txBox="1">
            <a:spLocks/>
          </p:cNvSpPr>
          <p:nvPr/>
        </p:nvSpPr>
        <p:spPr>
          <a:xfrm>
            <a:off x="2953957" y="5414495"/>
            <a:ext cx="1187756" cy="387798"/>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CDA"/>
              </a:buClr>
              <a:buSzTx/>
              <a:buFont typeface="Arial" panose="020B0604020202020204" pitchFamily="34" charset="0"/>
              <a:buNone/>
              <a:tabLst/>
              <a:defRPr kumimoji="0" sz="2800" b="0" i="0" u="none" strike="noStrike" cap="none" spc="10" normalizeH="0" baseline="0">
                <a:ln>
                  <a:noFill/>
                </a:ln>
                <a:solidFill>
                  <a:srgbClr val="3C2CDA"/>
                </a:solidFill>
                <a:effectLst/>
                <a:uLnTx/>
                <a:uFillTx/>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30%</a:t>
            </a:r>
          </a:p>
        </p:txBody>
      </p:sp>
      <p:pic>
        <p:nvPicPr>
          <p:cNvPr id="2" name="Picture 1">
            <a:extLst>
              <a:ext uri="{FF2B5EF4-FFF2-40B4-BE49-F238E27FC236}">
                <a16:creationId xmlns:a16="http://schemas.microsoft.com/office/drawing/2014/main" id="{6DEC59C4-00C4-70B0-6E50-2534FE95D425}"/>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887693" y="339612"/>
            <a:ext cx="750448" cy="257296"/>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3">
            <a:extLst>
              <a:ext uri="{FF2B5EF4-FFF2-40B4-BE49-F238E27FC236}">
                <a16:creationId xmlns:a16="http://schemas.microsoft.com/office/drawing/2014/main" id="{90942F09-E6C1-A564-B8C8-1ABD156F16DB}"/>
              </a:ext>
            </a:extLst>
          </p:cNvPr>
          <p:cNvSpPr txBox="1">
            <a:spLocks/>
          </p:cNvSpPr>
          <p:nvPr/>
        </p:nvSpPr>
        <p:spPr>
          <a:xfrm>
            <a:off x="625861" y="951660"/>
            <a:ext cx="2108675" cy="190342"/>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Business Problem</a:t>
            </a:r>
          </a:p>
        </p:txBody>
      </p:sp>
      <p:sp>
        <p:nvSpPr>
          <p:cNvPr id="5" name="Text Placeholder 3">
            <a:extLst>
              <a:ext uri="{FF2B5EF4-FFF2-40B4-BE49-F238E27FC236}">
                <a16:creationId xmlns:a16="http://schemas.microsoft.com/office/drawing/2014/main" id="{4AC40882-F1E9-A785-25D2-BFFD5367028A}"/>
              </a:ext>
            </a:extLst>
          </p:cNvPr>
          <p:cNvSpPr txBox="1">
            <a:spLocks/>
          </p:cNvSpPr>
          <p:nvPr/>
        </p:nvSpPr>
        <p:spPr>
          <a:xfrm>
            <a:off x="620422" y="3143874"/>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0000"/>
              </a:buClr>
              <a:buFont typeface="Arial" panose="020B0604020202020204" pitchFamily="34" charset="0"/>
              <a:buNone/>
              <a:defRPr/>
            </a:pPr>
            <a:r>
              <a:rPr lang="en-IN" sz="1400">
                <a:solidFill>
                  <a:srgbClr val="3C2CDA"/>
                </a:solidFill>
                <a:latin typeface="Manrope Medium" pitchFamily="2" charset="0"/>
              </a:rPr>
              <a:t>Solution</a:t>
            </a:r>
          </a:p>
        </p:txBody>
      </p:sp>
    </p:spTree>
    <p:extLst>
      <p:ext uri="{BB962C8B-B14F-4D97-AF65-F5344CB8AC3E}">
        <p14:creationId xmlns:p14="http://schemas.microsoft.com/office/powerpoint/2010/main" val="29975199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0F7E6-472F-3F90-DEC0-2DB8430E744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E194B24-A915-305C-852D-92643FCA3CF3}"/>
              </a:ext>
            </a:extLst>
          </p:cNvPr>
          <p:cNvSpPr>
            <a:spLocks noGrp="1"/>
          </p:cNvSpPr>
          <p:nvPr>
            <p:ph type="body" sz="quarter" idx="20"/>
          </p:nvPr>
        </p:nvSpPr>
        <p:spPr>
          <a:xfrm>
            <a:off x="516201" y="1123892"/>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sp>
        <p:nvSpPr>
          <p:cNvPr id="22" name="Picture Placeholder 21">
            <a:extLst>
              <a:ext uri="{FF2B5EF4-FFF2-40B4-BE49-F238E27FC236}">
                <a16:creationId xmlns:a16="http://schemas.microsoft.com/office/drawing/2014/main" id="{FBF57218-2CC9-D352-A7DA-592840A25862}"/>
              </a:ext>
            </a:extLst>
          </p:cNvPr>
          <p:cNvSpPr>
            <a:spLocks noGrp="1"/>
          </p:cNvSpPr>
          <p:nvPr>
            <p:ph type="pic" sz="quarter" idx="17"/>
          </p:nvPr>
        </p:nvSpPr>
        <p:spPr/>
        <p:txBody>
          <a:bodyPr/>
          <a:lstStyle/>
          <a:p>
            <a:endParaRPr lang="en-US"/>
          </a:p>
        </p:txBody>
      </p:sp>
      <p:pic>
        <p:nvPicPr>
          <p:cNvPr id="5" name="Picture Placeholder 28">
            <a:extLst>
              <a:ext uri="{FF2B5EF4-FFF2-40B4-BE49-F238E27FC236}">
                <a16:creationId xmlns:a16="http://schemas.microsoft.com/office/drawing/2014/main" id="{B54A34C1-5DA1-CB1B-7305-D3E75D59392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438900" y="914401"/>
            <a:ext cx="5753100" cy="4856084"/>
          </a:xfrm>
          <a:prstGeom prst="rect">
            <a:avLst/>
          </a:prstGeom>
        </p:spPr>
      </p:pic>
      <p:sp>
        <p:nvSpPr>
          <p:cNvPr id="45" name="TextBox 44">
            <a:extLst>
              <a:ext uri="{FF2B5EF4-FFF2-40B4-BE49-F238E27FC236}">
                <a16:creationId xmlns:a16="http://schemas.microsoft.com/office/drawing/2014/main" id="{39099C4E-B6BA-5B0C-16A6-F85F2A76B527}"/>
              </a:ext>
            </a:extLst>
          </p:cNvPr>
          <p:cNvSpPr txBox="1"/>
          <p:nvPr/>
        </p:nvSpPr>
        <p:spPr>
          <a:xfrm>
            <a:off x="422782" y="1414766"/>
            <a:ext cx="5494093" cy="1323439"/>
          </a:xfrm>
          <a:prstGeom prst="rect">
            <a:avLst/>
          </a:prstGeom>
          <a:noFill/>
        </p:spPr>
        <p:txBody>
          <a:bodyPr wrap="square">
            <a:spAutoFit/>
          </a:bodyPr>
          <a:lstStyle/>
          <a:p>
            <a:pPr marL="171450" indent="-171450" algn="l">
              <a:buFont typeface="Arial" panose="020B0604020202020204" pitchFamily="34" charset="0"/>
              <a:buChar char="•"/>
            </a:pPr>
            <a:r>
              <a:rPr lang="en-US" sz="1000" b="0" i="0">
                <a:solidFill>
                  <a:srgbClr val="282828"/>
                </a:solidFill>
                <a:effectLst/>
              </a:rPr>
              <a:t>Scalability limitations and high operational costs.</a:t>
            </a:r>
          </a:p>
          <a:p>
            <a:pPr marL="171450" indent="-171450" algn="l">
              <a:buFont typeface="Arial" panose="020B0604020202020204" pitchFamily="34" charset="0"/>
              <a:buChar char="•"/>
            </a:pPr>
            <a:r>
              <a:rPr lang="en-US" sz="1000" b="0" i="0">
                <a:solidFill>
                  <a:srgbClr val="282828"/>
                </a:solidFill>
                <a:effectLst/>
              </a:rPr>
              <a:t>Slow query performance and high latency during data retrieval.</a:t>
            </a:r>
          </a:p>
          <a:p>
            <a:pPr marL="171450" indent="-171450" algn="l">
              <a:buFont typeface="Arial" panose="020B0604020202020204" pitchFamily="34" charset="0"/>
              <a:buChar char="•"/>
            </a:pPr>
            <a:r>
              <a:rPr lang="en-US" sz="1000" b="0" i="0">
                <a:solidFill>
                  <a:srgbClr val="282828"/>
                </a:solidFill>
                <a:effectLst/>
              </a:rPr>
              <a:t>Complex data integration workflows causing delays in analytics and reporting.</a:t>
            </a:r>
          </a:p>
          <a:p>
            <a:pPr marL="171450" indent="-171450" algn="l">
              <a:buFont typeface="Arial" panose="020B0604020202020204" pitchFamily="34" charset="0"/>
              <a:buChar char="•"/>
            </a:pPr>
            <a:r>
              <a:rPr lang="en-US" sz="1000" b="0" i="0">
                <a:solidFill>
                  <a:srgbClr val="282828"/>
                </a:solidFill>
                <a:effectLst/>
              </a:rPr>
              <a:t>Lack of a centralized data lake, hindering data consolidation and advanced analytics.</a:t>
            </a:r>
          </a:p>
          <a:p>
            <a:pPr marR="0" lvl="0" algn="l" defTabSz="914400" rtl="0" eaLnBrk="1" fontAlgn="auto" latinLnBrk="0" hangingPunct="1">
              <a:lnSpc>
                <a:spcPct val="100000"/>
              </a:lnSpc>
              <a:spcBef>
                <a:spcPts val="0"/>
              </a:spcBef>
              <a:spcAft>
                <a:spcPts val="0"/>
              </a:spcAft>
              <a:buClr>
                <a:srgbClr val="3C2CDA"/>
              </a:buClr>
              <a:buSzTx/>
              <a:tabLst/>
              <a:defRPr/>
            </a:pPr>
            <a:endParaRPr lang="en-US" sz="1000">
              <a:solidFill>
                <a:srgbClr val="000000"/>
              </a:solidFill>
            </a:endParaRPr>
          </a:p>
          <a:p>
            <a:pPr marR="0" lvl="0" algn="l" defTabSz="914400" rtl="0" eaLnBrk="1" fontAlgn="auto" latinLnBrk="0" hangingPunct="1">
              <a:lnSpc>
                <a:spcPct val="100000"/>
              </a:lnSpc>
              <a:spcBef>
                <a:spcPts val="0"/>
              </a:spcBef>
              <a:spcAft>
                <a:spcPts val="0"/>
              </a:spcAft>
              <a:buClr>
                <a:srgbClr val="3C2CDA"/>
              </a:buClr>
              <a:buSzTx/>
              <a:tabLst/>
              <a:defRPr/>
            </a:pPr>
            <a:r>
              <a:rPr lang="en-US" sz="1000" b="0" i="0">
                <a:solidFill>
                  <a:srgbClr val="282828"/>
                </a:solidFill>
                <a:effectLst/>
              </a:rPr>
              <a:t>The migration to a Snowflake data lake hosted on Azure posed additional challenges, including ensuring seamless data integration, maintaining data quality during transformation, and minimizing downtime.</a:t>
            </a:r>
            <a:endParaRPr kumimoji="0" lang="en-US" sz="1000" b="0" i="0" u="none" strike="noStrike" kern="1200" cap="none" spc="0" normalizeH="0" baseline="0" noProof="0">
              <a:ln>
                <a:noFill/>
              </a:ln>
              <a:solidFill>
                <a:srgbClr val="000000"/>
              </a:solidFill>
              <a:effectLst/>
              <a:uLnTx/>
              <a:uFillTx/>
            </a:endParaRPr>
          </a:p>
        </p:txBody>
      </p:sp>
      <p:sp>
        <p:nvSpPr>
          <p:cNvPr id="6" name="Text Placeholder 3">
            <a:extLst>
              <a:ext uri="{FF2B5EF4-FFF2-40B4-BE49-F238E27FC236}">
                <a16:creationId xmlns:a16="http://schemas.microsoft.com/office/drawing/2014/main" id="{232996D5-E731-133C-ED7F-FFEFB817C44B}"/>
              </a:ext>
            </a:extLst>
          </p:cNvPr>
          <p:cNvSpPr txBox="1">
            <a:spLocks/>
          </p:cNvSpPr>
          <p:nvPr/>
        </p:nvSpPr>
        <p:spPr>
          <a:xfrm>
            <a:off x="516201" y="2847648"/>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r>
              <a:rPr kumimoji="0" lang="en-IN" sz="1400" b="0" i="0" u="none" strike="noStrike" kern="1200" cap="none" spc="10" normalizeH="0" baseline="0" noProof="0">
                <a:ln>
                  <a:noFill/>
                </a:ln>
                <a:solidFill>
                  <a:srgbClr val="3C2CDA"/>
                </a:solidFill>
                <a:effectLst/>
                <a:uLnTx/>
                <a:uFillTx/>
                <a:latin typeface="Manrope Medium" pitchFamily="2" charset="0"/>
              </a:rPr>
              <a:t>Solution</a:t>
            </a:r>
          </a:p>
        </p:txBody>
      </p:sp>
      <p:sp>
        <p:nvSpPr>
          <p:cNvPr id="7" name="TextBox 6">
            <a:extLst>
              <a:ext uri="{FF2B5EF4-FFF2-40B4-BE49-F238E27FC236}">
                <a16:creationId xmlns:a16="http://schemas.microsoft.com/office/drawing/2014/main" id="{1B73EB8F-4E0B-98B8-775E-3F3A120614CD}"/>
              </a:ext>
            </a:extLst>
          </p:cNvPr>
          <p:cNvSpPr txBox="1"/>
          <p:nvPr/>
        </p:nvSpPr>
        <p:spPr>
          <a:xfrm>
            <a:off x="422782" y="3154020"/>
            <a:ext cx="5565531" cy="1631216"/>
          </a:xfrm>
          <a:prstGeom prst="rect">
            <a:avLst/>
          </a:prstGeom>
          <a:noFill/>
        </p:spPr>
        <p:txBody>
          <a:bodyPr wrap="square">
            <a:spAutoFit/>
          </a:bodyPr>
          <a:lstStyle/>
          <a:p>
            <a:pPr marL="171450" indent="-171450" algn="l">
              <a:buFont typeface="Arial" panose="020B0604020202020204" pitchFamily="34" charset="0"/>
              <a:buChar char="•"/>
            </a:pPr>
            <a:r>
              <a:rPr lang="en-US" sz="1000" b="1" i="0">
                <a:solidFill>
                  <a:srgbClr val="282828"/>
                </a:solidFill>
                <a:effectLst/>
              </a:rPr>
              <a:t>Data Migration Process</a:t>
            </a:r>
            <a:r>
              <a:rPr lang="en-US" sz="1000" b="0" i="0">
                <a:solidFill>
                  <a:srgbClr val="282828"/>
                </a:solidFill>
                <a:effectLst/>
              </a:rPr>
              <a:t>: Extracted data from the SQL Server on SAP cloud, transformed it using Snowflake Snowpark procedures, and loaded it into the Azure-hosted Snowflake data lake.</a:t>
            </a:r>
          </a:p>
          <a:p>
            <a:pPr marL="171450" indent="-171450" algn="l">
              <a:buFont typeface="Arial" panose="020B0604020202020204" pitchFamily="34" charset="0"/>
              <a:buChar char="•"/>
            </a:pPr>
            <a:r>
              <a:rPr lang="en-US" sz="1000" b="1" i="0">
                <a:solidFill>
                  <a:srgbClr val="282828"/>
                </a:solidFill>
                <a:effectLst/>
              </a:rPr>
              <a:t>Streamlined Integration Workflows</a:t>
            </a:r>
            <a:r>
              <a:rPr lang="en-US" sz="1000" b="0" i="0">
                <a:solidFill>
                  <a:srgbClr val="282828"/>
                </a:solidFill>
                <a:effectLst/>
              </a:rPr>
              <a:t>: Leveraged Apache Airflow for orchestration and tools like Azure Data Factory and </a:t>
            </a:r>
            <a:r>
              <a:rPr lang="en-US" sz="1000" b="0" i="0" err="1">
                <a:solidFill>
                  <a:srgbClr val="282828"/>
                </a:solidFill>
                <a:effectLst/>
              </a:rPr>
              <a:t>dbt</a:t>
            </a:r>
            <a:r>
              <a:rPr lang="en-US" sz="1000" b="0" i="0">
                <a:solidFill>
                  <a:srgbClr val="282828"/>
                </a:solidFill>
                <a:effectLst/>
              </a:rPr>
              <a:t> (data build tool) for data transformation and enrichment.</a:t>
            </a:r>
          </a:p>
          <a:p>
            <a:pPr marL="171450" indent="-171450" algn="l">
              <a:buFont typeface="Arial" panose="020B0604020202020204" pitchFamily="34" charset="0"/>
              <a:buChar char="•"/>
            </a:pPr>
            <a:r>
              <a:rPr lang="en-US" sz="1000" b="1" i="0">
                <a:solidFill>
                  <a:srgbClr val="282828"/>
                </a:solidFill>
                <a:effectLst/>
              </a:rPr>
              <a:t>Automation</a:t>
            </a:r>
            <a:r>
              <a:rPr lang="en-US" sz="1000" b="0" i="0">
                <a:solidFill>
                  <a:srgbClr val="282828"/>
                </a:solidFill>
                <a:effectLst/>
              </a:rPr>
              <a:t>: Automated schema migration and data quality checks using a framework-driven approach to ensure accuracy and consistency.</a:t>
            </a:r>
          </a:p>
          <a:p>
            <a:pPr marL="171450" indent="-171450" algn="l">
              <a:buFont typeface="Arial" panose="020B0604020202020204" pitchFamily="34" charset="0"/>
              <a:buChar char="•"/>
            </a:pPr>
            <a:r>
              <a:rPr lang="en-US" sz="1000" b="1" i="0">
                <a:solidFill>
                  <a:srgbClr val="282828"/>
                </a:solidFill>
                <a:effectLst/>
              </a:rPr>
              <a:t>Centralized Data Lake Setup</a:t>
            </a:r>
            <a:r>
              <a:rPr lang="en-US" sz="1000" b="0" i="0">
                <a:solidFill>
                  <a:srgbClr val="282828"/>
                </a:solidFill>
                <a:effectLst/>
              </a:rPr>
              <a:t>: Enabled seamless integration of data from multiple sources to support advanced analytics and BI workflows.</a:t>
            </a:r>
          </a:p>
        </p:txBody>
      </p:sp>
      <p:sp>
        <p:nvSpPr>
          <p:cNvPr id="8" name="Text Placeholder 22">
            <a:extLst>
              <a:ext uri="{FF2B5EF4-FFF2-40B4-BE49-F238E27FC236}">
                <a16:creationId xmlns:a16="http://schemas.microsoft.com/office/drawing/2014/main" id="{9579DE21-B214-2399-A812-C6D12A13A8FF}"/>
              </a:ext>
            </a:extLst>
          </p:cNvPr>
          <p:cNvSpPr>
            <a:spLocks noGrp="1"/>
          </p:cNvSpPr>
          <p:nvPr>
            <p:ph type="body" sz="quarter" idx="18"/>
          </p:nvPr>
        </p:nvSpPr>
        <p:spPr>
          <a:xfrm>
            <a:off x="559743" y="5879125"/>
            <a:ext cx="1533685" cy="599363"/>
          </a:xfrm>
        </p:spPr>
        <p:txBody>
          <a:bodyPr>
            <a:normAutofit/>
          </a:bodyPr>
          <a:lstStyle/>
          <a:p>
            <a:r>
              <a:rPr kumimoji="0" lang="en-US" b="0" i="0" u="none" strike="noStrike" kern="1200" cap="none" spc="10" normalizeH="0" baseline="0" noProof="0">
                <a:ln>
                  <a:noFill/>
                </a:ln>
                <a:solidFill>
                  <a:srgbClr val="3C2CDA"/>
                </a:solidFill>
                <a:effectLst/>
                <a:uLnTx/>
                <a:uFillTx/>
                <a:latin typeface="Manrope"/>
              </a:rPr>
              <a:t>Reduced Total Cost of Ownership</a:t>
            </a:r>
          </a:p>
        </p:txBody>
      </p:sp>
      <p:sp>
        <p:nvSpPr>
          <p:cNvPr id="9" name="Text Placeholder 23">
            <a:extLst>
              <a:ext uri="{FF2B5EF4-FFF2-40B4-BE49-F238E27FC236}">
                <a16:creationId xmlns:a16="http://schemas.microsoft.com/office/drawing/2014/main" id="{3A5C2BB4-57A5-C0E4-75DE-5D6AF9CCCA6A}"/>
              </a:ext>
            </a:extLst>
          </p:cNvPr>
          <p:cNvSpPr>
            <a:spLocks noGrp="1"/>
          </p:cNvSpPr>
          <p:nvPr>
            <p:ph type="body" sz="quarter" idx="19"/>
          </p:nvPr>
        </p:nvSpPr>
        <p:spPr>
          <a:xfrm>
            <a:off x="559744" y="5468385"/>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3000" b="0" i="0" u="none" strike="noStrike" kern="1200" cap="none" spc="0" normalizeH="0" baseline="0" noProof="0">
                <a:ln>
                  <a:noFill/>
                </a:ln>
                <a:solidFill>
                  <a:srgbClr val="3C2CDA"/>
                </a:solidFill>
                <a:effectLst/>
                <a:uLnTx/>
                <a:uFillTx/>
                <a:latin typeface="Manrope Light"/>
              </a:rPr>
              <a:t>30 %</a:t>
            </a:r>
          </a:p>
        </p:txBody>
      </p:sp>
      <p:sp>
        <p:nvSpPr>
          <p:cNvPr id="10" name="Text Placeholder 24">
            <a:extLst>
              <a:ext uri="{FF2B5EF4-FFF2-40B4-BE49-F238E27FC236}">
                <a16:creationId xmlns:a16="http://schemas.microsoft.com/office/drawing/2014/main" id="{5DD1A4FC-606A-45CE-ECE7-7C4DFF8E69BB}"/>
              </a:ext>
            </a:extLst>
          </p:cNvPr>
          <p:cNvSpPr>
            <a:spLocks noGrp="1"/>
          </p:cNvSpPr>
          <p:nvPr>
            <p:ph type="body" sz="quarter" idx="24"/>
          </p:nvPr>
        </p:nvSpPr>
        <p:spPr>
          <a:xfrm>
            <a:off x="2163203" y="5871063"/>
            <a:ext cx="1743530" cy="277110"/>
          </a:xfrm>
        </p:spPr>
        <p:txBody>
          <a:bodyPr>
            <a:normAutofit/>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b="0" i="0" u="none" strike="noStrike" kern="1200" cap="none" spc="10" normalizeH="0" baseline="0" noProof="0">
                <a:ln>
                  <a:noFill/>
                </a:ln>
                <a:solidFill>
                  <a:srgbClr val="3C2CDA"/>
                </a:solidFill>
                <a:effectLst/>
                <a:uLnTx/>
                <a:uFillTx/>
                <a:latin typeface="Manrope"/>
              </a:rPr>
              <a:t>Faster Query Processing</a:t>
            </a:r>
          </a:p>
        </p:txBody>
      </p:sp>
      <p:sp>
        <p:nvSpPr>
          <p:cNvPr id="11" name="Text Placeholder 25">
            <a:extLst>
              <a:ext uri="{FF2B5EF4-FFF2-40B4-BE49-F238E27FC236}">
                <a16:creationId xmlns:a16="http://schemas.microsoft.com/office/drawing/2014/main" id="{A90CDDC2-1B6D-ACC7-55B6-09F4EF40EA39}"/>
              </a:ext>
            </a:extLst>
          </p:cNvPr>
          <p:cNvSpPr>
            <a:spLocks noGrp="1"/>
          </p:cNvSpPr>
          <p:nvPr>
            <p:ph type="body" sz="quarter" idx="25"/>
          </p:nvPr>
        </p:nvSpPr>
        <p:spPr>
          <a:xfrm>
            <a:off x="2163202" y="5453395"/>
            <a:ext cx="1647936" cy="415498"/>
          </a:xfrm>
        </p:spPr>
        <p:txBody>
          <a:bodyPr/>
          <a:lstStyle/>
          <a:p>
            <a:r>
              <a:rPr kumimoji="0" lang="en-US" sz="3000" b="0" i="0" u="none" strike="noStrike" kern="1200" cap="none" spc="0" normalizeH="0" baseline="0" noProof="0">
                <a:ln>
                  <a:noFill/>
                </a:ln>
                <a:solidFill>
                  <a:srgbClr val="3C2CDA"/>
                </a:solidFill>
                <a:effectLst/>
                <a:uLnTx/>
                <a:uFillTx/>
                <a:latin typeface="Manrope Light"/>
              </a:rPr>
              <a:t>40 %</a:t>
            </a:r>
          </a:p>
        </p:txBody>
      </p:sp>
      <p:sp>
        <p:nvSpPr>
          <p:cNvPr id="13" name="Text Placeholder 13">
            <a:extLst>
              <a:ext uri="{FF2B5EF4-FFF2-40B4-BE49-F238E27FC236}">
                <a16:creationId xmlns:a16="http://schemas.microsoft.com/office/drawing/2014/main" id="{72B83A61-6581-0B67-EB29-BFB3807BD263}"/>
              </a:ext>
            </a:extLst>
          </p:cNvPr>
          <p:cNvSpPr txBox="1">
            <a:spLocks/>
          </p:cNvSpPr>
          <p:nvPr/>
        </p:nvSpPr>
        <p:spPr>
          <a:xfrm flipH="1">
            <a:off x="516200" y="292486"/>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Financial Services</a:t>
            </a: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US" sz="1500" b="0" i="0" u="none" strike="noStrike" kern="1200" cap="none" spc="0" normalizeH="0" baseline="0" noProof="0">
              <a:ln>
                <a:noFill/>
              </a:ln>
              <a:solidFill>
                <a:srgbClr val="000000"/>
              </a:solidFill>
              <a:effectLst/>
              <a:uLnTx/>
              <a:uFillTx/>
              <a:latin typeface="Manrope"/>
            </a:endParaRPr>
          </a:p>
        </p:txBody>
      </p:sp>
      <p:sp>
        <p:nvSpPr>
          <p:cNvPr id="15" name="TextBox 14">
            <a:extLst>
              <a:ext uri="{FF2B5EF4-FFF2-40B4-BE49-F238E27FC236}">
                <a16:creationId xmlns:a16="http://schemas.microsoft.com/office/drawing/2014/main" id="{228B8733-A677-DB17-B24A-254A54591C80}"/>
              </a:ext>
            </a:extLst>
          </p:cNvPr>
          <p:cNvSpPr txBox="1"/>
          <p:nvPr/>
        </p:nvSpPr>
        <p:spPr>
          <a:xfrm>
            <a:off x="422782" y="539595"/>
            <a:ext cx="5494093" cy="577081"/>
          </a:xfrm>
          <a:prstGeom prst="rect">
            <a:avLst/>
          </a:prstGeom>
          <a:noFill/>
        </p:spPr>
        <p:txBody>
          <a:bodyPr wrap="square">
            <a:spAutoFit/>
          </a:bodyPr>
          <a:lstStyle/>
          <a:p>
            <a:pPr algn="l"/>
            <a:r>
              <a:rPr kumimoji="0" lang="en-US" sz="1050" i="0" u="none" strike="noStrike" kern="0" cap="none" spc="0" normalizeH="0" baseline="0" noProof="0">
                <a:ln>
                  <a:noFill/>
                </a:ln>
                <a:solidFill>
                  <a:srgbClr val="000000"/>
                </a:solidFill>
                <a:effectLst/>
                <a:uLnTx/>
                <a:uFillTx/>
              </a:rPr>
              <a:t>Case Study :</a:t>
            </a:r>
            <a:r>
              <a:rPr lang="en-US" sz="1050" i="0">
                <a:solidFill>
                  <a:srgbClr val="282828"/>
                </a:solidFill>
                <a:effectLst/>
              </a:rPr>
              <a:t>Optimized Cloud Technology Selection and Snowflake Implementation for a Multinational Financial Services Firm</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a:ln>
                <a:noFill/>
              </a:ln>
              <a:solidFill>
                <a:srgbClr val="000000"/>
              </a:solidFill>
              <a:effectLst/>
              <a:uLnTx/>
              <a:uFillTx/>
            </a:endParaRPr>
          </a:p>
        </p:txBody>
      </p:sp>
      <p:sp>
        <p:nvSpPr>
          <p:cNvPr id="2" name="Text Placeholder 24">
            <a:extLst>
              <a:ext uri="{FF2B5EF4-FFF2-40B4-BE49-F238E27FC236}">
                <a16:creationId xmlns:a16="http://schemas.microsoft.com/office/drawing/2014/main" id="{57E37037-3972-A4AE-C747-7148D571537D}"/>
              </a:ext>
            </a:extLst>
          </p:cNvPr>
          <p:cNvSpPr txBox="1">
            <a:spLocks/>
          </p:cNvSpPr>
          <p:nvPr/>
        </p:nvSpPr>
        <p:spPr>
          <a:xfrm>
            <a:off x="4185261" y="5871063"/>
            <a:ext cx="1743530" cy="277110"/>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C2CDA"/>
              </a:buClr>
              <a:defRPr/>
            </a:pPr>
            <a:r>
              <a:rPr lang="en-US">
                <a:solidFill>
                  <a:srgbClr val="3C2CDA"/>
                </a:solidFill>
                <a:latin typeface="Manrope"/>
              </a:rPr>
              <a:t>Reduced Development Timeline</a:t>
            </a:r>
          </a:p>
        </p:txBody>
      </p:sp>
      <p:sp>
        <p:nvSpPr>
          <p:cNvPr id="3" name="Text Placeholder 25">
            <a:extLst>
              <a:ext uri="{FF2B5EF4-FFF2-40B4-BE49-F238E27FC236}">
                <a16:creationId xmlns:a16="http://schemas.microsoft.com/office/drawing/2014/main" id="{3D34C52C-5D3E-4D6E-853C-D2BAE9AD62D3}"/>
              </a:ext>
            </a:extLst>
          </p:cNvPr>
          <p:cNvSpPr txBox="1">
            <a:spLocks/>
          </p:cNvSpPr>
          <p:nvPr/>
        </p:nvSpPr>
        <p:spPr>
          <a:xfrm>
            <a:off x="4185260" y="5453395"/>
            <a:ext cx="164793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rgbClr val="3C2CDA"/>
                </a:solidFill>
                <a:latin typeface="Manrope Light"/>
              </a:rPr>
              <a:t>35 %</a:t>
            </a:r>
          </a:p>
        </p:txBody>
      </p:sp>
      <p:pic>
        <p:nvPicPr>
          <p:cNvPr id="12" name="Picture 22" descr="Carlyle Group logo in transparent PNG and vectorized SVG formats">
            <a:extLst>
              <a:ext uri="{FF2B5EF4-FFF2-40B4-BE49-F238E27FC236}">
                <a16:creationId xmlns:a16="http://schemas.microsoft.com/office/drawing/2014/main" id="{B57E5126-00F3-063A-B720-6BACDF51D9A9}"/>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083321" y="292486"/>
            <a:ext cx="1589781" cy="199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44970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F46E0-1D49-8FCB-3B4A-FE241225F340}"/>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255B1E6-6155-083C-7290-1778791820E6}"/>
              </a:ext>
            </a:extLst>
          </p:cNvPr>
          <p:cNvSpPr>
            <a:spLocks noGrp="1"/>
          </p:cNvSpPr>
          <p:nvPr>
            <p:ph type="body" sz="quarter" idx="20"/>
          </p:nvPr>
        </p:nvSpPr>
        <p:spPr>
          <a:xfrm>
            <a:off x="443631" y="1363732"/>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pic>
        <p:nvPicPr>
          <p:cNvPr id="12" name="Picture Placeholder 11" descr="A person in a suit pointing at a screen&#10;&#10;AI-generated content may be incorrect.">
            <a:extLst>
              <a:ext uri="{FF2B5EF4-FFF2-40B4-BE49-F238E27FC236}">
                <a16:creationId xmlns:a16="http://schemas.microsoft.com/office/drawing/2014/main" id="{951CBB35-D194-6106-5CC9-263EF358C956}"/>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a:fillRect/>
          </a:stretch>
        </p:blipFill>
        <p:spPr/>
      </p:pic>
      <p:sp>
        <p:nvSpPr>
          <p:cNvPr id="45" name="TextBox 44">
            <a:extLst>
              <a:ext uri="{FF2B5EF4-FFF2-40B4-BE49-F238E27FC236}">
                <a16:creationId xmlns:a16="http://schemas.microsoft.com/office/drawing/2014/main" id="{9C3C2EF2-152B-3787-0D00-1C64533CE62F}"/>
              </a:ext>
            </a:extLst>
          </p:cNvPr>
          <p:cNvSpPr txBox="1"/>
          <p:nvPr/>
        </p:nvSpPr>
        <p:spPr>
          <a:xfrm>
            <a:off x="350212" y="1654606"/>
            <a:ext cx="5494093" cy="132343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Our client is a recent adopter of the cloud, and their usage has been increasing by 30% every year, with new users and applications coming on board. They handle 2 million DBUs and hundreds of workloads, encountering a significant number of daily issues. </a:t>
            </a:r>
          </a:p>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Manrope"/>
            </a:endParaRPr>
          </a:p>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Despite the increase in usage, out of over 300 people from their company who used DataBricks, only a few were proficient. Furthermore, without detailed insights or control over their rising spend, managing costs was difficult.</a:t>
            </a:r>
          </a:p>
          <a:p>
            <a:pPr marL="0" marR="0" lvl="0" indent="0" algn="l" defTabSz="914400" rtl="0" eaLnBrk="1" fontAlgn="auto" latinLnBrk="0" hangingPunct="1">
              <a:lnSpc>
                <a:spcPct val="100000"/>
              </a:lnSpc>
              <a:spcBef>
                <a:spcPts val="0"/>
              </a:spcBef>
              <a:spcAft>
                <a:spcPts val="0"/>
              </a:spcAft>
              <a:buClr>
                <a:srgbClr val="3C2CDA"/>
              </a:buClr>
              <a:buSzTx/>
              <a:buFontTx/>
              <a:buNone/>
              <a:tabLst/>
              <a:defRPr/>
            </a:pPr>
            <a:endParaRPr kumimoji="0" lang="en-US" sz="1000" b="0" i="0" u="none" strike="noStrike" kern="1200" cap="none" spc="0" normalizeH="0" baseline="0" noProof="0">
              <a:ln>
                <a:noFill/>
              </a:ln>
              <a:solidFill>
                <a:srgbClr val="000000"/>
              </a:solidFill>
              <a:effectLst/>
              <a:uLnTx/>
              <a:uFillTx/>
              <a:latin typeface="Manrope"/>
            </a:endParaRPr>
          </a:p>
        </p:txBody>
      </p:sp>
      <p:sp>
        <p:nvSpPr>
          <p:cNvPr id="6" name="Text Placeholder 3">
            <a:extLst>
              <a:ext uri="{FF2B5EF4-FFF2-40B4-BE49-F238E27FC236}">
                <a16:creationId xmlns:a16="http://schemas.microsoft.com/office/drawing/2014/main" id="{F44E8B98-6CF3-E68A-0368-2DE5F4E6B2E8}"/>
              </a:ext>
            </a:extLst>
          </p:cNvPr>
          <p:cNvSpPr txBox="1">
            <a:spLocks/>
          </p:cNvSpPr>
          <p:nvPr/>
        </p:nvSpPr>
        <p:spPr>
          <a:xfrm>
            <a:off x="488601" y="2847648"/>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r>
              <a:rPr kumimoji="0" lang="en-IN" sz="1400" b="0" i="0" u="none" strike="noStrike" kern="1200" cap="none" spc="10" normalizeH="0" baseline="0" noProof="0">
                <a:ln>
                  <a:noFill/>
                </a:ln>
                <a:solidFill>
                  <a:srgbClr val="3C2CDA"/>
                </a:solidFill>
                <a:effectLst/>
                <a:uLnTx/>
                <a:uFillTx/>
                <a:latin typeface="Manrope Medium" pitchFamily="2" charset="0"/>
              </a:rPr>
              <a:t>Solution</a:t>
            </a:r>
          </a:p>
        </p:txBody>
      </p:sp>
      <p:sp>
        <p:nvSpPr>
          <p:cNvPr id="7" name="TextBox 6">
            <a:extLst>
              <a:ext uri="{FF2B5EF4-FFF2-40B4-BE49-F238E27FC236}">
                <a16:creationId xmlns:a16="http://schemas.microsoft.com/office/drawing/2014/main" id="{9F8A542F-7413-14B3-D322-CF5BD02A5CD4}"/>
              </a:ext>
            </a:extLst>
          </p:cNvPr>
          <p:cNvSpPr txBox="1"/>
          <p:nvPr/>
        </p:nvSpPr>
        <p:spPr>
          <a:xfrm>
            <a:off x="395182" y="3154020"/>
            <a:ext cx="5565531" cy="1246495"/>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1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Granular, real-time visibility and control over data pipelines</a:t>
            </a:r>
          </a:p>
          <a:p>
            <a:pPr marL="171450" marR="0" lvl="0" indent="-171450" algn="l" defTabSz="914400" rtl="0" eaLnBrk="1" fontAlgn="auto" latinLnBrk="0" hangingPunct="1">
              <a:lnSpc>
                <a:spcPct val="100000"/>
              </a:lnSpc>
              <a:spcBef>
                <a:spcPts val="1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Alerts and guardrails to stop anomalous behavior</a:t>
            </a:r>
          </a:p>
          <a:p>
            <a:pPr marL="171450" marR="0" lvl="0" indent="-171450" algn="l" defTabSz="914400" rtl="0" eaLnBrk="1" fontAlgn="auto" latinLnBrk="0" hangingPunct="1">
              <a:lnSpc>
                <a:spcPct val="100000"/>
              </a:lnSpc>
              <a:spcBef>
                <a:spcPts val="1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Gold-standard insights to define best practices</a:t>
            </a:r>
          </a:p>
          <a:p>
            <a:pPr marL="171450" marR="0" lvl="0" indent="-171450" algn="l" defTabSz="914400" rtl="0" eaLnBrk="1" fontAlgn="auto" latinLnBrk="0" hangingPunct="1">
              <a:lnSpc>
                <a:spcPct val="100000"/>
              </a:lnSpc>
              <a:spcBef>
                <a:spcPts val="1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Upskilling users via AI-powered tuning recommendation systems</a:t>
            </a:r>
          </a:p>
          <a:p>
            <a:pPr marL="171450" marR="0" lvl="0" indent="-171450" algn="l" defTabSz="914400" rtl="0" eaLnBrk="1" fontAlgn="auto" latinLnBrk="0" hangingPunct="1">
              <a:lnSpc>
                <a:spcPct val="100000"/>
              </a:lnSpc>
              <a:spcBef>
                <a:spcPts val="1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Unravel forecasts used to right-sized instances</a:t>
            </a:r>
          </a:p>
          <a:p>
            <a:pPr marL="171450" marR="0" lvl="0" indent="-171450" algn="l" defTabSz="914400" rtl="0" eaLnBrk="1" fontAlgn="auto" latinLnBrk="0" hangingPunct="1">
              <a:lnSpc>
                <a:spcPct val="100000"/>
              </a:lnSpc>
              <a:spcBef>
                <a:spcPts val="1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6K hours saved through proactive alerts &amp; automation</a:t>
            </a:r>
          </a:p>
          <a:p>
            <a:pPr marL="171450" marR="0" lvl="0" indent="-171450" algn="l" defTabSz="914400" rtl="0" eaLnBrk="1" fontAlgn="auto" latinLnBrk="0" hangingPunct="1">
              <a:lnSpc>
                <a:spcPct val="100000"/>
              </a:lnSpc>
              <a:spcBef>
                <a:spcPts val="1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90% less triage time due to self-service</a:t>
            </a:r>
          </a:p>
        </p:txBody>
      </p:sp>
      <p:sp>
        <p:nvSpPr>
          <p:cNvPr id="8" name="Text Placeholder 22">
            <a:extLst>
              <a:ext uri="{FF2B5EF4-FFF2-40B4-BE49-F238E27FC236}">
                <a16:creationId xmlns:a16="http://schemas.microsoft.com/office/drawing/2014/main" id="{53FC0DB1-7935-0DD8-1448-01CDF63F39F4}"/>
              </a:ext>
            </a:extLst>
          </p:cNvPr>
          <p:cNvSpPr>
            <a:spLocks noGrp="1"/>
          </p:cNvSpPr>
          <p:nvPr>
            <p:ph type="body" sz="quarter" idx="18"/>
          </p:nvPr>
        </p:nvSpPr>
        <p:spPr>
          <a:xfrm>
            <a:off x="443631" y="5879125"/>
            <a:ext cx="1533685" cy="599363"/>
          </a:xfrm>
        </p:spPr>
        <p:txBody>
          <a:bodyPr>
            <a:normAutofit/>
          </a:bodyPr>
          <a:lstStyle/>
          <a:p>
            <a:r>
              <a:rPr kumimoji="0" lang="en-US" b="0" i="0" u="none" strike="noStrike" kern="1200" cap="none" spc="10" normalizeH="0" baseline="0" noProof="0">
                <a:ln>
                  <a:noFill/>
                </a:ln>
                <a:solidFill>
                  <a:srgbClr val="3C2CDA"/>
                </a:solidFill>
                <a:effectLst/>
                <a:uLnTx/>
                <a:uFillTx/>
                <a:latin typeface="Manrope"/>
              </a:rPr>
              <a:t> improved performance &amp; cost governance</a:t>
            </a:r>
          </a:p>
        </p:txBody>
      </p:sp>
      <p:sp>
        <p:nvSpPr>
          <p:cNvPr id="9" name="Text Placeholder 23">
            <a:extLst>
              <a:ext uri="{FF2B5EF4-FFF2-40B4-BE49-F238E27FC236}">
                <a16:creationId xmlns:a16="http://schemas.microsoft.com/office/drawing/2014/main" id="{A6F2DCD7-3AB3-8DDD-F401-76021F8605FF}"/>
              </a:ext>
            </a:extLst>
          </p:cNvPr>
          <p:cNvSpPr>
            <a:spLocks noGrp="1"/>
          </p:cNvSpPr>
          <p:nvPr>
            <p:ph type="body" sz="quarter" idx="19"/>
          </p:nvPr>
        </p:nvSpPr>
        <p:spPr>
          <a:xfrm>
            <a:off x="443632" y="5468385"/>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3000" b="0" i="0" u="none" strike="noStrike" kern="1200" cap="none" spc="0" normalizeH="0" baseline="0" noProof="0">
                <a:ln>
                  <a:noFill/>
                </a:ln>
                <a:solidFill>
                  <a:srgbClr val="3C2CDA"/>
                </a:solidFill>
                <a:effectLst/>
                <a:uLnTx/>
                <a:uFillTx/>
                <a:latin typeface="Manrope Light"/>
              </a:rPr>
              <a:t>10x ROI</a:t>
            </a:r>
          </a:p>
        </p:txBody>
      </p:sp>
      <p:sp>
        <p:nvSpPr>
          <p:cNvPr id="10" name="Text Placeholder 24">
            <a:extLst>
              <a:ext uri="{FF2B5EF4-FFF2-40B4-BE49-F238E27FC236}">
                <a16:creationId xmlns:a16="http://schemas.microsoft.com/office/drawing/2014/main" id="{B43DB355-2F8E-0AD2-2624-AA1E18C91045}"/>
              </a:ext>
            </a:extLst>
          </p:cNvPr>
          <p:cNvSpPr>
            <a:spLocks noGrp="1"/>
          </p:cNvSpPr>
          <p:nvPr>
            <p:ph type="body" sz="quarter" idx="24"/>
          </p:nvPr>
        </p:nvSpPr>
        <p:spPr>
          <a:xfrm>
            <a:off x="3141374" y="5886053"/>
            <a:ext cx="1743530" cy="277110"/>
          </a:xfrm>
        </p:spPr>
        <p:txBody>
          <a:bodyPr>
            <a:normAutofit/>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b="0" i="0" u="none" strike="noStrike" kern="1200" cap="none" spc="10" normalizeH="0" baseline="0" noProof="0">
                <a:ln>
                  <a:noFill/>
                </a:ln>
                <a:solidFill>
                  <a:srgbClr val="3C2CDA"/>
                </a:solidFill>
                <a:effectLst/>
                <a:uLnTx/>
                <a:uFillTx/>
                <a:latin typeface="Manrope"/>
              </a:rPr>
              <a:t>savings from optimized support</a:t>
            </a:r>
          </a:p>
        </p:txBody>
      </p:sp>
      <p:sp>
        <p:nvSpPr>
          <p:cNvPr id="11" name="Text Placeholder 25">
            <a:extLst>
              <a:ext uri="{FF2B5EF4-FFF2-40B4-BE49-F238E27FC236}">
                <a16:creationId xmlns:a16="http://schemas.microsoft.com/office/drawing/2014/main" id="{679222DA-FC8C-4C59-AAD4-F2588A5F33C5}"/>
              </a:ext>
            </a:extLst>
          </p:cNvPr>
          <p:cNvSpPr>
            <a:spLocks noGrp="1"/>
          </p:cNvSpPr>
          <p:nvPr>
            <p:ph type="body" sz="quarter" idx="25"/>
          </p:nvPr>
        </p:nvSpPr>
        <p:spPr>
          <a:xfrm>
            <a:off x="3141373" y="5468385"/>
            <a:ext cx="1647936" cy="415498"/>
          </a:xfrm>
        </p:spPr>
        <p:txBody>
          <a:bodyPr/>
          <a:lstStyle/>
          <a:p>
            <a:r>
              <a:rPr kumimoji="0" lang="en-US" sz="3000" b="0" i="0" u="none" strike="noStrike" kern="1200" cap="none" spc="0" normalizeH="0" baseline="0" noProof="0">
                <a:ln>
                  <a:noFill/>
                </a:ln>
                <a:solidFill>
                  <a:srgbClr val="3C2CDA"/>
                </a:solidFill>
                <a:effectLst/>
                <a:uLnTx/>
                <a:uFillTx/>
                <a:latin typeface="Manrope Light"/>
              </a:rPr>
              <a:t>$200k</a:t>
            </a:r>
          </a:p>
        </p:txBody>
      </p:sp>
      <p:sp>
        <p:nvSpPr>
          <p:cNvPr id="13" name="Text Placeholder 13">
            <a:extLst>
              <a:ext uri="{FF2B5EF4-FFF2-40B4-BE49-F238E27FC236}">
                <a16:creationId xmlns:a16="http://schemas.microsoft.com/office/drawing/2014/main" id="{E694E1E1-E8E6-00A2-0D67-8602BFF91383}"/>
              </a:ext>
            </a:extLst>
          </p:cNvPr>
          <p:cNvSpPr txBox="1">
            <a:spLocks/>
          </p:cNvSpPr>
          <p:nvPr/>
        </p:nvSpPr>
        <p:spPr>
          <a:xfrm flipH="1">
            <a:off x="443630" y="292486"/>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Financial Services</a:t>
            </a: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US" sz="1500" b="0" i="0" u="none" strike="noStrike" kern="1200" cap="none" spc="0" normalizeH="0" baseline="0" noProof="0">
              <a:ln>
                <a:noFill/>
              </a:ln>
              <a:solidFill>
                <a:srgbClr val="000000"/>
              </a:solidFill>
              <a:effectLst/>
              <a:uLnTx/>
              <a:uFillTx/>
              <a:latin typeface="Manrope"/>
            </a:endParaRPr>
          </a:p>
        </p:txBody>
      </p:sp>
      <p:sp>
        <p:nvSpPr>
          <p:cNvPr id="15" name="TextBox 14">
            <a:extLst>
              <a:ext uri="{FF2B5EF4-FFF2-40B4-BE49-F238E27FC236}">
                <a16:creationId xmlns:a16="http://schemas.microsoft.com/office/drawing/2014/main" id="{53C6385C-1EA4-0549-DE2E-9A0856C129FC}"/>
              </a:ext>
            </a:extLst>
          </p:cNvPr>
          <p:cNvSpPr txBox="1"/>
          <p:nvPr/>
        </p:nvSpPr>
        <p:spPr>
          <a:xfrm>
            <a:off x="350212" y="539595"/>
            <a:ext cx="5494093" cy="73866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rPr>
              <a:t>Case Study: Increased Data Pipeline Efficiency and Savings in Financial Services &amp; Payments Processing for Largest military-oriented financial service companies in the United States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a:ln>
                <a:noFill/>
              </a:ln>
              <a:solidFill>
                <a:srgbClr val="000000"/>
              </a:solidFill>
              <a:effectLst/>
              <a:uLnTx/>
              <a:uFillTx/>
            </a:endParaRPr>
          </a:p>
        </p:txBody>
      </p:sp>
      <p:pic>
        <p:nvPicPr>
          <p:cNvPr id="2" name="Picture 12" descr="PenFed Debt Consolidation Loan Review">
            <a:extLst>
              <a:ext uri="{FF2B5EF4-FFF2-40B4-BE49-F238E27FC236}">
                <a16:creationId xmlns:a16="http://schemas.microsoft.com/office/drawing/2014/main" id="{EE56C9AA-9D8F-8B34-F524-9BD8D37A0C06}"/>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625867" y="59682"/>
            <a:ext cx="1023011" cy="68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95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2E942-E482-84BD-1C9F-56781D21AFBD}"/>
            </a:ext>
          </a:extLst>
        </p:cNvPr>
        <p:cNvGrpSpPr/>
        <p:nvPr/>
      </p:nvGrpSpPr>
      <p:grpSpPr>
        <a:xfrm>
          <a:off x="0" y="0"/>
          <a:ext cx="0" cy="0"/>
          <a:chOff x="0" y="0"/>
          <a:chExt cx="0" cy="0"/>
        </a:xfrm>
      </p:grpSpPr>
      <p:sp>
        <p:nvSpPr>
          <p:cNvPr id="27" name="Text Placeholder 3">
            <a:extLst>
              <a:ext uri="{FF2B5EF4-FFF2-40B4-BE49-F238E27FC236}">
                <a16:creationId xmlns:a16="http://schemas.microsoft.com/office/drawing/2014/main" id="{04C0314E-7C03-8287-9B7E-4D8A461CB330}"/>
              </a:ext>
            </a:extLst>
          </p:cNvPr>
          <p:cNvSpPr txBox="1">
            <a:spLocks/>
          </p:cNvSpPr>
          <p:nvPr/>
        </p:nvSpPr>
        <p:spPr>
          <a:xfrm>
            <a:off x="589833" y="1201155"/>
            <a:ext cx="5398348" cy="1488840"/>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Lots of website visitor data  </a:t>
            </a:r>
            <a:b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b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resulting in large number of Leads generated, high volume of prospects and customers data to be analyzed by marketing team to identify their target list.</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Lack of personalization on website: All visitors are provided with similar products, irrespective of relevancy / preference resulting in lower engagement and conversion.</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Missed Upsell opportunities: Current service data is not leveraged resulting in missed out upsell opportunities by the store staff.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Challenges: Data duplication, cleansing challenges, not able to match data from deals data with CRM and website data.</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Shorter turnaround time for ML outcomes.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None/>
              <a:tabLst/>
              <a:defRPr/>
            </a:pPr>
            <a:endPar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endParaRPr>
          </a:p>
        </p:txBody>
      </p:sp>
      <p:sp>
        <p:nvSpPr>
          <p:cNvPr id="28" name="Text Placeholder 3">
            <a:extLst>
              <a:ext uri="{FF2B5EF4-FFF2-40B4-BE49-F238E27FC236}">
                <a16:creationId xmlns:a16="http://schemas.microsoft.com/office/drawing/2014/main" id="{36593C54-E148-7471-3CFA-CD159ACCA637}"/>
              </a:ext>
            </a:extLst>
          </p:cNvPr>
          <p:cNvSpPr txBox="1">
            <a:spLocks/>
          </p:cNvSpPr>
          <p:nvPr/>
        </p:nvSpPr>
        <p:spPr>
          <a:xfrm>
            <a:off x="587505" y="954684"/>
            <a:ext cx="2002156" cy="327565"/>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Business Problem</a:t>
            </a:r>
          </a:p>
        </p:txBody>
      </p:sp>
      <p:sp>
        <p:nvSpPr>
          <p:cNvPr id="29" name="Text Placeholder 3">
            <a:extLst>
              <a:ext uri="{FF2B5EF4-FFF2-40B4-BE49-F238E27FC236}">
                <a16:creationId xmlns:a16="http://schemas.microsoft.com/office/drawing/2014/main" id="{C21126B7-D37B-D21D-60DF-16E146D4199A}"/>
              </a:ext>
            </a:extLst>
          </p:cNvPr>
          <p:cNvSpPr txBox="1">
            <a:spLocks/>
          </p:cNvSpPr>
          <p:nvPr/>
        </p:nvSpPr>
        <p:spPr>
          <a:xfrm>
            <a:off x="695324" y="3083807"/>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Solution</a:t>
            </a:r>
          </a:p>
        </p:txBody>
      </p:sp>
      <p:sp>
        <p:nvSpPr>
          <p:cNvPr id="30" name="Text Placeholder 3">
            <a:extLst>
              <a:ext uri="{FF2B5EF4-FFF2-40B4-BE49-F238E27FC236}">
                <a16:creationId xmlns:a16="http://schemas.microsoft.com/office/drawing/2014/main" id="{512C4680-5B0F-C672-CED2-3AFC326A814F}"/>
              </a:ext>
            </a:extLst>
          </p:cNvPr>
          <p:cNvSpPr txBox="1">
            <a:spLocks/>
          </p:cNvSpPr>
          <p:nvPr/>
        </p:nvSpPr>
        <p:spPr>
          <a:xfrm>
            <a:off x="588669" y="3422934"/>
            <a:ext cx="5400676" cy="2830705"/>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CRM Data from HubSpot, sales data from order processing systems are is ingested into Snowflake data lake layer.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Cleansing, Curation, Matching &amp; Deduplication done with Snowflake Stored procedures and Python.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Mart is designed and developed for Customer Insights summarizing key metrices and dimensions needed for ML work.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Custom Feature Stores built in Snowflake for each ML use case to reuse variables between multiple models.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Auto EDA, Auto ML capabilities leveraged from </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DataRobot</a:t>
            </a: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for faster turn around time.</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Models deployed for scoring, both as API for live scoring and Snowflake Stored procedure for Batch Scoring.</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Worked with marketing business SMEs to fine tune models, evaluate features, inferences and outcomes</a:t>
            </a:r>
          </a:p>
        </p:txBody>
      </p:sp>
      <p:sp>
        <p:nvSpPr>
          <p:cNvPr id="31" name="Text Placeholder 13">
            <a:extLst>
              <a:ext uri="{FF2B5EF4-FFF2-40B4-BE49-F238E27FC236}">
                <a16:creationId xmlns:a16="http://schemas.microsoft.com/office/drawing/2014/main" id="{759B544D-DB48-9874-8C82-1B29A9564727}"/>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Retail</a:t>
            </a:r>
          </a:p>
        </p:txBody>
      </p:sp>
      <p:sp>
        <p:nvSpPr>
          <p:cNvPr id="32" name="TextBox 31">
            <a:extLst>
              <a:ext uri="{FF2B5EF4-FFF2-40B4-BE49-F238E27FC236}">
                <a16:creationId xmlns:a16="http://schemas.microsoft.com/office/drawing/2014/main" id="{CCF41B1D-D425-A4A5-0FD8-B3246213D4E2}"/>
              </a:ext>
            </a:extLst>
          </p:cNvPr>
          <p:cNvSpPr txBox="1"/>
          <p:nvPr/>
        </p:nvSpPr>
        <p:spPr>
          <a:xfrm>
            <a:off x="527005" y="498968"/>
            <a:ext cx="5494093"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0" cap="none" spc="0" normalizeH="0" baseline="0" noProof="0">
                <a:ln>
                  <a:noFill/>
                </a:ln>
                <a:solidFill>
                  <a:srgbClr val="000000"/>
                </a:solidFill>
                <a:effectLst/>
                <a:uLnTx/>
                <a:uFillTx/>
                <a:latin typeface="Manrope"/>
              </a:rPr>
              <a:t>Case Study: Marketing Analytics &amp; Customer Insights platform for a recreational boats, yachts organization</a:t>
            </a:r>
          </a:p>
        </p:txBody>
      </p:sp>
      <p:sp>
        <p:nvSpPr>
          <p:cNvPr id="45" name="Text Placeholder 1">
            <a:extLst>
              <a:ext uri="{FF2B5EF4-FFF2-40B4-BE49-F238E27FC236}">
                <a16:creationId xmlns:a16="http://schemas.microsoft.com/office/drawing/2014/main" id="{15A6F59F-DFDC-BE66-BF6C-CFFE17182FD4}"/>
              </a:ext>
            </a:extLst>
          </p:cNvPr>
          <p:cNvSpPr txBox="1">
            <a:spLocks/>
          </p:cNvSpPr>
          <p:nvPr/>
        </p:nvSpPr>
        <p:spPr>
          <a:xfrm>
            <a:off x="1952301" y="6121364"/>
            <a:ext cx="1948116"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Lesser TCO due to increase in automation</a:t>
            </a:r>
          </a:p>
        </p:txBody>
      </p:sp>
      <p:sp>
        <p:nvSpPr>
          <p:cNvPr id="46" name="Text Placeholder 2">
            <a:extLst>
              <a:ext uri="{FF2B5EF4-FFF2-40B4-BE49-F238E27FC236}">
                <a16:creationId xmlns:a16="http://schemas.microsoft.com/office/drawing/2014/main" id="{58592DD2-C5D6-F7BE-C853-105CC454DE34}"/>
              </a:ext>
            </a:extLst>
          </p:cNvPr>
          <p:cNvSpPr txBox="1">
            <a:spLocks/>
          </p:cNvSpPr>
          <p:nvPr/>
        </p:nvSpPr>
        <p:spPr>
          <a:xfrm>
            <a:off x="1929809" y="5705867"/>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5</a:t>
            </a:r>
            <a:r>
              <a:rPr kumimoji="0" lang="en-US" b="0" i="0" u="none" strike="noStrike" kern="1200" cap="none" spc="0" normalizeH="0" baseline="0" noProof="0">
                <a:ln>
                  <a:noFill/>
                </a:ln>
                <a:solidFill>
                  <a:srgbClr val="3C2DDA"/>
                </a:solidFill>
                <a:effectLst/>
                <a:uLnTx/>
                <a:uFillTx/>
                <a:latin typeface="Manrope Light"/>
              </a:rPr>
              <a:t>0%</a:t>
            </a:r>
          </a:p>
        </p:txBody>
      </p:sp>
      <p:sp>
        <p:nvSpPr>
          <p:cNvPr id="2" name="Text Placeholder 1">
            <a:extLst>
              <a:ext uri="{FF2B5EF4-FFF2-40B4-BE49-F238E27FC236}">
                <a16:creationId xmlns:a16="http://schemas.microsoft.com/office/drawing/2014/main" id="{26FB71B5-C245-16F5-75B6-0AB92C31FA17}"/>
              </a:ext>
            </a:extLst>
          </p:cNvPr>
          <p:cNvSpPr txBox="1">
            <a:spLocks/>
          </p:cNvSpPr>
          <p:nvPr/>
        </p:nvSpPr>
        <p:spPr>
          <a:xfrm>
            <a:off x="4147884" y="6083889"/>
            <a:ext cx="1948116"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Faster customer insights</a:t>
            </a:r>
          </a:p>
        </p:txBody>
      </p:sp>
      <p:sp>
        <p:nvSpPr>
          <p:cNvPr id="3" name="Text Placeholder 2">
            <a:extLst>
              <a:ext uri="{FF2B5EF4-FFF2-40B4-BE49-F238E27FC236}">
                <a16:creationId xmlns:a16="http://schemas.microsoft.com/office/drawing/2014/main" id="{56F48D19-991F-1356-3E63-44FC5FE4BF0D}"/>
              </a:ext>
            </a:extLst>
          </p:cNvPr>
          <p:cNvSpPr txBox="1">
            <a:spLocks/>
          </p:cNvSpPr>
          <p:nvPr/>
        </p:nvSpPr>
        <p:spPr>
          <a:xfrm>
            <a:off x="4125392" y="5668392"/>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2X</a:t>
            </a:r>
            <a:endParaRPr kumimoji="0" lang="en-US" b="0" i="0" u="none" strike="noStrike" kern="1200" cap="none" spc="0" normalizeH="0" baseline="0" noProof="0">
              <a:ln>
                <a:noFill/>
              </a:ln>
              <a:solidFill>
                <a:srgbClr val="3C2DDA"/>
              </a:solidFill>
              <a:effectLst/>
              <a:uLnTx/>
              <a:uFillTx/>
              <a:latin typeface="Manrope Light"/>
            </a:endParaRPr>
          </a:p>
        </p:txBody>
      </p:sp>
      <p:pic>
        <p:nvPicPr>
          <p:cNvPr id="4" name="Picture 18" descr="MarineMax Reports Record Fiscal Third Quarter Results | Business Wire">
            <a:extLst>
              <a:ext uri="{FF2B5EF4-FFF2-40B4-BE49-F238E27FC236}">
                <a16:creationId xmlns:a16="http://schemas.microsoft.com/office/drawing/2014/main" id="{B834A013-93CC-73C5-A30B-724BE1F446D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377916" y="106326"/>
            <a:ext cx="1340291" cy="70030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Placeholder 8" descr="A view of a bridge from a building&#10;&#10;AI-generated content may be incorrect.">
            <a:extLst>
              <a:ext uri="{FF2B5EF4-FFF2-40B4-BE49-F238E27FC236}">
                <a16:creationId xmlns:a16="http://schemas.microsoft.com/office/drawing/2014/main" id="{4DE777B4-1F81-FB4A-E3B6-52F6B0EA02C0}"/>
              </a:ext>
            </a:extLst>
          </p:cNvPr>
          <p:cNvPicPr>
            <a:picLocks noGrp="1" noChangeAspect="1"/>
          </p:cNvPicPr>
          <p:nvPr>
            <p:ph type="pic" sz="quarter" idx="17"/>
          </p:nvPr>
        </p:nvPicPr>
        <p:blipFill>
          <a:blip r:embed="rId4"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407209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5F231-D100-3E2B-696F-5603CB2F4284}"/>
            </a:ext>
          </a:extLst>
        </p:cNvPr>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F9EEE14-60AB-73E3-8448-8C901BA10DB6}"/>
              </a:ext>
            </a:extLst>
          </p:cNvPr>
          <p:cNvSpPr>
            <a:spLocks noGrp="1"/>
          </p:cNvSpPr>
          <p:nvPr>
            <p:ph type="pic" sz="quarter" idx="17"/>
          </p:nvPr>
        </p:nvSpPr>
        <p:spPr/>
        <p:txBody>
          <a:bodyPr/>
          <a:lstStyle/>
          <a:p>
            <a:endParaRPr lang="en-US"/>
          </a:p>
        </p:txBody>
      </p:sp>
      <p:pic>
        <p:nvPicPr>
          <p:cNvPr id="60" name="Picture Placeholder 22" descr="Atlantis, The Palm with lights on the top of it&#10;&#10;Description automatically generated">
            <a:extLst>
              <a:ext uri="{FF2B5EF4-FFF2-40B4-BE49-F238E27FC236}">
                <a16:creationId xmlns:a16="http://schemas.microsoft.com/office/drawing/2014/main" id="{CF853D19-2BCE-82C4-840B-AA818D4D7D52}"/>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439981" y="887388"/>
            <a:ext cx="5753100" cy="4856084"/>
          </a:xfrm>
          <a:prstGeom prst="rect">
            <a:avLst/>
          </a:prstGeom>
        </p:spPr>
      </p:pic>
      <p:sp>
        <p:nvSpPr>
          <p:cNvPr id="16" name="Text Placeholder 3">
            <a:extLst>
              <a:ext uri="{FF2B5EF4-FFF2-40B4-BE49-F238E27FC236}">
                <a16:creationId xmlns:a16="http://schemas.microsoft.com/office/drawing/2014/main" id="{600E8E6A-E77C-E8AC-4FD2-A16358FD3939}"/>
              </a:ext>
            </a:extLst>
          </p:cNvPr>
          <p:cNvSpPr txBox="1">
            <a:spLocks/>
          </p:cNvSpPr>
          <p:nvPr/>
        </p:nvSpPr>
        <p:spPr>
          <a:xfrm>
            <a:off x="622750" y="1414200"/>
            <a:ext cx="5398348" cy="1488840"/>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00000"/>
              </a:lnSpc>
              <a:spcBef>
                <a:spcPts val="0"/>
              </a:spcBef>
              <a:spcAft>
                <a:spcPts val="300"/>
              </a:spcAft>
              <a:buClr>
                <a:srgbClr val="02051C"/>
              </a:buClr>
              <a:buFont typeface="Arial" panose="020B0604020202020204" pitchFamily="34" charset="0"/>
              <a:buChar char="•"/>
              <a:defRPr/>
            </a:pPr>
            <a:r>
              <a:rPr lang="en-US" sz="1000" kern="0">
                <a:solidFill>
                  <a:srgbClr val="02051C"/>
                </a:solidFill>
                <a:latin typeface="Manrope"/>
                <a:cs typeface="Segoe UI" panose="020B0502040204020203" pitchFamily="34" charset="0"/>
              </a:rPr>
              <a:t>Scalability:  Not able to scale up and out resources based on workloads and demands without impacting a decline in performance. </a:t>
            </a:r>
          </a:p>
          <a:p>
            <a:pPr marL="171450" indent="-171450">
              <a:lnSpc>
                <a:spcPct val="100000"/>
              </a:lnSpc>
              <a:spcBef>
                <a:spcPts val="0"/>
              </a:spcBef>
              <a:spcAft>
                <a:spcPts val="300"/>
              </a:spcAft>
              <a:buClr>
                <a:srgbClr val="02051C"/>
              </a:buClr>
              <a:buFont typeface="Arial" panose="020B0604020202020204" pitchFamily="34" charset="0"/>
              <a:buChar char="•"/>
              <a:defRPr/>
            </a:pPr>
            <a:r>
              <a:rPr lang="en-US" sz="1000" kern="0">
                <a:solidFill>
                  <a:srgbClr val="02051C"/>
                </a:solidFill>
                <a:latin typeface="Manrope"/>
                <a:cs typeface="Segoe UI" panose="020B0502040204020203" pitchFamily="34" charset="0"/>
              </a:rPr>
              <a:t>Slower Data Exchange: Ability to send the data from source systems like Opera to Marketing Cloud in near real time is a challenge. Current system takes 2 to 3 hours</a:t>
            </a:r>
          </a:p>
          <a:p>
            <a:pPr marL="171450" indent="-171450">
              <a:lnSpc>
                <a:spcPct val="100000"/>
              </a:lnSpc>
              <a:spcBef>
                <a:spcPts val="0"/>
              </a:spcBef>
              <a:spcAft>
                <a:spcPts val="300"/>
              </a:spcAft>
              <a:buClr>
                <a:srgbClr val="02051C"/>
              </a:buClr>
              <a:buFont typeface="Arial" panose="020B0604020202020204" pitchFamily="34" charset="0"/>
              <a:buChar char="•"/>
              <a:defRPr/>
            </a:pPr>
            <a:r>
              <a:rPr lang="en-US" sz="1000" kern="0">
                <a:solidFill>
                  <a:srgbClr val="02051C"/>
                </a:solidFill>
                <a:latin typeface="Manrope"/>
                <a:cs typeface="Segoe UI" panose="020B0502040204020203" pitchFamily="34" charset="0"/>
              </a:rPr>
              <a:t>Unstructured Data: Missing Data Lake which can hold structured, unstructured, or semi-structured data as a single source of truth. </a:t>
            </a:r>
          </a:p>
          <a:p>
            <a:pPr marL="171450" indent="-171450">
              <a:lnSpc>
                <a:spcPct val="100000"/>
              </a:lnSpc>
              <a:spcBef>
                <a:spcPts val="0"/>
              </a:spcBef>
              <a:spcAft>
                <a:spcPts val="300"/>
              </a:spcAft>
              <a:buClr>
                <a:srgbClr val="02051C"/>
              </a:buClr>
              <a:buFont typeface="Arial" panose="020B0604020202020204" pitchFamily="34" charset="0"/>
              <a:buChar char="•"/>
              <a:defRPr/>
            </a:pPr>
            <a:r>
              <a:rPr lang="en-US" sz="1000" kern="0">
                <a:solidFill>
                  <a:srgbClr val="02051C"/>
                </a:solidFill>
                <a:latin typeface="Manrope"/>
                <a:cs typeface="Segoe UI" panose="020B0502040204020203" pitchFamily="34" charset="0"/>
              </a:rPr>
              <a:t>Master Data Management– Missing master data management solution that can help in de-duplication of customer details and act as a single source of truth</a:t>
            </a:r>
          </a:p>
        </p:txBody>
      </p:sp>
      <p:sp>
        <p:nvSpPr>
          <p:cNvPr id="17" name="Text Placeholder 3">
            <a:extLst>
              <a:ext uri="{FF2B5EF4-FFF2-40B4-BE49-F238E27FC236}">
                <a16:creationId xmlns:a16="http://schemas.microsoft.com/office/drawing/2014/main" id="{A90A31D3-A34C-338D-D9A3-5814EF4708DB}"/>
              </a:ext>
            </a:extLst>
          </p:cNvPr>
          <p:cNvSpPr txBox="1">
            <a:spLocks/>
          </p:cNvSpPr>
          <p:nvPr/>
        </p:nvSpPr>
        <p:spPr>
          <a:xfrm>
            <a:off x="620422" y="1122009"/>
            <a:ext cx="1655990" cy="233319"/>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Business Problem</a:t>
            </a:r>
          </a:p>
        </p:txBody>
      </p:sp>
      <p:sp>
        <p:nvSpPr>
          <p:cNvPr id="18" name="Text Placeholder 3">
            <a:extLst>
              <a:ext uri="{FF2B5EF4-FFF2-40B4-BE49-F238E27FC236}">
                <a16:creationId xmlns:a16="http://schemas.microsoft.com/office/drawing/2014/main" id="{44640379-DE51-2999-04F1-D844C0023A74}"/>
              </a:ext>
            </a:extLst>
          </p:cNvPr>
          <p:cNvSpPr txBox="1">
            <a:spLocks/>
          </p:cNvSpPr>
          <p:nvPr/>
        </p:nvSpPr>
        <p:spPr>
          <a:xfrm>
            <a:off x="545520" y="3070649"/>
            <a:ext cx="1653410" cy="23331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Solution</a:t>
            </a:r>
          </a:p>
        </p:txBody>
      </p:sp>
      <p:sp>
        <p:nvSpPr>
          <p:cNvPr id="19" name="Text Placeholder 3">
            <a:extLst>
              <a:ext uri="{FF2B5EF4-FFF2-40B4-BE49-F238E27FC236}">
                <a16:creationId xmlns:a16="http://schemas.microsoft.com/office/drawing/2014/main" id="{135F7127-D372-C77C-3563-EDEC37D65069}"/>
              </a:ext>
            </a:extLst>
          </p:cNvPr>
          <p:cNvSpPr txBox="1">
            <a:spLocks/>
          </p:cNvSpPr>
          <p:nvPr/>
        </p:nvSpPr>
        <p:spPr>
          <a:xfrm>
            <a:off x="545520" y="3318266"/>
            <a:ext cx="5400676" cy="1866588"/>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00000"/>
              </a:lnSpc>
              <a:spcBef>
                <a:spcPts val="0"/>
              </a:spcBef>
              <a:spcAft>
                <a:spcPts val="300"/>
              </a:spcAft>
              <a:buClr>
                <a:srgbClr val="02051C"/>
              </a:buClr>
              <a:defRPr/>
            </a:pPr>
            <a:r>
              <a:rPr lang="en-US" sz="1000" kern="0" spc="0">
                <a:solidFill>
                  <a:srgbClr val="02051C"/>
                </a:solidFill>
                <a:latin typeface="Manrope"/>
                <a:cs typeface="Segoe UI" panose="020B0502040204020203" pitchFamily="34" charset="0"/>
              </a:rPr>
              <a:t>Amazon S3 is used to store the Data from the data sources which are 7 in number. The Ingestion tool used here is Matillion</a:t>
            </a:r>
          </a:p>
          <a:p>
            <a:pPr marL="171450" indent="-171450">
              <a:lnSpc>
                <a:spcPct val="100000"/>
              </a:lnSpc>
              <a:spcBef>
                <a:spcPts val="0"/>
              </a:spcBef>
              <a:spcAft>
                <a:spcPts val="300"/>
              </a:spcAft>
              <a:buClr>
                <a:srgbClr val="02051C"/>
              </a:buClr>
              <a:defRPr/>
            </a:pPr>
            <a:r>
              <a:rPr lang="en-US" sz="1000" kern="0" spc="0">
                <a:solidFill>
                  <a:srgbClr val="02051C"/>
                </a:solidFill>
                <a:latin typeface="Manrope"/>
                <a:cs typeface="Segoe UI" panose="020B0502040204020203" pitchFamily="34" charset="0"/>
              </a:rPr>
              <a:t>Profisee MDM solution that can help in de-duplication of customer details and act as a single source of truth. The Golden Copy is created using the MDM. There are 728 Systems which utilize this Golden Copy</a:t>
            </a:r>
          </a:p>
          <a:p>
            <a:pPr marL="171450" indent="-171450">
              <a:lnSpc>
                <a:spcPct val="100000"/>
              </a:lnSpc>
              <a:spcBef>
                <a:spcPts val="0"/>
              </a:spcBef>
              <a:spcAft>
                <a:spcPts val="300"/>
              </a:spcAft>
              <a:buClr>
                <a:srgbClr val="02051C"/>
              </a:buClr>
              <a:defRPr/>
            </a:pPr>
            <a:r>
              <a:rPr lang="en-US" sz="1000" kern="0" spc="0">
                <a:solidFill>
                  <a:srgbClr val="02051C"/>
                </a:solidFill>
                <a:latin typeface="Manrope"/>
                <a:cs typeface="Segoe UI" panose="020B0502040204020203" pitchFamily="34" charset="0"/>
              </a:rPr>
              <a:t>Using Matillion as Ingestion tool, the Structured and Semi structured Data  is stored in the Snowflake Data Cloud</a:t>
            </a:r>
          </a:p>
          <a:p>
            <a:pPr marL="171450" indent="-171450">
              <a:lnSpc>
                <a:spcPct val="100000"/>
              </a:lnSpc>
              <a:spcBef>
                <a:spcPts val="0"/>
              </a:spcBef>
              <a:spcAft>
                <a:spcPts val="300"/>
              </a:spcAft>
              <a:buClr>
                <a:srgbClr val="02051C"/>
              </a:buClr>
              <a:defRPr/>
            </a:pPr>
            <a:r>
              <a:rPr lang="en-US" sz="1000" kern="0" spc="0">
                <a:solidFill>
                  <a:srgbClr val="02051C"/>
                </a:solidFill>
                <a:latin typeface="Manrope"/>
                <a:cs typeface="Segoe UI" panose="020B0502040204020203" pitchFamily="34" charset="0"/>
              </a:rPr>
              <a:t>The  Data stored in Snowflake is further utilized to build ML Models and Advanced Analytics.</a:t>
            </a:r>
          </a:p>
          <a:p>
            <a:pPr marL="171450" indent="-171450">
              <a:lnSpc>
                <a:spcPct val="100000"/>
              </a:lnSpc>
              <a:spcBef>
                <a:spcPts val="0"/>
              </a:spcBef>
              <a:spcAft>
                <a:spcPts val="300"/>
              </a:spcAft>
              <a:buClr>
                <a:srgbClr val="02051C"/>
              </a:buClr>
              <a:defRPr/>
            </a:pPr>
            <a:r>
              <a:rPr lang="en-US" sz="1000" kern="0" spc="0">
                <a:solidFill>
                  <a:srgbClr val="02051C"/>
                </a:solidFill>
                <a:latin typeface="Manrope"/>
                <a:cs typeface="Segoe UI" panose="020B0502040204020203" pitchFamily="34" charset="0"/>
              </a:rPr>
              <a:t>Consultative Leadership demonstrated in providing a PoV working collaboratively with partners and stakeholders.</a:t>
            </a:r>
          </a:p>
        </p:txBody>
      </p:sp>
      <p:sp>
        <p:nvSpPr>
          <p:cNvPr id="20" name="Text Placeholder 13">
            <a:extLst>
              <a:ext uri="{FF2B5EF4-FFF2-40B4-BE49-F238E27FC236}">
                <a16:creationId xmlns:a16="http://schemas.microsoft.com/office/drawing/2014/main" id="{F3333E35-9366-42E8-B4FD-D6E6A37DF2CB}"/>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Hospitality</a:t>
            </a:r>
          </a:p>
        </p:txBody>
      </p:sp>
      <p:sp>
        <p:nvSpPr>
          <p:cNvPr id="21" name="TextBox 20">
            <a:extLst>
              <a:ext uri="{FF2B5EF4-FFF2-40B4-BE49-F238E27FC236}">
                <a16:creationId xmlns:a16="http://schemas.microsoft.com/office/drawing/2014/main" id="{E37C0C4B-A7E1-3F03-1099-B735118AD90A}"/>
              </a:ext>
            </a:extLst>
          </p:cNvPr>
          <p:cNvSpPr txBox="1"/>
          <p:nvPr/>
        </p:nvSpPr>
        <p:spPr>
          <a:xfrm>
            <a:off x="527005" y="498968"/>
            <a:ext cx="5494093" cy="60016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i="0" u="none" strike="noStrike" kern="0" cap="none" spc="0" normalizeH="0" baseline="0" noProof="0">
                <a:ln>
                  <a:noFill/>
                </a:ln>
                <a:solidFill>
                  <a:srgbClr val="000000"/>
                </a:solidFill>
                <a:effectLst/>
                <a:uLnTx/>
                <a:uFillTx/>
              </a:rPr>
              <a:t>Case Study: Customer Profile using </a:t>
            </a:r>
            <a:r>
              <a:rPr kumimoji="0" lang="en-US" sz="1100" i="0" u="none" strike="noStrike" kern="0" cap="none" spc="0" normalizeH="0" baseline="0" noProof="0" err="1">
                <a:ln>
                  <a:noFill/>
                </a:ln>
                <a:solidFill>
                  <a:srgbClr val="000000"/>
                </a:solidFill>
                <a:effectLst/>
                <a:uLnTx/>
                <a:uFillTx/>
              </a:rPr>
              <a:t>Profisee</a:t>
            </a:r>
            <a:r>
              <a:rPr kumimoji="0" lang="en-US" sz="1100" i="0" u="none" strike="noStrike" kern="0" cap="none" spc="0" normalizeH="0" baseline="0" noProof="0">
                <a:ln>
                  <a:noFill/>
                </a:ln>
                <a:solidFill>
                  <a:srgbClr val="000000"/>
                </a:solidFill>
                <a:effectLst/>
                <a:uLnTx/>
                <a:uFillTx/>
              </a:rPr>
              <a:t> MDM and Snowflake for a </a:t>
            </a:r>
            <a:r>
              <a:rPr kumimoji="0" lang="en-US" sz="1100" i="0" u="none" strike="noStrike" kern="0" cap="none" spc="0" normalizeH="0" baseline="0" noProof="0" err="1">
                <a:ln>
                  <a:noFill/>
                </a:ln>
                <a:solidFill>
                  <a:srgbClr val="000000"/>
                </a:solidFill>
                <a:effectLst/>
                <a:uLnTx/>
                <a:uFillTx/>
              </a:rPr>
              <a:t>A</a:t>
            </a:r>
            <a:r>
              <a:rPr kumimoji="0" lang="en-US" sz="1100" i="0" u="none" strike="noStrike" kern="0" cap="none" spc="0" normalizeH="0" baseline="0" noProof="0">
                <a:ln>
                  <a:noFill/>
                </a:ln>
                <a:solidFill>
                  <a:srgbClr val="000000"/>
                </a:solidFill>
                <a:effectLst/>
                <a:uLnTx/>
                <a:uFillTx/>
              </a:rPr>
              <a:t> leading global developer and operator of destination resorts, ultra-luxury hotels and residences, </a:t>
            </a:r>
          </a:p>
        </p:txBody>
      </p:sp>
      <p:sp>
        <p:nvSpPr>
          <p:cNvPr id="23" name="Text Placeholder 1">
            <a:extLst>
              <a:ext uri="{FF2B5EF4-FFF2-40B4-BE49-F238E27FC236}">
                <a16:creationId xmlns:a16="http://schemas.microsoft.com/office/drawing/2014/main" id="{5EF58797-E4C2-15B4-DB9C-8418C72A7E6E}"/>
              </a:ext>
            </a:extLst>
          </p:cNvPr>
          <p:cNvSpPr txBox="1">
            <a:spLocks/>
          </p:cNvSpPr>
          <p:nvPr/>
        </p:nvSpPr>
        <p:spPr>
          <a:xfrm>
            <a:off x="717815" y="5847968"/>
            <a:ext cx="3116843"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defTabSz="91440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Faster Mastered Customer Profile in 5 to 7 minutes form data across the globe</a:t>
            </a:r>
          </a:p>
        </p:txBody>
      </p:sp>
      <p:sp>
        <p:nvSpPr>
          <p:cNvPr id="24" name="Text Placeholder 2">
            <a:extLst>
              <a:ext uri="{FF2B5EF4-FFF2-40B4-BE49-F238E27FC236}">
                <a16:creationId xmlns:a16="http://schemas.microsoft.com/office/drawing/2014/main" id="{926B70CB-C4C2-C5F4-204C-117766C33B25}"/>
              </a:ext>
            </a:extLst>
          </p:cNvPr>
          <p:cNvSpPr txBox="1">
            <a:spLocks/>
          </p:cNvSpPr>
          <p:nvPr/>
        </p:nvSpPr>
        <p:spPr>
          <a:xfrm>
            <a:off x="695324" y="5432471"/>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b="0" i="0" u="none" strike="noStrike" kern="1200" cap="none" spc="0" normalizeH="0" baseline="0" noProof="0">
                <a:ln>
                  <a:noFill/>
                </a:ln>
                <a:solidFill>
                  <a:srgbClr val="3C2DDA"/>
                </a:solidFill>
                <a:effectLst/>
                <a:uLnTx/>
                <a:uFillTx/>
                <a:latin typeface="Manrope Light"/>
              </a:rPr>
              <a:t>60%</a:t>
            </a:r>
          </a:p>
        </p:txBody>
      </p:sp>
      <p:sp>
        <p:nvSpPr>
          <p:cNvPr id="2" name="Text Placeholder 1">
            <a:extLst>
              <a:ext uri="{FF2B5EF4-FFF2-40B4-BE49-F238E27FC236}">
                <a16:creationId xmlns:a16="http://schemas.microsoft.com/office/drawing/2014/main" id="{690C4F32-2EFB-5C9C-B69B-D8500ABE5334}"/>
              </a:ext>
            </a:extLst>
          </p:cNvPr>
          <p:cNvSpPr txBox="1">
            <a:spLocks/>
          </p:cNvSpPr>
          <p:nvPr/>
        </p:nvSpPr>
        <p:spPr>
          <a:xfrm>
            <a:off x="4255949" y="5838603"/>
            <a:ext cx="1840051"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defTabSz="91440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Lesser TCO due to increase in advanced analytics and ML</a:t>
            </a:r>
          </a:p>
        </p:txBody>
      </p:sp>
      <p:sp>
        <p:nvSpPr>
          <p:cNvPr id="3" name="Text Placeholder 2">
            <a:extLst>
              <a:ext uri="{FF2B5EF4-FFF2-40B4-BE49-F238E27FC236}">
                <a16:creationId xmlns:a16="http://schemas.microsoft.com/office/drawing/2014/main" id="{1C455B1B-29A3-5D6A-4333-788C365AD00D}"/>
              </a:ext>
            </a:extLst>
          </p:cNvPr>
          <p:cNvSpPr txBox="1">
            <a:spLocks/>
          </p:cNvSpPr>
          <p:nvPr/>
        </p:nvSpPr>
        <p:spPr>
          <a:xfrm>
            <a:off x="4233457" y="5423106"/>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b="0" i="0" u="none" strike="noStrike" kern="1200" cap="none" spc="0" normalizeH="0" baseline="0" noProof="0">
                <a:ln>
                  <a:noFill/>
                </a:ln>
                <a:solidFill>
                  <a:srgbClr val="3C2DDA"/>
                </a:solidFill>
                <a:effectLst/>
                <a:uLnTx/>
                <a:uFillTx/>
                <a:latin typeface="Manrope Light"/>
              </a:rPr>
              <a:t>40%</a:t>
            </a:r>
          </a:p>
        </p:txBody>
      </p:sp>
      <p:pic>
        <p:nvPicPr>
          <p:cNvPr id="4" name="Picture 34">
            <a:extLst>
              <a:ext uri="{FF2B5EF4-FFF2-40B4-BE49-F238E27FC236}">
                <a16:creationId xmlns:a16="http://schemas.microsoft.com/office/drawing/2014/main" id="{07A7EB04-50E2-F74F-E67A-DF84802B176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628971" y="209763"/>
            <a:ext cx="1055563" cy="300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0270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B18AA-278E-6F0A-E453-005F803C0E7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C5C70F9-AC17-F53A-5019-E88B95000330}"/>
              </a:ext>
            </a:extLst>
          </p:cNvPr>
          <p:cNvSpPr>
            <a:spLocks noGrp="1"/>
          </p:cNvSpPr>
          <p:nvPr>
            <p:ph type="body" sz="quarter" idx="20"/>
          </p:nvPr>
        </p:nvSpPr>
        <p:spPr>
          <a:xfrm>
            <a:off x="602602" y="2132165"/>
            <a:ext cx="5436248" cy="707439"/>
          </a:xfrm>
        </p:spPr>
        <p:txBody>
          <a:bodyPr lIns="0" tIns="0" rIns="0" bIns="0" anchor="t">
            <a:noAutofit/>
          </a:bodyPr>
          <a:lstStyle/>
          <a:p>
            <a:pPr>
              <a:lnSpc>
                <a:spcPct val="90000"/>
              </a:lnSpc>
              <a:spcAft>
                <a:spcPts val="300"/>
              </a:spcAft>
            </a:pPr>
            <a:r>
              <a:rPr lang="en-US" sz="1000"/>
              <a:t>The client faced a challenge with agents not being adequately trained on the Salesforce System, resulting in missing request numbers, booking categories, customer profiles, and program details.</a:t>
            </a:r>
          </a:p>
        </p:txBody>
      </p:sp>
      <p:sp>
        <p:nvSpPr>
          <p:cNvPr id="12" name="Text Placeholder 11">
            <a:extLst>
              <a:ext uri="{FF2B5EF4-FFF2-40B4-BE49-F238E27FC236}">
                <a16:creationId xmlns:a16="http://schemas.microsoft.com/office/drawing/2014/main" id="{48677494-2F94-64DC-C0F8-943B12DC53A6}"/>
              </a:ext>
            </a:extLst>
          </p:cNvPr>
          <p:cNvSpPr>
            <a:spLocks noGrp="1"/>
          </p:cNvSpPr>
          <p:nvPr>
            <p:ph type="body" sz="quarter" idx="15"/>
          </p:nvPr>
        </p:nvSpPr>
        <p:spPr>
          <a:xfrm flipH="1">
            <a:off x="618003" y="786278"/>
            <a:ext cx="5300664" cy="621640"/>
          </a:xfrm>
        </p:spPr>
        <p:txBody>
          <a:bodyPr/>
          <a:lstStyle/>
          <a:p>
            <a:r>
              <a:rPr lang="en-US" sz="1100"/>
              <a:t>Case study: Migration to </a:t>
            </a:r>
            <a:r>
              <a:rPr lang="en-US" sz="1100" err="1"/>
              <a:t>SalesForce</a:t>
            </a:r>
            <a:r>
              <a:rPr lang="en-US" sz="1100"/>
              <a:t> Platform from Existing Astute Agent </a:t>
            </a:r>
            <a:r>
              <a:rPr lang="en-US" sz="1100" err="1"/>
              <a:t>ePC</a:t>
            </a:r>
            <a:r>
              <a:rPr lang="en-US" sz="1100"/>
              <a:t> Gl</a:t>
            </a:r>
            <a:r>
              <a:rPr lang="en-US" sz="1100" i="0">
                <a:effectLst/>
              </a:rPr>
              <a:t>obal leader in customer and employee loyalty solutions and concierge services</a:t>
            </a:r>
          </a:p>
          <a:p>
            <a:endParaRPr lang="en-US" sz="1100">
              <a:solidFill>
                <a:srgbClr val="474747"/>
              </a:solidFill>
              <a:highlight>
                <a:srgbClr val="FFFFFF"/>
              </a:highlight>
            </a:endParaRPr>
          </a:p>
        </p:txBody>
      </p:sp>
      <p:sp>
        <p:nvSpPr>
          <p:cNvPr id="14" name="Text Placeholder 13">
            <a:extLst>
              <a:ext uri="{FF2B5EF4-FFF2-40B4-BE49-F238E27FC236}">
                <a16:creationId xmlns:a16="http://schemas.microsoft.com/office/drawing/2014/main" id="{37D9B24E-7975-4076-48BA-EDC637C02671}"/>
              </a:ext>
            </a:extLst>
          </p:cNvPr>
          <p:cNvSpPr>
            <a:spLocks noGrp="1"/>
          </p:cNvSpPr>
          <p:nvPr>
            <p:ph type="body" sz="quarter" idx="21"/>
          </p:nvPr>
        </p:nvSpPr>
        <p:spPr>
          <a:xfrm flipH="1">
            <a:off x="618003" y="457200"/>
            <a:ext cx="5300664" cy="216401"/>
          </a:xfrm>
        </p:spPr>
        <p:txBody>
          <a:bodyPr/>
          <a:lstStyle/>
          <a:p>
            <a:r>
              <a:rPr lang="en-US"/>
              <a:t>Travel</a:t>
            </a:r>
          </a:p>
        </p:txBody>
      </p:sp>
      <p:sp>
        <p:nvSpPr>
          <p:cNvPr id="5" name="Text Placeholder 3">
            <a:extLst>
              <a:ext uri="{FF2B5EF4-FFF2-40B4-BE49-F238E27FC236}">
                <a16:creationId xmlns:a16="http://schemas.microsoft.com/office/drawing/2014/main" id="{7ED5548D-78FB-DD28-3D7D-8697E43C0BB2}"/>
              </a:ext>
            </a:extLst>
          </p:cNvPr>
          <p:cNvSpPr txBox="1">
            <a:spLocks/>
          </p:cNvSpPr>
          <p:nvPr/>
        </p:nvSpPr>
        <p:spPr>
          <a:xfrm>
            <a:off x="647691" y="1821985"/>
            <a:ext cx="1631052" cy="31018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Business Problem</a:t>
            </a:r>
          </a:p>
        </p:txBody>
      </p:sp>
      <p:sp>
        <p:nvSpPr>
          <p:cNvPr id="15" name="Text Placeholder 3">
            <a:extLst>
              <a:ext uri="{FF2B5EF4-FFF2-40B4-BE49-F238E27FC236}">
                <a16:creationId xmlns:a16="http://schemas.microsoft.com/office/drawing/2014/main" id="{3BA4EC49-1944-2ACA-F86E-A75572FD6F79}"/>
              </a:ext>
            </a:extLst>
          </p:cNvPr>
          <p:cNvSpPr txBox="1">
            <a:spLocks/>
          </p:cNvSpPr>
          <p:nvPr/>
        </p:nvSpPr>
        <p:spPr>
          <a:xfrm>
            <a:off x="618002" y="2943129"/>
            <a:ext cx="1500363"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Solution</a:t>
            </a:r>
          </a:p>
        </p:txBody>
      </p:sp>
      <p:sp>
        <p:nvSpPr>
          <p:cNvPr id="6" name="TextBox 5">
            <a:extLst>
              <a:ext uri="{FF2B5EF4-FFF2-40B4-BE49-F238E27FC236}">
                <a16:creationId xmlns:a16="http://schemas.microsoft.com/office/drawing/2014/main" id="{3A535934-51BE-B8A5-C197-FC5E818FF68A}"/>
              </a:ext>
            </a:extLst>
          </p:cNvPr>
          <p:cNvSpPr txBox="1"/>
          <p:nvPr/>
        </p:nvSpPr>
        <p:spPr>
          <a:xfrm>
            <a:off x="5638800" y="2971800"/>
            <a:ext cx="914400" cy="914400"/>
          </a:xfrm>
          <a:prstGeom prst="rect">
            <a:avLst/>
          </a:prstGeom>
          <a:noFill/>
        </p:spPr>
        <p:txBody>
          <a:bodyPr wrap="square" lIns="0" tIns="0" rIns="0" bIns="0" rtlCol="0">
            <a:spAutoFit/>
          </a:bodyPr>
          <a:lstStyle/>
          <a:p>
            <a:pPr algn="l"/>
            <a:endParaRPr lang="en-IN" sz="1400" err="1"/>
          </a:p>
        </p:txBody>
      </p:sp>
      <p:sp>
        <p:nvSpPr>
          <p:cNvPr id="8" name="TextBox 7">
            <a:extLst>
              <a:ext uri="{FF2B5EF4-FFF2-40B4-BE49-F238E27FC236}">
                <a16:creationId xmlns:a16="http://schemas.microsoft.com/office/drawing/2014/main" id="{029A4A93-B27E-CD00-39FE-0AC4A593F73C}"/>
              </a:ext>
            </a:extLst>
          </p:cNvPr>
          <p:cNvSpPr txBox="1"/>
          <p:nvPr/>
        </p:nvSpPr>
        <p:spPr>
          <a:xfrm>
            <a:off x="5638800" y="2971800"/>
            <a:ext cx="914400" cy="914400"/>
          </a:xfrm>
          <a:prstGeom prst="rect">
            <a:avLst/>
          </a:prstGeom>
          <a:noFill/>
        </p:spPr>
        <p:txBody>
          <a:bodyPr wrap="square" lIns="0" tIns="0" rIns="0" bIns="0" rtlCol="0">
            <a:spAutoFit/>
          </a:bodyPr>
          <a:lstStyle/>
          <a:p>
            <a:pPr algn="l"/>
            <a:endParaRPr lang="en-IN" sz="1400" err="1"/>
          </a:p>
        </p:txBody>
      </p:sp>
      <p:sp>
        <p:nvSpPr>
          <p:cNvPr id="32" name="TextBox 31">
            <a:extLst>
              <a:ext uri="{FF2B5EF4-FFF2-40B4-BE49-F238E27FC236}">
                <a16:creationId xmlns:a16="http://schemas.microsoft.com/office/drawing/2014/main" id="{6438AAD3-5638-0737-651E-9F13D6A20CB3}"/>
              </a:ext>
            </a:extLst>
          </p:cNvPr>
          <p:cNvSpPr txBox="1"/>
          <p:nvPr/>
        </p:nvSpPr>
        <p:spPr>
          <a:xfrm>
            <a:off x="618002" y="3254019"/>
            <a:ext cx="5300664" cy="923330"/>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000"/>
              <a:t>Established manually Implemented Salesforce Bulk API to handle high production data volumes, enabling up to 500,000 records per pull and eliminating dependencies on the AEMO Team for data requests. The Data from Salesforce is stored in Snowflake</a:t>
            </a:r>
          </a:p>
          <a:p>
            <a:pPr marL="285750" indent="-285750">
              <a:buFont typeface="Arial" panose="020B0604020202020204" pitchFamily="34" charset="0"/>
              <a:buChar char="•"/>
            </a:pPr>
            <a:r>
              <a:rPr lang="en-US" sz="1000"/>
              <a:t>The reference data setup via Salesforce Front End Screen with integrated configuration for Vonage and Salesforce.</a:t>
            </a:r>
          </a:p>
          <a:p>
            <a:pPr marL="285750" indent="-285750">
              <a:buFont typeface="Arial" panose="020B0604020202020204" pitchFamily="34" charset="0"/>
              <a:buChar char="•"/>
            </a:pPr>
            <a:endParaRPr lang="en-US" sz="1000"/>
          </a:p>
        </p:txBody>
      </p:sp>
      <p:sp>
        <p:nvSpPr>
          <p:cNvPr id="11" name="Picture Placeholder 10">
            <a:extLst>
              <a:ext uri="{FF2B5EF4-FFF2-40B4-BE49-F238E27FC236}">
                <a16:creationId xmlns:a16="http://schemas.microsoft.com/office/drawing/2014/main" id="{BD090D6C-2A03-F890-7039-1E2F0D2265B2}"/>
              </a:ext>
            </a:extLst>
          </p:cNvPr>
          <p:cNvSpPr>
            <a:spLocks noGrp="1"/>
          </p:cNvSpPr>
          <p:nvPr>
            <p:ph type="pic" sz="quarter" idx="17"/>
          </p:nvPr>
        </p:nvSpPr>
        <p:spPr/>
        <p:txBody>
          <a:bodyPr/>
          <a:lstStyle/>
          <a:p>
            <a:endParaRPr lang="en-IN"/>
          </a:p>
        </p:txBody>
      </p:sp>
      <p:pic>
        <p:nvPicPr>
          <p:cNvPr id="2062" name="Picture 14" descr="Hotel Industry Trends: 3 Customer Service Trends In Hospitality | HiRUM">
            <a:extLst>
              <a:ext uri="{FF2B5EF4-FFF2-40B4-BE49-F238E27FC236}">
                <a16:creationId xmlns:a16="http://schemas.microsoft.com/office/drawing/2014/main" id="{BF9593D4-6339-DC8E-D940-C2DC357D9BE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438900" y="914401"/>
            <a:ext cx="5753100" cy="4856084"/>
          </a:xfrm>
          <a:prstGeom prst="rect">
            <a:avLst/>
          </a:prstGeom>
          <a:noFill/>
          <a:extLst>
            <a:ext uri="{909E8E84-426E-40DD-AFC4-6F175D3DCCD1}">
              <a14:hiddenFill xmlns:a14="http://schemas.microsoft.com/office/drawing/2010/main">
                <a:solidFill>
                  <a:srgbClr val="FFFFFF"/>
                </a:solidFill>
              </a14:hiddenFill>
            </a:ext>
          </a:extLst>
        </p:spPr>
      </p:pic>
      <p:sp>
        <p:nvSpPr>
          <p:cNvPr id="21" name="Text Placeholder 3">
            <a:extLst>
              <a:ext uri="{FF2B5EF4-FFF2-40B4-BE49-F238E27FC236}">
                <a16:creationId xmlns:a16="http://schemas.microsoft.com/office/drawing/2014/main" id="{CD56F18E-4267-B2C0-6453-6B348DDCA084}"/>
              </a:ext>
            </a:extLst>
          </p:cNvPr>
          <p:cNvSpPr txBox="1">
            <a:spLocks/>
          </p:cNvSpPr>
          <p:nvPr/>
        </p:nvSpPr>
        <p:spPr>
          <a:xfrm>
            <a:off x="647691" y="4514681"/>
            <a:ext cx="1500363"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300" b="0" i="0" u="none" strike="noStrike" kern="1200" cap="none" spc="10" normalizeH="0" baseline="0" noProof="0">
                <a:ln>
                  <a:noFill/>
                </a:ln>
                <a:solidFill>
                  <a:srgbClr val="3C2DDA"/>
                </a:solidFill>
                <a:effectLst/>
                <a:uLnTx/>
                <a:uFillTx/>
                <a:latin typeface="Manrope Medium" pitchFamily="2" charset="0"/>
              </a:rPr>
              <a:t>Technologies used</a:t>
            </a:r>
          </a:p>
        </p:txBody>
      </p:sp>
      <p:sp>
        <p:nvSpPr>
          <p:cNvPr id="22" name="Text Placeholder 3">
            <a:extLst>
              <a:ext uri="{FF2B5EF4-FFF2-40B4-BE49-F238E27FC236}">
                <a16:creationId xmlns:a16="http://schemas.microsoft.com/office/drawing/2014/main" id="{C9EDEA9D-155A-D09F-4A35-290ED2BCD35A}"/>
              </a:ext>
            </a:extLst>
          </p:cNvPr>
          <p:cNvSpPr txBox="1">
            <a:spLocks/>
          </p:cNvSpPr>
          <p:nvPr/>
        </p:nvSpPr>
        <p:spPr>
          <a:xfrm>
            <a:off x="618002" y="4855165"/>
            <a:ext cx="5436248" cy="707439"/>
          </a:xfrm>
          <a:prstGeom prst="rect">
            <a:avLst/>
          </a:prstGeom>
        </p:spPr>
        <p:txBody>
          <a:bodyPr lIns="0" tIns="0" rIns="0" bIns="0" anchor="t">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spcAft>
                <a:spcPts val="300"/>
              </a:spcAft>
            </a:pPr>
            <a:r>
              <a:rPr lang="en-US"/>
              <a:t>Snowflake, Talend Data Migration, </a:t>
            </a:r>
            <a:r>
              <a:rPr lang="en-US" err="1"/>
              <a:t>DataBricks</a:t>
            </a:r>
            <a:r>
              <a:rPr lang="en-US"/>
              <a:t>, Cosmos DB, Python, Azure</a:t>
            </a:r>
          </a:p>
        </p:txBody>
      </p:sp>
      <p:pic>
        <p:nvPicPr>
          <p:cNvPr id="2" name="Picture 2" descr="International SOS to introduce Aspire Lifestyles brand">
            <a:extLst>
              <a:ext uri="{FF2B5EF4-FFF2-40B4-BE49-F238E27FC236}">
                <a16:creationId xmlns:a16="http://schemas.microsoft.com/office/drawing/2014/main" id="{07340B0B-565B-841B-8E69-1BA9A944512B}"/>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625411" y="217729"/>
            <a:ext cx="1026714" cy="582315"/>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1">
            <a:extLst>
              <a:ext uri="{FF2B5EF4-FFF2-40B4-BE49-F238E27FC236}">
                <a16:creationId xmlns:a16="http://schemas.microsoft.com/office/drawing/2014/main" id="{FCED773A-1CFB-B4F0-7CF6-107980BAF813}"/>
              </a:ext>
            </a:extLst>
          </p:cNvPr>
          <p:cNvSpPr txBox="1">
            <a:spLocks/>
          </p:cNvSpPr>
          <p:nvPr/>
        </p:nvSpPr>
        <p:spPr>
          <a:xfrm>
            <a:off x="647691" y="5863972"/>
            <a:ext cx="2301442"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1200" cap="none" spc="10" normalizeH="0" baseline="0" noProof="0">
                <a:ln>
                  <a:noFill/>
                </a:ln>
                <a:solidFill>
                  <a:srgbClr val="3C2DDA"/>
                </a:solidFill>
                <a:effectLst/>
                <a:uLnTx/>
                <a:uFillTx/>
                <a:latin typeface="Manrope"/>
              </a:rPr>
              <a:t>Improved in Operational Efficiency with Agents</a:t>
            </a:r>
          </a:p>
        </p:txBody>
      </p:sp>
      <p:sp>
        <p:nvSpPr>
          <p:cNvPr id="9" name="Text Placeholder 2">
            <a:extLst>
              <a:ext uri="{FF2B5EF4-FFF2-40B4-BE49-F238E27FC236}">
                <a16:creationId xmlns:a16="http://schemas.microsoft.com/office/drawing/2014/main" id="{57471F41-C4E0-FA41-0F34-098E2A0FB3FB}"/>
              </a:ext>
            </a:extLst>
          </p:cNvPr>
          <p:cNvSpPr txBox="1">
            <a:spLocks/>
          </p:cNvSpPr>
          <p:nvPr/>
        </p:nvSpPr>
        <p:spPr>
          <a:xfrm>
            <a:off x="625199" y="5448475"/>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3</a:t>
            </a:r>
            <a:r>
              <a:rPr kumimoji="0" lang="en-US" b="0" i="0" u="none" strike="noStrike" kern="1200" cap="none" spc="0" normalizeH="0" baseline="0" noProof="0">
                <a:ln>
                  <a:noFill/>
                </a:ln>
                <a:solidFill>
                  <a:srgbClr val="3C2DDA"/>
                </a:solidFill>
                <a:effectLst/>
                <a:uLnTx/>
                <a:uFillTx/>
                <a:latin typeface="Manrope Light"/>
              </a:rPr>
              <a:t>0%</a:t>
            </a:r>
          </a:p>
        </p:txBody>
      </p:sp>
    </p:spTree>
    <p:extLst>
      <p:ext uri="{BB962C8B-B14F-4D97-AF65-F5344CB8AC3E}">
        <p14:creationId xmlns:p14="http://schemas.microsoft.com/office/powerpoint/2010/main" val="12594547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2F055-85E2-BF85-3C94-B272F7D70CB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6E51240-0FB8-1761-12A7-6E07CA0FA81A}"/>
              </a:ext>
            </a:extLst>
          </p:cNvPr>
          <p:cNvSpPr>
            <a:spLocks noGrp="1"/>
          </p:cNvSpPr>
          <p:nvPr>
            <p:ph type="body" sz="quarter" idx="20"/>
          </p:nvPr>
        </p:nvSpPr>
        <p:spPr>
          <a:xfrm>
            <a:off x="486728" y="1237977"/>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sp>
        <p:nvSpPr>
          <p:cNvPr id="22" name="Picture Placeholder 21">
            <a:extLst>
              <a:ext uri="{FF2B5EF4-FFF2-40B4-BE49-F238E27FC236}">
                <a16:creationId xmlns:a16="http://schemas.microsoft.com/office/drawing/2014/main" id="{470AB235-1A11-9CF2-1778-24DEC7F32E2A}"/>
              </a:ext>
            </a:extLst>
          </p:cNvPr>
          <p:cNvSpPr>
            <a:spLocks noGrp="1"/>
          </p:cNvSpPr>
          <p:nvPr>
            <p:ph type="pic" sz="quarter" idx="17"/>
          </p:nvPr>
        </p:nvSpPr>
        <p:spPr/>
        <p:txBody>
          <a:bodyPr/>
          <a:lstStyle/>
          <a:p>
            <a:endParaRPr lang="en-US"/>
          </a:p>
        </p:txBody>
      </p:sp>
      <p:sp>
        <p:nvSpPr>
          <p:cNvPr id="45" name="TextBox 44">
            <a:extLst>
              <a:ext uri="{FF2B5EF4-FFF2-40B4-BE49-F238E27FC236}">
                <a16:creationId xmlns:a16="http://schemas.microsoft.com/office/drawing/2014/main" id="{6AB8149B-377A-5EF0-2DA0-B9AA17BDF73D}"/>
              </a:ext>
            </a:extLst>
          </p:cNvPr>
          <p:cNvSpPr txBox="1"/>
          <p:nvPr/>
        </p:nvSpPr>
        <p:spPr>
          <a:xfrm>
            <a:off x="393309" y="1544349"/>
            <a:ext cx="5494093" cy="116955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The client encountered challenges in calculating metrics between CIC and Vonage due to differences in setup, particularly in ringing time and wrap time, leading to increased SLA breaches. </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000" i="0" u="none" strike="noStrike" kern="1200" cap="none" spc="0" normalizeH="0" baseline="0" noProof="0">
              <a:ln>
                <a:noFill/>
              </a:ln>
              <a:solidFill>
                <a:srgbClr val="000000"/>
              </a:solidFill>
              <a:effectLst/>
              <a:uLnTx/>
              <a:uFillTx/>
              <a:latin typeface="Manrope"/>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To address this, a customized SLA calculation formula was to be developed for Vonage to mitigate these breaches.</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000" i="0" u="none" strike="noStrike" kern="1200" cap="none" spc="0" normalizeH="0" baseline="0" noProof="0">
              <a:ln>
                <a:noFill/>
              </a:ln>
              <a:solidFill>
                <a:srgbClr val="000000"/>
              </a:solidFill>
              <a:effectLst/>
              <a:uLnTx/>
              <a:uFillTx/>
              <a:latin typeface="Manrope"/>
            </a:endParaRPr>
          </a:p>
        </p:txBody>
      </p:sp>
      <p:sp>
        <p:nvSpPr>
          <p:cNvPr id="6" name="Text Placeholder 3">
            <a:extLst>
              <a:ext uri="{FF2B5EF4-FFF2-40B4-BE49-F238E27FC236}">
                <a16:creationId xmlns:a16="http://schemas.microsoft.com/office/drawing/2014/main" id="{C0090BCE-CE46-4E64-9D2C-373AD6853C57}"/>
              </a:ext>
            </a:extLst>
          </p:cNvPr>
          <p:cNvSpPr txBox="1">
            <a:spLocks/>
          </p:cNvSpPr>
          <p:nvPr/>
        </p:nvSpPr>
        <p:spPr>
          <a:xfrm>
            <a:off x="486728" y="2737391"/>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400">
                <a:solidFill>
                  <a:schemeClr val="accent1"/>
                </a:solidFill>
                <a:latin typeface="Manrope Medium" pitchFamily="2" charset="0"/>
              </a:rPr>
              <a:t>Solution</a:t>
            </a:r>
          </a:p>
        </p:txBody>
      </p:sp>
      <p:sp>
        <p:nvSpPr>
          <p:cNvPr id="7" name="TextBox 6">
            <a:extLst>
              <a:ext uri="{FF2B5EF4-FFF2-40B4-BE49-F238E27FC236}">
                <a16:creationId xmlns:a16="http://schemas.microsoft.com/office/drawing/2014/main" id="{F15FE97A-891C-77C5-3451-C5C2565FE711}"/>
              </a:ext>
            </a:extLst>
          </p:cNvPr>
          <p:cNvSpPr txBox="1"/>
          <p:nvPr/>
        </p:nvSpPr>
        <p:spPr>
          <a:xfrm>
            <a:off x="393309" y="3043763"/>
            <a:ext cx="5565531" cy="1631216"/>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Implemented a 15-minute scheduled extraction of Vonage Call API to manage high production volumes due to the 2,000-record limit of the Call Extract JSON API, given the absence of a Bulk API in Vonage.</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000" i="0" u="none" strike="noStrike" kern="1200" cap="none" spc="0" normalizeH="0" baseline="0" noProof="0">
              <a:ln>
                <a:noFill/>
              </a:ln>
              <a:solidFill>
                <a:srgbClr val="000000"/>
              </a:solidFill>
              <a:effectLst/>
              <a:uLnTx/>
              <a:uFillTx/>
              <a:latin typeface="Manrope"/>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Provided expert mapping assistance between Vonage and CIC, optimized the call volume download job, and introduced additional reconciliation reports for improved data accuracy.</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000" i="0" u="none" strike="noStrike" kern="1200" cap="none" spc="0" normalizeH="0" baseline="0" noProof="0">
              <a:ln>
                <a:noFill/>
              </a:ln>
              <a:solidFill>
                <a:srgbClr val="000000"/>
              </a:solidFill>
              <a:effectLst/>
              <a:uLnTx/>
              <a:uFillTx/>
              <a:latin typeface="Manrope"/>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Developed a custom extraction configuration with a date range and ensured the code was site-agnostic for flexible deployment across various locations.</a:t>
            </a:r>
          </a:p>
        </p:txBody>
      </p:sp>
      <p:pic>
        <p:nvPicPr>
          <p:cNvPr id="19" name="Picture 2" descr="Aspire Lifestyles - Luxury Lifestyle Awards">
            <a:extLst>
              <a:ext uri="{FF2B5EF4-FFF2-40B4-BE49-F238E27FC236}">
                <a16:creationId xmlns:a16="http://schemas.microsoft.com/office/drawing/2014/main" id="{2157A32A-CC29-F258-456E-4BBAAD51E18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438900" y="874801"/>
            <a:ext cx="5767387" cy="4856083"/>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13">
            <a:extLst>
              <a:ext uri="{FF2B5EF4-FFF2-40B4-BE49-F238E27FC236}">
                <a16:creationId xmlns:a16="http://schemas.microsoft.com/office/drawing/2014/main" id="{F70EFC09-CB5A-C912-F23A-4F75E1C50FB6}"/>
              </a:ext>
            </a:extLst>
          </p:cNvPr>
          <p:cNvSpPr txBox="1">
            <a:spLocks/>
          </p:cNvSpPr>
          <p:nvPr/>
        </p:nvSpPr>
        <p:spPr>
          <a:xfrm flipH="1">
            <a:off x="443630" y="292486"/>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Travel</a:t>
            </a: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US" sz="1500" b="0" i="0" u="none" strike="noStrike" kern="1200" cap="none" spc="0" normalizeH="0" baseline="0" noProof="0">
              <a:ln>
                <a:noFill/>
              </a:ln>
              <a:solidFill>
                <a:srgbClr val="000000"/>
              </a:solidFill>
              <a:effectLst/>
              <a:uLnTx/>
              <a:uFillTx/>
              <a:latin typeface="Manrope"/>
            </a:endParaRPr>
          </a:p>
        </p:txBody>
      </p:sp>
      <p:sp>
        <p:nvSpPr>
          <p:cNvPr id="15" name="TextBox 14">
            <a:extLst>
              <a:ext uri="{FF2B5EF4-FFF2-40B4-BE49-F238E27FC236}">
                <a16:creationId xmlns:a16="http://schemas.microsoft.com/office/drawing/2014/main" id="{A0562375-DB61-1E5B-9114-8EE3FABE5B7A}"/>
              </a:ext>
            </a:extLst>
          </p:cNvPr>
          <p:cNvSpPr txBox="1"/>
          <p:nvPr/>
        </p:nvSpPr>
        <p:spPr>
          <a:xfrm>
            <a:off x="350212" y="539595"/>
            <a:ext cx="5494093" cy="577081"/>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rPr>
              <a:t>Case Study: Migration to Vonage Platform from Existing CIC Platform for a Global leader in customer and employee loyalty solutions and concierge services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a:ln>
                <a:noFill/>
              </a:ln>
              <a:solidFill>
                <a:srgbClr val="000000"/>
              </a:solidFill>
              <a:effectLst/>
              <a:uLnTx/>
              <a:uFillTx/>
            </a:endParaRPr>
          </a:p>
        </p:txBody>
      </p:sp>
      <p:pic>
        <p:nvPicPr>
          <p:cNvPr id="1026" name="Picture 2" descr="International SOS to introduce Aspire Lifestyles brand">
            <a:extLst>
              <a:ext uri="{FF2B5EF4-FFF2-40B4-BE49-F238E27FC236}">
                <a16:creationId xmlns:a16="http://schemas.microsoft.com/office/drawing/2014/main" id="{58DB784F-8024-6DC2-63AA-E7A083F9CF49}"/>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625411" y="217729"/>
            <a:ext cx="1026714" cy="582315"/>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E070D70B-28C5-E1C5-8458-4FC937592570}"/>
              </a:ext>
            </a:extLst>
          </p:cNvPr>
          <p:cNvSpPr txBox="1">
            <a:spLocks/>
          </p:cNvSpPr>
          <p:nvPr/>
        </p:nvSpPr>
        <p:spPr>
          <a:xfrm>
            <a:off x="636630" y="5420339"/>
            <a:ext cx="2301442"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1200" cap="none" spc="10" normalizeH="0" baseline="0" noProof="0">
                <a:ln>
                  <a:noFill/>
                </a:ln>
                <a:solidFill>
                  <a:srgbClr val="3C2DDA"/>
                </a:solidFill>
                <a:effectLst/>
                <a:uLnTx/>
                <a:uFillTx/>
                <a:latin typeface="Manrope"/>
              </a:rPr>
              <a:t>Savings due to lesser time in processing large datasets</a:t>
            </a:r>
          </a:p>
        </p:txBody>
      </p:sp>
      <p:sp>
        <p:nvSpPr>
          <p:cNvPr id="3" name="Text Placeholder 2">
            <a:extLst>
              <a:ext uri="{FF2B5EF4-FFF2-40B4-BE49-F238E27FC236}">
                <a16:creationId xmlns:a16="http://schemas.microsoft.com/office/drawing/2014/main" id="{347E3B0E-8380-BCEB-DAC9-569B05A8AA4D}"/>
              </a:ext>
            </a:extLst>
          </p:cNvPr>
          <p:cNvSpPr txBox="1">
            <a:spLocks/>
          </p:cNvSpPr>
          <p:nvPr/>
        </p:nvSpPr>
        <p:spPr>
          <a:xfrm>
            <a:off x="614138" y="5004842"/>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2</a:t>
            </a:r>
            <a:r>
              <a:rPr kumimoji="0" lang="en-US" b="0" i="0" u="none" strike="noStrike" kern="1200" cap="none" spc="0" normalizeH="0" baseline="0" noProof="0">
                <a:ln>
                  <a:noFill/>
                </a:ln>
                <a:solidFill>
                  <a:srgbClr val="3C2DDA"/>
                </a:solidFill>
                <a:effectLst/>
                <a:uLnTx/>
                <a:uFillTx/>
                <a:latin typeface="Manrope Light"/>
              </a:rPr>
              <a:t>0%</a:t>
            </a:r>
          </a:p>
        </p:txBody>
      </p:sp>
    </p:spTree>
    <p:extLst>
      <p:ext uri="{BB962C8B-B14F-4D97-AF65-F5344CB8AC3E}">
        <p14:creationId xmlns:p14="http://schemas.microsoft.com/office/powerpoint/2010/main" val="16789848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62617-D72F-0F9D-2B93-20F327BC766B}"/>
            </a:ext>
          </a:extLst>
        </p:cNvPr>
        <p:cNvGrpSpPr/>
        <p:nvPr/>
      </p:nvGrpSpPr>
      <p:grpSpPr>
        <a:xfrm>
          <a:off x="0" y="0"/>
          <a:ext cx="0" cy="0"/>
          <a:chOff x="0" y="0"/>
          <a:chExt cx="0" cy="0"/>
        </a:xfrm>
      </p:grpSpPr>
      <p:sp>
        <p:nvSpPr>
          <p:cNvPr id="27" name="Text Placeholder 3">
            <a:extLst>
              <a:ext uri="{FF2B5EF4-FFF2-40B4-BE49-F238E27FC236}">
                <a16:creationId xmlns:a16="http://schemas.microsoft.com/office/drawing/2014/main" id="{A6FE13AC-9FF8-274C-9989-24A3F3EBB583}"/>
              </a:ext>
            </a:extLst>
          </p:cNvPr>
          <p:cNvSpPr txBox="1">
            <a:spLocks/>
          </p:cNvSpPr>
          <p:nvPr/>
        </p:nvSpPr>
        <p:spPr>
          <a:xfrm>
            <a:off x="574877" y="1280207"/>
            <a:ext cx="5398348" cy="1488840"/>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in silos: Combined data from multiple sources to single database accessible to all on snowflake​</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Insights: With current data across multiple source system (SQL server, Salesforce) it was difficult to stich parts together for more insightful data​</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Low ROI: With existing IICS licensing costs.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Variety of ingestion tools/processes used to load data to snowflake.</a:t>
            </a:r>
          </a:p>
        </p:txBody>
      </p:sp>
      <p:sp>
        <p:nvSpPr>
          <p:cNvPr id="28" name="Text Placeholder 3">
            <a:extLst>
              <a:ext uri="{FF2B5EF4-FFF2-40B4-BE49-F238E27FC236}">
                <a16:creationId xmlns:a16="http://schemas.microsoft.com/office/drawing/2014/main" id="{B5F421DA-E29C-D119-0DFA-6003C8F7631D}"/>
              </a:ext>
            </a:extLst>
          </p:cNvPr>
          <p:cNvSpPr txBox="1">
            <a:spLocks/>
          </p:cNvSpPr>
          <p:nvPr/>
        </p:nvSpPr>
        <p:spPr>
          <a:xfrm>
            <a:off x="591000" y="940767"/>
            <a:ext cx="1494478"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300" b="0" i="0" u="none" strike="noStrike" kern="1200" cap="none" spc="10" normalizeH="0" baseline="0" noProof="0">
                <a:ln>
                  <a:noFill/>
                </a:ln>
                <a:solidFill>
                  <a:srgbClr val="3C2CDA"/>
                </a:solidFill>
                <a:effectLst/>
                <a:uLnTx/>
                <a:uFillTx/>
                <a:latin typeface="Manrope Medium" pitchFamily="2" charset="0"/>
              </a:rPr>
              <a:t>Business Problem</a:t>
            </a:r>
          </a:p>
        </p:txBody>
      </p:sp>
      <p:sp>
        <p:nvSpPr>
          <p:cNvPr id="29" name="Text Placeholder 3">
            <a:extLst>
              <a:ext uri="{FF2B5EF4-FFF2-40B4-BE49-F238E27FC236}">
                <a16:creationId xmlns:a16="http://schemas.microsoft.com/office/drawing/2014/main" id="{30294896-4030-CF67-6554-F62DBDEE7E58}"/>
              </a:ext>
            </a:extLst>
          </p:cNvPr>
          <p:cNvSpPr txBox="1">
            <a:spLocks/>
          </p:cNvSpPr>
          <p:nvPr/>
        </p:nvSpPr>
        <p:spPr>
          <a:xfrm>
            <a:off x="568508" y="2630250"/>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300" b="0" i="0" u="none" strike="noStrike" kern="1200" cap="none" spc="10" normalizeH="0" baseline="0" noProof="0">
                <a:ln>
                  <a:noFill/>
                </a:ln>
                <a:solidFill>
                  <a:srgbClr val="3C2CDA"/>
                </a:solidFill>
                <a:effectLst/>
                <a:uLnTx/>
                <a:uFillTx/>
                <a:latin typeface="Manrope Medium" pitchFamily="2" charset="0"/>
              </a:rPr>
              <a:t>Solution</a:t>
            </a:r>
          </a:p>
        </p:txBody>
      </p:sp>
      <p:sp>
        <p:nvSpPr>
          <p:cNvPr id="30" name="Text Placeholder 3">
            <a:extLst>
              <a:ext uri="{FF2B5EF4-FFF2-40B4-BE49-F238E27FC236}">
                <a16:creationId xmlns:a16="http://schemas.microsoft.com/office/drawing/2014/main" id="{21E45502-DF35-94A2-C6DF-2C275D75273C}"/>
              </a:ext>
            </a:extLst>
          </p:cNvPr>
          <p:cNvSpPr txBox="1">
            <a:spLocks/>
          </p:cNvSpPr>
          <p:nvPr/>
        </p:nvSpPr>
        <p:spPr>
          <a:xfrm>
            <a:off x="591000" y="2944937"/>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Implemented the centralized Datawarehouse which is Single source of truth for all type of data with scalability with snowflake DB.</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IICS jobs migrated to Azure Data Factory.</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Azure data factory has been used for uniform ingestion.</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Metadata driven data pipelines has been built using Stream and Task.</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Unified view of transaction data, shares, loans, and payment information from single source of truth from snowflake​</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Fast analytics &amp; reporting –self serviced dashboards built using Tableau by Business &amp; Marketing team.</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Zero license cost &amp; automation level across data, pipeline &amp; data visualization significantly reduced the overall cost.</a:t>
            </a:r>
          </a:p>
        </p:txBody>
      </p:sp>
      <p:sp>
        <p:nvSpPr>
          <p:cNvPr id="31" name="Text Placeholder 13">
            <a:extLst>
              <a:ext uri="{FF2B5EF4-FFF2-40B4-BE49-F238E27FC236}">
                <a16:creationId xmlns:a16="http://schemas.microsoft.com/office/drawing/2014/main" id="{A4EE68C4-D53A-EAF3-1CD2-67D7405028D6}"/>
              </a:ext>
            </a:extLst>
          </p:cNvPr>
          <p:cNvSpPr txBox="1">
            <a:spLocks/>
          </p:cNvSpPr>
          <p:nvPr/>
        </p:nvSpPr>
        <p:spPr>
          <a:xfrm flipH="1">
            <a:off x="573971" y="263324"/>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Financial Services</a:t>
            </a:r>
          </a:p>
        </p:txBody>
      </p:sp>
      <p:sp>
        <p:nvSpPr>
          <p:cNvPr id="32" name="TextBox 31">
            <a:extLst>
              <a:ext uri="{FF2B5EF4-FFF2-40B4-BE49-F238E27FC236}">
                <a16:creationId xmlns:a16="http://schemas.microsoft.com/office/drawing/2014/main" id="{88B9E13F-7A34-AC40-851B-D6FB0A16B0F1}"/>
              </a:ext>
            </a:extLst>
          </p:cNvPr>
          <p:cNvSpPr txBox="1"/>
          <p:nvPr/>
        </p:nvSpPr>
        <p:spPr>
          <a:xfrm>
            <a:off x="480553" y="510433"/>
            <a:ext cx="5494093"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latin typeface="Manrope"/>
              </a:rPr>
              <a:t>Case Study: Data Warehouse Transformation with Snowflake for a leading credit union in US</a:t>
            </a:r>
          </a:p>
        </p:txBody>
      </p:sp>
      <p:sp>
        <p:nvSpPr>
          <p:cNvPr id="45" name="Text Placeholder 1">
            <a:extLst>
              <a:ext uri="{FF2B5EF4-FFF2-40B4-BE49-F238E27FC236}">
                <a16:creationId xmlns:a16="http://schemas.microsoft.com/office/drawing/2014/main" id="{38A6B53C-28AA-C13C-F92B-9176CABDB208}"/>
              </a:ext>
            </a:extLst>
          </p:cNvPr>
          <p:cNvSpPr txBox="1">
            <a:spLocks/>
          </p:cNvSpPr>
          <p:nvPr/>
        </p:nvSpPr>
        <p:spPr>
          <a:xfrm>
            <a:off x="591000" y="5562735"/>
            <a:ext cx="2935712"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Combined platform for data warehouse and all analytical workloads delivering lower TCO</a:t>
            </a:r>
          </a:p>
        </p:txBody>
      </p:sp>
      <p:sp>
        <p:nvSpPr>
          <p:cNvPr id="46" name="Text Placeholder 2">
            <a:extLst>
              <a:ext uri="{FF2B5EF4-FFF2-40B4-BE49-F238E27FC236}">
                <a16:creationId xmlns:a16="http://schemas.microsoft.com/office/drawing/2014/main" id="{E5575EEC-0377-7CE6-C91A-6280034F8E42}"/>
              </a:ext>
            </a:extLst>
          </p:cNvPr>
          <p:cNvSpPr txBox="1">
            <a:spLocks/>
          </p:cNvSpPr>
          <p:nvPr/>
        </p:nvSpPr>
        <p:spPr>
          <a:xfrm>
            <a:off x="568508" y="5147238"/>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b="0" i="0" u="none" strike="noStrike" kern="1200" cap="none" spc="0" normalizeH="0" baseline="0" noProof="0">
                <a:ln>
                  <a:noFill/>
                </a:ln>
                <a:solidFill>
                  <a:srgbClr val="3C2DDA"/>
                </a:solidFill>
                <a:effectLst/>
                <a:uLnTx/>
                <a:uFillTx/>
                <a:latin typeface="Manrope Light"/>
              </a:rPr>
              <a:t>50%</a:t>
            </a:r>
          </a:p>
        </p:txBody>
      </p:sp>
      <p:pic>
        <p:nvPicPr>
          <p:cNvPr id="5" name="Picture Placeholder 4" descr="A group of people looking at a tablet&#10;&#10;AI-generated content may be incorrect.">
            <a:extLst>
              <a:ext uri="{FF2B5EF4-FFF2-40B4-BE49-F238E27FC236}">
                <a16:creationId xmlns:a16="http://schemas.microsoft.com/office/drawing/2014/main" id="{38A83A74-BE4F-AB10-E45A-315A4D5A3BE6}"/>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a:fillRect/>
          </a:stretch>
        </p:blipFill>
        <p:spPr/>
      </p:pic>
      <p:sp>
        <p:nvSpPr>
          <p:cNvPr id="2" name="Text Placeholder 1">
            <a:extLst>
              <a:ext uri="{FF2B5EF4-FFF2-40B4-BE49-F238E27FC236}">
                <a16:creationId xmlns:a16="http://schemas.microsoft.com/office/drawing/2014/main" id="{D31EBB1E-DE52-17E8-A8AB-0E4B1E8409EE}"/>
              </a:ext>
            </a:extLst>
          </p:cNvPr>
          <p:cNvSpPr txBox="1">
            <a:spLocks/>
          </p:cNvSpPr>
          <p:nvPr/>
        </p:nvSpPr>
        <p:spPr>
          <a:xfrm>
            <a:off x="3559395" y="5555679"/>
            <a:ext cx="2935712"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kern="0"/>
              <a:t>D</a:t>
            </a:r>
            <a:r>
              <a:rPr kumimoji="0" lang="en-US" sz="1000" b="0" i="0" u="none" strike="noStrike" kern="0" cap="none" spc="10" normalizeH="0" baseline="0" noProof="0" err="1">
                <a:ln>
                  <a:noFill/>
                </a:ln>
                <a:solidFill>
                  <a:srgbClr val="3C2DDA"/>
                </a:solidFill>
                <a:effectLst/>
                <a:uLnTx/>
                <a:uFillTx/>
                <a:latin typeface="Manrope"/>
              </a:rPr>
              <a:t>ata</a:t>
            </a:r>
            <a:r>
              <a:rPr kumimoji="0" lang="en-US" sz="1000" b="0" i="0" u="none" strike="noStrike" kern="0" cap="none" spc="10" normalizeH="0" baseline="0" noProof="0">
                <a:ln>
                  <a:noFill/>
                </a:ln>
                <a:solidFill>
                  <a:srgbClr val="3C2DDA"/>
                </a:solidFill>
                <a:effectLst/>
                <a:uLnTx/>
                <a:uFillTx/>
                <a:latin typeface="Manrope"/>
              </a:rPr>
              <a:t> integration jobs to Azure Data Factory, unlocking scalability and efficiency</a:t>
            </a:r>
          </a:p>
        </p:txBody>
      </p:sp>
      <p:sp>
        <p:nvSpPr>
          <p:cNvPr id="3" name="Text Placeholder 2">
            <a:extLst>
              <a:ext uri="{FF2B5EF4-FFF2-40B4-BE49-F238E27FC236}">
                <a16:creationId xmlns:a16="http://schemas.microsoft.com/office/drawing/2014/main" id="{9EFACF5E-116D-C1E3-0B3E-686392EDA87E}"/>
              </a:ext>
            </a:extLst>
          </p:cNvPr>
          <p:cNvSpPr txBox="1">
            <a:spLocks/>
          </p:cNvSpPr>
          <p:nvPr/>
        </p:nvSpPr>
        <p:spPr>
          <a:xfrm>
            <a:off x="3536903" y="5140182"/>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b="0" i="0" u="none" strike="noStrike" kern="1200" cap="none" spc="0" normalizeH="0" baseline="0" noProof="0">
                <a:ln>
                  <a:noFill/>
                </a:ln>
                <a:solidFill>
                  <a:srgbClr val="3C2DDA"/>
                </a:solidFill>
                <a:effectLst/>
                <a:uLnTx/>
                <a:uFillTx/>
                <a:latin typeface="Manrope Light"/>
              </a:rPr>
              <a:t>1000</a:t>
            </a:r>
          </a:p>
        </p:txBody>
      </p:sp>
      <p:pic>
        <p:nvPicPr>
          <p:cNvPr id="4" name="Picture 8" descr="Patelco Credit Union">
            <a:extLst>
              <a:ext uri="{FF2B5EF4-FFF2-40B4-BE49-F238E27FC236}">
                <a16:creationId xmlns:a16="http://schemas.microsoft.com/office/drawing/2014/main" id="{5EDE8A68-6373-43D8-CB2D-6335A2919A6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747764" y="13546"/>
            <a:ext cx="839157" cy="839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9871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2B6D4-4D1B-5B73-7246-E9F8CBC58D5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6886138-74B0-22B3-FE69-9E9483EEC3A4}"/>
              </a:ext>
            </a:extLst>
          </p:cNvPr>
          <p:cNvSpPr>
            <a:spLocks noGrp="1"/>
          </p:cNvSpPr>
          <p:nvPr>
            <p:ph type="body" sz="quarter" idx="20"/>
          </p:nvPr>
        </p:nvSpPr>
        <p:spPr>
          <a:xfrm>
            <a:off x="618445" y="1105449"/>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sp>
        <p:nvSpPr>
          <p:cNvPr id="22" name="Picture Placeholder 21">
            <a:extLst>
              <a:ext uri="{FF2B5EF4-FFF2-40B4-BE49-F238E27FC236}">
                <a16:creationId xmlns:a16="http://schemas.microsoft.com/office/drawing/2014/main" id="{88E0F623-89AA-B00A-8773-67049FD0424E}"/>
              </a:ext>
            </a:extLst>
          </p:cNvPr>
          <p:cNvSpPr>
            <a:spLocks noGrp="1"/>
          </p:cNvSpPr>
          <p:nvPr>
            <p:ph type="pic" sz="quarter" idx="17"/>
          </p:nvPr>
        </p:nvSpPr>
        <p:spPr/>
        <p:txBody>
          <a:bodyPr/>
          <a:lstStyle/>
          <a:p>
            <a:endParaRPr lang="en-US"/>
          </a:p>
        </p:txBody>
      </p:sp>
      <p:pic>
        <p:nvPicPr>
          <p:cNvPr id="5" name="Picture Placeholder 28">
            <a:extLst>
              <a:ext uri="{FF2B5EF4-FFF2-40B4-BE49-F238E27FC236}">
                <a16:creationId xmlns:a16="http://schemas.microsoft.com/office/drawing/2014/main" id="{B3B8C871-BFD2-8195-5E15-52A6CA01D5C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438900" y="914401"/>
            <a:ext cx="5753100" cy="4856084"/>
          </a:xfrm>
          <a:prstGeom prst="rect">
            <a:avLst/>
          </a:prstGeom>
        </p:spPr>
      </p:pic>
      <p:sp>
        <p:nvSpPr>
          <p:cNvPr id="45" name="TextBox 44">
            <a:extLst>
              <a:ext uri="{FF2B5EF4-FFF2-40B4-BE49-F238E27FC236}">
                <a16:creationId xmlns:a16="http://schemas.microsoft.com/office/drawing/2014/main" id="{8DE16166-110F-96DF-227C-BB0D1CDCCD93}"/>
              </a:ext>
            </a:extLst>
          </p:cNvPr>
          <p:cNvSpPr txBox="1"/>
          <p:nvPr/>
        </p:nvSpPr>
        <p:spPr>
          <a:xfrm>
            <a:off x="525026" y="1411821"/>
            <a:ext cx="5494093" cy="1015663"/>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The American-German dating company faced significant challenges due to its fragmented data architecture, leading to data silos, inconsistencies, and decision-making delays. </a:t>
            </a:r>
          </a:p>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Manrope"/>
            </a:endParaRPr>
          </a:p>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Managing multiple data warehouses increased operational costs and complicated data security and compliance efforts.</a:t>
            </a:r>
          </a:p>
        </p:txBody>
      </p:sp>
      <p:sp>
        <p:nvSpPr>
          <p:cNvPr id="6" name="Text Placeholder 3">
            <a:extLst>
              <a:ext uri="{FF2B5EF4-FFF2-40B4-BE49-F238E27FC236}">
                <a16:creationId xmlns:a16="http://schemas.microsoft.com/office/drawing/2014/main" id="{B533191D-D767-7471-BBAB-4044E0A01970}"/>
              </a:ext>
            </a:extLst>
          </p:cNvPr>
          <p:cNvSpPr txBox="1">
            <a:spLocks/>
          </p:cNvSpPr>
          <p:nvPr/>
        </p:nvSpPr>
        <p:spPr>
          <a:xfrm>
            <a:off x="618445" y="2604863"/>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r>
              <a:rPr kumimoji="0" lang="en-IN" sz="1400" b="0" i="0" u="none" strike="noStrike" kern="1200" cap="none" spc="10" normalizeH="0" baseline="0" noProof="0">
                <a:ln>
                  <a:noFill/>
                </a:ln>
                <a:solidFill>
                  <a:srgbClr val="3C2CDA"/>
                </a:solidFill>
                <a:effectLst/>
                <a:uLnTx/>
                <a:uFillTx/>
                <a:latin typeface="Manrope Medium" pitchFamily="2" charset="0"/>
              </a:rPr>
              <a:t>Solution</a:t>
            </a:r>
          </a:p>
        </p:txBody>
      </p:sp>
      <p:sp>
        <p:nvSpPr>
          <p:cNvPr id="7" name="TextBox 6">
            <a:extLst>
              <a:ext uri="{FF2B5EF4-FFF2-40B4-BE49-F238E27FC236}">
                <a16:creationId xmlns:a16="http://schemas.microsoft.com/office/drawing/2014/main" id="{CD5ECF7E-18CF-E65A-DF44-05B03FA2E6B7}"/>
              </a:ext>
            </a:extLst>
          </p:cNvPr>
          <p:cNvSpPr txBox="1"/>
          <p:nvPr/>
        </p:nvSpPr>
        <p:spPr>
          <a:xfrm>
            <a:off x="525026" y="2911235"/>
            <a:ext cx="5565531" cy="209288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Using </a:t>
            </a:r>
            <a:r>
              <a:rPr kumimoji="0" lang="en-US" sz="1000" b="1" i="0" u="none" strike="noStrike" kern="1200" cap="none" spc="0" normalizeH="0" baseline="0" noProof="0">
                <a:ln>
                  <a:noFill/>
                </a:ln>
                <a:solidFill>
                  <a:srgbClr val="000000"/>
                </a:solidFill>
                <a:effectLst/>
                <a:uLnTx/>
                <a:uFillTx/>
                <a:latin typeface="Manrope"/>
              </a:rPr>
              <a:t>Amaze®® for Modernization’s</a:t>
            </a:r>
            <a:r>
              <a:rPr kumimoji="0" lang="en-US" sz="1000" b="0" i="0" u="none" strike="noStrike" kern="1200" cap="none" spc="0" normalizeH="0" baseline="0" noProof="0">
                <a:ln>
                  <a:noFill/>
                </a:ln>
                <a:solidFill>
                  <a:srgbClr val="000000"/>
                </a:solidFill>
                <a:effectLst/>
                <a:uLnTx/>
                <a:uFillTx/>
                <a:latin typeface="Manrope"/>
              </a:rPr>
              <a:t> automated assessment and transformation capabilities, we developed and implemented a next-generation data architecture that consolidated the client's disparate data into a unified platform on </a:t>
            </a:r>
            <a:r>
              <a:rPr kumimoji="0" lang="en-US" sz="1000" b="1" i="0" u="none" strike="noStrike" kern="1200" cap="none" spc="0" normalizeH="0" baseline="0" noProof="0">
                <a:ln>
                  <a:noFill/>
                </a:ln>
                <a:solidFill>
                  <a:srgbClr val="000000"/>
                </a:solidFill>
                <a:effectLst/>
                <a:uLnTx/>
                <a:uFillTx/>
                <a:latin typeface="Manrope"/>
              </a:rPr>
              <a:t>Snowflake,</a:t>
            </a:r>
            <a:r>
              <a:rPr kumimoji="0" lang="en-US" sz="1000" b="0" i="0" u="none" strike="noStrike" kern="1200" cap="none" spc="0" normalizeH="0" baseline="0" noProof="0">
                <a:ln>
                  <a:noFill/>
                </a:ln>
                <a:solidFill>
                  <a:srgbClr val="000000"/>
                </a:solidFill>
                <a:effectLst/>
                <a:uLnTx/>
                <a:uFillTx/>
                <a:latin typeface="Manrope"/>
              </a:rPr>
              <a:t> hosted on </a:t>
            </a:r>
            <a:r>
              <a:rPr kumimoji="0" lang="en-US" sz="1000" b="1" i="0" u="none" strike="noStrike" kern="1200" cap="none" spc="0" normalizeH="0" baseline="0" noProof="0">
                <a:ln>
                  <a:noFill/>
                </a:ln>
                <a:solidFill>
                  <a:srgbClr val="000000"/>
                </a:solidFill>
                <a:effectLst/>
                <a:uLnTx/>
                <a:uFillTx/>
                <a:latin typeface="Manrope"/>
              </a:rPr>
              <a:t>AWS.</a:t>
            </a:r>
          </a:p>
          <a:p>
            <a:pPr marL="171450" marR="0" lvl="0" indent="-171450" algn="l" defTabSz="914400" rtl="0" eaLnBrk="1" fontAlgn="auto" latinLnBrk="0" hangingPunct="1">
              <a:lnSpc>
                <a:spcPct val="100000"/>
              </a:lnSpc>
              <a:spcBef>
                <a:spcPts val="3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Integrated various data sources into an </a:t>
            </a:r>
            <a:r>
              <a:rPr kumimoji="0" lang="en-US" sz="1000" b="1" i="0" u="none" strike="noStrike" kern="1200" cap="none" spc="0" normalizeH="0" baseline="0" noProof="0">
                <a:ln>
                  <a:noFill/>
                </a:ln>
                <a:solidFill>
                  <a:srgbClr val="000000"/>
                </a:solidFill>
                <a:effectLst/>
                <a:uLnTx/>
                <a:uFillTx/>
                <a:latin typeface="Manrope"/>
              </a:rPr>
              <a:t>Amazon S3 </a:t>
            </a:r>
            <a:r>
              <a:rPr kumimoji="0" lang="en-US" sz="1000" b="0" i="0" u="none" strike="noStrike" kern="1200" cap="none" spc="0" normalizeH="0" baseline="0" noProof="0">
                <a:ln>
                  <a:noFill/>
                </a:ln>
                <a:solidFill>
                  <a:srgbClr val="000000"/>
                </a:solidFill>
                <a:effectLst/>
                <a:uLnTx/>
                <a:uFillTx/>
                <a:latin typeface="Manrope"/>
              </a:rPr>
              <a:t>data lake, using </a:t>
            </a:r>
            <a:r>
              <a:rPr kumimoji="0" lang="en-US" sz="1000" b="1" i="0" u="none" strike="noStrike" kern="1200" cap="none" spc="0" normalizeH="0" baseline="0" noProof="0">
                <a:ln>
                  <a:noFill/>
                </a:ln>
                <a:solidFill>
                  <a:srgbClr val="000000"/>
                </a:solidFill>
                <a:effectLst/>
                <a:uLnTx/>
                <a:uFillTx/>
                <a:latin typeface="Manrope"/>
              </a:rPr>
              <a:t>AWS Glue </a:t>
            </a:r>
            <a:r>
              <a:rPr kumimoji="0" lang="en-US" sz="1000" b="0" i="0" u="none" strike="noStrike" kern="1200" cap="none" spc="0" normalizeH="0" baseline="0" noProof="0">
                <a:ln>
                  <a:noFill/>
                </a:ln>
                <a:solidFill>
                  <a:srgbClr val="000000"/>
                </a:solidFill>
                <a:effectLst/>
                <a:uLnTx/>
                <a:uFillTx/>
                <a:latin typeface="Manrope"/>
              </a:rPr>
              <a:t>for ETL processes.</a:t>
            </a:r>
          </a:p>
          <a:p>
            <a:pPr marL="171450" marR="0" lvl="0" indent="-171450" algn="l" defTabSz="914400" rtl="0" eaLnBrk="1" fontAlgn="auto" latinLnBrk="0" hangingPunct="1">
              <a:lnSpc>
                <a:spcPct val="100000"/>
              </a:lnSpc>
              <a:spcBef>
                <a:spcPts val="3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Stored source metadata information within </a:t>
            </a:r>
            <a:r>
              <a:rPr kumimoji="0" lang="en-US" sz="1000" b="1" i="0" u="none" strike="noStrike" kern="1200" cap="none" spc="0" normalizeH="0" baseline="0" noProof="0">
                <a:ln>
                  <a:noFill/>
                </a:ln>
                <a:solidFill>
                  <a:srgbClr val="000000"/>
                </a:solidFill>
                <a:effectLst/>
                <a:uLnTx/>
                <a:uFillTx/>
                <a:latin typeface="Manrope"/>
              </a:rPr>
              <a:t>Amazon DynamoDB, </a:t>
            </a:r>
            <a:r>
              <a:rPr kumimoji="0" lang="en-US" sz="1000" b="0" i="0" u="none" strike="noStrike" kern="1200" cap="none" spc="0" normalizeH="0" baseline="0" noProof="0">
                <a:ln>
                  <a:noFill/>
                </a:ln>
                <a:solidFill>
                  <a:srgbClr val="000000"/>
                </a:solidFill>
                <a:effectLst/>
                <a:uLnTx/>
                <a:uFillTx/>
                <a:latin typeface="Manrope"/>
              </a:rPr>
              <a:t>to support data management and processing.</a:t>
            </a:r>
          </a:p>
          <a:p>
            <a:pPr marL="171450" marR="0" lvl="0" indent="-171450" algn="l" defTabSz="914400" rtl="0" eaLnBrk="1" fontAlgn="auto" latinLnBrk="0" hangingPunct="1">
              <a:lnSpc>
                <a:spcPct val="100000"/>
              </a:lnSpc>
              <a:spcBef>
                <a:spcPts val="3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Established a data quality framework to maintain data integrity and utilized </a:t>
            </a:r>
            <a:r>
              <a:rPr kumimoji="0" lang="en-US" sz="1000" b="1" i="0" u="none" strike="noStrike" kern="1200" cap="none" spc="0" normalizeH="0" baseline="0" noProof="0">
                <a:ln>
                  <a:noFill/>
                </a:ln>
                <a:solidFill>
                  <a:srgbClr val="000000"/>
                </a:solidFill>
                <a:effectLst/>
                <a:uLnTx/>
                <a:uFillTx/>
                <a:latin typeface="Manrope"/>
              </a:rPr>
              <a:t>AWS Step Functions</a:t>
            </a:r>
            <a:r>
              <a:rPr kumimoji="0" lang="en-US" sz="1000" b="0" i="0" u="none" strike="noStrike" kern="1200" cap="none" spc="0" normalizeH="0" baseline="0" noProof="0">
                <a:ln>
                  <a:noFill/>
                </a:ln>
                <a:solidFill>
                  <a:srgbClr val="000000"/>
                </a:solidFill>
                <a:effectLst/>
                <a:uLnTx/>
                <a:uFillTx/>
                <a:latin typeface="Manrope"/>
              </a:rPr>
              <a:t> for workflow orchestration. </a:t>
            </a:r>
          </a:p>
          <a:p>
            <a:pPr marL="171450" marR="0" lvl="0" indent="-171450" algn="l" defTabSz="914400" rtl="0" eaLnBrk="1" fontAlgn="auto" latinLnBrk="0" hangingPunct="1">
              <a:lnSpc>
                <a:spcPct val="100000"/>
              </a:lnSpc>
              <a:spcBef>
                <a:spcPts val="300"/>
              </a:spcBef>
              <a:spcAft>
                <a:spcPts val="0"/>
              </a:spcAft>
              <a:buClr>
                <a:srgbClr val="3C2CDA"/>
              </a:buClr>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Manrope"/>
              </a:rPr>
              <a:t>Amazon Quick Sight </a:t>
            </a:r>
            <a:r>
              <a:rPr kumimoji="0" lang="en-US" sz="1000" b="0" i="0" u="none" strike="noStrike" kern="1200" cap="none" spc="0" normalizeH="0" baseline="0" noProof="0">
                <a:ln>
                  <a:noFill/>
                </a:ln>
                <a:solidFill>
                  <a:srgbClr val="000000"/>
                </a:solidFill>
                <a:effectLst/>
                <a:uLnTx/>
                <a:uFillTx/>
                <a:latin typeface="Manrope"/>
              </a:rPr>
              <a:t>was deployed to create interactive dashboards, enabling stakeholders to access real-time insights. </a:t>
            </a:r>
          </a:p>
        </p:txBody>
      </p:sp>
      <p:sp>
        <p:nvSpPr>
          <p:cNvPr id="8" name="Text Placeholder 22">
            <a:extLst>
              <a:ext uri="{FF2B5EF4-FFF2-40B4-BE49-F238E27FC236}">
                <a16:creationId xmlns:a16="http://schemas.microsoft.com/office/drawing/2014/main" id="{653EF4E0-8511-1AB2-3703-576DFF574110}"/>
              </a:ext>
            </a:extLst>
          </p:cNvPr>
          <p:cNvSpPr>
            <a:spLocks noGrp="1"/>
          </p:cNvSpPr>
          <p:nvPr>
            <p:ph type="body" sz="quarter" idx="18"/>
          </p:nvPr>
        </p:nvSpPr>
        <p:spPr>
          <a:xfrm>
            <a:off x="620423" y="5517621"/>
            <a:ext cx="1533685" cy="599363"/>
          </a:xfrm>
        </p:spPr>
        <p:txBody>
          <a:bodyPr>
            <a:normAutofit/>
          </a:bodyPr>
          <a:lstStyle/>
          <a:p>
            <a:r>
              <a:rPr kumimoji="0" lang="en-US" b="0" i="0" u="none" strike="noStrike" kern="1200" cap="none" spc="10" normalizeH="0" baseline="0" noProof="0">
                <a:ln>
                  <a:noFill/>
                </a:ln>
                <a:solidFill>
                  <a:srgbClr val="3C2CDA"/>
                </a:solidFill>
                <a:effectLst/>
                <a:uLnTx/>
                <a:uFillTx/>
                <a:latin typeface="Manrope"/>
              </a:rPr>
              <a:t>Person hours saved annually with automation</a:t>
            </a:r>
          </a:p>
        </p:txBody>
      </p:sp>
      <p:sp>
        <p:nvSpPr>
          <p:cNvPr id="9" name="Text Placeholder 23">
            <a:extLst>
              <a:ext uri="{FF2B5EF4-FFF2-40B4-BE49-F238E27FC236}">
                <a16:creationId xmlns:a16="http://schemas.microsoft.com/office/drawing/2014/main" id="{2ABF5631-D75E-1DFB-1893-208E2B9E363A}"/>
              </a:ext>
            </a:extLst>
          </p:cNvPr>
          <p:cNvSpPr>
            <a:spLocks noGrp="1"/>
          </p:cNvSpPr>
          <p:nvPr>
            <p:ph type="body" sz="quarter" idx="19"/>
          </p:nvPr>
        </p:nvSpPr>
        <p:spPr>
          <a:xfrm>
            <a:off x="620424" y="5106881"/>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3000" b="0" i="0" u="none" strike="noStrike" kern="1200" cap="none" spc="0" normalizeH="0" baseline="0" noProof="0">
                <a:ln>
                  <a:noFill/>
                </a:ln>
                <a:solidFill>
                  <a:srgbClr val="3C2CDA"/>
                </a:solidFill>
                <a:effectLst/>
                <a:uLnTx/>
                <a:uFillTx/>
                <a:latin typeface="Manrope Light"/>
              </a:rPr>
              <a:t>2400</a:t>
            </a:r>
          </a:p>
        </p:txBody>
      </p:sp>
      <p:sp>
        <p:nvSpPr>
          <p:cNvPr id="10" name="Text Placeholder 24">
            <a:extLst>
              <a:ext uri="{FF2B5EF4-FFF2-40B4-BE49-F238E27FC236}">
                <a16:creationId xmlns:a16="http://schemas.microsoft.com/office/drawing/2014/main" id="{4FB87DE6-4AAC-EA78-7B34-6071220DA52C}"/>
              </a:ext>
            </a:extLst>
          </p:cNvPr>
          <p:cNvSpPr>
            <a:spLocks noGrp="1"/>
          </p:cNvSpPr>
          <p:nvPr>
            <p:ph type="body" sz="quarter" idx="24"/>
          </p:nvPr>
        </p:nvSpPr>
        <p:spPr>
          <a:xfrm>
            <a:off x="3318166" y="5524549"/>
            <a:ext cx="1743530" cy="277110"/>
          </a:xfrm>
        </p:spPr>
        <p:txBody>
          <a:bodyPr>
            <a:normAutofit/>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b="0" i="0" u="none" strike="noStrike" kern="1200" cap="none" spc="10" normalizeH="0" baseline="0" noProof="0">
                <a:ln>
                  <a:noFill/>
                </a:ln>
                <a:solidFill>
                  <a:srgbClr val="3C2CDA"/>
                </a:solidFill>
                <a:effectLst/>
                <a:uLnTx/>
                <a:uFillTx/>
                <a:latin typeface="Manrope"/>
              </a:rPr>
              <a:t>Reduction in annual expenses</a:t>
            </a:r>
          </a:p>
        </p:txBody>
      </p:sp>
      <p:sp>
        <p:nvSpPr>
          <p:cNvPr id="11" name="Text Placeholder 25">
            <a:extLst>
              <a:ext uri="{FF2B5EF4-FFF2-40B4-BE49-F238E27FC236}">
                <a16:creationId xmlns:a16="http://schemas.microsoft.com/office/drawing/2014/main" id="{74F12286-0491-F2D5-12EE-94264029E620}"/>
              </a:ext>
            </a:extLst>
          </p:cNvPr>
          <p:cNvSpPr>
            <a:spLocks noGrp="1"/>
          </p:cNvSpPr>
          <p:nvPr>
            <p:ph type="body" sz="quarter" idx="25"/>
          </p:nvPr>
        </p:nvSpPr>
        <p:spPr>
          <a:xfrm>
            <a:off x="3318165" y="5106881"/>
            <a:ext cx="1647936" cy="415498"/>
          </a:xfrm>
        </p:spPr>
        <p:txBody>
          <a:bodyPr/>
          <a:lstStyle/>
          <a:p>
            <a:r>
              <a:rPr kumimoji="0" lang="en-US" sz="3000" b="0" i="0" u="none" strike="noStrike" kern="1200" cap="none" spc="0" normalizeH="0" baseline="0" noProof="0">
                <a:ln>
                  <a:noFill/>
                </a:ln>
                <a:solidFill>
                  <a:srgbClr val="3C2CDA"/>
                </a:solidFill>
                <a:effectLst/>
                <a:uLnTx/>
                <a:uFillTx/>
                <a:latin typeface="Manrope Light"/>
              </a:rPr>
              <a:t>20 -30%</a:t>
            </a:r>
          </a:p>
        </p:txBody>
      </p:sp>
      <p:sp>
        <p:nvSpPr>
          <p:cNvPr id="16" name="Text Placeholder 13">
            <a:extLst>
              <a:ext uri="{FF2B5EF4-FFF2-40B4-BE49-F238E27FC236}">
                <a16:creationId xmlns:a16="http://schemas.microsoft.com/office/drawing/2014/main" id="{53114F97-A27B-8970-CD87-3AA87CB368B1}"/>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Business Services</a:t>
            </a:r>
          </a:p>
        </p:txBody>
      </p:sp>
      <p:sp>
        <p:nvSpPr>
          <p:cNvPr id="17" name="TextBox 16">
            <a:extLst>
              <a:ext uri="{FF2B5EF4-FFF2-40B4-BE49-F238E27FC236}">
                <a16:creationId xmlns:a16="http://schemas.microsoft.com/office/drawing/2014/main" id="{E6F26C4E-E001-548E-6F22-09028C1CE28E}"/>
              </a:ext>
            </a:extLst>
          </p:cNvPr>
          <p:cNvSpPr txBox="1"/>
          <p:nvPr/>
        </p:nvSpPr>
        <p:spPr>
          <a:xfrm>
            <a:off x="527005" y="498968"/>
            <a:ext cx="5494093" cy="73866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rPr>
              <a:t>Case Study: Data Consolidation on Snowflake for Global Matchmaking Success for  </a:t>
            </a:r>
            <a:r>
              <a:rPr kumimoji="0" lang="en-US" sz="1050" i="0" u="none" strike="noStrike" kern="0" cap="none" spc="0" normalizeH="0" baseline="0" noProof="0" err="1">
                <a:ln>
                  <a:noFill/>
                </a:ln>
                <a:solidFill>
                  <a:srgbClr val="000000"/>
                </a:solidFill>
                <a:effectLst/>
                <a:uLnTx/>
                <a:uFillTx/>
              </a:rPr>
              <a:t>for</a:t>
            </a:r>
            <a:r>
              <a:rPr kumimoji="0" lang="en-US" sz="1050" i="0" u="none" strike="noStrike" kern="0" cap="none" spc="0" normalizeH="0" baseline="0" noProof="0">
                <a:ln>
                  <a:noFill/>
                </a:ln>
                <a:solidFill>
                  <a:srgbClr val="000000"/>
                </a:solidFill>
                <a:effectLst/>
                <a:uLnTx/>
                <a:uFillTx/>
              </a:rPr>
              <a:t> client who  Owns and operates several premium online dating websites and mobile applications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a:ln>
                <a:noFill/>
              </a:ln>
              <a:solidFill>
                <a:srgbClr val="000000"/>
              </a:solidFill>
              <a:effectLst/>
              <a:uLnTx/>
              <a:uFillTx/>
            </a:endParaRPr>
          </a:p>
        </p:txBody>
      </p:sp>
      <p:pic>
        <p:nvPicPr>
          <p:cNvPr id="2" name="Picture 6" descr="Spark Networks (@SparkNetworks) / X">
            <a:extLst>
              <a:ext uri="{FF2B5EF4-FFF2-40B4-BE49-F238E27FC236}">
                <a16:creationId xmlns:a16="http://schemas.microsoft.com/office/drawing/2014/main" id="{ED8EFD70-D621-242F-B0D3-0A71C1C1FC4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118756" y="121080"/>
            <a:ext cx="614202" cy="614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124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8B03C-11F8-9F7D-97A1-7B7E80707C7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CB7910C-1B92-231C-5470-A88F8DABB57D}"/>
              </a:ext>
            </a:extLst>
          </p:cNvPr>
          <p:cNvSpPr>
            <a:spLocks noGrp="1"/>
          </p:cNvSpPr>
          <p:nvPr>
            <p:ph type="body" sz="quarter" idx="20"/>
          </p:nvPr>
        </p:nvSpPr>
        <p:spPr>
          <a:xfrm>
            <a:off x="623888" y="1251292"/>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sp>
        <p:nvSpPr>
          <p:cNvPr id="22" name="Picture Placeholder 21">
            <a:extLst>
              <a:ext uri="{FF2B5EF4-FFF2-40B4-BE49-F238E27FC236}">
                <a16:creationId xmlns:a16="http://schemas.microsoft.com/office/drawing/2014/main" id="{2F969EE2-6D17-6A82-A711-8D73D7655A8A}"/>
              </a:ext>
            </a:extLst>
          </p:cNvPr>
          <p:cNvSpPr>
            <a:spLocks noGrp="1"/>
          </p:cNvSpPr>
          <p:nvPr>
            <p:ph type="pic" sz="quarter" idx="17"/>
          </p:nvPr>
        </p:nvSpPr>
        <p:spPr/>
        <p:txBody>
          <a:bodyPr/>
          <a:lstStyle/>
          <a:p>
            <a:endParaRPr lang="en-US"/>
          </a:p>
        </p:txBody>
      </p:sp>
      <p:pic>
        <p:nvPicPr>
          <p:cNvPr id="5" name="Picture Placeholder 28">
            <a:extLst>
              <a:ext uri="{FF2B5EF4-FFF2-40B4-BE49-F238E27FC236}">
                <a16:creationId xmlns:a16="http://schemas.microsoft.com/office/drawing/2014/main" id="{7C34EA18-7DDE-96D6-B59B-2BB561ED32E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438900" y="914401"/>
            <a:ext cx="5753100" cy="4856084"/>
          </a:xfrm>
          <a:prstGeom prst="rect">
            <a:avLst/>
          </a:prstGeom>
        </p:spPr>
      </p:pic>
      <p:sp>
        <p:nvSpPr>
          <p:cNvPr id="45" name="TextBox 44">
            <a:extLst>
              <a:ext uri="{FF2B5EF4-FFF2-40B4-BE49-F238E27FC236}">
                <a16:creationId xmlns:a16="http://schemas.microsoft.com/office/drawing/2014/main" id="{5D577232-6AB9-D7FA-909E-3B4C0B61A34D}"/>
              </a:ext>
            </a:extLst>
          </p:cNvPr>
          <p:cNvSpPr txBox="1"/>
          <p:nvPr/>
        </p:nvSpPr>
        <p:spPr>
          <a:xfrm>
            <a:off x="530469" y="1445770"/>
            <a:ext cx="5494093" cy="1015663"/>
          </a:xfrm>
          <a:prstGeom prst="rect">
            <a:avLst/>
          </a:prstGeom>
          <a:noFill/>
        </p:spPr>
        <p:txBody>
          <a:bodyPr wrap="square">
            <a:spAutoFit/>
          </a:bodyPr>
          <a:lstStyle/>
          <a:p>
            <a:pPr marR="0" lvl="0" algn="l" defTabSz="914400" rtl="0" eaLnBrk="1" fontAlgn="auto" latinLnBrk="0" hangingPunct="1">
              <a:lnSpc>
                <a:spcPct val="100000"/>
              </a:lnSpc>
              <a:spcBef>
                <a:spcPts val="600"/>
              </a:spcBef>
              <a:spcAft>
                <a:spcPts val="0"/>
              </a:spcAft>
              <a:buClr>
                <a:schemeClr val="accent1"/>
              </a:buClr>
              <a:buSzTx/>
              <a:tabLst/>
              <a:defRPr/>
            </a:pPr>
            <a:r>
              <a:rPr kumimoji="0" lang="en-US" sz="1000" i="0" u="none" strike="noStrike" kern="1200" cap="none" spc="0" normalizeH="0" baseline="0" noProof="0">
                <a:ln>
                  <a:noFill/>
                </a:ln>
                <a:solidFill>
                  <a:srgbClr val="000000"/>
                </a:solidFill>
                <a:effectLst/>
                <a:uLnTx/>
                <a:uFillTx/>
                <a:latin typeface="Manrope"/>
              </a:rPr>
              <a:t>The client  faced significant operational costs due to inefficiencies in compute and storage usage on Snowflake.</a:t>
            </a:r>
          </a:p>
          <a:p>
            <a:pPr marL="171450" marR="0" lvl="0" indent="-171450" algn="l" defTabSz="914400" rtl="0" eaLnBrk="1" fontAlgn="auto" latinLnBrk="0" hangingPunct="1">
              <a:lnSpc>
                <a:spcPct val="100000"/>
              </a:lnSpc>
              <a:spcBef>
                <a:spcPts val="60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The primary contributors were computing costs (78%) and storage costs (22%).</a:t>
            </a:r>
          </a:p>
          <a:p>
            <a:pPr marL="171450" marR="0" lvl="0" indent="-171450" algn="l" defTabSz="914400" rtl="0" eaLnBrk="1" fontAlgn="auto" latinLnBrk="0" hangingPunct="1">
              <a:lnSpc>
                <a:spcPct val="100000"/>
              </a:lnSpc>
              <a:spcBef>
                <a:spcPts val="60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Additionally, query inefficiencies and a high number of failed queries, which further inflated operational expenses and impacted performance.</a:t>
            </a:r>
          </a:p>
        </p:txBody>
      </p:sp>
      <p:sp>
        <p:nvSpPr>
          <p:cNvPr id="20" name="Text Placeholder 3">
            <a:extLst>
              <a:ext uri="{FF2B5EF4-FFF2-40B4-BE49-F238E27FC236}">
                <a16:creationId xmlns:a16="http://schemas.microsoft.com/office/drawing/2014/main" id="{13CBBB87-9F7C-96B8-5009-E105E3C1277F}"/>
              </a:ext>
            </a:extLst>
          </p:cNvPr>
          <p:cNvSpPr txBox="1">
            <a:spLocks/>
          </p:cNvSpPr>
          <p:nvPr/>
        </p:nvSpPr>
        <p:spPr>
          <a:xfrm>
            <a:off x="634162" y="2558417"/>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400">
                <a:solidFill>
                  <a:schemeClr val="accent1"/>
                </a:solidFill>
                <a:latin typeface="Manrope Medium" pitchFamily="2" charset="0"/>
              </a:rPr>
              <a:t>Solution</a:t>
            </a:r>
          </a:p>
        </p:txBody>
      </p:sp>
      <p:sp>
        <p:nvSpPr>
          <p:cNvPr id="23" name="TextBox 22">
            <a:extLst>
              <a:ext uri="{FF2B5EF4-FFF2-40B4-BE49-F238E27FC236}">
                <a16:creationId xmlns:a16="http://schemas.microsoft.com/office/drawing/2014/main" id="{E178A030-9978-8C11-4C1B-534005CC5EFA}"/>
              </a:ext>
            </a:extLst>
          </p:cNvPr>
          <p:cNvSpPr txBox="1"/>
          <p:nvPr/>
        </p:nvSpPr>
        <p:spPr>
          <a:xfrm>
            <a:off x="540743" y="2797426"/>
            <a:ext cx="5494093" cy="155427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60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Created Snowflake Snowpark procedures as replicas of DataStage ETL logic, resulting in significantly faster performance.</a:t>
            </a:r>
          </a:p>
          <a:p>
            <a:pPr marL="171450" marR="0" lvl="0" indent="-171450" algn="l" defTabSz="914400" rtl="0" eaLnBrk="1" fontAlgn="auto" latinLnBrk="0" hangingPunct="1">
              <a:lnSpc>
                <a:spcPct val="100000"/>
              </a:lnSpc>
              <a:spcBef>
                <a:spcPts val="60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Process becomes simpler; whenever a new table or client is added, we only need to make an entry in the Snowflake config table, which will handle the rest of the process.</a:t>
            </a:r>
          </a:p>
          <a:p>
            <a:pPr marL="171450" marR="0" lvl="0" indent="-171450" algn="l" defTabSz="914400" rtl="0" eaLnBrk="1" fontAlgn="auto" latinLnBrk="0" hangingPunct="1">
              <a:lnSpc>
                <a:spcPct val="100000"/>
              </a:lnSpc>
              <a:spcBef>
                <a:spcPts val="60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Whenever the source file arrives, the data is processed immediately, almost in real-time, without any delay.</a:t>
            </a:r>
          </a:p>
          <a:p>
            <a:pPr marL="171450" marR="0" lvl="0" indent="-171450" algn="l" defTabSz="914400" rtl="0" eaLnBrk="1" fontAlgn="auto" latinLnBrk="0" hangingPunct="1">
              <a:lnSpc>
                <a:spcPct val="100000"/>
              </a:lnSpc>
              <a:spcBef>
                <a:spcPts val="60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Airflow version upgrades and maintenance are managed by our own team, allowing them to be completed in a short span of time.</a:t>
            </a:r>
          </a:p>
        </p:txBody>
      </p:sp>
      <p:sp>
        <p:nvSpPr>
          <p:cNvPr id="11" name="Text Placeholder 13">
            <a:extLst>
              <a:ext uri="{FF2B5EF4-FFF2-40B4-BE49-F238E27FC236}">
                <a16:creationId xmlns:a16="http://schemas.microsoft.com/office/drawing/2014/main" id="{AE371A38-8A8B-B12B-8D80-FC937652A2A1}"/>
              </a:ext>
            </a:extLst>
          </p:cNvPr>
          <p:cNvSpPr txBox="1">
            <a:spLocks/>
          </p:cNvSpPr>
          <p:nvPr/>
        </p:nvSpPr>
        <p:spPr>
          <a:xfrm flipH="1">
            <a:off x="623887" y="349984"/>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Financial Services</a:t>
            </a: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US" sz="1500" b="0" i="0" u="none" strike="noStrike" kern="1200" cap="none" spc="0" normalizeH="0" baseline="0" noProof="0">
              <a:ln>
                <a:noFill/>
              </a:ln>
              <a:solidFill>
                <a:srgbClr val="000000"/>
              </a:solidFill>
              <a:effectLst/>
              <a:uLnTx/>
              <a:uFillTx/>
              <a:latin typeface="Manrope"/>
            </a:endParaRPr>
          </a:p>
        </p:txBody>
      </p:sp>
      <p:sp>
        <p:nvSpPr>
          <p:cNvPr id="12" name="TextBox 11">
            <a:extLst>
              <a:ext uri="{FF2B5EF4-FFF2-40B4-BE49-F238E27FC236}">
                <a16:creationId xmlns:a16="http://schemas.microsoft.com/office/drawing/2014/main" id="{A35F9357-CFE9-E529-3A8C-14382876B35C}"/>
              </a:ext>
            </a:extLst>
          </p:cNvPr>
          <p:cNvSpPr txBox="1"/>
          <p:nvPr/>
        </p:nvSpPr>
        <p:spPr>
          <a:xfrm>
            <a:off x="530469" y="597093"/>
            <a:ext cx="5494093" cy="577081"/>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rPr>
              <a:t>Case Study: Migrate DataStage ETL logic and Oracle Database entirely into Snowflake for US headquartered financial services company catering to institutional investors and ultra HNIs.</a:t>
            </a:r>
          </a:p>
        </p:txBody>
      </p:sp>
      <p:sp>
        <p:nvSpPr>
          <p:cNvPr id="13" name="Text Placeholder 22">
            <a:extLst>
              <a:ext uri="{FF2B5EF4-FFF2-40B4-BE49-F238E27FC236}">
                <a16:creationId xmlns:a16="http://schemas.microsoft.com/office/drawing/2014/main" id="{C30BB150-CED9-65AA-8D47-CFA118A620E7}"/>
              </a:ext>
            </a:extLst>
          </p:cNvPr>
          <p:cNvSpPr>
            <a:spLocks noGrp="1"/>
          </p:cNvSpPr>
          <p:nvPr>
            <p:ph type="body" sz="quarter" idx="18"/>
          </p:nvPr>
        </p:nvSpPr>
        <p:spPr>
          <a:xfrm>
            <a:off x="623887" y="5171122"/>
            <a:ext cx="2778097" cy="599363"/>
          </a:xfrm>
        </p:spPr>
        <p:txBody>
          <a:bodyPr>
            <a:normAutofit/>
          </a:bodyPr>
          <a:lstStyle/>
          <a:p>
            <a:r>
              <a:rPr kumimoji="0" lang="en-US" b="0" i="0" u="none" strike="noStrike" kern="1200" cap="none" spc="10" normalizeH="0" baseline="0" noProof="0">
                <a:ln>
                  <a:noFill/>
                </a:ln>
                <a:solidFill>
                  <a:srgbClr val="3C2CDA"/>
                </a:solidFill>
                <a:effectLst/>
                <a:uLnTx/>
                <a:uFillTx/>
                <a:latin typeface="Manrope"/>
              </a:rPr>
              <a:t>Cost efficiency improved significantly; after implementing Snowflake, both storage and processing costs were drastically reduced.</a:t>
            </a:r>
          </a:p>
        </p:txBody>
      </p:sp>
      <p:sp>
        <p:nvSpPr>
          <p:cNvPr id="15" name="Text Placeholder 23">
            <a:extLst>
              <a:ext uri="{FF2B5EF4-FFF2-40B4-BE49-F238E27FC236}">
                <a16:creationId xmlns:a16="http://schemas.microsoft.com/office/drawing/2014/main" id="{F6EA9507-FB3E-0AC6-D5BC-FA1ABE77F0DD}"/>
              </a:ext>
            </a:extLst>
          </p:cNvPr>
          <p:cNvSpPr>
            <a:spLocks noGrp="1"/>
          </p:cNvSpPr>
          <p:nvPr>
            <p:ph type="body" sz="quarter" idx="19"/>
          </p:nvPr>
        </p:nvSpPr>
        <p:spPr>
          <a:xfrm>
            <a:off x="623888" y="4760382"/>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3000" b="0" i="0" u="none" strike="noStrike" kern="1200" cap="none" spc="0" normalizeH="0" baseline="0" noProof="0">
                <a:ln>
                  <a:noFill/>
                </a:ln>
                <a:solidFill>
                  <a:srgbClr val="3C2CDA"/>
                </a:solidFill>
                <a:effectLst/>
                <a:uLnTx/>
                <a:uFillTx/>
                <a:latin typeface="Manrope Light"/>
              </a:rPr>
              <a:t>50%</a:t>
            </a:r>
          </a:p>
        </p:txBody>
      </p:sp>
      <p:sp>
        <p:nvSpPr>
          <p:cNvPr id="2" name="Text Placeholder 22">
            <a:extLst>
              <a:ext uri="{FF2B5EF4-FFF2-40B4-BE49-F238E27FC236}">
                <a16:creationId xmlns:a16="http://schemas.microsoft.com/office/drawing/2014/main" id="{431554CB-09F2-6490-29E7-CA6CB2C6A64F}"/>
              </a:ext>
            </a:extLst>
          </p:cNvPr>
          <p:cNvSpPr txBox="1">
            <a:spLocks/>
          </p:cNvSpPr>
          <p:nvPr/>
        </p:nvSpPr>
        <p:spPr>
          <a:xfrm>
            <a:off x="3531393" y="5171122"/>
            <a:ext cx="2778097" cy="599363"/>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
                <a:srgbClr val="EE2D31"/>
              </a:buClr>
              <a:buSzTx/>
              <a:buFontTx/>
              <a:buNone/>
              <a:tabLst/>
              <a:defRPr/>
            </a:pPr>
            <a:r>
              <a:rPr kumimoji="0" lang="en-US" sz="1000" b="0" i="0" u="none" strike="noStrike" kern="1200" cap="none" spc="0" normalizeH="0" baseline="0" noProof="0">
                <a:ln>
                  <a:noFill/>
                </a:ln>
                <a:effectLst/>
                <a:uLnTx/>
                <a:uFillTx/>
                <a:latin typeface="Manrope" pitchFamily="2" charset="0"/>
                <a:ea typeface="Aptos" panose="020B0004020202020204" pitchFamily="34" charset="0"/>
                <a:cs typeface="Times New Roman" panose="02020603050405020304" pitchFamily="18" charset="0"/>
              </a:rPr>
              <a:t>Batch window timelines were significantly reduced, which in turn reduced our batch monitoring window and efforts.</a:t>
            </a:r>
            <a:endParaRPr kumimoji="0" lang="en-US" sz="1000" b="0" i="0" u="none" strike="noStrike" kern="1200" cap="none" spc="0" normalizeH="0" baseline="0" noProof="0">
              <a:ln>
                <a:noFill/>
              </a:ln>
              <a:effectLst/>
              <a:uLnTx/>
              <a:uFillTx/>
              <a:latin typeface="Manrope" pitchFamily="2" charset="0"/>
              <a:ea typeface="Roboto" panose="02000000000000000000" pitchFamily="2" charset="0"/>
              <a:cs typeface="Roboto" panose="02000000000000000000" pitchFamily="2" charset="0"/>
            </a:endParaRPr>
          </a:p>
        </p:txBody>
      </p:sp>
      <p:sp>
        <p:nvSpPr>
          <p:cNvPr id="3" name="Text Placeholder 23">
            <a:extLst>
              <a:ext uri="{FF2B5EF4-FFF2-40B4-BE49-F238E27FC236}">
                <a16:creationId xmlns:a16="http://schemas.microsoft.com/office/drawing/2014/main" id="{4759330B-8BCF-9607-29D1-7E455A9D0403}"/>
              </a:ext>
            </a:extLst>
          </p:cNvPr>
          <p:cNvSpPr txBox="1">
            <a:spLocks/>
          </p:cNvSpPr>
          <p:nvPr/>
        </p:nvSpPr>
        <p:spPr>
          <a:xfrm>
            <a:off x="3531394" y="4760382"/>
            <a:ext cx="123499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C2CDA"/>
              </a:buClr>
              <a:defRPr/>
            </a:pPr>
            <a:r>
              <a:rPr lang="en-US">
                <a:solidFill>
                  <a:srgbClr val="3C2CDA"/>
                </a:solidFill>
                <a:latin typeface="Manrope Light"/>
              </a:rPr>
              <a:t>30%</a:t>
            </a:r>
          </a:p>
        </p:txBody>
      </p:sp>
      <p:pic>
        <p:nvPicPr>
          <p:cNvPr id="7" name="Picture 6" descr="A close up of a logo&#10;&#10;Description automatically generated">
            <a:extLst>
              <a:ext uri="{FF2B5EF4-FFF2-40B4-BE49-F238E27FC236}">
                <a16:creationId xmlns:a16="http://schemas.microsoft.com/office/drawing/2014/main" id="{E80557A6-6D3F-4BFF-ABDF-9C37B9CE527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b="-7241"/>
          <a:stretch/>
        </p:blipFill>
        <p:spPr>
          <a:xfrm>
            <a:off x="9632334" y="212699"/>
            <a:ext cx="1035264" cy="384394"/>
          </a:xfrm>
          <a:prstGeom prst="rect">
            <a:avLst/>
          </a:prstGeom>
        </p:spPr>
      </p:pic>
    </p:spTree>
    <p:extLst>
      <p:ext uri="{BB962C8B-B14F-4D97-AF65-F5344CB8AC3E}">
        <p14:creationId xmlns:p14="http://schemas.microsoft.com/office/powerpoint/2010/main" val="20196382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052E4-987F-9021-DBA5-9043CD8E87A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B14036C-D16B-F6BE-5CC1-6F5FC7BE0C20}"/>
              </a:ext>
            </a:extLst>
          </p:cNvPr>
          <p:cNvSpPr>
            <a:spLocks noGrp="1"/>
          </p:cNvSpPr>
          <p:nvPr>
            <p:ph type="body" sz="quarter" idx="20"/>
          </p:nvPr>
        </p:nvSpPr>
        <p:spPr>
          <a:xfrm>
            <a:off x="623888" y="1085830"/>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sp>
        <p:nvSpPr>
          <p:cNvPr id="22" name="Picture Placeholder 21">
            <a:extLst>
              <a:ext uri="{FF2B5EF4-FFF2-40B4-BE49-F238E27FC236}">
                <a16:creationId xmlns:a16="http://schemas.microsoft.com/office/drawing/2014/main" id="{CA390BEA-4C5C-6CB0-DDE6-CA21CD482D6F}"/>
              </a:ext>
            </a:extLst>
          </p:cNvPr>
          <p:cNvSpPr>
            <a:spLocks noGrp="1"/>
          </p:cNvSpPr>
          <p:nvPr>
            <p:ph type="pic" sz="quarter" idx="17"/>
          </p:nvPr>
        </p:nvSpPr>
        <p:spPr/>
        <p:txBody>
          <a:bodyPr/>
          <a:lstStyle/>
          <a:p>
            <a:endParaRPr lang="en-US"/>
          </a:p>
        </p:txBody>
      </p:sp>
      <p:pic>
        <p:nvPicPr>
          <p:cNvPr id="5" name="Picture Placeholder 28">
            <a:extLst>
              <a:ext uri="{FF2B5EF4-FFF2-40B4-BE49-F238E27FC236}">
                <a16:creationId xmlns:a16="http://schemas.microsoft.com/office/drawing/2014/main" id="{30B8BDFA-2006-4BAB-5FDD-7F980D9215F6}"/>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438900" y="914401"/>
            <a:ext cx="5753100" cy="4856084"/>
          </a:xfrm>
          <a:prstGeom prst="rect">
            <a:avLst/>
          </a:prstGeom>
        </p:spPr>
      </p:pic>
      <p:sp>
        <p:nvSpPr>
          <p:cNvPr id="45" name="TextBox 44">
            <a:extLst>
              <a:ext uri="{FF2B5EF4-FFF2-40B4-BE49-F238E27FC236}">
                <a16:creationId xmlns:a16="http://schemas.microsoft.com/office/drawing/2014/main" id="{67AF0175-13D6-F415-ACA9-4A5C4B9C458D}"/>
              </a:ext>
            </a:extLst>
          </p:cNvPr>
          <p:cNvSpPr txBox="1"/>
          <p:nvPr/>
        </p:nvSpPr>
        <p:spPr>
          <a:xfrm>
            <a:off x="530469" y="1323850"/>
            <a:ext cx="5494093" cy="132343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Lack of visibility into data processing and performance across multiple systems.</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Difficulty in identifying and diagnosing inefficient queries and workloads.</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Challenges in monitoring and optimizing data usage and costs in a cloud-based environment.</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Limited ability to track and manage data lineage and metadata.</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Inadequate alerting and proactive monitoring capabilities for potential data issues..</a:t>
            </a:r>
          </a:p>
        </p:txBody>
      </p:sp>
      <p:sp>
        <p:nvSpPr>
          <p:cNvPr id="20" name="Text Placeholder 3">
            <a:extLst>
              <a:ext uri="{FF2B5EF4-FFF2-40B4-BE49-F238E27FC236}">
                <a16:creationId xmlns:a16="http://schemas.microsoft.com/office/drawing/2014/main" id="{EF67A80F-F7F6-5BD3-2D0F-08E162B6C243}"/>
              </a:ext>
            </a:extLst>
          </p:cNvPr>
          <p:cNvSpPr txBox="1">
            <a:spLocks/>
          </p:cNvSpPr>
          <p:nvPr/>
        </p:nvSpPr>
        <p:spPr>
          <a:xfrm>
            <a:off x="623888" y="2667598"/>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00000"/>
              </a:buClr>
              <a:buSzTx/>
              <a:buFont typeface="Arial" panose="020B0604020202020204" pitchFamily="34" charset="0"/>
              <a:buNone/>
              <a:tabLst/>
              <a:defRPr/>
            </a:pPr>
            <a:r>
              <a:rPr kumimoji="0" lang="en-IN" sz="1400" b="0" i="0" u="none" strike="noStrike" kern="1200" cap="none" spc="10" normalizeH="0" baseline="0" noProof="0">
                <a:ln>
                  <a:noFill/>
                </a:ln>
                <a:solidFill>
                  <a:srgbClr val="3C2CDA"/>
                </a:solidFill>
                <a:effectLst/>
                <a:uLnTx/>
                <a:uFillTx/>
                <a:latin typeface="Manrope Medium" pitchFamily="2" charset="0"/>
              </a:rPr>
              <a:t>Solution</a:t>
            </a:r>
          </a:p>
        </p:txBody>
      </p:sp>
      <p:sp>
        <p:nvSpPr>
          <p:cNvPr id="23" name="TextBox 22">
            <a:extLst>
              <a:ext uri="{FF2B5EF4-FFF2-40B4-BE49-F238E27FC236}">
                <a16:creationId xmlns:a16="http://schemas.microsoft.com/office/drawing/2014/main" id="{3075D6C1-FC3F-30F0-2094-39BD6C21ACF0}"/>
              </a:ext>
            </a:extLst>
          </p:cNvPr>
          <p:cNvSpPr txBox="1"/>
          <p:nvPr/>
        </p:nvSpPr>
        <p:spPr>
          <a:xfrm>
            <a:off x="530469" y="2950149"/>
            <a:ext cx="5494093" cy="2092881"/>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
                <a:srgbClr val="3C2CDA"/>
              </a:buClr>
              <a:buSzTx/>
              <a:buFontTx/>
              <a:buNone/>
              <a:tabLst/>
              <a:defRPr/>
            </a:pPr>
            <a:r>
              <a:rPr kumimoji="0" lang="en-US" sz="1000" b="0" i="0" u="none" strike="noStrike" kern="1200" cap="none" spc="0" normalizeH="0" baseline="0" noProof="0">
                <a:ln>
                  <a:noFill/>
                </a:ln>
                <a:solidFill>
                  <a:srgbClr val="000000"/>
                </a:solidFill>
                <a:effectLst/>
                <a:uLnTx/>
                <a:uFillTx/>
                <a:latin typeface="Manrope"/>
              </a:rPr>
              <a:t>We implemented a comprehensive health check process using our data observability platform, Unravel. The process included the following steps </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Leveraged SQL Utility to gather key metadata and shared this data with the client.</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 Integrated the collected metadata into </a:t>
            </a:r>
            <a:r>
              <a:rPr kumimoji="0" lang="en-US" sz="1000" b="0" i="0" u="none" strike="noStrike" kern="1200" cap="none" spc="0" normalizeH="0" baseline="0" noProof="0" err="1">
                <a:ln>
                  <a:noFill/>
                </a:ln>
                <a:solidFill>
                  <a:srgbClr val="000000"/>
                </a:solidFill>
                <a:effectLst/>
                <a:uLnTx/>
                <a:uFillTx/>
                <a:latin typeface="Manrope"/>
              </a:rPr>
              <a:t>Unravel's</a:t>
            </a:r>
            <a:r>
              <a:rPr kumimoji="0" lang="en-US" sz="1000" b="0" i="0" u="none" strike="noStrike" kern="1200" cap="none" spc="0" normalizeH="0" baseline="0" noProof="0">
                <a:ln>
                  <a:noFill/>
                </a:ln>
                <a:solidFill>
                  <a:srgbClr val="000000"/>
                </a:solidFill>
                <a:effectLst/>
                <a:uLnTx/>
                <a:uFillTx/>
                <a:latin typeface="Manrope"/>
              </a:rPr>
              <a:t> Snowflake Lab Instance. This step involved data hydration using </a:t>
            </a:r>
            <a:r>
              <a:rPr kumimoji="0" lang="en-US" sz="1000" b="0" i="0" u="none" strike="noStrike" kern="1200" cap="none" spc="0" normalizeH="0" baseline="0" noProof="0" err="1">
                <a:ln>
                  <a:noFill/>
                </a:ln>
                <a:solidFill>
                  <a:srgbClr val="000000"/>
                </a:solidFill>
                <a:effectLst/>
                <a:uLnTx/>
                <a:uFillTx/>
                <a:latin typeface="Manrope"/>
              </a:rPr>
              <a:t>Unravel's</a:t>
            </a:r>
            <a:r>
              <a:rPr kumimoji="0" lang="en-US" sz="1000" b="0" i="0" u="none" strike="noStrike" kern="1200" cap="none" spc="0" normalizeH="0" baseline="0" noProof="0">
                <a:ln>
                  <a:noFill/>
                </a:ln>
                <a:solidFill>
                  <a:srgbClr val="000000"/>
                </a:solidFill>
                <a:effectLst/>
                <a:uLnTx/>
                <a:uFillTx/>
                <a:latin typeface="Manrope"/>
              </a:rPr>
              <a:t> tools to run analytics and a recommendation engine.</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Proactively monitored Snowflake Data Cloud using Unravel to get alerts before issues occur.</a:t>
            </a:r>
          </a:p>
          <a:p>
            <a:pPr marL="171450" marR="0" lvl="0" indent="-171450" algn="l" defTabSz="914400" rtl="0" eaLnBrk="1" fontAlgn="auto" latinLnBrk="0" hangingPunct="1">
              <a:lnSpc>
                <a:spcPct val="100000"/>
              </a:lnSpc>
              <a:spcBef>
                <a:spcPts val="600"/>
              </a:spcBef>
              <a:spcAft>
                <a:spcPts val="0"/>
              </a:spcAft>
              <a:buClr>
                <a:srgbClr val="3C2CDA"/>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anrope"/>
              </a:rPr>
              <a:t>Generated detailed reports and recommendations based on the analytics. This included pinpointing inefficiencies, suggesting SQL and code optimizations, and identifying other user inefficiencies.</a:t>
            </a:r>
          </a:p>
        </p:txBody>
      </p:sp>
      <p:sp>
        <p:nvSpPr>
          <p:cNvPr id="10" name="Text Placeholder 13">
            <a:extLst>
              <a:ext uri="{FF2B5EF4-FFF2-40B4-BE49-F238E27FC236}">
                <a16:creationId xmlns:a16="http://schemas.microsoft.com/office/drawing/2014/main" id="{3697823B-722E-46AB-A649-054E18DFD8EE}"/>
              </a:ext>
            </a:extLst>
          </p:cNvPr>
          <p:cNvSpPr txBox="1">
            <a:spLocks/>
          </p:cNvSpPr>
          <p:nvPr/>
        </p:nvSpPr>
        <p:spPr>
          <a:xfrm flipH="1">
            <a:off x="623887" y="349984"/>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Travel</a:t>
            </a: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US" sz="1500" b="0" i="0" u="none" strike="noStrike" kern="1200" cap="none" spc="0" normalizeH="0" baseline="0" noProof="0">
              <a:ln>
                <a:noFill/>
              </a:ln>
              <a:solidFill>
                <a:srgbClr val="000000"/>
              </a:solidFill>
              <a:effectLst/>
              <a:uLnTx/>
              <a:uFillTx/>
              <a:latin typeface="Manrope"/>
            </a:endParaRPr>
          </a:p>
        </p:txBody>
      </p:sp>
      <p:sp>
        <p:nvSpPr>
          <p:cNvPr id="11" name="TextBox 10">
            <a:extLst>
              <a:ext uri="{FF2B5EF4-FFF2-40B4-BE49-F238E27FC236}">
                <a16:creationId xmlns:a16="http://schemas.microsoft.com/office/drawing/2014/main" id="{B6565496-4B64-230A-E5AF-BC2796EEE41A}"/>
              </a:ext>
            </a:extLst>
          </p:cNvPr>
          <p:cNvSpPr txBox="1"/>
          <p:nvPr/>
        </p:nvSpPr>
        <p:spPr>
          <a:xfrm>
            <a:off x="530469" y="597093"/>
            <a:ext cx="5494093" cy="415498"/>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rPr>
              <a:t>Case Study: Enhancing Cost Visibility and Efficiency with Unravel for Airline Ticket Transaction Provider</a:t>
            </a:r>
          </a:p>
        </p:txBody>
      </p:sp>
      <p:sp>
        <p:nvSpPr>
          <p:cNvPr id="15" name="Text Placeholder 22">
            <a:extLst>
              <a:ext uri="{FF2B5EF4-FFF2-40B4-BE49-F238E27FC236}">
                <a16:creationId xmlns:a16="http://schemas.microsoft.com/office/drawing/2014/main" id="{F8DD8C1D-D2A6-DCEB-30CC-87BE79A6C046}"/>
              </a:ext>
            </a:extLst>
          </p:cNvPr>
          <p:cNvSpPr>
            <a:spLocks noGrp="1"/>
          </p:cNvSpPr>
          <p:nvPr>
            <p:ph type="body" sz="quarter" idx="18"/>
          </p:nvPr>
        </p:nvSpPr>
        <p:spPr>
          <a:xfrm>
            <a:off x="620423" y="5517621"/>
            <a:ext cx="2778097" cy="599363"/>
          </a:xfrm>
        </p:spPr>
        <p:txBody>
          <a:bodyPr>
            <a:normAutofit/>
          </a:bodyPr>
          <a:lstStyle/>
          <a:p>
            <a:r>
              <a:rPr kumimoji="0" lang="en-US" b="0" i="0" u="none" strike="noStrike" kern="1200" cap="none" spc="10" normalizeH="0" baseline="0" noProof="0">
                <a:ln>
                  <a:noFill/>
                </a:ln>
                <a:solidFill>
                  <a:srgbClr val="3C2CDA"/>
                </a:solidFill>
                <a:effectLst/>
                <a:uLnTx/>
                <a:uFillTx/>
                <a:latin typeface="Manrope"/>
              </a:rPr>
              <a:t>By identifying and addressing inefficiencies, we enabled the client to bring down the costs from 180K to 120K annually</a:t>
            </a:r>
          </a:p>
        </p:txBody>
      </p:sp>
      <p:sp>
        <p:nvSpPr>
          <p:cNvPr id="16" name="Text Placeholder 23">
            <a:extLst>
              <a:ext uri="{FF2B5EF4-FFF2-40B4-BE49-F238E27FC236}">
                <a16:creationId xmlns:a16="http://schemas.microsoft.com/office/drawing/2014/main" id="{4AC124D6-8377-D3BE-3E57-F8A5B96FD11F}"/>
              </a:ext>
            </a:extLst>
          </p:cNvPr>
          <p:cNvSpPr>
            <a:spLocks noGrp="1"/>
          </p:cNvSpPr>
          <p:nvPr>
            <p:ph type="body" sz="quarter" idx="19"/>
          </p:nvPr>
        </p:nvSpPr>
        <p:spPr>
          <a:xfrm>
            <a:off x="620424" y="5106881"/>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lang="en-US">
                <a:solidFill>
                  <a:srgbClr val="3C2CDA"/>
                </a:solidFill>
                <a:latin typeface="Manrope Light"/>
              </a:rPr>
              <a:t>3</a:t>
            </a:r>
            <a:r>
              <a:rPr kumimoji="0" lang="en-US" sz="3000" b="0" i="0" u="none" strike="noStrike" kern="1200" cap="none" spc="0" normalizeH="0" baseline="0" noProof="0">
                <a:ln>
                  <a:noFill/>
                </a:ln>
                <a:solidFill>
                  <a:srgbClr val="3C2CDA"/>
                </a:solidFill>
                <a:effectLst/>
                <a:uLnTx/>
                <a:uFillTx/>
                <a:latin typeface="Manrope Light"/>
              </a:rPr>
              <a:t>0%</a:t>
            </a:r>
          </a:p>
        </p:txBody>
      </p:sp>
      <p:sp>
        <p:nvSpPr>
          <p:cNvPr id="17" name="Text Placeholder 22">
            <a:extLst>
              <a:ext uri="{FF2B5EF4-FFF2-40B4-BE49-F238E27FC236}">
                <a16:creationId xmlns:a16="http://schemas.microsoft.com/office/drawing/2014/main" id="{34C57BA9-0B71-425A-6DAF-B898FF76275C}"/>
              </a:ext>
            </a:extLst>
          </p:cNvPr>
          <p:cNvSpPr txBox="1">
            <a:spLocks/>
          </p:cNvSpPr>
          <p:nvPr/>
        </p:nvSpPr>
        <p:spPr>
          <a:xfrm>
            <a:off x="3529661" y="5517621"/>
            <a:ext cx="2778097" cy="599363"/>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rgbClr val="3C2CDA"/>
                </a:solidFill>
                <a:latin typeface="Manrope"/>
              </a:rPr>
              <a:t>Increased the use of cache to over 10%, reducing data scanning times and improving overall efficiency</a:t>
            </a:r>
          </a:p>
        </p:txBody>
      </p:sp>
      <p:sp>
        <p:nvSpPr>
          <p:cNvPr id="18" name="Text Placeholder 23">
            <a:extLst>
              <a:ext uri="{FF2B5EF4-FFF2-40B4-BE49-F238E27FC236}">
                <a16:creationId xmlns:a16="http://schemas.microsoft.com/office/drawing/2014/main" id="{0C4F4EF3-08D4-BE07-B5AC-4D5CB0661E23}"/>
              </a:ext>
            </a:extLst>
          </p:cNvPr>
          <p:cNvSpPr txBox="1">
            <a:spLocks/>
          </p:cNvSpPr>
          <p:nvPr/>
        </p:nvSpPr>
        <p:spPr>
          <a:xfrm>
            <a:off x="3529662" y="5106881"/>
            <a:ext cx="1234991"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C2CDA"/>
              </a:buClr>
              <a:defRPr/>
            </a:pPr>
            <a:r>
              <a:rPr lang="en-US">
                <a:solidFill>
                  <a:srgbClr val="3C2CDA"/>
                </a:solidFill>
                <a:latin typeface="Manrope Light"/>
              </a:rPr>
              <a:t>10%</a:t>
            </a:r>
          </a:p>
        </p:txBody>
      </p:sp>
      <p:pic>
        <p:nvPicPr>
          <p:cNvPr id="2" name="Picture 1">
            <a:extLst>
              <a:ext uri="{FF2B5EF4-FFF2-40B4-BE49-F238E27FC236}">
                <a16:creationId xmlns:a16="http://schemas.microsoft.com/office/drawing/2014/main" id="{86BA7205-BEAB-FE68-3819-B3E54BD4FD4C}"/>
              </a:ext>
            </a:extLst>
          </p:cNvPr>
          <p:cNvPicPr>
            <a:picLocks noChangeAspect="1" noChangeArrowheads="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078196" y="233776"/>
            <a:ext cx="582821" cy="232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1574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991D-DDA0-6FB6-A670-9481ABEC3146}"/>
            </a:ext>
          </a:extLst>
        </p:cNvPr>
        <p:cNvGrpSpPr/>
        <p:nvPr/>
      </p:nvGrpSpPr>
      <p:grpSpPr>
        <a:xfrm>
          <a:off x="0" y="0"/>
          <a:ext cx="0" cy="0"/>
          <a:chOff x="0" y="0"/>
          <a:chExt cx="0" cy="0"/>
        </a:xfrm>
      </p:grpSpPr>
      <p:sp>
        <p:nvSpPr>
          <p:cNvPr id="27" name="Text Placeholder 3">
            <a:extLst>
              <a:ext uri="{FF2B5EF4-FFF2-40B4-BE49-F238E27FC236}">
                <a16:creationId xmlns:a16="http://schemas.microsoft.com/office/drawing/2014/main" id="{D0A4AC7F-68BB-19D5-1614-77FC8AC51391}"/>
              </a:ext>
            </a:extLst>
          </p:cNvPr>
          <p:cNvSpPr txBox="1">
            <a:spLocks/>
          </p:cNvSpPr>
          <p:nvPr/>
        </p:nvSpPr>
        <p:spPr>
          <a:xfrm>
            <a:off x="697652" y="1241263"/>
            <a:ext cx="5398348" cy="1488840"/>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High maintenance costs, limited scalability, with on-prem systems &amp;  the desire to leverage more cost-effective solutions available in the market.</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Desire to white-label their financial services business and expand it.</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Need for a platform that supported multi-tenancy, allowing them to serve multiple clients or Original Equipment Manufacturers (OEMs).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Need for a  platform that can easily scale to accommodate the growing demand and ensure high availability to support their extended business operations.</a:t>
            </a:r>
          </a:p>
        </p:txBody>
      </p:sp>
      <p:sp>
        <p:nvSpPr>
          <p:cNvPr id="28" name="Text Placeholder 3">
            <a:extLst>
              <a:ext uri="{FF2B5EF4-FFF2-40B4-BE49-F238E27FC236}">
                <a16:creationId xmlns:a16="http://schemas.microsoft.com/office/drawing/2014/main" id="{F7CB249B-A7BD-82AE-A9E7-17908F4BA9F5}"/>
              </a:ext>
            </a:extLst>
          </p:cNvPr>
          <p:cNvSpPr txBox="1">
            <a:spLocks/>
          </p:cNvSpPr>
          <p:nvPr/>
        </p:nvSpPr>
        <p:spPr>
          <a:xfrm>
            <a:off x="616957" y="949028"/>
            <a:ext cx="1494478" cy="263652"/>
          </a:xfrm>
          <a:prstGeom prst="rect">
            <a:avLst/>
          </a:prstGeom>
        </p:spPr>
        <p:txBody>
          <a:bodyPr lIns="0" tIns="0" rIns="0" bIns="0">
            <a:normAutofit fontScale="92500"/>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Business Problem</a:t>
            </a:r>
          </a:p>
        </p:txBody>
      </p:sp>
      <p:sp>
        <p:nvSpPr>
          <p:cNvPr id="29" name="Text Placeholder 3">
            <a:extLst>
              <a:ext uri="{FF2B5EF4-FFF2-40B4-BE49-F238E27FC236}">
                <a16:creationId xmlns:a16="http://schemas.microsoft.com/office/drawing/2014/main" id="{B9581BEB-AD00-9FCE-8E70-8E8DD147FAF2}"/>
              </a:ext>
            </a:extLst>
          </p:cNvPr>
          <p:cNvSpPr txBox="1">
            <a:spLocks/>
          </p:cNvSpPr>
          <p:nvPr/>
        </p:nvSpPr>
        <p:spPr>
          <a:xfrm>
            <a:off x="616957" y="2579036"/>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Solution</a:t>
            </a:r>
          </a:p>
        </p:txBody>
      </p:sp>
      <p:sp>
        <p:nvSpPr>
          <p:cNvPr id="30" name="Text Placeholder 3">
            <a:extLst>
              <a:ext uri="{FF2B5EF4-FFF2-40B4-BE49-F238E27FC236}">
                <a16:creationId xmlns:a16="http://schemas.microsoft.com/office/drawing/2014/main" id="{CAFBBAE8-87A4-52C4-4A15-D84FF9F04507}"/>
              </a:ext>
            </a:extLst>
          </p:cNvPr>
          <p:cNvSpPr txBox="1">
            <a:spLocks/>
          </p:cNvSpPr>
          <p:nvPr/>
        </p:nvSpPr>
        <p:spPr>
          <a:xfrm>
            <a:off x="620422" y="2842688"/>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Modernized applications, databases, enterprise data warehouse (EDW), and other tools with AWS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Leveraged Snowflake as their cloud-based data warehouse solution</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Utilized </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Pyspark</a:t>
            </a: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and </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SnowSQL</a:t>
            </a: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for ELT (Extract, Load, Transform) transformations,. Leveraged Amaze® for the automated migration. </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SnowSQL</a:t>
            </a: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provided a SQL interface for working with Snowflake.</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We  achieved a modern, cloud-based infrastructure that facilitated seamless information flow across their applications, improved data management and analysis capabilities, and allowed for enhanced reporting and visualization </a:t>
            </a:r>
          </a:p>
        </p:txBody>
      </p:sp>
      <p:sp>
        <p:nvSpPr>
          <p:cNvPr id="31" name="Text Placeholder 13">
            <a:extLst>
              <a:ext uri="{FF2B5EF4-FFF2-40B4-BE49-F238E27FC236}">
                <a16:creationId xmlns:a16="http://schemas.microsoft.com/office/drawing/2014/main" id="{89219043-A7DF-3E9A-B84B-A44ED0665318}"/>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Financial Services</a:t>
            </a:r>
          </a:p>
        </p:txBody>
      </p:sp>
      <p:sp>
        <p:nvSpPr>
          <p:cNvPr id="32" name="TextBox 31">
            <a:extLst>
              <a:ext uri="{FF2B5EF4-FFF2-40B4-BE49-F238E27FC236}">
                <a16:creationId xmlns:a16="http://schemas.microsoft.com/office/drawing/2014/main" id="{861A8718-ED64-AB4D-768E-DA72B4382AE5}"/>
              </a:ext>
            </a:extLst>
          </p:cNvPr>
          <p:cNvSpPr txBox="1"/>
          <p:nvPr/>
        </p:nvSpPr>
        <p:spPr>
          <a:xfrm>
            <a:off x="527005" y="498968"/>
            <a:ext cx="5494093"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latin typeface="Manrope"/>
              </a:rPr>
              <a:t>Case Study: Data Warehouse Modernization with Snowflake for a financial services organization</a:t>
            </a:r>
          </a:p>
        </p:txBody>
      </p:sp>
      <p:sp>
        <p:nvSpPr>
          <p:cNvPr id="45" name="Text Placeholder 1">
            <a:extLst>
              <a:ext uri="{FF2B5EF4-FFF2-40B4-BE49-F238E27FC236}">
                <a16:creationId xmlns:a16="http://schemas.microsoft.com/office/drawing/2014/main" id="{899A152D-2EC1-582C-D648-97063F6CE7A0}"/>
              </a:ext>
            </a:extLst>
          </p:cNvPr>
          <p:cNvSpPr txBox="1">
            <a:spLocks/>
          </p:cNvSpPr>
          <p:nvPr/>
        </p:nvSpPr>
        <p:spPr>
          <a:xfrm>
            <a:off x="616957" y="5327109"/>
            <a:ext cx="1948116"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Combined platform for, data warehouse and all analytical workloads delivering lower TCO</a:t>
            </a:r>
          </a:p>
        </p:txBody>
      </p:sp>
      <p:sp>
        <p:nvSpPr>
          <p:cNvPr id="46" name="Text Placeholder 2">
            <a:extLst>
              <a:ext uri="{FF2B5EF4-FFF2-40B4-BE49-F238E27FC236}">
                <a16:creationId xmlns:a16="http://schemas.microsoft.com/office/drawing/2014/main" id="{7649A4CF-55C7-5FE8-E1C2-867FDBC54C4B}"/>
              </a:ext>
            </a:extLst>
          </p:cNvPr>
          <p:cNvSpPr txBox="1">
            <a:spLocks/>
          </p:cNvSpPr>
          <p:nvPr/>
        </p:nvSpPr>
        <p:spPr>
          <a:xfrm>
            <a:off x="594465" y="4911612"/>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b="0" i="0" u="none" strike="noStrike" kern="1200" cap="none" spc="0" normalizeH="0" baseline="0" noProof="0">
                <a:ln>
                  <a:noFill/>
                </a:ln>
                <a:solidFill>
                  <a:srgbClr val="3C2DDA"/>
                </a:solidFill>
                <a:effectLst/>
                <a:uLnTx/>
                <a:uFillTx/>
                <a:latin typeface="Manrope Light"/>
              </a:rPr>
              <a:t>50%</a:t>
            </a:r>
          </a:p>
        </p:txBody>
      </p:sp>
      <p:pic>
        <p:nvPicPr>
          <p:cNvPr id="5" name="Picture Placeholder 4" descr="A group of people sitting around a table looking at a computer&#10;&#10;AI-generated content may be incorrect.">
            <a:extLst>
              <a:ext uri="{FF2B5EF4-FFF2-40B4-BE49-F238E27FC236}">
                <a16:creationId xmlns:a16="http://schemas.microsoft.com/office/drawing/2014/main" id="{3BBE4F28-9EF3-3534-ECC8-995093909284}"/>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a:fillRect/>
          </a:stretch>
        </p:blipFill>
        <p:spPr/>
      </p:pic>
      <p:sp>
        <p:nvSpPr>
          <p:cNvPr id="6" name="Text Placeholder 1">
            <a:extLst>
              <a:ext uri="{FF2B5EF4-FFF2-40B4-BE49-F238E27FC236}">
                <a16:creationId xmlns:a16="http://schemas.microsoft.com/office/drawing/2014/main" id="{9703ECD0-060E-5112-B084-FB4E8D632968}"/>
              </a:ext>
            </a:extLst>
          </p:cNvPr>
          <p:cNvSpPr txBox="1">
            <a:spLocks/>
          </p:cNvSpPr>
          <p:nvPr/>
        </p:nvSpPr>
        <p:spPr>
          <a:xfrm>
            <a:off x="3125256" y="5325006"/>
            <a:ext cx="1948116"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kern="0"/>
              <a:t>Automation achieved with </a:t>
            </a:r>
            <a:r>
              <a:rPr kumimoji="0" lang="en-US" sz="1000" b="0" i="0" u="none" strike="noStrike" kern="0" cap="none" spc="10" normalizeH="0" baseline="0" noProof="0">
                <a:ln>
                  <a:noFill/>
                </a:ln>
                <a:solidFill>
                  <a:srgbClr val="3C2DDA"/>
                </a:solidFill>
                <a:effectLst/>
                <a:uLnTx/>
                <a:uFillTx/>
                <a:latin typeface="Manrope"/>
              </a:rPr>
              <a:t>platform-based Accelerator</a:t>
            </a:r>
          </a:p>
        </p:txBody>
      </p:sp>
      <p:sp>
        <p:nvSpPr>
          <p:cNvPr id="7" name="Text Placeholder 2">
            <a:extLst>
              <a:ext uri="{FF2B5EF4-FFF2-40B4-BE49-F238E27FC236}">
                <a16:creationId xmlns:a16="http://schemas.microsoft.com/office/drawing/2014/main" id="{3B0A6220-EEA6-BA45-E63D-631731D1245B}"/>
              </a:ext>
            </a:extLst>
          </p:cNvPr>
          <p:cNvSpPr txBox="1">
            <a:spLocks/>
          </p:cNvSpPr>
          <p:nvPr/>
        </p:nvSpPr>
        <p:spPr>
          <a:xfrm>
            <a:off x="3102764" y="4909509"/>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7</a:t>
            </a:r>
            <a:r>
              <a:rPr kumimoji="0" lang="en-US" b="0" i="0" u="none" strike="noStrike" kern="1200" cap="none" spc="0" normalizeH="0" baseline="0" noProof="0">
                <a:ln>
                  <a:noFill/>
                </a:ln>
                <a:solidFill>
                  <a:srgbClr val="3C2DDA"/>
                </a:solidFill>
                <a:effectLst/>
                <a:uLnTx/>
                <a:uFillTx/>
                <a:latin typeface="Manrope Light"/>
              </a:rPr>
              <a:t>0%</a:t>
            </a:r>
          </a:p>
        </p:txBody>
      </p:sp>
      <p:pic>
        <p:nvPicPr>
          <p:cNvPr id="2" name="Picture 1" descr="A close up of a sign&#10;&#10;Description automatically generated">
            <a:extLst>
              <a:ext uri="{FF2B5EF4-FFF2-40B4-BE49-F238E27FC236}">
                <a16:creationId xmlns:a16="http://schemas.microsoft.com/office/drawing/2014/main" id="{888DD170-9D14-DF0F-DBBD-E03D1483FF5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558670" y="251859"/>
            <a:ext cx="1069607" cy="341306"/>
          </a:xfrm>
          <a:prstGeom prst="rect">
            <a:avLst/>
          </a:prstGeom>
        </p:spPr>
      </p:pic>
    </p:spTree>
    <p:extLst>
      <p:ext uri="{BB962C8B-B14F-4D97-AF65-F5344CB8AC3E}">
        <p14:creationId xmlns:p14="http://schemas.microsoft.com/office/powerpoint/2010/main" val="15088914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4C002-FE79-195B-37E1-8962D2D181B7}"/>
            </a:ext>
          </a:extLst>
        </p:cNvPr>
        <p:cNvGrpSpPr/>
        <p:nvPr/>
      </p:nvGrpSpPr>
      <p:grpSpPr>
        <a:xfrm>
          <a:off x="0" y="0"/>
          <a:ext cx="0" cy="0"/>
          <a:chOff x="0" y="0"/>
          <a:chExt cx="0" cy="0"/>
        </a:xfrm>
      </p:grpSpPr>
      <p:sp>
        <p:nvSpPr>
          <p:cNvPr id="27" name="Text Placeholder 3">
            <a:extLst>
              <a:ext uri="{FF2B5EF4-FFF2-40B4-BE49-F238E27FC236}">
                <a16:creationId xmlns:a16="http://schemas.microsoft.com/office/drawing/2014/main" id="{ABBBE1AC-0F7F-D720-8A21-8E072CD6EDCA}"/>
              </a:ext>
            </a:extLst>
          </p:cNvPr>
          <p:cNvSpPr txBox="1">
            <a:spLocks/>
          </p:cNvSpPr>
          <p:nvPr/>
        </p:nvSpPr>
        <p:spPr>
          <a:xfrm>
            <a:off x="697652" y="1241263"/>
            <a:ext cx="5398348" cy="1488840"/>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Manual data sharing: Manual data sharing with multiple failure point.</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Complex &amp; multiple data pipelines – For each client, data pipelines were created to share the data.</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Non-Scalable: Client onboarding was time consuming due to manual data sharing process.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Stale data: Customer doesn’t have access to live data.</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Longer turnaround time for predictive analytics and reporting.</a:t>
            </a:r>
          </a:p>
        </p:txBody>
      </p:sp>
      <p:sp>
        <p:nvSpPr>
          <p:cNvPr id="28" name="Text Placeholder 3">
            <a:extLst>
              <a:ext uri="{FF2B5EF4-FFF2-40B4-BE49-F238E27FC236}">
                <a16:creationId xmlns:a16="http://schemas.microsoft.com/office/drawing/2014/main" id="{5A323E8C-7770-3DEC-17F8-DBE886F1876E}"/>
              </a:ext>
            </a:extLst>
          </p:cNvPr>
          <p:cNvSpPr txBox="1">
            <a:spLocks/>
          </p:cNvSpPr>
          <p:nvPr/>
        </p:nvSpPr>
        <p:spPr>
          <a:xfrm>
            <a:off x="695324" y="949072"/>
            <a:ext cx="1847300" cy="229046"/>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CDA"/>
                </a:solidFill>
                <a:effectLst/>
                <a:uLnTx/>
                <a:uFillTx/>
                <a:latin typeface="Manrope Medium" pitchFamily="2" charset="0"/>
              </a:rPr>
              <a:t>Business Problem</a:t>
            </a:r>
          </a:p>
        </p:txBody>
      </p:sp>
      <p:sp>
        <p:nvSpPr>
          <p:cNvPr id="29" name="Text Placeholder 3">
            <a:extLst>
              <a:ext uri="{FF2B5EF4-FFF2-40B4-BE49-F238E27FC236}">
                <a16:creationId xmlns:a16="http://schemas.microsoft.com/office/drawing/2014/main" id="{0ADE4E97-B538-BD33-37D6-DF43E376732D}"/>
              </a:ext>
            </a:extLst>
          </p:cNvPr>
          <p:cNvSpPr txBox="1">
            <a:spLocks/>
          </p:cNvSpPr>
          <p:nvPr/>
        </p:nvSpPr>
        <p:spPr>
          <a:xfrm>
            <a:off x="695324" y="2551337"/>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CDA"/>
                </a:solidFill>
                <a:effectLst/>
                <a:uLnTx/>
                <a:uFillTx/>
                <a:latin typeface="Manrope Medium" pitchFamily="2" charset="0"/>
              </a:rPr>
              <a:t>Solution</a:t>
            </a:r>
          </a:p>
        </p:txBody>
      </p:sp>
      <p:sp>
        <p:nvSpPr>
          <p:cNvPr id="30" name="Text Placeholder 3">
            <a:extLst>
              <a:ext uri="{FF2B5EF4-FFF2-40B4-BE49-F238E27FC236}">
                <a16:creationId xmlns:a16="http://schemas.microsoft.com/office/drawing/2014/main" id="{159BB3E5-D230-1085-E7E1-5204D13B34B6}"/>
              </a:ext>
            </a:extLst>
          </p:cNvPr>
          <p:cNvSpPr txBox="1">
            <a:spLocks/>
          </p:cNvSpPr>
          <p:nvPr/>
        </p:nvSpPr>
        <p:spPr>
          <a:xfrm>
            <a:off x="620422" y="2842688"/>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Snowflake's data exchange and data share option implemented to receive and share data with client.</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Streamset is used to extract data from snowflake to client specific folder.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Input data is enriched with supplementary data from marketplace for Weather &amp; geographical information.</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Machine learning (ML) model is built to predict volume of claims to be processed based on Weather, Geographical and Census data.</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Using Streamset, ML output is loaded back to Snowflake and shared with the client using data sharing.</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Inbuilt feature of snowflake is leveraged for archival and backup.</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Implemented common consumption layer for Clients to self-analyze the catastrophic model results and the input data</a:t>
            </a:r>
          </a:p>
        </p:txBody>
      </p:sp>
      <p:sp>
        <p:nvSpPr>
          <p:cNvPr id="31" name="Text Placeholder 13">
            <a:extLst>
              <a:ext uri="{FF2B5EF4-FFF2-40B4-BE49-F238E27FC236}">
                <a16:creationId xmlns:a16="http://schemas.microsoft.com/office/drawing/2014/main" id="{3A7EF183-E200-0E3D-6569-252CA875FD79}"/>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Insurance</a:t>
            </a:r>
          </a:p>
        </p:txBody>
      </p:sp>
      <p:sp>
        <p:nvSpPr>
          <p:cNvPr id="32" name="TextBox 31">
            <a:extLst>
              <a:ext uri="{FF2B5EF4-FFF2-40B4-BE49-F238E27FC236}">
                <a16:creationId xmlns:a16="http://schemas.microsoft.com/office/drawing/2014/main" id="{48B339E5-9914-981A-8119-6B27783CD8F4}"/>
              </a:ext>
            </a:extLst>
          </p:cNvPr>
          <p:cNvSpPr txBox="1"/>
          <p:nvPr/>
        </p:nvSpPr>
        <p:spPr>
          <a:xfrm>
            <a:off x="527005" y="498968"/>
            <a:ext cx="5494093"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latin typeface="Manrope"/>
              </a:rPr>
              <a:t>Case Study: Transformative data sharing platform for a global insurance provider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a:ln>
                <a:noFill/>
              </a:ln>
              <a:solidFill>
                <a:srgbClr val="000000"/>
              </a:solidFill>
              <a:effectLst/>
              <a:uLnTx/>
              <a:uFillTx/>
              <a:latin typeface="Manrope"/>
            </a:endParaRPr>
          </a:p>
        </p:txBody>
      </p:sp>
      <p:sp>
        <p:nvSpPr>
          <p:cNvPr id="45" name="Text Placeholder 1">
            <a:extLst>
              <a:ext uri="{FF2B5EF4-FFF2-40B4-BE49-F238E27FC236}">
                <a16:creationId xmlns:a16="http://schemas.microsoft.com/office/drawing/2014/main" id="{8482D48C-3605-CE6A-52E6-BD9139D038D2}"/>
              </a:ext>
            </a:extLst>
          </p:cNvPr>
          <p:cNvSpPr txBox="1">
            <a:spLocks/>
          </p:cNvSpPr>
          <p:nvPr/>
        </p:nvSpPr>
        <p:spPr>
          <a:xfrm>
            <a:off x="616957" y="5616737"/>
            <a:ext cx="1948116"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Faster Data Sharing</a:t>
            </a:r>
          </a:p>
        </p:txBody>
      </p:sp>
      <p:sp>
        <p:nvSpPr>
          <p:cNvPr id="46" name="Text Placeholder 2">
            <a:extLst>
              <a:ext uri="{FF2B5EF4-FFF2-40B4-BE49-F238E27FC236}">
                <a16:creationId xmlns:a16="http://schemas.microsoft.com/office/drawing/2014/main" id="{5842F9D8-C3DC-3706-177D-81F6087BB8F7}"/>
              </a:ext>
            </a:extLst>
          </p:cNvPr>
          <p:cNvSpPr txBox="1">
            <a:spLocks/>
          </p:cNvSpPr>
          <p:nvPr/>
        </p:nvSpPr>
        <p:spPr>
          <a:xfrm>
            <a:off x="594465" y="5201240"/>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b="0" i="0" u="none" strike="noStrike" kern="1200" cap="none" spc="0" normalizeH="0" baseline="0" noProof="0">
                <a:ln>
                  <a:noFill/>
                </a:ln>
                <a:solidFill>
                  <a:srgbClr val="3C2DDA"/>
                </a:solidFill>
                <a:effectLst/>
                <a:uLnTx/>
                <a:uFillTx/>
                <a:latin typeface="Manrope Light"/>
              </a:rPr>
              <a:t>2X</a:t>
            </a:r>
          </a:p>
        </p:txBody>
      </p:sp>
      <p:sp>
        <p:nvSpPr>
          <p:cNvPr id="2" name="Text Placeholder 1">
            <a:extLst>
              <a:ext uri="{FF2B5EF4-FFF2-40B4-BE49-F238E27FC236}">
                <a16:creationId xmlns:a16="http://schemas.microsoft.com/office/drawing/2014/main" id="{0B88B72E-CF91-0696-3317-06A94956C6A2}"/>
              </a:ext>
            </a:extLst>
          </p:cNvPr>
          <p:cNvSpPr txBox="1">
            <a:spLocks/>
          </p:cNvSpPr>
          <p:nvPr/>
        </p:nvSpPr>
        <p:spPr>
          <a:xfrm>
            <a:off x="2542624" y="5616737"/>
            <a:ext cx="1948116"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Savings in sharing the data client customers</a:t>
            </a:r>
          </a:p>
        </p:txBody>
      </p:sp>
      <p:sp>
        <p:nvSpPr>
          <p:cNvPr id="3" name="Text Placeholder 2">
            <a:extLst>
              <a:ext uri="{FF2B5EF4-FFF2-40B4-BE49-F238E27FC236}">
                <a16:creationId xmlns:a16="http://schemas.microsoft.com/office/drawing/2014/main" id="{6294CC95-EE9A-0F4C-2A9D-DD0C9DA30E26}"/>
              </a:ext>
            </a:extLst>
          </p:cNvPr>
          <p:cNvSpPr txBox="1">
            <a:spLocks/>
          </p:cNvSpPr>
          <p:nvPr/>
        </p:nvSpPr>
        <p:spPr>
          <a:xfrm>
            <a:off x="2520132" y="5201240"/>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b="0" i="0" u="none" strike="noStrike" kern="1200" cap="none" spc="0" normalizeH="0" baseline="0" noProof="0">
                <a:ln>
                  <a:noFill/>
                </a:ln>
                <a:solidFill>
                  <a:srgbClr val="3C2DDA"/>
                </a:solidFill>
                <a:effectLst/>
                <a:uLnTx/>
                <a:uFillTx/>
                <a:latin typeface="Manrope Light"/>
              </a:rPr>
              <a:t>30%</a:t>
            </a:r>
          </a:p>
        </p:txBody>
      </p:sp>
      <p:pic>
        <p:nvPicPr>
          <p:cNvPr id="4" name="Picture 2" descr="Better Decisions - Commercial Risk - Health - Reinsurance - Wealth | Aon">
            <a:extLst>
              <a:ext uri="{FF2B5EF4-FFF2-40B4-BE49-F238E27FC236}">
                <a16:creationId xmlns:a16="http://schemas.microsoft.com/office/drawing/2014/main" id="{84D523AE-FC10-58FC-7B92-7C236B05DA57}"/>
              </a:ext>
            </a:extLst>
          </p:cNvPr>
          <p:cNvPicPr>
            <a:picLocks noChangeAspect="1" noChangeArrowheads="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9898912" y="251859"/>
            <a:ext cx="784913" cy="3375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Placeholder 7" descr="A group of people sitting at a table&#10;&#10;AI-generated content may be incorrect.">
            <a:extLst>
              <a:ext uri="{FF2B5EF4-FFF2-40B4-BE49-F238E27FC236}">
                <a16:creationId xmlns:a16="http://schemas.microsoft.com/office/drawing/2014/main" id="{2D2BF3B4-E0D6-EA62-BB6D-7B5E6059F573}"/>
              </a:ext>
            </a:extLst>
          </p:cNvPr>
          <p:cNvPicPr>
            <a:picLocks noGrp="1" noChangeAspect="1"/>
          </p:cNvPicPr>
          <p:nvPr>
            <p:ph type="pic" sz="quarter" idx="17"/>
          </p:nvPr>
        </p:nvPicPr>
        <p:blipFill>
          <a:blip r:embed="rId4"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866408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8C7F-8BF1-1493-B15B-6DFB7AD651B8}"/>
            </a:ext>
          </a:extLst>
        </p:cNvPr>
        <p:cNvGrpSpPr/>
        <p:nvPr/>
      </p:nvGrpSpPr>
      <p:grpSpPr>
        <a:xfrm>
          <a:off x="0" y="0"/>
          <a:ext cx="0" cy="0"/>
          <a:chOff x="0" y="0"/>
          <a:chExt cx="0" cy="0"/>
        </a:xfrm>
      </p:grpSpPr>
      <p:sp>
        <p:nvSpPr>
          <p:cNvPr id="27" name="Text Placeholder 3">
            <a:extLst>
              <a:ext uri="{FF2B5EF4-FFF2-40B4-BE49-F238E27FC236}">
                <a16:creationId xmlns:a16="http://schemas.microsoft.com/office/drawing/2014/main" id="{1880C22A-6B18-075F-53A8-3A12256CA041}"/>
              </a:ext>
            </a:extLst>
          </p:cNvPr>
          <p:cNvSpPr txBox="1">
            <a:spLocks/>
          </p:cNvSpPr>
          <p:nvPr/>
        </p:nvSpPr>
        <p:spPr>
          <a:xfrm>
            <a:off x="697652" y="1158133"/>
            <a:ext cx="5398348" cy="1488840"/>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Complex Integration: </a:t>
            </a:r>
            <a:b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b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Storage and Integrating internal and third-party data processes were complex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Non-scalable data infrastructure: As more clients were getting onboarded, existing data platform was not scaling up and client onboarding process takes months.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High distribution cost and time: Clients with different data request mechanisms. Customers needing live access to data in real-time.</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Governance, Orchestration of Data processes: Data management processes, governance are not streamlined, resulting in complex processes and interventions delaying data delivery</a:t>
            </a:r>
          </a:p>
        </p:txBody>
      </p:sp>
      <p:sp>
        <p:nvSpPr>
          <p:cNvPr id="28" name="Text Placeholder 3">
            <a:extLst>
              <a:ext uri="{FF2B5EF4-FFF2-40B4-BE49-F238E27FC236}">
                <a16:creationId xmlns:a16="http://schemas.microsoft.com/office/drawing/2014/main" id="{6A23A937-0A71-7A90-DE51-F6A360D8078A}"/>
              </a:ext>
            </a:extLst>
          </p:cNvPr>
          <p:cNvSpPr txBox="1">
            <a:spLocks/>
          </p:cNvSpPr>
          <p:nvPr/>
        </p:nvSpPr>
        <p:spPr>
          <a:xfrm>
            <a:off x="616957" y="931475"/>
            <a:ext cx="1864996" cy="263652"/>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Business Problem</a:t>
            </a:r>
          </a:p>
        </p:txBody>
      </p:sp>
      <p:sp>
        <p:nvSpPr>
          <p:cNvPr id="29" name="Text Placeholder 3">
            <a:extLst>
              <a:ext uri="{FF2B5EF4-FFF2-40B4-BE49-F238E27FC236}">
                <a16:creationId xmlns:a16="http://schemas.microsoft.com/office/drawing/2014/main" id="{74C62763-7E47-39E3-9EDA-02623B1EA174}"/>
              </a:ext>
            </a:extLst>
          </p:cNvPr>
          <p:cNvSpPr txBox="1">
            <a:spLocks/>
          </p:cNvSpPr>
          <p:nvPr/>
        </p:nvSpPr>
        <p:spPr>
          <a:xfrm>
            <a:off x="616957" y="2991772"/>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Solution</a:t>
            </a:r>
          </a:p>
        </p:txBody>
      </p:sp>
      <p:sp>
        <p:nvSpPr>
          <p:cNvPr id="30" name="Text Placeholder 3">
            <a:extLst>
              <a:ext uri="{FF2B5EF4-FFF2-40B4-BE49-F238E27FC236}">
                <a16:creationId xmlns:a16="http://schemas.microsoft.com/office/drawing/2014/main" id="{08497A71-1FC2-4C9C-1403-E77C3E86BAFD}"/>
              </a:ext>
            </a:extLst>
          </p:cNvPr>
          <p:cNvSpPr txBox="1">
            <a:spLocks/>
          </p:cNvSpPr>
          <p:nvPr/>
        </p:nvSpPr>
        <p:spPr>
          <a:xfrm>
            <a:off x="620422" y="3255424"/>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Platform built on industry standard investment management data model covering public and private market front, middle and back-office data.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organized into different data domains in staging and curated layers. Data Vault model for DWH layer and Dimensional model for Data Marts.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Replication and integration of data using a combination of Qlik Compose, Qlik Replicate, Pentaho, SQL Server, APIs &amp; Snowflake native tools. </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Curation and business validation through different layers in Snowflake DWH.</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Access to Client specific DataMart's on Snowflake through Data Sharing with dedicated customer reader accounts.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Self-service BI and analytics access to clients via Portal,  API Based data access and Custom Parquet extracts.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SMEs to fine tune models, evaluate features, inferences and outcomes</a:t>
            </a:r>
          </a:p>
        </p:txBody>
      </p:sp>
      <p:sp>
        <p:nvSpPr>
          <p:cNvPr id="31" name="Text Placeholder 13">
            <a:extLst>
              <a:ext uri="{FF2B5EF4-FFF2-40B4-BE49-F238E27FC236}">
                <a16:creationId xmlns:a16="http://schemas.microsoft.com/office/drawing/2014/main" id="{A992B3D6-2084-399C-C4AA-7F7E9FAEDB4B}"/>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Financial Services</a:t>
            </a:r>
          </a:p>
        </p:txBody>
      </p:sp>
      <p:sp>
        <p:nvSpPr>
          <p:cNvPr id="32" name="TextBox 31">
            <a:extLst>
              <a:ext uri="{FF2B5EF4-FFF2-40B4-BE49-F238E27FC236}">
                <a16:creationId xmlns:a16="http://schemas.microsoft.com/office/drawing/2014/main" id="{BE7BD4C2-EE77-1233-8522-4D8B6E66CC48}"/>
              </a:ext>
            </a:extLst>
          </p:cNvPr>
          <p:cNvSpPr txBox="1"/>
          <p:nvPr/>
        </p:nvSpPr>
        <p:spPr>
          <a:xfrm>
            <a:off x="527005" y="498968"/>
            <a:ext cx="5494093"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latin typeface="Manrope"/>
              </a:rPr>
              <a:t>Case Study: Modernized Asset servicing platform for a global investment services provider</a:t>
            </a:r>
          </a:p>
        </p:txBody>
      </p:sp>
      <p:pic>
        <p:nvPicPr>
          <p:cNvPr id="5" name="Picture Placeholder 4" descr="A person and person looking at computers&#10;&#10;AI-generated content may be incorrect.">
            <a:extLst>
              <a:ext uri="{FF2B5EF4-FFF2-40B4-BE49-F238E27FC236}">
                <a16:creationId xmlns:a16="http://schemas.microsoft.com/office/drawing/2014/main" id="{4ACFE9D1-45C4-FB6D-E54A-3EDCC4C8F69C}"/>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a:fillRect/>
          </a:stretch>
        </p:blipFill>
        <p:spPr/>
      </p:pic>
      <p:sp>
        <p:nvSpPr>
          <p:cNvPr id="2" name="Text Placeholder 1">
            <a:extLst>
              <a:ext uri="{FF2B5EF4-FFF2-40B4-BE49-F238E27FC236}">
                <a16:creationId xmlns:a16="http://schemas.microsoft.com/office/drawing/2014/main" id="{B0F15031-151A-EF57-A967-FD832952E0C3}"/>
              </a:ext>
            </a:extLst>
          </p:cNvPr>
          <p:cNvSpPr txBox="1">
            <a:spLocks/>
          </p:cNvSpPr>
          <p:nvPr/>
        </p:nvSpPr>
        <p:spPr>
          <a:xfrm>
            <a:off x="720144" y="5926525"/>
            <a:ext cx="2179372"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b="0" i="0" u="none" strike="noStrike" kern="0" cap="none" spc="10" normalizeH="0" baseline="0" noProof="0">
                <a:ln>
                  <a:noFill/>
                </a:ln>
                <a:solidFill>
                  <a:srgbClr val="3C2DDA"/>
                </a:solidFill>
                <a:effectLst/>
                <a:uLnTx/>
                <a:uFillTx/>
                <a:latin typeface="Manrope"/>
              </a:rPr>
              <a:t>Lesser TCO due to increase in automation</a:t>
            </a:r>
          </a:p>
        </p:txBody>
      </p:sp>
      <p:sp>
        <p:nvSpPr>
          <p:cNvPr id="3" name="Text Placeholder 2">
            <a:extLst>
              <a:ext uri="{FF2B5EF4-FFF2-40B4-BE49-F238E27FC236}">
                <a16:creationId xmlns:a16="http://schemas.microsoft.com/office/drawing/2014/main" id="{50005A4A-55FE-99A6-1864-6F17911EC47F}"/>
              </a:ext>
            </a:extLst>
          </p:cNvPr>
          <p:cNvSpPr txBox="1">
            <a:spLocks/>
          </p:cNvSpPr>
          <p:nvPr/>
        </p:nvSpPr>
        <p:spPr>
          <a:xfrm>
            <a:off x="697652" y="5511028"/>
            <a:ext cx="1328752"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6</a:t>
            </a:r>
            <a:r>
              <a:rPr kumimoji="0" lang="en-US" b="0" i="0" u="none" strike="noStrike" kern="1200" cap="none" spc="0" normalizeH="0" baseline="0" noProof="0">
                <a:ln>
                  <a:noFill/>
                </a:ln>
                <a:solidFill>
                  <a:srgbClr val="3C2DDA"/>
                </a:solidFill>
                <a:effectLst/>
                <a:uLnTx/>
                <a:uFillTx/>
                <a:latin typeface="Manrope Light"/>
              </a:rPr>
              <a:t>0%</a:t>
            </a:r>
          </a:p>
        </p:txBody>
      </p:sp>
      <p:pic>
        <p:nvPicPr>
          <p:cNvPr id="4" name="Picture 2" descr="Asset Manager | State Street">
            <a:extLst>
              <a:ext uri="{FF2B5EF4-FFF2-40B4-BE49-F238E27FC236}">
                <a16:creationId xmlns:a16="http://schemas.microsoft.com/office/drawing/2014/main" id="{8AD9C39C-85E8-6201-8717-C573C165ED7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314121" y="239951"/>
            <a:ext cx="1316611" cy="359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002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BA3CD-4B2F-84C5-D63C-59C2F48850D5}"/>
            </a:ext>
          </a:extLst>
        </p:cNvPr>
        <p:cNvGrpSpPr/>
        <p:nvPr/>
      </p:nvGrpSpPr>
      <p:grpSpPr>
        <a:xfrm>
          <a:off x="0" y="0"/>
          <a:ext cx="0" cy="0"/>
          <a:chOff x="0" y="0"/>
          <a:chExt cx="0" cy="0"/>
        </a:xfrm>
      </p:grpSpPr>
      <p:sp>
        <p:nvSpPr>
          <p:cNvPr id="27" name="Text Placeholder 3">
            <a:extLst>
              <a:ext uri="{FF2B5EF4-FFF2-40B4-BE49-F238E27FC236}">
                <a16:creationId xmlns:a16="http://schemas.microsoft.com/office/drawing/2014/main" id="{1F42C914-862E-F281-8177-88314F9FB67C}"/>
              </a:ext>
            </a:extLst>
          </p:cNvPr>
          <p:cNvSpPr txBox="1">
            <a:spLocks/>
          </p:cNvSpPr>
          <p:nvPr/>
        </p:nvSpPr>
        <p:spPr>
          <a:xfrm>
            <a:off x="697652" y="1493413"/>
            <a:ext cx="5398348" cy="1488840"/>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Existing 12+ years application based on SQL Server had batch performance issues, challenges in scaling and took significant effort in adding new data elements.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System was limited to a few key stakeholders; however, the need is to make it available globally.</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Incurred £800,000 (OPEX) a year in data center hosting, licensing, application build and support.</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assets that were acquired by M&amp;A were not consolidated.</a:t>
            </a:r>
          </a:p>
        </p:txBody>
      </p:sp>
      <p:sp>
        <p:nvSpPr>
          <p:cNvPr id="28" name="Text Placeholder 3">
            <a:extLst>
              <a:ext uri="{FF2B5EF4-FFF2-40B4-BE49-F238E27FC236}">
                <a16:creationId xmlns:a16="http://schemas.microsoft.com/office/drawing/2014/main" id="{AD02DC6E-CD39-2F0F-C395-817E1E15FC21}"/>
              </a:ext>
            </a:extLst>
          </p:cNvPr>
          <p:cNvSpPr txBox="1">
            <a:spLocks/>
          </p:cNvSpPr>
          <p:nvPr/>
        </p:nvSpPr>
        <p:spPr>
          <a:xfrm>
            <a:off x="695324" y="1201222"/>
            <a:ext cx="1804036" cy="263652"/>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Business Problem</a:t>
            </a:r>
          </a:p>
        </p:txBody>
      </p:sp>
      <p:sp>
        <p:nvSpPr>
          <p:cNvPr id="29" name="Text Placeholder 3">
            <a:extLst>
              <a:ext uri="{FF2B5EF4-FFF2-40B4-BE49-F238E27FC236}">
                <a16:creationId xmlns:a16="http://schemas.microsoft.com/office/drawing/2014/main" id="{3B8C0297-FAF3-F5E9-6D94-DF287C51B738}"/>
              </a:ext>
            </a:extLst>
          </p:cNvPr>
          <p:cNvSpPr txBox="1">
            <a:spLocks/>
          </p:cNvSpPr>
          <p:nvPr/>
        </p:nvSpPr>
        <p:spPr>
          <a:xfrm>
            <a:off x="616957" y="2983592"/>
            <a:ext cx="1492150"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Solution</a:t>
            </a:r>
          </a:p>
        </p:txBody>
      </p:sp>
      <p:sp>
        <p:nvSpPr>
          <p:cNvPr id="30" name="Text Placeholder 3">
            <a:extLst>
              <a:ext uri="{FF2B5EF4-FFF2-40B4-BE49-F238E27FC236}">
                <a16:creationId xmlns:a16="http://schemas.microsoft.com/office/drawing/2014/main" id="{81036808-383B-7C04-098C-386DAA1459AA}"/>
              </a:ext>
            </a:extLst>
          </p:cNvPr>
          <p:cNvSpPr txBox="1">
            <a:spLocks/>
          </p:cNvSpPr>
          <p:nvPr/>
        </p:nvSpPr>
        <p:spPr>
          <a:xfrm>
            <a:off x="620422" y="3247244"/>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Propagate data to Snowflake., setup Snowflake tenants, platforms on AWS.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Snowflake Security frameworks set up for access, authentication, and authorization.</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Data migration from the first set of applications (Finance, HR for data mart)</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For Data Engineering, a combination of Dell Boomi, Custom code, and </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Snowpipe</a:t>
            </a: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components utilized.</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CI/CD framework established with Jenkins, GIT, </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BitBucket</a:t>
            </a: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 Flyaway, etc.</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Importing metadata into Collibra for Data Catalog.</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Reports and Dashboards through sed  &amp; executed a solution to move all </a:t>
            </a:r>
            <a:r>
              <a:rPr kumimoji="0" lang="en-US" sz="1000" b="0" i="0" u="none" strike="noStrike" kern="0" cap="none" spc="0" normalizeH="0" baseline="0" noProof="0" err="1">
                <a:ln>
                  <a:noFill/>
                </a:ln>
                <a:solidFill>
                  <a:srgbClr val="02051C"/>
                </a:solidFill>
                <a:effectLst/>
                <a:uLnTx/>
                <a:uFillTx/>
                <a:latin typeface="Manrope"/>
                <a:cs typeface="Segoe UI" panose="020B0502040204020203" pitchFamily="34" charset="0"/>
              </a:rPr>
              <a:t>PowerBI</a:t>
            </a:r>
            <a:endPar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endParaRPr>
          </a:p>
        </p:txBody>
      </p:sp>
      <p:sp>
        <p:nvSpPr>
          <p:cNvPr id="31" name="Text Placeholder 13">
            <a:extLst>
              <a:ext uri="{FF2B5EF4-FFF2-40B4-BE49-F238E27FC236}">
                <a16:creationId xmlns:a16="http://schemas.microsoft.com/office/drawing/2014/main" id="{246157FA-DD2E-A34F-946F-5DFAAF1BCC36}"/>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Financial Services</a:t>
            </a:r>
          </a:p>
        </p:txBody>
      </p:sp>
      <p:sp>
        <p:nvSpPr>
          <p:cNvPr id="32" name="TextBox 31">
            <a:extLst>
              <a:ext uri="{FF2B5EF4-FFF2-40B4-BE49-F238E27FC236}">
                <a16:creationId xmlns:a16="http://schemas.microsoft.com/office/drawing/2014/main" id="{AE5706AF-21EE-A7AB-BAF4-54E4D63CD3F9}"/>
              </a:ext>
            </a:extLst>
          </p:cNvPr>
          <p:cNvSpPr txBox="1"/>
          <p:nvPr/>
        </p:nvSpPr>
        <p:spPr>
          <a:xfrm>
            <a:off x="527005" y="498968"/>
            <a:ext cx="5494093"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latin typeface="Manrope"/>
              </a:rPr>
              <a:t>Case Study: Enhanced Data Agility by migration to Snowflake for a leading stock exchange firm</a:t>
            </a:r>
          </a:p>
        </p:txBody>
      </p:sp>
      <p:sp>
        <p:nvSpPr>
          <p:cNvPr id="45" name="Text Placeholder 1">
            <a:extLst>
              <a:ext uri="{FF2B5EF4-FFF2-40B4-BE49-F238E27FC236}">
                <a16:creationId xmlns:a16="http://schemas.microsoft.com/office/drawing/2014/main" id="{3C527851-C257-54B4-19A4-B051BCDC25C6}"/>
              </a:ext>
            </a:extLst>
          </p:cNvPr>
          <p:cNvSpPr txBox="1">
            <a:spLocks/>
          </p:cNvSpPr>
          <p:nvPr/>
        </p:nvSpPr>
        <p:spPr>
          <a:xfrm>
            <a:off x="639449" y="5483123"/>
            <a:ext cx="1942331" cy="574724"/>
          </a:xfrm>
          <a:prstGeom prst="rect">
            <a:avLst/>
          </a:prstGeom>
        </p:spPr>
        <p:txBody>
          <a:bodyPr lIns="0" tIns="0" rIns="0" bIns="0">
            <a:no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kern="0"/>
              <a:t>U</a:t>
            </a:r>
            <a:r>
              <a:rPr kumimoji="0" lang="en-US" b="0" i="0" u="none" strike="noStrike" kern="0" cap="none" spc="10" normalizeH="0" baseline="0" noProof="0" err="1">
                <a:ln>
                  <a:noFill/>
                </a:ln>
                <a:solidFill>
                  <a:srgbClr val="3C2DDA"/>
                </a:solidFill>
                <a:effectLst/>
                <a:uLnTx/>
                <a:uFillTx/>
                <a:latin typeface="Manrope"/>
              </a:rPr>
              <a:t>nified</a:t>
            </a:r>
            <a:r>
              <a:rPr kumimoji="0" lang="en-US" b="0" i="0" u="none" strike="noStrike" kern="0" cap="none" spc="10" normalizeH="0" baseline="0" noProof="0">
                <a:ln>
                  <a:noFill/>
                </a:ln>
                <a:solidFill>
                  <a:srgbClr val="3C2DDA"/>
                </a:solidFill>
                <a:effectLst/>
                <a:uLnTx/>
                <a:uFillTx/>
                <a:latin typeface="Manrope"/>
              </a:rPr>
              <a:t> platform for the data lake, data warehouse, and analytics reduced Total Cost of Ownership (TCO) while improving efficiency</a:t>
            </a:r>
          </a:p>
        </p:txBody>
      </p:sp>
      <p:sp>
        <p:nvSpPr>
          <p:cNvPr id="46" name="Text Placeholder 2">
            <a:extLst>
              <a:ext uri="{FF2B5EF4-FFF2-40B4-BE49-F238E27FC236}">
                <a16:creationId xmlns:a16="http://schemas.microsoft.com/office/drawing/2014/main" id="{77D1BA63-BC40-9DE8-514D-C505D8E7BA23}"/>
              </a:ext>
            </a:extLst>
          </p:cNvPr>
          <p:cNvSpPr txBox="1">
            <a:spLocks/>
          </p:cNvSpPr>
          <p:nvPr/>
        </p:nvSpPr>
        <p:spPr>
          <a:xfrm>
            <a:off x="616957" y="5067626"/>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3</a:t>
            </a:r>
            <a:r>
              <a:rPr kumimoji="0" lang="en-US" b="0" i="0" u="none" strike="noStrike" kern="1200" cap="none" spc="0" normalizeH="0" baseline="0" noProof="0">
                <a:ln>
                  <a:noFill/>
                </a:ln>
                <a:solidFill>
                  <a:srgbClr val="3C2DDA"/>
                </a:solidFill>
                <a:effectLst/>
                <a:uLnTx/>
                <a:uFillTx/>
                <a:latin typeface="Manrope Light"/>
              </a:rPr>
              <a:t>0%</a:t>
            </a:r>
          </a:p>
        </p:txBody>
      </p:sp>
      <p:pic>
        <p:nvPicPr>
          <p:cNvPr id="2" name="Picture 1" descr="A close up of a sign&#10;&#10;Description automatically generated">
            <a:extLst>
              <a:ext uri="{FF2B5EF4-FFF2-40B4-BE49-F238E27FC236}">
                <a16:creationId xmlns:a16="http://schemas.microsoft.com/office/drawing/2014/main" id="{477743B8-5D4B-F30E-58FE-31BB26F176D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006345" y="194080"/>
            <a:ext cx="1635815" cy="415498"/>
          </a:xfrm>
          <a:prstGeom prst="rect">
            <a:avLst/>
          </a:prstGeom>
        </p:spPr>
      </p:pic>
      <p:pic>
        <p:nvPicPr>
          <p:cNvPr id="6" name="Picture Placeholder 5" descr="A person holding a phone and looking at a computer screen&#10;&#10;AI-generated content may be incorrect.">
            <a:extLst>
              <a:ext uri="{FF2B5EF4-FFF2-40B4-BE49-F238E27FC236}">
                <a16:creationId xmlns:a16="http://schemas.microsoft.com/office/drawing/2014/main" id="{9C5E3547-1991-30E8-B39B-4D95BB918509}"/>
              </a:ext>
            </a:extLst>
          </p:cNvPr>
          <p:cNvPicPr>
            <a:picLocks noGrp="1" noChangeAspect="1"/>
          </p:cNvPicPr>
          <p:nvPr>
            <p:ph type="pic" sz="quarter" idx="17"/>
          </p:nvPr>
        </p:nvPicPr>
        <p:blipFill>
          <a:blip r:embed="rId4"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42465187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3947-B25B-6B6B-8115-8856ED255E64}"/>
            </a:ext>
          </a:extLst>
        </p:cNvPr>
        <p:cNvGrpSpPr/>
        <p:nvPr/>
      </p:nvGrpSpPr>
      <p:grpSpPr>
        <a:xfrm>
          <a:off x="0" y="0"/>
          <a:ext cx="0" cy="0"/>
          <a:chOff x="0" y="0"/>
          <a:chExt cx="0" cy="0"/>
        </a:xfrm>
      </p:grpSpPr>
      <p:sp>
        <p:nvSpPr>
          <p:cNvPr id="27" name="Text Placeholder 3">
            <a:extLst>
              <a:ext uri="{FF2B5EF4-FFF2-40B4-BE49-F238E27FC236}">
                <a16:creationId xmlns:a16="http://schemas.microsoft.com/office/drawing/2014/main" id="{C365D02E-9BA4-3B41-173B-D77F894953DF}"/>
              </a:ext>
            </a:extLst>
          </p:cNvPr>
          <p:cNvSpPr txBox="1">
            <a:spLocks/>
          </p:cNvSpPr>
          <p:nvPr/>
        </p:nvSpPr>
        <p:spPr>
          <a:xfrm>
            <a:off x="697652" y="1241263"/>
            <a:ext cx="5398348" cy="1488840"/>
          </a:xfrm>
          <a:prstGeom prst="rect">
            <a:avLst/>
          </a:prstGeom>
          <a:noFill/>
        </p:spPr>
        <p:txBody>
          <a:bodyPr wrap="square" lIns="0" tIns="0" rIns="0" bIns="0" rtlCol="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Retirement of ARC Snap Process currently consuming data from Teradata and other sources into S3 which is not working as expected for big data loads.</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Major Challenge lies in data validation after conversion. The tables are not mapped 1-1 between Snap and DL</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Modernization: Conversion of Tableau Dashboard Data Load queries and Other File based report queries from SNAP(Data stored in Teradata is loaded into snowflake)  to Data Lake (From Source system to Snowflake)</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Reduce dependency on legacy ETL solution like Talend</a:t>
            </a:r>
          </a:p>
        </p:txBody>
      </p:sp>
      <p:sp>
        <p:nvSpPr>
          <p:cNvPr id="28" name="Text Placeholder 3">
            <a:extLst>
              <a:ext uri="{FF2B5EF4-FFF2-40B4-BE49-F238E27FC236}">
                <a16:creationId xmlns:a16="http://schemas.microsoft.com/office/drawing/2014/main" id="{7EB933B5-E3D1-408C-44AF-22D00069EB62}"/>
              </a:ext>
            </a:extLst>
          </p:cNvPr>
          <p:cNvSpPr txBox="1">
            <a:spLocks/>
          </p:cNvSpPr>
          <p:nvPr/>
        </p:nvSpPr>
        <p:spPr>
          <a:xfrm>
            <a:off x="695323" y="949072"/>
            <a:ext cx="1737063" cy="263652"/>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Business Problem</a:t>
            </a:r>
          </a:p>
        </p:txBody>
      </p:sp>
      <p:sp>
        <p:nvSpPr>
          <p:cNvPr id="29" name="Text Placeholder 3">
            <a:extLst>
              <a:ext uri="{FF2B5EF4-FFF2-40B4-BE49-F238E27FC236}">
                <a16:creationId xmlns:a16="http://schemas.microsoft.com/office/drawing/2014/main" id="{2BD11445-3F22-03B1-9913-73D7E6D2D76C}"/>
              </a:ext>
            </a:extLst>
          </p:cNvPr>
          <p:cNvSpPr txBox="1">
            <a:spLocks/>
          </p:cNvSpPr>
          <p:nvPr/>
        </p:nvSpPr>
        <p:spPr>
          <a:xfrm>
            <a:off x="616956" y="2881677"/>
            <a:ext cx="1734357" cy="263652"/>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
                <a:srgbClr val="02051C"/>
              </a:buClr>
              <a:buSzTx/>
              <a:buFont typeface="Arial" panose="020B0604020202020204" pitchFamily="34" charset="0"/>
              <a:buNone/>
              <a:tabLst/>
              <a:defRPr/>
            </a:pPr>
            <a:r>
              <a:rPr kumimoji="0" lang="en-US" sz="1400" b="0" i="0" u="none" strike="noStrike" kern="1200" cap="none" spc="10" normalizeH="0" baseline="0" noProof="0">
                <a:ln>
                  <a:noFill/>
                </a:ln>
                <a:solidFill>
                  <a:srgbClr val="3C2DDA"/>
                </a:solidFill>
                <a:effectLst/>
                <a:uLnTx/>
                <a:uFillTx/>
                <a:latin typeface="Manrope Medium" pitchFamily="2" charset="0"/>
              </a:rPr>
              <a:t>Solution</a:t>
            </a:r>
          </a:p>
        </p:txBody>
      </p:sp>
      <p:sp>
        <p:nvSpPr>
          <p:cNvPr id="30" name="Text Placeholder 3">
            <a:extLst>
              <a:ext uri="{FF2B5EF4-FFF2-40B4-BE49-F238E27FC236}">
                <a16:creationId xmlns:a16="http://schemas.microsoft.com/office/drawing/2014/main" id="{2448CF50-86E9-499F-3F89-4F42199CC484}"/>
              </a:ext>
            </a:extLst>
          </p:cNvPr>
          <p:cNvSpPr txBox="1">
            <a:spLocks/>
          </p:cNvSpPr>
          <p:nvPr/>
        </p:nvSpPr>
        <p:spPr>
          <a:xfrm>
            <a:off x="620422" y="3145329"/>
            <a:ext cx="5400676" cy="1488840"/>
          </a:xfrm>
          <a:prstGeom prst="rect">
            <a:avLst/>
          </a:prstGeom>
        </p:spPr>
        <p:txBody>
          <a:bodyPr lIns="0" tIns="0" rIns="0" bIns="0">
            <a:no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Implemented common consumption layer for Clients to load data from source to Data Lake and then to Snowflake’s processed layer for further consumption.</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Migrated Talend transformation into  Snowflake native tools for both BI and custom Reporting purpose</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Tableau and Jaspersoft reports will consume the data from Snowflake Raw or data lake area depending on use case</a:t>
            </a:r>
          </a:p>
          <a:p>
            <a:pPr marL="171450" marR="0" lvl="0" indent="-171450" algn="l" defTabSz="914400" rtl="0" eaLnBrk="1" fontAlgn="auto" latinLnBrk="0" hangingPunct="1">
              <a:lnSpc>
                <a:spcPct val="100000"/>
              </a:lnSpc>
              <a:spcBef>
                <a:spcPts val="0"/>
              </a:spcBef>
              <a:spcAft>
                <a:spcPts val="300"/>
              </a:spcAft>
              <a:buClr>
                <a:srgbClr val="02051C"/>
              </a:buClr>
              <a:buSzTx/>
              <a:buFont typeface="Arial" panose="020B0604020202020204" pitchFamily="34" charset="0"/>
              <a:buChar char="•"/>
              <a:tabLst/>
              <a:defRPr/>
            </a:pPr>
            <a:r>
              <a:rPr kumimoji="0" lang="en-US" sz="1000" b="0" i="0" u="none" strike="noStrike" kern="0" cap="none" spc="0" normalizeH="0" baseline="0" noProof="0">
                <a:ln>
                  <a:noFill/>
                </a:ln>
                <a:solidFill>
                  <a:srgbClr val="02051C"/>
                </a:solidFill>
                <a:effectLst/>
                <a:uLnTx/>
                <a:uFillTx/>
                <a:latin typeface="Manrope"/>
                <a:cs typeface="Segoe UI" panose="020B0502040204020203" pitchFamily="34" charset="0"/>
              </a:rPr>
              <a:t>Advanced analytics can consume data right from Data lake layer</a:t>
            </a:r>
          </a:p>
        </p:txBody>
      </p:sp>
      <p:sp>
        <p:nvSpPr>
          <p:cNvPr id="31" name="Text Placeholder 13">
            <a:extLst>
              <a:ext uri="{FF2B5EF4-FFF2-40B4-BE49-F238E27FC236}">
                <a16:creationId xmlns:a16="http://schemas.microsoft.com/office/drawing/2014/main" id="{68F8D526-3CE5-ED95-CC30-896E12131E6B}"/>
              </a:ext>
            </a:extLst>
          </p:cNvPr>
          <p:cNvSpPr txBox="1">
            <a:spLocks/>
          </p:cNvSpPr>
          <p:nvPr/>
        </p:nvSpPr>
        <p:spPr>
          <a:xfrm flipH="1">
            <a:off x="620423" y="251859"/>
            <a:ext cx="5400675" cy="216401"/>
          </a:xfrm>
          <a:prstGeom prst="rect">
            <a:avLst/>
          </a:prstGeom>
        </p:spPr>
        <p:txBody>
          <a:bodyPr wrap="square" lIns="0" tIns="36000" rIns="0" bIns="0" anchor="t" anchorCtr="0">
            <a:no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500" b="0" i="0" u="none" strike="noStrike" kern="1200" cap="none" spc="0" normalizeH="0" baseline="0" noProof="0">
                <a:ln>
                  <a:noFill/>
                </a:ln>
                <a:solidFill>
                  <a:srgbClr val="000000"/>
                </a:solidFill>
                <a:effectLst/>
                <a:uLnTx/>
                <a:uFillTx/>
                <a:latin typeface="Manrope"/>
              </a:rPr>
              <a:t>Travel</a:t>
            </a:r>
          </a:p>
        </p:txBody>
      </p:sp>
      <p:sp>
        <p:nvSpPr>
          <p:cNvPr id="32" name="TextBox 31">
            <a:extLst>
              <a:ext uri="{FF2B5EF4-FFF2-40B4-BE49-F238E27FC236}">
                <a16:creationId xmlns:a16="http://schemas.microsoft.com/office/drawing/2014/main" id="{2BDC6F88-A178-4AD8-E11F-1A1F36087AE3}"/>
              </a:ext>
            </a:extLst>
          </p:cNvPr>
          <p:cNvSpPr txBox="1"/>
          <p:nvPr/>
        </p:nvSpPr>
        <p:spPr>
          <a:xfrm>
            <a:off x="527005" y="498968"/>
            <a:ext cx="5494093"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a:ln>
                  <a:noFill/>
                </a:ln>
                <a:solidFill>
                  <a:srgbClr val="000000"/>
                </a:solidFill>
                <a:effectLst/>
                <a:uLnTx/>
                <a:uFillTx/>
                <a:latin typeface="Manrope"/>
              </a:rPr>
              <a:t>Case Study: Data Sharing Platform for a global airlines ticket transaction &amp; settlement services provider</a:t>
            </a:r>
          </a:p>
        </p:txBody>
      </p:sp>
      <p:sp>
        <p:nvSpPr>
          <p:cNvPr id="2" name="Text Placeholder 1">
            <a:extLst>
              <a:ext uri="{FF2B5EF4-FFF2-40B4-BE49-F238E27FC236}">
                <a16:creationId xmlns:a16="http://schemas.microsoft.com/office/drawing/2014/main" id="{2AA68319-C302-6857-48DF-F649C9FCD691}"/>
              </a:ext>
            </a:extLst>
          </p:cNvPr>
          <p:cNvSpPr txBox="1">
            <a:spLocks/>
          </p:cNvSpPr>
          <p:nvPr/>
        </p:nvSpPr>
        <p:spPr>
          <a:xfrm>
            <a:off x="616957" y="5616737"/>
            <a:ext cx="1948116"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Faster Data processing using Snowflake native tools </a:t>
            </a:r>
          </a:p>
        </p:txBody>
      </p:sp>
      <p:sp>
        <p:nvSpPr>
          <p:cNvPr id="3" name="Text Placeholder 2">
            <a:extLst>
              <a:ext uri="{FF2B5EF4-FFF2-40B4-BE49-F238E27FC236}">
                <a16:creationId xmlns:a16="http://schemas.microsoft.com/office/drawing/2014/main" id="{9BE02506-BAAD-C63E-A015-870FAA9480BC}"/>
              </a:ext>
            </a:extLst>
          </p:cNvPr>
          <p:cNvSpPr txBox="1">
            <a:spLocks/>
          </p:cNvSpPr>
          <p:nvPr/>
        </p:nvSpPr>
        <p:spPr>
          <a:xfrm>
            <a:off x="594464" y="5201240"/>
            <a:ext cx="1325775"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1.5X-2</a:t>
            </a:r>
            <a:r>
              <a:rPr kumimoji="0" lang="en-US" b="0" i="0" u="none" strike="noStrike" kern="1200" cap="none" spc="0" normalizeH="0" baseline="0" noProof="0">
                <a:ln>
                  <a:noFill/>
                </a:ln>
                <a:solidFill>
                  <a:srgbClr val="3C2DDA"/>
                </a:solidFill>
                <a:effectLst/>
                <a:uLnTx/>
                <a:uFillTx/>
                <a:latin typeface="Manrope Light"/>
              </a:rPr>
              <a:t>X</a:t>
            </a:r>
          </a:p>
        </p:txBody>
      </p:sp>
      <p:sp>
        <p:nvSpPr>
          <p:cNvPr id="4" name="Text Placeholder 1">
            <a:extLst>
              <a:ext uri="{FF2B5EF4-FFF2-40B4-BE49-F238E27FC236}">
                <a16:creationId xmlns:a16="http://schemas.microsoft.com/office/drawing/2014/main" id="{5681B95E-2071-8556-DEA6-670A59D4D9AC}"/>
              </a:ext>
            </a:extLst>
          </p:cNvPr>
          <p:cNvSpPr txBox="1">
            <a:spLocks/>
          </p:cNvSpPr>
          <p:nvPr/>
        </p:nvSpPr>
        <p:spPr>
          <a:xfrm>
            <a:off x="2542624" y="5616737"/>
            <a:ext cx="1948116" cy="415499"/>
          </a:xfrm>
          <a:prstGeom prst="rect">
            <a:avLst/>
          </a:prstGeom>
        </p:spPr>
        <p:txBody>
          <a:bodyPr lIns="0" tIns="0" rIns="0" bIns="0">
            <a:normAutofit/>
          </a:bodyPr>
          <a:lstStyle>
            <a:defPPr>
              <a:defRPr lang="en-US"/>
            </a:defPPr>
            <a:lvl1pPr marR="0" lvl="0" indent="0" fontAlgn="auto">
              <a:lnSpc>
                <a:spcPct val="90000"/>
              </a:lnSpc>
              <a:spcBef>
                <a:spcPts val="1000"/>
              </a:spcBef>
              <a:spcAft>
                <a:spcPts val="0"/>
              </a:spcAft>
              <a:buClr>
                <a:srgbClr val="3C2DDA"/>
              </a:buClr>
              <a:buSzTx/>
              <a:buFont typeface="Arial" panose="020B0604020202020204" pitchFamily="34" charset="0"/>
              <a:buNone/>
              <a:tabLst/>
              <a:defRPr sz="1000" spc="10" baseline="0">
                <a:solidFill>
                  <a:srgbClr val="3C2DDA"/>
                </a:solidFill>
                <a:latin typeface="Manrope"/>
              </a:defRPr>
            </a:lvl1pPr>
            <a:lvl2pPr marL="685800" indent="-228600">
              <a:lnSpc>
                <a:spcPct val="90000"/>
              </a:lnSpc>
              <a:spcBef>
                <a:spcPts val="500"/>
              </a:spcBef>
              <a:buClr>
                <a:schemeClr val="accent1"/>
              </a:buClr>
              <a:buFont typeface="Arial" panose="020B0604020202020204" pitchFamily="34" charset="0"/>
              <a:buChar char="•"/>
              <a:defRPr sz="1400"/>
            </a:lvl2pPr>
            <a:lvl3pPr marL="1143000" indent="-228600">
              <a:lnSpc>
                <a:spcPct val="90000"/>
              </a:lnSpc>
              <a:spcBef>
                <a:spcPts val="500"/>
              </a:spcBef>
              <a:buClr>
                <a:schemeClr val="accent1"/>
              </a:buClr>
              <a:buFont typeface="Arial" panose="020B0604020202020204" pitchFamily="34" charset="0"/>
              <a:buChar char="•"/>
              <a:defRPr sz="1400"/>
            </a:lvl3pPr>
            <a:lvl4pPr marL="1600200" indent="-228600">
              <a:lnSpc>
                <a:spcPct val="90000"/>
              </a:lnSpc>
              <a:spcBef>
                <a:spcPts val="500"/>
              </a:spcBef>
              <a:buClr>
                <a:schemeClr val="accent1"/>
              </a:buClr>
              <a:buFont typeface="Arial" panose="020B0604020202020204" pitchFamily="34" charset="0"/>
              <a:buChar char="•"/>
              <a:defRPr sz="1400"/>
            </a:lvl4pPr>
            <a:lvl5pPr marL="2057400" indent="-228600">
              <a:lnSpc>
                <a:spcPct val="90000"/>
              </a:lnSpc>
              <a:spcBef>
                <a:spcPts val="500"/>
              </a:spcBef>
              <a:buClr>
                <a:schemeClr val="accent1"/>
              </a:buClr>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kumimoji="0" lang="en-US" sz="1000" b="0" i="0" u="none" strike="noStrike" kern="0" cap="none" spc="10" normalizeH="0" baseline="0" noProof="0">
                <a:ln>
                  <a:noFill/>
                </a:ln>
                <a:solidFill>
                  <a:srgbClr val="3C2DDA"/>
                </a:solidFill>
                <a:effectLst/>
                <a:uLnTx/>
                <a:uFillTx/>
                <a:latin typeface="Manrope"/>
              </a:rPr>
              <a:t>Savings in Data sharing for Reporting and advanced analytics team for analysis</a:t>
            </a:r>
          </a:p>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endParaRPr kumimoji="0" lang="en-US" sz="1000" b="0" i="0" u="none" strike="noStrike" kern="0" cap="none" spc="10" normalizeH="0" baseline="0" noProof="0">
              <a:ln>
                <a:noFill/>
              </a:ln>
              <a:solidFill>
                <a:srgbClr val="3C2DDA"/>
              </a:solidFill>
              <a:effectLst/>
              <a:uLnTx/>
              <a:uFillTx/>
              <a:latin typeface="Manrope"/>
            </a:endParaRPr>
          </a:p>
        </p:txBody>
      </p:sp>
      <p:sp>
        <p:nvSpPr>
          <p:cNvPr id="5" name="Text Placeholder 2">
            <a:extLst>
              <a:ext uri="{FF2B5EF4-FFF2-40B4-BE49-F238E27FC236}">
                <a16:creationId xmlns:a16="http://schemas.microsoft.com/office/drawing/2014/main" id="{6D074C9B-060A-FE47-6C9E-7B80A328B404}"/>
              </a:ext>
            </a:extLst>
          </p:cNvPr>
          <p:cNvSpPr txBox="1">
            <a:spLocks/>
          </p:cNvSpPr>
          <p:nvPr/>
        </p:nvSpPr>
        <p:spPr>
          <a:xfrm>
            <a:off x="2520132" y="5201240"/>
            <a:ext cx="118775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3C2DDA"/>
              </a:buClr>
              <a:buSzTx/>
              <a:buFont typeface="Arial" panose="020B0604020202020204" pitchFamily="34" charset="0"/>
              <a:buNone/>
              <a:tabLst/>
              <a:defRPr/>
            </a:pPr>
            <a:r>
              <a:rPr lang="en-US">
                <a:solidFill>
                  <a:srgbClr val="3C2DDA"/>
                </a:solidFill>
                <a:latin typeface="Manrope Light"/>
              </a:rPr>
              <a:t>2</a:t>
            </a:r>
            <a:r>
              <a:rPr kumimoji="0" lang="en-US" b="0" i="0" u="none" strike="noStrike" kern="1200" cap="none" spc="0" normalizeH="0" baseline="0" noProof="0">
                <a:ln>
                  <a:noFill/>
                </a:ln>
                <a:solidFill>
                  <a:srgbClr val="3C2DDA"/>
                </a:solidFill>
                <a:effectLst/>
                <a:uLnTx/>
                <a:uFillTx/>
                <a:latin typeface="Manrope Light"/>
              </a:rPr>
              <a:t>0%</a:t>
            </a:r>
          </a:p>
        </p:txBody>
      </p:sp>
      <p:pic>
        <p:nvPicPr>
          <p:cNvPr id="6" name="Picture 5">
            <a:extLst>
              <a:ext uri="{FF2B5EF4-FFF2-40B4-BE49-F238E27FC236}">
                <a16:creationId xmlns:a16="http://schemas.microsoft.com/office/drawing/2014/main" id="{6040682B-2E58-F224-658D-1C3EE4727310}"/>
              </a:ext>
            </a:extLst>
          </p:cNvPr>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015870" y="280813"/>
            <a:ext cx="690117" cy="27520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Placeholder 9" descr="A plane flying in the sky&#10;&#10;AI-generated content may be incorrect.">
            <a:extLst>
              <a:ext uri="{FF2B5EF4-FFF2-40B4-BE49-F238E27FC236}">
                <a16:creationId xmlns:a16="http://schemas.microsoft.com/office/drawing/2014/main" id="{C8F25B86-285E-9177-19E3-6B906A3A6F60}"/>
              </a:ext>
            </a:extLst>
          </p:cNvPr>
          <p:cNvPicPr>
            <a:picLocks noGrp="1" noChangeAspect="1"/>
          </p:cNvPicPr>
          <p:nvPr>
            <p:ph type="pic" sz="quarter" idx="17"/>
          </p:nvPr>
        </p:nvPicPr>
        <p:blipFill>
          <a:blip r:embed="rId4"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38867798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D1B83-E134-642C-469F-F1E57E39EE3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53E8F69-6AC9-47AE-2089-2F0E4231B08A}"/>
              </a:ext>
            </a:extLst>
          </p:cNvPr>
          <p:cNvSpPr>
            <a:spLocks noGrp="1"/>
          </p:cNvSpPr>
          <p:nvPr>
            <p:ph type="body" sz="quarter" idx="20"/>
          </p:nvPr>
        </p:nvSpPr>
        <p:spPr>
          <a:xfrm>
            <a:off x="623888" y="1308371"/>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sp>
        <p:nvSpPr>
          <p:cNvPr id="22" name="Picture Placeholder 21">
            <a:extLst>
              <a:ext uri="{FF2B5EF4-FFF2-40B4-BE49-F238E27FC236}">
                <a16:creationId xmlns:a16="http://schemas.microsoft.com/office/drawing/2014/main" id="{D12C6F4F-144F-CECE-3662-E172A723A806}"/>
              </a:ext>
            </a:extLst>
          </p:cNvPr>
          <p:cNvSpPr>
            <a:spLocks noGrp="1"/>
          </p:cNvSpPr>
          <p:nvPr>
            <p:ph type="pic" sz="quarter" idx="17"/>
          </p:nvPr>
        </p:nvSpPr>
        <p:spPr/>
        <p:txBody>
          <a:bodyPr/>
          <a:lstStyle/>
          <a:p>
            <a:endParaRPr lang="en-US"/>
          </a:p>
        </p:txBody>
      </p:sp>
      <p:sp>
        <p:nvSpPr>
          <p:cNvPr id="14" name="Text Placeholder 13">
            <a:extLst>
              <a:ext uri="{FF2B5EF4-FFF2-40B4-BE49-F238E27FC236}">
                <a16:creationId xmlns:a16="http://schemas.microsoft.com/office/drawing/2014/main" id="{040D0197-B677-328B-F93B-8CD0955036A1}"/>
              </a:ext>
            </a:extLst>
          </p:cNvPr>
          <p:cNvSpPr>
            <a:spLocks noGrp="1"/>
          </p:cNvSpPr>
          <p:nvPr>
            <p:ph type="body" sz="quarter" idx="21"/>
          </p:nvPr>
        </p:nvSpPr>
        <p:spPr>
          <a:xfrm flipH="1">
            <a:off x="623887" y="457200"/>
            <a:ext cx="5400675" cy="216401"/>
          </a:xfrm>
        </p:spPr>
        <p:txBody>
          <a:bodyPr/>
          <a:lstStyle/>
          <a:p>
            <a:r>
              <a:rPr lang="en-US"/>
              <a:t>Manufacturing</a:t>
            </a:r>
          </a:p>
        </p:txBody>
      </p:sp>
      <p:sp>
        <p:nvSpPr>
          <p:cNvPr id="45" name="TextBox 44">
            <a:extLst>
              <a:ext uri="{FF2B5EF4-FFF2-40B4-BE49-F238E27FC236}">
                <a16:creationId xmlns:a16="http://schemas.microsoft.com/office/drawing/2014/main" id="{E8A4C426-F037-A010-BD09-87295A2D73D8}"/>
              </a:ext>
            </a:extLst>
          </p:cNvPr>
          <p:cNvSpPr txBox="1"/>
          <p:nvPr/>
        </p:nvSpPr>
        <p:spPr>
          <a:xfrm>
            <a:off x="530469" y="1614743"/>
            <a:ext cx="5494093" cy="861774"/>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It is uncertain which opportunity will turn into an order</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Huge number of “Opportunities” makes it challenging to allocate marketing efforts effectively</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Therefore, it is difficult to prioritize one opportunity over another due to the lack of certainty regarding their conversion potential</a:t>
            </a:r>
          </a:p>
        </p:txBody>
      </p:sp>
      <p:sp>
        <p:nvSpPr>
          <p:cNvPr id="3" name="TextBox 2">
            <a:extLst>
              <a:ext uri="{FF2B5EF4-FFF2-40B4-BE49-F238E27FC236}">
                <a16:creationId xmlns:a16="http://schemas.microsoft.com/office/drawing/2014/main" id="{5FE9D1D1-4372-4138-4BCE-0937BA447E2B}"/>
              </a:ext>
            </a:extLst>
          </p:cNvPr>
          <p:cNvSpPr txBox="1"/>
          <p:nvPr/>
        </p:nvSpPr>
        <p:spPr>
          <a:xfrm>
            <a:off x="530469" y="704309"/>
            <a:ext cx="5494093" cy="430887"/>
          </a:xfrm>
          <a:prstGeom prst="rect">
            <a:avLst/>
          </a:prstGeom>
          <a:noFill/>
        </p:spPr>
        <p:txBody>
          <a:bodyPr wrap="square">
            <a:spAutoFit/>
          </a:bodyPr>
          <a:lstStyle/>
          <a:p>
            <a:r>
              <a:rPr lang="en-US" sz="1050"/>
              <a:t>Case Study: Opportunity Win/loss Prediction Using AI/ML for a Leading Electronics and Imaging Company</a:t>
            </a:r>
          </a:p>
        </p:txBody>
      </p:sp>
      <p:sp>
        <p:nvSpPr>
          <p:cNvPr id="6" name="Text Placeholder 3">
            <a:extLst>
              <a:ext uri="{FF2B5EF4-FFF2-40B4-BE49-F238E27FC236}">
                <a16:creationId xmlns:a16="http://schemas.microsoft.com/office/drawing/2014/main" id="{C0A76FFA-A08B-02FA-25A6-3D1053F6C2C4}"/>
              </a:ext>
            </a:extLst>
          </p:cNvPr>
          <p:cNvSpPr txBox="1">
            <a:spLocks/>
          </p:cNvSpPr>
          <p:nvPr/>
        </p:nvSpPr>
        <p:spPr>
          <a:xfrm>
            <a:off x="623888" y="2973048"/>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400">
                <a:solidFill>
                  <a:schemeClr val="accent1"/>
                </a:solidFill>
                <a:latin typeface="Manrope Medium" pitchFamily="2" charset="0"/>
              </a:rPr>
              <a:t>Solution</a:t>
            </a:r>
          </a:p>
        </p:txBody>
      </p:sp>
      <p:sp>
        <p:nvSpPr>
          <p:cNvPr id="7" name="TextBox 6">
            <a:extLst>
              <a:ext uri="{FF2B5EF4-FFF2-40B4-BE49-F238E27FC236}">
                <a16:creationId xmlns:a16="http://schemas.microsoft.com/office/drawing/2014/main" id="{FE03F6E2-7BBC-1078-E521-C8DE8A29C2B6}"/>
              </a:ext>
            </a:extLst>
          </p:cNvPr>
          <p:cNvSpPr txBox="1"/>
          <p:nvPr/>
        </p:nvSpPr>
        <p:spPr>
          <a:xfrm>
            <a:off x="530469" y="3279420"/>
            <a:ext cx="5494093" cy="1477328"/>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The development activities were carried out inside snowflake </a:t>
            </a:r>
            <a:r>
              <a:rPr kumimoji="0" lang="en-US" sz="1000" i="0" u="none" strike="noStrike" kern="1200" cap="none" spc="0" normalizeH="0" baseline="0" noProof="0" err="1">
                <a:ln>
                  <a:noFill/>
                </a:ln>
                <a:solidFill>
                  <a:srgbClr val="000000"/>
                </a:solidFill>
                <a:effectLst/>
                <a:uLnTx/>
                <a:uFillTx/>
                <a:latin typeface="Manrope"/>
              </a:rPr>
              <a:t>snowsight</a:t>
            </a:r>
            <a:r>
              <a:rPr kumimoji="0" lang="en-US" sz="1000" i="0" u="none" strike="noStrike" kern="1200" cap="none" spc="0" normalizeH="0" baseline="0" noProof="0">
                <a:ln>
                  <a:noFill/>
                </a:ln>
                <a:solidFill>
                  <a:srgbClr val="000000"/>
                </a:solidFill>
                <a:effectLst/>
                <a:uLnTx/>
                <a:uFillTx/>
                <a:latin typeface="Manrope"/>
              </a:rPr>
              <a:t> UI.</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The data was fetched from database in batches and stored inside Snowflake stages.</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Preprocessed the data in Snowflake and identified the required columns using feature engineering. </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Built a machine learning model using a stacking classifier and predicted whether an opportunity would convert to order. The Data used for machine ;earning model is received from Snowflake.</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Built a user interface where open opportunities are fetched based on selected date range and win/loss predictions are generated</a:t>
            </a:r>
          </a:p>
        </p:txBody>
      </p:sp>
      <p:sp>
        <p:nvSpPr>
          <p:cNvPr id="8" name="Text Placeholder 22">
            <a:extLst>
              <a:ext uri="{FF2B5EF4-FFF2-40B4-BE49-F238E27FC236}">
                <a16:creationId xmlns:a16="http://schemas.microsoft.com/office/drawing/2014/main" id="{A618EDDB-81D5-C108-79B4-C07AB45BB273}"/>
              </a:ext>
            </a:extLst>
          </p:cNvPr>
          <p:cNvSpPr>
            <a:spLocks noGrp="1"/>
          </p:cNvSpPr>
          <p:nvPr>
            <p:ph type="body" sz="quarter" idx="18"/>
          </p:nvPr>
        </p:nvSpPr>
        <p:spPr>
          <a:xfrm>
            <a:off x="623887" y="5701573"/>
            <a:ext cx="2306881" cy="599363"/>
          </a:xfrm>
        </p:spPr>
        <p:txBody>
          <a:bodyPr>
            <a:normAutofit/>
          </a:bodyPr>
          <a:lstStyle/>
          <a:p>
            <a:r>
              <a:rPr kumimoji="0" lang="en-US" b="0" i="0" u="none" strike="noStrike" kern="1200" cap="none" spc="10" normalizeH="0" baseline="0" noProof="0">
                <a:ln>
                  <a:noFill/>
                </a:ln>
                <a:solidFill>
                  <a:srgbClr val="3C2CDA"/>
                </a:solidFill>
                <a:effectLst/>
                <a:uLnTx/>
                <a:uFillTx/>
                <a:latin typeface="Manrope"/>
              </a:rPr>
              <a:t>Worth of opportunities  recommendation per month using  win/loss prediction model</a:t>
            </a:r>
          </a:p>
        </p:txBody>
      </p:sp>
      <p:sp>
        <p:nvSpPr>
          <p:cNvPr id="9" name="Text Placeholder 23">
            <a:extLst>
              <a:ext uri="{FF2B5EF4-FFF2-40B4-BE49-F238E27FC236}">
                <a16:creationId xmlns:a16="http://schemas.microsoft.com/office/drawing/2014/main" id="{F3E16EBB-58AF-4857-BE34-A333FEA018FB}"/>
              </a:ext>
            </a:extLst>
          </p:cNvPr>
          <p:cNvSpPr>
            <a:spLocks noGrp="1"/>
          </p:cNvSpPr>
          <p:nvPr>
            <p:ph type="body" sz="quarter" idx="19"/>
          </p:nvPr>
        </p:nvSpPr>
        <p:spPr>
          <a:xfrm>
            <a:off x="623888" y="5290833"/>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3000" b="0" i="0" u="none" strike="noStrike" kern="1200" cap="none" spc="0" normalizeH="0" baseline="0" noProof="0">
                <a:ln>
                  <a:noFill/>
                </a:ln>
                <a:solidFill>
                  <a:srgbClr val="3C2CDA"/>
                </a:solidFill>
                <a:effectLst/>
                <a:uLnTx/>
                <a:uFillTx/>
                <a:latin typeface="Manrope Light"/>
              </a:rPr>
              <a:t>$ 3.3 M</a:t>
            </a:r>
          </a:p>
        </p:txBody>
      </p:sp>
      <p:sp>
        <p:nvSpPr>
          <p:cNvPr id="10" name="Text Placeholder 24">
            <a:extLst>
              <a:ext uri="{FF2B5EF4-FFF2-40B4-BE49-F238E27FC236}">
                <a16:creationId xmlns:a16="http://schemas.microsoft.com/office/drawing/2014/main" id="{C8983C84-3142-3A65-30F0-431A557C45F6}"/>
              </a:ext>
            </a:extLst>
          </p:cNvPr>
          <p:cNvSpPr>
            <a:spLocks noGrp="1"/>
          </p:cNvSpPr>
          <p:nvPr>
            <p:ph type="body" sz="quarter" idx="24"/>
          </p:nvPr>
        </p:nvSpPr>
        <p:spPr>
          <a:xfrm>
            <a:off x="3321630" y="5708501"/>
            <a:ext cx="1836478" cy="415498"/>
          </a:xfrm>
        </p:spPr>
        <p:txBody>
          <a:bodyPr>
            <a:normAutofit/>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b="0" i="0" u="none" strike="noStrike" kern="1200" cap="none" spc="10" normalizeH="0" baseline="0" noProof="0">
                <a:ln>
                  <a:noFill/>
                </a:ln>
                <a:solidFill>
                  <a:srgbClr val="3C2CDA"/>
                </a:solidFill>
                <a:effectLst/>
                <a:uLnTx/>
                <a:uFillTx/>
                <a:latin typeface="Manrope"/>
              </a:rPr>
              <a:t>Reduction in reliance on manual process to predict opportunity win/loss</a:t>
            </a:r>
            <a:r>
              <a:rPr kumimoji="0" lang="en-US" b="0" i="0" u="none" strike="noStrike" kern="1200" cap="none" spc="10" normalizeH="0" baseline="0" noProof="0">
                <a:ln>
                  <a:noFill/>
                </a:ln>
                <a:solidFill>
                  <a:schemeClr val="tx1"/>
                </a:solidFill>
                <a:effectLst/>
                <a:uLnTx/>
                <a:uFillTx/>
                <a:latin typeface="Manrope"/>
              </a:rPr>
              <a:t>.</a:t>
            </a:r>
          </a:p>
        </p:txBody>
      </p:sp>
      <p:sp>
        <p:nvSpPr>
          <p:cNvPr id="11" name="Text Placeholder 25">
            <a:extLst>
              <a:ext uri="{FF2B5EF4-FFF2-40B4-BE49-F238E27FC236}">
                <a16:creationId xmlns:a16="http://schemas.microsoft.com/office/drawing/2014/main" id="{DB54B847-07F7-08D5-4E2B-37C829B6854D}"/>
              </a:ext>
            </a:extLst>
          </p:cNvPr>
          <p:cNvSpPr>
            <a:spLocks noGrp="1"/>
          </p:cNvSpPr>
          <p:nvPr>
            <p:ph type="body" sz="quarter" idx="25"/>
          </p:nvPr>
        </p:nvSpPr>
        <p:spPr>
          <a:xfrm>
            <a:off x="3321629" y="5290833"/>
            <a:ext cx="1234991" cy="415498"/>
          </a:xfrm>
        </p:spPr>
        <p:txBody>
          <a:bodyPr/>
          <a:lstStyle/>
          <a:p>
            <a:r>
              <a:rPr kumimoji="0" lang="en-US" sz="3000" b="0" i="0" u="none" strike="noStrike" kern="1200" cap="none" spc="0" normalizeH="0" baseline="0" noProof="0">
                <a:ln>
                  <a:noFill/>
                </a:ln>
                <a:solidFill>
                  <a:srgbClr val="3C2CDA"/>
                </a:solidFill>
                <a:effectLst/>
                <a:uLnTx/>
                <a:uFillTx/>
                <a:latin typeface="Manrope Light"/>
              </a:rPr>
              <a:t>80%</a:t>
            </a:r>
          </a:p>
        </p:txBody>
      </p:sp>
      <p:pic>
        <p:nvPicPr>
          <p:cNvPr id="2" name="Picture 2">
            <a:extLst>
              <a:ext uri="{FF2B5EF4-FFF2-40B4-BE49-F238E27FC236}">
                <a16:creationId xmlns:a16="http://schemas.microsoft.com/office/drawing/2014/main" id="{7F2255B6-F6FA-4481-51F9-DC48F70A375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675628" y="294367"/>
            <a:ext cx="949862" cy="32566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Placeholder 7" descr="A person using a printer&#10;&#10;Description automatically generated">
            <a:extLst>
              <a:ext uri="{FF2B5EF4-FFF2-40B4-BE49-F238E27FC236}">
                <a16:creationId xmlns:a16="http://schemas.microsoft.com/office/drawing/2014/main" id="{4A8959BB-2FA7-1ED3-5497-06889BB8C2C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438900" y="906734"/>
            <a:ext cx="5753100" cy="4856084"/>
          </a:xfrm>
          <a:prstGeom prst="rect">
            <a:avLst/>
          </a:prstGeom>
        </p:spPr>
      </p:pic>
    </p:spTree>
    <p:extLst>
      <p:ext uri="{BB962C8B-B14F-4D97-AF65-F5344CB8AC3E}">
        <p14:creationId xmlns:p14="http://schemas.microsoft.com/office/powerpoint/2010/main" val="36977598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A154-4654-0ED2-91EC-133E16F9CB7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60D271E-EE75-E8E3-8CCC-01AAF871C4D1}"/>
              </a:ext>
            </a:extLst>
          </p:cNvPr>
          <p:cNvSpPr>
            <a:spLocks noGrp="1"/>
          </p:cNvSpPr>
          <p:nvPr>
            <p:ph type="body" sz="quarter" idx="20"/>
          </p:nvPr>
        </p:nvSpPr>
        <p:spPr>
          <a:xfrm>
            <a:off x="623888" y="1497057"/>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pic>
        <p:nvPicPr>
          <p:cNvPr id="12" name="Picture Placeholder 11" descr="A large printer in a room&#10;&#10;AI-generated content may be incorrect.">
            <a:extLst>
              <a:ext uri="{FF2B5EF4-FFF2-40B4-BE49-F238E27FC236}">
                <a16:creationId xmlns:a16="http://schemas.microsoft.com/office/drawing/2014/main" id="{EFD5B5E4-90CC-2EA2-D915-8BF2DAF3F818}"/>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a:fillRect/>
          </a:stretch>
        </p:blipFill>
        <p:spPr/>
      </p:pic>
      <p:sp>
        <p:nvSpPr>
          <p:cNvPr id="14" name="Text Placeholder 13">
            <a:extLst>
              <a:ext uri="{FF2B5EF4-FFF2-40B4-BE49-F238E27FC236}">
                <a16:creationId xmlns:a16="http://schemas.microsoft.com/office/drawing/2014/main" id="{8766D5A4-D3F6-9C49-8E61-023C684D4906}"/>
              </a:ext>
            </a:extLst>
          </p:cNvPr>
          <p:cNvSpPr>
            <a:spLocks noGrp="1"/>
          </p:cNvSpPr>
          <p:nvPr>
            <p:ph type="body" sz="quarter" idx="21"/>
          </p:nvPr>
        </p:nvSpPr>
        <p:spPr>
          <a:xfrm flipH="1">
            <a:off x="623887" y="457200"/>
            <a:ext cx="5400675" cy="216401"/>
          </a:xfrm>
        </p:spPr>
        <p:txBody>
          <a:bodyPr/>
          <a:lstStyle/>
          <a:p>
            <a:r>
              <a:rPr lang="en-US"/>
              <a:t>Manufacturing</a:t>
            </a:r>
          </a:p>
        </p:txBody>
      </p:sp>
      <p:sp>
        <p:nvSpPr>
          <p:cNvPr id="45" name="TextBox 44">
            <a:extLst>
              <a:ext uri="{FF2B5EF4-FFF2-40B4-BE49-F238E27FC236}">
                <a16:creationId xmlns:a16="http://schemas.microsoft.com/office/drawing/2014/main" id="{9345FAD9-A8BB-5BF5-0569-F83AA3D39476}"/>
              </a:ext>
            </a:extLst>
          </p:cNvPr>
          <p:cNvSpPr txBox="1"/>
          <p:nvPr/>
        </p:nvSpPr>
        <p:spPr>
          <a:xfrm>
            <a:off x="530469" y="1803429"/>
            <a:ext cx="5494093" cy="707886"/>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The marketing team aims to understand the time required for each opportunity to convert into an order</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Currently, the marketing team is not able to efficiently plan for an opportunity as conversion time is unknown</a:t>
            </a:r>
          </a:p>
        </p:txBody>
      </p:sp>
      <p:sp>
        <p:nvSpPr>
          <p:cNvPr id="3" name="TextBox 2">
            <a:extLst>
              <a:ext uri="{FF2B5EF4-FFF2-40B4-BE49-F238E27FC236}">
                <a16:creationId xmlns:a16="http://schemas.microsoft.com/office/drawing/2014/main" id="{C0F88639-ABAD-9661-88C7-F4E04389657B}"/>
              </a:ext>
            </a:extLst>
          </p:cNvPr>
          <p:cNvSpPr txBox="1"/>
          <p:nvPr/>
        </p:nvSpPr>
        <p:spPr>
          <a:xfrm>
            <a:off x="530469" y="704309"/>
            <a:ext cx="5494093" cy="415498"/>
          </a:xfrm>
          <a:prstGeom prst="rect">
            <a:avLst/>
          </a:prstGeom>
          <a:noFill/>
        </p:spPr>
        <p:txBody>
          <a:bodyPr wrap="square">
            <a:spAutoFit/>
          </a:bodyPr>
          <a:lstStyle/>
          <a:p>
            <a:r>
              <a:rPr lang="en-US" sz="1050"/>
              <a:t>Case Study: Opportunity to Order Duration Prediction Using AI/ML for a Leading Electronics and Imaging Company</a:t>
            </a:r>
          </a:p>
        </p:txBody>
      </p:sp>
      <p:sp>
        <p:nvSpPr>
          <p:cNvPr id="6" name="Text Placeholder 3">
            <a:extLst>
              <a:ext uri="{FF2B5EF4-FFF2-40B4-BE49-F238E27FC236}">
                <a16:creationId xmlns:a16="http://schemas.microsoft.com/office/drawing/2014/main" id="{4C03D0A5-1547-8CFB-E0A6-57244598550C}"/>
              </a:ext>
            </a:extLst>
          </p:cNvPr>
          <p:cNvSpPr txBox="1">
            <a:spLocks/>
          </p:cNvSpPr>
          <p:nvPr/>
        </p:nvSpPr>
        <p:spPr>
          <a:xfrm>
            <a:off x="623888" y="2724759"/>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400">
                <a:solidFill>
                  <a:schemeClr val="accent1"/>
                </a:solidFill>
                <a:latin typeface="Manrope Medium" pitchFamily="2" charset="0"/>
              </a:rPr>
              <a:t>Solution</a:t>
            </a:r>
          </a:p>
        </p:txBody>
      </p:sp>
      <p:sp>
        <p:nvSpPr>
          <p:cNvPr id="7" name="TextBox 6">
            <a:extLst>
              <a:ext uri="{FF2B5EF4-FFF2-40B4-BE49-F238E27FC236}">
                <a16:creationId xmlns:a16="http://schemas.microsoft.com/office/drawing/2014/main" id="{1610530E-89E1-8DBE-45B9-F8B5C7B25348}"/>
              </a:ext>
            </a:extLst>
          </p:cNvPr>
          <p:cNvSpPr txBox="1"/>
          <p:nvPr/>
        </p:nvSpPr>
        <p:spPr>
          <a:xfrm>
            <a:off x="530469" y="3031131"/>
            <a:ext cx="5494093" cy="1477328"/>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The development activities were carried out inside snowflake </a:t>
            </a:r>
            <a:r>
              <a:rPr kumimoji="0" lang="en-US" sz="1000" i="0" u="none" strike="noStrike" kern="1200" cap="none" spc="0" normalizeH="0" baseline="0" noProof="0" err="1">
                <a:ln>
                  <a:noFill/>
                </a:ln>
                <a:solidFill>
                  <a:srgbClr val="000000"/>
                </a:solidFill>
                <a:effectLst/>
                <a:uLnTx/>
                <a:uFillTx/>
                <a:latin typeface="Manrope"/>
              </a:rPr>
              <a:t>snowsight</a:t>
            </a:r>
            <a:r>
              <a:rPr kumimoji="0" lang="en-US" sz="1000" i="0" u="none" strike="noStrike" kern="1200" cap="none" spc="0" normalizeH="0" baseline="0" noProof="0">
                <a:ln>
                  <a:noFill/>
                </a:ln>
                <a:solidFill>
                  <a:srgbClr val="000000"/>
                </a:solidFill>
                <a:effectLst/>
                <a:uLnTx/>
                <a:uFillTx/>
                <a:latin typeface="Manrope"/>
              </a:rPr>
              <a:t> UI.</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The data was fetched from database in batches and stored inside Snowflake stages.</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A machine learning model using a stacking classifier was built to predict the conversion time of opportunities. The prediction was based on the order date and the opportunity creation date. The Data used for machine ;earning model is received from Snowflake.</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This approach enabled the marketing team to forecast conversion duration more accurately, leading to improved decision-making</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Built a user interface where open opportunities are fetched based on selected date range and duration predictions are generated</a:t>
            </a:r>
          </a:p>
        </p:txBody>
      </p:sp>
      <p:sp>
        <p:nvSpPr>
          <p:cNvPr id="8" name="Text Placeholder 22">
            <a:extLst>
              <a:ext uri="{FF2B5EF4-FFF2-40B4-BE49-F238E27FC236}">
                <a16:creationId xmlns:a16="http://schemas.microsoft.com/office/drawing/2014/main" id="{1308C16F-E02E-9BC3-BDFF-D0C3FAAEC890}"/>
              </a:ext>
            </a:extLst>
          </p:cNvPr>
          <p:cNvSpPr>
            <a:spLocks noGrp="1"/>
          </p:cNvSpPr>
          <p:nvPr>
            <p:ph type="body" sz="quarter" idx="18"/>
          </p:nvPr>
        </p:nvSpPr>
        <p:spPr>
          <a:xfrm>
            <a:off x="623887" y="5548141"/>
            <a:ext cx="2306881" cy="599363"/>
          </a:xfrm>
        </p:spPr>
        <p:txBody>
          <a:bodyPr>
            <a:normAutofit/>
          </a:bodyPr>
          <a:lstStyle/>
          <a:p>
            <a:r>
              <a:rPr kumimoji="0" lang="en-US" b="0" i="0" u="none" strike="noStrike" kern="1200" cap="none" spc="10" normalizeH="0" baseline="0" noProof="0">
                <a:ln>
                  <a:noFill/>
                </a:ln>
                <a:solidFill>
                  <a:srgbClr val="3C2CDA"/>
                </a:solidFill>
                <a:effectLst/>
                <a:uLnTx/>
                <a:uFillTx/>
                <a:latin typeface="Manrope"/>
              </a:rPr>
              <a:t>Reduction in reliance on manual process to predict the opportunity to order duration</a:t>
            </a:r>
          </a:p>
        </p:txBody>
      </p:sp>
      <p:sp>
        <p:nvSpPr>
          <p:cNvPr id="9" name="Text Placeholder 23">
            <a:extLst>
              <a:ext uri="{FF2B5EF4-FFF2-40B4-BE49-F238E27FC236}">
                <a16:creationId xmlns:a16="http://schemas.microsoft.com/office/drawing/2014/main" id="{A377B0FB-6CFA-A302-6B97-2CE80167B22C}"/>
              </a:ext>
            </a:extLst>
          </p:cNvPr>
          <p:cNvSpPr>
            <a:spLocks noGrp="1"/>
          </p:cNvSpPr>
          <p:nvPr>
            <p:ph type="body" sz="quarter" idx="19"/>
          </p:nvPr>
        </p:nvSpPr>
        <p:spPr>
          <a:xfrm>
            <a:off x="623888" y="5137401"/>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3000" b="0" i="0" u="none" strike="noStrike" kern="1200" cap="none" spc="0" normalizeH="0" baseline="0" noProof="0">
                <a:ln>
                  <a:noFill/>
                </a:ln>
                <a:solidFill>
                  <a:srgbClr val="3C2CDA"/>
                </a:solidFill>
                <a:effectLst/>
                <a:uLnTx/>
                <a:uFillTx/>
                <a:latin typeface="Manrope Light"/>
              </a:rPr>
              <a:t>80%</a:t>
            </a:r>
          </a:p>
        </p:txBody>
      </p:sp>
      <p:sp>
        <p:nvSpPr>
          <p:cNvPr id="10" name="Text Placeholder 24">
            <a:extLst>
              <a:ext uri="{FF2B5EF4-FFF2-40B4-BE49-F238E27FC236}">
                <a16:creationId xmlns:a16="http://schemas.microsoft.com/office/drawing/2014/main" id="{43CCDE79-F741-A904-31CB-D15B9EFFCA6B}"/>
              </a:ext>
            </a:extLst>
          </p:cNvPr>
          <p:cNvSpPr>
            <a:spLocks noGrp="1"/>
          </p:cNvSpPr>
          <p:nvPr>
            <p:ph type="body" sz="quarter" idx="24"/>
          </p:nvPr>
        </p:nvSpPr>
        <p:spPr>
          <a:xfrm>
            <a:off x="3321629" y="5555068"/>
            <a:ext cx="2306881" cy="774051"/>
          </a:xfrm>
        </p:spPr>
        <p:txBody>
          <a:bodyPr>
            <a:normAutofit/>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b="0" i="0" u="none" strike="noStrike" kern="1200" cap="none" spc="10" normalizeH="0" baseline="0" noProof="0">
                <a:ln>
                  <a:noFill/>
                </a:ln>
                <a:solidFill>
                  <a:srgbClr val="3C2CDA"/>
                </a:solidFill>
                <a:effectLst/>
                <a:uLnTx/>
                <a:uFillTx/>
                <a:latin typeface="Manrope"/>
              </a:rPr>
              <a:t>And above waiting period for high value USD  opportunities to convert to order based on duration prediction model</a:t>
            </a:r>
          </a:p>
        </p:txBody>
      </p:sp>
      <p:sp>
        <p:nvSpPr>
          <p:cNvPr id="11" name="Text Placeholder 25">
            <a:extLst>
              <a:ext uri="{FF2B5EF4-FFF2-40B4-BE49-F238E27FC236}">
                <a16:creationId xmlns:a16="http://schemas.microsoft.com/office/drawing/2014/main" id="{EC92C242-967F-623F-1F93-C147AB06A3B0}"/>
              </a:ext>
            </a:extLst>
          </p:cNvPr>
          <p:cNvSpPr>
            <a:spLocks noGrp="1"/>
          </p:cNvSpPr>
          <p:nvPr>
            <p:ph type="body" sz="quarter" idx="25"/>
          </p:nvPr>
        </p:nvSpPr>
        <p:spPr>
          <a:xfrm>
            <a:off x="3321629" y="5137401"/>
            <a:ext cx="1647936" cy="830997"/>
          </a:xfrm>
        </p:spPr>
        <p:txBody>
          <a:bodyPr/>
          <a:lstStyle/>
          <a:p>
            <a:r>
              <a:rPr kumimoji="0" lang="en-US" sz="3000" b="0" i="0" u="none" strike="noStrike" kern="1200" cap="none" spc="0" normalizeH="0" baseline="0" noProof="0">
                <a:ln>
                  <a:noFill/>
                </a:ln>
                <a:solidFill>
                  <a:srgbClr val="3C2CDA"/>
                </a:solidFill>
                <a:effectLst/>
                <a:uLnTx/>
                <a:uFillTx/>
                <a:latin typeface="Manrope Light"/>
              </a:rPr>
              <a:t> 150 days </a:t>
            </a:r>
          </a:p>
        </p:txBody>
      </p:sp>
      <p:pic>
        <p:nvPicPr>
          <p:cNvPr id="5" name="Picture 2">
            <a:extLst>
              <a:ext uri="{FF2B5EF4-FFF2-40B4-BE49-F238E27FC236}">
                <a16:creationId xmlns:a16="http://schemas.microsoft.com/office/drawing/2014/main" id="{1323850D-3152-89D7-91D5-50DCAFD598E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675628" y="294367"/>
            <a:ext cx="949862" cy="325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1749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9B82E-E6C7-4CBF-7D1B-D64FBB2132E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A3A411C-4560-4A25-68AC-40D52F05E8A4}"/>
              </a:ext>
            </a:extLst>
          </p:cNvPr>
          <p:cNvSpPr>
            <a:spLocks noGrp="1"/>
          </p:cNvSpPr>
          <p:nvPr>
            <p:ph type="body" sz="quarter" idx="20"/>
          </p:nvPr>
        </p:nvSpPr>
        <p:spPr>
          <a:xfrm>
            <a:off x="623888" y="1497057"/>
            <a:ext cx="5400675" cy="268749"/>
          </a:xfrm>
        </p:spPr>
        <p:txBody>
          <a:bodyPr>
            <a:normAutofit/>
          </a:bodyPr>
          <a:lstStyle/>
          <a:p>
            <a:pPr marL="0" indent="0">
              <a:buNone/>
            </a:pPr>
            <a:r>
              <a:rPr lang="en-US" sz="1400">
                <a:solidFill>
                  <a:schemeClr val="accent1"/>
                </a:solidFill>
                <a:latin typeface="Manrope Medium" pitchFamily="2" charset="0"/>
              </a:rPr>
              <a:t>Business Problem</a:t>
            </a:r>
          </a:p>
        </p:txBody>
      </p:sp>
      <p:sp>
        <p:nvSpPr>
          <p:cNvPr id="22" name="Picture Placeholder 21">
            <a:extLst>
              <a:ext uri="{FF2B5EF4-FFF2-40B4-BE49-F238E27FC236}">
                <a16:creationId xmlns:a16="http://schemas.microsoft.com/office/drawing/2014/main" id="{5466927B-14E5-2F10-1C13-2ECA2C0308CC}"/>
              </a:ext>
            </a:extLst>
          </p:cNvPr>
          <p:cNvSpPr>
            <a:spLocks noGrp="1"/>
          </p:cNvSpPr>
          <p:nvPr>
            <p:ph type="pic" sz="quarter" idx="17"/>
          </p:nvPr>
        </p:nvSpPr>
        <p:spPr/>
        <p:txBody>
          <a:bodyPr/>
          <a:lstStyle/>
          <a:p>
            <a:endParaRPr lang="en-US"/>
          </a:p>
        </p:txBody>
      </p:sp>
      <p:sp>
        <p:nvSpPr>
          <p:cNvPr id="14" name="Text Placeholder 13">
            <a:extLst>
              <a:ext uri="{FF2B5EF4-FFF2-40B4-BE49-F238E27FC236}">
                <a16:creationId xmlns:a16="http://schemas.microsoft.com/office/drawing/2014/main" id="{CD8577E9-8CCA-5668-F8EC-6CA3A7EEC57E}"/>
              </a:ext>
            </a:extLst>
          </p:cNvPr>
          <p:cNvSpPr>
            <a:spLocks noGrp="1"/>
          </p:cNvSpPr>
          <p:nvPr>
            <p:ph type="body" sz="quarter" idx="21"/>
          </p:nvPr>
        </p:nvSpPr>
        <p:spPr>
          <a:xfrm flipH="1">
            <a:off x="623887" y="457200"/>
            <a:ext cx="5400675" cy="216401"/>
          </a:xfrm>
        </p:spPr>
        <p:txBody>
          <a:bodyPr/>
          <a:lstStyle/>
          <a:p>
            <a:r>
              <a:rPr lang="en-US"/>
              <a:t>Manufacturing</a:t>
            </a:r>
          </a:p>
        </p:txBody>
      </p:sp>
      <p:pic>
        <p:nvPicPr>
          <p:cNvPr id="5" name="Picture Placeholder 28">
            <a:extLst>
              <a:ext uri="{FF2B5EF4-FFF2-40B4-BE49-F238E27FC236}">
                <a16:creationId xmlns:a16="http://schemas.microsoft.com/office/drawing/2014/main" id="{BD774159-9360-CC30-BEBE-C71BC3F4A3F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438900" y="914401"/>
            <a:ext cx="5753100" cy="4856084"/>
          </a:xfrm>
          <a:prstGeom prst="rect">
            <a:avLst/>
          </a:prstGeom>
        </p:spPr>
      </p:pic>
      <p:sp>
        <p:nvSpPr>
          <p:cNvPr id="45" name="TextBox 44">
            <a:extLst>
              <a:ext uri="{FF2B5EF4-FFF2-40B4-BE49-F238E27FC236}">
                <a16:creationId xmlns:a16="http://schemas.microsoft.com/office/drawing/2014/main" id="{F8A74D83-AC7D-949D-6A29-FAA5E16706EE}"/>
              </a:ext>
            </a:extLst>
          </p:cNvPr>
          <p:cNvSpPr txBox="1"/>
          <p:nvPr/>
        </p:nvSpPr>
        <p:spPr>
          <a:xfrm>
            <a:off x="530469" y="1803429"/>
            <a:ext cx="5494093" cy="553998"/>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Manual revenue forecasting fails to provide accurate results beyond one month</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Inaccurate forecasts result in missed opportunities, poor resource allocation, cash flow issues</a:t>
            </a:r>
          </a:p>
        </p:txBody>
      </p:sp>
      <p:sp>
        <p:nvSpPr>
          <p:cNvPr id="3" name="TextBox 2">
            <a:extLst>
              <a:ext uri="{FF2B5EF4-FFF2-40B4-BE49-F238E27FC236}">
                <a16:creationId xmlns:a16="http://schemas.microsoft.com/office/drawing/2014/main" id="{B07F2BFC-D3A0-040C-346C-63FFBD2F739A}"/>
              </a:ext>
            </a:extLst>
          </p:cNvPr>
          <p:cNvSpPr txBox="1"/>
          <p:nvPr/>
        </p:nvSpPr>
        <p:spPr>
          <a:xfrm>
            <a:off x="530469" y="704309"/>
            <a:ext cx="5494093" cy="430887"/>
          </a:xfrm>
          <a:prstGeom prst="rect">
            <a:avLst/>
          </a:prstGeom>
          <a:noFill/>
        </p:spPr>
        <p:txBody>
          <a:bodyPr wrap="square">
            <a:spAutoFit/>
          </a:bodyPr>
          <a:lstStyle/>
          <a:p>
            <a:r>
              <a:rPr lang="en-US" sz="1100"/>
              <a:t>Case Study: Revenue Forecasting Using AI/ML for a Leading Electronics and Imaging Company</a:t>
            </a:r>
          </a:p>
        </p:txBody>
      </p:sp>
      <p:sp>
        <p:nvSpPr>
          <p:cNvPr id="6" name="Text Placeholder 3">
            <a:extLst>
              <a:ext uri="{FF2B5EF4-FFF2-40B4-BE49-F238E27FC236}">
                <a16:creationId xmlns:a16="http://schemas.microsoft.com/office/drawing/2014/main" id="{84216EB8-18E8-7145-99D8-8CE90A0D76C9}"/>
              </a:ext>
            </a:extLst>
          </p:cNvPr>
          <p:cNvSpPr txBox="1">
            <a:spLocks/>
          </p:cNvSpPr>
          <p:nvPr/>
        </p:nvSpPr>
        <p:spPr>
          <a:xfrm>
            <a:off x="623888" y="2695425"/>
            <a:ext cx="5400675" cy="268749"/>
          </a:xfrm>
          <a:prstGeom prst="rect">
            <a:avLst/>
          </a:prstGeom>
        </p:spPr>
        <p:txBody>
          <a:bodyPr lIns="0" tIns="0" rIns="0" bIns="0">
            <a:normAutofit/>
          </a:bodyPr>
          <a:lstStyle>
            <a:lvl1pPr marL="137160" indent="-137160" algn="l" defTabSz="914400" rtl="0" eaLnBrk="1" latinLnBrk="0" hangingPunct="1">
              <a:lnSpc>
                <a:spcPct val="110000"/>
              </a:lnSpc>
              <a:spcBef>
                <a:spcPts val="1000"/>
              </a:spcBef>
              <a:buClr>
                <a:schemeClr val="tx1"/>
              </a:buClr>
              <a:buFont typeface="Arial" panose="020B0604020202020204" pitchFamily="34" charset="0"/>
              <a:buChar char="•"/>
              <a:defRPr lang="en-US" sz="1200" kern="1200" spc="10" baseline="0" dirty="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400">
                <a:solidFill>
                  <a:schemeClr val="accent1"/>
                </a:solidFill>
                <a:latin typeface="Manrope Medium" pitchFamily="2" charset="0"/>
              </a:rPr>
              <a:t>Solution</a:t>
            </a:r>
          </a:p>
        </p:txBody>
      </p:sp>
      <p:sp>
        <p:nvSpPr>
          <p:cNvPr id="7" name="TextBox 6">
            <a:extLst>
              <a:ext uri="{FF2B5EF4-FFF2-40B4-BE49-F238E27FC236}">
                <a16:creationId xmlns:a16="http://schemas.microsoft.com/office/drawing/2014/main" id="{FCC04E22-1B2D-D18C-F97A-AD5807E282AC}"/>
              </a:ext>
            </a:extLst>
          </p:cNvPr>
          <p:cNvSpPr txBox="1"/>
          <p:nvPr/>
        </p:nvSpPr>
        <p:spPr>
          <a:xfrm>
            <a:off x="530469" y="3001797"/>
            <a:ext cx="5494093" cy="1631216"/>
          </a:xfrm>
          <a:prstGeom prst="rect">
            <a:avLst/>
          </a:prstGeom>
          <a:noFill/>
        </p:spPr>
        <p:txBody>
          <a:bodyPr wrap="square">
            <a:spAutoFit/>
          </a:bodyPr>
          <a:lstStyle/>
          <a:p>
            <a:pPr marL="171450" indent="-171450">
              <a:buClr>
                <a:schemeClr val="accent1"/>
              </a:buClr>
              <a:buFont typeface="Arial" panose="020B0604020202020204" pitchFamily="34" charset="0"/>
              <a:buChar char="•"/>
              <a:defRPr/>
            </a:pPr>
            <a:r>
              <a:rPr kumimoji="0" lang="en-US" sz="1000" i="0" u="none" strike="noStrike" kern="1200" cap="none" spc="0" normalizeH="0" baseline="0" noProof="0">
                <a:ln>
                  <a:noFill/>
                </a:ln>
                <a:solidFill>
                  <a:srgbClr val="000000"/>
                </a:solidFill>
                <a:effectLst/>
                <a:uLnTx/>
                <a:uFillTx/>
                <a:latin typeface="Manrope"/>
              </a:rPr>
              <a:t>The development activities were carried out inside snowflake </a:t>
            </a:r>
            <a:r>
              <a:rPr kumimoji="0" lang="en-US" sz="1000" i="0" u="none" strike="noStrike" kern="1200" cap="none" spc="0" normalizeH="0" baseline="0" noProof="0" err="1">
                <a:ln>
                  <a:noFill/>
                </a:ln>
                <a:solidFill>
                  <a:srgbClr val="000000"/>
                </a:solidFill>
                <a:effectLst/>
                <a:uLnTx/>
                <a:uFillTx/>
                <a:latin typeface="Manrope"/>
              </a:rPr>
              <a:t>snowsight</a:t>
            </a:r>
            <a:r>
              <a:rPr kumimoji="0" lang="en-US" sz="1000" i="0" u="none" strike="noStrike" kern="1200" cap="none" spc="0" normalizeH="0" baseline="0" noProof="0">
                <a:ln>
                  <a:noFill/>
                </a:ln>
                <a:solidFill>
                  <a:srgbClr val="000000"/>
                </a:solidFill>
                <a:effectLst/>
                <a:uLnTx/>
                <a:uFillTx/>
                <a:latin typeface="Manrope"/>
              </a:rPr>
              <a:t> UI.</a:t>
            </a:r>
          </a:p>
          <a:p>
            <a:pPr marL="171450" indent="-171450">
              <a:buClr>
                <a:schemeClr val="accent1"/>
              </a:buClr>
              <a:buFont typeface="Arial" panose="020B0604020202020204" pitchFamily="34" charset="0"/>
              <a:buChar char="•"/>
              <a:defRPr/>
            </a:pPr>
            <a:r>
              <a:rPr kumimoji="0" lang="en-US" sz="1000" i="0" u="none" strike="noStrike" kern="1200" cap="none" spc="0" normalizeH="0" baseline="0" noProof="0">
                <a:ln>
                  <a:noFill/>
                </a:ln>
                <a:solidFill>
                  <a:srgbClr val="000000"/>
                </a:solidFill>
                <a:effectLst/>
                <a:uLnTx/>
                <a:uFillTx/>
                <a:latin typeface="Manrope"/>
              </a:rPr>
              <a:t>The data was fetched from database in batches and stored inside Snowflake stages.</a:t>
            </a:r>
          </a:p>
          <a:p>
            <a:pPr marL="171450" indent="-171450">
              <a:buClr>
                <a:schemeClr val="accent1"/>
              </a:buClr>
              <a:buFont typeface="Arial" panose="020B0604020202020204" pitchFamily="34" charset="0"/>
              <a:buChar char="•"/>
              <a:defRPr/>
            </a:pPr>
            <a:r>
              <a:rPr kumimoji="0" lang="en-US" sz="1000" i="0" u="none" strike="noStrike" kern="1200" cap="none" spc="0" normalizeH="0" baseline="0" noProof="0">
                <a:ln>
                  <a:noFill/>
                </a:ln>
                <a:solidFill>
                  <a:srgbClr val="000000"/>
                </a:solidFill>
                <a:effectLst/>
                <a:uLnTx/>
                <a:uFillTx/>
                <a:latin typeface="Manrope"/>
              </a:rPr>
              <a:t>Developed a machine learning model to analyze vast amounts of historical revenue data from various sources. The Data used for machine learning model is received from Snowflake.</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Used ARIMA, SARIMAX, and XGB regressor algorithms to build the model</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Built a user interface where the number of months can be selected between 1 and 12 to generate revenue forecast values for the selected period</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Manrope"/>
              </a:rPr>
              <a:t>Added a revenue comparison chart to the user interface to compare past months' revenue forecasts with the actual revenue for those months</a:t>
            </a:r>
          </a:p>
        </p:txBody>
      </p:sp>
      <p:sp>
        <p:nvSpPr>
          <p:cNvPr id="8" name="Text Placeholder 22">
            <a:extLst>
              <a:ext uri="{FF2B5EF4-FFF2-40B4-BE49-F238E27FC236}">
                <a16:creationId xmlns:a16="http://schemas.microsoft.com/office/drawing/2014/main" id="{607B7114-F1ED-9904-B6B6-C84638515F68}"/>
              </a:ext>
            </a:extLst>
          </p:cNvPr>
          <p:cNvSpPr>
            <a:spLocks noGrp="1"/>
          </p:cNvSpPr>
          <p:nvPr>
            <p:ph type="body" sz="quarter" idx="18"/>
          </p:nvPr>
        </p:nvSpPr>
        <p:spPr>
          <a:xfrm>
            <a:off x="623888" y="5548141"/>
            <a:ext cx="1463330" cy="599363"/>
          </a:xfrm>
        </p:spPr>
        <p:txBody>
          <a:bodyPr>
            <a:normAutofit/>
          </a:bodyPr>
          <a:lstStyle/>
          <a:p>
            <a:r>
              <a:rPr kumimoji="0" lang="en-US" b="0" i="0" u="none" strike="noStrike" kern="1200" cap="none" spc="10" normalizeH="0" baseline="0" noProof="0">
                <a:ln>
                  <a:noFill/>
                </a:ln>
                <a:solidFill>
                  <a:srgbClr val="3C2CDA"/>
                </a:solidFill>
                <a:effectLst/>
                <a:uLnTx/>
                <a:uFillTx/>
                <a:latin typeface="Manrope"/>
              </a:rPr>
              <a:t>Months of revenue forecasting for different revenue streams</a:t>
            </a:r>
            <a:r>
              <a:rPr kumimoji="0" lang="en-US" b="0" i="0" u="none" strike="noStrike" kern="1200" cap="none" spc="10" normalizeH="0" baseline="0" noProof="0">
                <a:ln>
                  <a:noFill/>
                </a:ln>
                <a:solidFill>
                  <a:schemeClr val="tx1"/>
                </a:solidFill>
                <a:effectLst/>
                <a:uLnTx/>
                <a:uFillTx/>
                <a:latin typeface="Manrope"/>
              </a:rPr>
              <a:t>.</a:t>
            </a:r>
          </a:p>
        </p:txBody>
      </p:sp>
      <p:sp>
        <p:nvSpPr>
          <p:cNvPr id="9" name="Text Placeholder 23">
            <a:extLst>
              <a:ext uri="{FF2B5EF4-FFF2-40B4-BE49-F238E27FC236}">
                <a16:creationId xmlns:a16="http://schemas.microsoft.com/office/drawing/2014/main" id="{DDF2801C-9867-1635-3E9E-7279CB8E0047}"/>
              </a:ext>
            </a:extLst>
          </p:cNvPr>
          <p:cNvSpPr>
            <a:spLocks noGrp="1"/>
          </p:cNvSpPr>
          <p:nvPr>
            <p:ph type="body" sz="quarter" idx="19"/>
          </p:nvPr>
        </p:nvSpPr>
        <p:spPr>
          <a:xfrm>
            <a:off x="623888" y="5137401"/>
            <a:ext cx="1234991" cy="415498"/>
          </a:xfrm>
        </p:spPr>
        <p:txBody>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3000" b="0" i="0" u="none" strike="noStrike" kern="1200" cap="none" spc="0" normalizeH="0" baseline="0" noProof="0">
                <a:ln>
                  <a:noFill/>
                </a:ln>
                <a:solidFill>
                  <a:srgbClr val="3C2CDA"/>
                </a:solidFill>
                <a:effectLst/>
                <a:uLnTx/>
                <a:uFillTx/>
                <a:latin typeface="Manrope Light"/>
              </a:rPr>
              <a:t>12</a:t>
            </a:r>
          </a:p>
        </p:txBody>
      </p:sp>
      <p:sp>
        <p:nvSpPr>
          <p:cNvPr id="10" name="Text Placeholder 24">
            <a:extLst>
              <a:ext uri="{FF2B5EF4-FFF2-40B4-BE49-F238E27FC236}">
                <a16:creationId xmlns:a16="http://schemas.microsoft.com/office/drawing/2014/main" id="{45E5D6BC-0209-C10A-359F-8E9C73438442}"/>
              </a:ext>
            </a:extLst>
          </p:cNvPr>
          <p:cNvSpPr>
            <a:spLocks noGrp="1"/>
          </p:cNvSpPr>
          <p:nvPr>
            <p:ph type="body" sz="quarter" idx="24"/>
          </p:nvPr>
        </p:nvSpPr>
        <p:spPr>
          <a:xfrm>
            <a:off x="2417168" y="5555068"/>
            <a:ext cx="1369641" cy="774051"/>
          </a:xfrm>
        </p:spPr>
        <p:txBody>
          <a:bodyPr>
            <a:normAutofit/>
          </a:bodyPr>
          <a:lstStyle/>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b="0" i="0" u="none" strike="noStrike" kern="1200" cap="none" spc="10" normalizeH="0" baseline="0" noProof="0">
                <a:ln>
                  <a:noFill/>
                </a:ln>
                <a:solidFill>
                  <a:srgbClr val="3C2CDA"/>
                </a:solidFill>
                <a:effectLst/>
                <a:uLnTx/>
                <a:uFillTx/>
                <a:latin typeface="Manrope"/>
              </a:rPr>
              <a:t>Accurate revenue forecasting was achieved</a:t>
            </a:r>
          </a:p>
        </p:txBody>
      </p:sp>
      <p:sp>
        <p:nvSpPr>
          <p:cNvPr id="11" name="Text Placeholder 25">
            <a:extLst>
              <a:ext uri="{FF2B5EF4-FFF2-40B4-BE49-F238E27FC236}">
                <a16:creationId xmlns:a16="http://schemas.microsoft.com/office/drawing/2014/main" id="{8ACA6205-9DB7-9BF7-EC12-C761B9422B9A}"/>
              </a:ext>
            </a:extLst>
          </p:cNvPr>
          <p:cNvSpPr>
            <a:spLocks noGrp="1"/>
          </p:cNvSpPr>
          <p:nvPr>
            <p:ph type="body" sz="quarter" idx="25"/>
          </p:nvPr>
        </p:nvSpPr>
        <p:spPr>
          <a:xfrm>
            <a:off x="2417168" y="5137401"/>
            <a:ext cx="1081406" cy="415498"/>
          </a:xfrm>
        </p:spPr>
        <p:txBody>
          <a:bodyPr/>
          <a:lstStyle/>
          <a:p>
            <a:r>
              <a:rPr kumimoji="0" lang="en-US" sz="3000" b="0" i="0" u="none" strike="noStrike" kern="1200" cap="none" spc="0" normalizeH="0" baseline="0" noProof="0">
                <a:ln>
                  <a:noFill/>
                </a:ln>
                <a:solidFill>
                  <a:srgbClr val="3C2CDA"/>
                </a:solidFill>
                <a:effectLst/>
                <a:uLnTx/>
                <a:uFillTx/>
                <a:latin typeface="Manrope Light"/>
              </a:rPr>
              <a:t>90%</a:t>
            </a:r>
          </a:p>
        </p:txBody>
      </p:sp>
      <p:sp>
        <p:nvSpPr>
          <p:cNvPr id="12" name="Text Placeholder 24">
            <a:extLst>
              <a:ext uri="{FF2B5EF4-FFF2-40B4-BE49-F238E27FC236}">
                <a16:creationId xmlns:a16="http://schemas.microsoft.com/office/drawing/2014/main" id="{C4AE4479-8BAC-F9EF-8D0A-0B9AF5B837CD}"/>
              </a:ext>
            </a:extLst>
          </p:cNvPr>
          <p:cNvSpPr txBox="1">
            <a:spLocks/>
          </p:cNvSpPr>
          <p:nvPr/>
        </p:nvSpPr>
        <p:spPr>
          <a:xfrm>
            <a:off x="4116759" y="5555068"/>
            <a:ext cx="1369641" cy="774051"/>
          </a:xfrm>
          <a:prstGeom prst="rect">
            <a:avLst/>
          </a:prstGeom>
        </p:spPr>
        <p:txBody>
          <a:bodyPr lIns="0" tIns="0" rIns="0" bIns="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000" kern="1200" spc="10" baseline="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C2CDA"/>
              </a:buClr>
              <a:defRPr/>
            </a:pPr>
            <a:r>
              <a:rPr lang="en-IN">
                <a:solidFill>
                  <a:srgbClr val="3C2CDA"/>
                </a:solidFill>
                <a:latin typeface="Manrope"/>
              </a:rPr>
              <a:t>Estimated effort reduction</a:t>
            </a:r>
          </a:p>
        </p:txBody>
      </p:sp>
      <p:sp>
        <p:nvSpPr>
          <p:cNvPr id="13" name="Text Placeholder 25">
            <a:extLst>
              <a:ext uri="{FF2B5EF4-FFF2-40B4-BE49-F238E27FC236}">
                <a16:creationId xmlns:a16="http://schemas.microsoft.com/office/drawing/2014/main" id="{26372374-02E2-828A-E53D-BFCBAD9B6BF1}"/>
              </a:ext>
            </a:extLst>
          </p:cNvPr>
          <p:cNvSpPr txBox="1">
            <a:spLocks/>
          </p:cNvSpPr>
          <p:nvPr/>
        </p:nvSpPr>
        <p:spPr>
          <a:xfrm>
            <a:off x="4116759" y="5137401"/>
            <a:ext cx="1081406" cy="415498"/>
          </a:xfrm>
          <a:prstGeom prst="rect">
            <a:avLst/>
          </a:prstGeom>
          <a:noFill/>
        </p:spPr>
        <p:txBody>
          <a:bodyPr wrap="square" lIns="0" tIns="0" rIns="0" bIns="0" rtlCol="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3000" kern="1200" dirty="0">
                <a:solidFill>
                  <a:schemeClr val="accent1"/>
                </a:solidFill>
                <a:latin typeface="+mj-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3C2CDA"/>
                </a:solidFill>
                <a:latin typeface="Manrope Light"/>
              </a:rPr>
              <a:t>80%</a:t>
            </a:r>
          </a:p>
        </p:txBody>
      </p:sp>
      <p:pic>
        <p:nvPicPr>
          <p:cNvPr id="15" name="Picture 2">
            <a:extLst>
              <a:ext uri="{FF2B5EF4-FFF2-40B4-BE49-F238E27FC236}">
                <a16:creationId xmlns:a16="http://schemas.microsoft.com/office/drawing/2014/main" id="{F9EAFC87-17AE-7E63-781F-CF6601926416}"/>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675628" y="294367"/>
            <a:ext cx="949862" cy="325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2025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579D9-3161-1D34-C15A-87E3ECC9A77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CA2EB41-58A0-602B-CDFE-8D330EC17E42}"/>
              </a:ext>
            </a:extLst>
          </p:cNvPr>
          <p:cNvGrpSpPr/>
          <p:nvPr/>
        </p:nvGrpSpPr>
        <p:grpSpPr>
          <a:xfrm>
            <a:off x="623887" y="908050"/>
            <a:ext cx="10944225" cy="5473700"/>
            <a:chOff x="520365" y="1010530"/>
            <a:chExt cx="10023602" cy="4599572"/>
          </a:xfrm>
        </p:grpSpPr>
        <p:grpSp>
          <p:nvGrpSpPr>
            <p:cNvPr id="69" name="Group 68">
              <a:extLst>
                <a:ext uri="{FF2B5EF4-FFF2-40B4-BE49-F238E27FC236}">
                  <a16:creationId xmlns:a16="http://schemas.microsoft.com/office/drawing/2014/main" id="{7F3C98D4-8986-6E33-853A-C0372E508AA4}"/>
                </a:ext>
              </a:extLst>
            </p:cNvPr>
            <p:cNvGrpSpPr/>
            <p:nvPr/>
          </p:nvGrpSpPr>
          <p:grpSpPr>
            <a:xfrm>
              <a:off x="520365" y="1011808"/>
              <a:ext cx="1890713" cy="4582593"/>
              <a:chOff x="623888" y="1497194"/>
              <a:chExt cx="2532520" cy="4582593"/>
            </a:xfrm>
          </p:grpSpPr>
          <p:sp>
            <p:nvSpPr>
              <p:cNvPr id="7" name="Rectangle 6">
                <a:extLst>
                  <a:ext uri="{FF2B5EF4-FFF2-40B4-BE49-F238E27FC236}">
                    <a16:creationId xmlns:a16="http://schemas.microsoft.com/office/drawing/2014/main" id="{AFB03079-4694-D7CC-C4DB-D4F12894B8EA}"/>
                  </a:ext>
                </a:extLst>
              </p:cNvPr>
              <p:cNvSpPr/>
              <p:nvPr/>
            </p:nvSpPr>
            <p:spPr>
              <a:xfrm>
                <a:off x="623888" y="2281276"/>
                <a:ext cx="2532520"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11" name="Rectangle 10">
                <a:extLst>
                  <a:ext uri="{FF2B5EF4-FFF2-40B4-BE49-F238E27FC236}">
                    <a16:creationId xmlns:a16="http://schemas.microsoft.com/office/drawing/2014/main" id="{B91DB2DD-7F30-EA0B-6D99-70733355A28B}"/>
                  </a:ext>
                </a:extLst>
              </p:cNvPr>
              <p:cNvSpPr/>
              <p:nvPr/>
            </p:nvSpPr>
            <p:spPr>
              <a:xfrm>
                <a:off x="623888" y="4474723"/>
                <a:ext cx="2532520" cy="16050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6" name="Text Placeholder 1">
                <a:extLst>
                  <a:ext uri="{FF2B5EF4-FFF2-40B4-BE49-F238E27FC236}">
                    <a16:creationId xmlns:a16="http://schemas.microsoft.com/office/drawing/2014/main" id="{404DB907-DF3D-4FCD-B90A-69E89163B20F}"/>
                  </a:ext>
                </a:extLst>
              </p:cNvPr>
              <p:cNvSpPr txBox="1">
                <a:spLocks/>
              </p:cNvSpPr>
              <p:nvPr/>
            </p:nvSpPr>
            <p:spPr>
              <a:xfrm flipH="1">
                <a:off x="732101" y="2400870"/>
                <a:ext cx="1987409" cy="865908"/>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Fit-Gap analysis</a:t>
                </a:r>
              </a:p>
              <a:p>
                <a:pPr marL="171450" marR="0" lvl="0" indent="-1714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Complexity Analysis</a:t>
                </a:r>
              </a:p>
              <a:p>
                <a:pPr marL="171450" marR="0" lvl="0" indent="-1714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TCO estimation</a:t>
                </a:r>
              </a:p>
              <a:p>
                <a:pPr marL="171450" marR="0" lvl="0" indent="-1714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Utilization analysis</a:t>
                </a:r>
              </a:p>
            </p:txBody>
          </p:sp>
          <p:grpSp>
            <p:nvGrpSpPr>
              <p:cNvPr id="20" name="Group 19">
                <a:extLst>
                  <a:ext uri="{FF2B5EF4-FFF2-40B4-BE49-F238E27FC236}">
                    <a16:creationId xmlns:a16="http://schemas.microsoft.com/office/drawing/2014/main" id="{B6D129A8-611E-7CEE-DBFB-522C252B37FF}"/>
                  </a:ext>
                </a:extLst>
              </p:cNvPr>
              <p:cNvGrpSpPr/>
              <p:nvPr/>
            </p:nvGrpSpPr>
            <p:grpSpPr>
              <a:xfrm>
                <a:off x="623888" y="1497194"/>
                <a:ext cx="2532519" cy="784082"/>
                <a:chOff x="623888" y="1212883"/>
                <a:chExt cx="2532519" cy="784082"/>
              </a:xfrm>
            </p:grpSpPr>
            <p:grpSp>
              <p:nvGrpSpPr>
                <p:cNvPr id="15" name="Group 14">
                  <a:extLst>
                    <a:ext uri="{FF2B5EF4-FFF2-40B4-BE49-F238E27FC236}">
                      <a16:creationId xmlns:a16="http://schemas.microsoft.com/office/drawing/2014/main" id="{434EF189-2999-CC9F-E2C9-D298E301B9D1}"/>
                    </a:ext>
                  </a:extLst>
                </p:cNvPr>
                <p:cNvGrpSpPr/>
                <p:nvPr/>
              </p:nvGrpSpPr>
              <p:grpSpPr>
                <a:xfrm>
                  <a:off x="623888" y="1212883"/>
                  <a:ext cx="2532519" cy="784082"/>
                  <a:chOff x="623888" y="1212883"/>
                  <a:chExt cx="2532519" cy="784082"/>
                </a:xfrm>
              </p:grpSpPr>
              <p:pic>
                <p:nvPicPr>
                  <p:cNvPr id="13" name="Picture 12" descr="A blue dotted wave of dots&#10;&#10;Description automatically generated">
                    <a:extLst>
                      <a:ext uri="{FF2B5EF4-FFF2-40B4-BE49-F238E27FC236}">
                        <a16:creationId xmlns:a16="http://schemas.microsoft.com/office/drawing/2014/main" id="{30272238-D6B8-1D5D-4A66-C95E39832CAA}"/>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14" name="Rectangle 13">
                    <a:extLst>
                      <a:ext uri="{FF2B5EF4-FFF2-40B4-BE49-F238E27FC236}">
                        <a16:creationId xmlns:a16="http://schemas.microsoft.com/office/drawing/2014/main" id="{F9413BBE-75F9-98D8-2176-E41180D5AAD3}"/>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grpSp>
            <p:sp>
              <p:nvSpPr>
                <p:cNvPr id="5" name="Text Placeholder 1">
                  <a:extLst>
                    <a:ext uri="{FF2B5EF4-FFF2-40B4-BE49-F238E27FC236}">
                      <a16:creationId xmlns:a16="http://schemas.microsoft.com/office/drawing/2014/main" id="{29AE535C-74AA-8520-216B-D375BDA9120D}"/>
                    </a:ext>
                  </a:extLst>
                </p:cNvPr>
                <p:cNvSpPr txBox="1">
                  <a:spLocks/>
                </p:cNvSpPr>
                <p:nvPr/>
              </p:nvSpPr>
              <p:spPr>
                <a:xfrm flipH="1">
                  <a:off x="809863" y="1477723"/>
                  <a:ext cx="2073380" cy="309862"/>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pitchFamily="2" charset="0"/>
                    </a:rPr>
                    <a:t>Intelligent Platform Assessment </a:t>
                  </a:r>
                </a:p>
              </p:txBody>
            </p:sp>
          </p:grpSp>
          <p:sp>
            <p:nvSpPr>
              <p:cNvPr id="3" name="Text Placeholder 1">
                <a:extLst>
                  <a:ext uri="{FF2B5EF4-FFF2-40B4-BE49-F238E27FC236}">
                    <a16:creationId xmlns:a16="http://schemas.microsoft.com/office/drawing/2014/main" id="{0F1DDBCA-89B5-FE8B-57D7-5772677F93DF}"/>
                  </a:ext>
                </a:extLst>
              </p:cNvPr>
              <p:cNvSpPr txBox="1">
                <a:spLocks/>
              </p:cNvSpPr>
              <p:nvPr/>
            </p:nvSpPr>
            <p:spPr>
              <a:xfrm flipH="1">
                <a:off x="896444" y="4592239"/>
                <a:ext cx="1987409" cy="356415"/>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800" b="1" i="0" u="none" strike="noStrike" kern="1200" cap="none" spc="0" normalizeH="0" baseline="0" noProof="0">
                    <a:ln>
                      <a:noFill/>
                    </a:ln>
                    <a:solidFill>
                      <a:srgbClr val="FFFFFF"/>
                    </a:solidFill>
                    <a:effectLst/>
                    <a:uLnTx/>
                    <a:uFillTx/>
                    <a:latin typeface="Manrope" pitchFamily="2" charset="0"/>
                  </a:rPr>
                  <a:t>80% </a:t>
                </a:r>
              </a:p>
            </p:txBody>
          </p:sp>
          <p:sp>
            <p:nvSpPr>
              <p:cNvPr id="4" name="Text Placeholder 1">
                <a:extLst>
                  <a:ext uri="{FF2B5EF4-FFF2-40B4-BE49-F238E27FC236}">
                    <a16:creationId xmlns:a16="http://schemas.microsoft.com/office/drawing/2014/main" id="{552CA9B2-8FA3-CBCC-09FF-8011EA15B33B}"/>
                  </a:ext>
                </a:extLst>
              </p:cNvPr>
              <p:cNvSpPr txBox="1">
                <a:spLocks/>
              </p:cNvSpPr>
              <p:nvPr/>
            </p:nvSpPr>
            <p:spPr>
              <a:xfrm flipH="1">
                <a:off x="896444" y="5115724"/>
                <a:ext cx="1987409" cy="170204"/>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Manrope" pitchFamily="2" charset="0"/>
                  </a:rPr>
                  <a:t>faster assessment</a:t>
                </a:r>
              </a:p>
            </p:txBody>
          </p:sp>
        </p:grpSp>
        <p:grpSp>
          <p:nvGrpSpPr>
            <p:cNvPr id="12" name="Group 11">
              <a:extLst>
                <a:ext uri="{FF2B5EF4-FFF2-40B4-BE49-F238E27FC236}">
                  <a16:creationId xmlns:a16="http://schemas.microsoft.com/office/drawing/2014/main" id="{D1E554F6-73FA-7ED5-C8C7-A3AC029227A6}"/>
                </a:ext>
              </a:extLst>
            </p:cNvPr>
            <p:cNvGrpSpPr/>
            <p:nvPr/>
          </p:nvGrpSpPr>
          <p:grpSpPr>
            <a:xfrm>
              <a:off x="2614560" y="1027509"/>
              <a:ext cx="1890720" cy="4582593"/>
              <a:chOff x="623877" y="1497194"/>
              <a:chExt cx="2532531" cy="4582593"/>
            </a:xfrm>
          </p:grpSpPr>
          <p:sp>
            <p:nvSpPr>
              <p:cNvPr id="16" name="Rectangle 15">
                <a:extLst>
                  <a:ext uri="{FF2B5EF4-FFF2-40B4-BE49-F238E27FC236}">
                    <a16:creationId xmlns:a16="http://schemas.microsoft.com/office/drawing/2014/main" id="{6628FB94-7271-0892-8705-A8D94E2F9F2C}"/>
                  </a:ext>
                </a:extLst>
              </p:cNvPr>
              <p:cNvSpPr/>
              <p:nvPr/>
            </p:nvSpPr>
            <p:spPr>
              <a:xfrm>
                <a:off x="623888" y="2281276"/>
                <a:ext cx="2532520"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17" name="Rectangle 16">
                <a:extLst>
                  <a:ext uri="{FF2B5EF4-FFF2-40B4-BE49-F238E27FC236}">
                    <a16:creationId xmlns:a16="http://schemas.microsoft.com/office/drawing/2014/main" id="{D09FB8BA-8488-112E-7AC1-59E8CCE75762}"/>
                  </a:ext>
                </a:extLst>
              </p:cNvPr>
              <p:cNvSpPr/>
              <p:nvPr/>
            </p:nvSpPr>
            <p:spPr>
              <a:xfrm>
                <a:off x="623888" y="4474724"/>
                <a:ext cx="2532520" cy="16050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18" name="Text Placeholder 1">
                <a:extLst>
                  <a:ext uri="{FF2B5EF4-FFF2-40B4-BE49-F238E27FC236}">
                    <a16:creationId xmlns:a16="http://schemas.microsoft.com/office/drawing/2014/main" id="{63DF2C10-D243-E80F-6224-2F0B9DC37962}"/>
                  </a:ext>
                </a:extLst>
              </p:cNvPr>
              <p:cNvSpPr txBox="1">
                <a:spLocks/>
              </p:cNvSpPr>
              <p:nvPr/>
            </p:nvSpPr>
            <p:spPr>
              <a:xfrm flipH="1">
                <a:off x="776628" y="2385169"/>
                <a:ext cx="1987408" cy="1547818"/>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pitchFamily="2" charset="0"/>
                  </a:rPr>
                  <a:t>Schema conversion</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pitchFamily="2" charset="0"/>
                  </a:rPr>
                  <a:t>Schema Optimization</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pitchFamily="2" charset="0"/>
                  </a:rPr>
                  <a:t>Data Mapping</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nrope" pitchFamily="2" charset="0"/>
                  </a:rPr>
                  <a:t>Data remodeling</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Manrope" pitchFamily="2" charset="0"/>
                </a:endParaRPr>
              </a:p>
            </p:txBody>
          </p:sp>
          <p:grpSp>
            <p:nvGrpSpPr>
              <p:cNvPr id="19" name="Group 18">
                <a:extLst>
                  <a:ext uri="{FF2B5EF4-FFF2-40B4-BE49-F238E27FC236}">
                    <a16:creationId xmlns:a16="http://schemas.microsoft.com/office/drawing/2014/main" id="{26142AD1-C7ED-F93F-AD04-714134DE36E7}"/>
                  </a:ext>
                </a:extLst>
              </p:cNvPr>
              <p:cNvGrpSpPr/>
              <p:nvPr/>
            </p:nvGrpSpPr>
            <p:grpSpPr>
              <a:xfrm>
                <a:off x="623877" y="1497194"/>
                <a:ext cx="2532530" cy="784082"/>
                <a:chOff x="623877" y="1212883"/>
                <a:chExt cx="2532530" cy="784082"/>
              </a:xfrm>
            </p:grpSpPr>
            <p:grpSp>
              <p:nvGrpSpPr>
                <p:cNvPr id="41" name="Group 40">
                  <a:extLst>
                    <a:ext uri="{FF2B5EF4-FFF2-40B4-BE49-F238E27FC236}">
                      <a16:creationId xmlns:a16="http://schemas.microsoft.com/office/drawing/2014/main" id="{8A3B7C23-AE60-6350-AB8F-7A99E09E4096}"/>
                    </a:ext>
                  </a:extLst>
                </p:cNvPr>
                <p:cNvGrpSpPr/>
                <p:nvPr/>
              </p:nvGrpSpPr>
              <p:grpSpPr>
                <a:xfrm>
                  <a:off x="623888" y="1212883"/>
                  <a:ext cx="2532519" cy="784082"/>
                  <a:chOff x="623888" y="1212883"/>
                  <a:chExt cx="2532519" cy="784082"/>
                </a:xfrm>
              </p:grpSpPr>
              <p:pic>
                <p:nvPicPr>
                  <p:cNvPr id="43" name="Picture 42" descr="A blue dotted wave of dots&#10;&#10;Description automatically generated">
                    <a:extLst>
                      <a:ext uri="{FF2B5EF4-FFF2-40B4-BE49-F238E27FC236}">
                        <a16:creationId xmlns:a16="http://schemas.microsoft.com/office/drawing/2014/main" id="{E85D8232-8750-96BF-C31E-6B694642FCFA}"/>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44" name="Rectangle 43">
                    <a:extLst>
                      <a:ext uri="{FF2B5EF4-FFF2-40B4-BE49-F238E27FC236}">
                        <a16:creationId xmlns:a16="http://schemas.microsoft.com/office/drawing/2014/main" id="{C36849F0-96FB-D9CA-D153-BB8BEE52F5F6}"/>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grpSp>
            <p:sp>
              <p:nvSpPr>
                <p:cNvPr id="42" name="Text Placeholder 1">
                  <a:extLst>
                    <a:ext uri="{FF2B5EF4-FFF2-40B4-BE49-F238E27FC236}">
                      <a16:creationId xmlns:a16="http://schemas.microsoft.com/office/drawing/2014/main" id="{3FB976B9-72C9-9635-6064-F2FB312893D0}"/>
                    </a:ext>
                  </a:extLst>
                </p:cNvPr>
                <p:cNvSpPr txBox="1">
                  <a:spLocks/>
                </p:cNvSpPr>
                <p:nvPr/>
              </p:nvSpPr>
              <p:spPr>
                <a:xfrm flipH="1">
                  <a:off x="623877" y="1462020"/>
                  <a:ext cx="2532521" cy="170204"/>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pitchFamily="2" charset="0"/>
                    </a:rPr>
                    <a:t>Smart Schema Redesign</a:t>
                  </a:r>
                </a:p>
              </p:txBody>
            </p:sp>
          </p:grpSp>
          <p:sp>
            <p:nvSpPr>
              <p:cNvPr id="39" name="Text Placeholder 1">
                <a:extLst>
                  <a:ext uri="{FF2B5EF4-FFF2-40B4-BE49-F238E27FC236}">
                    <a16:creationId xmlns:a16="http://schemas.microsoft.com/office/drawing/2014/main" id="{DE6F253D-AC1A-C2E3-5657-87E819A5E071}"/>
                  </a:ext>
                </a:extLst>
              </p:cNvPr>
              <p:cNvSpPr txBox="1">
                <a:spLocks/>
              </p:cNvSpPr>
              <p:nvPr/>
            </p:nvSpPr>
            <p:spPr>
              <a:xfrm flipH="1">
                <a:off x="896444" y="4576538"/>
                <a:ext cx="1987408" cy="356415"/>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800" b="1" i="0" u="none" strike="noStrike" kern="1200" cap="none" spc="0" normalizeH="0" baseline="0" noProof="0">
                    <a:ln>
                      <a:noFill/>
                    </a:ln>
                    <a:solidFill>
                      <a:srgbClr val="FFFFFF"/>
                    </a:solidFill>
                    <a:effectLst/>
                    <a:uLnTx/>
                    <a:uFillTx/>
                    <a:latin typeface="Manrope" pitchFamily="2" charset="0"/>
                  </a:rPr>
                  <a:t>25% </a:t>
                </a:r>
              </a:p>
            </p:txBody>
          </p:sp>
          <p:sp>
            <p:nvSpPr>
              <p:cNvPr id="40" name="Text Placeholder 1">
                <a:extLst>
                  <a:ext uri="{FF2B5EF4-FFF2-40B4-BE49-F238E27FC236}">
                    <a16:creationId xmlns:a16="http://schemas.microsoft.com/office/drawing/2014/main" id="{3E90F51C-DB52-CCCA-56D1-DFA81D89B02B}"/>
                  </a:ext>
                </a:extLst>
              </p:cNvPr>
              <p:cNvSpPr txBox="1">
                <a:spLocks/>
              </p:cNvSpPr>
              <p:nvPr/>
            </p:nvSpPr>
            <p:spPr>
              <a:xfrm flipH="1">
                <a:off x="896444" y="5100023"/>
                <a:ext cx="1987408" cy="589178"/>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Manrope" pitchFamily="2" charset="0"/>
                  </a:rPr>
                  <a:t>improvement in data accessibility with efficiently structured data</a:t>
                </a:r>
              </a:p>
            </p:txBody>
          </p:sp>
        </p:grpSp>
        <p:grpSp>
          <p:nvGrpSpPr>
            <p:cNvPr id="45" name="Group 44">
              <a:extLst>
                <a:ext uri="{FF2B5EF4-FFF2-40B4-BE49-F238E27FC236}">
                  <a16:creationId xmlns:a16="http://schemas.microsoft.com/office/drawing/2014/main" id="{9553661A-6B55-E842-6F35-085BDF37FE25}"/>
                </a:ext>
              </a:extLst>
            </p:cNvPr>
            <p:cNvGrpSpPr/>
            <p:nvPr/>
          </p:nvGrpSpPr>
          <p:grpSpPr>
            <a:xfrm>
              <a:off x="4620984" y="1027508"/>
              <a:ext cx="1890713" cy="4582593"/>
              <a:chOff x="623888" y="1497194"/>
              <a:chExt cx="2532520" cy="4582593"/>
            </a:xfrm>
          </p:grpSpPr>
          <p:sp>
            <p:nvSpPr>
              <p:cNvPr id="46" name="Rectangle 45">
                <a:extLst>
                  <a:ext uri="{FF2B5EF4-FFF2-40B4-BE49-F238E27FC236}">
                    <a16:creationId xmlns:a16="http://schemas.microsoft.com/office/drawing/2014/main" id="{808646B0-19E1-0529-754E-88B9E1E8B625}"/>
                  </a:ext>
                </a:extLst>
              </p:cNvPr>
              <p:cNvSpPr/>
              <p:nvPr/>
            </p:nvSpPr>
            <p:spPr>
              <a:xfrm>
                <a:off x="623888" y="2281276"/>
                <a:ext cx="2532520"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47" name="Rectangle 46">
                <a:extLst>
                  <a:ext uri="{FF2B5EF4-FFF2-40B4-BE49-F238E27FC236}">
                    <a16:creationId xmlns:a16="http://schemas.microsoft.com/office/drawing/2014/main" id="{C9488D66-BD8F-582B-B1AC-865D7FD66C5D}"/>
                  </a:ext>
                </a:extLst>
              </p:cNvPr>
              <p:cNvSpPr/>
              <p:nvPr/>
            </p:nvSpPr>
            <p:spPr>
              <a:xfrm>
                <a:off x="623888" y="4474724"/>
                <a:ext cx="2532520" cy="16050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48" name="Text Placeholder 1">
                <a:extLst>
                  <a:ext uri="{FF2B5EF4-FFF2-40B4-BE49-F238E27FC236}">
                    <a16:creationId xmlns:a16="http://schemas.microsoft.com/office/drawing/2014/main" id="{67C813A1-51D6-61D6-4C94-1B9B2032BB61}"/>
                  </a:ext>
                </a:extLst>
              </p:cNvPr>
              <p:cNvSpPr txBox="1">
                <a:spLocks/>
              </p:cNvSpPr>
              <p:nvPr/>
            </p:nvSpPr>
            <p:spPr>
              <a:xfrm flipH="1">
                <a:off x="688988" y="2385169"/>
                <a:ext cx="2402320" cy="10650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Datastore Conversion</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ETL code conversion/ optimization</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Visualization reports</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 Seamless  integration</a:t>
                </a:r>
              </a:p>
            </p:txBody>
          </p:sp>
          <p:grpSp>
            <p:nvGrpSpPr>
              <p:cNvPr id="49" name="Group 48">
                <a:extLst>
                  <a:ext uri="{FF2B5EF4-FFF2-40B4-BE49-F238E27FC236}">
                    <a16:creationId xmlns:a16="http://schemas.microsoft.com/office/drawing/2014/main" id="{5B5C2288-157E-FBB8-6BFA-3CDFF1912AD4}"/>
                  </a:ext>
                </a:extLst>
              </p:cNvPr>
              <p:cNvGrpSpPr/>
              <p:nvPr/>
            </p:nvGrpSpPr>
            <p:grpSpPr>
              <a:xfrm>
                <a:off x="623888" y="1497194"/>
                <a:ext cx="2532519" cy="784082"/>
                <a:chOff x="623888" y="1212883"/>
                <a:chExt cx="2532519" cy="784082"/>
              </a:xfrm>
            </p:grpSpPr>
            <p:grpSp>
              <p:nvGrpSpPr>
                <p:cNvPr id="53" name="Group 52">
                  <a:extLst>
                    <a:ext uri="{FF2B5EF4-FFF2-40B4-BE49-F238E27FC236}">
                      <a16:creationId xmlns:a16="http://schemas.microsoft.com/office/drawing/2014/main" id="{49E3536A-FAE5-A638-A880-F2651ED367D9}"/>
                    </a:ext>
                  </a:extLst>
                </p:cNvPr>
                <p:cNvGrpSpPr/>
                <p:nvPr/>
              </p:nvGrpSpPr>
              <p:grpSpPr>
                <a:xfrm>
                  <a:off x="623888" y="1212883"/>
                  <a:ext cx="2532519" cy="784082"/>
                  <a:chOff x="623888" y="1212883"/>
                  <a:chExt cx="2532519" cy="784082"/>
                </a:xfrm>
              </p:grpSpPr>
              <p:pic>
                <p:nvPicPr>
                  <p:cNvPr id="55" name="Picture 54" descr="A blue dotted wave of dots&#10;&#10;Description automatically generated">
                    <a:extLst>
                      <a:ext uri="{FF2B5EF4-FFF2-40B4-BE49-F238E27FC236}">
                        <a16:creationId xmlns:a16="http://schemas.microsoft.com/office/drawing/2014/main" id="{5DC8003B-2E3B-984C-5B0E-43DADAD58CCD}"/>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56" name="Rectangle 55">
                    <a:extLst>
                      <a:ext uri="{FF2B5EF4-FFF2-40B4-BE49-F238E27FC236}">
                        <a16:creationId xmlns:a16="http://schemas.microsoft.com/office/drawing/2014/main" id="{69135799-4DB4-5462-7350-857EE1FFC798}"/>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grpSp>
            <p:sp>
              <p:nvSpPr>
                <p:cNvPr id="54" name="Text Placeholder 1">
                  <a:extLst>
                    <a:ext uri="{FF2B5EF4-FFF2-40B4-BE49-F238E27FC236}">
                      <a16:creationId xmlns:a16="http://schemas.microsoft.com/office/drawing/2014/main" id="{4C25E3B8-E687-9D87-A6D5-71C98CD7D4BF}"/>
                    </a:ext>
                  </a:extLst>
                </p:cNvPr>
                <p:cNvSpPr txBox="1">
                  <a:spLocks/>
                </p:cNvSpPr>
                <p:nvPr/>
              </p:nvSpPr>
              <p:spPr>
                <a:xfrm flipH="1">
                  <a:off x="688988" y="1462020"/>
                  <a:ext cx="2402320" cy="309862"/>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pitchFamily="2" charset="0"/>
                    </a:rPr>
                    <a:t>Automated Workload Conversion</a:t>
                  </a:r>
                </a:p>
              </p:txBody>
            </p:sp>
          </p:grpSp>
          <p:sp>
            <p:nvSpPr>
              <p:cNvPr id="51" name="Text Placeholder 1">
                <a:extLst>
                  <a:ext uri="{FF2B5EF4-FFF2-40B4-BE49-F238E27FC236}">
                    <a16:creationId xmlns:a16="http://schemas.microsoft.com/office/drawing/2014/main" id="{68044D10-FCB4-C220-4658-B21015DD691A}"/>
                  </a:ext>
                </a:extLst>
              </p:cNvPr>
              <p:cNvSpPr txBox="1">
                <a:spLocks/>
              </p:cNvSpPr>
              <p:nvPr/>
            </p:nvSpPr>
            <p:spPr>
              <a:xfrm flipH="1">
                <a:off x="896444" y="4576539"/>
                <a:ext cx="1987409" cy="356415"/>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800" b="1" i="0" u="none" strike="noStrike" kern="1200" cap="none" spc="0" normalizeH="0" baseline="0" noProof="0">
                    <a:ln>
                      <a:noFill/>
                    </a:ln>
                    <a:solidFill>
                      <a:srgbClr val="FFFFFF"/>
                    </a:solidFill>
                    <a:effectLst/>
                    <a:uLnTx/>
                    <a:uFillTx/>
                    <a:latin typeface="Manrope" pitchFamily="2" charset="0"/>
                  </a:rPr>
                  <a:t>50% </a:t>
                </a:r>
              </a:p>
            </p:txBody>
          </p:sp>
          <p:sp>
            <p:nvSpPr>
              <p:cNvPr id="52" name="Text Placeholder 1">
                <a:extLst>
                  <a:ext uri="{FF2B5EF4-FFF2-40B4-BE49-F238E27FC236}">
                    <a16:creationId xmlns:a16="http://schemas.microsoft.com/office/drawing/2014/main" id="{C5530519-9867-88B6-8DCE-E183B254F0F8}"/>
                  </a:ext>
                </a:extLst>
              </p:cNvPr>
              <p:cNvSpPr txBox="1">
                <a:spLocks/>
              </p:cNvSpPr>
              <p:nvPr/>
            </p:nvSpPr>
            <p:spPr>
              <a:xfrm flipH="1">
                <a:off x="896444" y="5100024"/>
                <a:ext cx="1987409" cy="309862"/>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Manrope" pitchFamily="2" charset="0"/>
                  </a:rPr>
                  <a:t>improvement in process efficiency</a:t>
                </a:r>
              </a:p>
            </p:txBody>
          </p:sp>
        </p:grpSp>
        <p:grpSp>
          <p:nvGrpSpPr>
            <p:cNvPr id="57" name="Group 56">
              <a:extLst>
                <a:ext uri="{FF2B5EF4-FFF2-40B4-BE49-F238E27FC236}">
                  <a16:creationId xmlns:a16="http://schemas.microsoft.com/office/drawing/2014/main" id="{ECB25A7B-4C14-3BDF-4D3D-339B4C539BC4}"/>
                </a:ext>
              </a:extLst>
            </p:cNvPr>
            <p:cNvGrpSpPr/>
            <p:nvPr/>
          </p:nvGrpSpPr>
          <p:grpSpPr>
            <a:xfrm>
              <a:off x="6625664" y="1011807"/>
              <a:ext cx="1890713" cy="4582593"/>
              <a:chOff x="623888" y="1497194"/>
              <a:chExt cx="2532520" cy="4582593"/>
            </a:xfrm>
          </p:grpSpPr>
          <p:sp>
            <p:nvSpPr>
              <p:cNvPr id="58" name="Rectangle 57">
                <a:extLst>
                  <a:ext uri="{FF2B5EF4-FFF2-40B4-BE49-F238E27FC236}">
                    <a16:creationId xmlns:a16="http://schemas.microsoft.com/office/drawing/2014/main" id="{18AEBF6F-57E4-545A-8C0A-33517D1070FF}"/>
                  </a:ext>
                </a:extLst>
              </p:cNvPr>
              <p:cNvSpPr/>
              <p:nvPr/>
            </p:nvSpPr>
            <p:spPr>
              <a:xfrm>
                <a:off x="623888" y="2281276"/>
                <a:ext cx="2532520"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59" name="Rectangle 58">
                <a:extLst>
                  <a:ext uri="{FF2B5EF4-FFF2-40B4-BE49-F238E27FC236}">
                    <a16:creationId xmlns:a16="http://schemas.microsoft.com/office/drawing/2014/main" id="{5B752E17-0CB9-64FC-02A9-1EC9EC22C6F6}"/>
                  </a:ext>
                </a:extLst>
              </p:cNvPr>
              <p:cNvSpPr/>
              <p:nvPr/>
            </p:nvSpPr>
            <p:spPr>
              <a:xfrm>
                <a:off x="623888" y="4474724"/>
                <a:ext cx="2532520" cy="16050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60" name="Text Placeholder 1">
                <a:extLst>
                  <a:ext uri="{FF2B5EF4-FFF2-40B4-BE49-F238E27FC236}">
                    <a16:creationId xmlns:a16="http://schemas.microsoft.com/office/drawing/2014/main" id="{8FAFC202-8D37-2AB4-DE26-56EB401DD26A}"/>
                  </a:ext>
                </a:extLst>
              </p:cNvPr>
              <p:cNvSpPr txBox="1">
                <a:spLocks/>
              </p:cNvSpPr>
              <p:nvPr/>
            </p:nvSpPr>
            <p:spPr>
              <a:xfrm flipH="1">
                <a:off x="713101" y="2400870"/>
                <a:ext cx="2187122" cy="1142207"/>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Automatically validates transformed data elements and schema​</a:t>
                </a:r>
              </a:p>
              <a:p>
                <a:pPr marL="171450" marR="0" lvl="0" indent="-1714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Automated Test Case Generation</a:t>
                </a:r>
              </a:p>
              <a:p>
                <a:pPr marL="171450" marR="0" lvl="0" indent="-1714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Uses ML models for anomaly detection</a:t>
                </a:r>
              </a:p>
            </p:txBody>
          </p:sp>
          <p:grpSp>
            <p:nvGrpSpPr>
              <p:cNvPr id="62" name="Group 61">
                <a:extLst>
                  <a:ext uri="{FF2B5EF4-FFF2-40B4-BE49-F238E27FC236}">
                    <a16:creationId xmlns:a16="http://schemas.microsoft.com/office/drawing/2014/main" id="{1BA0D07B-4D15-23CB-0F0F-5D305037C3D9}"/>
                  </a:ext>
                </a:extLst>
              </p:cNvPr>
              <p:cNvGrpSpPr/>
              <p:nvPr/>
            </p:nvGrpSpPr>
            <p:grpSpPr>
              <a:xfrm>
                <a:off x="623888" y="1497194"/>
                <a:ext cx="2532519" cy="784082"/>
                <a:chOff x="623888" y="1212883"/>
                <a:chExt cx="2532519" cy="784082"/>
              </a:xfrm>
            </p:grpSpPr>
            <p:grpSp>
              <p:nvGrpSpPr>
                <p:cNvPr id="73" name="Group 72">
                  <a:extLst>
                    <a:ext uri="{FF2B5EF4-FFF2-40B4-BE49-F238E27FC236}">
                      <a16:creationId xmlns:a16="http://schemas.microsoft.com/office/drawing/2014/main" id="{488B40C9-3932-4580-70D4-9DD3B6ADCDEF}"/>
                    </a:ext>
                  </a:extLst>
                </p:cNvPr>
                <p:cNvGrpSpPr/>
                <p:nvPr/>
              </p:nvGrpSpPr>
              <p:grpSpPr>
                <a:xfrm>
                  <a:off x="623888" y="1212883"/>
                  <a:ext cx="2532519" cy="784082"/>
                  <a:chOff x="623888" y="1212883"/>
                  <a:chExt cx="2532519" cy="784082"/>
                </a:xfrm>
              </p:grpSpPr>
              <p:pic>
                <p:nvPicPr>
                  <p:cNvPr id="75" name="Picture 74" descr="A blue dotted wave of dots&#10;&#10;Description automatically generated">
                    <a:extLst>
                      <a:ext uri="{FF2B5EF4-FFF2-40B4-BE49-F238E27FC236}">
                        <a16:creationId xmlns:a16="http://schemas.microsoft.com/office/drawing/2014/main" id="{EAD440C6-E302-A6D8-C2E1-2A81CFD3A4DF}"/>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76" name="Rectangle 75">
                    <a:extLst>
                      <a:ext uri="{FF2B5EF4-FFF2-40B4-BE49-F238E27FC236}">
                        <a16:creationId xmlns:a16="http://schemas.microsoft.com/office/drawing/2014/main" id="{B900C479-BF5D-21CC-0441-E71DEFD57463}"/>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grpSp>
            <p:sp>
              <p:nvSpPr>
                <p:cNvPr id="74" name="Text Placeholder 1">
                  <a:extLst>
                    <a:ext uri="{FF2B5EF4-FFF2-40B4-BE49-F238E27FC236}">
                      <a16:creationId xmlns:a16="http://schemas.microsoft.com/office/drawing/2014/main" id="{E54B6C1D-2E61-E503-0F6B-BE05E8E307BE}"/>
                    </a:ext>
                  </a:extLst>
                </p:cNvPr>
                <p:cNvSpPr txBox="1">
                  <a:spLocks/>
                </p:cNvSpPr>
                <p:nvPr/>
              </p:nvSpPr>
              <p:spPr>
                <a:xfrm flipH="1">
                  <a:off x="713101" y="1477723"/>
                  <a:ext cx="2354093" cy="309862"/>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pitchFamily="2" charset="0"/>
                    </a:rPr>
                    <a:t>Automated data Validation</a:t>
                  </a:r>
                </a:p>
              </p:txBody>
            </p:sp>
          </p:grpSp>
          <p:sp>
            <p:nvSpPr>
              <p:cNvPr id="66" name="Text Placeholder 1">
                <a:extLst>
                  <a:ext uri="{FF2B5EF4-FFF2-40B4-BE49-F238E27FC236}">
                    <a16:creationId xmlns:a16="http://schemas.microsoft.com/office/drawing/2014/main" id="{FA48845B-2326-5190-0530-BEAE0E8584F0}"/>
                  </a:ext>
                </a:extLst>
              </p:cNvPr>
              <p:cNvSpPr txBox="1">
                <a:spLocks/>
              </p:cNvSpPr>
              <p:nvPr/>
            </p:nvSpPr>
            <p:spPr>
              <a:xfrm flipH="1">
                <a:off x="896444" y="4592240"/>
                <a:ext cx="1987409" cy="356415"/>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800" b="1" i="0" u="none" strike="noStrike" kern="1200" cap="none" spc="0" normalizeH="0" baseline="0" noProof="0">
                    <a:ln>
                      <a:noFill/>
                    </a:ln>
                    <a:solidFill>
                      <a:srgbClr val="FFFFFF"/>
                    </a:solidFill>
                    <a:effectLst/>
                    <a:uLnTx/>
                    <a:uFillTx/>
                    <a:latin typeface="Manrope" pitchFamily="2" charset="0"/>
                  </a:rPr>
                  <a:t>65%</a:t>
                </a:r>
                <a:endParaRPr kumimoji="0" lang="en-US" sz="1400" b="0" i="0" u="none" strike="noStrike" kern="1200" cap="none" spc="0" normalizeH="0" baseline="0" noProof="0">
                  <a:ln>
                    <a:noFill/>
                  </a:ln>
                  <a:solidFill>
                    <a:srgbClr val="FFFFFF"/>
                  </a:solidFill>
                  <a:effectLst/>
                  <a:uLnTx/>
                  <a:uFillTx/>
                  <a:latin typeface="Manrope" pitchFamily="2" charset="0"/>
                </a:endParaRPr>
              </a:p>
            </p:txBody>
          </p:sp>
          <p:sp>
            <p:nvSpPr>
              <p:cNvPr id="67" name="Text Placeholder 1">
                <a:extLst>
                  <a:ext uri="{FF2B5EF4-FFF2-40B4-BE49-F238E27FC236}">
                    <a16:creationId xmlns:a16="http://schemas.microsoft.com/office/drawing/2014/main" id="{F576E250-15E0-54AA-C046-0C877B848A56}"/>
                  </a:ext>
                </a:extLst>
              </p:cNvPr>
              <p:cNvSpPr txBox="1">
                <a:spLocks/>
              </p:cNvSpPr>
              <p:nvPr/>
            </p:nvSpPr>
            <p:spPr>
              <a:xfrm flipH="1">
                <a:off x="896444" y="5115725"/>
                <a:ext cx="1987409" cy="309862"/>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Manrope" pitchFamily="2" charset="0"/>
                  </a:rPr>
                  <a:t>faster validation and reconciliation</a:t>
                </a:r>
                <a:endParaRPr kumimoji="0" lang="en-US" sz="1400" b="0" i="0" u="none" strike="noStrike" kern="1200" cap="none" spc="0" normalizeH="0" baseline="0" noProof="0">
                  <a:ln>
                    <a:noFill/>
                  </a:ln>
                  <a:solidFill>
                    <a:srgbClr val="FFFFFF"/>
                  </a:solidFill>
                  <a:effectLst/>
                  <a:uLnTx/>
                  <a:uFillTx/>
                  <a:latin typeface="Manrope" pitchFamily="2" charset="0"/>
                </a:endParaRPr>
              </a:p>
            </p:txBody>
          </p:sp>
        </p:grpSp>
        <p:grpSp>
          <p:nvGrpSpPr>
            <p:cNvPr id="8" name="Group 7">
              <a:extLst>
                <a:ext uri="{FF2B5EF4-FFF2-40B4-BE49-F238E27FC236}">
                  <a16:creationId xmlns:a16="http://schemas.microsoft.com/office/drawing/2014/main" id="{A3D1FCCE-5B7C-69D4-C618-0BB7D871D656}"/>
                </a:ext>
              </a:extLst>
            </p:cNvPr>
            <p:cNvGrpSpPr/>
            <p:nvPr/>
          </p:nvGrpSpPr>
          <p:grpSpPr>
            <a:xfrm>
              <a:off x="8653254" y="1010530"/>
              <a:ext cx="1890713" cy="4582593"/>
              <a:chOff x="623888" y="1497194"/>
              <a:chExt cx="2532520" cy="4582593"/>
            </a:xfrm>
          </p:grpSpPr>
          <p:sp>
            <p:nvSpPr>
              <p:cNvPr id="9" name="Rectangle 8">
                <a:extLst>
                  <a:ext uri="{FF2B5EF4-FFF2-40B4-BE49-F238E27FC236}">
                    <a16:creationId xmlns:a16="http://schemas.microsoft.com/office/drawing/2014/main" id="{3EA5965E-AC13-7603-2557-BA25B55DFE7A}"/>
                  </a:ext>
                </a:extLst>
              </p:cNvPr>
              <p:cNvSpPr/>
              <p:nvPr/>
            </p:nvSpPr>
            <p:spPr>
              <a:xfrm>
                <a:off x="623888" y="2281276"/>
                <a:ext cx="2532520"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10" name="Rectangle 9">
                <a:extLst>
                  <a:ext uri="{FF2B5EF4-FFF2-40B4-BE49-F238E27FC236}">
                    <a16:creationId xmlns:a16="http://schemas.microsoft.com/office/drawing/2014/main" id="{869968F6-2218-E489-A3F2-487CF239EA21}"/>
                  </a:ext>
                </a:extLst>
              </p:cNvPr>
              <p:cNvSpPr/>
              <p:nvPr/>
            </p:nvSpPr>
            <p:spPr>
              <a:xfrm>
                <a:off x="623888" y="4474724"/>
                <a:ext cx="2532520" cy="16050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21" name="Text Placeholder 1">
                <a:extLst>
                  <a:ext uri="{FF2B5EF4-FFF2-40B4-BE49-F238E27FC236}">
                    <a16:creationId xmlns:a16="http://schemas.microsoft.com/office/drawing/2014/main" id="{ECCE7E82-AF87-C69D-D970-F29E3E66703D}"/>
                  </a:ext>
                </a:extLst>
              </p:cNvPr>
              <p:cNvSpPr txBox="1">
                <a:spLocks/>
              </p:cNvSpPr>
              <p:nvPr/>
            </p:nvSpPr>
            <p:spPr>
              <a:xfrm flipH="1">
                <a:off x="783457" y="2402149"/>
                <a:ext cx="2283734" cy="1457299"/>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Automated code analysis</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Business Function mapping</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Documentation</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Knowledge transfer</a:t>
                </a:r>
              </a:p>
              <a:p>
                <a:pPr marL="285750" marR="0" lvl="0" indent="-285750" algn="l" defTabSz="914400" rtl="0" eaLnBrk="1" fontAlgn="auto" latinLnBrk="0" hangingPunct="1">
                  <a:lnSpc>
                    <a:spcPct val="10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pitchFamily="2" charset="0"/>
                  </a:rPr>
                  <a:t>Version control</a:t>
                </a:r>
              </a:p>
            </p:txBody>
          </p:sp>
          <p:grpSp>
            <p:nvGrpSpPr>
              <p:cNvPr id="22" name="Group 21">
                <a:extLst>
                  <a:ext uri="{FF2B5EF4-FFF2-40B4-BE49-F238E27FC236}">
                    <a16:creationId xmlns:a16="http://schemas.microsoft.com/office/drawing/2014/main" id="{368881E4-CD36-0171-1131-5C774E9A2A1B}"/>
                  </a:ext>
                </a:extLst>
              </p:cNvPr>
              <p:cNvGrpSpPr/>
              <p:nvPr/>
            </p:nvGrpSpPr>
            <p:grpSpPr>
              <a:xfrm>
                <a:off x="623888" y="1497194"/>
                <a:ext cx="2532519" cy="784082"/>
                <a:chOff x="623888" y="1212883"/>
                <a:chExt cx="2532519" cy="784082"/>
              </a:xfrm>
            </p:grpSpPr>
            <p:grpSp>
              <p:nvGrpSpPr>
                <p:cNvPr id="25" name="Group 24">
                  <a:extLst>
                    <a:ext uri="{FF2B5EF4-FFF2-40B4-BE49-F238E27FC236}">
                      <a16:creationId xmlns:a16="http://schemas.microsoft.com/office/drawing/2014/main" id="{2A7E00D2-B235-67D2-7C7B-24BE497D74FC}"/>
                    </a:ext>
                  </a:extLst>
                </p:cNvPr>
                <p:cNvGrpSpPr/>
                <p:nvPr/>
              </p:nvGrpSpPr>
              <p:grpSpPr>
                <a:xfrm>
                  <a:off x="623888" y="1212883"/>
                  <a:ext cx="2532519" cy="784082"/>
                  <a:chOff x="623888" y="1212883"/>
                  <a:chExt cx="2532519" cy="784082"/>
                </a:xfrm>
              </p:grpSpPr>
              <p:pic>
                <p:nvPicPr>
                  <p:cNvPr id="27" name="Picture 26" descr="A blue dotted wave of dots&#10;&#10;Description automatically generated">
                    <a:extLst>
                      <a:ext uri="{FF2B5EF4-FFF2-40B4-BE49-F238E27FC236}">
                        <a16:creationId xmlns:a16="http://schemas.microsoft.com/office/drawing/2014/main" id="{8412097E-2F9E-868F-35C7-BCB27CBD7869}"/>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28" name="Rectangle 27">
                    <a:extLst>
                      <a:ext uri="{FF2B5EF4-FFF2-40B4-BE49-F238E27FC236}">
                        <a16:creationId xmlns:a16="http://schemas.microsoft.com/office/drawing/2014/main" id="{8BF85BC5-3039-49AD-E80D-2DCBF112BC0D}"/>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grpSp>
            <p:sp>
              <p:nvSpPr>
                <p:cNvPr id="26" name="Text Placeholder 1">
                  <a:extLst>
                    <a:ext uri="{FF2B5EF4-FFF2-40B4-BE49-F238E27FC236}">
                      <a16:creationId xmlns:a16="http://schemas.microsoft.com/office/drawing/2014/main" id="{8C51DAB4-78E6-678B-329A-61FE8B2A11F7}"/>
                    </a:ext>
                  </a:extLst>
                </p:cNvPr>
                <p:cNvSpPr txBox="1">
                  <a:spLocks/>
                </p:cNvSpPr>
                <p:nvPr/>
              </p:nvSpPr>
              <p:spPr>
                <a:xfrm flipH="1">
                  <a:off x="713101" y="1479000"/>
                  <a:ext cx="2354093" cy="309862"/>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pitchFamily="2" charset="0"/>
                    </a:rPr>
                    <a:t>Code to Business Mapping</a:t>
                  </a:r>
                </a:p>
              </p:txBody>
            </p:sp>
          </p:grpSp>
          <p:sp>
            <p:nvSpPr>
              <p:cNvPr id="23" name="Text Placeholder 1">
                <a:extLst>
                  <a:ext uri="{FF2B5EF4-FFF2-40B4-BE49-F238E27FC236}">
                    <a16:creationId xmlns:a16="http://schemas.microsoft.com/office/drawing/2014/main" id="{A72EE6AD-F735-27B6-9DBB-74D59A263604}"/>
                  </a:ext>
                </a:extLst>
              </p:cNvPr>
              <p:cNvSpPr txBox="1">
                <a:spLocks/>
              </p:cNvSpPr>
              <p:nvPr/>
            </p:nvSpPr>
            <p:spPr>
              <a:xfrm flipH="1">
                <a:off x="896444" y="4593517"/>
                <a:ext cx="1987409" cy="356415"/>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800" b="1" i="0" u="none" strike="noStrike" kern="1200" cap="none" spc="0" normalizeH="0" baseline="0" noProof="0">
                    <a:ln>
                      <a:noFill/>
                    </a:ln>
                    <a:solidFill>
                      <a:srgbClr val="FFFFFF"/>
                    </a:solidFill>
                    <a:effectLst/>
                    <a:uLnTx/>
                    <a:uFillTx/>
                    <a:latin typeface="Manrope" pitchFamily="2" charset="0"/>
                  </a:rPr>
                  <a:t>60% </a:t>
                </a:r>
              </a:p>
            </p:txBody>
          </p:sp>
          <p:sp>
            <p:nvSpPr>
              <p:cNvPr id="24" name="Text Placeholder 1">
                <a:extLst>
                  <a:ext uri="{FF2B5EF4-FFF2-40B4-BE49-F238E27FC236}">
                    <a16:creationId xmlns:a16="http://schemas.microsoft.com/office/drawing/2014/main" id="{2B9141E7-50B6-29F7-DAF0-C67ABCC7E5B1}"/>
                  </a:ext>
                </a:extLst>
              </p:cNvPr>
              <p:cNvSpPr txBox="1">
                <a:spLocks/>
              </p:cNvSpPr>
              <p:nvPr/>
            </p:nvSpPr>
            <p:spPr>
              <a:xfrm flipH="1">
                <a:off x="896444" y="5117002"/>
                <a:ext cx="1987409" cy="309862"/>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Manrope" pitchFamily="2" charset="0"/>
                  </a:rPr>
                  <a:t>reduction in documentation time</a:t>
                </a:r>
              </a:p>
            </p:txBody>
          </p:sp>
        </p:grpSp>
      </p:grpSp>
      <p:sp>
        <p:nvSpPr>
          <p:cNvPr id="30" name="Text Placeholder 29">
            <a:extLst>
              <a:ext uri="{FF2B5EF4-FFF2-40B4-BE49-F238E27FC236}">
                <a16:creationId xmlns:a16="http://schemas.microsoft.com/office/drawing/2014/main" id="{44A601C8-34BD-87BF-90B7-200463F4176B}"/>
              </a:ext>
            </a:extLst>
          </p:cNvPr>
          <p:cNvSpPr>
            <a:spLocks noGrp="1"/>
          </p:cNvSpPr>
          <p:nvPr>
            <p:ph type="body" sz="quarter" idx="15"/>
          </p:nvPr>
        </p:nvSpPr>
        <p:spPr>
          <a:xfrm flipH="1">
            <a:off x="623888" y="457200"/>
            <a:ext cx="8172450" cy="244101"/>
          </a:xfrm>
        </p:spPr>
        <p:txBody>
          <a:bodyPr/>
          <a:lstStyle/>
          <a:p>
            <a:r>
              <a:rPr lang="en-US" noProof="0">
                <a:latin typeface="Manrope" pitchFamily="2" charset="0"/>
              </a:rPr>
              <a:t>Platform Readiness capabilities</a:t>
            </a:r>
          </a:p>
        </p:txBody>
      </p:sp>
    </p:spTree>
    <p:extLst>
      <p:ext uri="{BB962C8B-B14F-4D97-AF65-F5344CB8AC3E}">
        <p14:creationId xmlns:p14="http://schemas.microsoft.com/office/powerpoint/2010/main" val="41061400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4E52B-9ADD-151A-66E2-6FD14FB4A862}"/>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4477EB03-83D7-9D3C-1CE9-DCAF27DBC1DC}"/>
              </a:ext>
            </a:extLst>
          </p:cNvPr>
          <p:cNvGrpSpPr/>
          <p:nvPr/>
        </p:nvGrpSpPr>
        <p:grpSpPr>
          <a:xfrm>
            <a:off x="530075" y="908050"/>
            <a:ext cx="11038038" cy="5473700"/>
            <a:chOff x="937848" y="809305"/>
            <a:chExt cx="10038631" cy="4876464"/>
          </a:xfrm>
        </p:grpSpPr>
        <p:grpSp>
          <p:nvGrpSpPr>
            <p:cNvPr id="8" name="Group 7">
              <a:extLst>
                <a:ext uri="{FF2B5EF4-FFF2-40B4-BE49-F238E27FC236}">
                  <a16:creationId xmlns:a16="http://schemas.microsoft.com/office/drawing/2014/main" id="{B8A6B142-B389-E55D-C5F4-60BD763AEDF9}"/>
                </a:ext>
              </a:extLst>
            </p:cNvPr>
            <p:cNvGrpSpPr/>
            <p:nvPr/>
          </p:nvGrpSpPr>
          <p:grpSpPr>
            <a:xfrm>
              <a:off x="937848" y="820330"/>
              <a:ext cx="2004646" cy="4865439"/>
              <a:chOff x="539262" y="855500"/>
              <a:chExt cx="2195323" cy="4865439"/>
            </a:xfrm>
          </p:grpSpPr>
          <p:sp>
            <p:nvSpPr>
              <p:cNvPr id="7" name="Rectangle 6">
                <a:extLst>
                  <a:ext uri="{FF2B5EF4-FFF2-40B4-BE49-F238E27FC236}">
                    <a16:creationId xmlns:a16="http://schemas.microsoft.com/office/drawing/2014/main" id="{CFA90252-1FDB-636A-7072-46BBEF4D32D9}"/>
                  </a:ext>
                </a:extLst>
              </p:cNvPr>
              <p:cNvSpPr/>
              <p:nvPr/>
            </p:nvSpPr>
            <p:spPr>
              <a:xfrm>
                <a:off x="626770" y="1443090"/>
                <a:ext cx="2107815" cy="3995003"/>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11" name="Rectangle 10">
                <a:extLst>
                  <a:ext uri="{FF2B5EF4-FFF2-40B4-BE49-F238E27FC236}">
                    <a16:creationId xmlns:a16="http://schemas.microsoft.com/office/drawing/2014/main" id="{A672FE25-AB5D-FCAC-0018-ED05F2E3B6FA}"/>
                  </a:ext>
                </a:extLst>
              </p:cNvPr>
              <p:cNvSpPr/>
              <p:nvPr/>
            </p:nvSpPr>
            <p:spPr>
              <a:xfrm>
                <a:off x="626770" y="4110513"/>
                <a:ext cx="2107815" cy="161042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6" name="Text Placeholder 1">
                <a:extLst>
                  <a:ext uri="{FF2B5EF4-FFF2-40B4-BE49-F238E27FC236}">
                    <a16:creationId xmlns:a16="http://schemas.microsoft.com/office/drawing/2014/main" id="{F1C32431-3453-0F25-B91D-CA6514334673}"/>
                  </a:ext>
                </a:extLst>
              </p:cNvPr>
              <p:cNvSpPr txBox="1">
                <a:spLocks/>
              </p:cNvSpPr>
              <p:nvPr/>
            </p:nvSpPr>
            <p:spPr>
              <a:xfrm flipH="1">
                <a:off x="759697" y="1820627"/>
                <a:ext cx="1783814" cy="1206928"/>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ML driven table creation for dynamic ingestion</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Automated data standardization</a:t>
                </a:r>
              </a:p>
              <a:p>
                <a:pPr marL="0" marR="0" lvl="0" indent="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endParaRPr kumimoji="0" lang="en-US" sz="1100" b="0" i="0" u="none" strike="noStrike" kern="1200" cap="none" spc="0" normalizeH="0" baseline="0" noProof="0">
                  <a:ln>
                    <a:noFill/>
                  </a:ln>
                  <a:solidFill>
                    <a:srgbClr val="000000"/>
                  </a:solidFill>
                  <a:effectLst/>
                  <a:uLnTx/>
                  <a:uFillTx/>
                  <a:latin typeface="Manrope"/>
                </a:endParaRPr>
              </a:p>
            </p:txBody>
          </p:sp>
          <p:grpSp>
            <p:nvGrpSpPr>
              <p:cNvPr id="20" name="Group 19">
                <a:extLst>
                  <a:ext uri="{FF2B5EF4-FFF2-40B4-BE49-F238E27FC236}">
                    <a16:creationId xmlns:a16="http://schemas.microsoft.com/office/drawing/2014/main" id="{EFF79A44-BED5-E8CD-947F-B1AF00EF2279}"/>
                  </a:ext>
                </a:extLst>
              </p:cNvPr>
              <p:cNvGrpSpPr/>
              <p:nvPr/>
            </p:nvGrpSpPr>
            <p:grpSpPr>
              <a:xfrm>
                <a:off x="626770" y="855500"/>
                <a:ext cx="2107814" cy="784082"/>
                <a:chOff x="623888" y="1212883"/>
                <a:chExt cx="2532519" cy="784082"/>
              </a:xfrm>
            </p:grpSpPr>
            <p:grpSp>
              <p:nvGrpSpPr>
                <p:cNvPr id="15" name="Group 14">
                  <a:extLst>
                    <a:ext uri="{FF2B5EF4-FFF2-40B4-BE49-F238E27FC236}">
                      <a16:creationId xmlns:a16="http://schemas.microsoft.com/office/drawing/2014/main" id="{35C8C164-7005-56AF-A3F5-40EB6D73ADDB}"/>
                    </a:ext>
                  </a:extLst>
                </p:cNvPr>
                <p:cNvGrpSpPr/>
                <p:nvPr/>
              </p:nvGrpSpPr>
              <p:grpSpPr>
                <a:xfrm>
                  <a:off x="623888" y="1212883"/>
                  <a:ext cx="2532519" cy="784082"/>
                  <a:chOff x="623888" y="1212883"/>
                  <a:chExt cx="2532519" cy="784082"/>
                </a:xfrm>
              </p:grpSpPr>
              <p:pic>
                <p:nvPicPr>
                  <p:cNvPr id="13" name="Picture 12" descr="A blue dotted wave of dots&#10;&#10;Description automatically generated">
                    <a:extLst>
                      <a:ext uri="{FF2B5EF4-FFF2-40B4-BE49-F238E27FC236}">
                        <a16:creationId xmlns:a16="http://schemas.microsoft.com/office/drawing/2014/main" id="{7BD7B893-DAAF-7C8A-83F9-802BD4531001}"/>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14" name="Rectangle 13">
                    <a:extLst>
                      <a:ext uri="{FF2B5EF4-FFF2-40B4-BE49-F238E27FC236}">
                        <a16:creationId xmlns:a16="http://schemas.microsoft.com/office/drawing/2014/main" id="{13BAA9FB-0FBC-F850-A436-E543FBE79C05}"/>
                      </a:ext>
                    </a:extLst>
                  </p:cNvPr>
                  <p:cNvSpPr/>
                  <p:nvPr/>
                </p:nvSpPr>
                <p:spPr>
                  <a:xfrm>
                    <a:off x="623888" y="1212883"/>
                    <a:ext cx="2532519" cy="587590"/>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grpSp>
            <p:sp>
              <p:nvSpPr>
                <p:cNvPr id="5" name="Text Placeholder 1">
                  <a:extLst>
                    <a:ext uri="{FF2B5EF4-FFF2-40B4-BE49-F238E27FC236}">
                      <a16:creationId xmlns:a16="http://schemas.microsoft.com/office/drawing/2014/main" id="{D42EB29E-E35C-6F94-81A5-4565EEBC75DC}"/>
                    </a:ext>
                  </a:extLst>
                </p:cNvPr>
                <p:cNvSpPr txBox="1">
                  <a:spLocks/>
                </p:cNvSpPr>
                <p:nvPr/>
              </p:nvSpPr>
              <p:spPr>
                <a:xfrm flipH="1">
                  <a:off x="853456" y="1488085"/>
                  <a:ext cx="2073380" cy="2025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a:rPr>
                    <a:t>Data Ingestion</a:t>
                  </a:r>
                </a:p>
              </p:txBody>
            </p:sp>
          </p:grpSp>
          <p:sp>
            <p:nvSpPr>
              <p:cNvPr id="3" name="Text Placeholder 1">
                <a:extLst>
                  <a:ext uri="{FF2B5EF4-FFF2-40B4-BE49-F238E27FC236}">
                    <a16:creationId xmlns:a16="http://schemas.microsoft.com/office/drawing/2014/main" id="{39B82681-1D74-75DC-6EBA-842DAB8D3A0F}"/>
                  </a:ext>
                </a:extLst>
              </p:cNvPr>
              <p:cNvSpPr txBox="1">
                <a:spLocks/>
              </p:cNvSpPr>
              <p:nvPr/>
            </p:nvSpPr>
            <p:spPr>
              <a:xfrm flipH="1">
                <a:off x="889394" y="4242665"/>
                <a:ext cx="1654119" cy="3687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400" b="1" i="0" u="none" strike="noStrike" kern="1200" cap="none" spc="0" normalizeH="0" baseline="0" noProof="0">
                    <a:ln>
                      <a:noFill/>
                    </a:ln>
                    <a:solidFill>
                      <a:srgbClr val="FFFFFF"/>
                    </a:solidFill>
                    <a:effectLst/>
                    <a:uLnTx/>
                    <a:uFillTx/>
                    <a:latin typeface="Manrope"/>
                  </a:rPr>
                  <a:t>40% </a:t>
                </a:r>
              </a:p>
            </p:txBody>
          </p:sp>
          <p:sp>
            <p:nvSpPr>
              <p:cNvPr id="4" name="Text Placeholder 1">
                <a:extLst>
                  <a:ext uri="{FF2B5EF4-FFF2-40B4-BE49-F238E27FC236}">
                    <a16:creationId xmlns:a16="http://schemas.microsoft.com/office/drawing/2014/main" id="{05A5F2F0-54FC-A4DD-5A95-284F1FFE406B}"/>
                  </a:ext>
                </a:extLst>
              </p:cNvPr>
              <p:cNvSpPr txBox="1">
                <a:spLocks/>
              </p:cNvSpPr>
              <p:nvPr/>
            </p:nvSpPr>
            <p:spPr>
              <a:xfrm flipH="1">
                <a:off x="889394" y="4766150"/>
                <a:ext cx="1654119" cy="18870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Manrope"/>
                  </a:rPr>
                  <a:t>Effort Reduction</a:t>
                </a:r>
              </a:p>
            </p:txBody>
          </p:sp>
          <p:sp>
            <p:nvSpPr>
              <p:cNvPr id="29" name="TextBox 28">
                <a:extLst>
                  <a:ext uri="{FF2B5EF4-FFF2-40B4-BE49-F238E27FC236}">
                    <a16:creationId xmlns:a16="http://schemas.microsoft.com/office/drawing/2014/main" id="{69A8D187-6F85-8295-5537-A27BF7D4B32B}"/>
                  </a:ext>
                </a:extLst>
              </p:cNvPr>
              <p:cNvSpPr txBox="1"/>
              <p:nvPr/>
            </p:nvSpPr>
            <p:spPr>
              <a:xfrm>
                <a:off x="539262" y="5426724"/>
                <a:ext cx="2094991"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9DEEF6"/>
                    </a:solidFill>
                    <a:effectLst/>
                    <a:uLnTx/>
                    <a:uFillTx/>
                    <a:latin typeface="Manrope"/>
                  </a:rPr>
                  <a:t>RPA Driven</a:t>
                </a:r>
              </a:p>
            </p:txBody>
          </p:sp>
        </p:grpSp>
        <p:grpSp>
          <p:nvGrpSpPr>
            <p:cNvPr id="12" name="Group 11">
              <a:extLst>
                <a:ext uri="{FF2B5EF4-FFF2-40B4-BE49-F238E27FC236}">
                  <a16:creationId xmlns:a16="http://schemas.microsoft.com/office/drawing/2014/main" id="{198EB89E-FF5F-4A07-73F5-E184CB278713}"/>
                </a:ext>
              </a:extLst>
            </p:cNvPr>
            <p:cNvGrpSpPr/>
            <p:nvPr/>
          </p:nvGrpSpPr>
          <p:grpSpPr>
            <a:xfrm>
              <a:off x="3053079" y="820327"/>
              <a:ext cx="1924738" cy="4865438"/>
              <a:chOff x="2874849" y="855497"/>
              <a:chExt cx="2129566" cy="4865438"/>
            </a:xfrm>
          </p:grpSpPr>
          <p:sp>
            <p:nvSpPr>
              <p:cNvPr id="16" name="Rectangle 15">
                <a:extLst>
                  <a:ext uri="{FF2B5EF4-FFF2-40B4-BE49-F238E27FC236}">
                    <a16:creationId xmlns:a16="http://schemas.microsoft.com/office/drawing/2014/main" id="{4EDC0AE8-21DA-7EB4-1F2C-B99F1988767E}"/>
                  </a:ext>
                </a:extLst>
              </p:cNvPr>
              <p:cNvSpPr/>
              <p:nvPr/>
            </p:nvSpPr>
            <p:spPr>
              <a:xfrm>
                <a:off x="2874849" y="1639579"/>
                <a:ext cx="2107815"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17" name="Rectangle 16">
                <a:extLst>
                  <a:ext uri="{FF2B5EF4-FFF2-40B4-BE49-F238E27FC236}">
                    <a16:creationId xmlns:a16="http://schemas.microsoft.com/office/drawing/2014/main" id="{3A65D0A6-CAB6-B8A1-67E3-75E3B127AAA5}"/>
                  </a:ext>
                </a:extLst>
              </p:cNvPr>
              <p:cNvSpPr/>
              <p:nvPr/>
            </p:nvSpPr>
            <p:spPr>
              <a:xfrm>
                <a:off x="2874849" y="4110510"/>
                <a:ext cx="2107815" cy="16104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18" name="Text Placeholder 1">
                <a:extLst>
                  <a:ext uri="{FF2B5EF4-FFF2-40B4-BE49-F238E27FC236}">
                    <a16:creationId xmlns:a16="http://schemas.microsoft.com/office/drawing/2014/main" id="{07BA74E2-F639-F5A3-725B-123393BC258A}"/>
                  </a:ext>
                </a:extLst>
              </p:cNvPr>
              <p:cNvSpPr txBox="1">
                <a:spLocks/>
              </p:cNvSpPr>
              <p:nvPr/>
            </p:nvSpPr>
            <p:spPr>
              <a:xfrm flipH="1">
                <a:off x="2934593" y="1820626"/>
                <a:ext cx="2040191" cy="1359278"/>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Automated data discovery &amp; rule generation</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Business rules for profile data using NLP</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Code Value Rule Management Based on Profiled Data</a:t>
                </a:r>
              </a:p>
            </p:txBody>
          </p:sp>
          <p:grpSp>
            <p:nvGrpSpPr>
              <p:cNvPr id="19" name="Group 18">
                <a:extLst>
                  <a:ext uri="{FF2B5EF4-FFF2-40B4-BE49-F238E27FC236}">
                    <a16:creationId xmlns:a16="http://schemas.microsoft.com/office/drawing/2014/main" id="{0AF99622-F513-30CE-2E12-AA268FF227D9}"/>
                  </a:ext>
                </a:extLst>
              </p:cNvPr>
              <p:cNvGrpSpPr/>
              <p:nvPr/>
            </p:nvGrpSpPr>
            <p:grpSpPr>
              <a:xfrm>
                <a:off x="2874849" y="855497"/>
                <a:ext cx="2107814" cy="784082"/>
                <a:chOff x="623888" y="1212883"/>
                <a:chExt cx="2532519" cy="784082"/>
              </a:xfrm>
            </p:grpSpPr>
            <p:grpSp>
              <p:nvGrpSpPr>
                <p:cNvPr id="41" name="Group 40">
                  <a:extLst>
                    <a:ext uri="{FF2B5EF4-FFF2-40B4-BE49-F238E27FC236}">
                      <a16:creationId xmlns:a16="http://schemas.microsoft.com/office/drawing/2014/main" id="{BC83C314-4181-F280-A8D7-E30D0D7CAB33}"/>
                    </a:ext>
                  </a:extLst>
                </p:cNvPr>
                <p:cNvGrpSpPr/>
                <p:nvPr/>
              </p:nvGrpSpPr>
              <p:grpSpPr>
                <a:xfrm>
                  <a:off x="623888" y="1212883"/>
                  <a:ext cx="2532519" cy="784082"/>
                  <a:chOff x="623888" y="1212883"/>
                  <a:chExt cx="2532519" cy="784082"/>
                </a:xfrm>
              </p:grpSpPr>
              <p:pic>
                <p:nvPicPr>
                  <p:cNvPr id="43" name="Picture 42" descr="A blue dotted wave of dots&#10;&#10;Description automatically generated">
                    <a:extLst>
                      <a:ext uri="{FF2B5EF4-FFF2-40B4-BE49-F238E27FC236}">
                        <a16:creationId xmlns:a16="http://schemas.microsoft.com/office/drawing/2014/main" id="{B7027F1A-FC09-4AE2-E736-77C19E23D716}"/>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44" name="Rectangle 43">
                    <a:extLst>
                      <a:ext uri="{FF2B5EF4-FFF2-40B4-BE49-F238E27FC236}">
                        <a16:creationId xmlns:a16="http://schemas.microsoft.com/office/drawing/2014/main" id="{BFBC3735-2C86-8B8B-0DBA-6120A1CDAB90}"/>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grpSp>
            <p:sp>
              <p:nvSpPr>
                <p:cNvPr id="42" name="Text Placeholder 1">
                  <a:extLst>
                    <a:ext uri="{FF2B5EF4-FFF2-40B4-BE49-F238E27FC236}">
                      <a16:creationId xmlns:a16="http://schemas.microsoft.com/office/drawing/2014/main" id="{7F247392-5311-913D-3BD6-66481B1C4A17}"/>
                    </a:ext>
                  </a:extLst>
                </p:cNvPr>
                <p:cNvSpPr txBox="1">
                  <a:spLocks/>
                </p:cNvSpPr>
                <p:nvPr/>
              </p:nvSpPr>
              <p:spPr>
                <a:xfrm flipH="1">
                  <a:off x="853456" y="1488088"/>
                  <a:ext cx="2073379" cy="2025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a:rPr>
                    <a:t>Data Profiling</a:t>
                  </a:r>
                </a:p>
              </p:txBody>
            </p:sp>
          </p:grpSp>
          <p:sp>
            <p:nvSpPr>
              <p:cNvPr id="39" name="Text Placeholder 1">
                <a:extLst>
                  <a:ext uri="{FF2B5EF4-FFF2-40B4-BE49-F238E27FC236}">
                    <a16:creationId xmlns:a16="http://schemas.microsoft.com/office/drawing/2014/main" id="{8F2F44FD-CA13-342A-A30D-353C6F82DD7C}"/>
                  </a:ext>
                </a:extLst>
              </p:cNvPr>
              <p:cNvSpPr txBox="1">
                <a:spLocks/>
              </p:cNvSpPr>
              <p:nvPr/>
            </p:nvSpPr>
            <p:spPr>
              <a:xfrm flipH="1">
                <a:off x="3137473" y="4242663"/>
                <a:ext cx="1654119" cy="3687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400" b="1" i="0" u="none" strike="noStrike" kern="1200" cap="none" spc="0" normalizeH="0" baseline="0" noProof="0">
                    <a:ln>
                      <a:noFill/>
                    </a:ln>
                    <a:solidFill>
                      <a:srgbClr val="FFFFFF"/>
                    </a:solidFill>
                    <a:effectLst/>
                    <a:uLnTx/>
                    <a:uFillTx/>
                    <a:latin typeface="Manrope"/>
                  </a:rPr>
                  <a:t>5X</a:t>
                </a:r>
              </a:p>
            </p:txBody>
          </p:sp>
          <p:sp>
            <p:nvSpPr>
              <p:cNvPr id="40" name="Text Placeholder 1">
                <a:extLst>
                  <a:ext uri="{FF2B5EF4-FFF2-40B4-BE49-F238E27FC236}">
                    <a16:creationId xmlns:a16="http://schemas.microsoft.com/office/drawing/2014/main" id="{7113885C-D273-F4BB-1B4E-7DFD925E638D}"/>
                  </a:ext>
                </a:extLst>
              </p:cNvPr>
              <p:cNvSpPr txBox="1">
                <a:spLocks/>
              </p:cNvSpPr>
              <p:nvPr/>
            </p:nvSpPr>
            <p:spPr>
              <a:xfrm flipH="1">
                <a:off x="3137473" y="4766148"/>
                <a:ext cx="1654119" cy="18870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Manrope"/>
                  </a:rPr>
                  <a:t>Faster profiling</a:t>
                </a:r>
              </a:p>
            </p:txBody>
          </p:sp>
          <p:sp>
            <p:nvSpPr>
              <p:cNvPr id="30" name="TextBox 29">
                <a:extLst>
                  <a:ext uri="{FF2B5EF4-FFF2-40B4-BE49-F238E27FC236}">
                    <a16:creationId xmlns:a16="http://schemas.microsoft.com/office/drawing/2014/main" id="{6927AE2E-D9A4-D4EA-0176-F3B5E157A4FF}"/>
                  </a:ext>
                </a:extLst>
              </p:cNvPr>
              <p:cNvSpPr txBox="1"/>
              <p:nvPr/>
            </p:nvSpPr>
            <p:spPr>
              <a:xfrm>
                <a:off x="2900631" y="5426724"/>
                <a:ext cx="2103784"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9DEEF6"/>
                    </a:solidFill>
                    <a:effectLst/>
                    <a:uLnTx/>
                    <a:uFillTx/>
                    <a:latin typeface="Manrope"/>
                  </a:rPr>
                  <a:t>RPA + Data Insights</a:t>
                </a:r>
              </a:p>
            </p:txBody>
          </p:sp>
        </p:grpSp>
        <p:grpSp>
          <p:nvGrpSpPr>
            <p:cNvPr id="35" name="Group 34">
              <a:extLst>
                <a:ext uri="{FF2B5EF4-FFF2-40B4-BE49-F238E27FC236}">
                  <a16:creationId xmlns:a16="http://schemas.microsoft.com/office/drawing/2014/main" id="{13C28357-FE3E-D2A2-ADDF-B9C5DF39A3A5}"/>
                </a:ext>
              </a:extLst>
            </p:cNvPr>
            <p:cNvGrpSpPr/>
            <p:nvPr/>
          </p:nvGrpSpPr>
          <p:grpSpPr>
            <a:xfrm>
              <a:off x="5048087" y="820327"/>
              <a:ext cx="1901436" cy="4865438"/>
              <a:chOff x="5114363" y="855498"/>
              <a:chExt cx="2108501" cy="4865438"/>
            </a:xfrm>
          </p:grpSpPr>
          <p:sp>
            <p:nvSpPr>
              <p:cNvPr id="46" name="Rectangle 45">
                <a:extLst>
                  <a:ext uri="{FF2B5EF4-FFF2-40B4-BE49-F238E27FC236}">
                    <a16:creationId xmlns:a16="http://schemas.microsoft.com/office/drawing/2014/main" id="{D8107C14-2DAC-58DC-14EF-998F5D26FF81}"/>
                  </a:ext>
                </a:extLst>
              </p:cNvPr>
              <p:cNvSpPr/>
              <p:nvPr/>
            </p:nvSpPr>
            <p:spPr>
              <a:xfrm>
                <a:off x="5115049" y="1639580"/>
                <a:ext cx="2107815"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47" name="Rectangle 46">
                <a:extLst>
                  <a:ext uri="{FF2B5EF4-FFF2-40B4-BE49-F238E27FC236}">
                    <a16:creationId xmlns:a16="http://schemas.microsoft.com/office/drawing/2014/main" id="{0AE46072-83D5-7916-1AA7-E6A65463969E}"/>
                  </a:ext>
                </a:extLst>
              </p:cNvPr>
              <p:cNvSpPr/>
              <p:nvPr/>
            </p:nvSpPr>
            <p:spPr>
              <a:xfrm>
                <a:off x="5115049" y="4110511"/>
                <a:ext cx="2107815" cy="16104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48" name="Text Placeholder 1">
                <a:extLst>
                  <a:ext uri="{FF2B5EF4-FFF2-40B4-BE49-F238E27FC236}">
                    <a16:creationId xmlns:a16="http://schemas.microsoft.com/office/drawing/2014/main" id="{BC58BE97-7180-A15C-943F-EC860AA76308}"/>
                  </a:ext>
                </a:extLst>
              </p:cNvPr>
              <p:cNvSpPr txBox="1">
                <a:spLocks/>
              </p:cNvSpPr>
              <p:nvPr/>
            </p:nvSpPr>
            <p:spPr>
              <a:xfrm flipH="1">
                <a:off x="5182774" y="1820627"/>
                <a:ext cx="1912881" cy="1335169"/>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Comprehensive Rule Library</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Organized  Quality checks by type</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Automated Rule Entry </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DQ Dashboards</a:t>
                </a:r>
              </a:p>
            </p:txBody>
          </p:sp>
          <p:grpSp>
            <p:nvGrpSpPr>
              <p:cNvPr id="49" name="Group 48">
                <a:extLst>
                  <a:ext uri="{FF2B5EF4-FFF2-40B4-BE49-F238E27FC236}">
                    <a16:creationId xmlns:a16="http://schemas.microsoft.com/office/drawing/2014/main" id="{35843C18-0288-B0DB-F386-A86B51FFF613}"/>
                  </a:ext>
                </a:extLst>
              </p:cNvPr>
              <p:cNvGrpSpPr/>
              <p:nvPr/>
            </p:nvGrpSpPr>
            <p:grpSpPr>
              <a:xfrm>
                <a:off x="5115049" y="855498"/>
                <a:ext cx="2107814" cy="784082"/>
                <a:chOff x="623888" y="1212883"/>
                <a:chExt cx="2532519" cy="784082"/>
              </a:xfrm>
            </p:grpSpPr>
            <p:grpSp>
              <p:nvGrpSpPr>
                <p:cNvPr id="53" name="Group 52">
                  <a:extLst>
                    <a:ext uri="{FF2B5EF4-FFF2-40B4-BE49-F238E27FC236}">
                      <a16:creationId xmlns:a16="http://schemas.microsoft.com/office/drawing/2014/main" id="{2990549A-A416-B014-B53F-A428393B474E}"/>
                    </a:ext>
                  </a:extLst>
                </p:cNvPr>
                <p:cNvGrpSpPr/>
                <p:nvPr/>
              </p:nvGrpSpPr>
              <p:grpSpPr>
                <a:xfrm>
                  <a:off x="623888" y="1212883"/>
                  <a:ext cx="2532519" cy="784082"/>
                  <a:chOff x="623888" y="1212883"/>
                  <a:chExt cx="2532519" cy="784082"/>
                </a:xfrm>
              </p:grpSpPr>
              <p:pic>
                <p:nvPicPr>
                  <p:cNvPr id="55" name="Picture 54" descr="A blue dotted wave of dots&#10;&#10;Description automatically generated">
                    <a:extLst>
                      <a:ext uri="{FF2B5EF4-FFF2-40B4-BE49-F238E27FC236}">
                        <a16:creationId xmlns:a16="http://schemas.microsoft.com/office/drawing/2014/main" id="{88E35239-D2F2-843D-8515-113848CB2ABC}"/>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56" name="Rectangle 55">
                    <a:extLst>
                      <a:ext uri="{FF2B5EF4-FFF2-40B4-BE49-F238E27FC236}">
                        <a16:creationId xmlns:a16="http://schemas.microsoft.com/office/drawing/2014/main" id="{3107A82D-36C6-AF1F-822A-9881BB0F2A08}"/>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grpSp>
            <p:sp>
              <p:nvSpPr>
                <p:cNvPr id="54" name="Text Placeholder 1">
                  <a:extLst>
                    <a:ext uri="{FF2B5EF4-FFF2-40B4-BE49-F238E27FC236}">
                      <a16:creationId xmlns:a16="http://schemas.microsoft.com/office/drawing/2014/main" id="{B24E19FB-8EC2-66DC-BF98-8F046134F1C0}"/>
                    </a:ext>
                  </a:extLst>
                </p:cNvPr>
                <p:cNvSpPr txBox="1">
                  <a:spLocks/>
                </p:cNvSpPr>
                <p:nvPr/>
              </p:nvSpPr>
              <p:spPr>
                <a:xfrm flipH="1">
                  <a:off x="688988" y="1488088"/>
                  <a:ext cx="2402319" cy="2025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a:rPr>
                    <a:t>Data  Quality</a:t>
                  </a:r>
                </a:p>
              </p:txBody>
            </p:sp>
          </p:grpSp>
          <p:sp>
            <p:nvSpPr>
              <p:cNvPr id="51" name="Text Placeholder 1">
                <a:extLst>
                  <a:ext uri="{FF2B5EF4-FFF2-40B4-BE49-F238E27FC236}">
                    <a16:creationId xmlns:a16="http://schemas.microsoft.com/office/drawing/2014/main" id="{7F0B9D47-C729-32A0-A526-0A12CFD41C0D}"/>
                  </a:ext>
                </a:extLst>
              </p:cNvPr>
              <p:cNvSpPr txBox="1">
                <a:spLocks/>
              </p:cNvSpPr>
              <p:nvPr/>
            </p:nvSpPr>
            <p:spPr>
              <a:xfrm flipH="1">
                <a:off x="5377673" y="4245631"/>
                <a:ext cx="1654119" cy="3687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400" b="1" i="0" u="none" strike="noStrike" kern="1200" cap="none" spc="0" normalizeH="0" baseline="0" noProof="0">
                    <a:ln>
                      <a:noFill/>
                    </a:ln>
                    <a:solidFill>
                      <a:srgbClr val="FFFFFF"/>
                    </a:solidFill>
                    <a:effectLst/>
                    <a:uLnTx/>
                    <a:uFillTx/>
                    <a:latin typeface="Manrope"/>
                  </a:rPr>
                  <a:t>40% </a:t>
                </a:r>
              </a:p>
            </p:txBody>
          </p:sp>
          <p:sp>
            <p:nvSpPr>
              <p:cNvPr id="52" name="Text Placeholder 1">
                <a:extLst>
                  <a:ext uri="{FF2B5EF4-FFF2-40B4-BE49-F238E27FC236}">
                    <a16:creationId xmlns:a16="http://schemas.microsoft.com/office/drawing/2014/main" id="{90B23F43-5A7C-CB67-F129-34E019AA0F7D}"/>
                  </a:ext>
                </a:extLst>
              </p:cNvPr>
              <p:cNvSpPr txBox="1">
                <a:spLocks/>
              </p:cNvSpPr>
              <p:nvPr/>
            </p:nvSpPr>
            <p:spPr>
              <a:xfrm flipH="1">
                <a:off x="5377673" y="4769116"/>
                <a:ext cx="1654119" cy="3410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Manrope"/>
                  </a:rPr>
                  <a:t>Error Reduction in code and logic</a:t>
                </a:r>
              </a:p>
            </p:txBody>
          </p:sp>
          <p:sp>
            <p:nvSpPr>
              <p:cNvPr id="31" name="TextBox 30">
                <a:extLst>
                  <a:ext uri="{FF2B5EF4-FFF2-40B4-BE49-F238E27FC236}">
                    <a16:creationId xmlns:a16="http://schemas.microsoft.com/office/drawing/2014/main" id="{215219E7-C936-B2D0-DD1C-4729FA72A7A3}"/>
                  </a:ext>
                </a:extLst>
              </p:cNvPr>
              <p:cNvSpPr txBox="1"/>
              <p:nvPr/>
            </p:nvSpPr>
            <p:spPr>
              <a:xfrm>
                <a:off x="5114363" y="5438089"/>
                <a:ext cx="2103784"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9DEEF6"/>
                    </a:solidFill>
                    <a:effectLst/>
                    <a:uLnTx/>
                    <a:uFillTx/>
                    <a:latin typeface="Manrope"/>
                  </a:rPr>
                  <a:t>Prediction Driven</a:t>
                </a:r>
              </a:p>
            </p:txBody>
          </p:sp>
        </p:grpSp>
        <p:grpSp>
          <p:nvGrpSpPr>
            <p:cNvPr id="38" name="Group 37">
              <a:extLst>
                <a:ext uri="{FF2B5EF4-FFF2-40B4-BE49-F238E27FC236}">
                  <a16:creationId xmlns:a16="http://schemas.microsoft.com/office/drawing/2014/main" id="{A9868C21-CB80-783A-F828-B6458249211E}"/>
                </a:ext>
              </a:extLst>
            </p:cNvPr>
            <p:cNvGrpSpPr/>
            <p:nvPr/>
          </p:nvGrpSpPr>
          <p:grpSpPr>
            <a:xfrm>
              <a:off x="7035198" y="815748"/>
              <a:ext cx="2015018" cy="4865438"/>
              <a:chOff x="7319543" y="855497"/>
              <a:chExt cx="2103784" cy="4865438"/>
            </a:xfrm>
          </p:grpSpPr>
          <p:grpSp>
            <p:nvGrpSpPr>
              <p:cNvPr id="36" name="Group 35">
                <a:extLst>
                  <a:ext uri="{FF2B5EF4-FFF2-40B4-BE49-F238E27FC236}">
                    <a16:creationId xmlns:a16="http://schemas.microsoft.com/office/drawing/2014/main" id="{DCD951EB-FFE4-7117-5B2D-2525B95135A1}"/>
                  </a:ext>
                </a:extLst>
              </p:cNvPr>
              <p:cNvGrpSpPr/>
              <p:nvPr/>
            </p:nvGrpSpPr>
            <p:grpSpPr>
              <a:xfrm>
                <a:off x="7363129" y="855497"/>
                <a:ext cx="2001686" cy="4865438"/>
                <a:chOff x="7363128" y="855497"/>
                <a:chExt cx="2107815" cy="4865438"/>
              </a:xfrm>
            </p:grpSpPr>
            <p:sp>
              <p:nvSpPr>
                <p:cNvPr id="58" name="Rectangle 57">
                  <a:extLst>
                    <a:ext uri="{FF2B5EF4-FFF2-40B4-BE49-F238E27FC236}">
                      <a16:creationId xmlns:a16="http://schemas.microsoft.com/office/drawing/2014/main" id="{7245C467-C37D-3C6E-156B-1B3D008FF395}"/>
                    </a:ext>
                  </a:extLst>
                </p:cNvPr>
                <p:cNvSpPr/>
                <p:nvPr/>
              </p:nvSpPr>
              <p:spPr>
                <a:xfrm>
                  <a:off x="7363128" y="1639579"/>
                  <a:ext cx="2107815"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59" name="Rectangle 58">
                  <a:extLst>
                    <a:ext uri="{FF2B5EF4-FFF2-40B4-BE49-F238E27FC236}">
                      <a16:creationId xmlns:a16="http://schemas.microsoft.com/office/drawing/2014/main" id="{B5D909DE-2F6F-F91A-331D-F23925A7B823}"/>
                    </a:ext>
                  </a:extLst>
                </p:cNvPr>
                <p:cNvSpPr/>
                <p:nvPr/>
              </p:nvSpPr>
              <p:spPr>
                <a:xfrm>
                  <a:off x="7363128" y="4110510"/>
                  <a:ext cx="2107815" cy="16104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60" name="Text Placeholder 1">
                  <a:extLst>
                    <a:ext uri="{FF2B5EF4-FFF2-40B4-BE49-F238E27FC236}">
                      <a16:creationId xmlns:a16="http://schemas.microsoft.com/office/drawing/2014/main" id="{09021AFD-2AC7-C7C7-7FC0-7D3A9E4E3510}"/>
                    </a:ext>
                  </a:extLst>
                </p:cNvPr>
                <p:cNvSpPr txBox="1">
                  <a:spLocks/>
                </p:cNvSpPr>
                <p:nvPr/>
              </p:nvSpPr>
              <p:spPr>
                <a:xfrm flipH="1">
                  <a:off x="7555620" y="1825205"/>
                  <a:ext cx="1794381" cy="1487518"/>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Automated ETL code execution</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Supports legacy data formats</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Data Masking &amp; Encryption</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Allows UI for data maps</a:t>
                  </a:r>
                </a:p>
              </p:txBody>
            </p:sp>
            <p:grpSp>
              <p:nvGrpSpPr>
                <p:cNvPr id="62" name="Group 61">
                  <a:extLst>
                    <a:ext uri="{FF2B5EF4-FFF2-40B4-BE49-F238E27FC236}">
                      <a16:creationId xmlns:a16="http://schemas.microsoft.com/office/drawing/2014/main" id="{D49BBC51-2C2A-DEB1-621D-DEE478F56EED}"/>
                    </a:ext>
                  </a:extLst>
                </p:cNvPr>
                <p:cNvGrpSpPr/>
                <p:nvPr/>
              </p:nvGrpSpPr>
              <p:grpSpPr>
                <a:xfrm>
                  <a:off x="7363128" y="855497"/>
                  <a:ext cx="2107814" cy="784082"/>
                  <a:chOff x="623888" y="1212883"/>
                  <a:chExt cx="2532519" cy="784082"/>
                </a:xfrm>
              </p:grpSpPr>
              <p:grpSp>
                <p:nvGrpSpPr>
                  <p:cNvPr id="73" name="Group 72">
                    <a:extLst>
                      <a:ext uri="{FF2B5EF4-FFF2-40B4-BE49-F238E27FC236}">
                        <a16:creationId xmlns:a16="http://schemas.microsoft.com/office/drawing/2014/main" id="{9D420BA4-65B9-D9A0-C692-197EDE86C58B}"/>
                      </a:ext>
                    </a:extLst>
                  </p:cNvPr>
                  <p:cNvGrpSpPr/>
                  <p:nvPr/>
                </p:nvGrpSpPr>
                <p:grpSpPr>
                  <a:xfrm>
                    <a:off x="623888" y="1212883"/>
                    <a:ext cx="2532519" cy="784082"/>
                    <a:chOff x="623888" y="1212883"/>
                    <a:chExt cx="2532519" cy="784082"/>
                  </a:xfrm>
                </p:grpSpPr>
                <p:pic>
                  <p:nvPicPr>
                    <p:cNvPr id="75" name="Picture 74" descr="A blue dotted wave of dots&#10;&#10;Description automatically generated">
                      <a:extLst>
                        <a:ext uri="{FF2B5EF4-FFF2-40B4-BE49-F238E27FC236}">
                          <a16:creationId xmlns:a16="http://schemas.microsoft.com/office/drawing/2014/main" id="{489D00A9-77FA-137D-1795-A18DB6E803C5}"/>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76" name="Rectangle 75">
                      <a:extLst>
                        <a:ext uri="{FF2B5EF4-FFF2-40B4-BE49-F238E27FC236}">
                          <a16:creationId xmlns:a16="http://schemas.microsoft.com/office/drawing/2014/main" id="{56032D60-DCAF-EA56-268B-C496D0F628E2}"/>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grpSp>
              <p:sp>
                <p:nvSpPr>
                  <p:cNvPr id="74" name="Text Placeholder 1">
                    <a:extLst>
                      <a:ext uri="{FF2B5EF4-FFF2-40B4-BE49-F238E27FC236}">
                        <a16:creationId xmlns:a16="http://schemas.microsoft.com/office/drawing/2014/main" id="{08A420F3-E544-EE21-398B-BA4EB461CF33}"/>
                      </a:ext>
                    </a:extLst>
                  </p:cNvPr>
                  <p:cNvSpPr txBox="1">
                    <a:spLocks/>
                  </p:cNvSpPr>
                  <p:nvPr/>
                </p:nvSpPr>
                <p:spPr>
                  <a:xfrm flipH="1">
                    <a:off x="713101" y="1410525"/>
                    <a:ext cx="2354092" cy="284689"/>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a:rPr>
                      <a:t>Data transformation</a:t>
                    </a:r>
                  </a:p>
                </p:txBody>
              </p:sp>
            </p:grpSp>
            <p:sp>
              <p:nvSpPr>
                <p:cNvPr id="66" name="Text Placeholder 1">
                  <a:extLst>
                    <a:ext uri="{FF2B5EF4-FFF2-40B4-BE49-F238E27FC236}">
                      <a16:creationId xmlns:a16="http://schemas.microsoft.com/office/drawing/2014/main" id="{06D9C598-535A-E389-B5FD-DBD2EAEA5E4A}"/>
                    </a:ext>
                  </a:extLst>
                </p:cNvPr>
                <p:cNvSpPr txBox="1">
                  <a:spLocks/>
                </p:cNvSpPr>
                <p:nvPr/>
              </p:nvSpPr>
              <p:spPr>
                <a:xfrm flipH="1">
                  <a:off x="7625752" y="4245631"/>
                  <a:ext cx="1654119" cy="3687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400" b="1" i="0" u="none" strike="noStrike" kern="1200" cap="none" spc="0" normalizeH="0" baseline="0" noProof="0">
                      <a:ln>
                        <a:noFill/>
                      </a:ln>
                      <a:solidFill>
                        <a:srgbClr val="FFFFFF"/>
                      </a:solidFill>
                      <a:effectLst/>
                      <a:uLnTx/>
                      <a:uFillTx/>
                      <a:latin typeface="Manrope"/>
                    </a:rPr>
                    <a:t>3x-5x</a:t>
                  </a:r>
                </a:p>
              </p:txBody>
            </p:sp>
            <p:sp>
              <p:nvSpPr>
                <p:cNvPr id="67" name="Text Placeholder 1">
                  <a:extLst>
                    <a:ext uri="{FF2B5EF4-FFF2-40B4-BE49-F238E27FC236}">
                      <a16:creationId xmlns:a16="http://schemas.microsoft.com/office/drawing/2014/main" id="{7DD3383D-E327-F149-5464-B80C77B2E642}"/>
                    </a:ext>
                  </a:extLst>
                </p:cNvPr>
                <p:cNvSpPr txBox="1">
                  <a:spLocks/>
                </p:cNvSpPr>
                <p:nvPr/>
              </p:nvSpPr>
              <p:spPr>
                <a:xfrm flipH="1">
                  <a:off x="7625752" y="4769116"/>
                  <a:ext cx="1654119" cy="18870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100" b="0" i="0" u="none" strike="noStrike" kern="1200" cap="none" spc="0" normalizeH="0" baseline="0" noProof="0">
                      <a:ln>
                        <a:noFill/>
                      </a:ln>
                      <a:solidFill>
                        <a:srgbClr val="FFFFFF"/>
                      </a:solidFill>
                      <a:effectLst/>
                      <a:uLnTx/>
                      <a:uFillTx/>
                      <a:latin typeface="Manrope"/>
                    </a:rPr>
                    <a:t>Faster transformation</a:t>
                  </a:r>
                </a:p>
              </p:txBody>
            </p:sp>
          </p:grpSp>
          <p:sp>
            <p:nvSpPr>
              <p:cNvPr id="32" name="TextBox 31">
                <a:extLst>
                  <a:ext uri="{FF2B5EF4-FFF2-40B4-BE49-F238E27FC236}">
                    <a16:creationId xmlns:a16="http://schemas.microsoft.com/office/drawing/2014/main" id="{60D092E3-7D1E-AB27-2CD9-FDFAE4CA9BBF}"/>
                  </a:ext>
                </a:extLst>
              </p:cNvPr>
              <p:cNvSpPr txBox="1"/>
              <p:nvPr/>
            </p:nvSpPr>
            <p:spPr>
              <a:xfrm>
                <a:off x="7319543" y="5426724"/>
                <a:ext cx="2103784"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9DEEF6"/>
                    </a:solidFill>
                    <a:effectLst/>
                    <a:uLnTx/>
                    <a:uFillTx/>
                    <a:latin typeface="Manrope"/>
                  </a:rPr>
                  <a:t>Automation Driven</a:t>
                </a:r>
              </a:p>
            </p:txBody>
          </p:sp>
        </p:grpSp>
        <p:grpSp>
          <p:nvGrpSpPr>
            <p:cNvPr id="37" name="Group 36">
              <a:extLst>
                <a:ext uri="{FF2B5EF4-FFF2-40B4-BE49-F238E27FC236}">
                  <a16:creationId xmlns:a16="http://schemas.microsoft.com/office/drawing/2014/main" id="{0E9B5EC4-80D4-2E3D-5BF2-D82320E04B42}"/>
                </a:ext>
              </a:extLst>
            </p:cNvPr>
            <p:cNvGrpSpPr/>
            <p:nvPr/>
          </p:nvGrpSpPr>
          <p:grpSpPr>
            <a:xfrm>
              <a:off x="9059253" y="809305"/>
              <a:ext cx="1917226" cy="4865438"/>
              <a:chOff x="9611206" y="855497"/>
              <a:chExt cx="2118699" cy="4865438"/>
            </a:xfrm>
          </p:grpSpPr>
          <p:sp>
            <p:nvSpPr>
              <p:cNvPr id="9" name="Rectangle 8">
                <a:extLst>
                  <a:ext uri="{FF2B5EF4-FFF2-40B4-BE49-F238E27FC236}">
                    <a16:creationId xmlns:a16="http://schemas.microsoft.com/office/drawing/2014/main" id="{C2FBF221-C2FA-F195-4264-70B3AC650783}"/>
                  </a:ext>
                </a:extLst>
              </p:cNvPr>
              <p:cNvSpPr/>
              <p:nvPr/>
            </p:nvSpPr>
            <p:spPr>
              <a:xfrm>
                <a:off x="9611206" y="1639579"/>
                <a:ext cx="2107815" cy="3798511"/>
              </a:xfrm>
              <a:prstGeom prst="rect">
                <a:avLst/>
              </a:prstGeom>
              <a:solidFill>
                <a:srgbClr val="EE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10" name="Rectangle 9">
                <a:extLst>
                  <a:ext uri="{FF2B5EF4-FFF2-40B4-BE49-F238E27FC236}">
                    <a16:creationId xmlns:a16="http://schemas.microsoft.com/office/drawing/2014/main" id="{8A809B35-1C3F-7133-4D98-C0BBE8C93B6A}"/>
                  </a:ext>
                </a:extLst>
              </p:cNvPr>
              <p:cNvSpPr/>
              <p:nvPr/>
            </p:nvSpPr>
            <p:spPr>
              <a:xfrm>
                <a:off x="9611206" y="4110510"/>
                <a:ext cx="2107815" cy="16104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sp>
            <p:nvSpPr>
              <p:cNvPr id="21" name="Text Placeholder 1">
                <a:extLst>
                  <a:ext uri="{FF2B5EF4-FFF2-40B4-BE49-F238E27FC236}">
                    <a16:creationId xmlns:a16="http://schemas.microsoft.com/office/drawing/2014/main" id="{4447B58D-6D4F-54D5-1DF9-377DFF181224}"/>
                  </a:ext>
                </a:extLst>
              </p:cNvPr>
              <p:cNvSpPr txBox="1">
                <a:spLocks/>
              </p:cNvSpPr>
              <p:nvPr/>
            </p:nvSpPr>
            <p:spPr>
              <a:xfrm flipH="1">
                <a:off x="9735835" y="1831649"/>
                <a:ext cx="1792113" cy="926339"/>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Automated continuous testing for data integrity &amp; quality</a:t>
                </a:r>
              </a:p>
              <a:p>
                <a:pPr marL="285750" marR="0" lvl="0" indent="-285750" algn="l" defTabSz="914400" rtl="0" eaLnBrk="1" fontAlgn="auto" latinLnBrk="0" hangingPunct="1">
                  <a:lnSpc>
                    <a:spcPct val="90000"/>
                  </a:lnSpc>
                  <a:spcBef>
                    <a:spcPts val="1000"/>
                  </a:spcBef>
                  <a:spcAft>
                    <a:spcPts val="0"/>
                  </a:spcAft>
                  <a:buClr>
                    <a:srgbClr val="3C2CDA"/>
                  </a:buClr>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Manrope"/>
                  </a:rPr>
                  <a:t>Comprehensive Data Cataloguing &amp; Lineage </a:t>
                </a:r>
              </a:p>
            </p:txBody>
          </p:sp>
          <p:grpSp>
            <p:nvGrpSpPr>
              <p:cNvPr id="22" name="Group 21">
                <a:extLst>
                  <a:ext uri="{FF2B5EF4-FFF2-40B4-BE49-F238E27FC236}">
                    <a16:creationId xmlns:a16="http://schemas.microsoft.com/office/drawing/2014/main" id="{BDB164B4-F39C-58D5-2784-FE6BC1EEBE62}"/>
                  </a:ext>
                </a:extLst>
              </p:cNvPr>
              <p:cNvGrpSpPr/>
              <p:nvPr/>
            </p:nvGrpSpPr>
            <p:grpSpPr>
              <a:xfrm>
                <a:off x="9611206" y="855497"/>
                <a:ext cx="2107814" cy="784082"/>
                <a:chOff x="623888" y="1212883"/>
                <a:chExt cx="2532519" cy="784082"/>
              </a:xfrm>
            </p:grpSpPr>
            <p:grpSp>
              <p:nvGrpSpPr>
                <p:cNvPr id="25" name="Group 24">
                  <a:extLst>
                    <a:ext uri="{FF2B5EF4-FFF2-40B4-BE49-F238E27FC236}">
                      <a16:creationId xmlns:a16="http://schemas.microsoft.com/office/drawing/2014/main" id="{F5204EC3-01C3-2F8B-AE71-B38984835480}"/>
                    </a:ext>
                  </a:extLst>
                </p:cNvPr>
                <p:cNvGrpSpPr/>
                <p:nvPr/>
              </p:nvGrpSpPr>
              <p:grpSpPr>
                <a:xfrm>
                  <a:off x="623888" y="1212883"/>
                  <a:ext cx="2532519" cy="784082"/>
                  <a:chOff x="623888" y="1212883"/>
                  <a:chExt cx="2532519" cy="784082"/>
                </a:xfrm>
              </p:grpSpPr>
              <p:pic>
                <p:nvPicPr>
                  <p:cNvPr id="27" name="Picture 26" descr="A blue dotted wave of dots&#10;&#10;Description automatically generated">
                    <a:extLst>
                      <a:ext uri="{FF2B5EF4-FFF2-40B4-BE49-F238E27FC236}">
                        <a16:creationId xmlns:a16="http://schemas.microsoft.com/office/drawing/2014/main" id="{AC62DD77-0B0B-083F-ECBD-ADC6101BA239}"/>
                      </a:ext>
                    </a:extLst>
                  </p:cNvPr>
                  <p:cNvPicPr>
                    <a:picLocks noChangeAspect="1"/>
                  </p:cNvPicPr>
                  <p:nvPr/>
                </p:nvPicPr>
                <p:blipFill>
                  <a:blip r:embed="rId2"/>
                  <a:srcRect t="22479" b="22476"/>
                  <a:stretch/>
                </p:blipFill>
                <p:spPr>
                  <a:xfrm>
                    <a:off x="623888" y="1212883"/>
                    <a:ext cx="2532519" cy="784082"/>
                  </a:xfrm>
                  <a:prstGeom prst="rect">
                    <a:avLst/>
                  </a:prstGeom>
                </p:spPr>
              </p:pic>
              <p:sp>
                <p:nvSpPr>
                  <p:cNvPr id="28" name="Rectangle 27">
                    <a:extLst>
                      <a:ext uri="{FF2B5EF4-FFF2-40B4-BE49-F238E27FC236}">
                        <a16:creationId xmlns:a16="http://schemas.microsoft.com/office/drawing/2014/main" id="{5A5F81CE-7C9D-C266-C2CA-40F96E396898}"/>
                      </a:ext>
                    </a:extLst>
                  </p:cNvPr>
                  <p:cNvSpPr/>
                  <p:nvPr/>
                </p:nvSpPr>
                <p:spPr>
                  <a:xfrm>
                    <a:off x="623888" y="1212883"/>
                    <a:ext cx="2532519" cy="784082"/>
                  </a:xfrm>
                  <a:prstGeom prst="rect">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Manrope"/>
                    </a:endParaRPr>
                  </a:p>
                </p:txBody>
              </p:sp>
            </p:grpSp>
            <p:sp>
              <p:nvSpPr>
                <p:cNvPr id="26" name="Text Placeholder 1">
                  <a:extLst>
                    <a:ext uri="{FF2B5EF4-FFF2-40B4-BE49-F238E27FC236}">
                      <a16:creationId xmlns:a16="http://schemas.microsoft.com/office/drawing/2014/main" id="{442460A2-5594-40BE-1F74-9CF52AF1C56E}"/>
                    </a:ext>
                  </a:extLst>
                </p:cNvPr>
                <p:cNvSpPr txBox="1">
                  <a:spLocks/>
                </p:cNvSpPr>
                <p:nvPr/>
              </p:nvSpPr>
              <p:spPr>
                <a:xfrm flipH="1">
                  <a:off x="713101" y="1499106"/>
                  <a:ext cx="2354093" cy="202551"/>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Manrope"/>
                    </a:rPr>
                    <a:t>Data Reconciliation</a:t>
                  </a:r>
                </a:p>
              </p:txBody>
            </p:sp>
          </p:grpSp>
          <p:sp>
            <p:nvSpPr>
              <p:cNvPr id="23" name="Text Placeholder 1">
                <a:extLst>
                  <a:ext uri="{FF2B5EF4-FFF2-40B4-BE49-F238E27FC236}">
                    <a16:creationId xmlns:a16="http://schemas.microsoft.com/office/drawing/2014/main" id="{56AE0CE0-758D-1A14-1DC5-1D5D880A30E0}"/>
                  </a:ext>
                </a:extLst>
              </p:cNvPr>
              <p:cNvSpPr txBox="1">
                <a:spLocks/>
              </p:cNvSpPr>
              <p:nvPr/>
            </p:nvSpPr>
            <p:spPr>
              <a:xfrm flipH="1">
                <a:off x="9873830" y="4245631"/>
                <a:ext cx="1654119" cy="368750"/>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3C2CDA"/>
                  </a:buClr>
                  <a:buSzTx/>
                  <a:buFont typeface="Arial" panose="020B0604020202020204" pitchFamily="34" charset="0"/>
                  <a:buNone/>
                  <a:tabLst/>
                  <a:defRPr/>
                </a:pPr>
                <a:r>
                  <a:rPr kumimoji="0" lang="en-US" sz="2400" b="1" i="0" u="none" strike="noStrike" kern="1200" cap="none" spc="0" normalizeH="0" baseline="0" noProof="0">
                    <a:ln>
                      <a:noFill/>
                    </a:ln>
                    <a:solidFill>
                      <a:srgbClr val="FFFFFF"/>
                    </a:solidFill>
                    <a:effectLst/>
                    <a:uLnTx/>
                    <a:uFillTx/>
                    <a:latin typeface="Manrope"/>
                  </a:rPr>
                  <a:t>60% </a:t>
                </a:r>
              </a:p>
            </p:txBody>
          </p:sp>
          <p:sp>
            <p:nvSpPr>
              <p:cNvPr id="24" name="Text Placeholder 1">
                <a:extLst>
                  <a:ext uri="{FF2B5EF4-FFF2-40B4-BE49-F238E27FC236}">
                    <a16:creationId xmlns:a16="http://schemas.microsoft.com/office/drawing/2014/main" id="{B92D704B-4D9C-5AFA-1184-67F2D66648C8}"/>
                  </a:ext>
                </a:extLst>
              </p:cNvPr>
              <p:cNvSpPr txBox="1">
                <a:spLocks/>
              </p:cNvSpPr>
              <p:nvPr/>
            </p:nvSpPr>
            <p:spPr>
              <a:xfrm flipH="1">
                <a:off x="9873830" y="4769116"/>
                <a:ext cx="1654119" cy="374906"/>
              </a:xfrm>
              <a:prstGeom prst="rect">
                <a:avLst/>
              </a:prstGeom>
            </p:spPr>
            <p:txBody>
              <a:bodyPr wrap="square" lIns="0" tIns="36000" rIns="0" bIns="0" anchor="t" anchorCtr="0">
                <a:sp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lang="en-US" sz="15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Manrope"/>
                  </a:rPr>
                  <a:t>Reduction in Effort &amp; Time</a:t>
                </a:r>
              </a:p>
            </p:txBody>
          </p:sp>
          <p:sp>
            <p:nvSpPr>
              <p:cNvPr id="33" name="TextBox 32">
                <a:extLst>
                  <a:ext uri="{FF2B5EF4-FFF2-40B4-BE49-F238E27FC236}">
                    <a16:creationId xmlns:a16="http://schemas.microsoft.com/office/drawing/2014/main" id="{A421812E-BCFB-E543-CC54-DB3DF3E2B18B}"/>
                  </a:ext>
                </a:extLst>
              </p:cNvPr>
              <p:cNvSpPr txBox="1"/>
              <p:nvPr/>
            </p:nvSpPr>
            <p:spPr>
              <a:xfrm>
                <a:off x="9626118" y="5414474"/>
                <a:ext cx="210378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9DEEF6"/>
                    </a:solidFill>
                    <a:effectLst/>
                    <a:uLnTx/>
                    <a:uFillTx/>
                    <a:latin typeface="Manrope"/>
                  </a:rPr>
                  <a:t>Contextual Testing</a:t>
                </a:r>
              </a:p>
            </p:txBody>
          </p:sp>
        </p:grpSp>
      </p:grpSp>
      <p:sp>
        <p:nvSpPr>
          <p:cNvPr id="2" name="Text Placeholder 1">
            <a:extLst>
              <a:ext uri="{FF2B5EF4-FFF2-40B4-BE49-F238E27FC236}">
                <a16:creationId xmlns:a16="http://schemas.microsoft.com/office/drawing/2014/main" id="{40AD702E-5117-4FA0-C619-28DC96F5191A}"/>
              </a:ext>
            </a:extLst>
          </p:cNvPr>
          <p:cNvSpPr>
            <a:spLocks noGrp="1"/>
          </p:cNvSpPr>
          <p:nvPr>
            <p:ph type="body" sz="quarter" idx="15"/>
          </p:nvPr>
        </p:nvSpPr>
        <p:spPr>
          <a:xfrm flipH="1">
            <a:off x="623888" y="457200"/>
            <a:ext cx="8172450" cy="244101"/>
          </a:xfrm>
        </p:spPr>
        <p:txBody>
          <a:bodyPr/>
          <a:lstStyle/>
          <a:p>
            <a:r>
              <a:rPr lang="en-US" noProof="0"/>
              <a:t>Trusted data Foundation</a:t>
            </a:r>
          </a:p>
        </p:txBody>
      </p:sp>
    </p:spTree>
    <p:extLst>
      <p:ext uri="{BB962C8B-B14F-4D97-AF65-F5344CB8AC3E}">
        <p14:creationId xmlns:p14="http://schemas.microsoft.com/office/powerpoint/2010/main" val="42201889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7F02B-880A-19E7-A0AE-9E0D29DC2676}"/>
            </a:ext>
          </a:extLst>
        </p:cNvPr>
        <p:cNvGrpSpPr/>
        <p:nvPr/>
      </p:nvGrpSpPr>
      <p:grpSpPr>
        <a:xfrm>
          <a:off x="0" y="0"/>
          <a:ext cx="0" cy="0"/>
          <a:chOff x="0" y="0"/>
          <a:chExt cx="0" cy="0"/>
        </a:xfrm>
      </p:grpSpPr>
      <p:sp>
        <p:nvSpPr>
          <p:cNvPr id="92" name="Rounded Rectangle 25">
            <a:extLst>
              <a:ext uri="{FF2B5EF4-FFF2-40B4-BE49-F238E27FC236}">
                <a16:creationId xmlns:a16="http://schemas.microsoft.com/office/drawing/2014/main" id="{185FE0E3-ABED-D3A1-244D-1A6CAE01BE46}"/>
              </a:ext>
            </a:extLst>
          </p:cNvPr>
          <p:cNvSpPr/>
          <p:nvPr/>
        </p:nvSpPr>
        <p:spPr>
          <a:xfrm>
            <a:off x="619399" y="912089"/>
            <a:ext cx="9549360" cy="5469661"/>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anrope" pitchFamily="2" charset="0"/>
            </a:endParaRPr>
          </a:p>
        </p:txBody>
      </p:sp>
      <p:grpSp>
        <p:nvGrpSpPr>
          <p:cNvPr id="8" name="Group 7">
            <a:extLst>
              <a:ext uri="{FF2B5EF4-FFF2-40B4-BE49-F238E27FC236}">
                <a16:creationId xmlns:a16="http://schemas.microsoft.com/office/drawing/2014/main" id="{CD25A9EF-FC14-FC2C-BE74-1F367A785C58}"/>
              </a:ext>
            </a:extLst>
          </p:cNvPr>
          <p:cNvGrpSpPr/>
          <p:nvPr/>
        </p:nvGrpSpPr>
        <p:grpSpPr>
          <a:xfrm>
            <a:off x="744905" y="1252106"/>
            <a:ext cx="1657425" cy="428849"/>
            <a:chOff x="808073" y="1212112"/>
            <a:chExt cx="1723577" cy="458426"/>
          </a:xfrm>
          <a:solidFill>
            <a:schemeClr val="accent4"/>
          </a:solidFill>
        </p:grpSpPr>
        <p:sp>
          <p:nvSpPr>
            <p:cNvPr id="4" name="Arrow: Pentagon 3">
              <a:extLst>
                <a:ext uri="{FF2B5EF4-FFF2-40B4-BE49-F238E27FC236}">
                  <a16:creationId xmlns:a16="http://schemas.microsoft.com/office/drawing/2014/main" id="{579EEA18-3A84-85DB-01A1-648ED86CCEF2}"/>
                </a:ext>
              </a:extLst>
            </p:cNvPr>
            <p:cNvSpPr/>
            <p:nvPr/>
          </p:nvSpPr>
          <p:spPr>
            <a:xfrm>
              <a:off x="808073" y="1212112"/>
              <a:ext cx="1723577" cy="458426"/>
            </a:xfrm>
            <a:prstGeom prst="homePlate">
              <a:avLst>
                <a:gd name="adj" fmla="val 413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anrope" pitchFamily="2" charset="0"/>
              </a:endParaRPr>
            </a:p>
          </p:txBody>
        </p:sp>
        <p:sp>
          <p:nvSpPr>
            <p:cNvPr id="5" name="Source System  Functional /Biz Analysis">
              <a:extLst>
                <a:ext uri="{FF2B5EF4-FFF2-40B4-BE49-F238E27FC236}">
                  <a16:creationId xmlns:a16="http://schemas.microsoft.com/office/drawing/2014/main" id="{DBE7BA5A-D0B5-56DC-14C2-3D09FA0D69F8}"/>
                </a:ext>
              </a:extLst>
            </p:cNvPr>
            <p:cNvSpPr txBox="1"/>
            <p:nvPr/>
          </p:nvSpPr>
          <p:spPr>
            <a:xfrm>
              <a:off x="975584" y="1293273"/>
              <a:ext cx="1106470" cy="296103"/>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sz="1600">
                  <a:solidFill>
                    <a:srgbClr val="FFFFFF"/>
                  </a:solidFill>
                  <a:latin typeface="Manrope Regular"/>
                  <a:ea typeface="Manrope Regular"/>
                  <a:cs typeface="Manrope Regular"/>
                  <a:sym typeface="Manrope Regular"/>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 Ingestion &amp; Engineering</a:t>
              </a:r>
            </a:p>
          </p:txBody>
        </p:sp>
      </p:grpSp>
      <p:grpSp>
        <p:nvGrpSpPr>
          <p:cNvPr id="9" name="Group 8">
            <a:extLst>
              <a:ext uri="{FF2B5EF4-FFF2-40B4-BE49-F238E27FC236}">
                <a16:creationId xmlns:a16="http://schemas.microsoft.com/office/drawing/2014/main" id="{4CAA36C7-5356-9033-910B-2B0F1074EE01}"/>
              </a:ext>
            </a:extLst>
          </p:cNvPr>
          <p:cNvGrpSpPr/>
          <p:nvPr/>
        </p:nvGrpSpPr>
        <p:grpSpPr>
          <a:xfrm>
            <a:off x="2348226" y="1252102"/>
            <a:ext cx="1263689" cy="428849"/>
            <a:chOff x="2405901" y="1212112"/>
            <a:chExt cx="1314125" cy="458426"/>
          </a:xfrm>
          <a:solidFill>
            <a:schemeClr val="accent4"/>
          </a:solidFill>
        </p:grpSpPr>
        <p:sp>
          <p:nvSpPr>
            <p:cNvPr id="6" name="Arrow: Chevron 5">
              <a:extLst>
                <a:ext uri="{FF2B5EF4-FFF2-40B4-BE49-F238E27FC236}">
                  <a16:creationId xmlns:a16="http://schemas.microsoft.com/office/drawing/2014/main" id="{893678DF-5DA3-A44B-550B-D524FC373130}"/>
                </a:ext>
              </a:extLst>
            </p:cNvPr>
            <p:cNvSpPr/>
            <p:nvPr/>
          </p:nvSpPr>
          <p:spPr>
            <a:xfrm>
              <a:off x="2405901" y="1212112"/>
              <a:ext cx="1314125" cy="458426"/>
            </a:xfrm>
            <a:prstGeom prst="chevron">
              <a:avLst>
                <a:gd name="adj" fmla="val 4205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anrope" pitchFamily="2" charset="0"/>
              </a:endParaRPr>
            </a:p>
          </p:txBody>
        </p:sp>
        <p:sp>
          <p:nvSpPr>
            <p:cNvPr id="7" name="Source System  Functional /Biz Analysis">
              <a:extLst>
                <a:ext uri="{FF2B5EF4-FFF2-40B4-BE49-F238E27FC236}">
                  <a16:creationId xmlns:a16="http://schemas.microsoft.com/office/drawing/2014/main" id="{992565B0-8B36-88DE-6D34-2E2C44454B33}"/>
                </a:ext>
              </a:extLst>
            </p:cNvPr>
            <p:cNvSpPr txBox="1"/>
            <p:nvPr/>
          </p:nvSpPr>
          <p:spPr>
            <a:xfrm>
              <a:off x="2693731" y="1293273"/>
              <a:ext cx="924431" cy="296103"/>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sz="1600">
                  <a:solidFill>
                    <a:srgbClr val="FFFFFF"/>
                  </a:solidFill>
                  <a:latin typeface="Manrope Regular"/>
                  <a:ea typeface="Manrope Regular"/>
                  <a:cs typeface="Manrope Regular"/>
                  <a:sym typeface="Manrope Regular"/>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Enterprise Data Model</a:t>
              </a:r>
            </a:p>
          </p:txBody>
        </p:sp>
      </p:grpSp>
      <p:grpSp>
        <p:nvGrpSpPr>
          <p:cNvPr id="10" name="Group 9">
            <a:extLst>
              <a:ext uri="{FF2B5EF4-FFF2-40B4-BE49-F238E27FC236}">
                <a16:creationId xmlns:a16="http://schemas.microsoft.com/office/drawing/2014/main" id="{39A4C0CD-3F25-59E2-3D1C-770CCF283789}"/>
              </a:ext>
            </a:extLst>
          </p:cNvPr>
          <p:cNvGrpSpPr/>
          <p:nvPr/>
        </p:nvGrpSpPr>
        <p:grpSpPr>
          <a:xfrm>
            <a:off x="3559384" y="1252097"/>
            <a:ext cx="1263689" cy="428849"/>
            <a:chOff x="2405901" y="1212112"/>
            <a:chExt cx="1314125" cy="458426"/>
          </a:xfrm>
          <a:solidFill>
            <a:schemeClr val="accent4"/>
          </a:solidFill>
        </p:grpSpPr>
        <p:sp>
          <p:nvSpPr>
            <p:cNvPr id="11" name="Arrow: Chevron 10">
              <a:extLst>
                <a:ext uri="{FF2B5EF4-FFF2-40B4-BE49-F238E27FC236}">
                  <a16:creationId xmlns:a16="http://schemas.microsoft.com/office/drawing/2014/main" id="{F9C757CE-0660-225E-0D86-1BE66C69EBC7}"/>
                </a:ext>
              </a:extLst>
            </p:cNvPr>
            <p:cNvSpPr/>
            <p:nvPr/>
          </p:nvSpPr>
          <p:spPr>
            <a:xfrm>
              <a:off x="2405901" y="1212112"/>
              <a:ext cx="1314125" cy="458426"/>
            </a:xfrm>
            <a:prstGeom prst="chevron">
              <a:avLst>
                <a:gd name="adj" fmla="val 4205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anrope" pitchFamily="2" charset="0"/>
              </a:endParaRPr>
            </a:p>
          </p:txBody>
        </p:sp>
        <p:sp>
          <p:nvSpPr>
            <p:cNvPr id="12" name="Source System  Functional /Biz Analysis">
              <a:extLst>
                <a:ext uri="{FF2B5EF4-FFF2-40B4-BE49-F238E27FC236}">
                  <a16:creationId xmlns:a16="http://schemas.microsoft.com/office/drawing/2014/main" id="{AE7FF88C-8775-0270-F337-62B58102818D}"/>
                </a:ext>
              </a:extLst>
            </p:cNvPr>
            <p:cNvSpPr txBox="1"/>
            <p:nvPr/>
          </p:nvSpPr>
          <p:spPr>
            <a:xfrm>
              <a:off x="2711157" y="1367294"/>
              <a:ext cx="960452" cy="148051"/>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sz="1600">
                  <a:solidFill>
                    <a:srgbClr val="FFFFFF"/>
                  </a:solidFill>
                  <a:latin typeface="Manrope Regular"/>
                  <a:ea typeface="Manrope Regular"/>
                  <a:cs typeface="Manrope Regular"/>
                  <a:sym typeface="Manrope Regular"/>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  Quality</a:t>
              </a:r>
            </a:p>
          </p:txBody>
        </p:sp>
      </p:grpSp>
      <p:grpSp>
        <p:nvGrpSpPr>
          <p:cNvPr id="13" name="Group 12">
            <a:extLst>
              <a:ext uri="{FF2B5EF4-FFF2-40B4-BE49-F238E27FC236}">
                <a16:creationId xmlns:a16="http://schemas.microsoft.com/office/drawing/2014/main" id="{F6610C5F-86A8-4D4D-FD18-733C9D0B84AD}"/>
              </a:ext>
            </a:extLst>
          </p:cNvPr>
          <p:cNvGrpSpPr/>
          <p:nvPr/>
        </p:nvGrpSpPr>
        <p:grpSpPr>
          <a:xfrm>
            <a:off x="4765896" y="1252097"/>
            <a:ext cx="1447009" cy="428849"/>
            <a:chOff x="2405901" y="1212112"/>
            <a:chExt cx="1504762" cy="458426"/>
          </a:xfrm>
          <a:solidFill>
            <a:schemeClr val="accent4"/>
          </a:solidFill>
        </p:grpSpPr>
        <p:sp>
          <p:nvSpPr>
            <p:cNvPr id="14" name="Arrow: Chevron 13">
              <a:extLst>
                <a:ext uri="{FF2B5EF4-FFF2-40B4-BE49-F238E27FC236}">
                  <a16:creationId xmlns:a16="http://schemas.microsoft.com/office/drawing/2014/main" id="{85A30259-819C-5D40-5887-51E2AC350750}"/>
                </a:ext>
              </a:extLst>
            </p:cNvPr>
            <p:cNvSpPr/>
            <p:nvPr/>
          </p:nvSpPr>
          <p:spPr>
            <a:xfrm>
              <a:off x="2405901" y="1212112"/>
              <a:ext cx="1504762" cy="458426"/>
            </a:xfrm>
            <a:prstGeom prst="chevron">
              <a:avLst>
                <a:gd name="adj" fmla="val 4205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anrope" pitchFamily="2" charset="0"/>
              </a:endParaRPr>
            </a:p>
          </p:txBody>
        </p:sp>
        <p:sp>
          <p:nvSpPr>
            <p:cNvPr id="15" name="Source System  Functional /Biz Analysis">
              <a:extLst>
                <a:ext uri="{FF2B5EF4-FFF2-40B4-BE49-F238E27FC236}">
                  <a16:creationId xmlns:a16="http://schemas.microsoft.com/office/drawing/2014/main" id="{80DA7A9F-3C8F-A782-DEA7-14B30DD1E1A3}"/>
                </a:ext>
              </a:extLst>
            </p:cNvPr>
            <p:cNvSpPr txBox="1"/>
            <p:nvPr/>
          </p:nvSpPr>
          <p:spPr>
            <a:xfrm>
              <a:off x="2696186" y="1293273"/>
              <a:ext cx="1106471" cy="296103"/>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sz="1600">
                  <a:solidFill>
                    <a:srgbClr val="FFFFFF"/>
                  </a:solidFill>
                  <a:latin typeface="Manrope Regular"/>
                  <a:ea typeface="Manrope Regular"/>
                  <a:cs typeface="Manrope Regular"/>
                  <a:sym typeface="Manrope Regular"/>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 Catalog &amp; Governance</a:t>
              </a:r>
            </a:p>
          </p:txBody>
        </p:sp>
      </p:grpSp>
      <p:grpSp>
        <p:nvGrpSpPr>
          <p:cNvPr id="16" name="Group 15">
            <a:extLst>
              <a:ext uri="{FF2B5EF4-FFF2-40B4-BE49-F238E27FC236}">
                <a16:creationId xmlns:a16="http://schemas.microsoft.com/office/drawing/2014/main" id="{E705F1D2-B2DD-ECDE-B2A2-72570FA42F7F}"/>
              </a:ext>
            </a:extLst>
          </p:cNvPr>
          <p:cNvGrpSpPr/>
          <p:nvPr/>
        </p:nvGrpSpPr>
        <p:grpSpPr>
          <a:xfrm>
            <a:off x="6154155" y="1252097"/>
            <a:ext cx="1437951" cy="428849"/>
            <a:chOff x="2405901" y="1212112"/>
            <a:chExt cx="1495342" cy="458426"/>
          </a:xfrm>
          <a:solidFill>
            <a:schemeClr val="accent4"/>
          </a:solidFill>
        </p:grpSpPr>
        <p:sp>
          <p:nvSpPr>
            <p:cNvPr id="17" name="Arrow: Chevron 16">
              <a:extLst>
                <a:ext uri="{FF2B5EF4-FFF2-40B4-BE49-F238E27FC236}">
                  <a16:creationId xmlns:a16="http://schemas.microsoft.com/office/drawing/2014/main" id="{BE6D3704-A531-65C5-AB5A-F0DA60BF2A56}"/>
                </a:ext>
              </a:extLst>
            </p:cNvPr>
            <p:cNvSpPr/>
            <p:nvPr/>
          </p:nvSpPr>
          <p:spPr>
            <a:xfrm>
              <a:off x="2405901" y="1212112"/>
              <a:ext cx="1495342" cy="458426"/>
            </a:xfrm>
            <a:prstGeom prst="chevron">
              <a:avLst>
                <a:gd name="adj" fmla="val 4205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anrope" pitchFamily="2" charset="0"/>
              </a:endParaRPr>
            </a:p>
          </p:txBody>
        </p:sp>
        <p:sp>
          <p:nvSpPr>
            <p:cNvPr id="18" name="Source System  Functional /Biz Analysis">
              <a:extLst>
                <a:ext uri="{FF2B5EF4-FFF2-40B4-BE49-F238E27FC236}">
                  <a16:creationId xmlns:a16="http://schemas.microsoft.com/office/drawing/2014/main" id="{EB4EA95D-4D39-4A4E-1AB7-5D28A1064092}"/>
                </a:ext>
              </a:extLst>
            </p:cNvPr>
            <p:cNvSpPr txBox="1"/>
            <p:nvPr/>
          </p:nvSpPr>
          <p:spPr>
            <a:xfrm>
              <a:off x="2704788" y="1293273"/>
              <a:ext cx="954765" cy="296103"/>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sz="1600">
                  <a:solidFill>
                    <a:srgbClr val="FFFFFF"/>
                  </a:solidFill>
                  <a:latin typeface="Manrope Regular"/>
                  <a:ea typeface="Manrope Regular"/>
                  <a:cs typeface="Manrope Regular"/>
                  <a:sym typeface="Manrope Regular"/>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Master Data Management</a:t>
              </a:r>
            </a:p>
          </p:txBody>
        </p:sp>
      </p:grpSp>
      <p:grpSp>
        <p:nvGrpSpPr>
          <p:cNvPr id="19" name="Group 18">
            <a:extLst>
              <a:ext uri="{FF2B5EF4-FFF2-40B4-BE49-F238E27FC236}">
                <a16:creationId xmlns:a16="http://schemas.microsoft.com/office/drawing/2014/main" id="{F46CB36B-8994-D03B-E12F-42CE5B59E423}"/>
              </a:ext>
            </a:extLst>
          </p:cNvPr>
          <p:cNvGrpSpPr/>
          <p:nvPr/>
        </p:nvGrpSpPr>
        <p:grpSpPr>
          <a:xfrm>
            <a:off x="7535109" y="1252097"/>
            <a:ext cx="1370436" cy="428849"/>
            <a:chOff x="2405902" y="1212112"/>
            <a:chExt cx="1425132" cy="458426"/>
          </a:xfrm>
          <a:solidFill>
            <a:schemeClr val="accent4"/>
          </a:solidFill>
        </p:grpSpPr>
        <p:sp>
          <p:nvSpPr>
            <p:cNvPr id="20" name="Arrow: Chevron 19">
              <a:extLst>
                <a:ext uri="{FF2B5EF4-FFF2-40B4-BE49-F238E27FC236}">
                  <a16:creationId xmlns:a16="http://schemas.microsoft.com/office/drawing/2014/main" id="{0D1B9AD7-9DE1-65BF-A007-EBC2BFF6554A}"/>
                </a:ext>
              </a:extLst>
            </p:cNvPr>
            <p:cNvSpPr/>
            <p:nvPr/>
          </p:nvSpPr>
          <p:spPr>
            <a:xfrm>
              <a:off x="2405902" y="1212112"/>
              <a:ext cx="1425132" cy="458426"/>
            </a:xfrm>
            <a:prstGeom prst="chevron">
              <a:avLst>
                <a:gd name="adj" fmla="val 4205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anrope" pitchFamily="2" charset="0"/>
              </a:endParaRPr>
            </a:p>
          </p:txBody>
        </p:sp>
        <p:sp>
          <p:nvSpPr>
            <p:cNvPr id="21" name="Source System  Functional /Biz Analysis">
              <a:extLst>
                <a:ext uri="{FF2B5EF4-FFF2-40B4-BE49-F238E27FC236}">
                  <a16:creationId xmlns:a16="http://schemas.microsoft.com/office/drawing/2014/main" id="{118E6F88-F966-B9E0-0826-D78856E3B08C}"/>
                </a:ext>
              </a:extLst>
            </p:cNvPr>
            <p:cNvSpPr txBox="1"/>
            <p:nvPr/>
          </p:nvSpPr>
          <p:spPr>
            <a:xfrm>
              <a:off x="2696740" y="1293268"/>
              <a:ext cx="918661" cy="296103"/>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sz="1600">
                  <a:solidFill>
                    <a:srgbClr val="FFFFFF"/>
                  </a:solidFill>
                  <a:latin typeface="Manrope Regular"/>
                  <a:ea typeface="Manrope Regular"/>
                  <a:cs typeface="Manrope Regular"/>
                  <a:sym typeface="Manrope Regular"/>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 </a:t>
              </a:r>
              <a:br>
                <a:rPr kumimoji="0" lang="en-US" sz="1000" b="0" i="0" u="none" strike="noStrike" kern="0" cap="none" spc="0" normalizeH="0" baseline="0" noProof="0">
                  <a:ln>
                    <a:noFill/>
                  </a:ln>
                  <a:solidFill>
                    <a:srgbClr val="FFFFFF"/>
                  </a:solidFill>
                  <a:effectLst/>
                  <a:uLnTx/>
                  <a:uFillTx/>
                  <a:latin typeface="Manrope" pitchFamily="2" charset="0"/>
                  <a:sym typeface="Manrope Regular"/>
                </a:rPr>
              </a:br>
              <a:r>
                <a:rPr kumimoji="0" lang="en-US" sz="1000" b="0" i="0" u="none" strike="noStrike" kern="0" cap="none" spc="0" normalizeH="0" baseline="0" noProof="0">
                  <a:ln>
                    <a:noFill/>
                  </a:ln>
                  <a:solidFill>
                    <a:srgbClr val="FFFFFF"/>
                  </a:solidFill>
                  <a:effectLst/>
                  <a:uLnTx/>
                  <a:uFillTx/>
                  <a:latin typeface="Manrope" pitchFamily="2" charset="0"/>
                  <a:sym typeface="Manrope Regular"/>
                </a:rPr>
                <a:t>Visualization</a:t>
              </a:r>
            </a:p>
          </p:txBody>
        </p:sp>
      </p:grpSp>
      <p:grpSp>
        <p:nvGrpSpPr>
          <p:cNvPr id="22" name="Group 21">
            <a:extLst>
              <a:ext uri="{FF2B5EF4-FFF2-40B4-BE49-F238E27FC236}">
                <a16:creationId xmlns:a16="http://schemas.microsoft.com/office/drawing/2014/main" id="{79BDB074-3CAC-52E2-E393-A2DA0BB7B05B}"/>
              </a:ext>
            </a:extLst>
          </p:cNvPr>
          <p:cNvGrpSpPr/>
          <p:nvPr/>
        </p:nvGrpSpPr>
        <p:grpSpPr>
          <a:xfrm>
            <a:off x="8855876" y="1252090"/>
            <a:ext cx="1150730" cy="428849"/>
            <a:chOff x="2405902" y="1212112"/>
            <a:chExt cx="1196658" cy="458426"/>
          </a:xfrm>
          <a:solidFill>
            <a:schemeClr val="accent4"/>
          </a:solidFill>
        </p:grpSpPr>
        <p:sp>
          <p:nvSpPr>
            <p:cNvPr id="23" name="Arrow: Chevron 22">
              <a:extLst>
                <a:ext uri="{FF2B5EF4-FFF2-40B4-BE49-F238E27FC236}">
                  <a16:creationId xmlns:a16="http://schemas.microsoft.com/office/drawing/2014/main" id="{42C0885B-3B62-1D20-B177-E5A20B986B25}"/>
                </a:ext>
              </a:extLst>
            </p:cNvPr>
            <p:cNvSpPr/>
            <p:nvPr/>
          </p:nvSpPr>
          <p:spPr>
            <a:xfrm>
              <a:off x="2405902" y="1212112"/>
              <a:ext cx="1196658" cy="458426"/>
            </a:xfrm>
            <a:prstGeom prst="chevron">
              <a:avLst>
                <a:gd name="adj" fmla="val 42057"/>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anrope" pitchFamily="2" charset="0"/>
              </a:endParaRPr>
            </a:p>
          </p:txBody>
        </p:sp>
        <p:sp>
          <p:nvSpPr>
            <p:cNvPr id="27" name="Source System  Functional /Biz Analysis">
              <a:extLst>
                <a:ext uri="{FF2B5EF4-FFF2-40B4-BE49-F238E27FC236}">
                  <a16:creationId xmlns:a16="http://schemas.microsoft.com/office/drawing/2014/main" id="{4F0AF706-8C63-0BE6-9009-6880612D674B}"/>
                </a:ext>
              </a:extLst>
            </p:cNvPr>
            <p:cNvSpPr txBox="1"/>
            <p:nvPr/>
          </p:nvSpPr>
          <p:spPr>
            <a:xfrm>
              <a:off x="2715022" y="1293263"/>
              <a:ext cx="766157" cy="296103"/>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p>
              <a:pPr marL="0" marR="0" lvl="0" indent="0" algn="l" defTabSz="1219169" rtl="0" eaLnBrk="1" fontAlgn="auto" latinLnBrk="0" hangingPunct="0">
                <a:lnSpc>
                  <a:spcPct val="90000"/>
                </a:lnSpc>
                <a:spcBef>
                  <a:spcPts val="2250"/>
                </a:spcBef>
                <a:spcAft>
                  <a:spcPts val="0"/>
                </a:spcAft>
                <a:buClrTx/>
                <a:buSzTx/>
                <a:buFontTx/>
                <a:buNone/>
                <a:tabLst/>
                <a:defRPr sz="1600">
                  <a:solidFill>
                    <a:srgbClr val="FFFFFF"/>
                  </a:solidFill>
                  <a:latin typeface="Manrope Regular"/>
                  <a:ea typeface="Manrope Regular"/>
                  <a:cs typeface="Manrope Regular"/>
                  <a:sym typeface="Manrope Regular"/>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DataOps </a:t>
              </a:r>
              <a:br>
                <a:rPr kumimoji="0" lang="en-US" sz="1000" b="0" i="0" u="none" strike="noStrike" kern="0" cap="none" spc="0" normalizeH="0" baseline="0" noProof="0">
                  <a:ln>
                    <a:noFill/>
                  </a:ln>
                  <a:solidFill>
                    <a:srgbClr val="FFFFFF"/>
                  </a:solidFill>
                  <a:effectLst/>
                  <a:uLnTx/>
                  <a:uFillTx/>
                  <a:latin typeface="Manrope" pitchFamily="2" charset="0"/>
                  <a:sym typeface="Manrope Regular"/>
                </a:rPr>
              </a:br>
              <a:r>
                <a:rPr kumimoji="0" lang="en-US" sz="1000" b="0" i="0" u="none" strike="noStrike" kern="0" cap="none" spc="0" normalizeH="0" baseline="0" noProof="0">
                  <a:ln>
                    <a:noFill/>
                  </a:ln>
                  <a:solidFill>
                    <a:srgbClr val="FFFFFF"/>
                  </a:solidFill>
                  <a:effectLst/>
                  <a:uLnTx/>
                  <a:uFillTx/>
                  <a:latin typeface="Manrope" pitchFamily="2" charset="0"/>
                  <a:sym typeface="Manrope Regular"/>
                </a:rPr>
                <a:t>&amp; MLOps</a:t>
              </a:r>
            </a:p>
          </p:txBody>
        </p:sp>
      </p:grpSp>
      <p:sp>
        <p:nvSpPr>
          <p:cNvPr id="32" name="Identification of functional flows,  rules, calculations , data lineage">
            <a:extLst>
              <a:ext uri="{FF2B5EF4-FFF2-40B4-BE49-F238E27FC236}">
                <a16:creationId xmlns:a16="http://schemas.microsoft.com/office/drawing/2014/main" id="{6F8059B0-A8FF-0174-EB5A-07A0A4C44583}"/>
              </a:ext>
            </a:extLst>
          </p:cNvPr>
          <p:cNvSpPr txBox="1"/>
          <p:nvPr/>
        </p:nvSpPr>
        <p:spPr>
          <a:xfrm>
            <a:off x="838930" y="1848624"/>
            <a:ext cx="1476717" cy="692497"/>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defPPr>
              <a:defRPr lang="en-US"/>
            </a:defPPr>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Manrope" pitchFamily="2" charset="0"/>
                <a:sym typeface="Manrope Regular"/>
              </a:rPr>
              <a:t>Metadata based Frameworks for ingestion &amp; transformation for self-service &amp; Accelerated discovery </a:t>
            </a:r>
          </a:p>
        </p:txBody>
      </p:sp>
      <p:sp>
        <p:nvSpPr>
          <p:cNvPr id="35" name="Re-host, Re-platform, Re-build,…">
            <a:extLst>
              <a:ext uri="{FF2B5EF4-FFF2-40B4-BE49-F238E27FC236}">
                <a16:creationId xmlns:a16="http://schemas.microsoft.com/office/drawing/2014/main" id="{E4B3531A-0992-3B02-0427-64CB4C1BE303}"/>
              </a:ext>
            </a:extLst>
          </p:cNvPr>
          <p:cNvSpPr txBox="1"/>
          <p:nvPr/>
        </p:nvSpPr>
        <p:spPr>
          <a:xfrm>
            <a:off x="2590698" y="1848624"/>
            <a:ext cx="905389" cy="692497"/>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defPPr>
              <a:defRPr lang="en-US"/>
            </a:defPPr>
            <a:lvl1pPr>
              <a:defRPr sz="800" kern="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Manrope" pitchFamily="2" charset="0"/>
              </a:rPr>
              <a:t>Augment &amp; Accelerate Data modelling reducing SME dependency</a:t>
            </a:r>
          </a:p>
        </p:txBody>
      </p:sp>
      <p:sp>
        <p:nvSpPr>
          <p:cNvPr id="36" name="Finalize archetypes,  component  architecture , data migration strategy">
            <a:extLst>
              <a:ext uri="{FF2B5EF4-FFF2-40B4-BE49-F238E27FC236}">
                <a16:creationId xmlns:a16="http://schemas.microsoft.com/office/drawing/2014/main" id="{62BF2D7A-1CC5-4514-D1FA-48DA978C5382}"/>
              </a:ext>
            </a:extLst>
          </p:cNvPr>
          <p:cNvSpPr txBox="1"/>
          <p:nvPr/>
        </p:nvSpPr>
        <p:spPr>
          <a:xfrm>
            <a:off x="3771138" y="1848624"/>
            <a:ext cx="839665" cy="415498"/>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defPPr>
              <a:defRPr lang="en-US"/>
            </a:defPPr>
            <a:lvl1pPr>
              <a:defRPr sz="800" kern="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Manrope" pitchFamily="2" charset="0"/>
              </a:rPr>
              <a:t>Amplify Data Trust and Transparency</a:t>
            </a:r>
          </a:p>
        </p:txBody>
      </p:sp>
      <p:sp>
        <p:nvSpPr>
          <p:cNvPr id="37" name="TextBox 36">
            <a:extLst>
              <a:ext uri="{FF2B5EF4-FFF2-40B4-BE49-F238E27FC236}">
                <a16:creationId xmlns:a16="http://schemas.microsoft.com/office/drawing/2014/main" id="{FE44DA30-0D0F-7E79-EDAC-BA6A7522A3BF}"/>
              </a:ext>
            </a:extLst>
          </p:cNvPr>
          <p:cNvSpPr txBox="1"/>
          <p:nvPr/>
        </p:nvSpPr>
        <p:spPr>
          <a:xfrm>
            <a:off x="4970270" y="1848624"/>
            <a:ext cx="1002527" cy="492443"/>
          </a:xfrm>
          <a:prstGeom prst="rect">
            <a:avLst/>
          </a:prstGeom>
          <a:noFill/>
        </p:spPr>
        <p:txBody>
          <a:bodyPr wrap="square" lIns="0" tIns="0" rIns="0" bIns="0" anchor="t">
            <a:spAutoFit/>
          </a:bodyPr>
          <a:lstStyle>
            <a:defPPr>
              <a:defRPr lang="en-US"/>
            </a:defPPr>
            <a:lvl1pPr>
              <a:defRPr sz="800" kern="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Manrope" pitchFamily="2" charset="0"/>
              </a:rPr>
              <a:t>AI Powered </a:t>
            </a:r>
            <a:br>
              <a:rPr kumimoji="0" lang="en-US" sz="800" b="0" i="0" u="none" strike="noStrike" kern="0" cap="none" spc="0" normalizeH="0" baseline="0" noProof="0">
                <a:ln>
                  <a:noFill/>
                </a:ln>
                <a:solidFill>
                  <a:srgbClr val="000000"/>
                </a:solidFill>
                <a:effectLst/>
                <a:uLnTx/>
                <a:uFillTx/>
                <a:latin typeface="Manrope" pitchFamily="2" charset="0"/>
              </a:rPr>
            </a:br>
            <a:r>
              <a:rPr kumimoji="0" lang="en-US" sz="800" b="0" i="0" u="none" strike="noStrike" kern="0" cap="none" spc="0" normalizeH="0" baseline="0" noProof="0">
                <a:ln>
                  <a:noFill/>
                </a:ln>
                <a:solidFill>
                  <a:srgbClr val="000000"/>
                </a:solidFill>
                <a:effectLst/>
                <a:uLnTx/>
                <a:uFillTx/>
                <a:latin typeface="Manrope" pitchFamily="2" charset="0"/>
              </a:rPr>
              <a:t>responsible and secured data democratization</a:t>
            </a:r>
            <a:endParaRPr kumimoji="0" lang="en-GB" sz="800" b="0" i="0" u="none" strike="noStrike" kern="0" cap="none" spc="0" normalizeH="0" baseline="0" noProof="0">
              <a:ln>
                <a:noFill/>
              </a:ln>
              <a:solidFill>
                <a:srgbClr val="000000"/>
              </a:solidFill>
              <a:effectLst/>
              <a:uLnTx/>
              <a:uFillTx/>
              <a:latin typeface="Manrope" pitchFamily="2" charset="0"/>
            </a:endParaRPr>
          </a:p>
        </p:txBody>
      </p:sp>
      <p:sp>
        <p:nvSpPr>
          <p:cNvPr id="38" name="TextBox 37">
            <a:extLst>
              <a:ext uri="{FF2B5EF4-FFF2-40B4-BE49-F238E27FC236}">
                <a16:creationId xmlns:a16="http://schemas.microsoft.com/office/drawing/2014/main" id="{A87130C7-F04F-4BF7-1D71-00F833F93965}"/>
              </a:ext>
            </a:extLst>
          </p:cNvPr>
          <p:cNvSpPr txBox="1"/>
          <p:nvPr/>
        </p:nvSpPr>
        <p:spPr>
          <a:xfrm>
            <a:off x="6336699" y="1848624"/>
            <a:ext cx="1022992" cy="492443"/>
          </a:xfrm>
          <a:prstGeom prst="rect">
            <a:avLst/>
          </a:prstGeom>
          <a:noFill/>
        </p:spPr>
        <p:txBody>
          <a:bodyPr wrap="square" lIns="0" tIns="0" rIns="0" bIns="0" anchor="t">
            <a:spAutoFit/>
          </a:bodyPr>
          <a:lstStyle>
            <a:defPPr>
              <a:defRPr lang="en-US"/>
            </a:defPPr>
            <a:lvl1pPr>
              <a:defRPr sz="800" kern="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Manrope" pitchFamily="2" charset="0"/>
              </a:rPr>
              <a:t>Evolve from Rules based to AI based golden record management</a:t>
            </a:r>
            <a:endParaRPr kumimoji="0" lang="en-GB" sz="800" b="0" i="0" u="none" strike="noStrike" kern="0" cap="none" spc="0" normalizeH="0" baseline="0" noProof="0">
              <a:ln>
                <a:noFill/>
              </a:ln>
              <a:solidFill>
                <a:srgbClr val="000000"/>
              </a:solidFill>
              <a:effectLst/>
              <a:uLnTx/>
              <a:uFillTx/>
              <a:latin typeface="Manrope" pitchFamily="2" charset="0"/>
            </a:endParaRPr>
          </a:p>
        </p:txBody>
      </p:sp>
      <p:sp>
        <p:nvSpPr>
          <p:cNvPr id="39" name="TextBox 38">
            <a:extLst>
              <a:ext uri="{FF2B5EF4-FFF2-40B4-BE49-F238E27FC236}">
                <a16:creationId xmlns:a16="http://schemas.microsoft.com/office/drawing/2014/main" id="{09C7C9A2-CF86-2D01-49CD-4BC21DCA2923}"/>
              </a:ext>
            </a:extLst>
          </p:cNvPr>
          <p:cNvSpPr txBox="1"/>
          <p:nvPr/>
        </p:nvSpPr>
        <p:spPr>
          <a:xfrm>
            <a:off x="7708829" y="1848624"/>
            <a:ext cx="1022992" cy="492443"/>
          </a:xfrm>
          <a:prstGeom prst="rect">
            <a:avLst/>
          </a:prstGeom>
          <a:noFill/>
        </p:spPr>
        <p:txBody>
          <a:bodyPr wrap="square" lIns="0" tIns="0" rIns="0" bIns="0" anchor="t">
            <a:spAutoFit/>
          </a:bodyPr>
          <a:lstStyle>
            <a:defPPr>
              <a:defRPr lang="en-US"/>
            </a:defPPr>
            <a:lvl1pPr>
              <a:defRPr sz="800" kern="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Manrope" pitchFamily="2" charset="0"/>
              </a:rPr>
              <a:t>AI Assisted Self-service and accelerate time to insights</a:t>
            </a:r>
            <a:endParaRPr kumimoji="0" lang="en-GB" sz="800" b="0" i="0" u="none" strike="noStrike" kern="0" cap="none" spc="0" normalizeH="0" baseline="0" noProof="0">
              <a:ln>
                <a:noFill/>
              </a:ln>
              <a:solidFill>
                <a:srgbClr val="000000"/>
              </a:solidFill>
              <a:effectLst/>
              <a:uLnTx/>
              <a:uFillTx/>
              <a:latin typeface="Manrope" pitchFamily="2" charset="0"/>
            </a:endParaRPr>
          </a:p>
        </p:txBody>
      </p:sp>
      <p:sp>
        <p:nvSpPr>
          <p:cNvPr id="40" name="TextBox 39">
            <a:extLst>
              <a:ext uri="{FF2B5EF4-FFF2-40B4-BE49-F238E27FC236}">
                <a16:creationId xmlns:a16="http://schemas.microsoft.com/office/drawing/2014/main" id="{57AD813E-8286-1394-46F5-CBB5E26341BC}"/>
              </a:ext>
            </a:extLst>
          </p:cNvPr>
          <p:cNvSpPr txBox="1"/>
          <p:nvPr/>
        </p:nvSpPr>
        <p:spPr>
          <a:xfrm>
            <a:off x="8947731" y="1848624"/>
            <a:ext cx="1147552" cy="492443"/>
          </a:xfrm>
          <a:prstGeom prst="rect">
            <a:avLst/>
          </a:prstGeom>
          <a:noFill/>
        </p:spPr>
        <p:txBody>
          <a:bodyPr wrap="square" lIns="0" tIns="0" rIns="0" bIns="0" anchor="t">
            <a:spAutoFit/>
          </a:bodyPr>
          <a:lstStyle>
            <a:defPPr>
              <a:defRPr lang="en-US"/>
            </a:defPPr>
            <a:lvl1pPr>
              <a:defRPr sz="800" kern="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Manrope" pitchFamily="2" charset="0"/>
              </a:rPr>
              <a:t>AI Optimized DataOps &amp; Augmented diagnosis, insights and explainability</a:t>
            </a:r>
            <a:endParaRPr kumimoji="0" lang="en-GB" sz="800" b="0" i="0" u="none" strike="noStrike" kern="0" cap="none" spc="0" normalizeH="0" baseline="0" noProof="0">
              <a:ln>
                <a:noFill/>
              </a:ln>
              <a:solidFill>
                <a:srgbClr val="000000"/>
              </a:solidFill>
              <a:effectLst/>
              <a:uLnTx/>
              <a:uFillTx/>
              <a:latin typeface="Manrope" pitchFamily="2" charset="0"/>
            </a:endParaRPr>
          </a:p>
        </p:txBody>
      </p:sp>
      <p:cxnSp>
        <p:nvCxnSpPr>
          <p:cNvPr id="41" name="Straight Connector 40">
            <a:extLst>
              <a:ext uri="{FF2B5EF4-FFF2-40B4-BE49-F238E27FC236}">
                <a16:creationId xmlns:a16="http://schemas.microsoft.com/office/drawing/2014/main" id="{C596C57E-5D70-3C32-D3FE-25E900028D43}"/>
              </a:ext>
            </a:extLst>
          </p:cNvPr>
          <p:cNvCxnSpPr>
            <a:cxnSpLocks/>
          </p:cNvCxnSpPr>
          <p:nvPr/>
        </p:nvCxnSpPr>
        <p:spPr>
          <a:xfrm>
            <a:off x="744905" y="2720161"/>
            <a:ext cx="9261701"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42" name="Graphic 41">
            <a:extLst>
              <a:ext uri="{FF2B5EF4-FFF2-40B4-BE49-F238E27FC236}">
                <a16:creationId xmlns:a16="http://schemas.microsoft.com/office/drawing/2014/main" id="{6DC207E6-DF3D-9629-E969-5434D6ECEA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8826" y="3030561"/>
            <a:ext cx="400152" cy="345701"/>
          </a:xfrm>
          <a:prstGeom prst="rect">
            <a:avLst/>
          </a:prstGeom>
        </p:spPr>
      </p:pic>
      <p:cxnSp>
        <p:nvCxnSpPr>
          <p:cNvPr id="43" name="Straight Arrow Connector 42">
            <a:extLst>
              <a:ext uri="{FF2B5EF4-FFF2-40B4-BE49-F238E27FC236}">
                <a16:creationId xmlns:a16="http://schemas.microsoft.com/office/drawing/2014/main" id="{687AAAB9-D61B-A2C0-8633-F7F8787AD319}"/>
              </a:ext>
            </a:extLst>
          </p:cNvPr>
          <p:cNvCxnSpPr>
            <a:cxnSpLocks/>
          </p:cNvCxnSpPr>
          <p:nvPr/>
        </p:nvCxnSpPr>
        <p:spPr>
          <a:xfrm>
            <a:off x="1285916" y="2720156"/>
            <a:ext cx="0" cy="274320"/>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2FF042FA-4A61-7EC3-F0C3-D8D25A9B4F7C}"/>
              </a:ext>
            </a:extLst>
          </p:cNvPr>
          <p:cNvGrpSpPr/>
          <p:nvPr/>
        </p:nvGrpSpPr>
        <p:grpSpPr>
          <a:xfrm>
            <a:off x="694666" y="3440247"/>
            <a:ext cx="1182500" cy="510057"/>
            <a:chOff x="1116755" y="4125469"/>
            <a:chExt cx="1264056" cy="545235"/>
          </a:xfrm>
        </p:grpSpPr>
        <p:sp>
          <p:nvSpPr>
            <p:cNvPr id="45" name="Identification of functional flows,  rules, calculations , data lineage">
              <a:extLst>
                <a:ext uri="{FF2B5EF4-FFF2-40B4-BE49-F238E27FC236}">
                  <a16:creationId xmlns:a16="http://schemas.microsoft.com/office/drawing/2014/main" id="{B7221FB4-7290-1114-C2DB-C23EB103A7BB}"/>
                </a:ext>
              </a:extLst>
            </p:cNvPr>
            <p:cNvSpPr txBox="1"/>
            <p:nvPr/>
          </p:nvSpPr>
          <p:spPr>
            <a:xfrm>
              <a:off x="1129495" y="4347184"/>
              <a:ext cx="1238577" cy="323520"/>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lvl1pPr>
            </a:lstStyle>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cs typeface="Roboto" panose="02000000000000000000" pitchFamily="2" charset="0"/>
                </a:rPr>
                <a:t>Code Generation</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cs typeface="Roboto" panose="02000000000000000000" pitchFamily="2" charset="0"/>
                </a:rPr>
                <a:t>Code Debugging</a:t>
              </a:r>
            </a:p>
          </p:txBody>
        </p:sp>
        <p:sp>
          <p:nvSpPr>
            <p:cNvPr id="46" name="AI SME for  Current State Modeling">
              <a:extLst>
                <a:ext uri="{FF2B5EF4-FFF2-40B4-BE49-F238E27FC236}">
                  <a16:creationId xmlns:a16="http://schemas.microsoft.com/office/drawing/2014/main" id="{EA64BB22-AE56-CB6B-7A1B-02416F17B6C7}"/>
                </a:ext>
              </a:extLst>
            </p:cNvPr>
            <p:cNvSpPr txBox="1"/>
            <p:nvPr/>
          </p:nvSpPr>
          <p:spPr>
            <a:xfrm>
              <a:off x="1116755" y="4125469"/>
              <a:ext cx="1264056" cy="164501"/>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C2CDA"/>
                  </a:solidFill>
                  <a:effectLst/>
                  <a:uLnTx/>
                  <a:uFillTx/>
                  <a:latin typeface="Manrope" pitchFamily="2" charset="0"/>
                  <a:sym typeface="Manrope Regular"/>
                </a:rPr>
                <a:t>Developer Co-Pilot</a:t>
              </a:r>
              <a:endParaRPr kumimoji="0" sz="1000" b="0" i="0" u="none" strike="noStrike" kern="1200" cap="none" spc="0" normalizeH="0" baseline="0" noProof="0">
                <a:ln>
                  <a:noFill/>
                </a:ln>
                <a:solidFill>
                  <a:srgbClr val="3C2CDA"/>
                </a:solidFill>
                <a:effectLst/>
                <a:uLnTx/>
                <a:uFillTx/>
                <a:latin typeface="Manrope" pitchFamily="2" charset="0"/>
                <a:sym typeface="Manrope Regular"/>
              </a:endParaRPr>
            </a:p>
          </p:txBody>
        </p:sp>
      </p:grpSp>
      <p:cxnSp>
        <p:nvCxnSpPr>
          <p:cNvPr id="47" name="Straight Arrow Connector 46">
            <a:extLst>
              <a:ext uri="{FF2B5EF4-FFF2-40B4-BE49-F238E27FC236}">
                <a16:creationId xmlns:a16="http://schemas.microsoft.com/office/drawing/2014/main" id="{53DA8F2E-37D4-EB28-2DD5-57E3A62C271F}"/>
              </a:ext>
            </a:extLst>
          </p:cNvPr>
          <p:cNvCxnSpPr>
            <a:cxnSpLocks/>
          </p:cNvCxnSpPr>
          <p:nvPr/>
        </p:nvCxnSpPr>
        <p:spPr>
          <a:xfrm>
            <a:off x="2087539" y="2720156"/>
            <a:ext cx="0" cy="1554480"/>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A43618D8-9166-4001-1F5D-8FE09A6C10E3}"/>
              </a:ext>
            </a:extLst>
          </p:cNvPr>
          <p:cNvGrpSpPr/>
          <p:nvPr/>
        </p:nvGrpSpPr>
        <p:grpSpPr>
          <a:xfrm>
            <a:off x="1543806" y="4749146"/>
            <a:ext cx="1385133" cy="912609"/>
            <a:chOff x="2007453" y="5257981"/>
            <a:chExt cx="1480664" cy="975548"/>
          </a:xfrm>
        </p:grpSpPr>
        <p:sp>
          <p:nvSpPr>
            <p:cNvPr id="49" name="AI SME for  Current State Modeling">
              <a:extLst>
                <a:ext uri="{FF2B5EF4-FFF2-40B4-BE49-F238E27FC236}">
                  <a16:creationId xmlns:a16="http://schemas.microsoft.com/office/drawing/2014/main" id="{86C75C6F-28BB-05F5-BF10-2A4D0456123E}"/>
                </a:ext>
              </a:extLst>
            </p:cNvPr>
            <p:cNvSpPr txBox="1"/>
            <p:nvPr/>
          </p:nvSpPr>
          <p:spPr>
            <a:xfrm>
              <a:off x="2007453" y="5257981"/>
              <a:ext cx="1234813" cy="164501"/>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C2CDA"/>
                  </a:solidFill>
                  <a:effectLst/>
                  <a:uLnTx/>
                  <a:uFillTx/>
                  <a:latin typeface="Manrope" pitchFamily="2" charset="0"/>
                  <a:sym typeface="Manrope Regular"/>
                </a:rPr>
                <a:t>Migration Copilot</a:t>
              </a:r>
              <a:endParaRPr kumimoji="0" sz="1000" b="0" i="0" u="none" strike="noStrike" kern="1200" cap="none" spc="0" normalizeH="0" baseline="0" noProof="0">
                <a:ln>
                  <a:noFill/>
                </a:ln>
                <a:solidFill>
                  <a:srgbClr val="3C2CDA"/>
                </a:solidFill>
                <a:effectLst/>
                <a:uLnTx/>
                <a:uFillTx/>
                <a:latin typeface="Manrope" pitchFamily="2" charset="0"/>
                <a:sym typeface="Manrope Regular"/>
              </a:endParaRPr>
            </a:p>
          </p:txBody>
        </p:sp>
        <p:sp>
          <p:nvSpPr>
            <p:cNvPr id="50" name="TextBox 49">
              <a:extLst>
                <a:ext uri="{FF2B5EF4-FFF2-40B4-BE49-F238E27FC236}">
                  <a16:creationId xmlns:a16="http://schemas.microsoft.com/office/drawing/2014/main" id="{AB75BA5E-35DE-6E90-562D-DB2C1B074914}"/>
                </a:ext>
              </a:extLst>
            </p:cNvPr>
            <p:cNvSpPr txBox="1"/>
            <p:nvPr/>
          </p:nvSpPr>
          <p:spPr>
            <a:xfrm>
              <a:off x="2017265" y="5465855"/>
              <a:ext cx="1470852" cy="767674"/>
            </a:xfrm>
            <a:prstGeom prst="rect">
              <a:avLst/>
            </a:prstGeom>
            <a:noFill/>
          </p:spPr>
          <p:txBody>
            <a:bodyPr wrap="square" lIns="0" tIns="0" rIns="0" bIns="0">
              <a:spAutoFit/>
            </a:bodyPr>
            <a:lstStyle>
              <a:defPPr>
                <a:defRPr lang="en-US"/>
              </a:defPPr>
              <a:lvl1pPr marL="171450" indent="-171450">
                <a:spcBef>
                  <a:spcPts val="200"/>
                </a:spcBef>
                <a:buFont typeface="Arial" panose="020B0604020202020204" pitchFamily="34" charset="0"/>
                <a:buChar char="•"/>
                <a:defRPr kumimoji="0" sz="800" b="0" i="0" u="none" strike="noStrike" cap="none" spc="0" normalizeH="0" baseline="0">
                  <a:ln>
                    <a:noFill/>
                  </a:ln>
                  <a:solidFill>
                    <a:srgbClr val="000000"/>
                  </a:solidFill>
                  <a:effectLst/>
                  <a:uLnTx/>
                  <a:uFillTx/>
                  <a:ea typeface="Roboto" panose="02000000000000000000" pitchFamily="2" charset="0"/>
                  <a:cs typeface="Roboto" panose="02000000000000000000" pitchFamily="2" charset="0"/>
                </a:defRPr>
              </a:lvl1pPr>
            </a:lstStyle>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Code Conversion and Data Validation </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Code Analysis, explainability &amp; documentation</a:t>
              </a:r>
            </a:p>
          </p:txBody>
        </p:sp>
      </p:grpSp>
      <p:pic>
        <p:nvPicPr>
          <p:cNvPr id="51" name="Graphic 50">
            <a:extLst>
              <a:ext uri="{FF2B5EF4-FFF2-40B4-BE49-F238E27FC236}">
                <a16:creationId xmlns:a16="http://schemas.microsoft.com/office/drawing/2014/main" id="{FB198B28-2BE9-750C-F6E4-CDDA5586C1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0825" y="4350614"/>
            <a:ext cx="373428" cy="309291"/>
          </a:xfrm>
          <a:prstGeom prst="rect">
            <a:avLst/>
          </a:prstGeom>
        </p:spPr>
      </p:pic>
      <p:sp>
        <p:nvSpPr>
          <p:cNvPr id="52" name="TextBox 51">
            <a:extLst>
              <a:ext uri="{FF2B5EF4-FFF2-40B4-BE49-F238E27FC236}">
                <a16:creationId xmlns:a16="http://schemas.microsoft.com/office/drawing/2014/main" id="{C0A684DB-386D-5660-FAEC-36334FC0E1DE}"/>
              </a:ext>
            </a:extLst>
          </p:cNvPr>
          <p:cNvSpPr txBox="1"/>
          <p:nvPr/>
        </p:nvSpPr>
        <p:spPr>
          <a:xfrm>
            <a:off x="744905" y="956599"/>
            <a:ext cx="6963924" cy="21544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anrope" pitchFamily="2" charset="0"/>
              </a:rPr>
              <a:t>Diverse Modernization Teams Aided by Co-Pilot at Crucial Junctures  </a:t>
            </a:r>
          </a:p>
        </p:txBody>
      </p:sp>
      <p:cxnSp>
        <p:nvCxnSpPr>
          <p:cNvPr id="53" name="Straight Arrow Connector 52">
            <a:extLst>
              <a:ext uri="{FF2B5EF4-FFF2-40B4-BE49-F238E27FC236}">
                <a16:creationId xmlns:a16="http://schemas.microsoft.com/office/drawing/2014/main" id="{5BA472B3-99BA-8732-195E-09235E890087}"/>
              </a:ext>
            </a:extLst>
          </p:cNvPr>
          <p:cNvCxnSpPr>
            <a:cxnSpLocks/>
          </p:cNvCxnSpPr>
          <p:nvPr/>
        </p:nvCxnSpPr>
        <p:spPr>
          <a:xfrm>
            <a:off x="3016206" y="2720156"/>
            <a:ext cx="0" cy="274320"/>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54" name="Graphic 53">
            <a:extLst>
              <a:ext uri="{FF2B5EF4-FFF2-40B4-BE49-F238E27FC236}">
                <a16:creationId xmlns:a16="http://schemas.microsoft.com/office/drawing/2014/main" id="{E5744FAD-B5DC-6718-5A69-50F414153B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45515" y="3030561"/>
            <a:ext cx="341380" cy="345701"/>
          </a:xfrm>
          <a:prstGeom prst="rect">
            <a:avLst/>
          </a:prstGeom>
        </p:spPr>
      </p:pic>
      <p:sp>
        <p:nvSpPr>
          <p:cNvPr id="55" name="Re-host, Re-platform, Re-build,…">
            <a:extLst>
              <a:ext uri="{FF2B5EF4-FFF2-40B4-BE49-F238E27FC236}">
                <a16:creationId xmlns:a16="http://schemas.microsoft.com/office/drawing/2014/main" id="{57B34259-3F6A-E643-6DFE-341C0CAF7FB9}"/>
              </a:ext>
            </a:extLst>
          </p:cNvPr>
          <p:cNvSpPr txBox="1"/>
          <p:nvPr/>
        </p:nvSpPr>
        <p:spPr>
          <a:xfrm>
            <a:off x="2383146" y="3649413"/>
            <a:ext cx="1720539" cy="605294"/>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lvl1pPr>
          </a:lstStyle>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sym typeface="Manrope Regular"/>
              </a:rPr>
              <a:t>Data Model Generation </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sym typeface="Manrope Regular"/>
              </a:rPr>
              <a:t>Model &amp; Domain Descriptions</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sym typeface="Manrope Regular"/>
              </a:rPr>
              <a:t>Entity &amp; Attribute descriptions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8088A7">
                  <a:lumMod val="75000"/>
                </a:srgbClr>
              </a:solidFill>
              <a:effectLst/>
              <a:uLnTx/>
              <a:uFillTx/>
              <a:latin typeface="Manrope" pitchFamily="2" charset="0"/>
              <a:sym typeface="Manrope Regular"/>
            </a:endParaRPr>
          </a:p>
        </p:txBody>
      </p:sp>
      <p:sp>
        <p:nvSpPr>
          <p:cNvPr id="56" name="AI SME for  Strategy Solutioning">
            <a:extLst>
              <a:ext uri="{FF2B5EF4-FFF2-40B4-BE49-F238E27FC236}">
                <a16:creationId xmlns:a16="http://schemas.microsoft.com/office/drawing/2014/main" id="{E4B51582-5413-9A25-5B47-D77D96446F08}"/>
              </a:ext>
            </a:extLst>
          </p:cNvPr>
          <p:cNvSpPr txBox="1"/>
          <p:nvPr/>
        </p:nvSpPr>
        <p:spPr>
          <a:xfrm>
            <a:off x="2385321" y="3447556"/>
            <a:ext cx="1591377" cy="153888"/>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C2CDA"/>
                </a:solidFill>
                <a:effectLst/>
                <a:uLnTx/>
                <a:uFillTx/>
                <a:latin typeface="Manrope" pitchFamily="2" charset="0"/>
                <a:sym typeface="Manrope Regular"/>
              </a:rPr>
              <a:t>Data Modeler Assistant</a:t>
            </a:r>
            <a:endParaRPr kumimoji="0" sz="1000" b="0" i="0" u="none" strike="noStrike" kern="1200" cap="none" spc="0" normalizeH="0" baseline="0" noProof="0">
              <a:ln>
                <a:noFill/>
              </a:ln>
              <a:solidFill>
                <a:srgbClr val="3C2CDA"/>
              </a:solidFill>
              <a:effectLst/>
              <a:uLnTx/>
              <a:uFillTx/>
              <a:latin typeface="Manrope" pitchFamily="2" charset="0"/>
              <a:sym typeface="Manrope Regular"/>
            </a:endParaRPr>
          </a:p>
        </p:txBody>
      </p:sp>
      <p:cxnSp>
        <p:nvCxnSpPr>
          <p:cNvPr id="57" name="Straight Arrow Connector 56">
            <a:extLst>
              <a:ext uri="{FF2B5EF4-FFF2-40B4-BE49-F238E27FC236}">
                <a16:creationId xmlns:a16="http://schemas.microsoft.com/office/drawing/2014/main" id="{0AD200F2-8FF9-9B83-0304-6A3804C573F0}"/>
              </a:ext>
            </a:extLst>
          </p:cNvPr>
          <p:cNvCxnSpPr>
            <a:cxnSpLocks/>
          </p:cNvCxnSpPr>
          <p:nvPr/>
        </p:nvCxnSpPr>
        <p:spPr>
          <a:xfrm>
            <a:off x="4176587" y="2720156"/>
            <a:ext cx="0" cy="1554480"/>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3" name="AI SME for  Component Patterns">
            <a:extLst>
              <a:ext uri="{FF2B5EF4-FFF2-40B4-BE49-F238E27FC236}">
                <a16:creationId xmlns:a16="http://schemas.microsoft.com/office/drawing/2014/main" id="{3130E45D-220C-59BD-617A-73CA276D3C44}"/>
              </a:ext>
            </a:extLst>
          </p:cNvPr>
          <p:cNvSpPr txBox="1"/>
          <p:nvPr/>
        </p:nvSpPr>
        <p:spPr>
          <a:xfrm>
            <a:off x="3488637" y="4708471"/>
            <a:ext cx="1720539" cy="153888"/>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C2CDA"/>
                </a:solidFill>
                <a:effectLst/>
                <a:uLnTx/>
                <a:uFillTx/>
                <a:latin typeface="Manrope" pitchFamily="2" charset="0"/>
                <a:sym typeface="Manrope Regular"/>
              </a:rPr>
              <a:t>Quality Steward Co-pilot</a:t>
            </a:r>
            <a:endParaRPr kumimoji="0" sz="1000" b="0" i="0" u="none" strike="noStrike" kern="1200" cap="none" spc="0" normalizeH="0" baseline="0" noProof="0">
              <a:ln>
                <a:noFill/>
              </a:ln>
              <a:solidFill>
                <a:srgbClr val="3C2CDA"/>
              </a:solidFill>
              <a:effectLst/>
              <a:uLnTx/>
              <a:uFillTx/>
              <a:latin typeface="Manrope" pitchFamily="2" charset="0"/>
              <a:sym typeface="Manrope Regular"/>
            </a:endParaRPr>
          </a:p>
        </p:txBody>
      </p:sp>
      <p:sp>
        <p:nvSpPr>
          <p:cNvPr id="58" name="Re-host, Re-platform, Re-build,…">
            <a:extLst>
              <a:ext uri="{FF2B5EF4-FFF2-40B4-BE49-F238E27FC236}">
                <a16:creationId xmlns:a16="http://schemas.microsoft.com/office/drawing/2014/main" id="{5958351C-13D3-10B5-FFEF-1728E3800907}"/>
              </a:ext>
            </a:extLst>
          </p:cNvPr>
          <p:cNvSpPr txBox="1"/>
          <p:nvPr/>
        </p:nvSpPr>
        <p:spPr>
          <a:xfrm>
            <a:off x="3504748" y="4898929"/>
            <a:ext cx="1910070" cy="605294"/>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lvl1pPr>
          </a:lstStyle>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sym typeface="Manrope Regular"/>
              </a:rPr>
              <a:t>Rule recommendations</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sym typeface="Manrope Regular"/>
              </a:rPr>
              <a:t>Anomalies &amp; Outlier detection</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anrope" pitchFamily="2" charset="0"/>
                <a:ea typeface="Roboto" panose="02000000000000000000" pitchFamily="2" charset="0"/>
                <a:sym typeface="Manrope Regular"/>
              </a:rPr>
              <a:t>Remedy recommendations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8088A7">
                  <a:lumMod val="75000"/>
                </a:srgbClr>
              </a:solidFill>
              <a:effectLst/>
              <a:uLnTx/>
              <a:uFillTx/>
              <a:latin typeface="Manrope" pitchFamily="2" charset="0"/>
              <a:sym typeface="Manrope Regular"/>
            </a:endParaRPr>
          </a:p>
        </p:txBody>
      </p:sp>
      <p:pic>
        <p:nvPicPr>
          <p:cNvPr id="59" name="Graphic 58">
            <a:extLst>
              <a:ext uri="{FF2B5EF4-FFF2-40B4-BE49-F238E27FC236}">
                <a16:creationId xmlns:a16="http://schemas.microsoft.com/office/drawing/2014/main" id="{15DAE59A-B729-11A7-6E42-5F1C81F706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46044" y="4310958"/>
            <a:ext cx="318245" cy="311139"/>
          </a:xfrm>
          <a:prstGeom prst="rect">
            <a:avLst/>
          </a:prstGeom>
        </p:spPr>
      </p:pic>
      <p:cxnSp>
        <p:nvCxnSpPr>
          <p:cNvPr id="60" name="Straight Arrow Connector 59">
            <a:extLst>
              <a:ext uri="{FF2B5EF4-FFF2-40B4-BE49-F238E27FC236}">
                <a16:creationId xmlns:a16="http://schemas.microsoft.com/office/drawing/2014/main" id="{60033D80-F510-1A25-F956-D2BC24222A8F}"/>
              </a:ext>
            </a:extLst>
          </p:cNvPr>
          <p:cNvCxnSpPr>
            <a:cxnSpLocks/>
          </p:cNvCxnSpPr>
          <p:nvPr/>
        </p:nvCxnSpPr>
        <p:spPr>
          <a:xfrm>
            <a:off x="5396284" y="2720156"/>
            <a:ext cx="0" cy="274320"/>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1" name="New experience…">
            <a:extLst>
              <a:ext uri="{FF2B5EF4-FFF2-40B4-BE49-F238E27FC236}">
                <a16:creationId xmlns:a16="http://schemas.microsoft.com/office/drawing/2014/main" id="{21FB735A-E263-AD5E-B8C9-848A22CA752D}"/>
              </a:ext>
            </a:extLst>
          </p:cNvPr>
          <p:cNvSpPr txBox="1"/>
          <p:nvPr/>
        </p:nvSpPr>
        <p:spPr>
          <a:xfrm>
            <a:off x="4824492" y="3611861"/>
            <a:ext cx="1422293" cy="441146"/>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marL="171450" indent="-171450">
              <a:spcBef>
                <a:spcPts val="200"/>
              </a:spcBef>
              <a:buFont typeface="Arial" panose="020B0604020202020204" pitchFamily="34" charset="0"/>
              <a:buChar char="•"/>
              <a:defRPr sz="800">
                <a:solidFill>
                  <a:srgbClr val="000000"/>
                </a:solidFill>
                <a:ea typeface="Roboto" panose="02000000000000000000" pitchFamily="2" charset="0"/>
                <a:cs typeface="Roboto" panose="02000000000000000000" pitchFamily="2" charset="0"/>
              </a:defRPr>
            </a:lvl1pPr>
          </a:lstStyle>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anrope" pitchFamily="2" charset="0"/>
                <a:sym typeface="Manrope Regular"/>
              </a:rPr>
              <a:t>Glossary Generation</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anrope" pitchFamily="2" charset="0"/>
                <a:sym typeface="Manrope Regular"/>
              </a:rPr>
              <a:t>Catalog metadata descriptions</a:t>
            </a:r>
            <a:endParaRPr kumimoji="0" sz="900" b="0" i="0" u="none" strike="noStrike" kern="1200" cap="none" spc="0" normalizeH="0" baseline="0" noProof="0">
              <a:ln>
                <a:noFill/>
              </a:ln>
              <a:solidFill>
                <a:srgbClr val="000000"/>
              </a:solidFill>
              <a:effectLst/>
              <a:uLnTx/>
              <a:uFillTx/>
              <a:latin typeface="Manrope" pitchFamily="2" charset="0"/>
              <a:sym typeface="Manrope Regular"/>
            </a:endParaRPr>
          </a:p>
        </p:txBody>
      </p:sp>
      <p:sp>
        <p:nvSpPr>
          <p:cNvPr id="74" name="AI SME for  CX Designs">
            <a:extLst>
              <a:ext uri="{FF2B5EF4-FFF2-40B4-BE49-F238E27FC236}">
                <a16:creationId xmlns:a16="http://schemas.microsoft.com/office/drawing/2014/main" id="{6C2CAF6F-E120-FB64-881F-4B322E63BD26}"/>
              </a:ext>
            </a:extLst>
          </p:cNvPr>
          <p:cNvSpPr txBox="1"/>
          <p:nvPr/>
        </p:nvSpPr>
        <p:spPr>
          <a:xfrm>
            <a:off x="4848246" y="3417004"/>
            <a:ext cx="1593325" cy="153888"/>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C2CDA"/>
                </a:solidFill>
                <a:effectLst/>
                <a:uLnTx/>
                <a:uFillTx/>
                <a:latin typeface="Manrope" pitchFamily="2" charset="0"/>
                <a:sym typeface="Manrope Regular"/>
              </a:rPr>
              <a:t>Metadata Assistant</a:t>
            </a:r>
            <a:endParaRPr kumimoji="0" sz="1000" b="0" i="0" u="none" strike="noStrike" kern="1200" cap="none" spc="0" normalizeH="0" baseline="0" noProof="0">
              <a:ln>
                <a:noFill/>
              </a:ln>
              <a:solidFill>
                <a:srgbClr val="3C2CDA"/>
              </a:solidFill>
              <a:effectLst/>
              <a:uLnTx/>
              <a:uFillTx/>
              <a:latin typeface="Manrope" pitchFamily="2" charset="0"/>
              <a:sym typeface="Manrope Regular"/>
            </a:endParaRPr>
          </a:p>
        </p:txBody>
      </p:sp>
      <p:pic>
        <p:nvPicPr>
          <p:cNvPr id="82" name="Graphic 81">
            <a:extLst>
              <a:ext uri="{FF2B5EF4-FFF2-40B4-BE49-F238E27FC236}">
                <a16:creationId xmlns:a16="http://schemas.microsoft.com/office/drawing/2014/main" id="{01DBF630-9E8C-EC7D-4BDF-1590AEE1F8E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38943" y="3030979"/>
            <a:ext cx="323056" cy="299652"/>
          </a:xfrm>
          <a:prstGeom prst="rect">
            <a:avLst/>
          </a:prstGeom>
        </p:spPr>
      </p:pic>
      <p:cxnSp>
        <p:nvCxnSpPr>
          <p:cNvPr id="89" name="Straight Arrow Connector 88">
            <a:extLst>
              <a:ext uri="{FF2B5EF4-FFF2-40B4-BE49-F238E27FC236}">
                <a16:creationId xmlns:a16="http://schemas.microsoft.com/office/drawing/2014/main" id="{B8D8D0FC-672E-AD13-E01F-4680D21F27F7}"/>
              </a:ext>
            </a:extLst>
          </p:cNvPr>
          <p:cNvCxnSpPr>
            <a:cxnSpLocks/>
          </p:cNvCxnSpPr>
          <p:nvPr/>
        </p:nvCxnSpPr>
        <p:spPr>
          <a:xfrm>
            <a:off x="6775954" y="2726262"/>
            <a:ext cx="0" cy="1554480"/>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AI SME for  Requirements">
            <a:extLst>
              <a:ext uri="{FF2B5EF4-FFF2-40B4-BE49-F238E27FC236}">
                <a16:creationId xmlns:a16="http://schemas.microsoft.com/office/drawing/2014/main" id="{E4C2581E-67DB-616D-64F0-8868CFF3C1C9}"/>
              </a:ext>
            </a:extLst>
          </p:cNvPr>
          <p:cNvSpPr txBox="1"/>
          <p:nvPr/>
        </p:nvSpPr>
        <p:spPr>
          <a:xfrm>
            <a:off x="6167688" y="4715163"/>
            <a:ext cx="1372043" cy="153888"/>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C2CDA"/>
                </a:solidFill>
                <a:effectLst/>
                <a:uLnTx/>
                <a:uFillTx/>
                <a:latin typeface="Manrope" pitchFamily="2" charset="0"/>
                <a:sym typeface="Manrope Regular"/>
              </a:rPr>
              <a:t>Master Data Copilot</a:t>
            </a:r>
            <a:endParaRPr kumimoji="0" sz="1000" b="0" i="0" u="none" strike="noStrike" kern="1200" cap="none" spc="0" normalizeH="0" baseline="0" noProof="0">
              <a:ln>
                <a:noFill/>
              </a:ln>
              <a:solidFill>
                <a:srgbClr val="3C2CDA"/>
              </a:solidFill>
              <a:effectLst/>
              <a:uLnTx/>
              <a:uFillTx/>
              <a:latin typeface="Manrope" pitchFamily="2" charset="0"/>
              <a:sym typeface="Manrope Regular"/>
            </a:endParaRPr>
          </a:p>
        </p:txBody>
      </p:sp>
      <p:sp>
        <p:nvSpPr>
          <p:cNvPr id="91" name="TextBox 90">
            <a:extLst>
              <a:ext uri="{FF2B5EF4-FFF2-40B4-BE49-F238E27FC236}">
                <a16:creationId xmlns:a16="http://schemas.microsoft.com/office/drawing/2014/main" id="{84025BDE-417D-71B9-82BB-B7155C25E9CA}"/>
              </a:ext>
            </a:extLst>
          </p:cNvPr>
          <p:cNvSpPr txBox="1"/>
          <p:nvPr/>
        </p:nvSpPr>
        <p:spPr>
          <a:xfrm>
            <a:off x="6172318" y="4917549"/>
            <a:ext cx="1752122" cy="630942"/>
          </a:xfrm>
          <a:prstGeom prst="rect">
            <a:avLst/>
          </a:prstGeom>
          <a:noFill/>
        </p:spPr>
        <p:txBody>
          <a:bodyPr wrap="square" lIns="0" tIns="0" rIns="0" bIns="0">
            <a:spAutoFit/>
          </a:bodyPr>
          <a:lstStyle>
            <a:defPPr>
              <a:defRPr lang="en-US"/>
            </a:defPPr>
            <a:lvl1pPr marL="171450" indent="-171450">
              <a:spcBef>
                <a:spcPts val="200"/>
              </a:spcBef>
              <a:buFont typeface="Arial" panose="020B0604020202020204" pitchFamily="34" charset="0"/>
              <a:buChar char="•"/>
              <a:defRPr sz="800">
                <a:solidFill>
                  <a:srgbClr val="000000"/>
                </a:solidFill>
                <a:ea typeface="Roboto" panose="02000000000000000000" pitchFamily="2" charset="0"/>
                <a:cs typeface="Roboto" panose="02000000000000000000" pitchFamily="2" charset="0"/>
              </a:defRPr>
            </a:lvl1pPr>
          </a:lstStyle>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Master Data Glossary</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Product/Parts descriptions</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Product Image Generation</a:t>
            </a:r>
          </a:p>
          <a:p>
            <a:pPr marL="0" marR="0" lvl="0" indent="0" algn="l"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endParaRPr kumimoji="0" lang="en-GB" sz="900" b="0" i="0" u="none" strike="noStrike" kern="1200" cap="none" spc="0" normalizeH="0" baseline="0" noProof="0">
              <a:ln>
                <a:noFill/>
              </a:ln>
              <a:solidFill>
                <a:srgbClr val="000000"/>
              </a:solidFill>
              <a:effectLst/>
              <a:uLnTx/>
              <a:uFillTx/>
              <a:latin typeface="Manrope" pitchFamily="2" charset="0"/>
            </a:endParaRPr>
          </a:p>
        </p:txBody>
      </p:sp>
      <p:pic>
        <p:nvPicPr>
          <p:cNvPr id="93" name="Graphic 92">
            <a:extLst>
              <a:ext uri="{FF2B5EF4-FFF2-40B4-BE49-F238E27FC236}">
                <a16:creationId xmlns:a16="http://schemas.microsoft.com/office/drawing/2014/main" id="{EBE5801B-930E-A558-A87B-681F2CA40E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57750" y="4356515"/>
            <a:ext cx="312144" cy="307773"/>
          </a:xfrm>
          <a:prstGeom prst="rect">
            <a:avLst/>
          </a:prstGeom>
        </p:spPr>
      </p:pic>
      <p:cxnSp>
        <p:nvCxnSpPr>
          <p:cNvPr id="94" name="Straight Arrow Connector 93">
            <a:extLst>
              <a:ext uri="{FF2B5EF4-FFF2-40B4-BE49-F238E27FC236}">
                <a16:creationId xmlns:a16="http://schemas.microsoft.com/office/drawing/2014/main" id="{D73F8E4F-74C3-0FD3-7707-D052F7AC3F7C}"/>
              </a:ext>
            </a:extLst>
          </p:cNvPr>
          <p:cNvCxnSpPr>
            <a:cxnSpLocks/>
          </p:cNvCxnSpPr>
          <p:nvPr/>
        </p:nvCxnSpPr>
        <p:spPr>
          <a:xfrm>
            <a:off x="8090090" y="2720156"/>
            <a:ext cx="0" cy="274320"/>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5" name="AI SME for  Requirements">
            <a:extLst>
              <a:ext uri="{FF2B5EF4-FFF2-40B4-BE49-F238E27FC236}">
                <a16:creationId xmlns:a16="http://schemas.microsoft.com/office/drawing/2014/main" id="{AFC6FC1F-B2C2-3508-CC70-83705713BCD7}"/>
              </a:ext>
            </a:extLst>
          </p:cNvPr>
          <p:cNvSpPr txBox="1"/>
          <p:nvPr/>
        </p:nvSpPr>
        <p:spPr>
          <a:xfrm>
            <a:off x="7616507" y="3362596"/>
            <a:ext cx="1047069" cy="153888"/>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C2CDA"/>
                </a:solidFill>
                <a:effectLst/>
                <a:uLnTx/>
                <a:uFillTx/>
                <a:latin typeface="Manrope" pitchFamily="2" charset="0"/>
                <a:sym typeface="Manrope Regular"/>
              </a:rPr>
              <a:t>Data Co-Analyst</a:t>
            </a:r>
            <a:endParaRPr kumimoji="0" sz="1000" b="0" i="0" u="none" strike="noStrike" kern="1200" cap="none" spc="0" normalizeH="0" baseline="0" noProof="0">
              <a:ln>
                <a:noFill/>
              </a:ln>
              <a:solidFill>
                <a:srgbClr val="3C2CDA"/>
              </a:solidFill>
              <a:effectLst/>
              <a:uLnTx/>
              <a:uFillTx/>
              <a:latin typeface="Manrope" pitchFamily="2" charset="0"/>
              <a:sym typeface="Manrope Regular"/>
            </a:endParaRPr>
          </a:p>
        </p:txBody>
      </p:sp>
      <p:sp>
        <p:nvSpPr>
          <p:cNvPr id="96" name="TextBox 95">
            <a:extLst>
              <a:ext uri="{FF2B5EF4-FFF2-40B4-BE49-F238E27FC236}">
                <a16:creationId xmlns:a16="http://schemas.microsoft.com/office/drawing/2014/main" id="{F0A5E238-4716-AD49-4764-C46CC363DF50}"/>
              </a:ext>
            </a:extLst>
          </p:cNvPr>
          <p:cNvSpPr txBox="1"/>
          <p:nvPr/>
        </p:nvSpPr>
        <p:spPr>
          <a:xfrm>
            <a:off x="7616507" y="3569809"/>
            <a:ext cx="1115314" cy="605294"/>
          </a:xfrm>
          <a:prstGeom prst="rect">
            <a:avLst/>
          </a:prstGeom>
          <a:noFill/>
        </p:spPr>
        <p:txBody>
          <a:bodyPr wrap="square" lIns="0" tIns="0" rIns="0" bIns="0">
            <a:spAutoFit/>
          </a:bodyPr>
          <a:lstStyle>
            <a:defPPr>
              <a:defRPr lang="en-US"/>
            </a:defPPr>
            <a:lvl1pPr marL="171450" indent="-171450">
              <a:spcBef>
                <a:spcPts val="200"/>
              </a:spcBef>
              <a:buFont typeface="Arial" panose="020B0604020202020204" pitchFamily="34" charset="0"/>
              <a:buChar char="•"/>
              <a:defRPr sz="800">
                <a:solidFill>
                  <a:srgbClr val="000000"/>
                </a:solidFill>
                <a:ea typeface="Roboto" panose="02000000000000000000" pitchFamily="2" charset="0"/>
                <a:cs typeface="Roboto" panose="02000000000000000000" pitchFamily="2" charset="0"/>
              </a:defRPr>
            </a:lvl1pPr>
          </a:lstStyle>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Data Summaries</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Visual Narratives</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KPIs &amp; Measures – documentation</a:t>
            </a:r>
          </a:p>
        </p:txBody>
      </p:sp>
      <p:pic>
        <p:nvPicPr>
          <p:cNvPr id="97" name="Graphic 96">
            <a:extLst>
              <a:ext uri="{FF2B5EF4-FFF2-40B4-BE49-F238E27FC236}">
                <a16:creationId xmlns:a16="http://schemas.microsoft.com/office/drawing/2014/main" id="{3208B076-02C1-ED80-16EC-E9D976D753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24440" y="3033526"/>
            <a:ext cx="339277" cy="302975"/>
          </a:xfrm>
          <a:prstGeom prst="rect">
            <a:avLst/>
          </a:prstGeom>
        </p:spPr>
      </p:pic>
      <p:cxnSp>
        <p:nvCxnSpPr>
          <p:cNvPr id="98" name="Straight Arrow Connector 97">
            <a:extLst>
              <a:ext uri="{FF2B5EF4-FFF2-40B4-BE49-F238E27FC236}">
                <a16:creationId xmlns:a16="http://schemas.microsoft.com/office/drawing/2014/main" id="{754EF04C-35DB-AF66-C613-A2171400DEC1}"/>
              </a:ext>
            </a:extLst>
          </p:cNvPr>
          <p:cNvCxnSpPr>
            <a:cxnSpLocks/>
          </p:cNvCxnSpPr>
          <p:nvPr/>
        </p:nvCxnSpPr>
        <p:spPr>
          <a:xfrm>
            <a:off x="9196429" y="2731726"/>
            <a:ext cx="0" cy="1554480"/>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99" name="Graphic 98">
            <a:extLst>
              <a:ext uri="{FF2B5EF4-FFF2-40B4-BE49-F238E27FC236}">
                <a16:creationId xmlns:a16="http://schemas.microsoft.com/office/drawing/2014/main" id="{FA74A8E7-F491-E468-3375-D8CD313E9D3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37307" y="4345150"/>
            <a:ext cx="318245" cy="318245"/>
          </a:xfrm>
          <a:prstGeom prst="rect">
            <a:avLst/>
          </a:prstGeom>
        </p:spPr>
      </p:pic>
      <p:sp>
        <p:nvSpPr>
          <p:cNvPr id="100" name="AI SME for  Implementation Playbook">
            <a:extLst>
              <a:ext uri="{FF2B5EF4-FFF2-40B4-BE49-F238E27FC236}">
                <a16:creationId xmlns:a16="http://schemas.microsoft.com/office/drawing/2014/main" id="{BD0C0997-DC06-1939-82E7-48CD956D37E8}"/>
              </a:ext>
            </a:extLst>
          </p:cNvPr>
          <p:cNvSpPr txBox="1"/>
          <p:nvPr/>
        </p:nvSpPr>
        <p:spPr>
          <a:xfrm>
            <a:off x="8729685" y="4724779"/>
            <a:ext cx="1084902" cy="153888"/>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defPPr>
              <a:defRPr lang="en-US"/>
            </a:defPPr>
            <a:lvl1pPr>
              <a:defRPr sz="800">
                <a:solidFill>
                  <a:schemeClr val="accent5">
                    <a:lumMod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C2CDA"/>
                </a:solidFill>
                <a:effectLst/>
                <a:uLnTx/>
                <a:uFillTx/>
                <a:latin typeface="Manrope" pitchFamily="2" charset="0"/>
                <a:sym typeface="Manrope Regular"/>
              </a:rPr>
              <a:t>DataOps Copilot</a:t>
            </a:r>
            <a:endParaRPr kumimoji="0" sz="1000" b="0" i="0" u="none" strike="noStrike" kern="1200" cap="none" spc="0" normalizeH="0" baseline="0" noProof="0">
              <a:ln>
                <a:noFill/>
              </a:ln>
              <a:solidFill>
                <a:srgbClr val="3C2CDA"/>
              </a:solidFill>
              <a:effectLst/>
              <a:uLnTx/>
              <a:uFillTx/>
              <a:latin typeface="Manrope" pitchFamily="2" charset="0"/>
              <a:sym typeface="Manrope Regular"/>
            </a:endParaRPr>
          </a:p>
        </p:txBody>
      </p:sp>
      <p:sp>
        <p:nvSpPr>
          <p:cNvPr id="101" name="TextBox 100">
            <a:extLst>
              <a:ext uri="{FF2B5EF4-FFF2-40B4-BE49-F238E27FC236}">
                <a16:creationId xmlns:a16="http://schemas.microsoft.com/office/drawing/2014/main" id="{7D2A1CD9-974D-A5D1-539A-8F11C5B46BF4}"/>
              </a:ext>
            </a:extLst>
          </p:cNvPr>
          <p:cNvSpPr txBox="1"/>
          <p:nvPr/>
        </p:nvSpPr>
        <p:spPr>
          <a:xfrm>
            <a:off x="8729685" y="4898929"/>
            <a:ext cx="1373194" cy="718145"/>
          </a:xfrm>
          <a:prstGeom prst="rect">
            <a:avLst/>
          </a:prstGeom>
          <a:noFill/>
        </p:spPr>
        <p:txBody>
          <a:bodyPr wrap="square" lIns="0" tIns="0" rIns="0" bIns="0">
            <a:spAutoFit/>
          </a:bodyPr>
          <a:lstStyle>
            <a:defPPr>
              <a:defRPr lang="en-US"/>
            </a:defPPr>
            <a:lvl1pPr marL="171450" indent="-171450">
              <a:spcBef>
                <a:spcPts val="200"/>
              </a:spcBef>
              <a:buFont typeface="Arial" panose="020B0604020202020204" pitchFamily="34" charset="0"/>
              <a:buChar char="•"/>
              <a:defRPr sz="800">
                <a:solidFill>
                  <a:srgbClr val="000000"/>
                </a:solidFill>
                <a:ea typeface="Roboto" panose="02000000000000000000" pitchFamily="2" charset="0"/>
                <a:cs typeface="Roboto" panose="02000000000000000000" pitchFamily="2" charset="0"/>
              </a:defRPr>
            </a:lvl1pPr>
          </a:lstStyle>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Narratives for Incidents &amp; inferences</a:t>
            </a:r>
          </a:p>
          <a:p>
            <a:pPr marL="104775" marR="0" lvl="0" indent="-104775"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GB" sz="900" b="0" i="0" u="none" strike="noStrike" kern="1200" cap="none" spc="0" normalizeH="0" baseline="0" noProof="0">
                <a:ln>
                  <a:noFill/>
                </a:ln>
                <a:solidFill>
                  <a:srgbClr val="000000"/>
                </a:solidFill>
                <a:effectLst/>
                <a:uLnTx/>
                <a:uFillTx/>
                <a:latin typeface="Manrope" pitchFamily="2" charset="0"/>
              </a:rPr>
              <a:t>Feature, Model &amp; Process Documentation</a:t>
            </a:r>
          </a:p>
        </p:txBody>
      </p:sp>
      <p:sp>
        <p:nvSpPr>
          <p:cNvPr id="102" name="Assist &amp; Amplify humans in the loop">
            <a:extLst>
              <a:ext uri="{FF2B5EF4-FFF2-40B4-BE49-F238E27FC236}">
                <a16:creationId xmlns:a16="http://schemas.microsoft.com/office/drawing/2014/main" id="{285BFCEC-2E0F-3BA5-D183-98E0522E1CA9}"/>
              </a:ext>
            </a:extLst>
          </p:cNvPr>
          <p:cNvSpPr txBox="1"/>
          <p:nvPr/>
        </p:nvSpPr>
        <p:spPr>
          <a:xfrm>
            <a:off x="3482241" y="5749357"/>
            <a:ext cx="3787028" cy="21749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ctr">
            <a:spAutoFit/>
          </a:bodyPr>
          <a:lstStyle>
            <a:lvl1pPr>
              <a:defRPr sz="2500">
                <a:solidFill>
                  <a:srgbClr val="FFFFFF"/>
                </a:solidFill>
                <a:latin typeface="Manrope Regular"/>
                <a:ea typeface="Manrope Regular"/>
                <a:cs typeface="Manrope Regular"/>
                <a:sym typeface="Manrope Regular"/>
              </a:defRPr>
            </a:lvl1pPr>
          </a:lstStyle>
          <a:p>
            <a:pPr marL="0" marR="0" lvl="0" indent="0" algn="ctr" defTabSz="1219169" rtl="0" eaLnBrk="1" fontAlgn="auto" latinLnBrk="0" hangingPunct="0">
              <a:lnSpc>
                <a:spcPct val="90000"/>
              </a:lnSpc>
              <a:spcBef>
                <a:spcPts val="2250"/>
              </a:spcBef>
              <a:spcAft>
                <a:spcPts val="0"/>
              </a:spcAft>
              <a:buClrTx/>
              <a:buSzTx/>
              <a:buFontTx/>
              <a:buNone/>
              <a:tabLst/>
              <a:defRPr/>
            </a:pPr>
            <a:r>
              <a:rPr kumimoji="0" sz="1200" b="1" i="0" u="none" strike="noStrike" kern="0" cap="none" spc="0" normalizeH="0" baseline="0" noProof="0">
                <a:ln>
                  <a:noFill/>
                </a:ln>
                <a:solidFill>
                  <a:srgbClr val="3C2CDA"/>
                </a:solidFill>
                <a:effectLst/>
                <a:uLnTx/>
                <a:uFillTx/>
                <a:latin typeface="Manrope" pitchFamily="2" charset="0"/>
                <a:sym typeface="Manrope Regular"/>
              </a:rPr>
              <a:t>Assist </a:t>
            </a:r>
            <a:r>
              <a:rPr kumimoji="0" lang="en-US" sz="1200" b="1" i="0" u="none" strike="noStrike" kern="0" cap="none" spc="0" normalizeH="0" baseline="0" noProof="0">
                <a:ln>
                  <a:noFill/>
                </a:ln>
                <a:solidFill>
                  <a:srgbClr val="3C2CDA"/>
                </a:solidFill>
                <a:effectLst/>
                <a:uLnTx/>
                <a:uFillTx/>
                <a:latin typeface="Manrope" pitchFamily="2" charset="0"/>
                <a:sym typeface="Manrope Regular"/>
              </a:rPr>
              <a:t>and</a:t>
            </a:r>
            <a:r>
              <a:rPr kumimoji="0" sz="1200" b="1" i="0" u="none" strike="noStrike" kern="0" cap="none" spc="0" normalizeH="0" baseline="0" noProof="0">
                <a:ln>
                  <a:noFill/>
                </a:ln>
                <a:solidFill>
                  <a:srgbClr val="3C2CDA"/>
                </a:solidFill>
                <a:effectLst/>
                <a:uLnTx/>
                <a:uFillTx/>
                <a:latin typeface="Manrope" pitchFamily="2" charset="0"/>
                <a:sym typeface="Manrope Regular"/>
              </a:rPr>
              <a:t> Amplify </a:t>
            </a:r>
            <a:r>
              <a:rPr kumimoji="0" lang="en-US" sz="1200" b="1" i="0" u="none" strike="noStrike" kern="0" cap="none" spc="0" normalizeH="0" baseline="0" noProof="0">
                <a:ln>
                  <a:noFill/>
                </a:ln>
                <a:solidFill>
                  <a:srgbClr val="3C2CDA"/>
                </a:solidFill>
                <a:effectLst/>
                <a:uLnTx/>
                <a:uFillTx/>
                <a:latin typeface="Manrope" pitchFamily="2" charset="0"/>
                <a:sym typeface="Manrope Regular"/>
              </a:rPr>
              <a:t>with H</a:t>
            </a:r>
            <a:r>
              <a:rPr kumimoji="0" sz="1200" b="1" i="0" u="none" strike="noStrike" kern="0" cap="none" spc="0" normalizeH="0" baseline="0" noProof="0">
                <a:ln>
                  <a:noFill/>
                </a:ln>
                <a:solidFill>
                  <a:srgbClr val="3C2CDA"/>
                </a:solidFill>
                <a:effectLst/>
                <a:uLnTx/>
                <a:uFillTx/>
                <a:latin typeface="Manrope" pitchFamily="2" charset="0"/>
                <a:sym typeface="Manrope Regular"/>
              </a:rPr>
              <a:t>umans in the </a:t>
            </a:r>
            <a:r>
              <a:rPr kumimoji="0" lang="en-US" sz="1200" b="1" i="0" u="none" strike="noStrike" kern="0" cap="none" spc="0" normalizeH="0" baseline="0" noProof="0">
                <a:ln>
                  <a:noFill/>
                </a:ln>
                <a:solidFill>
                  <a:srgbClr val="3C2CDA"/>
                </a:solidFill>
                <a:effectLst/>
                <a:uLnTx/>
                <a:uFillTx/>
                <a:latin typeface="Manrope" pitchFamily="2" charset="0"/>
                <a:sym typeface="Manrope Regular"/>
              </a:rPr>
              <a:t>L</a:t>
            </a:r>
            <a:r>
              <a:rPr kumimoji="0" sz="1200" b="1" i="0" u="none" strike="noStrike" kern="0" cap="none" spc="0" normalizeH="0" baseline="0" noProof="0">
                <a:ln>
                  <a:noFill/>
                </a:ln>
                <a:solidFill>
                  <a:srgbClr val="3C2CDA"/>
                </a:solidFill>
                <a:effectLst/>
                <a:uLnTx/>
                <a:uFillTx/>
                <a:latin typeface="Manrope" pitchFamily="2" charset="0"/>
                <a:sym typeface="Manrope Regular"/>
              </a:rPr>
              <a:t>oop</a:t>
            </a:r>
          </a:p>
        </p:txBody>
      </p:sp>
      <p:sp>
        <p:nvSpPr>
          <p:cNvPr id="103" name="Freeform: Shape 102">
            <a:extLst>
              <a:ext uri="{FF2B5EF4-FFF2-40B4-BE49-F238E27FC236}">
                <a16:creationId xmlns:a16="http://schemas.microsoft.com/office/drawing/2014/main" id="{45BFA5FF-1138-9E1F-3512-AF7C6E1432EB}"/>
              </a:ext>
            </a:extLst>
          </p:cNvPr>
          <p:cNvSpPr/>
          <p:nvPr/>
        </p:nvSpPr>
        <p:spPr>
          <a:xfrm rot="10800000">
            <a:off x="5275865" y="5397074"/>
            <a:ext cx="231739" cy="124698"/>
          </a:xfrm>
          <a:custGeom>
            <a:avLst/>
            <a:gdLst>
              <a:gd name="connsiteX0" fmla="*/ 209206 w 393082"/>
              <a:gd name="connsiteY0" fmla="*/ 5283 h 214519"/>
              <a:gd name="connsiteX1" fmla="*/ 183950 w 393082"/>
              <a:gd name="connsiteY1" fmla="*/ 5179 h 214519"/>
              <a:gd name="connsiteX2" fmla="*/ 183846 w 393082"/>
              <a:gd name="connsiteY2" fmla="*/ 5283 h 214519"/>
              <a:gd name="connsiteX3" fmla="*/ 5252 w 393082"/>
              <a:gd name="connsiteY3" fmla="*/ 183877 h 214519"/>
              <a:gd name="connsiteX4" fmla="*/ 5252 w 393082"/>
              <a:gd name="connsiteY4" fmla="*/ 209237 h 214519"/>
              <a:gd name="connsiteX5" fmla="*/ 30613 w 393082"/>
              <a:gd name="connsiteY5" fmla="*/ 209237 h 214519"/>
              <a:gd name="connsiteX6" fmla="*/ 196526 w 393082"/>
              <a:gd name="connsiteY6" fmla="*/ 43145 h 214519"/>
              <a:gd name="connsiteX7" fmla="*/ 362440 w 393082"/>
              <a:gd name="connsiteY7" fmla="*/ 209237 h 214519"/>
              <a:gd name="connsiteX8" fmla="*/ 387697 w 393082"/>
              <a:gd name="connsiteY8" fmla="*/ 209340 h 214519"/>
              <a:gd name="connsiteX9" fmla="*/ 387800 w 393082"/>
              <a:gd name="connsiteY9" fmla="*/ 209237 h 214519"/>
              <a:gd name="connsiteX10" fmla="*/ 387904 w 393082"/>
              <a:gd name="connsiteY10" fmla="*/ 183980 h 214519"/>
              <a:gd name="connsiteX11" fmla="*/ 387800 w 393082"/>
              <a:gd name="connsiteY11" fmla="*/ 183877 h 214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3082" h="214519">
                <a:moveTo>
                  <a:pt x="209206" y="5283"/>
                </a:moveTo>
                <a:cubicBezTo>
                  <a:pt x="202260" y="-1720"/>
                  <a:pt x="190953" y="-1767"/>
                  <a:pt x="183950" y="5179"/>
                </a:cubicBezTo>
                <a:cubicBezTo>
                  <a:pt x="183915" y="5214"/>
                  <a:pt x="183880" y="5248"/>
                  <a:pt x="183846" y="5283"/>
                </a:cubicBezTo>
                <a:lnTo>
                  <a:pt x="5252" y="183877"/>
                </a:lnTo>
                <a:cubicBezTo>
                  <a:pt x="-1751" y="190880"/>
                  <a:pt x="-1751" y="202234"/>
                  <a:pt x="5252" y="209237"/>
                </a:cubicBezTo>
                <a:cubicBezTo>
                  <a:pt x="12255" y="216240"/>
                  <a:pt x="23610" y="216240"/>
                  <a:pt x="30613" y="209237"/>
                </a:cubicBezTo>
                <a:lnTo>
                  <a:pt x="196526" y="43145"/>
                </a:lnTo>
                <a:lnTo>
                  <a:pt x="362440" y="209237"/>
                </a:lnTo>
                <a:cubicBezTo>
                  <a:pt x="369386" y="216240"/>
                  <a:pt x="380694" y="216286"/>
                  <a:pt x="387697" y="209340"/>
                </a:cubicBezTo>
                <a:cubicBezTo>
                  <a:pt x="387731" y="209306"/>
                  <a:pt x="387766" y="209271"/>
                  <a:pt x="387800" y="209237"/>
                </a:cubicBezTo>
                <a:cubicBezTo>
                  <a:pt x="394803" y="202291"/>
                  <a:pt x="394850" y="190983"/>
                  <a:pt x="387904" y="183980"/>
                </a:cubicBezTo>
                <a:cubicBezTo>
                  <a:pt x="387869" y="183945"/>
                  <a:pt x="387835" y="183911"/>
                  <a:pt x="387800" y="183877"/>
                </a:cubicBezTo>
                <a:close/>
              </a:path>
            </a:pathLst>
          </a:custGeom>
          <a:solidFill>
            <a:schemeClr val="tx2">
              <a:lumMod val="25000"/>
              <a:lumOff val="75000"/>
            </a:schemeClr>
          </a:solidFill>
          <a:ln w="178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anrope" pitchFamily="2" charset="0"/>
            </a:endParaRPr>
          </a:p>
        </p:txBody>
      </p:sp>
      <p:sp>
        <p:nvSpPr>
          <p:cNvPr id="104" name="Freeform: Shape 103">
            <a:extLst>
              <a:ext uri="{FF2B5EF4-FFF2-40B4-BE49-F238E27FC236}">
                <a16:creationId xmlns:a16="http://schemas.microsoft.com/office/drawing/2014/main" id="{AD677D3D-74EB-3E53-AA6A-8C57383C4676}"/>
              </a:ext>
            </a:extLst>
          </p:cNvPr>
          <p:cNvSpPr/>
          <p:nvPr/>
        </p:nvSpPr>
        <p:spPr>
          <a:xfrm rot="10800000">
            <a:off x="5275865" y="5500889"/>
            <a:ext cx="231739" cy="124698"/>
          </a:xfrm>
          <a:custGeom>
            <a:avLst/>
            <a:gdLst>
              <a:gd name="connsiteX0" fmla="*/ 30613 w 393082"/>
              <a:gd name="connsiteY0" fmla="*/ 209237 h 214519"/>
              <a:gd name="connsiteX1" fmla="*/ 196526 w 393082"/>
              <a:gd name="connsiteY1" fmla="*/ 43145 h 214519"/>
              <a:gd name="connsiteX2" fmla="*/ 362440 w 393082"/>
              <a:gd name="connsiteY2" fmla="*/ 209237 h 214519"/>
              <a:gd name="connsiteX3" fmla="*/ 387697 w 393082"/>
              <a:gd name="connsiteY3" fmla="*/ 209340 h 214519"/>
              <a:gd name="connsiteX4" fmla="*/ 387800 w 393082"/>
              <a:gd name="connsiteY4" fmla="*/ 209237 h 214519"/>
              <a:gd name="connsiteX5" fmla="*/ 387904 w 393082"/>
              <a:gd name="connsiteY5" fmla="*/ 183980 h 214519"/>
              <a:gd name="connsiteX6" fmla="*/ 387800 w 393082"/>
              <a:gd name="connsiteY6" fmla="*/ 183877 h 214519"/>
              <a:gd name="connsiteX7" fmla="*/ 209206 w 393082"/>
              <a:gd name="connsiteY7" fmla="*/ 5283 h 214519"/>
              <a:gd name="connsiteX8" fmla="*/ 183950 w 393082"/>
              <a:gd name="connsiteY8" fmla="*/ 5179 h 214519"/>
              <a:gd name="connsiteX9" fmla="*/ 183846 w 393082"/>
              <a:gd name="connsiteY9" fmla="*/ 5283 h 214519"/>
              <a:gd name="connsiteX10" fmla="*/ 5252 w 393082"/>
              <a:gd name="connsiteY10" fmla="*/ 183877 h 214519"/>
              <a:gd name="connsiteX11" fmla="*/ 5252 w 393082"/>
              <a:gd name="connsiteY11" fmla="*/ 209237 h 214519"/>
              <a:gd name="connsiteX12" fmla="*/ 30613 w 393082"/>
              <a:gd name="connsiteY12" fmla="*/ 209237 h 214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3082" h="214519">
                <a:moveTo>
                  <a:pt x="30613" y="209237"/>
                </a:moveTo>
                <a:lnTo>
                  <a:pt x="196526" y="43145"/>
                </a:lnTo>
                <a:lnTo>
                  <a:pt x="362440" y="209237"/>
                </a:lnTo>
                <a:cubicBezTo>
                  <a:pt x="369386" y="216240"/>
                  <a:pt x="380694" y="216286"/>
                  <a:pt x="387697" y="209340"/>
                </a:cubicBezTo>
                <a:cubicBezTo>
                  <a:pt x="387731" y="209306"/>
                  <a:pt x="387766" y="209271"/>
                  <a:pt x="387800" y="209237"/>
                </a:cubicBezTo>
                <a:cubicBezTo>
                  <a:pt x="394803" y="202291"/>
                  <a:pt x="394850" y="190983"/>
                  <a:pt x="387904" y="183980"/>
                </a:cubicBezTo>
                <a:cubicBezTo>
                  <a:pt x="387869" y="183945"/>
                  <a:pt x="387835" y="183911"/>
                  <a:pt x="387800" y="183877"/>
                </a:cubicBezTo>
                <a:lnTo>
                  <a:pt x="209206" y="5283"/>
                </a:lnTo>
                <a:cubicBezTo>
                  <a:pt x="202260" y="-1720"/>
                  <a:pt x="190953" y="-1767"/>
                  <a:pt x="183950" y="5179"/>
                </a:cubicBezTo>
                <a:cubicBezTo>
                  <a:pt x="183915" y="5214"/>
                  <a:pt x="183880" y="5248"/>
                  <a:pt x="183846" y="5283"/>
                </a:cubicBezTo>
                <a:lnTo>
                  <a:pt x="5252" y="183877"/>
                </a:lnTo>
                <a:cubicBezTo>
                  <a:pt x="-1751" y="190880"/>
                  <a:pt x="-1751" y="202234"/>
                  <a:pt x="5252" y="209237"/>
                </a:cubicBezTo>
                <a:cubicBezTo>
                  <a:pt x="12255" y="216240"/>
                  <a:pt x="23610" y="216240"/>
                  <a:pt x="30613" y="209237"/>
                </a:cubicBezTo>
                <a:close/>
              </a:path>
            </a:pathLst>
          </a:custGeom>
          <a:solidFill>
            <a:schemeClr val="accent1"/>
          </a:solidFill>
          <a:ln w="178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anrope" pitchFamily="2" charset="0"/>
            </a:endParaRPr>
          </a:p>
        </p:txBody>
      </p:sp>
      <p:grpSp>
        <p:nvGrpSpPr>
          <p:cNvPr id="105" name="Group 104">
            <a:extLst>
              <a:ext uri="{FF2B5EF4-FFF2-40B4-BE49-F238E27FC236}">
                <a16:creationId xmlns:a16="http://schemas.microsoft.com/office/drawing/2014/main" id="{978C7592-FA61-7809-CF4C-49D432824745}"/>
              </a:ext>
            </a:extLst>
          </p:cNvPr>
          <p:cNvGrpSpPr/>
          <p:nvPr/>
        </p:nvGrpSpPr>
        <p:grpSpPr>
          <a:xfrm>
            <a:off x="742132" y="6018390"/>
            <a:ext cx="9261705" cy="298190"/>
            <a:chOff x="762930" y="6005379"/>
            <a:chExt cx="10157578" cy="318756"/>
          </a:xfrm>
          <a:solidFill>
            <a:schemeClr val="accent1"/>
          </a:solidFill>
        </p:grpSpPr>
        <p:sp>
          <p:nvSpPr>
            <p:cNvPr id="106" name="Business Analysts/SMEs">
              <a:extLst>
                <a:ext uri="{FF2B5EF4-FFF2-40B4-BE49-F238E27FC236}">
                  <a16:creationId xmlns:a16="http://schemas.microsoft.com/office/drawing/2014/main" id="{B50890D3-E9DE-5AAD-F1B1-1C3747C7441C}"/>
                </a:ext>
              </a:extLst>
            </p:cNvPr>
            <p:cNvSpPr/>
            <p:nvPr/>
          </p:nvSpPr>
          <p:spPr>
            <a:xfrm>
              <a:off x="762930" y="6010547"/>
              <a:ext cx="1601553" cy="313588"/>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ctr"/>
            <a:lstStyle>
              <a:lvl1pPr algn="ctr" defTabSz="825500">
                <a:lnSpc>
                  <a:spcPct val="100000"/>
                </a:lnSpc>
                <a:spcBef>
                  <a:spcPts val="0"/>
                </a:spcBef>
                <a:defRPr sz="1800">
                  <a:solidFill>
                    <a:srgbClr val="FFFFFF"/>
                  </a:solidFill>
                  <a:latin typeface="Manrope Regular"/>
                  <a:ea typeface="Manrope Regular"/>
                  <a:cs typeface="Manrope Regular"/>
                  <a:sym typeface="Manrope Regular"/>
                </a:defRPr>
              </a:lvl1p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 Engineers</a:t>
              </a:r>
              <a:endParaRPr kumimoji="0" sz="1000" b="0" i="0" u="none" strike="noStrike" kern="0" cap="none" spc="0" normalizeH="0" baseline="0" noProof="0">
                <a:ln>
                  <a:noFill/>
                </a:ln>
                <a:solidFill>
                  <a:srgbClr val="FFFFFF"/>
                </a:solidFill>
                <a:effectLst/>
                <a:uLnTx/>
                <a:uFillTx/>
                <a:latin typeface="Manrope" pitchFamily="2" charset="0"/>
                <a:sym typeface="Manrope Regular"/>
              </a:endParaRPr>
            </a:p>
          </p:txBody>
        </p:sp>
        <p:sp>
          <p:nvSpPr>
            <p:cNvPr id="107" name="Enteprise &amp; Solution Architects">
              <a:extLst>
                <a:ext uri="{FF2B5EF4-FFF2-40B4-BE49-F238E27FC236}">
                  <a16:creationId xmlns:a16="http://schemas.microsoft.com/office/drawing/2014/main" id="{7E0728E1-509E-1E54-F89E-256E9F5C9DA5}"/>
                </a:ext>
              </a:extLst>
            </p:cNvPr>
            <p:cNvSpPr/>
            <p:nvPr/>
          </p:nvSpPr>
          <p:spPr>
            <a:xfrm>
              <a:off x="2474136" y="6010546"/>
              <a:ext cx="1601553" cy="313588"/>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ctr"/>
            <a:lstStyle>
              <a:lvl1pPr algn="ctr" defTabSz="825500">
                <a:lnSpc>
                  <a:spcPct val="100000"/>
                </a:lnSpc>
                <a:spcBef>
                  <a:spcPts val="0"/>
                </a:spcBef>
                <a:defRPr sz="1800">
                  <a:latin typeface="Manrope Regular"/>
                  <a:ea typeface="Manrope Regular"/>
                  <a:cs typeface="Manrope Regular"/>
                  <a:sym typeface="Manrope Regular"/>
                </a:defRPr>
              </a:lvl1p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 </a:t>
              </a:r>
              <a:r>
                <a:rPr kumimoji="0" sz="1000" b="0" i="0" u="none" strike="noStrike" kern="0" cap="none" spc="0" normalizeH="0" baseline="0" noProof="0">
                  <a:ln>
                    <a:noFill/>
                  </a:ln>
                  <a:solidFill>
                    <a:srgbClr val="FFFFFF"/>
                  </a:solidFill>
                  <a:effectLst/>
                  <a:uLnTx/>
                  <a:uFillTx/>
                  <a:latin typeface="Manrope" pitchFamily="2" charset="0"/>
                  <a:sym typeface="Manrope Regular"/>
                </a:rPr>
                <a:t>Architects</a:t>
              </a:r>
            </a:p>
          </p:txBody>
        </p:sp>
        <p:sp>
          <p:nvSpPr>
            <p:cNvPr id="108" name="Product &amp; Engineering Teams">
              <a:extLst>
                <a:ext uri="{FF2B5EF4-FFF2-40B4-BE49-F238E27FC236}">
                  <a16:creationId xmlns:a16="http://schemas.microsoft.com/office/drawing/2014/main" id="{883DFD33-6B3A-D913-D4CC-8A19D4A5A49C}"/>
                </a:ext>
              </a:extLst>
            </p:cNvPr>
            <p:cNvSpPr/>
            <p:nvPr/>
          </p:nvSpPr>
          <p:spPr>
            <a:xfrm>
              <a:off x="5896547" y="6005379"/>
              <a:ext cx="1601552" cy="313588"/>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ctr"/>
            <a:lstStyle>
              <a:lvl1pPr algn="ctr" defTabSz="825500">
                <a:lnSpc>
                  <a:spcPct val="100000"/>
                </a:lnSpc>
                <a:spcBef>
                  <a:spcPts val="0"/>
                </a:spcBef>
                <a:defRPr sz="1800">
                  <a:latin typeface="Manrope Regular"/>
                  <a:ea typeface="Manrope Regular"/>
                  <a:cs typeface="Manrope Regular"/>
                  <a:sym typeface="Manrope Regular"/>
                </a:defRPr>
              </a:lvl1p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MLOps Engineers</a:t>
              </a:r>
              <a:endParaRPr kumimoji="0" sz="1000" b="0" i="0" u="none" strike="noStrike" kern="0" cap="none" spc="0" normalizeH="0" baseline="0" noProof="0">
                <a:ln>
                  <a:noFill/>
                </a:ln>
                <a:solidFill>
                  <a:srgbClr val="FFFFFF"/>
                </a:solidFill>
                <a:effectLst/>
                <a:uLnTx/>
                <a:uFillTx/>
                <a:latin typeface="Manrope" pitchFamily="2" charset="0"/>
                <a:sym typeface="Manrope Regular"/>
              </a:endParaRPr>
            </a:p>
          </p:txBody>
        </p:sp>
        <p:sp>
          <p:nvSpPr>
            <p:cNvPr id="109" name="CX &amp; UX Architects">
              <a:extLst>
                <a:ext uri="{FF2B5EF4-FFF2-40B4-BE49-F238E27FC236}">
                  <a16:creationId xmlns:a16="http://schemas.microsoft.com/office/drawing/2014/main" id="{A2AB5A7E-3245-5833-269A-63920B52A3A9}"/>
                </a:ext>
              </a:extLst>
            </p:cNvPr>
            <p:cNvSpPr/>
            <p:nvPr/>
          </p:nvSpPr>
          <p:spPr>
            <a:xfrm>
              <a:off x="4185342" y="6005379"/>
              <a:ext cx="1601552" cy="315111"/>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ctr"/>
            <a:lstStyle>
              <a:lvl1pPr algn="ctr" defTabSz="825500">
                <a:lnSpc>
                  <a:spcPct val="100000"/>
                </a:lnSpc>
                <a:spcBef>
                  <a:spcPts val="0"/>
                </a:spcBef>
                <a:defRPr sz="1800">
                  <a:latin typeface="Manrope Regular"/>
                  <a:ea typeface="Manrope Regular"/>
                  <a:cs typeface="Manrope Regular"/>
                  <a:sym typeface="Manrope Regular"/>
                </a:defRPr>
              </a:lvl1p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 Analysts</a:t>
              </a:r>
              <a:endParaRPr kumimoji="0" sz="1000" b="0" i="0" u="none" strike="noStrike" kern="0" cap="none" spc="0" normalizeH="0" baseline="0" noProof="0">
                <a:ln>
                  <a:noFill/>
                </a:ln>
                <a:solidFill>
                  <a:srgbClr val="FFFFFF"/>
                </a:solidFill>
                <a:effectLst/>
                <a:uLnTx/>
                <a:uFillTx/>
                <a:latin typeface="Manrope" pitchFamily="2" charset="0"/>
                <a:sym typeface="Manrope Regular"/>
              </a:endParaRPr>
            </a:p>
          </p:txBody>
        </p:sp>
        <p:sp>
          <p:nvSpPr>
            <p:cNvPr id="110" name="CX &amp; UX Architects">
              <a:extLst>
                <a:ext uri="{FF2B5EF4-FFF2-40B4-BE49-F238E27FC236}">
                  <a16:creationId xmlns:a16="http://schemas.microsoft.com/office/drawing/2014/main" id="{625BBFC8-940B-0A93-61BC-CB2D1E73C9A7}"/>
                </a:ext>
              </a:extLst>
            </p:cNvPr>
            <p:cNvSpPr/>
            <p:nvPr/>
          </p:nvSpPr>
          <p:spPr>
            <a:xfrm>
              <a:off x="7607752" y="6005380"/>
              <a:ext cx="1601552" cy="313587"/>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ctr"/>
            <a:lstStyle>
              <a:lvl1pPr algn="ctr" defTabSz="825500">
                <a:lnSpc>
                  <a:spcPct val="100000"/>
                </a:lnSpc>
                <a:spcBef>
                  <a:spcPts val="0"/>
                </a:spcBef>
                <a:defRPr sz="1800">
                  <a:latin typeface="Manrope Regular"/>
                  <a:ea typeface="Manrope Regular"/>
                  <a:cs typeface="Manrope Regular"/>
                  <a:sym typeface="Manrope Regular"/>
                </a:defRPr>
              </a:lvl1p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Data Stewards</a:t>
              </a:r>
              <a:endParaRPr kumimoji="0" sz="1000" b="0" i="0" u="none" strike="noStrike" kern="0" cap="none" spc="0" normalizeH="0" baseline="0" noProof="0">
                <a:ln>
                  <a:noFill/>
                </a:ln>
                <a:solidFill>
                  <a:srgbClr val="FFFFFF"/>
                </a:solidFill>
                <a:effectLst/>
                <a:uLnTx/>
                <a:uFillTx/>
                <a:latin typeface="Manrope" pitchFamily="2" charset="0"/>
                <a:sym typeface="Manrope Regular"/>
              </a:endParaRPr>
            </a:p>
          </p:txBody>
        </p:sp>
        <p:sp>
          <p:nvSpPr>
            <p:cNvPr id="111" name="CX &amp; UX Architects">
              <a:extLst>
                <a:ext uri="{FF2B5EF4-FFF2-40B4-BE49-F238E27FC236}">
                  <a16:creationId xmlns:a16="http://schemas.microsoft.com/office/drawing/2014/main" id="{B008940A-8F8B-2A28-CCCF-DBDDA3BA5B0C}"/>
                </a:ext>
              </a:extLst>
            </p:cNvPr>
            <p:cNvSpPr/>
            <p:nvPr/>
          </p:nvSpPr>
          <p:spPr>
            <a:xfrm>
              <a:off x="9318956" y="6005380"/>
              <a:ext cx="1601552" cy="313588"/>
            </a:xfrm>
            <a:prstGeom prst="rect">
              <a:avLst/>
            </a:prstGeom>
            <a:grp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ctr"/>
            <a:lstStyle>
              <a:lvl1pPr algn="ctr" defTabSz="825500">
                <a:lnSpc>
                  <a:spcPct val="100000"/>
                </a:lnSpc>
                <a:spcBef>
                  <a:spcPts val="0"/>
                </a:spcBef>
                <a:defRPr sz="1800">
                  <a:latin typeface="Manrope Regular"/>
                  <a:ea typeface="Manrope Regular"/>
                  <a:cs typeface="Manrope Regular"/>
                  <a:sym typeface="Manrope Regular"/>
                </a:defRPr>
              </a:lvl1p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anrope" pitchFamily="2" charset="0"/>
                  <a:sym typeface="Manrope Regular"/>
                </a:rPr>
                <a:t>Business Users</a:t>
              </a:r>
              <a:endParaRPr kumimoji="0" sz="1000" b="0" i="0" u="none" strike="noStrike" kern="0" cap="none" spc="0" normalizeH="0" baseline="0" noProof="0">
                <a:ln>
                  <a:noFill/>
                </a:ln>
                <a:solidFill>
                  <a:srgbClr val="FFFFFF"/>
                </a:solidFill>
                <a:effectLst/>
                <a:uLnTx/>
                <a:uFillTx/>
                <a:latin typeface="Manrope" pitchFamily="2" charset="0"/>
                <a:sym typeface="Manrope Regular"/>
              </a:endParaRPr>
            </a:p>
          </p:txBody>
        </p:sp>
      </p:grpSp>
      <p:sp>
        <p:nvSpPr>
          <p:cNvPr id="115" name="Rectangle 114">
            <a:extLst>
              <a:ext uri="{FF2B5EF4-FFF2-40B4-BE49-F238E27FC236}">
                <a16:creationId xmlns:a16="http://schemas.microsoft.com/office/drawing/2014/main" id="{863B9747-EAD4-155C-3D9F-F9F590123B96}"/>
              </a:ext>
            </a:extLst>
          </p:cNvPr>
          <p:cNvSpPr/>
          <p:nvPr/>
        </p:nvSpPr>
        <p:spPr>
          <a:xfrm>
            <a:off x="10262649" y="912089"/>
            <a:ext cx="1312258" cy="2281836"/>
          </a:xfrm>
          <a:prstGeom prst="rect">
            <a:avLst/>
          </a:prstGeom>
          <a:gradFill flip="none" rotWithShape="1">
            <a:gsLst>
              <a:gs pos="100000">
                <a:schemeClr val="accent5">
                  <a:lumMod val="20000"/>
                  <a:lumOff val="80000"/>
                </a:schemeClr>
              </a:gs>
              <a:gs pos="35000">
                <a:schemeClr val="tx2">
                  <a:lumMod val="10000"/>
                  <a:lumOff val="90000"/>
                  <a:alpha val="0"/>
                </a:schemeClr>
              </a:gs>
            </a:gsLst>
            <a:lin ang="16200000" scaled="1"/>
            <a:tileRect/>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anrope" pitchFamily="2" charset="0"/>
            </a:endParaRPr>
          </a:p>
        </p:txBody>
      </p:sp>
      <p:sp>
        <p:nvSpPr>
          <p:cNvPr id="116" name="Rectangle 115">
            <a:extLst>
              <a:ext uri="{FF2B5EF4-FFF2-40B4-BE49-F238E27FC236}">
                <a16:creationId xmlns:a16="http://schemas.microsoft.com/office/drawing/2014/main" id="{B46AD954-C0CD-37EA-8C01-FEF0C4A0E235}"/>
              </a:ext>
            </a:extLst>
          </p:cNvPr>
          <p:cNvSpPr/>
          <p:nvPr/>
        </p:nvSpPr>
        <p:spPr>
          <a:xfrm>
            <a:off x="10266085" y="3862475"/>
            <a:ext cx="1305387" cy="2281836"/>
          </a:xfrm>
          <a:prstGeom prst="rect">
            <a:avLst/>
          </a:prstGeom>
          <a:gradFill flip="none" rotWithShape="1">
            <a:gsLst>
              <a:gs pos="100000">
                <a:schemeClr val="accent5">
                  <a:lumMod val="20000"/>
                  <a:lumOff val="80000"/>
                </a:schemeClr>
              </a:gs>
              <a:gs pos="35000">
                <a:schemeClr val="tx2">
                  <a:lumMod val="10000"/>
                  <a:lumOff val="90000"/>
                  <a:alpha val="0"/>
                </a:schemeClr>
              </a:gs>
            </a:gsLst>
            <a:lin ang="16200000" scaled="1"/>
            <a:tileRect/>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anrope" pitchFamily="2" charset="0"/>
            </a:endParaRPr>
          </a:p>
        </p:txBody>
      </p:sp>
      <p:sp>
        <p:nvSpPr>
          <p:cNvPr id="117" name="End-to-end Modernization aided by…">
            <a:extLst>
              <a:ext uri="{FF2B5EF4-FFF2-40B4-BE49-F238E27FC236}">
                <a16:creationId xmlns:a16="http://schemas.microsoft.com/office/drawing/2014/main" id="{13690D48-FEB4-5735-54CA-3109FD073C00}"/>
              </a:ext>
            </a:extLst>
          </p:cNvPr>
          <p:cNvSpPr txBox="1"/>
          <p:nvPr/>
        </p:nvSpPr>
        <p:spPr>
          <a:xfrm>
            <a:off x="10454649" y="1700726"/>
            <a:ext cx="928258" cy="457048"/>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defPPr>
              <a:defRPr lang="en-US"/>
            </a:defPPr>
            <a:lvl1pPr>
              <a:lnSpc>
                <a:spcPct val="90000"/>
              </a:lnSpc>
              <a:spcBef>
                <a:spcPts val="1000"/>
              </a:spcBef>
              <a:buClr>
                <a:schemeClr val="accent1"/>
              </a:buClr>
              <a:defRPr sz="1500">
                <a:solidFill>
                  <a:schemeClr val="accent1"/>
                </a:solidFill>
                <a:latin typeface="+mj-lt"/>
              </a:defRPr>
            </a:lvl1pPr>
          </a:lstStyle>
          <a:p>
            <a:pPr marL="0" marR="0" lvl="1" indent="0" algn="ctr" defTabSz="914400" rtl="0" eaLnBrk="1" fontAlgn="auto" latinLnBrk="0" hangingPunct="1">
              <a:lnSpc>
                <a:spcPct val="90000"/>
              </a:lnSpc>
              <a:spcBef>
                <a:spcPts val="1000"/>
              </a:spcBef>
              <a:spcAft>
                <a:spcPts val="0"/>
              </a:spcAft>
              <a:buClr>
                <a:srgbClr val="3C2CDA"/>
              </a:buClr>
              <a:buSzTx/>
              <a:buFontTx/>
              <a:buNone/>
              <a:tabLst/>
              <a:defRPr/>
            </a:pPr>
            <a:r>
              <a:rPr kumimoji="0" lang="en-US" sz="1100" b="0" i="0" u="none" strike="noStrike" kern="1200" cap="none" spc="0" normalizeH="0" baseline="0" noProof="0">
                <a:ln>
                  <a:noFill/>
                </a:ln>
                <a:solidFill>
                  <a:srgbClr val="3C2CDA"/>
                </a:solidFill>
                <a:effectLst/>
                <a:uLnTx/>
                <a:uFillTx/>
                <a:latin typeface="Manrope" pitchFamily="2" charset="0"/>
                <a:sym typeface="Manrope Bold"/>
              </a:rPr>
              <a:t>Gen AI Powered Data Accelerators</a:t>
            </a:r>
            <a:endParaRPr kumimoji="0" sz="1100" b="0" i="0" u="none" strike="noStrike" kern="1200" cap="none" spc="0" normalizeH="0" baseline="0" noProof="0">
              <a:ln>
                <a:noFill/>
              </a:ln>
              <a:solidFill>
                <a:srgbClr val="3C2CDA"/>
              </a:solidFill>
              <a:effectLst/>
              <a:uLnTx/>
              <a:uFillTx/>
              <a:latin typeface="Manrope" pitchFamily="2" charset="0"/>
              <a:sym typeface="Manrope Regular"/>
            </a:endParaRPr>
          </a:p>
        </p:txBody>
      </p:sp>
      <p:sp>
        <p:nvSpPr>
          <p:cNvPr id="118" name="TextBox 117">
            <a:extLst>
              <a:ext uri="{FF2B5EF4-FFF2-40B4-BE49-F238E27FC236}">
                <a16:creationId xmlns:a16="http://schemas.microsoft.com/office/drawing/2014/main" id="{7455A164-B6CD-1EC8-6664-C6BCC7C1969A}"/>
              </a:ext>
            </a:extLst>
          </p:cNvPr>
          <p:cNvSpPr txBox="1"/>
          <p:nvPr/>
        </p:nvSpPr>
        <p:spPr>
          <a:xfrm>
            <a:off x="10275508" y="4111298"/>
            <a:ext cx="1286540" cy="166199"/>
          </a:xfrm>
          <a:prstGeom prst="rect">
            <a:avLst/>
          </a:prstGeom>
          <a:noFill/>
        </p:spPr>
        <p:txBody>
          <a:bodyPr wrap="square" lIns="0" tIns="0" rIns="0" bIns="0" rtlCol="0" anchor="t">
            <a:spAutoFit/>
          </a:bodyPr>
          <a:lstStyle/>
          <a:p>
            <a:pPr marL="0" marR="0" lvl="1" indent="0" algn="ctr" defTabSz="914400" rtl="0" eaLnBrk="1" fontAlgn="auto" latinLnBrk="0" hangingPunct="1">
              <a:lnSpc>
                <a:spcPct val="90000"/>
              </a:lnSpc>
              <a:spcBef>
                <a:spcPts val="2250"/>
              </a:spcBef>
              <a:spcAft>
                <a:spcPts val="0"/>
              </a:spcAft>
              <a:buClrTx/>
              <a:buSzTx/>
              <a:buFontTx/>
              <a:buNone/>
              <a:tabLst/>
              <a:defRPr/>
            </a:pPr>
            <a:r>
              <a:rPr kumimoji="0" lang="en-US" sz="1200" b="1" i="0" u="none" strike="noStrike" kern="1200" cap="none" spc="0" normalizeH="0" baseline="0" noProof="0">
                <a:ln>
                  <a:noFill/>
                </a:ln>
                <a:solidFill>
                  <a:srgbClr val="3C2CDA"/>
                </a:solidFill>
                <a:effectLst/>
                <a:uLnTx/>
                <a:uFillTx/>
                <a:latin typeface="Manrope" pitchFamily="2" charset="0"/>
                <a:sym typeface="Manrope Regular"/>
              </a:rPr>
              <a:t>Key Benefits</a:t>
            </a:r>
            <a:endParaRPr kumimoji="0" lang="en-US" sz="1200" b="0" i="0" u="none" strike="noStrike" kern="1200" cap="none" spc="0" normalizeH="0" baseline="0" noProof="0">
              <a:ln>
                <a:noFill/>
              </a:ln>
              <a:solidFill>
                <a:srgbClr val="3C2CDA"/>
              </a:solidFill>
              <a:effectLst/>
              <a:uLnTx/>
              <a:uFillTx/>
              <a:latin typeface="Manrope" pitchFamily="2" charset="0"/>
            </a:endParaRPr>
          </a:p>
        </p:txBody>
      </p:sp>
      <p:sp>
        <p:nvSpPr>
          <p:cNvPr id="119" name="TextBox 118">
            <a:extLst>
              <a:ext uri="{FF2B5EF4-FFF2-40B4-BE49-F238E27FC236}">
                <a16:creationId xmlns:a16="http://schemas.microsoft.com/office/drawing/2014/main" id="{37FFD2C3-2438-98F0-44D5-9C52014CD083}"/>
              </a:ext>
            </a:extLst>
          </p:cNvPr>
          <p:cNvSpPr txBox="1"/>
          <p:nvPr/>
        </p:nvSpPr>
        <p:spPr>
          <a:xfrm>
            <a:off x="10462305" y="4547619"/>
            <a:ext cx="912946" cy="304699"/>
          </a:xfrm>
          <a:prstGeom prst="rect">
            <a:avLst/>
          </a:prstGeom>
          <a:noFill/>
        </p:spPr>
        <p:txBody>
          <a:bodyPr wrap="square" lIns="0" tIns="0" rIns="0" bIns="0" anchor="t">
            <a:spAutoFit/>
          </a:bodyPr>
          <a:lstStyle/>
          <a:p>
            <a:pPr marL="0" marR="0" lvl="0" indent="0" algn="ctr" defTabSz="914400" rtl="0" eaLnBrk="1" fontAlgn="auto" latinLnBrk="0" hangingPunct="1">
              <a:lnSpc>
                <a:spcPct val="90000"/>
              </a:lnSpc>
              <a:spcBef>
                <a:spcPts val="1000"/>
              </a:spcBef>
              <a:spcAft>
                <a:spcPts val="0"/>
              </a:spcAft>
              <a:buClr>
                <a:srgbClr val="3C2CDA"/>
              </a:buClr>
              <a:buSzTx/>
              <a:buFontTx/>
              <a:buNone/>
              <a:tabLst/>
              <a:defRPr/>
            </a:pPr>
            <a:r>
              <a:rPr kumimoji="0" lang="en-US" sz="1100" b="0" i="0" u="none" strike="noStrike" kern="1200" cap="none" spc="0" normalizeH="0" baseline="0" noProof="0">
                <a:ln>
                  <a:noFill/>
                </a:ln>
                <a:solidFill>
                  <a:srgbClr val="3C2CDA"/>
                </a:solidFill>
                <a:effectLst/>
                <a:uLnTx/>
                <a:uFillTx/>
                <a:latin typeface="Manrope" pitchFamily="2" charset="0"/>
              </a:rPr>
              <a:t>2x </a:t>
            </a:r>
            <a:br>
              <a:rPr kumimoji="0" lang="en-US" sz="1100" b="0" i="0" u="none" strike="noStrike" kern="1200" cap="none" spc="0" normalizeH="0" baseline="0" noProof="0">
                <a:ln>
                  <a:noFill/>
                </a:ln>
                <a:solidFill>
                  <a:srgbClr val="3C2CDA"/>
                </a:solidFill>
                <a:effectLst/>
                <a:uLnTx/>
                <a:uFillTx/>
                <a:latin typeface="Manrope" pitchFamily="2" charset="0"/>
              </a:rPr>
            </a:br>
            <a:r>
              <a:rPr kumimoji="0" lang="en-US" sz="1100" b="0" i="0" u="none" strike="noStrike" kern="1200" cap="none" spc="0" normalizeH="0" baseline="0" noProof="0">
                <a:ln>
                  <a:noFill/>
                </a:ln>
                <a:solidFill>
                  <a:srgbClr val="3C2CDA"/>
                </a:solidFill>
                <a:effectLst/>
                <a:uLnTx/>
                <a:uFillTx/>
                <a:latin typeface="Manrope" pitchFamily="2" charset="0"/>
              </a:rPr>
              <a:t>Acceleration</a:t>
            </a:r>
          </a:p>
        </p:txBody>
      </p:sp>
      <p:sp>
        <p:nvSpPr>
          <p:cNvPr id="120" name="TextBox 119">
            <a:extLst>
              <a:ext uri="{FF2B5EF4-FFF2-40B4-BE49-F238E27FC236}">
                <a16:creationId xmlns:a16="http://schemas.microsoft.com/office/drawing/2014/main" id="{631DDA2A-8E14-9B5D-15D8-36D4C0B2D44D}"/>
              </a:ext>
            </a:extLst>
          </p:cNvPr>
          <p:cNvSpPr txBox="1"/>
          <p:nvPr/>
        </p:nvSpPr>
        <p:spPr>
          <a:xfrm>
            <a:off x="10456074" y="5122440"/>
            <a:ext cx="925409" cy="457048"/>
          </a:xfrm>
          <a:prstGeom prst="rect">
            <a:avLst/>
          </a:prstGeom>
          <a:noFill/>
        </p:spPr>
        <p:txBody>
          <a:bodyPr wrap="square" lIns="0" tIns="0" rIns="0" bIns="0">
            <a:spAutoFit/>
          </a:bodyPr>
          <a:lstStyle/>
          <a:p>
            <a:pPr marL="0" marR="0" lvl="0" indent="0" algn="ctr" defTabSz="914400" rtl="0" eaLnBrk="1" fontAlgn="auto" latinLnBrk="0" hangingPunct="1">
              <a:lnSpc>
                <a:spcPct val="90000"/>
              </a:lnSpc>
              <a:spcBef>
                <a:spcPts val="1000"/>
              </a:spcBef>
              <a:spcAft>
                <a:spcPts val="0"/>
              </a:spcAft>
              <a:buClr>
                <a:srgbClr val="3C2CDA"/>
              </a:buClr>
              <a:buSzTx/>
              <a:buFontTx/>
              <a:buNone/>
              <a:tabLst/>
              <a:defRPr/>
            </a:pPr>
            <a:r>
              <a:rPr kumimoji="0" lang="en-US" sz="1100" b="0" i="0" u="none" strike="noStrike" kern="1200" cap="none" spc="0" normalizeH="0" baseline="0" noProof="0">
                <a:ln>
                  <a:noFill/>
                </a:ln>
                <a:solidFill>
                  <a:srgbClr val="3C2CDA"/>
                </a:solidFill>
                <a:effectLst/>
                <a:uLnTx/>
                <a:uFillTx/>
                <a:latin typeface="Manrope" pitchFamily="2" charset="0"/>
              </a:rPr>
              <a:t>Engineering Best Practices</a:t>
            </a:r>
          </a:p>
        </p:txBody>
      </p:sp>
      <p:sp>
        <p:nvSpPr>
          <p:cNvPr id="121" name="End-to-end Modernization aided by…">
            <a:extLst>
              <a:ext uri="{FF2B5EF4-FFF2-40B4-BE49-F238E27FC236}">
                <a16:creationId xmlns:a16="http://schemas.microsoft.com/office/drawing/2014/main" id="{9B6DAD28-77DC-572F-5C7D-49F63CB952C2}"/>
              </a:ext>
            </a:extLst>
          </p:cNvPr>
          <p:cNvSpPr txBox="1"/>
          <p:nvPr/>
        </p:nvSpPr>
        <p:spPr>
          <a:xfrm>
            <a:off x="10458028" y="2613524"/>
            <a:ext cx="921501" cy="304699"/>
          </a:xfrm>
          <a:prstGeom prst="rect">
            <a:avLst/>
          </a:prstGeom>
          <a:no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t">
            <a:spAutoFit/>
          </a:bodyPr>
          <a:lstStyle>
            <a:defPPr>
              <a:defRPr lang="en-US"/>
            </a:defPPr>
            <a:lvl1pPr>
              <a:lnSpc>
                <a:spcPct val="90000"/>
              </a:lnSpc>
              <a:spcBef>
                <a:spcPts val="1000"/>
              </a:spcBef>
              <a:buClr>
                <a:schemeClr val="accent1"/>
              </a:buClr>
              <a:defRPr sz="1500">
                <a:solidFill>
                  <a:schemeClr val="accent1"/>
                </a:solidFill>
                <a:latin typeface="+mj-lt"/>
              </a:defRPr>
            </a:lvl1pPr>
            <a:lvl2pPr marL="0" lvl="1">
              <a:lnSpc>
                <a:spcPct val="90000"/>
              </a:lnSpc>
              <a:spcBef>
                <a:spcPts val="1000"/>
              </a:spcBef>
              <a:buClr>
                <a:schemeClr val="accent1"/>
              </a:buClr>
              <a:defRPr sz="1500">
                <a:solidFill>
                  <a:schemeClr val="accent1"/>
                </a:solidFill>
                <a:latin typeface="+mj-lt"/>
              </a:defRPr>
            </a:lvl2pPr>
          </a:lstStyle>
          <a:p>
            <a:pPr marL="0" marR="0" lvl="1" indent="0" algn="ctr" defTabSz="914400" rtl="0" eaLnBrk="1" fontAlgn="auto" latinLnBrk="0" hangingPunct="1">
              <a:lnSpc>
                <a:spcPct val="90000"/>
              </a:lnSpc>
              <a:spcBef>
                <a:spcPts val="1000"/>
              </a:spcBef>
              <a:spcAft>
                <a:spcPts val="0"/>
              </a:spcAft>
              <a:buClr>
                <a:srgbClr val="3C2CDA"/>
              </a:buClr>
              <a:buSzTx/>
              <a:buFontTx/>
              <a:buNone/>
              <a:tabLst/>
              <a:defRPr/>
            </a:pPr>
            <a:r>
              <a:rPr kumimoji="0" lang="en-US" sz="1100" b="0" i="0" u="none" strike="noStrike" kern="1200" cap="none" spc="0" normalizeH="0" baseline="0" noProof="0">
                <a:ln>
                  <a:noFill/>
                </a:ln>
                <a:solidFill>
                  <a:srgbClr val="3C2CDA"/>
                </a:solidFill>
                <a:effectLst/>
                <a:uLnTx/>
                <a:uFillTx/>
                <a:latin typeface="Manrope" pitchFamily="2" charset="0"/>
                <a:sym typeface="Manrope Bold"/>
              </a:rPr>
              <a:t>Amaze for </a:t>
            </a:r>
            <a:br>
              <a:rPr kumimoji="0" lang="en-US" sz="1100" b="0" i="0" u="none" strike="noStrike" kern="1200" cap="none" spc="0" normalizeH="0" baseline="0" noProof="0">
                <a:ln>
                  <a:noFill/>
                </a:ln>
                <a:solidFill>
                  <a:srgbClr val="3C2CDA"/>
                </a:solidFill>
                <a:effectLst/>
                <a:uLnTx/>
                <a:uFillTx/>
                <a:latin typeface="Manrope" pitchFamily="2" charset="0"/>
                <a:sym typeface="Manrope Bold"/>
              </a:rPr>
            </a:br>
            <a:r>
              <a:rPr kumimoji="0" lang="en-US" sz="1100" b="0" i="0" u="none" strike="noStrike" kern="1200" cap="none" spc="0" normalizeH="0" baseline="0" noProof="0">
                <a:ln>
                  <a:noFill/>
                </a:ln>
                <a:solidFill>
                  <a:srgbClr val="3C2CDA"/>
                </a:solidFill>
                <a:effectLst/>
                <a:uLnTx/>
                <a:uFillTx/>
                <a:latin typeface="Manrope" pitchFamily="2" charset="0"/>
                <a:sym typeface="Manrope Bold"/>
              </a:rPr>
              <a:t>Data &amp; AI </a:t>
            </a:r>
            <a:endParaRPr kumimoji="0" sz="1100" b="0" i="0" u="none" strike="noStrike" kern="1200" cap="none" spc="0" normalizeH="0" baseline="0" noProof="0">
              <a:ln>
                <a:noFill/>
              </a:ln>
              <a:solidFill>
                <a:srgbClr val="3C2CDA"/>
              </a:solidFill>
              <a:effectLst/>
              <a:uLnTx/>
              <a:uFillTx/>
              <a:latin typeface="Manrope" pitchFamily="2" charset="0"/>
              <a:sym typeface="Manrope Regular"/>
            </a:endParaRPr>
          </a:p>
        </p:txBody>
      </p:sp>
      <p:sp>
        <p:nvSpPr>
          <p:cNvPr id="122" name="TextBox 121">
            <a:extLst>
              <a:ext uri="{FF2B5EF4-FFF2-40B4-BE49-F238E27FC236}">
                <a16:creationId xmlns:a16="http://schemas.microsoft.com/office/drawing/2014/main" id="{E1C5D9D7-A9AE-4D54-1B87-6534BD5AA3B8}"/>
              </a:ext>
            </a:extLst>
          </p:cNvPr>
          <p:cNvSpPr txBox="1"/>
          <p:nvPr/>
        </p:nvSpPr>
        <p:spPr>
          <a:xfrm>
            <a:off x="10300666" y="1094805"/>
            <a:ext cx="1236224" cy="332399"/>
          </a:xfrm>
          <a:prstGeom prst="rect">
            <a:avLst/>
          </a:prstGeom>
          <a:noFill/>
        </p:spPr>
        <p:txBody>
          <a:bodyPr wrap="square" lIns="0" tIns="0" rIns="0" bIns="0" rtlCol="0" anchor="t">
            <a:spAutoFit/>
          </a:bodyPr>
          <a:lstStyle/>
          <a:p>
            <a:pPr marL="0" marR="0" lvl="1" indent="0" algn="ctr" defTabSz="914400" rtl="0" eaLnBrk="1" fontAlgn="auto" latinLnBrk="0" hangingPunct="1">
              <a:lnSpc>
                <a:spcPct val="90000"/>
              </a:lnSpc>
              <a:spcBef>
                <a:spcPts val="2250"/>
              </a:spcBef>
              <a:spcAft>
                <a:spcPts val="0"/>
              </a:spcAft>
              <a:buClrTx/>
              <a:buSzTx/>
              <a:buFontTx/>
              <a:buNone/>
              <a:tabLst/>
              <a:defRPr/>
            </a:pPr>
            <a:r>
              <a:rPr kumimoji="0" lang="en-US" sz="1200" b="1" i="0" u="none" strike="noStrike" kern="1200" cap="none" spc="0" normalizeH="0" baseline="0" noProof="0">
                <a:ln>
                  <a:noFill/>
                </a:ln>
                <a:solidFill>
                  <a:srgbClr val="3C2CDA"/>
                </a:solidFill>
                <a:effectLst/>
                <a:uLnTx/>
                <a:uFillTx/>
                <a:latin typeface="Manrope" pitchFamily="2" charset="0"/>
                <a:sym typeface="Manrope Regular"/>
              </a:rPr>
              <a:t>Platform </a:t>
            </a:r>
            <a:br>
              <a:rPr kumimoji="0" lang="en-US" sz="1200" b="1" i="0" u="none" strike="noStrike" kern="1200" cap="none" spc="0" normalizeH="0" baseline="0" noProof="0">
                <a:ln>
                  <a:noFill/>
                </a:ln>
                <a:solidFill>
                  <a:srgbClr val="3C2CDA"/>
                </a:solidFill>
                <a:effectLst/>
                <a:uLnTx/>
                <a:uFillTx/>
                <a:latin typeface="Manrope" pitchFamily="2" charset="0"/>
                <a:sym typeface="Manrope Regular"/>
              </a:rPr>
            </a:br>
            <a:r>
              <a:rPr kumimoji="0" lang="en-US" sz="1200" b="1" i="0" u="none" strike="noStrike" kern="1200" cap="none" spc="0" normalizeH="0" baseline="0" noProof="0">
                <a:ln>
                  <a:noFill/>
                </a:ln>
                <a:solidFill>
                  <a:srgbClr val="3C2CDA"/>
                </a:solidFill>
                <a:effectLst/>
                <a:uLnTx/>
                <a:uFillTx/>
                <a:latin typeface="Manrope" pitchFamily="2" charset="0"/>
                <a:sym typeface="Manrope Regular"/>
              </a:rPr>
              <a:t>Enablers</a:t>
            </a:r>
            <a:endParaRPr kumimoji="0" lang="en-US" sz="1200" b="0" i="0" u="none" strike="noStrike" kern="1200" cap="none" spc="0" normalizeH="0" baseline="0" noProof="0">
              <a:ln>
                <a:noFill/>
              </a:ln>
              <a:solidFill>
                <a:srgbClr val="3C2CDA"/>
              </a:solidFill>
              <a:effectLst/>
              <a:uLnTx/>
              <a:uFillTx/>
              <a:latin typeface="Manrope" pitchFamily="2" charset="0"/>
            </a:endParaRPr>
          </a:p>
        </p:txBody>
      </p:sp>
      <p:pic>
        <p:nvPicPr>
          <p:cNvPr id="124" name="Picture 123">
            <a:extLst>
              <a:ext uri="{FF2B5EF4-FFF2-40B4-BE49-F238E27FC236}">
                <a16:creationId xmlns:a16="http://schemas.microsoft.com/office/drawing/2014/main" id="{34D5F389-C20D-C0DD-6384-2D2D353F8523}"/>
              </a:ext>
            </a:extLst>
          </p:cNvPr>
          <p:cNvPicPr>
            <a:picLocks noChangeAspect="1"/>
          </p:cNvPicPr>
          <p:nvPr/>
        </p:nvPicPr>
        <p:blipFill>
          <a:blip r:embed="rId11"/>
          <a:stretch>
            <a:fillRect/>
          </a:stretch>
        </p:blipFill>
        <p:spPr>
          <a:xfrm>
            <a:off x="10178501" y="179002"/>
            <a:ext cx="700493" cy="559436"/>
          </a:xfrm>
          <a:prstGeom prst="rect">
            <a:avLst/>
          </a:prstGeom>
        </p:spPr>
      </p:pic>
      <p:pic>
        <p:nvPicPr>
          <p:cNvPr id="126" name="Picture 125" descr="A blue and black logo&#10;&#10;Description automatically generated">
            <a:extLst>
              <a:ext uri="{FF2B5EF4-FFF2-40B4-BE49-F238E27FC236}">
                <a16:creationId xmlns:a16="http://schemas.microsoft.com/office/drawing/2014/main" id="{FE27EC41-9817-268E-6D8E-D9936EC0C39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108683" y="288688"/>
            <a:ext cx="1895154" cy="421673"/>
          </a:xfrm>
          <a:prstGeom prst="rect">
            <a:avLst/>
          </a:prstGeom>
        </p:spPr>
      </p:pic>
      <p:sp>
        <p:nvSpPr>
          <p:cNvPr id="24" name="TextBox 23">
            <a:extLst>
              <a:ext uri="{FF2B5EF4-FFF2-40B4-BE49-F238E27FC236}">
                <a16:creationId xmlns:a16="http://schemas.microsoft.com/office/drawing/2014/main" id="{F6D29D57-4DBF-656E-6F5D-929535A431B3}"/>
              </a:ext>
            </a:extLst>
          </p:cNvPr>
          <p:cNvSpPr txBox="1"/>
          <p:nvPr/>
        </p:nvSpPr>
        <p:spPr>
          <a:xfrm>
            <a:off x="0" y="-184666"/>
            <a:ext cx="0" cy="369332"/>
          </a:xfrm>
          <a:prstGeom prst="rect">
            <a:avLst/>
          </a:prstGeom>
          <a:noFill/>
        </p:spPr>
        <p:txBody>
          <a:bodyPr wrap="square">
            <a:spAutoFit/>
          </a:bodyPr>
          <a:lstStyle/>
          <a:p>
            <a:r>
              <a:rPr lang="en-US">
                <a:latin typeface="Manrope" pitchFamily="2" charset="0"/>
              </a:rPr>
              <a:t> </a:t>
            </a:r>
          </a:p>
        </p:txBody>
      </p:sp>
      <p:sp>
        <p:nvSpPr>
          <p:cNvPr id="3" name="Text Placeholder 2">
            <a:extLst>
              <a:ext uri="{FF2B5EF4-FFF2-40B4-BE49-F238E27FC236}">
                <a16:creationId xmlns:a16="http://schemas.microsoft.com/office/drawing/2014/main" id="{94D9FF4E-01FB-3C42-D196-825EC687A781}"/>
              </a:ext>
            </a:extLst>
          </p:cNvPr>
          <p:cNvSpPr>
            <a:spLocks noGrp="1"/>
          </p:cNvSpPr>
          <p:nvPr>
            <p:ph type="body" sz="quarter" idx="15"/>
          </p:nvPr>
        </p:nvSpPr>
        <p:spPr>
          <a:xfrm flipH="1">
            <a:off x="623888" y="457200"/>
            <a:ext cx="8172450" cy="244101"/>
          </a:xfrm>
        </p:spPr>
        <p:txBody>
          <a:bodyPr/>
          <a:lstStyle/>
          <a:p>
            <a:r>
              <a:rPr kumimoji="0" lang="en-US" sz="1500" b="0" i="0" u="none" strike="noStrike" kern="1200" cap="none" spc="0" normalizeH="0" baseline="0" noProof="0">
                <a:ln>
                  <a:noFill/>
                </a:ln>
                <a:solidFill>
                  <a:srgbClr val="000000"/>
                </a:solidFill>
                <a:effectLst/>
                <a:uLnTx/>
                <a:uFillTx/>
                <a:latin typeface="Manrope"/>
              </a:rPr>
              <a:t>AI powered Data Pipeline</a:t>
            </a:r>
          </a:p>
        </p:txBody>
      </p:sp>
    </p:spTree>
    <p:extLst>
      <p:ext uri="{BB962C8B-B14F-4D97-AF65-F5344CB8AC3E}">
        <p14:creationId xmlns:p14="http://schemas.microsoft.com/office/powerpoint/2010/main" val="2586150805"/>
      </p:ext>
    </p:extLst>
  </p:cSld>
  <p:clrMapOvr>
    <a:masterClrMapping/>
  </p:clrMapOvr>
</p:sld>
</file>

<file path=ppt/theme/theme1.xml><?xml version="1.0" encoding="utf-8"?>
<a:theme xmlns:a="http://schemas.openxmlformats.org/drawingml/2006/main" name="Hexaware Master">
  <a:themeElements>
    <a:clrScheme name="Custom 4">
      <a:dk1>
        <a:srgbClr val="000000"/>
      </a:dk1>
      <a:lt1>
        <a:srgbClr val="FFFFFF"/>
      </a:lt1>
      <a:dk2>
        <a:srgbClr val="07125E"/>
      </a:dk2>
      <a:lt2>
        <a:srgbClr val="FFFFFF"/>
      </a:lt2>
      <a:accent1>
        <a:srgbClr val="3C2CDA"/>
      </a:accent1>
      <a:accent2>
        <a:srgbClr val="1D86FF"/>
      </a:accent2>
      <a:accent3>
        <a:srgbClr val="14CBDE"/>
      </a:accent3>
      <a:accent4>
        <a:srgbClr val="07125E"/>
      </a:accent4>
      <a:accent5>
        <a:srgbClr val="8088A7"/>
      </a:accent5>
      <a:accent6>
        <a:srgbClr val="EA9D00"/>
      </a:accent6>
      <a:hlink>
        <a:srgbClr val="3C2C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Light_Corporate Template.pptx" id="{41E689D6-C531-47CC-AFF0-309785A80631}" vid="{C5795010-44E4-4FE2-851A-4FC5D2C485C8}"/>
    </a:ext>
  </a:extLst>
</a:theme>
</file>

<file path=ppt/theme/theme2.xml><?xml version="1.0" encoding="utf-8"?>
<a:theme xmlns:a="http://schemas.openxmlformats.org/drawingml/2006/main" name="3_Hexaware Master">
  <a:themeElements>
    <a:clrScheme name="Custom 1">
      <a:dk1>
        <a:srgbClr val="02051C"/>
      </a:dk1>
      <a:lt1>
        <a:srgbClr val="FFFFFF"/>
      </a:lt1>
      <a:dk2>
        <a:srgbClr val="07125E"/>
      </a:dk2>
      <a:lt2>
        <a:srgbClr val="FFFFFF"/>
      </a:lt2>
      <a:accent1>
        <a:srgbClr val="3C2DDA"/>
      </a:accent1>
      <a:accent2>
        <a:srgbClr val="1D86FF"/>
      </a:accent2>
      <a:accent3>
        <a:srgbClr val="14CBDE"/>
      </a:accent3>
      <a:accent4>
        <a:srgbClr val="07125E"/>
      </a:accent4>
      <a:accent5>
        <a:srgbClr val="8088A7"/>
      </a:accent5>
      <a:accent6>
        <a:srgbClr val="EA9D00"/>
      </a:accent6>
      <a:hlink>
        <a:srgbClr val="3C2D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Light_Corporate Template.pptx" id="{41E689D6-C531-47CC-AFF0-309785A80631}" vid="{C5795010-44E4-4FE2-851A-4FC5D2C485C8}"/>
    </a:ext>
  </a:extLst>
</a:theme>
</file>

<file path=ppt/theme/theme3.xml><?xml version="1.0" encoding="utf-8"?>
<a:theme xmlns:a="http://schemas.openxmlformats.org/drawingml/2006/main" name="5_Hexaware Master">
  <a:themeElements>
    <a:clrScheme name="Hexaware">
      <a:dk1>
        <a:srgbClr val="02051C"/>
      </a:dk1>
      <a:lt1>
        <a:srgbClr val="FFFFFF"/>
      </a:lt1>
      <a:dk2>
        <a:srgbClr val="07125E"/>
      </a:dk2>
      <a:lt2>
        <a:srgbClr val="FFFFFF"/>
      </a:lt2>
      <a:accent1>
        <a:srgbClr val="3C2DDA"/>
      </a:accent1>
      <a:accent2>
        <a:srgbClr val="1D86FF"/>
      </a:accent2>
      <a:accent3>
        <a:srgbClr val="14CBDE"/>
      </a:accent3>
      <a:accent4>
        <a:srgbClr val="07125E"/>
      </a:accent4>
      <a:accent5>
        <a:srgbClr val="8088A7"/>
      </a:accent5>
      <a:accent6>
        <a:srgbClr val="FF6300"/>
      </a:accent6>
      <a:hlink>
        <a:srgbClr val="3C2D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Dark_Corporate Template.pptx" id="{0DE496D9-96E7-4561-826E-A79144D83BB8}" vid="{7132E963-DE00-4AC0-86D2-3969C5A95D7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E55D6A21A96C439AD0392A94ACBFA5" ma:contentTypeVersion="8" ma:contentTypeDescription="Create a new document." ma:contentTypeScope="" ma:versionID="294f3f91701adf6d8f3f586a3f7271ff">
  <xsd:schema xmlns:xsd="http://www.w3.org/2001/XMLSchema" xmlns:xs="http://www.w3.org/2001/XMLSchema" xmlns:p="http://schemas.microsoft.com/office/2006/metadata/properties" xmlns:ns2="85b074e2-0cde-4ffa-a77d-aa69a4b60b34" targetNamespace="http://schemas.microsoft.com/office/2006/metadata/properties" ma:root="true" ma:fieldsID="feeedda14a557c2b6a031255b962f762" ns2:_="">
    <xsd:import namespace="85b074e2-0cde-4ffa-a77d-aa69a4b60b3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b074e2-0cde-4ffa-a77d-aa69a4b60b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017E29-4D35-4864-A7C1-4810F9CBABD1}">
  <ds:schemaRefs>
    <ds:schemaRef ds:uri="85b074e2-0cde-4ffa-a77d-aa69a4b60b3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CA6E798-4EE2-4EA4-AA28-EEC1D3FD2EEA}">
  <ds:schemaRefs>
    <ds:schemaRef ds:uri="http://schemas.microsoft.com/sharepoint/v3/contenttype/forms"/>
  </ds:schemaRefs>
</ds:datastoreItem>
</file>

<file path=customXml/itemProps3.xml><?xml version="1.0" encoding="utf-8"?>
<ds:datastoreItem xmlns:ds="http://schemas.openxmlformats.org/officeDocument/2006/customXml" ds:itemID="{B8AFF4BB-A250-4FB2-8BC5-A90E71987244}">
  <ds:schemaRefs>
    <ds:schemaRef ds:uri="http://www.w3.org/XML/1998/namespace"/>
    <ds:schemaRef ds:uri="http://purl.org/dc/terms/"/>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85b074e2-0cde-4ffa-a77d-aa69a4b60b34"/>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Light_Corporate Template</Template>
  <TotalTime>8</TotalTime>
  <Words>10186</Words>
  <Application>Microsoft Office PowerPoint</Application>
  <PresentationFormat>Widescreen</PresentationFormat>
  <Paragraphs>1059</Paragraphs>
  <Slides>53</Slides>
  <Notes>43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53</vt:i4>
      </vt:variant>
    </vt:vector>
  </HeadingPairs>
  <TitlesOfParts>
    <vt:vector size="66" baseType="lpstr">
      <vt:lpstr>Heebo Medium</vt:lpstr>
      <vt:lpstr>Manrope Light</vt:lpstr>
      <vt:lpstr>Arial</vt:lpstr>
      <vt:lpstr>Calibri</vt:lpstr>
      <vt:lpstr>Manrope Medium</vt:lpstr>
      <vt:lpstr>Aptos</vt:lpstr>
      <vt:lpstr>Manrope</vt:lpstr>
      <vt:lpstr>Segoe UI</vt:lpstr>
      <vt:lpstr>Lato</vt:lpstr>
      <vt:lpstr>Manrope Regular</vt:lpstr>
      <vt:lpstr>Hexaware Master</vt:lpstr>
      <vt:lpstr>3_Hexaware Master</vt:lpstr>
      <vt:lpstr>5_Hexaware Master</vt:lpstr>
      <vt:lpstr>Snowflake Ecosystem Capability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Industry Offerings, Platforms, Accelerators</vt:lpstr>
      <vt:lpstr>Accelerating Banking Analytics with Snowflake</vt:lpstr>
      <vt:lpstr>Clinical and pre-clinical data management with Snowflake</vt:lpstr>
      <vt:lpstr>Digital Co-Pilot for Insurance Brokers and Agents</vt:lpstr>
      <vt:lpstr>PowerPoint Presentation</vt:lpstr>
      <vt:lpstr>PowerPoint Presentation</vt:lpstr>
      <vt:lpstr>PowerPoint Presentation</vt:lpstr>
      <vt:lpstr>PowerPoint Presentation</vt:lpstr>
      <vt:lpstr>PowerPoint Presentation</vt:lpstr>
      <vt:lpstr>Success Stories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Overview</dc:title>
  <dc:creator>Danielle Sanders</dc:creator>
  <cp:lastModifiedBy>Vinay Kumar</cp:lastModifiedBy>
  <cp:revision>4</cp:revision>
  <dcterms:created xsi:type="dcterms:W3CDTF">2023-12-01T15:20:00Z</dcterms:created>
  <dcterms:modified xsi:type="dcterms:W3CDTF">2026-10-07T22:32:01Z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0x010100F2E55D6A21A96C439AD0392A94ACBFA5</vt:lpwstr>
  </property>
  <property fmtid="{D5CDD505-2E9C-101B-9397-08002B2CF9AE}" pid="3" name="MediaServiceImageTags">
    <vt:lpwstr/>
  </property>
</Properties>
</file>